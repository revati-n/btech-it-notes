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5" r:id="rId19"/>
    <p:sldId id="286" r:id="rId20"/>
    <p:sldId id="290" r:id="rId21"/>
    <p:sldId id="291" r:id="rId22"/>
    <p:sldId id="296" r:id="rId23"/>
    <p:sldId id="297" r:id="rId24"/>
    <p:sldId id="298" r:id="rId25"/>
    <p:sldId id="299" r:id="rId26"/>
    <p:sldId id="302" r:id="rId27"/>
    <p:sldId id="303" r:id="rId28"/>
    <p:sldId id="304" r:id="rId29"/>
    <p:sldId id="330" r:id="rId30"/>
    <p:sldId id="331" r:id="rId31"/>
    <p:sldId id="332" r:id="rId32"/>
    <p:sldId id="333" r:id="rId33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5" d="100"/>
          <a:sy n="45" d="100"/>
        </p:scale>
        <p:origin x="2237" y="5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18078" y="708151"/>
            <a:ext cx="5857242" cy="130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CC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5491" y="180847"/>
            <a:ext cx="6122417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1615" y="1177543"/>
            <a:ext cx="8812530" cy="5046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CC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52974" y="6643732"/>
            <a:ext cx="2171065" cy="434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16924" y="6643732"/>
            <a:ext cx="2552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775" y="554227"/>
            <a:ext cx="84201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5.1.</a:t>
            </a:r>
            <a:r>
              <a:rPr sz="4400" spc="-15" dirty="0"/>
              <a:t> </a:t>
            </a:r>
            <a:r>
              <a:rPr sz="4400" spc="-5" dirty="0"/>
              <a:t>Network</a:t>
            </a:r>
            <a:r>
              <a:rPr sz="4400" spc="-10" dirty="0"/>
              <a:t> </a:t>
            </a:r>
            <a:r>
              <a:rPr sz="4400" spc="-5" dirty="0"/>
              <a:t>Layer</a:t>
            </a:r>
            <a:r>
              <a:rPr sz="4400" spc="-15" dirty="0"/>
              <a:t> </a:t>
            </a:r>
            <a:r>
              <a:rPr sz="4400" spc="-5" dirty="0"/>
              <a:t>Design</a:t>
            </a:r>
            <a:r>
              <a:rPr sz="4400" spc="5" dirty="0"/>
              <a:t> </a:t>
            </a:r>
            <a:r>
              <a:rPr sz="4400" spc="-5" dirty="0"/>
              <a:t>Issues</a:t>
            </a:r>
            <a:r>
              <a:rPr sz="4400" spc="5" dirty="0"/>
              <a:t> </a:t>
            </a:r>
            <a:r>
              <a:rPr sz="4400" spc="-5" dirty="0"/>
              <a:t>(2)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24203" y="2077313"/>
            <a:ext cx="8505825" cy="34366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6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Store-and-Forward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Packet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Switching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7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Services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Provided 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Transport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Layer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5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Implementation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Connectionless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Service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5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Implementation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Connection-Oriented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Service</a:t>
            </a:r>
            <a:endParaRPr sz="3200">
              <a:latin typeface="Times New Roman"/>
              <a:cs typeface="Times New Roman"/>
            </a:endParaRPr>
          </a:p>
          <a:p>
            <a:pPr marL="621665" marR="535305" indent="-609600">
              <a:lnSpc>
                <a:spcPct val="100000"/>
              </a:lnSpc>
              <a:spcBef>
                <a:spcPts val="77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Comparison of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Virtual-Circuit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Datagram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Subnets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0363" y="552703"/>
            <a:ext cx="866521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0292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dirty="0"/>
              <a:t> </a:t>
            </a:r>
            <a:r>
              <a:rPr spc="-5" dirty="0"/>
              <a:t>Layer</a:t>
            </a:r>
            <a:r>
              <a:rPr dirty="0"/>
              <a:t> </a:t>
            </a:r>
            <a:r>
              <a:rPr spc="-5" dirty="0"/>
              <a:t>Design</a:t>
            </a:r>
            <a:r>
              <a:rPr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(4)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1.Store-and-Forward</a:t>
            </a:r>
            <a:r>
              <a:rPr spc="20" dirty="0">
                <a:solidFill>
                  <a:srgbClr val="00CC99"/>
                </a:solidFill>
              </a:rPr>
              <a:t> </a:t>
            </a:r>
            <a:r>
              <a:rPr spc="-5" dirty="0">
                <a:solidFill>
                  <a:srgbClr val="00CC99"/>
                </a:solidFill>
              </a:rPr>
              <a:t>Packet</a:t>
            </a:r>
            <a:r>
              <a:rPr spc="10" dirty="0">
                <a:solidFill>
                  <a:srgbClr val="00CC99"/>
                </a:solidFill>
              </a:rPr>
              <a:t> </a:t>
            </a:r>
            <a:r>
              <a:rPr spc="-5" dirty="0">
                <a:solidFill>
                  <a:srgbClr val="00CC99"/>
                </a:solidFill>
              </a:rPr>
              <a:t>Switching</a:t>
            </a:r>
            <a:r>
              <a:rPr spc="10" dirty="0">
                <a:solidFill>
                  <a:srgbClr val="00CC99"/>
                </a:solidFill>
              </a:rPr>
              <a:t> </a:t>
            </a:r>
            <a:r>
              <a:rPr spc="-5" dirty="0">
                <a:solidFill>
                  <a:srgbClr val="00CC99"/>
                </a:solidFill>
              </a:rPr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0835" y="6086345"/>
            <a:ext cx="5937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The environment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layer protocols.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0421" y="3100830"/>
            <a:ext cx="847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fig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5-1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6860" y="2386583"/>
            <a:ext cx="7845552" cy="287731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2051" y="631951"/>
            <a:ext cx="789559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6839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spc="5" dirty="0"/>
              <a:t> </a:t>
            </a:r>
            <a:r>
              <a:rPr spc="-5" dirty="0"/>
              <a:t>Layer Design</a:t>
            </a:r>
            <a:r>
              <a:rPr spc="5"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(5)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1.</a:t>
            </a:r>
            <a:r>
              <a:rPr sz="3600" spc="-5" dirty="0">
                <a:solidFill>
                  <a:srgbClr val="00CC99"/>
                </a:solidFill>
              </a:rPr>
              <a:t>Store-and-Forward Packet Switching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dirty="0">
                <a:solidFill>
                  <a:srgbClr val="00CC99"/>
                </a:solidFill>
              </a:rPr>
              <a:t>(3)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4203" y="1998979"/>
            <a:ext cx="8358505" cy="3430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1665" marR="384175" indent="-609600">
              <a:lnSpc>
                <a:spcPct val="100200"/>
              </a:lnSpc>
              <a:spcBef>
                <a:spcPts val="9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A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host with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packet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send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transmits</a:t>
            </a:r>
            <a:r>
              <a:rPr sz="3600" dirty="0">
                <a:latin typeface="Times New Roman"/>
                <a:cs typeface="Times New Roman"/>
              </a:rPr>
              <a:t> it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nearest router,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either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its</a:t>
            </a:r>
            <a:r>
              <a:rPr sz="3600" dirty="0">
                <a:latin typeface="Times New Roman"/>
                <a:cs typeface="Times New Roman"/>
              </a:rPr>
              <a:t> own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LAN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over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point-to-point link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carrier.</a:t>
            </a:r>
            <a:endParaRPr sz="3600">
              <a:latin typeface="Times New Roman"/>
              <a:cs typeface="Times New Roman"/>
            </a:endParaRPr>
          </a:p>
          <a:p>
            <a:pPr marL="621665" marR="5080" indent="-609600">
              <a:lnSpc>
                <a:spcPct val="100000"/>
              </a:lnSpc>
              <a:spcBef>
                <a:spcPts val="86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The packet 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stored</a:t>
            </a:r>
            <a:r>
              <a:rPr sz="3600" dirty="0">
                <a:latin typeface="Times New Roman"/>
                <a:cs typeface="Times New Roman"/>
              </a:rPr>
              <a:t> there</a:t>
            </a:r>
            <a:r>
              <a:rPr sz="3600" spc="-5" dirty="0">
                <a:latin typeface="Times New Roman"/>
                <a:cs typeface="Times New Roman"/>
              </a:rPr>
              <a:t> until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it</a:t>
            </a:r>
            <a:r>
              <a:rPr sz="3600" spc="-5" dirty="0">
                <a:latin typeface="Times New Roman"/>
                <a:cs typeface="Times New Roman"/>
              </a:rPr>
              <a:t> has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fully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arrived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checksum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can </a:t>
            </a:r>
            <a:r>
              <a:rPr sz="3600" dirty="0">
                <a:latin typeface="Times New Roman"/>
                <a:cs typeface="Times New Roman"/>
              </a:rPr>
              <a:t>be</a:t>
            </a:r>
            <a:r>
              <a:rPr sz="3600" spc="-5" dirty="0">
                <a:latin typeface="Times New Roman"/>
                <a:cs typeface="Times New Roman"/>
              </a:rPr>
              <a:t> verified.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2531" y="631951"/>
            <a:ext cx="78346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spc="5" dirty="0"/>
              <a:t> </a:t>
            </a:r>
            <a:r>
              <a:rPr spc="-5" dirty="0"/>
              <a:t>Layer Design</a:t>
            </a:r>
            <a:r>
              <a:rPr spc="5"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(6) </a:t>
            </a:r>
            <a:r>
              <a:rPr spc="-985" dirty="0"/>
              <a:t> </a:t>
            </a:r>
            <a:r>
              <a:rPr spc="-5" dirty="0">
                <a:solidFill>
                  <a:srgbClr val="00CC99"/>
                </a:solidFill>
              </a:rPr>
              <a:t>1.</a:t>
            </a:r>
            <a:r>
              <a:rPr sz="3600" spc="-5" dirty="0">
                <a:solidFill>
                  <a:srgbClr val="00CC99"/>
                </a:solidFill>
              </a:rPr>
              <a:t>Store-and-Forward Packet Switching</a:t>
            </a:r>
            <a:r>
              <a:rPr sz="3600" dirty="0">
                <a:solidFill>
                  <a:srgbClr val="00CC99"/>
                </a:solidFill>
              </a:rPr>
              <a:t> (4)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4203" y="1998979"/>
            <a:ext cx="7607934" cy="3430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marR="5080" indent="-609600">
              <a:lnSpc>
                <a:spcPct val="100099"/>
              </a:lnSpc>
              <a:spcBef>
                <a:spcPts val="9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Then it</a:t>
            </a:r>
            <a:r>
              <a:rPr sz="3600" dirty="0">
                <a:latin typeface="Times New Roman"/>
                <a:cs typeface="Times New Roman"/>
              </a:rPr>
              <a:t> is </a:t>
            </a:r>
            <a:r>
              <a:rPr sz="3600" spc="-5" dirty="0">
                <a:latin typeface="Times New Roman"/>
                <a:cs typeface="Times New Roman"/>
              </a:rPr>
              <a:t>forwarded to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next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router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along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-5" dirty="0">
                <a:latin typeface="Times New Roman"/>
                <a:cs typeface="Times New Roman"/>
              </a:rPr>
              <a:t>path until </a:t>
            </a:r>
            <a:r>
              <a:rPr sz="3600" dirty="0">
                <a:latin typeface="Times New Roman"/>
                <a:cs typeface="Times New Roman"/>
              </a:rPr>
              <a:t>it </a:t>
            </a:r>
            <a:r>
              <a:rPr sz="3600" spc="-5" dirty="0">
                <a:latin typeface="Times New Roman"/>
                <a:cs typeface="Times New Roman"/>
              </a:rPr>
              <a:t>reaches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destination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host,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where </a:t>
            </a:r>
            <a:r>
              <a:rPr sz="3600" dirty="0">
                <a:latin typeface="Times New Roman"/>
                <a:cs typeface="Times New Roman"/>
              </a:rPr>
              <a:t>it</a:t>
            </a:r>
            <a:r>
              <a:rPr sz="3600" spc="-5" dirty="0">
                <a:latin typeface="Times New Roman"/>
                <a:cs typeface="Times New Roman"/>
              </a:rPr>
              <a:t> is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delivered.</a:t>
            </a:r>
            <a:endParaRPr sz="3600">
              <a:latin typeface="Times New Roman"/>
              <a:cs typeface="Times New Roman"/>
            </a:endParaRPr>
          </a:p>
          <a:p>
            <a:pPr marL="621665" marR="133350" indent="-609600" algn="just">
              <a:lnSpc>
                <a:spcPct val="100000"/>
              </a:lnSpc>
              <a:spcBef>
                <a:spcPts val="875"/>
              </a:spcBef>
              <a:buClr>
                <a:srgbClr val="3232CC"/>
              </a:buClr>
              <a:buChar char="•"/>
              <a:tabLst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This mechanism is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store-and-forward </a:t>
            </a:r>
            <a:r>
              <a:rPr sz="3600" spc="-88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packet switching</a:t>
            </a:r>
            <a:r>
              <a:rPr sz="3600" spc="-5" dirty="0">
                <a:latin typeface="Times New Roman"/>
                <a:cs typeface="Times New Roman"/>
              </a:rPr>
              <a:t>, as </a:t>
            </a:r>
            <a:r>
              <a:rPr sz="3600" dirty="0">
                <a:latin typeface="Times New Roman"/>
                <a:cs typeface="Times New Roman"/>
              </a:rPr>
              <a:t>we </a:t>
            </a:r>
            <a:r>
              <a:rPr sz="3600" spc="-5" dirty="0">
                <a:latin typeface="Times New Roman"/>
                <a:cs typeface="Times New Roman"/>
              </a:rPr>
              <a:t>have </a:t>
            </a:r>
            <a:r>
              <a:rPr sz="3600" dirty="0">
                <a:latin typeface="Times New Roman"/>
                <a:cs typeface="Times New Roman"/>
              </a:rPr>
              <a:t>seen </a:t>
            </a:r>
            <a:r>
              <a:rPr sz="3600" spc="-5" dirty="0">
                <a:latin typeface="Times New Roman"/>
                <a:cs typeface="Times New Roman"/>
              </a:rPr>
              <a:t>in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previous chapters.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319" y="630427"/>
            <a:ext cx="85864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6291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dirty="0"/>
              <a:t> </a:t>
            </a:r>
            <a:r>
              <a:rPr spc="-5" dirty="0"/>
              <a:t>Layer</a:t>
            </a:r>
            <a:r>
              <a:rPr dirty="0"/>
              <a:t> </a:t>
            </a:r>
            <a:r>
              <a:rPr spc="-5" dirty="0"/>
              <a:t>Design</a:t>
            </a:r>
            <a:r>
              <a:rPr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(7)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2.</a:t>
            </a:r>
            <a:r>
              <a:rPr sz="3600" spc="-5" dirty="0">
                <a:solidFill>
                  <a:srgbClr val="00CC99"/>
                </a:solidFill>
              </a:rPr>
              <a:t>Services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Provided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to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dirty="0">
                <a:solidFill>
                  <a:srgbClr val="00CC99"/>
                </a:solidFill>
              </a:rPr>
              <a:t>the </a:t>
            </a:r>
            <a:r>
              <a:rPr sz="3600" spc="-5" dirty="0">
                <a:solidFill>
                  <a:srgbClr val="00CC99"/>
                </a:solidFill>
              </a:rPr>
              <a:t>Transport Layer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(1)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4203" y="2175763"/>
            <a:ext cx="8472170" cy="4638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marR="72390" indent="-609600">
              <a:lnSpc>
                <a:spcPct val="100099"/>
              </a:lnSpc>
              <a:spcBef>
                <a:spcPts val="9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network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layer </a:t>
            </a:r>
            <a:r>
              <a:rPr sz="3600" spc="-5" dirty="0">
                <a:latin typeface="Times New Roman"/>
                <a:cs typeface="Times New Roman"/>
              </a:rPr>
              <a:t>provides services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transport</a:t>
            </a:r>
            <a:r>
              <a:rPr sz="3600" spc="-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layer</a:t>
            </a:r>
            <a:r>
              <a:rPr sz="3600" spc="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at</a:t>
            </a:r>
            <a:r>
              <a:rPr sz="3600" spc="-5" dirty="0">
                <a:latin typeface="Times New Roman"/>
                <a:cs typeface="Times New Roman"/>
              </a:rPr>
              <a:t> 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network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layer/transport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layer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interface.</a:t>
            </a:r>
            <a:endParaRPr sz="3600">
              <a:latin typeface="Times New Roman"/>
              <a:cs typeface="Times New Roman"/>
            </a:endParaRPr>
          </a:p>
          <a:p>
            <a:pPr marL="621665" marR="222885" indent="-609600">
              <a:lnSpc>
                <a:spcPct val="100099"/>
              </a:lnSpc>
              <a:spcBef>
                <a:spcPts val="86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dirty="0">
                <a:latin typeface="Times New Roman"/>
                <a:cs typeface="Times New Roman"/>
              </a:rPr>
              <a:t>An</a:t>
            </a:r>
            <a:r>
              <a:rPr sz="3600" spc="-5" dirty="0">
                <a:latin typeface="Times New Roman"/>
                <a:cs typeface="Times New Roman"/>
              </a:rPr>
              <a:t> important question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what</a:t>
            </a:r>
            <a:r>
              <a:rPr sz="3600" spc="-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kind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of 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services</a:t>
            </a:r>
            <a:r>
              <a:rPr sz="3600" spc="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network layer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provides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transport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layer.</a:t>
            </a:r>
            <a:endParaRPr sz="3600">
              <a:latin typeface="Times New Roman"/>
              <a:cs typeface="Times New Roman"/>
            </a:endParaRPr>
          </a:p>
          <a:p>
            <a:pPr marL="621665" marR="5080" indent="-609600">
              <a:lnSpc>
                <a:spcPct val="100299"/>
              </a:lnSpc>
              <a:spcBef>
                <a:spcPts val="85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The network layer services </a:t>
            </a:r>
            <a:r>
              <a:rPr sz="3600" dirty="0">
                <a:latin typeface="Times New Roman"/>
                <a:cs typeface="Times New Roman"/>
              </a:rPr>
              <a:t>have </a:t>
            </a:r>
            <a:r>
              <a:rPr sz="3600" spc="-5" dirty="0">
                <a:latin typeface="Times New Roman"/>
                <a:cs typeface="Times New Roman"/>
              </a:rPr>
              <a:t>been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designed with</a:t>
            </a:r>
            <a:r>
              <a:rPr sz="3600" dirty="0">
                <a:latin typeface="Times New Roman"/>
                <a:cs typeface="Times New Roman"/>
              </a:rPr>
              <a:t> the</a:t>
            </a:r>
            <a:r>
              <a:rPr sz="3600" spc="-5" dirty="0">
                <a:latin typeface="Times New Roman"/>
                <a:cs typeface="Times New Roman"/>
              </a:rPr>
              <a:t> following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goals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</a:t>
            </a:r>
            <a:r>
              <a:rPr sz="3600" dirty="0">
                <a:latin typeface="Times New Roman"/>
                <a:cs typeface="Times New Roman"/>
              </a:rPr>
              <a:t> mind.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33803" y="6194040"/>
            <a:ext cx="141097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29"/>
              </a:lnSpc>
            </a:pPr>
            <a:r>
              <a:rPr sz="3600" spc="-5" dirty="0">
                <a:latin typeface="Times New Roman"/>
                <a:cs typeface="Times New Roman"/>
              </a:rPr>
              <a:t>WA</a:t>
            </a:r>
            <a:r>
              <a:rPr sz="3600" dirty="0">
                <a:latin typeface="Times New Roman"/>
                <a:cs typeface="Times New Roman"/>
              </a:rPr>
              <a:t>N</a:t>
            </a:r>
            <a:r>
              <a:rPr sz="3600" spc="-5" dirty="0">
                <a:latin typeface="Times New Roman"/>
                <a:cs typeface="Times New Roman"/>
              </a:rPr>
              <a:t>s.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319" y="630427"/>
            <a:ext cx="85864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6291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dirty="0"/>
              <a:t> </a:t>
            </a:r>
            <a:r>
              <a:rPr spc="-5" dirty="0"/>
              <a:t>Layer</a:t>
            </a:r>
            <a:r>
              <a:rPr dirty="0"/>
              <a:t> </a:t>
            </a:r>
            <a:r>
              <a:rPr spc="-5" dirty="0"/>
              <a:t>Design</a:t>
            </a:r>
            <a:r>
              <a:rPr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(8)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2.</a:t>
            </a:r>
            <a:r>
              <a:rPr sz="3600" spc="-5" dirty="0">
                <a:solidFill>
                  <a:srgbClr val="00CC99"/>
                </a:solidFill>
              </a:rPr>
              <a:t>Services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Provided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to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dirty="0">
                <a:solidFill>
                  <a:srgbClr val="00CC99"/>
                </a:solidFill>
              </a:rPr>
              <a:t>the </a:t>
            </a:r>
            <a:r>
              <a:rPr sz="3600" spc="-5" dirty="0">
                <a:solidFill>
                  <a:srgbClr val="00CC99"/>
                </a:solidFill>
              </a:rPr>
              <a:t>Transport Layer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(2)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3980" y="1976119"/>
            <a:ext cx="8636000" cy="424878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622300" marR="307975" indent="-609600">
              <a:lnSpc>
                <a:spcPts val="3890"/>
              </a:lnSpc>
              <a:spcBef>
                <a:spcPts val="585"/>
              </a:spcBef>
              <a:buClr>
                <a:srgbClr val="3232CC"/>
              </a:buClr>
              <a:buAutoNum type="alphaLcParenR"/>
              <a:tabLst>
                <a:tab pos="622300" algn="l"/>
                <a:tab pos="622935" algn="l"/>
              </a:tabLst>
            </a:pPr>
            <a:r>
              <a:rPr sz="3600" spc="-5" dirty="0">
                <a:latin typeface="Times New Roman"/>
                <a:cs typeface="Times New Roman"/>
              </a:rPr>
              <a:t>The services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should be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independent of</a:t>
            </a:r>
            <a:r>
              <a:rPr sz="3600" dirty="0">
                <a:latin typeface="Times New Roman"/>
                <a:cs typeface="Times New Roman"/>
              </a:rPr>
              <a:t> the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router technology.</a:t>
            </a:r>
            <a:endParaRPr sz="3600">
              <a:latin typeface="Times New Roman"/>
              <a:cs typeface="Times New Roman"/>
            </a:endParaRPr>
          </a:p>
          <a:p>
            <a:pPr marL="622300" marR="5080" indent="-610235">
              <a:lnSpc>
                <a:spcPts val="3890"/>
              </a:lnSpc>
              <a:spcBef>
                <a:spcPts val="850"/>
              </a:spcBef>
              <a:buClr>
                <a:srgbClr val="3232CC"/>
              </a:buClr>
              <a:buAutoNum type="alphaLcParenR"/>
              <a:tabLst>
                <a:tab pos="622300" algn="l"/>
                <a:tab pos="622935" algn="l"/>
              </a:tabLst>
            </a:pPr>
            <a:r>
              <a:rPr sz="3600" spc="-5" dirty="0">
                <a:latin typeface="Times New Roman"/>
                <a:cs typeface="Times New Roman"/>
              </a:rPr>
              <a:t>The transport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layer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should be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shielded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from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number,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type,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topology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routers present.</a:t>
            </a:r>
            <a:endParaRPr sz="3600">
              <a:latin typeface="Times New Roman"/>
              <a:cs typeface="Times New Roman"/>
            </a:endParaRPr>
          </a:p>
          <a:p>
            <a:pPr marL="622300" marR="474345" indent="-609600">
              <a:lnSpc>
                <a:spcPts val="3890"/>
              </a:lnSpc>
              <a:spcBef>
                <a:spcPts val="855"/>
              </a:spcBef>
              <a:buClr>
                <a:srgbClr val="3232CC"/>
              </a:buClr>
              <a:buAutoNum type="alphaLcParenR"/>
              <a:tabLst>
                <a:tab pos="622300" algn="l"/>
                <a:tab pos="622935" algn="l"/>
              </a:tabLst>
            </a:pP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network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addresses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made available </a:t>
            </a:r>
            <a:r>
              <a:rPr sz="3600" dirty="0">
                <a:latin typeface="Times New Roman"/>
                <a:cs typeface="Times New Roman"/>
              </a:rPr>
              <a:t>to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transport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layer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should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use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uniform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numbering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plan,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even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across LANs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83642" y="6084312"/>
            <a:ext cx="5240020" cy="994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29"/>
              </a:lnSpc>
            </a:pPr>
            <a:r>
              <a:rPr sz="3600" spc="-5" dirty="0">
                <a:latin typeface="Times New Roman"/>
                <a:cs typeface="Times New Roman"/>
              </a:rPr>
              <a:t>flow control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themselves.</a:t>
            </a:r>
            <a:endParaRPr sz="3600">
              <a:latin typeface="Times New Roman"/>
              <a:cs typeface="Times New Roman"/>
            </a:endParaRPr>
          </a:p>
          <a:p>
            <a:pPr marL="3596640" marR="5080" indent="-515620">
              <a:lnSpc>
                <a:spcPts val="1670"/>
              </a:lnSpc>
              <a:spcBef>
                <a:spcPts val="390"/>
              </a:spcBef>
            </a:pPr>
            <a:r>
              <a:rPr sz="1400" dirty="0">
                <a:latin typeface="Times New Roman"/>
                <a:cs typeface="Times New Roman"/>
              </a:rPr>
              <a:t>BLM431 </a:t>
            </a:r>
            <a:r>
              <a:rPr sz="1400" spc="-5" dirty="0">
                <a:latin typeface="Times New Roman"/>
                <a:cs typeface="Times New Roman"/>
              </a:rPr>
              <a:t>Computer Networks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Dr.Refik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Samet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319" y="630427"/>
            <a:ext cx="85864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6291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dirty="0"/>
              <a:t> </a:t>
            </a:r>
            <a:r>
              <a:rPr spc="-5" dirty="0"/>
              <a:t>Layer</a:t>
            </a:r>
            <a:r>
              <a:rPr dirty="0"/>
              <a:t> </a:t>
            </a:r>
            <a:r>
              <a:rPr spc="-5" dirty="0"/>
              <a:t>Design</a:t>
            </a:r>
            <a:r>
              <a:rPr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(9)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2.</a:t>
            </a:r>
            <a:r>
              <a:rPr sz="3600" spc="-5" dirty="0">
                <a:solidFill>
                  <a:srgbClr val="00CC99"/>
                </a:solidFill>
              </a:rPr>
              <a:t>Services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Provided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to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dirty="0">
                <a:solidFill>
                  <a:srgbClr val="00CC99"/>
                </a:solidFill>
              </a:rPr>
              <a:t>the </a:t>
            </a:r>
            <a:r>
              <a:rPr sz="3600" spc="-5" dirty="0">
                <a:solidFill>
                  <a:srgbClr val="00CC99"/>
                </a:solidFill>
              </a:rPr>
              <a:t>Transport Layer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(3)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6520" rIns="0" bIns="0" rtlCol="0">
            <a:spAutoFit/>
          </a:bodyPr>
          <a:lstStyle/>
          <a:p>
            <a:pPr marL="203835" marR="867410" indent="-59690">
              <a:lnSpc>
                <a:spcPct val="89900"/>
              </a:lnSpc>
              <a:spcBef>
                <a:spcPts val="535"/>
              </a:spcBef>
              <a:buClr>
                <a:srgbClr val="3232CC"/>
              </a:buClr>
              <a:buSzPct val="97222"/>
              <a:buChar char="•"/>
              <a:tabLst>
                <a:tab pos="306070" algn="l"/>
              </a:tabLst>
            </a:pPr>
            <a:r>
              <a:rPr sz="3600" spc="-5" dirty="0">
                <a:solidFill>
                  <a:srgbClr val="000000"/>
                </a:solidFill>
              </a:rPr>
              <a:t>The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discussion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centers</a:t>
            </a:r>
            <a:r>
              <a:rPr sz="3600" spc="1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on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whether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the 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network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layer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should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provide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FF3200"/>
                </a:solidFill>
              </a:rPr>
              <a:t>connection- </a:t>
            </a:r>
            <a:r>
              <a:rPr sz="3600" spc="-885" dirty="0">
                <a:solidFill>
                  <a:srgbClr val="FF3200"/>
                </a:solidFill>
              </a:rPr>
              <a:t> </a:t>
            </a:r>
            <a:r>
              <a:rPr sz="3600" spc="-5" dirty="0">
                <a:solidFill>
                  <a:srgbClr val="FF3200"/>
                </a:solidFill>
              </a:rPr>
              <a:t>oriented</a:t>
            </a:r>
            <a:r>
              <a:rPr sz="3600" spc="5" dirty="0">
                <a:solidFill>
                  <a:srgbClr val="FF3200"/>
                </a:solidFill>
              </a:rPr>
              <a:t> </a:t>
            </a:r>
            <a:r>
              <a:rPr sz="3600" spc="-5" dirty="0">
                <a:solidFill>
                  <a:srgbClr val="FF3200"/>
                </a:solidFill>
              </a:rPr>
              <a:t>service</a:t>
            </a:r>
            <a:r>
              <a:rPr sz="3600" spc="5" dirty="0">
                <a:solidFill>
                  <a:srgbClr val="FF32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or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FF3200"/>
                </a:solidFill>
              </a:rPr>
              <a:t>connectionless</a:t>
            </a:r>
            <a:r>
              <a:rPr sz="3600" dirty="0">
                <a:solidFill>
                  <a:srgbClr val="FF3200"/>
                </a:solidFill>
              </a:rPr>
              <a:t> </a:t>
            </a:r>
            <a:r>
              <a:rPr sz="3600" spc="-5" dirty="0">
                <a:solidFill>
                  <a:srgbClr val="FF3200"/>
                </a:solidFill>
              </a:rPr>
              <a:t>service</a:t>
            </a:r>
            <a:r>
              <a:rPr sz="3600" spc="-5" dirty="0">
                <a:solidFill>
                  <a:srgbClr val="000000"/>
                </a:solidFill>
              </a:rPr>
              <a:t>.</a:t>
            </a:r>
            <a:endParaRPr sz="3600"/>
          </a:p>
          <a:p>
            <a:pPr marL="203835" marR="5080" indent="-59690">
              <a:lnSpc>
                <a:spcPts val="3890"/>
              </a:lnSpc>
              <a:spcBef>
                <a:spcPts val="919"/>
              </a:spcBef>
              <a:buSzPct val="97222"/>
              <a:buChar char="•"/>
              <a:tabLst>
                <a:tab pos="306070" algn="l"/>
              </a:tabLst>
            </a:pPr>
            <a:r>
              <a:rPr sz="3600" spc="-5" dirty="0">
                <a:solidFill>
                  <a:srgbClr val="3232CC"/>
                </a:solidFill>
              </a:rPr>
              <a:t>Internet</a:t>
            </a:r>
            <a:r>
              <a:rPr sz="3600" spc="5" dirty="0">
                <a:solidFill>
                  <a:srgbClr val="3232CC"/>
                </a:solidFill>
              </a:rPr>
              <a:t> </a:t>
            </a:r>
            <a:r>
              <a:rPr sz="3600" spc="-5" dirty="0">
                <a:solidFill>
                  <a:srgbClr val="3232CC"/>
                </a:solidFill>
              </a:rPr>
              <a:t>community’s</a:t>
            </a:r>
            <a:r>
              <a:rPr sz="3600" dirty="0">
                <a:solidFill>
                  <a:srgbClr val="3232CC"/>
                </a:solidFill>
              </a:rPr>
              <a:t> </a:t>
            </a:r>
            <a:r>
              <a:rPr sz="3600" spc="-5" dirty="0">
                <a:solidFill>
                  <a:srgbClr val="3232CC"/>
                </a:solidFill>
              </a:rPr>
              <a:t>opinion:</a:t>
            </a:r>
            <a:r>
              <a:rPr sz="3600" spc="-10" dirty="0">
                <a:solidFill>
                  <a:srgbClr val="3232CC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the </a:t>
            </a:r>
            <a:r>
              <a:rPr sz="3600" spc="-5" dirty="0">
                <a:solidFill>
                  <a:srgbClr val="000000"/>
                </a:solidFill>
              </a:rPr>
              <a:t>routers’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job </a:t>
            </a:r>
            <a:r>
              <a:rPr sz="3600" spc="-88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is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moving packets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around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and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nothing</a:t>
            </a:r>
            <a:r>
              <a:rPr sz="3600" spc="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else. 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The subnet is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inherently</a:t>
            </a:r>
            <a:r>
              <a:rPr sz="3600" spc="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unreliable.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Therefore, 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the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hosts </a:t>
            </a:r>
            <a:r>
              <a:rPr sz="3600" spc="-5" dirty="0">
                <a:solidFill>
                  <a:srgbClr val="000000"/>
                </a:solidFill>
              </a:rPr>
              <a:t>should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accept </a:t>
            </a:r>
            <a:r>
              <a:rPr sz="3600" dirty="0">
                <a:solidFill>
                  <a:srgbClr val="000000"/>
                </a:solidFill>
              </a:rPr>
              <a:t>the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fact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that the 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network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is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unreliable</a:t>
            </a:r>
            <a:r>
              <a:rPr sz="3600" spc="1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and </a:t>
            </a:r>
            <a:r>
              <a:rPr sz="3600" spc="-5" dirty="0">
                <a:solidFill>
                  <a:srgbClr val="000000"/>
                </a:solidFill>
              </a:rPr>
              <a:t>do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error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control and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83639" y="6024876"/>
            <a:ext cx="80010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29"/>
              </a:lnSpc>
            </a:pPr>
            <a:r>
              <a:rPr sz="3600" spc="-10" dirty="0">
                <a:latin typeface="Times New Roman"/>
                <a:cs typeface="Times New Roman"/>
              </a:rPr>
              <a:t>a</a:t>
            </a:r>
            <a:r>
              <a:rPr sz="3600" spc="-5" dirty="0">
                <a:latin typeface="Times New Roman"/>
                <a:cs typeface="Times New Roman"/>
              </a:rPr>
              <a:t>ny.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319" y="630427"/>
            <a:ext cx="85864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352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spc="5" dirty="0"/>
              <a:t> </a:t>
            </a:r>
            <a:r>
              <a:rPr spc="-5" dirty="0"/>
              <a:t>Layer Design</a:t>
            </a:r>
            <a:r>
              <a:rPr spc="5"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(10)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2.</a:t>
            </a:r>
            <a:r>
              <a:rPr sz="3600" spc="-5" dirty="0">
                <a:solidFill>
                  <a:srgbClr val="00CC99"/>
                </a:solidFill>
              </a:rPr>
              <a:t>Services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Provided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to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dirty="0">
                <a:solidFill>
                  <a:srgbClr val="00CC99"/>
                </a:solidFill>
              </a:rPr>
              <a:t>the </a:t>
            </a:r>
            <a:r>
              <a:rPr sz="3600" spc="-5" dirty="0">
                <a:solidFill>
                  <a:srgbClr val="00CC99"/>
                </a:solidFill>
              </a:rPr>
              <a:t>Transport Layer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(4)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4203" y="2020315"/>
            <a:ext cx="8479790" cy="3978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755" marR="42545" indent="-59690">
              <a:lnSpc>
                <a:spcPct val="100099"/>
              </a:lnSpc>
              <a:spcBef>
                <a:spcPts val="95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This viewpoint leads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quickly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dirty="0">
                <a:latin typeface="Times New Roman"/>
                <a:cs typeface="Times New Roman"/>
              </a:rPr>
              <a:t> the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conclusion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that</a:t>
            </a:r>
            <a:r>
              <a:rPr sz="3600" dirty="0">
                <a:latin typeface="Times New Roman"/>
                <a:cs typeface="Times New Roman"/>
              </a:rPr>
              <a:t> the </a:t>
            </a:r>
            <a:r>
              <a:rPr sz="3600" spc="-5" dirty="0">
                <a:latin typeface="Times New Roman"/>
                <a:cs typeface="Times New Roman"/>
              </a:rPr>
              <a:t>network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service should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connectionless</a:t>
            </a:r>
            <a:r>
              <a:rPr sz="3600" spc="-5" dirty="0">
                <a:latin typeface="Times New Roman"/>
                <a:cs typeface="Times New Roman"/>
              </a:rPr>
              <a:t>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with primitives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SEND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PACKET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RECEIVE PACKET.</a:t>
            </a:r>
            <a:endParaRPr sz="3600">
              <a:latin typeface="Times New Roman"/>
              <a:cs typeface="Times New Roman"/>
            </a:endParaRPr>
          </a:p>
          <a:p>
            <a:pPr marL="71755" marR="5080" indent="-59690" algn="just">
              <a:lnSpc>
                <a:spcPct val="100000"/>
              </a:lnSpc>
              <a:spcBef>
                <a:spcPts val="875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Furthermore, each packet </a:t>
            </a:r>
            <a:r>
              <a:rPr sz="3600" dirty="0">
                <a:latin typeface="Times New Roman"/>
                <a:cs typeface="Times New Roman"/>
              </a:rPr>
              <a:t>must </a:t>
            </a:r>
            <a:r>
              <a:rPr sz="3600" spc="-5" dirty="0">
                <a:latin typeface="Times New Roman"/>
                <a:cs typeface="Times New Roman"/>
              </a:rPr>
              <a:t>carry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-5" dirty="0">
                <a:latin typeface="Times New Roman"/>
                <a:cs typeface="Times New Roman"/>
              </a:rPr>
              <a:t>full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destination address, because each packet sent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carried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independently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its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predecessors,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if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42324" y="6643732"/>
            <a:ext cx="20447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319" y="630427"/>
            <a:ext cx="85864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352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spc="5" dirty="0"/>
              <a:t> </a:t>
            </a:r>
            <a:r>
              <a:rPr spc="-5" dirty="0"/>
              <a:t>Layer Design</a:t>
            </a:r>
            <a:r>
              <a:rPr spc="5"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(11)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2.</a:t>
            </a:r>
            <a:r>
              <a:rPr sz="3600" spc="-5" dirty="0">
                <a:solidFill>
                  <a:srgbClr val="00CC99"/>
                </a:solidFill>
              </a:rPr>
              <a:t>Services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Provided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to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dirty="0">
                <a:solidFill>
                  <a:srgbClr val="00CC99"/>
                </a:solidFill>
              </a:rPr>
              <a:t>the </a:t>
            </a:r>
            <a:r>
              <a:rPr sz="3600" spc="-5" dirty="0">
                <a:solidFill>
                  <a:srgbClr val="00CC99"/>
                </a:solidFill>
              </a:rPr>
              <a:t>Transport Layer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(5)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4203" y="2020315"/>
            <a:ext cx="8288655" cy="4528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755" marR="336550" indent="-59690">
              <a:lnSpc>
                <a:spcPct val="100099"/>
              </a:lnSpc>
              <a:spcBef>
                <a:spcPts val="95"/>
              </a:spcBef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solidFill>
                  <a:srgbClr val="3232CC"/>
                </a:solidFill>
                <a:latin typeface="Times New Roman"/>
                <a:cs typeface="Times New Roman"/>
              </a:rPr>
              <a:t>Telephone</a:t>
            </a:r>
            <a:r>
              <a:rPr sz="3600" spc="-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3232CC"/>
                </a:solidFill>
                <a:latin typeface="Times New Roman"/>
                <a:cs typeface="Times New Roman"/>
              </a:rPr>
              <a:t>companies’</a:t>
            </a:r>
            <a:r>
              <a:rPr sz="3600" spc="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3232CC"/>
                </a:solidFill>
                <a:latin typeface="Times New Roman"/>
                <a:cs typeface="Times New Roman"/>
              </a:rPr>
              <a:t>opinion: </a:t>
            </a:r>
            <a:r>
              <a:rPr sz="3600" spc="-5" dirty="0">
                <a:latin typeface="Times New Roman"/>
                <a:cs typeface="Times New Roman"/>
              </a:rPr>
              <a:t>the subnet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should provide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reliable,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connection-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oriented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service.</a:t>
            </a:r>
            <a:endParaRPr sz="3600">
              <a:latin typeface="Times New Roman"/>
              <a:cs typeface="Times New Roman"/>
            </a:endParaRPr>
          </a:p>
          <a:p>
            <a:pPr marL="71755" marR="5080" indent="-59690">
              <a:lnSpc>
                <a:spcPct val="100099"/>
              </a:lnSpc>
              <a:spcBef>
                <a:spcPts val="860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In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view,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quality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service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dominant factor,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without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connections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subnet,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quality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service is</a:t>
            </a:r>
            <a:r>
              <a:rPr sz="3600" dirty="0">
                <a:latin typeface="Times New Roman"/>
                <a:cs typeface="Times New Roman"/>
              </a:rPr>
              <a:t> very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difficult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achieve,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especially</a:t>
            </a:r>
            <a:r>
              <a:rPr sz="3600" dirty="0">
                <a:latin typeface="Times New Roman"/>
                <a:cs typeface="Times New Roman"/>
              </a:rPr>
              <a:t> for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real-time traffic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such as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voice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5" dirty="0">
                <a:latin typeface="Times New Roman"/>
                <a:cs typeface="Times New Roman"/>
              </a:rPr>
              <a:t> video.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319" y="630427"/>
            <a:ext cx="85864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352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spc="5" dirty="0"/>
              <a:t> </a:t>
            </a:r>
            <a:r>
              <a:rPr spc="-5" dirty="0"/>
              <a:t>Layer Design</a:t>
            </a:r>
            <a:r>
              <a:rPr spc="5"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(12)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2.</a:t>
            </a:r>
            <a:r>
              <a:rPr sz="3600" spc="-5" dirty="0">
                <a:solidFill>
                  <a:srgbClr val="00CC99"/>
                </a:solidFill>
              </a:rPr>
              <a:t>Services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Provided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to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dirty="0">
                <a:solidFill>
                  <a:srgbClr val="00CC99"/>
                </a:solidFill>
              </a:rPr>
              <a:t>the </a:t>
            </a:r>
            <a:r>
              <a:rPr sz="3600" spc="-5" dirty="0">
                <a:solidFill>
                  <a:srgbClr val="00CC99"/>
                </a:solidFill>
              </a:rPr>
              <a:t>Transport Layer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(6)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4203" y="2020315"/>
            <a:ext cx="8186420" cy="463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0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The Internet</a:t>
            </a:r>
            <a:r>
              <a:rPr sz="3600" dirty="0">
                <a:latin typeface="Times New Roman"/>
                <a:cs typeface="Times New Roman"/>
              </a:rPr>
              <a:t> offers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connectionless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network-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layer service.</a:t>
            </a:r>
            <a:endParaRPr sz="3600">
              <a:latin typeface="Times New Roman"/>
              <a:cs typeface="Times New Roman"/>
            </a:endParaRPr>
          </a:p>
          <a:p>
            <a:pPr marL="71755" marR="422909" indent="-59690">
              <a:lnSpc>
                <a:spcPct val="100000"/>
              </a:lnSpc>
              <a:spcBef>
                <a:spcPts val="875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ATM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networks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offer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connection-oriented </a:t>
            </a:r>
            <a:r>
              <a:rPr sz="3600" spc="-88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network-layer service.</a:t>
            </a:r>
            <a:endParaRPr sz="3600">
              <a:latin typeface="Times New Roman"/>
              <a:cs typeface="Times New Roman"/>
            </a:endParaRPr>
          </a:p>
          <a:p>
            <a:pPr marL="71755" marR="195580" indent="-59690">
              <a:lnSpc>
                <a:spcPct val="100200"/>
              </a:lnSpc>
              <a:spcBef>
                <a:spcPts val="855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However, it 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interesting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dirty="0">
                <a:latin typeface="Times New Roman"/>
                <a:cs typeface="Times New Roman"/>
              </a:rPr>
              <a:t> note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that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as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quality-of-service guarantees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are</a:t>
            </a:r>
            <a:r>
              <a:rPr sz="3600" spc="-5" dirty="0">
                <a:latin typeface="Times New Roman"/>
                <a:cs typeface="Times New Roman"/>
              </a:rPr>
              <a:t> becoming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more </a:t>
            </a:r>
            <a:r>
              <a:rPr sz="3600" dirty="0">
                <a:latin typeface="Times New Roman"/>
                <a:cs typeface="Times New Roman"/>
              </a:rPr>
              <a:t>and </a:t>
            </a:r>
            <a:r>
              <a:rPr sz="3600" spc="-5" dirty="0">
                <a:latin typeface="Times New Roman"/>
                <a:cs typeface="Times New Roman"/>
              </a:rPr>
              <a:t>more important, the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Internet </a:t>
            </a:r>
            <a:r>
              <a:rPr sz="3600" spc="-5" dirty="0">
                <a:latin typeface="Times New Roman"/>
                <a:cs typeface="Times New Roman"/>
              </a:rPr>
              <a:t>is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evolving.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4599" y="692911"/>
            <a:ext cx="7915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spc="5" dirty="0"/>
              <a:t> </a:t>
            </a:r>
            <a:r>
              <a:rPr spc="-5" dirty="0"/>
              <a:t>Layer</a:t>
            </a:r>
            <a:r>
              <a:rPr dirty="0"/>
              <a:t> </a:t>
            </a:r>
            <a:r>
              <a:rPr spc="-5" dirty="0"/>
              <a:t>Design</a:t>
            </a:r>
            <a:r>
              <a:rPr spc="5" dirty="0"/>
              <a:t> </a:t>
            </a:r>
            <a:r>
              <a:rPr spc="-5" dirty="0"/>
              <a:t>Issues</a:t>
            </a:r>
            <a:r>
              <a:rPr spc="15" dirty="0"/>
              <a:t> </a:t>
            </a:r>
            <a:r>
              <a:rPr spc="-5" dirty="0"/>
              <a:t>(13)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4203" y="1101123"/>
            <a:ext cx="8161020" cy="4349750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26364" algn="just">
              <a:lnSpc>
                <a:spcPct val="100000"/>
              </a:lnSpc>
              <a:spcBef>
                <a:spcPts val="1700"/>
              </a:spcBef>
            </a:pPr>
            <a:r>
              <a:rPr sz="3200" dirty="0">
                <a:solidFill>
                  <a:srgbClr val="00CC99"/>
                </a:solidFill>
                <a:latin typeface="Times New Roman"/>
                <a:cs typeface="Times New Roman"/>
              </a:rPr>
              <a:t>3.</a:t>
            </a:r>
            <a:r>
              <a:rPr sz="3200" spc="-5" dirty="0">
                <a:solidFill>
                  <a:srgbClr val="00CC99"/>
                </a:solidFill>
                <a:latin typeface="Times New Roman"/>
                <a:cs typeface="Times New Roman"/>
              </a:rPr>
              <a:t> Implementation </a:t>
            </a:r>
            <a:r>
              <a:rPr sz="3200" dirty="0">
                <a:solidFill>
                  <a:srgbClr val="00CC99"/>
                </a:solidFill>
                <a:latin typeface="Times New Roman"/>
                <a:cs typeface="Times New Roman"/>
              </a:rPr>
              <a:t>of</a:t>
            </a:r>
            <a:r>
              <a:rPr sz="3200" spc="5" dirty="0">
                <a:solidFill>
                  <a:srgbClr val="00CC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CC99"/>
                </a:solidFill>
                <a:latin typeface="Times New Roman"/>
                <a:cs typeface="Times New Roman"/>
              </a:rPr>
              <a:t>Connectionless</a:t>
            </a:r>
            <a:r>
              <a:rPr sz="3200" spc="5" dirty="0">
                <a:solidFill>
                  <a:srgbClr val="00CC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CC99"/>
                </a:solidFill>
                <a:latin typeface="Times New Roman"/>
                <a:cs typeface="Times New Roman"/>
              </a:rPr>
              <a:t>Service</a:t>
            </a:r>
            <a:r>
              <a:rPr sz="3200" spc="10" dirty="0">
                <a:solidFill>
                  <a:srgbClr val="00CC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CC99"/>
                </a:solidFill>
                <a:latin typeface="Times New Roman"/>
                <a:cs typeface="Times New Roman"/>
              </a:rPr>
              <a:t>(1)</a:t>
            </a:r>
            <a:endParaRPr sz="3200">
              <a:latin typeface="Times New Roman"/>
              <a:cs typeface="Times New Roman"/>
            </a:endParaRPr>
          </a:p>
          <a:p>
            <a:pPr marL="71755" marR="5080" indent="-59690" algn="just">
              <a:lnSpc>
                <a:spcPct val="100099"/>
              </a:lnSpc>
              <a:spcBef>
                <a:spcPts val="1789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If connectionless service is offered, packets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are injected </a:t>
            </a:r>
            <a:r>
              <a:rPr sz="3600" dirty="0">
                <a:latin typeface="Times New Roman"/>
                <a:cs typeface="Times New Roman"/>
              </a:rPr>
              <a:t>into </a:t>
            </a:r>
            <a:r>
              <a:rPr sz="3600" spc="-5" dirty="0">
                <a:latin typeface="Times New Roman"/>
                <a:cs typeface="Times New Roman"/>
              </a:rPr>
              <a:t>the subnet individually and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routed independently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each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other.</a:t>
            </a:r>
            <a:endParaRPr sz="3600">
              <a:latin typeface="Times New Roman"/>
              <a:cs typeface="Times New Roman"/>
            </a:endParaRPr>
          </a:p>
          <a:p>
            <a:pPr marL="71755" marR="294005" indent="-59690" algn="just">
              <a:lnSpc>
                <a:spcPct val="100099"/>
              </a:lnSpc>
              <a:spcBef>
                <a:spcPts val="860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In this context,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-5" dirty="0">
                <a:latin typeface="Times New Roman"/>
                <a:cs typeface="Times New Roman"/>
              </a:rPr>
              <a:t>packets are frequently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called 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datagrams </a:t>
            </a:r>
            <a:r>
              <a:rPr sz="3600" spc="-5" dirty="0">
                <a:latin typeface="Times New Roman"/>
                <a:cs typeface="Times New Roman"/>
              </a:rPr>
              <a:t>and the subnet is called a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datagram</a:t>
            </a:r>
            <a:r>
              <a:rPr sz="3600" spc="-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subnet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987" y="281432"/>
            <a:ext cx="883983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616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spc="5" dirty="0"/>
              <a:t> </a:t>
            </a:r>
            <a:r>
              <a:rPr spc="-5" dirty="0"/>
              <a:t>Layer Design</a:t>
            </a:r>
            <a:r>
              <a:rPr spc="5" dirty="0"/>
              <a:t> </a:t>
            </a:r>
            <a:r>
              <a:rPr spc="-5" dirty="0"/>
              <a:t>Issues</a:t>
            </a:r>
            <a:r>
              <a:rPr spc="10" dirty="0"/>
              <a:t> </a:t>
            </a:r>
            <a:r>
              <a:rPr spc="-5" dirty="0"/>
              <a:t>(14)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3.</a:t>
            </a:r>
            <a:r>
              <a:rPr sz="3600" spc="-5" dirty="0">
                <a:solidFill>
                  <a:srgbClr val="00CC99"/>
                </a:solidFill>
              </a:rPr>
              <a:t>Implementation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of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Connectionless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Service</a:t>
            </a:r>
            <a:r>
              <a:rPr sz="3600" dirty="0">
                <a:solidFill>
                  <a:srgbClr val="00CC99"/>
                </a:solidFill>
              </a:rPr>
              <a:t> (2)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292854" y="6086345"/>
            <a:ext cx="4093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diagram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subnet.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807" y="1674876"/>
            <a:ext cx="5524500" cy="39166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987" y="478941"/>
            <a:ext cx="8839835" cy="2192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1645">
              <a:lnSpc>
                <a:spcPct val="115999"/>
              </a:lnSpc>
              <a:spcBef>
                <a:spcPts val="100"/>
              </a:spcBef>
            </a:pPr>
            <a:r>
              <a:rPr spc="-5" dirty="0"/>
              <a:t>5.1.</a:t>
            </a:r>
            <a:r>
              <a:rPr spc="-10" dirty="0"/>
              <a:t> </a:t>
            </a:r>
            <a:r>
              <a:rPr spc="-5" dirty="0"/>
              <a:t>Network</a:t>
            </a:r>
            <a:r>
              <a:rPr spc="5" dirty="0"/>
              <a:t> </a:t>
            </a:r>
            <a:r>
              <a:rPr spc="-5" dirty="0"/>
              <a:t>Layer Design</a:t>
            </a:r>
            <a:r>
              <a:rPr spc="5" dirty="0"/>
              <a:t> </a:t>
            </a:r>
            <a:r>
              <a:rPr spc="-5" dirty="0"/>
              <a:t>Issues</a:t>
            </a:r>
            <a:r>
              <a:rPr spc="10" dirty="0"/>
              <a:t> </a:t>
            </a:r>
            <a:r>
              <a:rPr spc="-5" dirty="0"/>
              <a:t>(15)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3.</a:t>
            </a:r>
            <a:r>
              <a:rPr sz="3600" spc="-5" dirty="0">
                <a:solidFill>
                  <a:srgbClr val="00CC99"/>
                </a:solidFill>
              </a:rPr>
              <a:t>Implementation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of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Connectionless</a:t>
            </a:r>
            <a:r>
              <a:rPr sz="3600" spc="5" dirty="0">
                <a:solidFill>
                  <a:srgbClr val="00CC99"/>
                </a:solidFill>
              </a:rPr>
              <a:t> </a:t>
            </a:r>
            <a:r>
              <a:rPr sz="3600" spc="-5" dirty="0">
                <a:solidFill>
                  <a:srgbClr val="00CC99"/>
                </a:solidFill>
              </a:rPr>
              <a:t>Service</a:t>
            </a:r>
            <a:r>
              <a:rPr sz="3600" dirty="0">
                <a:solidFill>
                  <a:srgbClr val="00CC99"/>
                </a:solidFill>
              </a:rPr>
              <a:t> (3)</a:t>
            </a:r>
            <a:endParaRPr sz="3600"/>
          </a:p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4800" spc="-5" dirty="0">
                <a:solidFill>
                  <a:srgbClr val="FF3200"/>
                </a:solidFill>
              </a:rPr>
              <a:t>Routers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125727" y="2924046"/>
            <a:ext cx="7925434" cy="3320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marR="5080" indent="-609600">
              <a:lnSpc>
                <a:spcPct val="100099"/>
              </a:lnSpc>
              <a:spcBef>
                <a:spcPts val="9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When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packet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comes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router,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frame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header</a:t>
            </a:r>
            <a:r>
              <a:rPr sz="3600" dirty="0">
                <a:latin typeface="Times New Roman"/>
                <a:cs typeface="Times New Roman"/>
              </a:rPr>
              <a:t> and </a:t>
            </a:r>
            <a:r>
              <a:rPr sz="3600" spc="-5" dirty="0">
                <a:latin typeface="Times New Roman"/>
                <a:cs typeface="Times New Roman"/>
              </a:rPr>
              <a:t>trailer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are stripped off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 the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packet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located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5" dirty="0">
                <a:latin typeface="Times New Roman"/>
                <a:cs typeface="Times New Roman"/>
              </a:rPr>
              <a:t> the frame’s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payload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field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passed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 the routing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software. This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software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uses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packet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header </a:t>
            </a:r>
            <a:r>
              <a:rPr sz="3600" dirty="0">
                <a:latin typeface="Times New Roman"/>
                <a:cs typeface="Times New Roman"/>
              </a:rPr>
              <a:t>to </a:t>
            </a:r>
            <a:r>
              <a:rPr sz="3600" spc="-5" dirty="0">
                <a:latin typeface="Times New Roman"/>
                <a:cs typeface="Times New Roman"/>
              </a:rPr>
              <a:t>choose an output line.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0195" y="628903"/>
            <a:ext cx="85591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5.1</a:t>
            </a:r>
            <a:r>
              <a:rPr sz="4400" dirty="0"/>
              <a:t> </a:t>
            </a:r>
            <a:r>
              <a:rPr sz="4400" spc="-5" dirty="0"/>
              <a:t>Network</a:t>
            </a:r>
            <a:r>
              <a:rPr sz="4400" spc="-10" dirty="0"/>
              <a:t> </a:t>
            </a:r>
            <a:r>
              <a:rPr sz="4400" spc="-5" dirty="0"/>
              <a:t>Layer</a:t>
            </a:r>
            <a:r>
              <a:rPr sz="4400" spc="-15" dirty="0"/>
              <a:t> </a:t>
            </a:r>
            <a:r>
              <a:rPr sz="4400" spc="-5" dirty="0"/>
              <a:t>Design</a:t>
            </a:r>
            <a:r>
              <a:rPr sz="4400" spc="5" dirty="0"/>
              <a:t> </a:t>
            </a:r>
            <a:r>
              <a:rPr sz="4400" spc="-5" dirty="0"/>
              <a:t>Issues</a:t>
            </a:r>
            <a:r>
              <a:rPr sz="4400" spc="5" dirty="0"/>
              <a:t> </a:t>
            </a:r>
            <a:r>
              <a:rPr sz="4400" spc="-5" dirty="0"/>
              <a:t>(16)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38275" y="1133347"/>
            <a:ext cx="8801735" cy="541591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430"/>
              </a:spcBef>
              <a:buAutoNum type="arabicPeriod" startAt="3"/>
              <a:tabLst>
                <a:tab pos="469900" algn="l"/>
              </a:tabLst>
            </a:pPr>
            <a:r>
              <a:rPr sz="3600" spc="-5" dirty="0">
                <a:solidFill>
                  <a:srgbClr val="00CC99"/>
                </a:solidFill>
                <a:latin typeface="Times New Roman"/>
                <a:cs typeface="Times New Roman"/>
              </a:rPr>
              <a:t>Implementation</a:t>
            </a:r>
            <a:r>
              <a:rPr sz="3600" spc="5" dirty="0">
                <a:solidFill>
                  <a:srgbClr val="00CC99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CC99"/>
                </a:solidFill>
                <a:latin typeface="Times New Roman"/>
                <a:cs typeface="Times New Roman"/>
              </a:rPr>
              <a:t>of</a:t>
            </a:r>
            <a:r>
              <a:rPr sz="3600" spc="10" dirty="0">
                <a:solidFill>
                  <a:srgbClr val="00CC99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CC99"/>
                </a:solidFill>
                <a:latin typeface="Times New Roman"/>
                <a:cs typeface="Times New Roman"/>
              </a:rPr>
              <a:t>Connectionless</a:t>
            </a:r>
            <a:r>
              <a:rPr sz="3600" spc="10" dirty="0">
                <a:solidFill>
                  <a:srgbClr val="00CC99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CC99"/>
                </a:solidFill>
                <a:latin typeface="Times New Roman"/>
                <a:cs typeface="Times New Roman"/>
              </a:rPr>
              <a:t>Service(3)</a:t>
            </a:r>
            <a:endParaRPr sz="3600">
              <a:latin typeface="Times New Roman"/>
              <a:cs typeface="Times New Roman"/>
            </a:endParaRPr>
          </a:p>
          <a:p>
            <a:pPr marL="257810" marR="876935" lvl="1" indent="-59690">
              <a:lnSpc>
                <a:spcPct val="100099"/>
              </a:lnSpc>
              <a:spcBef>
                <a:spcPts val="1330"/>
              </a:spcBef>
              <a:buClr>
                <a:srgbClr val="3232CC"/>
              </a:buClr>
              <a:buSzPct val="97222"/>
              <a:buChar char="•"/>
              <a:tabLst>
                <a:tab pos="359410" algn="l"/>
              </a:tabLst>
            </a:pPr>
            <a:r>
              <a:rPr sz="3600" spc="-5" dirty="0">
                <a:latin typeface="Times New Roman"/>
                <a:cs typeface="Times New Roman"/>
              </a:rPr>
              <a:t>Each router has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 internal </a:t>
            </a:r>
            <a:r>
              <a:rPr sz="3600" dirty="0">
                <a:latin typeface="Times New Roman"/>
                <a:cs typeface="Times New Roman"/>
              </a:rPr>
              <a:t>table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telling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it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where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5" dirty="0">
                <a:latin typeface="Times New Roman"/>
                <a:cs typeface="Times New Roman"/>
              </a:rPr>
              <a:t> send packets </a:t>
            </a:r>
            <a:r>
              <a:rPr sz="3600" dirty="0">
                <a:latin typeface="Times New Roman"/>
                <a:cs typeface="Times New Roman"/>
              </a:rPr>
              <a:t>for </a:t>
            </a:r>
            <a:r>
              <a:rPr sz="3600" spc="-5" dirty="0">
                <a:latin typeface="Times New Roman"/>
                <a:cs typeface="Times New Roman"/>
              </a:rPr>
              <a:t>each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possible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destination.</a:t>
            </a:r>
            <a:endParaRPr sz="3600">
              <a:latin typeface="Times New Roman"/>
              <a:cs typeface="Times New Roman"/>
            </a:endParaRPr>
          </a:p>
          <a:p>
            <a:pPr marL="257810" marR="624205" lvl="1" indent="-59690">
              <a:lnSpc>
                <a:spcPct val="100099"/>
              </a:lnSpc>
              <a:spcBef>
                <a:spcPts val="860"/>
              </a:spcBef>
              <a:buClr>
                <a:srgbClr val="3232CC"/>
              </a:buClr>
              <a:buSzPct val="97222"/>
              <a:buChar char="•"/>
              <a:tabLst>
                <a:tab pos="359410" algn="l"/>
              </a:tabLst>
            </a:pP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algorithm that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manages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tables </a:t>
            </a:r>
            <a:r>
              <a:rPr sz="3600" dirty="0">
                <a:latin typeface="Times New Roman"/>
                <a:cs typeface="Times New Roman"/>
              </a:rPr>
              <a:t>and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makes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routing decisions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 called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routing</a:t>
            </a:r>
            <a:r>
              <a:rPr sz="3600" spc="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algorithm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algorithms</a:t>
            </a:r>
            <a:r>
              <a:rPr sz="3600" dirty="0">
                <a:latin typeface="Times New Roman"/>
                <a:cs typeface="Times New Roman"/>
              </a:rPr>
              <a:t> are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one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dirty="0">
                <a:latin typeface="Times New Roman"/>
                <a:cs typeface="Times New Roman"/>
              </a:rPr>
              <a:t> 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main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things </a:t>
            </a:r>
            <a:r>
              <a:rPr sz="3600" dirty="0">
                <a:latin typeface="Times New Roman"/>
                <a:cs typeface="Times New Roman"/>
              </a:rPr>
              <a:t>we</a:t>
            </a:r>
            <a:r>
              <a:rPr sz="3600" spc="-5" dirty="0">
                <a:latin typeface="Times New Roman"/>
                <a:cs typeface="Times New Roman"/>
              </a:rPr>
              <a:t> will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study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 this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chapter.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83635" y="6024876"/>
            <a:ext cx="7214234" cy="105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029"/>
              </a:lnSpc>
            </a:pPr>
            <a:r>
              <a:rPr sz="3600" spc="-5" dirty="0">
                <a:latin typeface="Times New Roman"/>
                <a:cs typeface="Times New Roman"/>
              </a:rPr>
              <a:t>subnet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 </a:t>
            </a:r>
            <a:r>
              <a:rPr sz="3600" spc="-5" dirty="0">
                <a:latin typeface="Times New Roman"/>
                <a:cs typeface="Times New Roman"/>
              </a:rPr>
              <a:t>called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virtual-circuit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subnet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  <a:p>
            <a:pPr marL="3596640" marR="1978660" indent="-515620">
              <a:lnSpc>
                <a:spcPts val="1670"/>
              </a:lnSpc>
              <a:spcBef>
                <a:spcPts val="860"/>
              </a:spcBef>
            </a:pPr>
            <a:r>
              <a:rPr sz="1400" dirty="0">
                <a:latin typeface="Times New Roman"/>
                <a:cs typeface="Times New Roman"/>
              </a:rPr>
              <a:t>BLM431 </a:t>
            </a:r>
            <a:r>
              <a:rPr sz="1400" spc="-5" dirty="0">
                <a:latin typeface="Times New Roman"/>
                <a:cs typeface="Times New Roman"/>
              </a:rPr>
              <a:t>Computer Networks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Dr.Refik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Samet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0195" y="660907"/>
            <a:ext cx="85591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5.1</a:t>
            </a:r>
            <a:r>
              <a:rPr sz="4400" dirty="0"/>
              <a:t> </a:t>
            </a:r>
            <a:r>
              <a:rPr sz="4400" spc="-5" dirty="0"/>
              <a:t>Network</a:t>
            </a:r>
            <a:r>
              <a:rPr sz="4400" spc="-10" dirty="0"/>
              <a:t> </a:t>
            </a:r>
            <a:r>
              <a:rPr sz="4400" spc="-5" dirty="0"/>
              <a:t>Layer</a:t>
            </a:r>
            <a:r>
              <a:rPr sz="4400" spc="-15" dirty="0"/>
              <a:t> </a:t>
            </a:r>
            <a:r>
              <a:rPr sz="4400" spc="-5" dirty="0"/>
              <a:t>Design</a:t>
            </a:r>
            <a:r>
              <a:rPr sz="4400" spc="5" dirty="0"/>
              <a:t> </a:t>
            </a:r>
            <a:r>
              <a:rPr sz="4400" spc="-5" dirty="0"/>
              <a:t>Issues</a:t>
            </a:r>
            <a:r>
              <a:rPr sz="4400" spc="5" dirty="0"/>
              <a:t> </a:t>
            </a:r>
            <a:r>
              <a:rPr sz="4400" spc="-5" dirty="0"/>
              <a:t>(17)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01699" y="1155850"/>
            <a:ext cx="8876665" cy="484314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1495"/>
              </a:spcBef>
              <a:buAutoNum type="arabicPeriod" startAt="4"/>
              <a:tabLst>
                <a:tab pos="419734" algn="l"/>
              </a:tabLst>
            </a:pPr>
            <a:r>
              <a:rPr sz="3200" spc="-5" dirty="0">
                <a:solidFill>
                  <a:srgbClr val="00CC99"/>
                </a:solidFill>
                <a:latin typeface="Times New Roman"/>
                <a:cs typeface="Times New Roman"/>
              </a:rPr>
              <a:t>Implementation </a:t>
            </a:r>
            <a:r>
              <a:rPr sz="3200" dirty="0">
                <a:solidFill>
                  <a:srgbClr val="00CC99"/>
                </a:solidFill>
                <a:latin typeface="Times New Roman"/>
                <a:cs typeface="Times New Roman"/>
              </a:rPr>
              <a:t>of</a:t>
            </a:r>
            <a:r>
              <a:rPr sz="3200" spc="10" dirty="0">
                <a:solidFill>
                  <a:srgbClr val="00CC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CC99"/>
                </a:solidFill>
                <a:latin typeface="Times New Roman"/>
                <a:cs typeface="Times New Roman"/>
              </a:rPr>
              <a:t>Connection-Oriented</a:t>
            </a:r>
            <a:r>
              <a:rPr sz="3200" dirty="0">
                <a:solidFill>
                  <a:srgbClr val="00CC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CC99"/>
                </a:solidFill>
                <a:latin typeface="Times New Roman"/>
                <a:cs typeface="Times New Roman"/>
              </a:rPr>
              <a:t>Service</a:t>
            </a:r>
            <a:r>
              <a:rPr sz="3200" dirty="0">
                <a:solidFill>
                  <a:srgbClr val="00CC99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CC99"/>
                </a:solidFill>
                <a:latin typeface="Times New Roman"/>
                <a:cs typeface="Times New Roman"/>
              </a:rPr>
              <a:t>(1)</a:t>
            </a:r>
            <a:endParaRPr sz="3200">
              <a:latin typeface="Times New Roman"/>
              <a:cs typeface="Times New Roman"/>
            </a:endParaRPr>
          </a:p>
          <a:p>
            <a:pPr marL="294005" marR="281940" lvl="1" indent="-59690">
              <a:lnSpc>
                <a:spcPct val="100099"/>
              </a:lnSpc>
              <a:spcBef>
                <a:spcPts val="1565"/>
              </a:spcBef>
              <a:buClr>
                <a:srgbClr val="3232CC"/>
              </a:buClr>
              <a:buSzPct val="97222"/>
              <a:buChar char="•"/>
              <a:tabLst>
                <a:tab pos="396240" algn="l"/>
              </a:tabLst>
            </a:pPr>
            <a:r>
              <a:rPr sz="3600" spc="-5" dirty="0">
                <a:latin typeface="Times New Roman"/>
                <a:cs typeface="Times New Roman"/>
              </a:rPr>
              <a:t>If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connection-oriented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service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used,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path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from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source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router</a:t>
            </a:r>
            <a:r>
              <a:rPr sz="3600" dirty="0">
                <a:latin typeface="Times New Roman"/>
                <a:cs typeface="Times New Roman"/>
              </a:rPr>
              <a:t> to </a:t>
            </a:r>
            <a:r>
              <a:rPr sz="3600" spc="-5" dirty="0">
                <a:latin typeface="Times New Roman"/>
                <a:cs typeface="Times New Roman"/>
              </a:rPr>
              <a:t>the destination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router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must be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established before any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data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packets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can be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sent.</a:t>
            </a:r>
            <a:endParaRPr sz="3600">
              <a:latin typeface="Times New Roman"/>
              <a:cs typeface="Times New Roman"/>
            </a:endParaRPr>
          </a:p>
          <a:p>
            <a:pPr marL="294005" marR="408940" lvl="1" indent="-59690">
              <a:lnSpc>
                <a:spcPct val="100000"/>
              </a:lnSpc>
              <a:spcBef>
                <a:spcPts val="875"/>
              </a:spcBef>
              <a:buClr>
                <a:srgbClr val="3232CC"/>
              </a:buClr>
              <a:buSzPct val="97222"/>
              <a:buChar char="•"/>
              <a:tabLst>
                <a:tab pos="396240" algn="l"/>
              </a:tabLst>
            </a:pPr>
            <a:r>
              <a:rPr sz="3600" spc="-5" dirty="0">
                <a:latin typeface="Times New Roman"/>
                <a:cs typeface="Times New Roman"/>
              </a:rPr>
              <a:t>This connection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called a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VC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(virtual 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circuit),</a:t>
            </a:r>
            <a:r>
              <a:rPr sz="3600" spc="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analogy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with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physical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circuits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up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telephone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system,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83639" y="6194040"/>
            <a:ext cx="5240020" cy="884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60"/>
              </a:lnSpc>
            </a:pPr>
            <a:r>
              <a:rPr sz="3600" spc="-5" dirty="0">
                <a:latin typeface="Times New Roman"/>
                <a:cs typeface="Times New Roman"/>
              </a:rPr>
              <a:t>virtual circuit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belongs to.</a:t>
            </a:r>
            <a:endParaRPr sz="3600">
              <a:latin typeface="Times New Roman"/>
              <a:cs typeface="Times New Roman"/>
            </a:endParaRPr>
          </a:p>
          <a:p>
            <a:pPr marL="3068955" algn="ctr">
              <a:lnSpc>
                <a:spcPts val="1405"/>
              </a:lnSpc>
            </a:pPr>
            <a:r>
              <a:rPr sz="1400" dirty="0">
                <a:latin typeface="Times New Roman"/>
                <a:cs typeface="Times New Roman"/>
              </a:rPr>
              <a:t>BLM431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Computer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Networks</a:t>
            </a:r>
            <a:endParaRPr sz="1400">
              <a:latin typeface="Times New Roman"/>
              <a:cs typeface="Times New Roman"/>
            </a:endParaRPr>
          </a:p>
          <a:p>
            <a:pPr marL="3068955" algn="ctr">
              <a:lnSpc>
                <a:spcPts val="1675"/>
              </a:lnSpc>
            </a:pPr>
            <a:r>
              <a:rPr sz="1400" spc="-5" dirty="0">
                <a:latin typeface="Times New Roman"/>
                <a:cs typeface="Times New Roman"/>
              </a:rPr>
              <a:t>Dr.Refik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Samet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0299" y="628903"/>
            <a:ext cx="84201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5.1</a:t>
            </a:r>
            <a:r>
              <a:rPr sz="4400" dirty="0"/>
              <a:t> </a:t>
            </a:r>
            <a:r>
              <a:rPr sz="4400" spc="-5" dirty="0"/>
              <a:t>Network Layer</a:t>
            </a:r>
            <a:r>
              <a:rPr sz="4400" spc="-15" dirty="0"/>
              <a:t> </a:t>
            </a:r>
            <a:r>
              <a:rPr sz="4400" spc="-5" dirty="0"/>
              <a:t>Design</a:t>
            </a:r>
            <a:r>
              <a:rPr sz="4400" spc="10" dirty="0"/>
              <a:t> </a:t>
            </a:r>
            <a:r>
              <a:rPr sz="4400" spc="-5" dirty="0"/>
              <a:t>Issues(18)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3600" spc="-5" dirty="0"/>
              <a:t>4.</a:t>
            </a:r>
            <a:r>
              <a:rPr spc="-5" dirty="0"/>
              <a:t>Implementation</a:t>
            </a:r>
            <a:r>
              <a:rPr dirty="0"/>
              <a:t> of</a:t>
            </a:r>
            <a:r>
              <a:rPr spc="10" dirty="0"/>
              <a:t> </a:t>
            </a:r>
            <a:r>
              <a:rPr spc="-5" dirty="0"/>
              <a:t>Connection-Oriented</a:t>
            </a:r>
            <a:r>
              <a:rPr spc="5" dirty="0"/>
              <a:t> </a:t>
            </a:r>
            <a:r>
              <a:rPr spc="-5" dirty="0"/>
              <a:t>Service</a:t>
            </a:r>
            <a:r>
              <a:rPr dirty="0"/>
              <a:t> </a:t>
            </a:r>
            <a:r>
              <a:rPr spc="-5" dirty="0"/>
              <a:t>(2)</a:t>
            </a:r>
            <a:endParaRPr sz="3600"/>
          </a:p>
          <a:p>
            <a:pPr marL="204470" marR="597535" indent="-59690">
              <a:lnSpc>
                <a:spcPct val="89900"/>
              </a:lnSpc>
              <a:spcBef>
                <a:spcPts val="1425"/>
              </a:spcBef>
              <a:buClr>
                <a:srgbClr val="3232CC"/>
              </a:buClr>
              <a:buSzPct val="97222"/>
              <a:buChar char="•"/>
              <a:tabLst>
                <a:tab pos="306070" algn="l"/>
              </a:tabLst>
            </a:pPr>
            <a:r>
              <a:rPr sz="3600" spc="-5" dirty="0">
                <a:solidFill>
                  <a:srgbClr val="000000"/>
                </a:solidFill>
              </a:rPr>
              <a:t>When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a</a:t>
            </a:r>
            <a:r>
              <a:rPr sz="3600" spc="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connection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is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established,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a route 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from </a:t>
            </a:r>
            <a:r>
              <a:rPr sz="3600" dirty="0">
                <a:solidFill>
                  <a:srgbClr val="000000"/>
                </a:solidFill>
              </a:rPr>
              <a:t>the</a:t>
            </a:r>
            <a:r>
              <a:rPr sz="3600" spc="-5" dirty="0">
                <a:solidFill>
                  <a:srgbClr val="000000"/>
                </a:solidFill>
              </a:rPr>
              <a:t> source</a:t>
            </a:r>
            <a:r>
              <a:rPr sz="3600" spc="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machine to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the</a:t>
            </a:r>
            <a:r>
              <a:rPr sz="3600" spc="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destination 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machine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is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chosen as</a:t>
            </a:r>
            <a:r>
              <a:rPr sz="3600" dirty="0">
                <a:solidFill>
                  <a:srgbClr val="000000"/>
                </a:solidFill>
              </a:rPr>
              <a:t> part</a:t>
            </a:r>
            <a:r>
              <a:rPr sz="3600" spc="-5" dirty="0">
                <a:solidFill>
                  <a:srgbClr val="000000"/>
                </a:solidFill>
              </a:rPr>
              <a:t> of the</a:t>
            </a:r>
            <a:r>
              <a:rPr sz="3600" spc="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connection </a:t>
            </a:r>
            <a:r>
              <a:rPr sz="3600" spc="-88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setup </a:t>
            </a:r>
            <a:r>
              <a:rPr sz="3600" dirty="0">
                <a:solidFill>
                  <a:srgbClr val="000000"/>
                </a:solidFill>
              </a:rPr>
              <a:t>and</a:t>
            </a:r>
            <a:r>
              <a:rPr sz="3600" spc="-5" dirty="0">
                <a:solidFill>
                  <a:srgbClr val="000000"/>
                </a:solidFill>
              </a:rPr>
              <a:t> stored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in </a:t>
            </a:r>
            <a:r>
              <a:rPr sz="3600" dirty="0">
                <a:solidFill>
                  <a:srgbClr val="000000"/>
                </a:solidFill>
              </a:rPr>
              <a:t>tables </a:t>
            </a:r>
            <a:r>
              <a:rPr sz="3600" spc="-5" dirty="0">
                <a:solidFill>
                  <a:srgbClr val="000000"/>
                </a:solidFill>
              </a:rPr>
              <a:t>inside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the routers.</a:t>
            </a:r>
            <a:endParaRPr sz="3600"/>
          </a:p>
          <a:p>
            <a:pPr marL="204470" marR="485775" indent="-59690">
              <a:lnSpc>
                <a:spcPts val="3890"/>
              </a:lnSpc>
              <a:spcBef>
                <a:spcPts val="920"/>
              </a:spcBef>
              <a:buClr>
                <a:srgbClr val="3232CC"/>
              </a:buClr>
              <a:buSzPct val="97222"/>
              <a:buChar char="•"/>
              <a:tabLst>
                <a:tab pos="306070" algn="l"/>
              </a:tabLst>
            </a:pPr>
            <a:r>
              <a:rPr sz="3600" spc="-5" dirty="0">
                <a:solidFill>
                  <a:srgbClr val="000000"/>
                </a:solidFill>
              </a:rPr>
              <a:t>When</a:t>
            </a:r>
            <a:r>
              <a:rPr sz="3600" dirty="0">
                <a:solidFill>
                  <a:srgbClr val="000000"/>
                </a:solidFill>
              </a:rPr>
              <a:t> the</a:t>
            </a:r>
            <a:r>
              <a:rPr sz="3600" spc="-5" dirty="0">
                <a:solidFill>
                  <a:srgbClr val="000000"/>
                </a:solidFill>
              </a:rPr>
              <a:t> connection</a:t>
            </a:r>
            <a:r>
              <a:rPr sz="3600" spc="1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is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released,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the virtual </a:t>
            </a:r>
            <a:r>
              <a:rPr sz="3600" spc="-88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circuit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is </a:t>
            </a:r>
            <a:r>
              <a:rPr sz="3600" spc="-5" dirty="0">
                <a:solidFill>
                  <a:srgbClr val="000000"/>
                </a:solidFill>
              </a:rPr>
              <a:t>also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terminated.</a:t>
            </a:r>
            <a:endParaRPr sz="3600"/>
          </a:p>
          <a:p>
            <a:pPr marL="204470" marR="1220470" indent="-59690">
              <a:lnSpc>
                <a:spcPts val="3890"/>
              </a:lnSpc>
              <a:spcBef>
                <a:spcPts val="860"/>
              </a:spcBef>
              <a:buClr>
                <a:srgbClr val="3232CC"/>
              </a:buClr>
              <a:buSzPct val="97222"/>
              <a:buChar char="•"/>
              <a:tabLst>
                <a:tab pos="306070" algn="l"/>
              </a:tabLst>
            </a:pPr>
            <a:r>
              <a:rPr sz="3600" spc="-5" dirty="0">
                <a:solidFill>
                  <a:srgbClr val="000000"/>
                </a:solidFill>
              </a:rPr>
              <a:t>With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connection-oriented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service,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each 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packet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carries</a:t>
            </a:r>
            <a:r>
              <a:rPr sz="3600" dirty="0">
                <a:solidFill>
                  <a:srgbClr val="000000"/>
                </a:solidFill>
              </a:rPr>
              <a:t> an </a:t>
            </a:r>
            <a:r>
              <a:rPr sz="3600" spc="-5" dirty="0">
                <a:solidFill>
                  <a:srgbClr val="000000"/>
                </a:solidFill>
              </a:rPr>
              <a:t>identifier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telling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which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4526" y="6086345"/>
            <a:ext cx="4770755" cy="77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virtual-circuit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subnet.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sz="1400" dirty="0">
                <a:latin typeface="Times New Roman"/>
                <a:cs typeface="Times New Roman"/>
              </a:rPr>
              <a:t>BLM431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Computer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Networks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2324" y="6624317"/>
            <a:ext cx="2044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1615" y="296671"/>
            <a:ext cx="8812530" cy="126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5.1.Network Layer</a:t>
            </a:r>
            <a:r>
              <a:rPr sz="4400" spc="-10" dirty="0"/>
              <a:t> </a:t>
            </a:r>
            <a:r>
              <a:rPr sz="4400" spc="-5" dirty="0"/>
              <a:t>Design</a:t>
            </a:r>
            <a:r>
              <a:rPr sz="4400" spc="10" dirty="0"/>
              <a:t> </a:t>
            </a:r>
            <a:r>
              <a:rPr sz="4400" spc="-5" dirty="0"/>
              <a:t>Issues(19)</a:t>
            </a:r>
            <a:endParaRPr sz="4400"/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spc="-5" dirty="0">
                <a:solidFill>
                  <a:srgbClr val="00CC99"/>
                </a:solidFill>
              </a:rPr>
              <a:t>4.</a:t>
            </a:r>
            <a:r>
              <a:rPr sz="3200" spc="-5" dirty="0">
                <a:solidFill>
                  <a:srgbClr val="00CC99"/>
                </a:solidFill>
              </a:rPr>
              <a:t>Implementation</a:t>
            </a:r>
            <a:r>
              <a:rPr sz="3200" dirty="0">
                <a:solidFill>
                  <a:srgbClr val="00CC99"/>
                </a:solidFill>
              </a:rPr>
              <a:t> of</a:t>
            </a:r>
            <a:r>
              <a:rPr sz="3200" spc="10" dirty="0">
                <a:solidFill>
                  <a:srgbClr val="00CC99"/>
                </a:solidFill>
              </a:rPr>
              <a:t> </a:t>
            </a:r>
            <a:r>
              <a:rPr sz="3200" spc="-5" dirty="0">
                <a:solidFill>
                  <a:srgbClr val="00CC99"/>
                </a:solidFill>
              </a:rPr>
              <a:t>Connection-Oriented</a:t>
            </a:r>
            <a:r>
              <a:rPr sz="3200" spc="5" dirty="0">
                <a:solidFill>
                  <a:srgbClr val="00CC99"/>
                </a:solidFill>
              </a:rPr>
              <a:t> </a:t>
            </a:r>
            <a:r>
              <a:rPr sz="3200" spc="-5" dirty="0">
                <a:solidFill>
                  <a:srgbClr val="00CC99"/>
                </a:solidFill>
              </a:rPr>
              <a:t>Service</a:t>
            </a:r>
            <a:r>
              <a:rPr sz="3200" dirty="0">
                <a:solidFill>
                  <a:srgbClr val="00CC99"/>
                </a:solidFill>
              </a:rPr>
              <a:t> </a:t>
            </a:r>
            <a:r>
              <a:rPr sz="3200" spc="-5" dirty="0">
                <a:solidFill>
                  <a:srgbClr val="00CC99"/>
                </a:solidFill>
              </a:rPr>
              <a:t>(3)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1616" y="1802891"/>
            <a:ext cx="6902195" cy="38922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68086" y="6855568"/>
            <a:ext cx="11404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Dr.Refik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Samet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3" y="554227"/>
            <a:ext cx="61436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5.2</a:t>
            </a:r>
            <a:r>
              <a:rPr sz="4400" dirty="0"/>
              <a:t> </a:t>
            </a:r>
            <a:r>
              <a:rPr sz="4400" spc="-5" dirty="0"/>
              <a:t>Routing</a:t>
            </a:r>
            <a:r>
              <a:rPr sz="4400" spc="-10" dirty="0"/>
              <a:t> </a:t>
            </a:r>
            <a:r>
              <a:rPr sz="4400" spc="-5" dirty="0"/>
              <a:t>Algorithms</a:t>
            </a:r>
            <a:r>
              <a:rPr sz="4400" dirty="0"/>
              <a:t> </a:t>
            </a:r>
            <a:r>
              <a:rPr sz="4400" spc="-5" dirty="0"/>
              <a:t>(2)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09323" y="1246123"/>
            <a:ext cx="8116570" cy="529717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960"/>
              </a:spcBef>
              <a:buClr>
                <a:srgbClr val="3232CC"/>
              </a:buClr>
              <a:buChar char="•"/>
              <a:tabLst>
                <a:tab pos="622300" algn="l"/>
                <a:tab pos="622935" algn="l"/>
              </a:tabLst>
            </a:pPr>
            <a:r>
              <a:rPr sz="3600" spc="-5" dirty="0">
                <a:latin typeface="Times New Roman"/>
                <a:cs typeface="Times New Roman"/>
              </a:rPr>
              <a:t>There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are</a:t>
            </a:r>
            <a:r>
              <a:rPr sz="3600" spc="-5" dirty="0">
                <a:latin typeface="Times New Roman"/>
                <a:cs typeface="Times New Roman"/>
              </a:rPr>
              <a:t> two processes inside router:</a:t>
            </a:r>
            <a:endParaRPr sz="3600">
              <a:latin typeface="Times New Roman"/>
              <a:cs typeface="Times New Roman"/>
            </a:endParaRPr>
          </a:p>
          <a:p>
            <a:pPr marL="622300" marR="360045" indent="-609600">
              <a:lnSpc>
                <a:spcPct val="100099"/>
              </a:lnSpc>
              <a:spcBef>
                <a:spcPts val="860"/>
              </a:spcBef>
              <a:buClr>
                <a:srgbClr val="3232CC"/>
              </a:buClr>
              <a:buAutoNum type="alphaLcParenR"/>
              <a:tabLst>
                <a:tab pos="622300" algn="l"/>
                <a:tab pos="622935" algn="l"/>
              </a:tabLst>
            </a:pPr>
            <a:r>
              <a:rPr sz="3600" dirty="0">
                <a:latin typeface="Times New Roman"/>
                <a:cs typeface="Times New Roman"/>
              </a:rPr>
              <a:t>One </a:t>
            </a:r>
            <a:r>
              <a:rPr sz="3600" spc="-5" dirty="0">
                <a:latin typeface="Times New Roman"/>
                <a:cs typeface="Times New Roman"/>
              </a:rPr>
              <a:t>of them handles each packet as it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arrives,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looking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up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outgoing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line to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use for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routing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table.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This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process 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forwarding.</a:t>
            </a:r>
            <a:endParaRPr sz="3600">
              <a:latin typeface="Times New Roman"/>
              <a:cs typeface="Times New Roman"/>
            </a:endParaRPr>
          </a:p>
          <a:p>
            <a:pPr marL="622300" marR="5080" indent="-610235">
              <a:lnSpc>
                <a:spcPct val="100200"/>
              </a:lnSpc>
              <a:spcBef>
                <a:spcPts val="860"/>
              </a:spcBef>
              <a:buClr>
                <a:srgbClr val="3232CC"/>
              </a:buClr>
              <a:buAutoNum type="alphaLcParenR"/>
              <a:tabLst>
                <a:tab pos="622300" algn="l"/>
                <a:tab pos="622935" algn="l"/>
              </a:tabLst>
            </a:pP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other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process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responsible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for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filling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updating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tables.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That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where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routing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algorithm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comes into play.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This process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routing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3" y="554227"/>
            <a:ext cx="61436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5.2</a:t>
            </a:r>
            <a:r>
              <a:rPr sz="4400" dirty="0"/>
              <a:t> </a:t>
            </a:r>
            <a:r>
              <a:rPr sz="4400" spc="-5" dirty="0"/>
              <a:t>Routing</a:t>
            </a:r>
            <a:r>
              <a:rPr sz="4400" spc="-10" dirty="0"/>
              <a:t> </a:t>
            </a:r>
            <a:r>
              <a:rPr sz="4400" spc="-5" dirty="0"/>
              <a:t>Algorithms</a:t>
            </a:r>
            <a:r>
              <a:rPr sz="4400" dirty="0"/>
              <a:t> </a:t>
            </a:r>
            <a:r>
              <a:rPr sz="4400" spc="-5" dirty="0"/>
              <a:t>(3)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09547" y="1355851"/>
            <a:ext cx="8014970" cy="4747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marR="5080" indent="-609600">
              <a:lnSpc>
                <a:spcPct val="100099"/>
              </a:lnSpc>
              <a:spcBef>
                <a:spcPts val="9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Regardless 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whether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routes</a:t>
            </a:r>
            <a:r>
              <a:rPr sz="3600" dirty="0">
                <a:latin typeface="Times New Roman"/>
                <a:cs typeface="Times New Roman"/>
              </a:rPr>
              <a:t> are</a:t>
            </a:r>
            <a:r>
              <a:rPr sz="3600" spc="-5" dirty="0">
                <a:latin typeface="Times New Roman"/>
                <a:cs typeface="Times New Roman"/>
              </a:rPr>
              <a:t> chosen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independently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5" dirty="0">
                <a:latin typeface="Times New Roman"/>
                <a:cs typeface="Times New Roman"/>
              </a:rPr>
              <a:t> each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packet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or</a:t>
            </a:r>
            <a:r>
              <a:rPr sz="3600" spc="-5" dirty="0">
                <a:latin typeface="Times New Roman"/>
                <a:cs typeface="Times New Roman"/>
              </a:rPr>
              <a:t> only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when new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connections</a:t>
            </a:r>
            <a:r>
              <a:rPr sz="3600" dirty="0">
                <a:latin typeface="Times New Roman"/>
                <a:cs typeface="Times New Roman"/>
              </a:rPr>
              <a:t> are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established,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certain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properties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are desirable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routing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algorithm:</a:t>
            </a:r>
            <a:endParaRPr sz="36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87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correctness,</a:t>
            </a:r>
            <a:r>
              <a:rPr sz="3600" spc="-2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simplicity,</a:t>
            </a:r>
            <a:endParaRPr sz="36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86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robustness,</a:t>
            </a:r>
            <a:r>
              <a:rPr sz="3600" spc="-2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stability,</a:t>
            </a:r>
            <a:endParaRPr sz="3600">
              <a:latin typeface="Times New Roman"/>
              <a:cs typeface="Times New Roman"/>
            </a:endParaRPr>
          </a:p>
          <a:p>
            <a:pPr marL="736600" indent="-723900">
              <a:lnSpc>
                <a:spcPct val="100000"/>
              </a:lnSpc>
              <a:spcBef>
                <a:spcPts val="865"/>
              </a:spcBef>
              <a:buClr>
                <a:srgbClr val="3232CC"/>
              </a:buClr>
              <a:buChar char="•"/>
              <a:tabLst>
                <a:tab pos="735965" algn="l"/>
                <a:tab pos="736600" algn="l"/>
              </a:tabLst>
            </a:pP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fairness,</a:t>
            </a:r>
            <a:r>
              <a:rPr sz="3600" spc="-1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and</a:t>
            </a:r>
            <a:r>
              <a:rPr sz="3600" spc="-1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optimality.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3" y="554227"/>
            <a:ext cx="61436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5.2</a:t>
            </a:r>
            <a:r>
              <a:rPr sz="4400" dirty="0"/>
              <a:t> </a:t>
            </a:r>
            <a:r>
              <a:rPr sz="4400" spc="-5" dirty="0"/>
              <a:t>Routing</a:t>
            </a:r>
            <a:r>
              <a:rPr sz="4400" spc="-10" dirty="0"/>
              <a:t> </a:t>
            </a:r>
            <a:r>
              <a:rPr sz="4400" spc="-5" dirty="0"/>
              <a:t>Algorithms</a:t>
            </a:r>
            <a:r>
              <a:rPr sz="4400" dirty="0"/>
              <a:t> </a:t>
            </a:r>
            <a:r>
              <a:rPr sz="4400" spc="-5" dirty="0"/>
              <a:t>(7)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46835" y="1310131"/>
            <a:ext cx="8776335" cy="512826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621665" marR="67945" indent="-609600">
              <a:lnSpc>
                <a:spcPts val="3890"/>
              </a:lnSpc>
              <a:spcBef>
                <a:spcPts val="58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Routing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algorithms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can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grouped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into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two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major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classes: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nonadaptive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adaptive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  <a:p>
            <a:pPr marL="621665" marR="5080" indent="-609600">
              <a:lnSpc>
                <a:spcPts val="3890"/>
              </a:lnSpc>
              <a:spcBef>
                <a:spcPts val="86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Nonadaptive algorithm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do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not base their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routing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decisions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measurements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or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estimates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current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traffic</a:t>
            </a:r>
            <a:r>
              <a:rPr sz="3600" dirty="0">
                <a:latin typeface="Times New Roman"/>
                <a:cs typeface="Times New Roman"/>
              </a:rPr>
              <a:t> and </a:t>
            </a:r>
            <a:r>
              <a:rPr sz="3600" spc="-5" dirty="0">
                <a:latin typeface="Times New Roman"/>
                <a:cs typeface="Times New Roman"/>
              </a:rPr>
              <a:t>topology.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Instead,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choice of</a:t>
            </a:r>
            <a:r>
              <a:rPr sz="3600" dirty="0">
                <a:latin typeface="Times New Roman"/>
                <a:cs typeface="Times New Roman"/>
              </a:rPr>
              <a:t> the</a:t>
            </a:r>
            <a:r>
              <a:rPr sz="3600" spc="-5" dirty="0">
                <a:latin typeface="Times New Roman"/>
                <a:cs typeface="Times New Roman"/>
              </a:rPr>
              <a:t> route </a:t>
            </a:r>
            <a:r>
              <a:rPr sz="3600" dirty="0">
                <a:latin typeface="Times New Roman"/>
                <a:cs typeface="Times New Roman"/>
              </a:rPr>
              <a:t>to </a:t>
            </a:r>
            <a:r>
              <a:rPr sz="3600" spc="-5" dirty="0">
                <a:latin typeface="Times New Roman"/>
                <a:cs typeface="Times New Roman"/>
              </a:rPr>
              <a:t>use to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get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from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I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J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computed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 advance,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off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line,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downloaded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routers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when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network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booted.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procedure is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sometimes called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static</a:t>
            </a:r>
            <a:r>
              <a:rPr sz="3600" spc="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routing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3" y="554227"/>
            <a:ext cx="61436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5.2</a:t>
            </a:r>
            <a:r>
              <a:rPr sz="4400" dirty="0"/>
              <a:t> </a:t>
            </a:r>
            <a:r>
              <a:rPr sz="4400" spc="-5" dirty="0"/>
              <a:t>Routing</a:t>
            </a:r>
            <a:r>
              <a:rPr sz="4400" spc="-10" dirty="0"/>
              <a:t> </a:t>
            </a:r>
            <a:r>
              <a:rPr sz="4400" spc="-5" dirty="0"/>
              <a:t>Algorithms</a:t>
            </a:r>
            <a:r>
              <a:rPr sz="4400" dirty="0"/>
              <a:t> </a:t>
            </a:r>
            <a:r>
              <a:rPr sz="4400" spc="-5" dirty="0"/>
              <a:t>(8)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46835" y="1291843"/>
            <a:ext cx="8727440" cy="548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0"/>
              </a:spcBef>
              <a:buClr>
                <a:srgbClr val="3232CC"/>
              </a:buClr>
              <a:buSzPct val="96875"/>
              <a:buChar char="•"/>
              <a:tabLst>
                <a:tab pos="156210" algn="l"/>
              </a:tabLst>
            </a:pPr>
            <a:r>
              <a:rPr sz="3200" spc="-5" dirty="0">
                <a:solidFill>
                  <a:srgbClr val="FF3200"/>
                </a:solidFill>
                <a:latin typeface="Times New Roman"/>
                <a:cs typeface="Times New Roman"/>
              </a:rPr>
              <a:t>Adaptive</a:t>
            </a:r>
            <a:r>
              <a:rPr sz="32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3200"/>
                </a:solidFill>
                <a:latin typeface="Times New Roman"/>
                <a:cs typeface="Times New Roman"/>
              </a:rPr>
              <a:t>algorithm,</a:t>
            </a:r>
            <a:r>
              <a:rPr sz="3200" spc="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contrast,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change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their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routing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decisions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reflect changes </a:t>
            </a:r>
            <a:r>
              <a:rPr sz="3200" spc="-5" dirty="0">
                <a:latin typeface="Times New Roman"/>
                <a:cs typeface="Times New Roman"/>
              </a:rPr>
              <a:t>in the topology, and </a:t>
            </a:r>
            <a:r>
              <a:rPr sz="3200" dirty="0">
                <a:latin typeface="Times New Roman"/>
                <a:cs typeface="Times New Roman"/>
              </a:rPr>
              <a:t> usually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traffic </a:t>
            </a:r>
            <a:r>
              <a:rPr sz="3200" dirty="0">
                <a:latin typeface="Times New Roman"/>
                <a:cs typeface="Times New Roman"/>
              </a:rPr>
              <a:t>as </a:t>
            </a:r>
            <a:r>
              <a:rPr sz="3200" spc="-5" dirty="0">
                <a:latin typeface="Times New Roman"/>
                <a:cs typeface="Times New Roman"/>
              </a:rPr>
              <a:t>well.</a:t>
            </a:r>
            <a:endParaRPr sz="3200">
              <a:latin typeface="Times New Roman"/>
              <a:cs typeface="Times New Roman"/>
            </a:endParaRPr>
          </a:p>
          <a:p>
            <a:pPr marL="71755" marR="224790" indent="-59690">
              <a:lnSpc>
                <a:spcPct val="100000"/>
              </a:lnSpc>
              <a:spcBef>
                <a:spcPts val="760"/>
              </a:spcBef>
              <a:buClr>
                <a:srgbClr val="3232CC"/>
              </a:buClr>
              <a:buSzPct val="96875"/>
              <a:buChar char="•"/>
              <a:tabLst>
                <a:tab pos="156210" algn="l"/>
              </a:tabLst>
            </a:pPr>
            <a:r>
              <a:rPr sz="3200" spc="-5" dirty="0">
                <a:latin typeface="Times New Roman"/>
                <a:cs typeface="Times New Roman"/>
              </a:rPr>
              <a:t>Adaptive algorithms differ in </a:t>
            </a:r>
            <a:r>
              <a:rPr sz="3200" dirty="0">
                <a:latin typeface="Times New Roman"/>
                <a:cs typeface="Times New Roman"/>
              </a:rPr>
              <a:t>where </a:t>
            </a:r>
            <a:r>
              <a:rPr sz="3200" spc="-5" dirty="0">
                <a:latin typeface="Times New Roman"/>
                <a:cs typeface="Times New Roman"/>
              </a:rPr>
              <a:t>they </a:t>
            </a:r>
            <a:r>
              <a:rPr sz="3200" dirty="0">
                <a:latin typeface="Times New Roman"/>
                <a:cs typeface="Times New Roman"/>
              </a:rPr>
              <a:t>get their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information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(e.g.,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locally,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from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adjacent</a:t>
            </a:r>
            <a:r>
              <a:rPr sz="3200" spc="-5" dirty="0">
                <a:latin typeface="Times New Roman"/>
                <a:cs typeface="Times New Roman"/>
              </a:rPr>
              <a:t> routers, </a:t>
            </a:r>
            <a:r>
              <a:rPr sz="3200" dirty="0">
                <a:latin typeface="Times New Roman"/>
                <a:cs typeface="Times New Roman"/>
              </a:rPr>
              <a:t>or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routers),</a:t>
            </a:r>
            <a:r>
              <a:rPr sz="3200" dirty="0">
                <a:latin typeface="Times New Roman"/>
                <a:cs typeface="Times New Roman"/>
              </a:rPr>
              <a:t> when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they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change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routes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(e.g.,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every </a:t>
            </a:r>
            <a:r>
              <a:rPr sz="3200" spc="50" dirty="0">
                <a:latin typeface="Times New Roman"/>
                <a:cs typeface="Times New Roman"/>
              </a:rPr>
              <a:t>∆T </a:t>
            </a:r>
            <a:r>
              <a:rPr sz="3200" dirty="0">
                <a:latin typeface="Times New Roman"/>
                <a:cs typeface="Times New Roman"/>
              </a:rPr>
              <a:t>sec, </a:t>
            </a:r>
            <a:r>
              <a:rPr sz="3200" spc="-5" dirty="0">
                <a:latin typeface="Times New Roman"/>
                <a:cs typeface="Times New Roman"/>
              </a:rPr>
              <a:t>when the load changes </a:t>
            </a:r>
            <a:r>
              <a:rPr sz="3200" dirty="0">
                <a:latin typeface="Times New Roman"/>
                <a:cs typeface="Times New Roman"/>
              </a:rPr>
              <a:t>or </a:t>
            </a:r>
            <a:r>
              <a:rPr sz="3200" spc="-5" dirty="0">
                <a:latin typeface="Times New Roman"/>
                <a:cs typeface="Times New Roman"/>
              </a:rPr>
              <a:t>when 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topology </a:t>
            </a:r>
            <a:r>
              <a:rPr sz="3200" dirty="0">
                <a:latin typeface="Times New Roman"/>
                <a:cs typeface="Times New Roman"/>
              </a:rPr>
              <a:t>changes),</a:t>
            </a:r>
            <a:r>
              <a:rPr sz="3200" spc="-5" dirty="0">
                <a:latin typeface="Times New Roman"/>
                <a:cs typeface="Times New Roman"/>
              </a:rPr>
              <a:t> and </a:t>
            </a:r>
            <a:r>
              <a:rPr sz="3200" dirty="0">
                <a:latin typeface="Times New Roman"/>
                <a:cs typeface="Times New Roman"/>
              </a:rPr>
              <a:t>what </a:t>
            </a:r>
            <a:r>
              <a:rPr sz="3200" spc="-5" dirty="0">
                <a:latin typeface="Times New Roman"/>
                <a:cs typeface="Times New Roman"/>
              </a:rPr>
              <a:t>metric </a:t>
            </a:r>
            <a:r>
              <a:rPr sz="3200" spc="-1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for </a:t>
            </a:r>
            <a:r>
              <a:rPr sz="3200" spc="-5" dirty="0">
                <a:latin typeface="Times New Roman"/>
                <a:cs typeface="Times New Roman"/>
              </a:rPr>
              <a:t> optimization (e.g., </a:t>
            </a:r>
            <a:r>
              <a:rPr sz="3200" dirty="0">
                <a:latin typeface="Times New Roman"/>
                <a:cs typeface="Times New Roman"/>
              </a:rPr>
              <a:t>distance, number </a:t>
            </a:r>
            <a:r>
              <a:rPr sz="3200" spc="-5" dirty="0">
                <a:latin typeface="Times New Roman"/>
                <a:cs typeface="Times New Roman"/>
              </a:rPr>
              <a:t>of hops, </a:t>
            </a:r>
            <a:r>
              <a:rPr sz="3200" dirty="0">
                <a:latin typeface="Times New Roman"/>
                <a:cs typeface="Times New Roman"/>
              </a:rPr>
              <a:t>or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estimated</a:t>
            </a:r>
            <a:r>
              <a:rPr sz="3200" spc="-5" dirty="0">
                <a:latin typeface="Times New Roman"/>
                <a:cs typeface="Times New Roman"/>
              </a:rPr>
              <a:t> transit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time). </a:t>
            </a: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procedure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called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3200"/>
                </a:solidFill>
                <a:latin typeface="Times New Roman"/>
                <a:cs typeface="Times New Roman"/>
              </a:rPr>
              <a:t>dynamic</a:t>
            </a:r>
            <a:r>
              <a:rPr sz="3200" spc="-2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3200"/>
                </a:solidFill>
                <a:latin typeface="Times New Roman"/>
                <a:cs typeface="Times New Roman"/>
              </a:rPr>
              <a:t>routing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649" rIns="0" bIns="0" rtlCol="0">
            <a:spAutoFit/>
          </a:bodyPr>
          <a:lstStyle/>
          <a:p>
            <a:pPr marL="525145" marR="5080" indent="-3810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5.2 Routing Algorithms </a:t>
            </a:r>
            <a:r>
              <a:rPr dirty="0"/>
              <a:t>(13) </a:t>
            </a:r>
            <a:r>
              <a:rPr spc="-985" dirty="0"/>
              <a:t> </a:t>
            </a:r>
            <a:r>
              <a:rPr spc="-5" dirty="0">
                <a:solidFill>
                  <a:srgbClr val="00CC99"/>
                </a:solidFill>
              </a:rPr>
              <a:t>Shortest Path Routing 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8879" y="1762759"/>
            <a:ext cx="8277859" cy="39801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1755" marR="5080" indent="-59690">
              <a:lnSpc>
                <a:spcPct val="100200"/>
              </a:lnSpc>
              <a:spcBef>
                <a:spcPts val="90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idea </a:t>
            </a:r>
            <a:r>
              <a:rPr sz="3600" spc="-5" dirty="0">
                <a:latin typeface="Times New Roman"/>
                <a:cs typeface="Times New Roman"/>
              </a:rPr>
              <a:t>is to build a </a:t>
            </a:r>
            <a:r>
              <a:rPr sz="3600" dirty="0">
                <a:latin typeface="Times New Roman"/>
                <a:cs typeface="Times New Roman"/>
              </a:rPr>
              <a:t>graph </a:t>
            </a:r>
            <a:r>
              <a:rPr sz="3600" spc="-5" dirty="0">
                <a:latin typeface="Times New Roman"/>
                <a:cs typeface="Times New Roman"/>
              </a:rPr>
              <a:t>of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-5" dirty="0">
                <a:latin typeface="Times New Roman"/>
                <a:cs typeface="Times New Roman"/>
              </a:rPr>
              <a:t>subnet,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with each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node 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graph </a:t>
            </a:r>
            <a:r>
              <a:rPr sz="3600" spc="-5" dirty="0">
                <a:latin typeface="Times New Roman"/>
                <a:cs typeface="Times New Roman"/>
              </a:rPr>
              <a:t>representing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router </a:t>
            </a:r>
            <a:r>
              <a:rPr sz="3600" dirty="0">
                <a:latin typeface="Times New Roman"/>
                <a:cs typeface="Times New Roman"/>
              </a:rPr>
              <a:t>and </a:t>
            </a:r>
            <a:r>
              <a:rPr sz="3600" spc="-5" dirty="0">
                <a:latin typeface="Times New Roman"/>
                <a:cs typeface="Times New Roman"/>
              </a:rPr>
              <a:t>each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arc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dirty="0">
                <a:latin typeface="Times New Roman"/>
                <a:cs typeface="Times New Roman"/>
              </a:rPr>
              <a:t> the</a:t>
            </a:r>
            <a:r>
              <a:rPr sz="3600" spc="-5" dirty="0">
                <a:latin typeface="Times New Roman"/>
                <a:cs typeface="Times New Roman"/>
              </a:rPr>
              <a:t> graph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representing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communication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line or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link.</a:t>
            </a:r>
            <a:endParaRPr sz="3600">
              <a:latin typeface="Times New Roman"/>
              <a:cs typeface="Times New Roman"/>
            </a:endParaRPr>
          </a:p>
          <a:p>
            <a:pPr marL="71755" marR="236854" indent="-59690">
              <a:lnSpc>
                <a:spcPct val="100099"/>
              </a:lnSpc>
              <a:spcBef>
                <a:spcPts val="860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choose a </a:t>
            </a:r>
            <a:r>
              <a:rPr sz="3600" dirty="0">
                <a:latin typeface="Times New Roman"/>
                <a:cs typeface="Times New Roman"/>
              </a:rPr>
              <a:t>route</a:t>
            </a:r>
            <a:r>
              <a:rPr sz="3600" spc="-5" dirty="0">
                <a:latin typeface="Times New Roman"/>
                <a:cs typeface="Times New Roman"/>
              </a:rPr>
              <a:t> between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given pair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routers,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algorithm </a:t>
            </a:r>
            <a:r>
              <a:rPr sz="3600" dirty="0">
                <a:latin typeface="Times New Roman"/>
                <a:cs typeface="Times New Roman"/>
              </a:rPr>
              <a:t>just</a:t>
            </a:r>
            <a:r>
              <a:rPr sz="3600" spc="-5" dirty="0">
                <a:latin typeface="Times New Roman"/>
                <a:cs typeface="Times New Roman"/>
              </a:rPr>
              <a:t> finds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shortest </a:t>
            </a:r>
            <a:r>
              <a:rPr sz="3600" spc="-88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path</a:t>
            </a:r>
            <a:r>
              <a:rPr sz="3600" spc="-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between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them on</a:t>
            </a:r>
            <a:r>
              <a:rPr sz="3600" dirty="0">
                <a:latin typeface="Times New Roman"/>
                <a:cs typeface="Times New Roman"/>
              </a:rPr>
              <a:t> the</a:t>
            </a:r>
            <a:r>
              <a:rPr sz="3600" spc="-5" dirty="0">
                <a:latin typeface="Times New Roman"/>
                <a:cs typeface="Times New Roman"/>
              </a:rPr>
              <a:t> graph.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649" rIns="0" bIns="0" rtlCol="0">
            <a:spAutoFit/>
          </a:bodyPr>
          <a:lstStyle/>
          <a:p>
            <a:pPr marL="525145" marR="5080" indent="-3810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5.2 Routing Algorithms </a:t>
            </a:r>
            <a:r>
              <a:rPr dirty="0"/>
              <a:t>(14) </a:t>
            </a:r>
            <a:r>
              <a:rPr spc="-985" dirty="0"/>
              <a:t> </a:t>
            </a:r>
            <a:r>
              <a:rPr spc="-5" dirty="0">
                <a:solidFill>
                  <a:srgbClr val="00CC99"/>
                </a:solidFill>
              </a:rPr>
              <a:t>Shortest Path Routing 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5371" y="5924801"/>
            <a:ext cx="8026400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965960" marR="5080" indent="-1953895">
              <a:lnSpc>
                <a:spcPts val="2870"/>
              </a:lnSpc>
              <a:spcBef>
                <a:spcPts val="200"/>
              </a:spcBef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5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steps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used</a:t>
            </a:r>
            <a:r>
              <a:rPr sz="2400" dirty="0">
                <a:latin typeface="Times New Roman"/>
                <a:cs typeface="Times New Roman"/>
              </a:rPr>
              <a:t> 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shortest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path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D.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arrows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indicate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working </a:t>
            </a:r>
            <a:r>
              <a:rPr sz="2400" spc="-5" dirty="0">
                <a:latin typeface="Times New Roman"/>
                <a:cs typeface="Times New Roman"/>
              </a:rPr>
              <a:t>node.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1364" y="1612392"/>
            <a:ext cx="5538215" cy="42717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649" rIns="0" bIns="0" rtlCol="0">
            <a:spAutoFit/>
          </a:bodyPr>
          <a:lstStyle/>
          <a:p>
            <a:pPr marL="525145" marR="5080" indent="-3810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5.2 Routing Algorithms </a:t>
            </a:r>
            <a:r>
              <a:rPr dirty="0"/>
              <a:t>(15) </a:t>
            </a:r>
            <a:r>
              <a:rPr spc="-985" dirty="0"/>
              <a:t> </a:t>
            </a:r>
            <a:r>
              <a:rPr spc="-5" dirty="0">
                <a:solidFill>
                  <a:srgbClr val="00CC99"/>
                </a:solidFill>
              </a:rPr>
              <a:t>Shortest Path Routing 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8879" y="1718563"/>
            <a:ext cx="8291195" cy="474218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71755" marR="1316355" indent="-59690">
              <a:lnSpc>
                <a:spcPts val="3890"/>
              </a:lnSpc>
              <a:spcBef>
                <a:spcPts val="585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Many other metrics besides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hops </a:t>
            </a:r>
            <a:r>
              <a:rPr sz="3600" spc="-5" dirty="0">
                <a:latin typeface="Times New Roman"/>
                <a:cs typeface="Times New Roman"/>
              </a:rPr>
              <a:t>and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physical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distance</a:t>
            </a:r>
            <a:r>
              <a:rPr sz="3600" spc="-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are </a:t>
            </a:r>
            <a:r>
              <a:rPr sz="3600" dirty="0">
                <a:latin typeface="Times New Roman"/>
                <a:cs typeface="Times New Roman"/>
              </a:rPr>
              <a:t>also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possible.</a:t>
            </a:r>
            <a:endParaRPr sz="3600">
              <a:latin typeface="Times New Roman"/>
              <a:cs typeface="Times New Roman"/>
            </a:endParaRPr>
          </a:p>
          <a:p>
            <a:pPr marL="71755" marR="5080" indent="-59690">
              <a:lnSpc>
                <a:spcPct val="89900"/>
              </a:lnSpc>
              <a:spcBef>
                <a:spcPts val="810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For example, </a:t>
            </a:r>
            <a:r>
              <a:rPr sz="3600" dirty="0">
                <a:latin typeface="Times New Roman"/>
                <a:cs typeface="Times New Roman"/>
              </a:rPr>
              <a:t>each</a:t>
            </a:r>
            <a:r>
              <a:rPr sz="3600" spc="-5" dirty="0">
                <a:latin typeface="Times New Roman"/>
                <a:cs typeface="Times New Roman"/>
              </a:rPr>
              <a:t> arc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could</a:t>
            </a:r>
            <a:r>
              <a:rPr sz="3600" spc="-5" dirty="0">
                <a:latin typeface="Times New Roman"/>
                <a:cs typeface="Times New Roman"/>
              </a:rPr>
              <a:t> be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labeled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with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mean </a:t>
            </a:r>
            <a:r>
              <a:rPr sz="3600" spc="-5" dirty="0">
                <a:latin typeface="Times New Roman"/>
                <a:cs typeface="Times New Roman"/>
              </a:rPr>
              <a:t>queuing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transmission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delay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for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some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standard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test packet as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determined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by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hourly test runs.</a:t>
            </a:r>
            <a:endParaRPr sz="3600">
              <a:latin typeface="Times New Roman"/>
              <a:cs typeface="Times New Roman"/>
            </a:endParaRPr>
          </a:p>
          <a:p>
            <a:pPr marL="71755" marR="32384" indent="-59690">
              <a:lnSpc>
                <a:spcPts val="3890"/>
              </a:lnSpc>
              <a:spcBef>
                <a:spcPts val="919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With</a:t>
            </a:r>
            <a:r>
              <a:rPr sz="3600" dirty="0">
                <a:latin typeface="Times New Roman"/>
                <a:cs typeface="Times New Roman"/>
              </a:rPr>
              <a:t> this </a:t>
            </a:r>
            <a:r>
              <a:rPr sz="3600" spc="-5" dirty="0">
                <a:latin typeface="Times New Roman"/>
                <a:cs typeface="Times New Roman"/>
              </a:rPr>
              <a:t>graph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labeling,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shortest path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fastest path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rather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than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path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with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fewest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arcs </a:t>
            </a:r>
            <a:r>
              <a:rPr sz="3600" spc="-5" dirty="0">
                <a:latin typeface="Times New Roman"/>
                <a:cs typeface="Times New Roman"/>
              </a:rPr>
              <a:t>or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kilometers.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4768086" y="6855568"/>
            <a:ext cx="11404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Dr.Refik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Samet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252974" y="6624317"/>
            <a:ext cx="4893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01540" algn="l"/>
              </a:tabLst>
            </a:pP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400" spc="-5" dirty="0">
                <a:latin typeface="Times New Roman"/>
                <a:cs typeface="Times New Roman"/>
              </a:rPr>
              <a:t>L</a:t>
            </a:r>
            <a:r>
              <a:rPr sz="1400" dirty="0">
                <a:latin typeface="Times New Roman"/>
                <a:cs typeface="Times New Roman"/>
              </a:rPr>
              <a:t>M</a:t>
            </a:r>
            <a:r>
              <a:rPr sz="1400" spc="5" dirty="0">
                <a:latin typeface="Times New Roman"/>
                <a:cs typeface="Times New Roman"/>
              </a:rPr>
              <a:t>4</a:t>
            </a:r>
            <a:r>
              <a:rPr sz="1400" spc="-10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1 C</a:t>
            </a:r>
            <a:r>
              <a:rPr sz="1400" spc="5" dirty="0">
                <a:latin typeface="Times New Roman"/>
                <a:cs typeface="Times New Roman"/>
              </a:rPr>
              <a:t>o</a:t>
            </a:r>
            <a:r>
              <a:rPr sz="1400" spc="-25" dirty="0">
                <a:latin typeface="Times New Roman"/>
                <a:cs typeface="Times New Roman"/>
              </a:rPr>
              <a:t>m</a:t>
            </a:r>
            <a:r>
              <a:rPr sz="1400" spc="5" dirty="0">
                <a:latin typeface="Times New Roman"/>
                <a:cs typeface="Times New Roman"/>
              </a:rPr>
              <a:t>p</a:t>
            </a:r>
            <a:r>
              <a:rPr sz="1400" spc="-10" dirty="0">
                <a:latin typeface="Times New Roman"/>
                <a:cs typeface="Times New Roman"/>
              </a:rPr>
              <a:t>u</a:t>
            </a:r>
            <a:r>
              <a:rPr sz="1400" spc="5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</a:t>
            </a:r>
            <a:r>
              <a:rPr sz="1400" dirty="0">
                <a:latin typeface="Times New Roman"/>
                <a:cs typeface="Times New Roman"/>
              </a:rPr>
              <a:t>e</a:t>
            </a:r>
            <a:r>
              <a:rPr sz="1400" spc="5" dirty="0">
                <a:latin typeface="Times New Roman"/>
                <a:cs typeface="Times New Roman"/>
              </a:rPr>
              <a:t>t</a:t>
            </a:r>
            <a:r>
              <a:rPr sz="1400" spc="-10" dirty="0">
                <a:latin typeface="Times New Roman"/>
                <a:cs typeface="Times New Roman"/>
              </a:rPr>
              <a:t>w</a:t>
            </a:r>
            <a:r>
              <a:rPr sz="1400" spc="5" dirty="0">
                <a:latin typeface="Times New Roman"/>
                <a:cs typeface="Times New Roman"/>
              </a:rPr>
              <a:t>o</a:t>
            </a:r>
            <a:r>
              <a:rPr sz="1400" spc="-15" dirty="0">
                <a:latin typeface="Times New Roman"/>
                <a:cs typeface="Times New Roman"/>
              </a:rPr>
              <a:t>r</a:t>
            </a:r>
            <a:r>
              <a:rPr sz="1400" spc="5" dirty="0">
                <a:latin typeface="Times New Roman"/>
                <a:cs typeface="Times New Roman"/>
              </a:rPr>
              <a:t>k</a:t>
            </a:r>
            <a:r>
              <a:rPr sz="1400" dirty="0">
                <a:latin typeface="Times New Roman"/>
                <a:cs typeface="Times New Roman"/>
              </a:rPr>
              <a:t>s	</a:t>
            </a:r>
            <a:r>
              <a:rPr sz="1400" spc="5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649" rIns="0" bIns="0" rtlCol="0">
            <a:spAutoFit/>
          </a:bodyPr>
          <a:lstStyle/>
          <a:p>
            <a:pPr marL="525145" marR="5080" indent="-3810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5.2 Routing Algorithms </a:t>
            </a:r>
            <a:r>
              <a:rPr dirty="0"/>
              <a:t>(16) </a:t>
            </a:r>
            <a:r>
              <a:rPr spc="-985" dirty="0"/>
              <a:t> </a:t>
            </a:r>
            <a:r>
              <a:rPr spc="-5" dirty="0">
                <a:solidFill>
                  <a:srgbClr val="00CC99"/>
                </a:solidFill>
              </a:rPr>
              <a:t>Shortest Path Routing (4)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8879" y="1718563"/>
            <a:ext cx="8326755" cy="463296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71755" marR="663575" indent="-59690">
              <a:lnSpc>
                <a:spcPts val="3890"/>
              </a:lnSpc>
              <a:spcBef>
                <a:spcPts val="585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In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general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case,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labels</a:t>
            </a:r>
            <a:r>
              <a:rPr sz="3600" dirty="0">
                <a:latin typeface="Times New Roman"/>
                <a:cs typeface="Times New Roman"/>
              </a:rPr>
              <a:t> on </a:t>
            </a:r>
            <a:r>
              <a:rPr sz="3600" spc="-5" dirty="0">
                <a:latin typeface="Times New Roman"/>
                <a:cs typeface="Times New Roman"/>
              </a:rPr>
              <a:t>the arcs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could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</a:t>
            </a:r>
            <a:r>
              <a:rPr sz="3600" spc="-5" dirty="0">
                <a:latin typeface="Times New Roman"/>
                <a:cs typeface="Times New Roman"/>
              </a:rPr>
              <a:t> computed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as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function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 the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distance, bandwidth,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average traffic, 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communication</a:t>
            </a:r>
            <a:r>
              <a:rPr sz="3600" spc="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cost, mean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queue</a:t>
            </a:r>
            <a:r>
              <a:rPr sz="3600" spc="-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length, </a:t>
            </a:r>
            <a:r>
              <a:rPr sz="3600" spc="-88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measured delay,</a:t>
            </a:r>
            <a:r>
              <a:rPr sz="3600" spc="1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and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other</a:t>
            </a:r>
            <a:r>
              <a:rPr sz="3600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factors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  <a:p>
            <a:pPr marL="71755" marR="5080" indent="-59690">
              <a:lnSpc>
                <a:spcPts val="3890"/>
              </a:lnSpc>
              <a:spcBef>
                <a:spcPts val="845"/>
              </a:spcBef>
              <a:buClr>
                <a:srgbClr val="3232CC"/>
              </a:buClr>
              <a:buSzPct val="97222"/>
              <a:buChar char="•"/>
              <a:tabLst>
                <a:tab pos="173355" algn="l"/>
              </a:tabLst>
            </a:pPr>
            <a:r>
              <a:rPr sz="3600" spc="-5" dirty="0">
                <a:latin typeface="Times New Roman"/>
                <a:cs typeface="Times New Roman"/>
              </a:rPr>
              <a:t>By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changing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weighting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function,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algorithm would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then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compute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“shortest”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path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measured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according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any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one 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number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criteria or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combination </a:t>
            </a:r>
            <a:r>
              <a:rPr sz="3600" dirty="0">
                <a:latin typeface="Times New Roman"/>
                <a:cs typeface="Times New Roman"/>
              </a:rPr>
              <a:t>of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315" y="6270749"/>
            <a:ext cx="1434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imes New Roman"/>
                <a:cs typeface="Times New Roman"/>
              </a:rPr>
              <a:t>criteria.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649" rIns="0" bIns="0" rtlCol="0">
            <a:spAutoFit/>
          </a:bodyPr>
          <a:lstStyle/>
          <a:p>
            <a:pPr marL="1774825" marR="5080" indent="-16306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5.2 Routing Algorithms </a:t>
            </a:r>
            <a:r>
              <a:rPr dirty="0"/>
              <a:t>(19) </a:t>
            </a:r>
            <a:r>
              <a:rPr spc="-985" dirty="0"/>
              <a:t> </a:t>
            </a:r>
            <a:r>
              <a:rPr spc="-5" dirty="0">
                <a:solidFill>
                  <a:srgbClr val="00CC99"/>
                </a:solidFill>
              </a:rPr>
              <a:t>Flooding 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7543" y="1843531"/>
            <a:ext cx="8294370" cy="4528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1665" marR="297180" indent="-609600">
              <a:lnSpc>
                <a:spcPct val="100200"/>
              </a:lnSpc>
              <a:spcBef>
                <a:spcPts val="9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Another static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algorithm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flooding</a:t>
            </a:r>
            <a:r>
              <a:rPr sz="3600" spc="-5" dirty="0">
                <a:latin typeface="Times New Roman"/>
                <a:cs typeface="Times New Roman"/>
              </a:rPr>
              <a:t>, in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which </a:t>
            </a:r>
            <a:r>
              <a:rPr sz="3600" dirty="0">
                <a:latin typeface="Times New Roman"/>
                <a:cs typeface="Times New Roman"/>
              </a:rPr>
              <a:t>every </a:t>
            </a:r>
            <a:r>
              <a:rPr sz="3600" spc="-5" dirty="0">
                <a:latin typeface="Times New Roman"/>
                <a:cs typeface="Times New Roman"/>
              </a:rPr>
              <a:t>incoming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packet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sent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out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on every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outgoing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line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except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one </a:t>
            </a:r>
            <a:r>
              <a:rPr sz="3600" dirty="0">
                <a:latin typeface="Times New Roman"/>
                <a:cs typeface="Times New Roman"/>
              </a:rPr>
              <a:t>it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arrived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on.</a:t>
            </a:r>
            <a:endParaRPr sz="3600">
              <a:latin typeface="Times New Roman"/>
              <a:cs typeface="Times New Roman"/>
            </a:endParaRPr>
          </a:p>
          <a:p>
            <a:pPr marL="621665" marR="5080" indent="-609600">
              <a:lnSpc>
                <a:spcPct val="100099"/>
              </a:lnSpc>
              <a:spcBef>
                <a:spcPts val="86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Flooding obviously generates</a:t>
            </a:r>
            <a:r>
              <a:rPr sz="3600" dirty="0">
                <a:latin typeface="Times New Roman"/>
                <a:cs typeface="Times New Roman"/>
              </a:rPr>
              <a:t> vast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numbers 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duplicate packets,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fact,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an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infinite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number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unless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some measures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taken to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damp</a:t>
            </a:r>
            <a:r>
              <a:rPr sz="3600" dirty="0">
                <a:latin typeface="Times New Roman"/>
                <a:cs typeface="Times New Roman"/>
              </a:rPr>
              <a:t> 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process.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649" rIns="0" bIns="0" rtlCol="0">
            <a:spAutoFit/>
          </a:bodyPr>
          <a:lstStyle/>
          <a:p>
            <a:pPr marL="1774825" marR="5080" indent="-16306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5.2 Routing Algorithms </a:t>
            </a:r>
            <a:r>
              <a:rPr dirty="0"/>
              <a:t>(20) </a:t>
            </a:r>
            <a:r>
              <a:rPr spc="-985" dirty="0"/>
              <a:t> </a:t>
            </a:r>
            <a:r>
              <a:rPr spc="-5" dirty="0">
                <a:solidFill>
                  <a:srgbClr val="00CC99"/>
                </a:solidFill>
              </a:rPr>
              <a:t>Flooding 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7543" y="1843531"/>
            <a:ext cx="7940040" cy="4528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marR="121285" indent="-609600">
              <a:lnSpc>
                <a:spcPct val="100099"/>
              </a:lnSpc>
              <a:spcBef>
                <a:spcPts val="9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dirty="0">
                <a:latin typeface="Times New Roman"/>
                <a:cs typeface="Times New Roman"/>
              </a:rPr>
              <a:t>One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such measure is to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have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 </a:t>
            </a:r>
            <a:r>
              <a:rPr sz="3600" dirty="0">
                <a:latin typeface="Times New Roman"/>
                <a:cs typeface="Times New Roman"/>
              </a:rPr>
              <a:t>hop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counter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contained in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header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each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packet,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which is decremented </a:t>
            </a:r>
            <a:r>
              <a:rPr sz="3600" dirty="0">
                <a:latin typeface="Times New Roman"/>
                <a:cs typeface="Times New Roman"/>
              </a:rPr>
              <a:t>at </a:t>
            </a:r>
            <a:r>
              <a:rPr sz="3600" spc="-5" dirty="0">
                <a:latin typeface="Times New Roman"/>
                <a:cs typeface="Times New Roman"/>
              </a:rPr>
              <a:t>each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hop, with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packet </a:t>
            </a:r>
            <a:r>
              <a:rPr sz="3600" dirty="0">
                <a:latin typeface="Times New Roman"/>
                <a:cs typeface="Times New Roman"/>
              </a:rPr>
              <a:t>being </a:t>
            </a:r>
            <a:r>
              <a:rPr sz="3600" spc="-5" dirty="0">
                <a:latin typeface="Times New Roman"/>
                <a:cs typeface="Times New Roman"/>
              </a:rPr>
              <a:t>discarded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when the counter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reaches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zero.</a:t>
            </a:r>
            <a:endParaRPr sz="3600">
              <a:latin typeface="Times New Roman"/>
              <a:cs typeface="Times New Roman"/>
            </a:endParaRPr>
          </a:p>
          <a:p>
            <a:pPr marL="621665" marR="5080" indent="-609600">
              <a:lnSpc>
                <a:spcPct val="100099"/>
              </a:lnSpc>
              <a:spcBef>
                <a:spcPts val="86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Ideally,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hop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counter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should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be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initialized to</a:t>
            </a:r>
            <a:r>
              <a:rPr sz="3600" dirty="0">
                <a:latin typeface="Times New Roman"/>
                <a:cs typeface="Times New Roman"/>
              </a:rPr>
              <a:t> the</a:t>
            </a:r>
            <a:r>
              <a:rPr sz="3600" spc="-5" dirty="0">
                <a:latin typeface="Times New Roman"/>
                <a:cs typeface="Times New Roman"/>
              </a:rPr>
              <a:t> length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 path</a:t>
            </a:r>
            <a:r>
              <a:rPr sz="3600" dirty="0">
                <a:latin typeface="Times New Roman"/>
                <a:cs typeface="Times New Roman"/>
              </a:rPr>
              <a:t> from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source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 </a:t>
            </a:r>
            <a:r>
              <a:rPr sz="3600" spc="-5" dirty="0">
                <a:latin typeface="Times New Roman"/>
                <a:cs typeface="Times New Roman"/>
              </a:rPr>
              <a:t>destination.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649" rIns="0" bIns="0" rtlCol="0">
            <a:spAutoFit/>
          </a:bodyPr>
          <a:lstStyle/>
          <a:p>
            <a:pPr marL="1774825" marR="5080" indent="-16306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5.2 Routing Algorithms </a:t>
            </a:r>
            <a:r>
              <a:rPr dirty="0"/>
              <a:t>(21) </a:t>
            </a:r>
            <a:r>
              <a:rPr spc="-985" dirty="0"/>
              <a:t> </a:t>
            </a:r>
            <a:r>
              <a:rPr spc="-5" dirty="0">
                <a:solidFill>
                  <a:srgbClr val="00CC99"/>
                </a:solidFill>
              </a:rPr>
              <a:t>Flooding 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7543" y="1843531"/>
            <a:ext cx="8114665" cy="46386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21665" marR="549275" indent="-609600">
              <a:lnSpc>
                <a:spcPct val="100299"/>
              </a:lnSpc>
              <a:spcBef>
                <a:spcPts val="8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A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variation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flooding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that is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slightly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more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practical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3200"/>
                </a:solidFill>
                <a:latin typeface="Times New Roman"/>
                <a:cs typeface="Times New Roman"/>
              </a:rPr>
              <a:t>selective flooding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  <a:p>
            <a:pPr marL="621665" marR="5080" indent="-609600">
              <a:lnSpc>
                <a:spcPct val="100099"/>
              </a:lnSpc>
              <a:spcBef>
                <a:spcPts val="86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In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this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algorithm the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routers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do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not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send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every incoming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packet </a:t>
            </a:r>
            <a:r>
              <a:rPr sz="3600" dirty="0">
                <a:latin typeface="Times New Roman"/>
                <a:cs typeface="Times New Roman"/>
              </a:rPr>
              <a:t>out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every line,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only on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those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lines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that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going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approximately </a:t>
            </a:r>
            <a:r>
              <a:rPr sz="3600" dirty="0">
                <a:latin typeface="Times New Roman"/>
                <a:cs typeface="Times New Roman"/>
              </a:rPr>
              <a:t>in </a:t>
            </a:r>
            <a:r>
              <a:rPr sz="3600" spc="-5" dirty="0">
                <a:latin typeface="Times New Roman"/>
                <a:cs typeface="Times New Roman"/>
              </a:rPr>
              <a:t>the </a:t>
            </a:r>
            <a:r>
              <a:rPr sz="3600" dirty="0">
                <a:latin typeface="Times New Roman"/>
                <a:cs typeface="Times New Roman"/>
              </a:rPr>
              <a:t>right</a:t>
            </a:r>
            <a:r>
              <a:rPr sz="3600" spc="-5" dirty="0">
                <a:latin typeface="Times New Roman"/>
                <a:cs typeface="Times New Roman"/>
              </a:rPr>
              <a:t> direction.</a:t>
            </a:r>
            <a:endParaRPr sz="3600">
              <a:latin typeface="Times New Roman"/>
              <a:cs typeface="Times New Roman"/>
            </a:endParaRPr>
          </a:p>
          <a:p>
            <a:pPr marL="621665" marR="1553210" indent="-609600">
              <a:lnSpc>
                <a:spcPct val="100000"/>
              </a:lnSpc>
              <a:spcBef>
                <a:spcPts val="87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Flooding is not practical in </a:t>
            </a:r>
            <a:r>
              <a:rPr sz="3600" dirty="0">
                <a:latin typeface="Times New Roman"/>
                <a:cs typeface="Times New Roman"/>
              </a:rPr>
              <a:t>most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applications.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4035" y="417068"/>
            <a:ext cx="807085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5915" marR="5080" indent="-286385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5.3. Congestion</a:t>
            </a:r>
            <a:r>
              <a:rPr spc="10" dirty="0"/>
              <a:t> </a:t>
            </a:r>
            <a:r>
              <a:rPr spc="-5" dirty="0"/>
              <a:t>Control</a:t>
            </a:r>
            <a:r>
              <a:rPr spc="10" dirty="0"/>
              <a:t> </a:t>
            </a:r>
            <a:r>
              <a:rPr spc="-5" dirty="0"/>
              <a:t>Algorithms</a:t>
            </a:r>
            <a:r>
              <a:rPr spc="10" dirty="0"/>
              <a:t> </a:t>
            </a:r>
            <a:r>
              <a:rPr spc="-5" dirty="0"/>
              <a:t>(2) </a:t>
            </a:r>
            <a:r>
              <a:rPr spc="-985" dirty="0"/>
              <a:t> </a:t>
            </a:r>
            <a:r>
              <a:rPr spc="-5" dirty="0">
                <a:solidFill>
                  <a:srgbClr val="00CC99"/>
                </a:solidFill>
              </a:rPr>
              <a:t>Congestion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03551" y="5741921"/>
            <a:ext cx="6859270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859280" marR="5080" indent="-1847214">
              <a:lnSpc>
                <a:spcPts val="2870"/>
              </a:lnSpc>
              <a:spcBef>
                <a:spcPts val="200"/>
              </a:spcBef>
            </a:pPr>
            <a:r>
              <a:rPr sz="2400" spc="-5" dirty="0">
                <a:latin typeface="Times New Roman"/>
                <a:cs typeface="Times New Roman"/>
              </a:rPr>
              <a:t>When</a:t>
            </a:r>
            <a:r>
              <a:rPr sz="2400" dirty="0">
                <a:latin typeface="Times New Roman"/>
                <a:cs typeface="Times New Roman"/>
              </a:rPr>
              <a:t> too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much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traffic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offered,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congestion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sets 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performance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degrades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sharply.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3951" y="1868424"/>
            <a:ext cx="5439155" cy="34581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699" y="554227"/>
            <a:ext cx="88747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5.3.</a:t>
            </a:r>
            <a:r>
              <a:rPr sz="4400" spc="-10" dirty="0"/>
              <a:t> </a:t>
            </a:r>
            <a:r>
              <a:rPr sz="4400" spc="-5" dirty="0"/>
              <a:t>Congestion</a:t>
            </a:r>
            <a:r>
              <a:rPr sz="4400" spc="-10" dirty="0"/>
              <a:t> </a:t>
            </a:r>
            <a:r>
              <a:rPr sz="4400" dirty="0"/>
              <a:t>Control</a:t>
            </a:r>
            <a:r>
              <a:rPr sz="4400" spc="-25" dirty="0"/>
              <a:t> </a:t>
            </a:r>
            <a:r>
              <a:rPr sz="4400" spc="-5" dirty="0"/>
              <a:t>Algorithms</a:t>
            </a:r>
            <a:r>
              <a:rPr sz="4400" dirty="0"/>
              <a:t> </a:t>
            </a:r>
            <a:r>
              <a:rPr sz="4400" spc="-5" dirty="0"/>
              <a:t>(3)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46835" y="1506727"/>
            <a:ext cx="8687435" cy="485394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621665" marR="589915" indent="-609600" algn="just">
              <a:lnSpc>
                <a:spcPts val="3890"/>
              </a:lnSpc>
              <a:spcBef>
                <a:spcPts val="585"/>
              </a:spcBef>
              <a:buClr>
                <a:srgbClr val="3232CC"/>
              </a:buClr>
              <a:buChar char="•"/>
              <a:tabLst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Congestion can be brought on by several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factors.</a:t>
            </a:r>
            <a:endParaRPr sz="3600">
              <a:latin typeface="Times New Roman"/>
              <a:cs typeface="Times New Roman"/>
            </a:endParaRPr>
          </a:p>
          <a:p>
            <a:pPr marL="621665" marR="182880" indent="-609600" algn="just">
              <a:lnSpc>
                <a:spcPts val="3890"/>
              </a:lnSpc>
              <a:spcBef>
                <a:spcPts val="860"/>
              </a:spcBef>
              <a:buClr>
                <a:srgbClr val="3232CC"/>
              </a:buClr>
              <a:buChar char="•"/>
              <a:tabLst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If all of a sudden, streams of packets begin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arriving on </a:t>
            </a:r>
            <a:r>
              <a:rPr sz="3600" dirty="0">
                <a:latin typeface="Times New Roman"/>
                <a:cs typeface="Times New Roman"/>
              </a:rPr>
              <a:t>three </a:t>
            </a:r>
            <a:r>
              <a:rPr sz="3600" spc="-5" dirty="0">
                <a:latin typeface="Times New Roman"/>
                <a:cs typeface="Times New Roman"/>
              </a:rPr>
              <a:t>or four input lines and all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need the same output line, queue will build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up.</a:t>
            </a:r>
            <a:endParaRPr sz="3600">
              <a:latin typeface="Times New Roman"/>
              <a:cs typeface="Times New Roman"/>
            </a:endParaRPr>
          </a:p>
          <a:p>
            <a:pPr marL="621665" marR="5080" indent="-609600" algn="just">
              <a:lnSpc>
                <a:spcPts val="3890"/>
              </a:lnSpc>
              <a:spcBef>
                <a:spcPts val="855"/>
              </a:spcBef>
              <a:buClr>
                <a:srgbClr val="3232CC"/>
              </a:buClr>
              <a:buChar char="•"/>
              <a:tabLst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If there is insufficient memory </a:t>
            </a:r>
            <a:r>
              <a:rPr sz="3600" dirty="0">
                <a:latin typeface="Times New Roman"/>
                <a:cs typeface="Times New Roman"/>
              </a:rPr>
              <a:t>to </a:t>
            </a:r>
            <a:r>
              <a:rPr sz="3600" spc="-5" dirty="0">
                <a:latin typeface="Times New Roman"/>
                <a:cs typeface="Times New Roman"/>
              </a:rPr>
              <a:t>hold </a:t>
            </a:r>
            <a:r>
              <a:rPr sz="3600" dirty="0">
                <a:latin typeface="Times New Roman"/>
                <a:cs typeface="Times New Roman"/>
              </a:rPr>
              <a:t>all </a:t>
            </a:r>
            <a:r>
              <a:rPr sz="3600" spc="-5" dirty="0">
                <a:latin typeface="Times New Roman"/>
                <a:cs typeface="Times New Roman"/>
              </a:rPr>
              <a:t>of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them,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packets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will be lost.</a:t>
            </a:r>
            <a:endParaRPr sz="3600">
              <a:latin typeface="Times New Roman"/>
              <a:cs typeface="Times New Roman"/>
            </a:endParaRPr>
          </a:p>
          <a:p>
            <a:pPr marL="622300" indent="-609600" algn="just">
              <a:lnSpc>
                <a:spcPct val="100000"/>
              </a:lnSpc>
              <a:spcBef>
                <a:spcPts val="375"/>
              </a:spcBef>
              <a:buClr>
                <a:srgbClr val="3232CC"/>
              </a:buClr>
              <a:buChar char="•"/>
              <a:tabLst>
                <a:tab pos="622300" algn="l"/>
              </a:tabLst>
            </a:pPr>
            <a:r>
              <a:rPr sz="3600" spc="-5" dirty="0">
                <a:latin typeface="Times New Roman"/>
                <a:cs typeface="Times New Roman"/>
              </a:rPr>
              <a:t>Slow processors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can </a:t>
            </a:r>
            <a:r>
              <a:rPr sz="3600" dirty="0">
                <a:latin typeface="Times New Roman"/>
                <a:cs typeface="Times New Roman"/>
              </a:rPr>
              <a:t>also </a:t>
            </a:r>
            <a:r>
              <a:rPr sz="3600" spc="-5" dirty="0">
                <a:latin typeface="Times New Roman"/>
                <a:cs typeface="Times New Roman"/>
              </a:rPr>
              <a:t>cause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congestion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699" y="554227"/>
            <a:ext cx="88747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5.3.</a:t>
            </a:r>
            <a:r>
              <a:rPr sz="4400" spc="-10" dirty="0"/>
              <a:t> </a:t>
            </a:r>
            <a:r>
              <a:rPr sz="4400" spc="-5" dirty="0"/>
              <a:t>Congestion</a:t>
            </a:r>
            <a:r>
              <a:rPr sz="4400" spc="-10" dirty="0"/>
              <a:t> </a:t>
            </a:r>
            <a:r>
              <a:rPr sz="4400" dirty="0"/>
              <a:t>Control</a:t>
            </a:r>
            <a:r>
              <a:rPr sz="4400" spc="-25" dirty="0"/>
              <a:t> </a:t>
            </a:r>
            <a:r>
              <a:rPr sz="4400" spc="-5" dirty="0"/>
              <a:t>Algorithms</a:t>
            </a:r>
            <a:r>
              <a:rPr sz="4400" dirty="0"/>
              <a:t> </a:t>
            </a:r>
            <a:r>
              <a:rPr sz="4400" spc="-5" dirty="0"/>
              <a:t>(4)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26311" y="1719172"/>
            <a:ext cx="8154034" cy="35306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5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dirty="0">
                <a:latin typeface="Times New Roman"/>
                <a:cs typeface="Times New Roman"/>
              </a:rPr>
              <a:t>General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Principles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Congestion Control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5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dirty="0">
                <a:latin typeface="Times New Roman"/>
                <a:cs typeface="Times New Roman"/>
              </a:rPr>
              <a:t>Congestion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Prevention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Policies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7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dirty="0">
                <a:latin typeface="Times New Roman"/>
                <a:cs typeface="Times New Roman"/>
              </a:rPr>
              <a:t>Congestion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</a:t>
            </a:r>
            <a:r>
              <a:rPr sz="3200" spc="-10" dirty="0">
                <a:latin typeface="Times New Roman"/>
                <a:cs typeface="Times New Roman"/>
              </a:rPr>
              <a:t> 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Virtual-Circuit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Subnets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5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dirty="0">
                <a:latin typeface="Times New Roman"/>
                <a:cs typeface="Times New Roman"/>
              </a:rPr>
              <a:t>Congestion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 </a:t>
            </a:r>
            <a:r>
              <a:rPr sz="3200" spc="-10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Datagram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Subnets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55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dirty="0">
                <a:latin typeface="Times New Roman"/>
                <a:cs typeface="Times New Roman"/>
              </a:rPr>
              <a:t>Load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Shedding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70"/>
              </a:spcBef>
              <a:buClr>
                <a:srgbClr val="3232CC"/>
              </a:buClr>
              <a:buChar char="•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Jitter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527685" marR="5080" indent="-515620">
              <a:lnSpc>
                <a:spcPts val="1670"/>
              </a:lnSpc>
              <a:spcBef>
                <a:spcPts val="15"/>
              </a:spcBef>
            </a:pPr>
            <a:r>
              <a:rPr dirty="0"/>
              <a:t>BLM431 </a:t>
            </a:r>
            <a:r>
              <a:rPr spc="-5" dirty="0"/>
              <a:t>Computer Networks </a:t>
            </a:r>
            <a:r>
              <a:rPr spc="-335" dirty="0"/>
              <a:t> </a:t>
            </a:r>
            <a:r>
              <a:rPr spc="-5" dirty="0"/>
              <a:t>Dr.Refik</a:t>
            </a:r>
            <a:r>
              <a:rPr spc="-10" dirty="0"/>
              <a:t> </a:t>
            </a:r>
            <a:r>
              <a:rPr spc="-5" dirty="0"/>
              <a:t>Samet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5915" y="436880"/>
            <a:ext cx="846709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812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5.3. Congestion</a:t>
            </a:r>
            <a:r>
              <a:rPr spc="5" dirty="0"/>
              <a:t> </a:t>
            </a:r>
            <a:r>
              <a:rPr spc="-5" dirty="0"/>
              <a:t>Control</a:t>
            </a:r>
            <a:r>
              <a:rPr spc="5" dirty="0"/>
              <a:t> </a:t>
            </a:r>
            <a:r>
              <a:rPr spc="-5" dirty="0"/>
              <a:t>Algorithms</a:t>
            </a:r>
            <a:r>
              <a:rPr spc="10" dirty="0"/>
              <a:t> </a:t>
            </a:r>
            <a:r>
              <a:rPr spc="-5" dirty="0"/>
              <a:t>(5) </a:t>
            </a:r>
            <a:r>
              <a:rPr dirty="0"/>
              <a:t> </a:t>
            </a:r>
            <a:r>
              <a:rPr spc="-5" dirty="0">
                <a:solidFill>
                  <a:srgbClr val="00CC99"/>
                </a:solidFill>
              </a:rPr>
              <a:t>General</a:t>
            </a:r>
            <a:r>
              <a:rPr spc="5" dirty="0">
                <a:solidFill>
                  <a:srgbClr val="00CC99"/>
                </a:solidFill>
              </a:rPr>
              <a:t> </a:t>
            </a:r>
            <a:r>
              <a:rPr spc="-5" dirty="0">
                <a:solidFill>
                  <a:srgbClr val="00CC99"/>
                </a:solidFill>
              </a:rPr>
              <a:t>Principles</a:t>
            </a:r>
            <a:r>
              <a:rPr spc="10" dirty="0">
                <a:solidFill>
                  <a:srgbClr val="00CC99"/>
                </a:solidFill>
              </a:rPr>
              <a:t> </a:t>
            </a:r>
            <a:r>
              <a:rPr spc="-5" dirty="0">
                <a:solidFill>
                  <a:srgbClr val="00CC99"/>
                </a:solidFill>
              </a:rPr>
              <a:t>of</a:t>
            </a:r>
            <a:r>
              <a:rPr spc="5" dirty="0">
                <a:solidFill>
                  <a:srgbClr val="00CC99"/>
                </a:solidFill>
              </a:rPr>
              <a:t> </a:t>
            </a:r>
            <a:r>
              <a:rPr spc="-5" dirty="0">
                <a:solidFill>
                  <a:srgbClr val="00CC99"/>
                </a:solidFill>
              </a:rPr>
              <a:t>Congestion</a:t>
            </a:r>
            <a:r>
              <a:rPr spc="10" dirty="0">
                <a:solidFill>
                  <a:srgbClr val="00CC99"/>
                </a:solidFill>
              </a:rPr>
              <a:t> </a:t>
            </a:r>
            <a:r>
              <a:rPr spc="-5" dirty="0">
                <a:solidFill>
                  <a:srgbClr val="00CC99"/>
                </a:solidFill>
              </a:rPr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7939" y="1979776"/>
            <a:ext cx="8394700" cy="23622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55"/>
              </a:spcBef>
              <a:buClr>
                <a:srgbClr val="3232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Monitor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 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55"/>
              </a:spcBef>
              <a:tabLst>
                <a:tab pos="1002665" algn="l"/>
              </a:tabLst>
            </a:pPr>
            <a:r>
              <a:rPr sz="3200" dirty="0">
                <a:solidFill>
                  <a:srgbClr val="3232CC"/>
                </a:solidFill>
                <a:latin typeface="Times New Roman"/>
                <a:cs typeface="Times New Roman"/>
              </a:rPr>
              <a:t>–	</a:t>
            </a:r>
            <a:r>
              <a:rPr sz="3200" dirty="0">
                <a:latin typeface="Times New Roman"/>
                <a:cs typeface="Times New Roman"/>
              </a:rPr>
              <a:t>detect</a:t>
            </a:r>
            <a:r>
              <a:rPr sz="3200" spc="-5" dirty="0">
                <a:latin typeface="Times New Roman"/>
                <a:cs typeface="Times New Roman"/>
              </a:rPr>
              <a:t> when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where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congestion </a:t>
            </a:r>
            <a:r>
              <a:rPr sz="3200" dirty="0">
                <a:latin typeface="Times New Roman"/>
                <a:cs typeface="Times New Roman"/>
              </a:rPr>
              <a:t>occurs.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70"/>
              </a:spcBef>
              <a:buClr>
                <a:srgbClr val="3232CC"/>
              </a:buClr>
              <a:buAutoNum type="arabicPeriod" startAt="2"/>
              <a:tabLst>
                <a:tab pos="621665" algn="l"/>
                <a:tab pos="622300" algn="l"/>
              </a:tabLst>
            </a:pPr>
            <a:r>
              <a:rPr sz="3200" spc="-5" dirty="0">
                <a:latin typeface="Times New Roman"/>
                <a:cs typeface="Times New Roman"/>
              </a:rPr>
              <a:t>Pass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information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where action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taken.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55"/>
              </a:spcBef>
              <a:buClr>
                <a:srgbClr val="3232CC"/>
              </a:buClr>
              <a:buAutoNum type="arabicPeriod" startAt="2"/>
              <a:tabLst>
                <a:tab pos="621665" algn="l"/>
                <a:tab pos="622300" algn="l"/>
              </a:tabLst>
            </a:pPr>
            <a:r>
              <a:rPr sz="3200" dirty="0">
                <a:latin typeface="Times New Roman"/>
                <a:cs typeface="Times New Roman"/>
              </a:rPr>
              <a:t>Adjust </a:t>
            </a:r>
            <a:r>
              <a:rPr sz="3200" spc="-5" dirty="0">
                <a:latin typeface="Times New Roman"/>
                <a:cs typeface="Times New Roman"/>
              </a:rPr>
              <a:t>system operation 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correct</a:t>
            </a:r>
            <a:r>
              <a:rPr sz="3200" spc="-5" dirty="0">
                <a:latin typeface="Times New Roman"/>
                <a:cs typeface="Times New Roman"/>
              </a:rPr>
              <a:t>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problem.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2158</Words>
  <Application>Microsoft Office PowerPoint</Application>
  <PresentationFormat>Custom</PresentationFormat>
  <Paragraphs>189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Calibri</vt:lpstr>
      <vt:lpstr>Times New Roman</vt:lpstr>
      <vt:lpstr>Office Theme</vt:lpstr>
      <vt:lpstr>5.1. Network Layer Design Issues (2)</vt:lpstr>
      <vt:lpstr>5.1. Network Layer Design Issues (4)  1.Store-and-Forward Packet Switching (2)</vt:lpstr>
      <vt:lpstr>5.1. Network Layer Design Issues (5)  1.Store-and-Forward Packet Switching (3)</vt:lpstr>
      <vt:lpstr>5.1. Network Layer Design Issues (6)  1.Store-and-Forward Packet Switching (4)</vt:lpstr>
      <vt:lpstr>5.1. Network Layer Design Issues (7)  2.Services Provided to the Transport Layer (1)</vt:lpstr>
      <vt:lpstr>5.1. Network Layer Design Issues (8)  2.Services Provided to the Transport Layer (2)</vt:lpstr>
      <vt:lpstr>5.1. Network Layer Design Issues (9)  2.Services Provided to the Transport Layer (3)</vt:lpstr>
      <vt:lpstr>5.1. Network Layer Design Issues (10)  2.Services Provided to the Transport Layer (4)</vt:lpstr>
      <vt:lpstr>5.1. Network Layer Design Issues (11)  2.Services Provided to the Transport Layer (5)</vt:lpstr>
      <vt:lpstr>5.1. Network Layer Design Issues (12)  2.Services Provided to the Transport Layer (6)</vt:lpstr>
      <vt:lpstr>5.1. Network Layer Design Issues (13)</vt:lpstr>
      <vt:lpstr>5.1. Network Layer Design Issues (14)  3.Implementation of Connectionless Service (2)</vt:lpstr>
      <vt:lpstr>5.1. Network Layer Design Issues (15)  3.Implementation of Connectionless Service (3) Routers</vt:lpstr>
      <vt:lpstr>5.1 Network Layer Design Issues (16)</vt:lpstr>
      <vt:lpstr>5.1 Network Layer Design Issues (17)</vt:lpstr>
      <vt:lpstr>5.1 Network Layer Design Issues(18)</vt:lpstr>
      <vt:lpstr>5.1.Network Layer Design Issues(19) 4.Implementation of Connection-Oriented Service (3)</vt:lpstr>
      <vt:lpstr>5.2 Routing Algorithms (2)</vt:lpstr>
      <vt:lpstr>5.2 Routing Algorithms (3)</vt:lpstr>
      <vt:lpstr>5.2 Routing Algorithms (7)</vt:lpstr>
      <vt:lpstr>5.2 Routing Algorithms (8)</vt:lpstr>
      <vt:lpstr>5.2 Routing Algorithms (13)  Shortest Path Routing (1)</vt:lpstr>
      <vt:lpstr>5.2 Routing Algorithms (14)  Shortest Path Routing (2)</vt:lpstr>
      <vt:lpstr>5.2 Routing Algorithms (15)  Shortest Path Routing (3)</vt:lpstr>
      <vt:lpstr>5.2 Routing Algorithms (16)  Shortest Path Routing (4)</vt:lpstr>
      <vt:lpstr>5.2 Routing Algorithms (19)  Flooding (1)</vt:lpstr>
      <vt:lpstr>5.2 Routing Algorithms (20)  Flooding (2)</vt:lpstr>
      <vt:lpstr>5.2 Routing Algorithms (21)  Flooding (3)</vt:lpstr>
      <vt:lpstr>5.3. Congestion Control Algorithms (2)  Congestion</vt:lpstr>
      <vt:lpstr>5.3. Congestion Control Algorithms (3)</vt:lpstr>
      <vt:lpstr>5.3. Congestion Control Algorithms (4)</vt:lpstr>
      <vt:lpstr>5.3. Congestion Control Algorithms (5)  General Principles of Congestion Control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Week_9.ppt</dc:title>
  <dc:creator>teknik</dc:creator>
  <cp:lastModifiedBy>16010422078_FY_Natu Revati Saurabh</cp:lastModifiedBy>
  <cp:revision>1</cp:revision>
  <dcterms:created xsi:type="dcterms:W3CDTF">2023-10-26T15:29:48Z</dcterms:created>
  <dcterms:modified xsi:type="dcterms:W3CDTF">2023-10-26T15:53:25Z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2012-11-12T00:00:00Z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2023-10-26T00:00:00Z</vt:filetime>
  </property>
</Properties>
</file>