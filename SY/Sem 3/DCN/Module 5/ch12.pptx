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041" y="1512824"/>
            <a:ext cx="8655316" cy="507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39" y="348995"/>
            <a:ext cx="9144000" cy="10972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32537" y="2576270"/>
            <a:ext cx="4229100" cy="1976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657225">
              <a:lnSpc>
                <a:spcPct val="145500"/>
              </a:lnSpc>
              <a:spcBef>
                <a:spcPts val="95"/>
              </a:spcBef>
            </a:pPr>
            <a:r>
              <a:rPr dirty="0" sz="4400" spc="-10">
                <a:solidFill>
                  <a:srgbClr val="33339A"/>
                </a:solidFill>
                <a:latin typeface="Arial"/>
                <a:cs typeface="Arial"/>
              </a:rPr>
              <a:t>Chapter 12 </a:t>
            </a:r>
            <a:r>
              <a:rPr dirty="0" sz="4400" spc="-5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dirty="0" sz="4400" spc="-5">
                <a:latin typeface="Arial"/>
                <a:cs typeface="Arial"/>
              </a:rPr>
              <a:t>Multiple</a:t>
            </a:r>
            <a:r>
              <a:rPr dirty="0" sz="4400" spc="-210">
                <a:latin typeface="Arial"/>
                <a:cs typeface="Arial"/>
              </a:rPr>
              <a:t> </a:t>
            </a:r>
            <a:r>
              <a:rPr dirty="0" sz="4400" spc="-5">
                <a:latin typeface="Arial"/>
                <a:cs typeface="Arial"/>
              </a:rPr>
              <a:t>Access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573" y="6836916"/>
            <a:ext cx="5194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solidFill>
                  <a:srgbClr val="1B1B1B"/>
                </a:solidFill>
                <a:latin typeface="Arial"/>
                <a:cs typeface="Arial"/>
              </a:rPr>
              <a:t>12.1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3763" y="6884160"/>
            <a:ext cx="5946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Copyright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©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McGraw-Hill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Companies,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Permission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required for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reproduction 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display.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3140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	</a:t>
            </a:r>
            <a:r>
              <a:rPr dirty="0" sz="2000" spc="-5" i="1">
                <a:latin typeface="Times New Roman"/>
                <a:cs typeface="Times New Roman"/>
              </a:rPr>
              <a:t>Data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link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layer divided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into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two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functionality-oriented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sublayers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0091" y="2387345"/>
            <a:ext cx="5375147" cy="25336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317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	</a:t>
            </a:r>
            <a:r>
              <a:rPr dirty="0" sz="2000" spc="-25" i="1">
                <a:latin typeface="Times New Roman"/>
                <a:cs typeface="Times New Roman"/>
              </a:rPr>
              <a:t>Taxonomy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multiple-access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protocols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discussed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this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chapter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439" y="2246376"/>
            <a:ext cx="6555485" cy="32842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697" y="596899"/>
            <a:ext cx="913130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3055">
              <a:lnSpc>
                <a:spcPct val="100000"/>
              </a:lnSpc>
              <a:spcBef>
                <a:spcPts val="95"/>
              </a:spcBef>
              <a:tabLst>
                <a:tab pos="1361440" algn="l"/>
              </a:tabLst>
            </a:pPr>
            <a:r>
              <a:rPr dirty="0" spc="-5"/>
              <a:t>12-1	</a:t>
            </a:r>
            <a:r>
              <a:rPr dirty="0" spc="-10"/>
              <a:t>RANDOM</a:t>
            </a:r>
            <a:r>
              <a:rPr dirty="0" spc="-185"/>
              <a:t> </a:t>
            </a:r>
            <a:r>
              <a:rPr dirty="0" spc="-10"/>
              <a:t>ACCESS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140335"/>
            <a:chOff x="774839" y="1206246"/>
            <a:chExt cx="9144000" cy="140335"/>
          </a:xfrm>
        </p:grpSpPr>
        <p:sp>
          <p:nvSpPr>
            <p:cNvPr id="7" name="object 7"/>
            <p:cNvSpPr/>
            <p:nvPr/>
          </p:nvSpPr>
          <p:spPr>
            <a:xfrm>
              <a:off x="774839" y="1206246"/>
              <a:ext cx="9144000" cy="133350"/>
            </a:xfrm>
            <a:custGeom>
              <a:avLst/>
              <a:gdLst/>
              <a:ahLst/>
              <a:cxnLst/>
              <a:rect l="l" t="t" r="r" b="b"/>
              <a:pathLst>
                <a:path w="9144000" h="133350">
                  <a:moveTo>
                    <a:pt x="9144000" y="133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9144000" y="133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140335"/>
            </a:xfrm>
            <a:custGeom>
              <a:avLst/>
              <a:gdLst/>
              <a:ahLst/>
              <a:cxnLst/>
              <a:rect l="l" t="t" r="r" b="b"/>
              <a:pathLst>
                <a:path w="9144000" h="140334">
                  <a:moveTo>
                    <a:pt x="6858" y="127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127254"/>
                  </a:lnTo>
                  <a:lnTo>
                    <a:pt x="6858" y="127254"/>
                  </a:lnTo>
                  <a:close/>
                </a:path>
                <a:path w="9144000" h="140334">
                  <a:moveTo>
                    <a:pt x="9143987" y="127253"/>
                  </a:moveTo>
                  <a:lnTo>
                    <a:pt x="0" y="127254"/>
                  </a:lnTo>
                  <a:lnTo>
                    <a:pt x="6858" y="133350"/>
                  </a:lnTo>
                  <a:lnTo>
                    <a:pt x="6858" y="140208"/>
                  </a:lnTo>
                  <a:lnTo>
                    <a:pt x="9137904" y="140207"/>
                  </a:lnTo>
                  <a:lnTo>
                    <a:pt x="9137904" y="133350"/>
                  </a:lnTo>
                  <a:lnTo>
                    <a:pt x="9143987" y="127253"/>
                  </a:lnTo>
                  <a:close/>
                </a:path>
                <a:path w="9144000" h="140334">
                  <a:moveTo>
                    <a:pt x="6858" y="140208"/>
                  </a:moveTo>
                  <a:lnTo>
                    <a:pt x="6858" y="133350"/>
                  </a:lnTo>
                  <a:lnTo>
                    <a:pt x="0" y="127254"/>
                  </a:lnTo>
                  <a:lnTo>
                    <a:pt x="0" y="140208"/>
                  </a:lnTo>
                  <a:lnTo>
                    <a:pt x="6858" y="140208"/>
                  </a:lnTo>
                  <a:close/>
                </a:path>
                <a:path w="9144000" h="140334">
                  <a:moveTo>
                    <a:pt x="9144000" y="140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127253"/>
                  </a:lnTo>
                  <a:lnTo>
                    <a:pt x="9143987" y="127253"/>
                  </a:lnTo>
                  <a:lnTo>
                    <a:pt x="9143987" y="140207"/>
                  </a:lnTo>
                  <a:close/>
                </a:path>
                <a:path w="9144000" h="140334">
                  <a:moveTo>
                    <a:pt x="9143987" y="140207"/>
                  </a:moveTo>
                  <a:lnTo>
                    <a:pt x="9143987" y="127253"/>
                  </a:lnTo>
                  <a:lnTo>
                    <a:pt x="9137904" y="133350"/>
                  </a:lnTo>
                  <a:lnTo>
                    <a:pt x="9137904" y="140207"/>
                  </a:lnTo>
                  <a:lnTo>
                    <a:pt x="9143987" y="140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158364" y="1514348"/>
            <a:ext cx="8071484" cy="5088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random access </a:t>
            </a:r>
            <a:r>
              <a:rPr dirty="0" sz="2800" b="1" i="1">
                <a:latin typeface="Times New Roman"/>
                <a:cs typeface="Times New Roman"/>
              </a:rPr>
              <a:t>or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contention </a:t>
            </a:r>
            <a:r>
              <a:rPr dirty="0" sz="2800" spc="-5" b="1" i="1">
                <a:latin typeface="Times New Roman"/>
                <a:cs typeface="Times New Roman"/>
              </a:rPr>
              <a:t>methods, no station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superior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5" b="1" i="1">
                <a:latin typeface="Times New Roman"/>
                <a:cs typeface="Times New Roman"/>
              </a:rPr>
              <a:t>another station </a:t>
            </a:r>
            <a:r>
              <a:rPr dirty="0" sz="2800" b="1" i="1">
                <a:latin typeface="Times New Roman"/>
                <a:cs typeface="Times New Roman"/>
              </a:rPr>
              <a:t>and </a:t>
            </a:r>
            <a:r>
              <a:rPr dirty="0" sz="2800" spc="-5" b="1" i="1">
                <a:latin typeface="Times New Roman"/>
                <a:cs typeface="Times New Roman"/>
              </a:rPr>
              <a:t>none is </a:t>
            </a:r>
            <a:r>
              <a:rPr dirty="0" sz="2800" b="1" i="1">
                <a:latin typeface="Times New Roman"/>
                <a:cs typeface="Times New Roman"/>
              </a:rPr>
              <a:t>assigned the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control over </a:t>
            </a:r>
            <a:r>
              <a:rPr dirty="0" sz="2800" spc="-25" b="1" i="1">
                <a:latin typeface="Times New Roman"/>
                <a:cs typeface="Times New Roman"/>
              </a:rPr>
              <a:t>another. </a:t>
            </a:r>
            <a:r>
              <a:rPr dirty="0" sz="2800" spc="-5" b="1" i="1">
                <a:latin typeface="Times New Roman"/>
                <a:cs typeface="Times New Roman"/>
              </a:rPr>
              <a:t>No station permits, or does not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permit, another station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120" b="1" i="1">
                <a:latin typeface="Times New Roman"/>
                <a:cs typeface="Times New Roman"/>
              </a:rPr>
              <a:t>send..</a:t>
            </a:r>
            <a:r>
              <a:rPr dirty="0" sz="2800" spc="-11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At each instance,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 </a:t>
            </a:r>
            <a:r>
              <a:rPr dirty="0" sz="2800" b="1" i="1">
                <a:latin typeface="Times New Roman"/>
                <a:cs typeface="Times New Roman"/>
              </a:rPr>
              <a:t>that </a:t>
            </a:r>
            <a:r>
              <a:rPr dirty="0" sz="2800" spc="-5" b="1" i="1">
                <a:latin typeface="Times New Roman"/>
                <a:cs typeface="Times New Roman"/>
              </a:rPr>
              <a:t>has data to send uses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procedure defined </a:t>
            </a:r>
            <a:r>
              <a:rPr dirty="0" sz="2800" b="1" i="1">
                <a:latin typeface="Times New Roman"/>
                <a:cs typeface="Times New Roman"/>
              </a:rPr>
              <a:t> by </a:t>
            </a:r>
            <a:r>
              <a:rPr dirty="0" sz="2800" spc="-5" b="1" i="1">
                <a:latin typeface="Times New Roman"/>
                <a:cs typeface="Times New Roman"/>
              </a:rPr>
              <a:t>the protocol to make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decision </a:t>
            </a:r>
            <a:r>
              <a:rPr dirty="0" sz="2800" b="1" i="1">
                <a:latin typeface="Times New Roman"/>
                <a:cs typeface="Times New Roman"/>
              </a:rPr>
              <a:t>on </a:t>
            </a:r>
            <a:r>
              <a:rPr dirty="0" sz="2800" spc="-5" b="1" i="1">
                <a:latin typeface="Times New Roman"/>
                <a:cs typeface="Times New Roman"/>
              </a:rPr>
              <a:t>whether or </a:t>
            </a:r>
            <a:r>
              <a:rPr dirty="0" sz="2800" b="1" i="1">
                <a:latin typeface="Times New Roman"/>
                <a:cs typeface="Times New Roman"/>
              </a:rPr>
              <a:t>not </a:t>
            </a:r>
            <a:r>
              <a:rPr dirty="0" sz="2800" spc="-5" b="1" i="1">
                <a:latin typeface="Times New Roman"/>
                <a:cs typeface="Times New Roman"/>
              </a:rPr>
              <a:t>to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send.</a:t>
            </a:r>
            <a:endParaRPr sz="2800">
              <a:latin typeface="Times New Roman"/>
              <a:cs typeface="Times New Roman"/>
            </a:endParaRPr>
          </a:p>
          <a:p>
            <a:pPr algn="just" marL="40640">
              <a:lnSpc>
                <a:spcPct val="100000"/>
              </a:lnSpc>
              <a:spcBef>
                <a:spcPts val="1070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2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ALOHA</a:t>
            </a:r>
            <a:endParaRPr sz="2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dirty="0" sz="2400" spc="-7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Sense Multiple</a:t>
            </a:r>
            <a:r>
              <a:rPr dirty="0" sz="2400" spc="-14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endParaRPr sz="2400">
              <a:latin typeface="Times New Roman"/>
              <a:cs typeface="Times New Roman"/>
            </a:endParaRPr>
          </a:p>
          <a:p>
            <a:pPr marL="12700" marR="851535">
              <a:lnSpc>
                <a:spcPct val="100000"/>
              </a:lnSpc>
            </a:pP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Carrier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Sense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Multiple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Access with Collision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Detection </a:t>
            </a:r>
            <a:r>
              <a:rPr dirty="0" sz="2400" spc="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Carrier</a:t>
            </a:r>
            <a:r>
              <a:rPr dirty="0" sz="2400" spc="-7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Sense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-14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Access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with</a:t>
            </a:r>
            <a:r>
              <a:rPr dirty="0" sz="2400" spc="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Collision</a:t>
            </a:r>
            <a:r>
              <a:rPr dirty="0" sz="2400" spc="-13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25" b="1">
                <a:solidFill>
                  <a:srgbClr val="0033CC"/>
                </a:solidFill>
                <a:latin typeface="Times New Roman"/>
                <a:cs typeface="Times New Roman"/>
              </a:rPr>
              <a:t>Avoidance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819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12.3	</a:t>
            </a:r>
            <a:r>
              <a:rPr dirty="0" sz="2000" spc="-5" i="1">
                <a:latin typeface="Times New Roman"/>
                <a:cs typeface="Times New Roman"/>
              </a:rPr>
              <a:t>Frames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 a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pure</a:t>
            </a:r>
            <a:r>
              <a:rPr dirty="0" sz="2000" spc="-8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ALOHA</a:t>
            </a:r>
            <a:r>
              <a:rPr dirty="0" sz="2000" spc="-9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95" y="1949195"/>
            <a:ext cx="8619743" cy="406145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883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12.4	</a:t>
            </a:r>
            <a:r>
              <a:rPr dirty="0" sz="2000" spc="-5" i="1">
                <a:latin typeface="Times New Roman"/>
                <a:cs typeface="Times New Roman"/>
              </a:rPr>
              <a:t>Procedure for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pure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ALOHA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6221" y="1556003"/>
            <a:ext cx="6087617" cy="473659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1373" y="1512824"/>
            <a:ext cx="8630920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63500" marR="558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stations</a:t>
            </a:r>
            <a:r>
              <a:rPr dirty="0" sz="2800" b="1" i="1">
                <a:latin typeface="Times New Roman"/>
                <a:cs typeface="Times New Roman"/>
              </a:rPr>
              <a:t> on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wireless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ALOHA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are</a:t>
            </a:r>
            <a:r>
              <a:rPr dirty="0" sz="2800" b="1" i="1">
                <a:latin typeface="Times New Roman"/>
                <a:cs typeface="Times New Roman"/>
              </a:rPr>
              <a:t> 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maximum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600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km apart.</a:t>
            </a:r>
            <a:r>
              <a:rPr dirty="0" sz="2800" b="1" i="1">
                <a:latin typeface="Times New Roman"/>
                <a:cs typeface="Times New Roman"/>
              </a:rPr>
              <a:t> If </a:t>
            </a:r>
            <a:r>
              <a:rPr dirty="0" sz="2800" spc="-5" b="1" i="1">
                <a:latin typeface="Times New Roman"/>
                <a:cs typeface="Times New Roman"/>
              </a:rPr>
              <a:t>we assume that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signals </a:t>
            </a:r>
            <a:r>
              <a:rPr dirty="0" sz="2800" b="1" i="1">
                <a:latin typeface="Times New Roman"/>
                <a:cs typeface="Times New Roman"/>
              </a:rPr>
              <a:t> propagate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at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×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10</a:t>
            </a:r>
            <a:r>
              <a:rPr dirty="0" baseline="16516" sz="2775" b="1" i="1">
                <a:latin typeface="Times New Roman"/>
                <a:cs typeface="Times New Roman"/>
              </a:rPr>
              <a:t>8</a:t>
            </a:r>
            <a:r>
              <a:rPr dirty="0" baseline="16516" sz="2775" spc="34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m/s,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find</a:t>
            </a:r>
            <a:endParaRPr sz="2800">
              <a:latin typeface="Times New Roman"/>
              <a:cs typeface="Times New Roman"/>
            </a:endParaRPr>
          </a:p>
          <a:p>
            <a:pPr algn="just" marL="2285365">
              <a:lnSpc>
                <a:spcPct val="100000"/>
              </a:lnSpc>
            </a:pP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T</a:t>
            </a:r>
            <a:r>
              <a:rPr dirty="0" baseline="-9009" sz="2775" b="1" i="1">
                <a:solidFill>
                  <a:srgbClr val="3333CC"/>
                </a:solidFill>
                <a:latin typeface="Times New Roman"/>
                <a:cs typeface="Times New Roman"/>
              </a:rPr>
              <a:t>p</a:t>
            </a:r>
            <a:r>
              <a:rPr dirty="0" baseline="-9009" sz="2775" spc="-7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= (600</a:t>
            </a:r>
            <a:r>
              <a:rPr dirty="0" sz="2800" spc="-1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× 10</a:t>
            </a:r>
            <a:r>
              <a:rPr dirty="0" baseline="25525" sz="2775" b="1" i="1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dirty="0" baseline="25525" sz="2775" spc="337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) /</a:t>
            </a:r>
            <a:r>
              <a:rPr dirty="0" sz="2800" spc="-1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(3</a:t>
            </a:r>
            <a:r>
              <a:rPr dirty="0" sz="2800" spc="-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×</a:t>
            </a:r>
            <a:r>
              <a:rPr dirty="0" sz="2800" spc="-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dirty="0" baseline="25525" sz="2775" b="1" i="1">
                <a:solidFill>
                  <a:srgbClr val="3333CC"/>
                </a:solidFill>
                <a:latin typeface="Times New Roman"/>
                <a:cs typeface="Times New Roman"/>
              </a:rPr>
              <a:t>8</a:t>
            </a:r>
            <a:r>
              <a:rPr dirty="0" baseline="25525" sz="2775" spc="34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 i="1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3333CC"/>
                </a:solidFill>
                <a:latin typeface="Times New Roman"/>
                <a:cs typeface="Times New Roman"/>
              </a:rPr>
              <a:t>2 </a:t>
            </a:r>
            <a:r>
              <a:rPr dirty="0" sz="2800" spc="-5" b="1" i="1">
                <a:solidFill>
                  <a:srgbClr val="3333CC"/>
                </a:solidFill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algn="just" marL="63500" marR="55880">
              <a:lnSpc>
                <a:spcPct val="100000"/>
              </a:lnSpc>
            </a:pPr>
            <a:r>
              <a:rPr dirty="0" sz="2800" b="1" i="1">
                <a:latin typeface="Times New Roman"/>
                <a:cs typeface="Times New Roman"/>
              </a:rPr>
              <a:t>Now </a:t>
            </a:r>
            <a:r>
              <a:rPr dirty="0" sz="2800" spc="-5" b="1" i="1">
                <a:latin typeface="Times New Roman"/>
                <a:cs typeface="Times New Roman"/>
              </a:rPr>
              <a:t>we can </a:t>
            </a:r>
            <a:r>
              <a:rPr dirty="0" sz="2800" b="1" i="1">
                <a:latin typeface="Times New Roman"/>
                <a:cs typeface="Times New Roman"/>
              </a:rPr>
              <a:t>find the </a:t>
            </a:r>
            <a:r>
              <a:rPr dirty="0" sz="2800" spc="-5" b="1" i="1">
                <a:latin typeface="Times New Roman"/>
                <a:cs typeface="Times New Roman"/>
              </a:rPr>
              <a:t>value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baseline="-10510" sz="2775" b="1" i="1">
                <a:latin typeface="Times New Roman"/>
                <a:cs typeface="Times New Roman"/>
              </a:rPr>
              <a:t>B</a:t>
            </a:r>
            <a:r>
              <a:rPr dirty="0" baseline="-10510" sz="2775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Times New Roman"/>
                <a:cs typeface="Times New Roman"/>
              </a:rPr>
              <a:t>different</a:t>
            </a:r>
            <a:r>
              <a:rPr dirty="0" sz="2800" spc="6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values of </a:t>
            </a:r>
            <a:r>
              <a:rPr dirty="0" sz="2800" b="1" i="1">
                <a:latin typeface="Times New Roman"/>
                <a:cs typeface="Times New Roman"/>
              </a:rPr>
              <a:t> K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506730" marR="55880" indent="-443865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latin typeface="Times New Roman"/>
                <a:cs typeface="Times New Roman"/>
              </a:rPr>
              <a:t>. </a:t>
            </a:r>
            <a:r>
              <a:rPr dirty="0" sz="2800" spc="-5" b="1" i="1">
                <a:latin typeface="Times New Roman"/>
                <a:cs typeface="Times New Roman"/>
              </a:rPr>
              <a:t>For </a:t>
            </a:r>
            <a:r>
              <a:rPr dirty="0" sz="2800" b="1" i="1">
                <a:latin typeface="Times New Roman"/>
                <a:cs typeface="Times New Roman"/>
              </a:rPr>
              <a:t>K = 1, the </a:t>
            </a:r>
            <a:r>
              <a:rPr dirty="0" sz="2800" spc="-5" b="1" i="1">
                <a:latin typeface="Times New Roman"/>
                <a:cs typeface="Times New Roman"/>
              </a:rPr>
              <a:t>range is </a:t>
            </a:r>
            <a:r>
              <a:rPr dirty="0" sz="2800" b="1" i="1">
                <a:latin typeface="Times New Roman"/>
                <a:cs typeface="Times New Roman"/>
              </a:rPr>
              <a:t>{0, </a:t>
            </a:r>
            <a:r>
              <a:rPr dirty="0" sz="2800" spc="-5" b="1" i="1">
                <a:latin typeface="Times New Roman"/>
                <a:cs typeface="Times New Roman"/>
              </a:rPr>
              <a:t>1}.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station needs to|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generate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random number with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value of </a:t>
            </a:r>
            <a:r>
              <a:rPr dirty="0" sz="2800" b="1" i="1">
                <a:latin typeface="Times New Roman"/>
                <a:cs typeface="Times New Roman"/>
              </a:rPr>
              <a:t>0 </a:t>
            </a:r>
            <a:r>
              <a:rPr dirty="0" sz="2800" spc="-5" b="1" i="1">
                <a:latin typeface="Times New Roman"/>
                <a:cs typeface="Times New Roman"/>
              </a:rPr>
              <a:t>or 1. This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means that 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baseline="-10510" sz="2775" b="1" i="1">
                <a:latin typeface="Times New Roman"/>
                <a:cs typeface="Times New Roman"/>
              </a:rPr>
              <a:t>B</a:t>
            </a:r>
            <a:r>
              <a:rPr dirty="0" baseline="-10510" sz="2775" spc="7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either </a:t>
            </a:r>
            <a:r>
              <a:rPr dirty="0" sz="2800" b="1" i="1">
                <a:latin typeface="Times New Roman"/>
                <a:cs typeface="Times New Roman"/>
              </a:rPr>
              <a:t>0 </a:t>
            </a:r>
            <a:r>
              <a:rPr dirty="0" sz="2800" spc="-5" b="1" i="1">
                <a:latin typeface="Times New Roman"/>
                <a:cs typeface="Times New Roman"/>
              </a:rPr>
              <a:t>ms </a:t>
            </a:r>
            <a:r>
              <a:rPr dirty="0" sz="2800" b="1" i="1">
                <a:latin typeface="Times New Roman"/>
                <a:cs typeface="Times New Roman"/>
              </a:rPr>
              <a:t>(0 × 2) </a:t>
            </a:r>
            <a:r>
              <a:rPr dirty="0" sz="2800" spc="-5" b="1" i="1">
                <a:latin typeface="Times New Roman"/>
                <a:cs typeface="Times New Roman"/>
              </a:rPr>
              <a:t>or </a:t>
            </a:r>
            <a:r>
              <a:rPr dirty="0" sz="2800" b="1" i="1">
                <a:latin typeface="Times New Roman"/>
                <a:cs typeface="Times New Roman"/>
              </a:rPr>
              <a:t>2 </a:t>
            </a:r>
            <a:r>
              <a:rPr dirty="0" sz="2800" spc="-5" b="1" i="1">
                <a:latin typeface="Times New Roman"/>
                <a:cs typeface="Times New Roman"/>
              </a:rPr>
              <a:t>ms (1 </a:t>
            </a:r>
            <a:r>
              <a:rPr dirty="0" sz="2800" b="1" i="1">
                <a:latin typeface="Times New Roman"/>
                <a:cs typeface="Times New Roman"/>
              </a:rPr>
              <a:t>× </a:t>
            </a:r>
            <a:r>
              <a:rPr dirty="0" sz="2800" spc="-5" b="1" i="1">
                <a:latin typeface="Times New Roman"/>
                <a:cs typeface="Times New Roman"/>
              </a:rPr>
              <a:t>2), </a:t>
            </a:r>
            <a:r>
              <a:rPr dirty="0" sz="2800" b="1" i="1">
                <a:latin typeface="Times New Roman"/>
                <a:cs typeface="Times New Roman"/>
              </a:rPr>
              <a:t> based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outcome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random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12.1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1373" y="1512824"/>
            <a:ext cx="8630920" cy="4293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15925" marR="55880" indent="-35306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 </a:t>
            </a:r>
            <a:r>
              <a:rPr dirty="0" sz="2800" spc="-5" b="1" i="1">
                <a:latin typeface="Times New Roman"/>
                <a:cs typeface="Times New Roman"/>
              </a:rPr>
              <a:t>For </a:t>
            </a:r>
            <a:r>
              <a:rPr dirty="0" sz="2800" b="1" i="1">
                <a:latin typeface="Times New Roman"/>
                <a:cs typeface="Times New Roman"/>
              </a:rPr>
              <a:t>K = 2, </a:t>
            </a:r>
            <a:r>
              <a:rPr dirty="0" sz="2800" spc="-5" b="1" i="1">
                <a:latin typeface="Times New Roman"/>
                <a:cs typeface="Times New Roman"/>
              </a:rPr>
              <a:t>the range is {0, </a:t>
            </a:r>
            <a:r>
              <a:rPr dirty="0" sz="2800" b="1" i="1">
                <a:latin typeface="Times New Roman"/>
                <a:cs typeface="Times New Roman"/>
              </a:rPr>
              <a:t>1, 2, 3}. </a:t>
            </a:r>
            <a:r>
              <a:rPr dirty="0" sz="2800" spc="-5" b="1" i="1">
                <a:latin typeface="Times New Roman"/>
                <a:cs typeface="Times New Roman"/>
              </a:rPr>
              <a:t>This means that 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baseline="-10510" sz="2775" b="1" i="1">
                <a:latin typeface="Times New Roman"/>
                <a:cs typeface="Times New Roman"/>
              </a:rPr>
              <a:t>B </a:t>
            </a:r>
            <a:r>
              <a:rPr dirty="0" baseline="-10510" sz="2775" spc="7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can </a:t>
            </a:r>
            <a:r>
              <a:rPr dirty="0" sz="2800" b="1" i="1">
                <a:latin typeface="Times New Roman"/>
                <a:cs typeface="Times New Roman"/>
              </a:rPr>
              <a:t>be 0, 2, 4, or 6 </a:t>
            </a:r>
            <a:r>
              <a:rPr dirty="0" sz="2800" spc="-5" b="1" i="1">
                <a:latin typeface="Times New Roman"/>
                <a:cs typeface="Times New Roman"/>
              </a:rPr>
              <a:t>ms, based </a:t>
            </a:r>
            <a:r>
              <a:rPr dirty="0" sz="2800" b="1" i="1">
                <a:latin typeface="Times New Roman"/>
                <a:cs typeface="Times New Roman"/>
              </a:rPr>
              <a:t>on </a:t>
            </a:r>
            <a:r>
              <a:rPr dirty="0" sz="2800" spc="-5" b="1" i="1">
                <a:latin typeface="Times New Roman"/>
                <a:cs typeface="Times New Roman"/>
              </a:rPr>
              <a:t>the outcome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random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506730" marR="55880" indent="-443865">
              <a:lnSpc>
                <a:spcPct val="100000"/>
              </a:lnSpc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dirty="0" sz="2800" spc="48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K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3,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range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4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{0,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1,</a:t>
            </a:r>
            <a:r>
              <a:rPr dirty="0" sz="2800" spc="49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2,</a:t>
            </a:r>
            <a:r>
              <a:rPr dirty="0" sz="2800" spc="4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3,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4,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5,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6,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7}.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means that </a:t>
            </a:r>
            <a:r>
              <a:rPr dirty="0" sz="2800" spc="5" b="1" i="1">
                <a:latin typeface="Times New Roman"/>
                <a:cs typeface="Times New Roman"/>
              </a:rPr>
              <a:t>T</a:t>
            </a:r>
            <a:r>
              <a:rPr dirty="0" baseline="-10510" sz="2775" spc="7" b="1" i="1">
                <a:latin typeface="Times New Roman"/>
                <a:cs typeface="Times New Roman"/>
              </a:rPr>
              <a:t>B </a:t>
            </a:r>
            <a:r>
              <a:rPr dirty="0" sz="2800" b="1" i="1">
                <a:latin typeface="Times New Roman"/>
                <a:cs typeface="Times New Roman"/>
              </a:rPr>
              <a:t>can </a:t>
            </a:r>
            <a:r>
              <a:rPr dirty="0" sz="2800" spc="-5" b="1" i="1">
                <a:latin typeface="Times New Roman"/>
                <a:cs typeface="Times New Roman"/>
              </a:rPr>
              <a:t>be </a:t>
            </a:r>
            <a:r>
              <a:rPr dirty="0" sz="2800" b="1" i="1">
                <a:latin typeface="Times New Roman"/>
                <a:cs typeface="Times New Roman"/>
              </a:rPr>
              <a:t>0, 2, 4, . . . , 14 </a:t>
            </a:r>
            <a:r>
              <a:rPr dirty="0" sz="2800" spc="-5" b="1" i="1">
                <a:latin typeface="Times New Roman"/>
                <a:cs typeface="Times New Roman"/>
              </a:rPr>
              <a:t>ms, based on the </a:t>
            </a:r>
            <a:r>
              <a:rPr dirty="0" sz="2800" b="1" i="1">
                <a:latin typeface="Times New Roman"/>
                <a:cs typeface="Times New Roman"/>
              </a:rPr>
              <a:t> outcome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random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variable.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506730" marR="57150" indent="-443865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d. </a:t>
            </a:r>
            <a:r>
              <a:rPr dirty="0" sz="2800" spc="-110" b="1" i="1">
                <a:latin typeface="Times New Roman"/>
                <a:cs typeface="Times New Roman"/>
              </a:rPr>
              <a:t>We </a:t>
            </a:r>
            <a:r>
              <a:rPr dirty="0" sz="2800" spc="-5" b="1" i="1">
                <a:latin typeface="Times New Roman"/>
                <a:cs typeface="Times New Roman"/>
              </a:rPr>
              <a:t>need to mention that if </a:t>
            </a:r>
            <a:r>
              <a:rPr dirty="0" sz="2800" b="1" i="1">
                <a:latin typeface="Times New Roman"/>
                <a:cs typeface="Times New Roman"/>
              </a:rPr>
              <a:t>K &gt; </a:t>
            </a:r>
            <a:r>
              <a:rPr dirty="0" sz="2800" spc="-5" b="1" i="1">
                <a:latin typeface="Times New Roman"/>
                <a:cs typeface="Times New Roman"/>
              </a:rPr>
              <a:t>10, it is normally set to </a:t>
            </a:r>
            <a:r>
              <a:rPr dirty="0" sz="2800" b="1" i="1">
                <a:latin typeface="Times New Roman"/>
                <a:cs typeface="Times New Roman"/>
              </a:rPr>
              <a:t> 10.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0718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12.5	</a:t>
            </a:r>
            <a:r>
              <a:rPr dirty="0" sz="2000" spc="-15" i="1">
                <a:latin typeface="Times New Roman"/>
                <a:cs typeface="Times New Roman"/>
              </a:rPr>
              <a:t>Vulnerable </a:t>
            </a:r>
            <a:r>
              <a:rPr dirty="0" sz="2000" spc="-5" i="1">
                <a:latin typeface="Times New Roman"/>
                <a:cs typeface="Times New Roman"/>
              </a:rPr>
              <a:t>time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pure</a:t>
            </a:r>
            <a:r>
              <a:rPr dirty="0" sz="2000" spc="-7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ALOHA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65" y="1725929"/>
            <a:ext cx="6992873" cy="449046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12.</a:t>
            </a:r>
            <a:fld id="{81D60167-4931-47E6-BA6A-407CBD079E47}" type="slidenum">
              <a:rPr dirty="0" sz="2000" spc="-5" b="1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67873" y="1512824"/>
            <a:ext cx="8757285" cy="426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6364" marR="120014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pure ALOHA network transmits 200-bit frames on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shared channel of 200 kbps. What is the requirement to </a:t>
            </a:r>
            <a:r>
              <a:rPr dirty="0" sz="2800" b="1" i="1">
                <a:latin typeface="Times New Roman"/>
                <a:cs typeface="Times New Roman"/>
              </a:rPr>
              <a:t> make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collision-free?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algn="just" marL="50800" marR="43180">
              <a:lnSpc>
                <a:spcPct val="100000"/>
              </a:lnSpc>
            </a:pPr>
            <a:r>
              <a:rPr dirty="0" sz="2800" spc="-35" b="1" i="1">
                <a:latin typeface="Times New Roman"/>
                <a:cs typeface="Times New Roman"/>
              </a:rPr>
              <a:t>Average </a:t>
            </a:r>
            <a:r>
              <a:rPr dirty="0" sz="2800" spc="-5" b="1" i="1">
                <a:latin typeface="Times New Roman"/>
                <a:cs typeface="Times New Roman"/>
              </a:rPr>
              <a:t>frame transmission time </a:t>
            </a:r>
            <a:r>
              <a:rPr dirty="0" sz="2800" b="1" i="1">
                <a:latin typeface="Times New Roman"/>
                <a:cs typeface="Times New Roman"/>
              </a:rPr>
              <a:t>T</a:t>
            </a:r>
            <a:r>
              <a:rPr dirty="0" baseline="-10510" sz="2775" b="1" i="1">
                <a:latin typeface="Times New Roman"/>
                <a:cs typeface="Times New Roman"/>
              </a:rPr>
              <a:t>fr </a:t>
            </a:r>
            <a:r>
              <a:rPr dirty="0" sz="2800" b="1" i="1">
                <a:latin typeface="Times New Roman"/>
                <a:cs typeface="Times New Roman"/>
              </a:rPr>
              <a:t>is 200 </a:t>
            </a:r>
            <a:r>
              <a:rPr dirty="0" sz="2800" spc="-5" b="1" i="1">
                <a:latin typeface="Times New Roman"/>
                <a:cs typeface="Times New Roman"/>
              </a:rPr>
              <a:t>bits/200 kbps or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-5" b="1" i="1">
                <a:latin typeface="Times New Roman"/>
                <a:cs typeface="Times New Roman"/>
              </a:rPr>
              <a:t>ms. The vulnerable time is</a:t>
            </a:r>
            <a:r>
              <a:rPr dirty="0" sz="2800" b="1" i="1">
                <a:latin typeface="Times New Roman"/>
                <a:cs typeface="Times New Roman"/>
              </a:rPr>
              <a:t> 2 × 1 </a:t>
            </a:r>
            <a:r>
              <a:rPr dirty="0" sz="2800" spc="-5" b="1" i="1">
                <a:latin typeface="Times New Roman"/>
                <a:cs typeface="Times New Roman"/>
              </a:rPr>
              <a:t>ms </a:t>
            </a:r>
            <a:r>
              <a:rPr dirty="0" sz="2800" b="1" i="1">
                <a:latin typeface="Times New Roman"/>
                <a:cs typeface="Times New Roman"/>
              </a:rPr>
              <a:t>= 2 </a:t>
            </a:r>
            <a:r>
              <a:rPr dirty="0" sz="2800" spc="-5" b="1" i="1">
                <a:latin typeface="Times New Roman"/>
                <a:cs typeface="Times New Roman"/>
              </a:rPr>
              <a:t>ms. This means </a:t>
            </a:r>
            <a:r>
              <a:rPr dirty="0" sz="2800" b="1" i="1">
                <a:latin typeface="Times New Roman"/>
                <a:cs typeface="Times New Roman"/>
              </a:rPr>
              <a:t> no </a:t>
            </a:r>
            <a:r>
              <a:rPr dirty="0" sz="2800" spc="-5" b="1" i="1">
                <a:latin typeface="Times New Roman"/>
                <a:cs typeface="Times New Roman"/>
              </a:rPr>
              <a:t>station </a:t>
            </a:r>
            <a:r>
              <a:rPr dirty="0" sz="2800" b="1" i="1">
                <a:latin typeface="Times New Roman"/>
                <a:cs typeface="Times New Roman"/>
              </a:rPr>
              <a:t>should </a:t>
            </a:r>
            <a:r>
              <a:rPr dirty="0" sz="2800" spc="-5" b="1" i="1">
                <a:latin typeface="Times New Roman"/>
                <a:cs typeface="Times New Roman"/>
              </a:rPr>
              <a:t>send later </a:t>
            </a:r>
            <a:r>
              <a:rPr dirty="0" sz="2800" b="1" i="1">
                <a:latin typeface="Times New Roman"/>
                <a:cs typeface="Times New Roman"/>
              </a:rPr>
              <a:t>than 1 </a:t>
            </a:r>
            <a:r>
              <a:rPr dirty="0" sz="2800" spc="-5" b="1" i="1">
                <a:latin typeface="Times New Roman"/>
                <a:cs typeface="Times New Roman"/>
              </a:rPr>
              <a:t>ms before this station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starts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transmission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should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start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sending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during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1-ms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period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that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station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sending.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728345" marR="721360">
              <a:lnSpc>
                <a:spcPct val="100000"/>
              </a:lnSpc>
              <a:spcBef>
                <a:spcPts val="275"/>
              </a:spcBef>
              <a:tabLst>
                <a:tab pos="3249295" algn="l"/>
              </a:tabLst>
            </a:pP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throughput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for</a:t>
            </a:r>
            <a:r>
              <a:rPr dirty="0" sz="3200" spc="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pure</a:t>
            </a:r>
            <a:r>
              <a:rPr dirty="0" sz="3200" spc="-13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ALOHA</a:t>
            </a:r>
            <a:r>
              <a:rPr dirty="0" sz="3200" spc="-1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S =</a:t>
            </a:r>
            <a:r>
              <a:rPr dirty="0" sz="32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dirty="0" sz="3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×</a:t>
            </a:r>
            <a:r>
              <a:rPr dirty="0" sz="320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dirty="0" sz="3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baseline="25132" sz="3150" spc="30" b="1">
                <a:solidFill>
                  <a:srgbClr val="FF0000"/>
                </a:solidFill>
                <a:latin typeface="Arial"/>
                <a:cs typeface="Arial"/>
              </a:rPr>
              <a:t>−2G	</a:t>
            </a:r>
            <a:r>
              <a:rPr dirty="0" sz="3200" spc="-5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L="1454150" marR="1445895" indent="-1270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maximum </a:t>
            </a:r>
            <a:r>
              <a:rPr dirty="0" sz="3200" spc="-5" b="1">
                <a:latin typeface="Arial"/>
                <a:cs typeface="Arial"/>
              </a:rPr>
              <a:t>throughput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15" b="1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baseline="-14550" sz="3150" spc="22" b="1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dirty="0" baseline="-14550" sz="3150" spc="434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dirty="0" sz="3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0.184</a:t>
            </a:r>
            <a:r>
              <a:rPr dirty="0" sz="3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when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G=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(1/2).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2638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3439" y="1187195"/>
            <a:ext cx="8686800" cy="19050"/>
          </a:xfrm>
          <a:custGeom>
            <a:avLst/>
            <a:gdLst/>
            <a:ahLst/>
            <a:cxnLst/>
            <a:rect l="l" t="t" r="r" b="b"/>
            <a:pathLst>
              <a:path w="8686800" h="19050">
                <a:moveTo>
                  <a:pt x="8686800" y="19050"/>
                </a:moveTo>
                <a:lnTo>
                  <a:pt x="8686800" y="0"/>
                </a:lnTo>
                <a:lnTo>
                  <a:pt x="0" y="0"/>
                </a:lnTo>
                <a:lnTo>
                  <a:pt x="0" y="19050"/>
                </a:lnTo>
                <a:lnTo>
                  <a:pt x="8686800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1714500"/>
            <a:chOff x="774839" y="1206246"/>
            <a:chExt cx="9144000" cy="1714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1714500"/>
            </a:xfrm>
            <a:custGeom>
              <a:avLst/>
              <a:gdLst/>
              <a:ahLst/>
              <a:cxnLst/>
              <a:rect l="l" t="t" r="r" b="b"/>
              <a:pathLst>
                <a:path w="9144000" h="171450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4500"/>
                  </a:lnTo>
                  <a:lnTo>
                    <a:pt x="9144000" y="1714500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208024"/>
            <a:ext cx="852805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pure ALOHA network transmits 200-bit frames on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shared channel </a:t>
            </a:r>
            <a:r>
              <a:rPr dirty="0" sz="2800" spc="5" b="1" i="1">
                <a:latin typeface="Times New Roman"/>
                <a:cs typeface="Times New Roman"/>
              </a:rPr>
              <a:t>of </a:t>
            </a:r>
            <a:r>
              <a:rPr dirty="0" sz="2800" b="1" i="1">
                <a:latin typeface="Times New Roman"/>
                <a:cs typeface="Times New Roman"/>
              </a:rPr>
              <a:t>200 </a:t>
            </a:r>
            <a:r>
              <a:rPr dirty="0" sz="2800" spc="-5" b="1" i="1">
                <a:latin typeface="Times New Roman"/>
                <a:cs typeface="Times New Roman"/>
              </a:rPr>
              <a:t>kbps. What is the throughput </a:t>
            </a:r>
            <a:r>
              <a:rPr dirty="0" sz="2800" b="1" i="1">
                <a:latin typeface="Times New Roman"/>
                <a:cs typeface="Times New Roman"/>
              </a:rPr>
              <a:t>if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(all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stations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together)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produces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6398" y="2488183"/>
            <a:ext cx="367030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dirty="0" sz="2800" spc="-2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500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2173" y="2488168"/>
            <a:ext cx="3847465" cy="153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dirty="0" sz="2800" spc="-3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1000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dirty="0" sz="2800" spc="-2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250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per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44073" y="3996944"/>
            <a:ext cx="8606790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transmission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time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200/200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kbps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algn="just" marL="405765" marR="43180" indent="-3556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dirty="0" sz="2800" b="1" i="1">
                <a:latin typeface="Times New Roman"/>
                <a:cs typeface="Times New Roman"/>
              </a:rPr>
              <a:t>If the </a:t>
            </a:r>
            <a:r>
              <a:rPr dirty="0" sz="2800" spc="-5" b="1" i="1">
                <a:latin typeface="Times New Roman"/>
                <a:cs typeface="Times New Roman"/>
              </a:rPr>
              <a:t>system creates 1000 frames per second, this is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spc="2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millisecond.</a:t>
            </a:r>
            <a:r>
              <a:rPr dirty="0" sz="2800" spc="9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8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load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8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1.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9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 = </a:t>
            </a:r>
            <a:r>
              <a:rPr dirty="0" sz="2800" spc="-5" b="1" i="1">
                <a:latin typeface="Times New Roman"/>
                <a:cs typeface="Times New Roman"/>
              </a:rPr>
              <a:t>G× 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baseline="25525" sz="2775" b="1" i="1">
                <a:latin typeface="Times New Roman"/>
                <a:cs typeface="Times New Roman"/>
              </a:rPr>
              <a:t>−2 </a:t>
            </a:r>
            <a:r>
              <a:rPr dirty="0" baseline="25525" sz="2775" spc="15" b="1" i="1">
                <a:latin typeface="Times New Roman"/>
                <a:cs typeface="Times New Roman"/>
              </a:rPr>
              <a:t>G</a:t>
            </a:r>
            <a:r>
              <a:rPr dirty="0" baseline="25525" sz="2775" spc="22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 </a:t>
            </a:r>
            <a:r>
              <a:rPr dirty="0" sz="2800" b="1" i="1">
                <a:latin typeface="Times New Roman"/>
                <a:cs typeface="Times New Roman"/>
              </a:rPr>
              <a:t>S = </a:t>
            </a:r>
            <a:r>
              <a:rPr dirty="0" sz="2800" spc="-5" b="1" i="1">
                <a:latin typeface="Times New Roman"/>
                <a:cs typeface="Times New Roman"/>
              </a:rPr>
              <a:t>0.135 (13.5 percent). </a:t>
            </a:r>
            <a:r>
              <a:rPr dirty="0" sz="2800" b="1" i="1">
                <a:latin typeface="Times New Roman"/>
                <a:cs typeface="Times New Roman"/>
              </a:rPr>
              <a:t>This </a:t>
            </a:r>
            <a:r>
              <a:rPr dirty="0" sz="2800" spc="-5" b="1" i="1">
                <a:latin typeface="Times New Roman"/>
                <a:cs typeface="Times New Roman"/>
              </a:rPr>
              <a:t>means </a:t>
            </a:r>
            <a:r>
              <a:rPr dirty="0" sz="2800" b="1" i="1">
                <a:latin typeface="Times New Roman"/>
                <a:cs typeface="Times New Roman"/>
              </a:rPr>
              <a:t> that the </a:t>
            </a:r>
            <a:r>
              <a:rPr dirty="0" sz="2800" spc="-5" b="1" i="1">
                <a:latin typeface="Times New Roman"/>
                <a:cs typeface="Times New Roman"/>
              </a:rPr>
              <a:t>throughput is 1000 </a:t>
            </a:r>
            <a:r>
              <a:rPr dirty="0" sz="2800" b="1" i="1">
                <a:latin typeface="Times New Roman"/>
                <a:cs typeface="Times New Roman"/>
              </a:rPr>
              <a:t>× </a:t>
            </a:r>
            <a:r>
              <a:rPr dirty="0" sz="2800" spc="-5" b="1" i="1">
                <a:latin typeface="Times New Roman"/>
                <a:cs typeface="Times New Roman"/>
              </a:rPr>
              <a:t>0.135 </a:t>
            </a:r>
            <a:r>
              <a:rPr dirty="0" sz="2800" b="1" i="1">
                <a:latin typeface="Times New Roman"/>
                <a:cs typeface="Times New Roman"/>
              </a:rPr>
              <a:t>= </a:t>
            </a:r>
            <a:r>
              <a:rPr dirty="0" sz="2800" spc="-5" b="1" i="1">
                <a:latin typeface="Times New Roman"/>
                <a:cs typeface="Times New Roman"/>
              </a:rPr>
              <a:t>135 frames. Only </a:t>
            </a:r>
            <a:r>
              <a:rPr dirty="0" sz="2800" b="1" i="1">
                <a:latin typeface="Times New Roman"/>
                <a:cs typeface="Times New Roman"/>
              </a:rPr>
              <a:t> 135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1000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will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probably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12.3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187196"/>
            <a:ext cx="9144000" cy="2590800"/>
            <a:chOff x="774839" y="1187196"/>
            <a:chExt cx="9144000" cy="2590800"/>
          </a:xfrm>
        </p:grpSpPr>
        <p:sp>
          <p:nvSpPr>
            <p:cNvPr id="4" name="object 4"/>
            <p:cNvSpPr/>
            <p:nvPr/>
          </p:nvSpPr>
          <p:spPr>
            <a:xfrm>
              <a:off x="1003439" y="1187196"/>
              <a:ext cx="8686800" cy="19050"/>
            </a:xfrm>
            <a:custGeom>
              <a:avLst/>
              <a:gdLst/>
              <a:ahLst/>
              <a:cxnLst/>
              <a:rect l="l" t="t" r="r" b="b"/>
              <a:pathLst>
                <a:path w="8686800" h="19050">
                  <a:moveTo>
                    <a:pt x="8686800" y="190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68680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2571750"/>
            </a:xfrm>
            <a:custGeom>
              <a:avLst/>
              <a:gdLst/>
              <a:ahLst/>
              <a:cxnLst/>
              <a:rect l="l" t="t" r="r" b="b"/>
              <a:pathLst>
                <a:path w="9144000" h="257175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3738"/>
                  </a:lnTo>
                  <a:lnTo>
                    <a:pt x="0" y="1714500"/>
                  </a:lnTo>
                  <a:lnTo>
                    <a:pt x="0" y="2571750"/>
                  </a:lnTo>
                  <a:lnTo>
                    <a:pt x="9144000" y="2571750"/>
                  </a:lnTo>
                  <a:lnTo>
                    <a:pt x="9144000" y="1714500"/>
                  </a:lnTo>
                  <a:lnTo>
                    <a:pt x="9144000" y="1713738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18673" y="1208024"/>
            <a:ext cx="8655685" cy="5573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31165" marR="68580" indent="-3556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dirty="0" sz="2800" spc="59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If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creates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500</a:t>
            </a:r>
            <a:r>
              <a:rPr dirty="0" sz="2800" spc="6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second,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(1/2) frame per millisecond. The load is (1/2). In this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b="1" i="1">
                <a:latin typeface="Times New Roman"/>
                <a:cs typeface="Times New Roman"/>
              </a:rPr>
              <a:t>S = G × e </a:t>
            </a:r>
            <a:r>
              <a:rPr dirty="0" baseline="25525" sz="2775" spc="7" b="1" i="1">
                <a:latin typeface="Times New Roman"/>
                <a:cs typeface="Times New Roman"/>
              </a:rPr>
              <a:t>−2G</a:t>
            </a:r>
            <a:r>
              <a:rPr dirty="0" baseline="25525" sz="2775" spc="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 </a:t>
            </a:r>
            <a:r>
              <a:rPr dirty="0" sz="2800" b="1" i="1">
                <a:latin typeface="Times New Roman"/>
                <a:cs typeface="Times New Roman"/>
              </a:rPr>
              <a:t>S = </a:t>
            </a:r>
            <a:r>
              <a:rPr dirty="0" sz="2800" spc="-5" b="1" i="1">
                <a:latin typeface="Times New Roman"/>
                <a:cs typeface="Times New Roman"/>
              </a:rPr>
              <a:t>0.184 (18.4 percent). This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means that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throughput is 500 </a:t>
            </a:r>
            <a:r>
              <a:rPr dirty="0" sz="2800" b="1" i="1">
                <a:latin typeface="Times New Roman"/>
                <a:cs typeface="Times New Roman"/>
              </a:rPr>
              <a:t>× </a:t>
            </a:r>
            <a:r>
              <a:rPr dirty="0" sz="2800" spc="-5" b="1" i="1">
                <a:latin typeface="Times New Roman"/>
                <a:cs typeface="Times New Roman"/>
              </a:rPr>
              <a:t>0.184 </a:t>
            </a:r>
            <a:r>
              <a:rPr dirty="0" sz="2800" b="1" i="1">
                <a:latin typeface="Times New Roman"/>
                <a:cs typeface="Times New Roman"/>
              </a:rPr>
              <a:t>= 92 and </a:t>
            </a:r>
            <a:r>
              <a:rPr dirty="0" sz="2800" spc="-5" b="1" i="1">
                <a:latin typeface="Times New Roman"/>
                <a:cs typeface="Times New Roman"/>
              </a:rPr>
              <a:t>that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only 92 frames out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500 will probably survive. Note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</a:t>
            </a:r>
            <a:r>
              <a:rPr dirty="0" sz="2800" b="1" i="1">
                <a:latin typeface="Times New Roman"/>
                <a:cs typeface="Times New Roman"/>
              </a:rPr>
              <a:t> this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maximum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throughput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case,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percentagewise.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431165" marR="69215" indent="-355600">
              <a:lnSpc>
                <a:spcPct val="100000"/>
              </a:lnSpc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dirty="0" sz="2800" spc="-5" b="1" i="1">
                <a:latin typeface="Times New Roman"/>
                <a:cs typeface="Times New Roman"/>
              </a:rPr>
              <a:t>If the system creates 250 frames per second, this is (1/4)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per millisecond.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load is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(1/4).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 = G × e </a:t>
            </a:r>
            <a:r>
              <a:rPr dirty="0" sz="2800" spc="5" b="1" i="1">
                <a:latin typeface="Times New Roman"/>
                <a:cs typeface="Times New Roman"/>
              </a:rPr>
              <a:t>−</a:t>
            </a:r>
            <a:r>
              <a:rPr dirty="0" baseline="25525" sz="2775" spc="7" b="1" i="1">
                <a:latin typeface="Times New Roman"/>
                <a:cs typeface="Times New Roman"/>
              </a:rPr>
              <a:t>2G </a:t>
            </a:r>
            <a:r>
              <a:rPr dirty="0" sz="2800" b="1" i="1">
                <a:latin typeface="Times New Roman"/>
                <a:cs typeface="Times New Roman"/>
              </a:rPr>
              <a:t>or S = </a:t>
            </a:r>
            <a:r>
              <a:rPr dirty="0" sz="2800" spc="-5" b="1" i="1">
                <a:latin typeface="Times New Roman"/>
                <a:cs typeface="Times New Roman"/>
              </a:rPr>
              <a:t>0.152 (15.2 percent). This means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throughput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250</a:t>
            </a:r>
            <a:r>
              <a:rPr dirty="0" sz="2800" b="1" i="1">
                <a:latin typeface="Times New Roman"/>
                <a:cs typeface="Times New Roman"/>
              </a:rPr>
              <a:t> ×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0.152</a:t>
            </a:r>
            <a:r>
              <a:rPr dirty="0" sz="2800" b="1" i="1">
                <a:latin typeface="Times New Roman"/>
                <a:cs typeface="Times New Roman"/>
              </a:rPr>
              <a:t> =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38.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Only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38 </a:t>
            </a:r>
            <a:r>
              <a:rPr dirty="0" sz="2800" b="1" i="1">
                <a:latin typeface="Times New Roman"/>
                <a:cs typeface="Times New Roman"/>
              </a:rPr>
              <a:t> frames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250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will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probably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4762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12.6	</a:t>
            </a:r>
            <a:r>
              <a:rPr dirty="0" sz="2000" spc="-5" i="1">
                <a:latin typeface="Times New Roman"/>
                <a:cs typeface="Times New Roman"/>
              </a:rPr>
              <a:t>Frames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slotted</a:t>
            </a:r>
            <a:r>
              <a:rPr dirty="0" sz="2000" spc="-9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ALOHA</a:t>
            </a:r>
            <a:r>
              <a:rPr dirty="0" sz="2000" spc="-9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967" y="1783079"/>
            <a:ext cx="8500871" cy="39761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504190" marR="49720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throughput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for</a:t>
            </a:r>
            <a:r>
              <a:rPr dirty="0" sz="3200" spc="1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slotted</a:t>
            </a:r>
            <a:r>
              <a:rPr dirty="0" sz="3200" spc="-13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ALOHA</a:t>
            </a:r>
            <a:r>
              <a:rPr dirty="0" sz="3200" spc="-1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3200" spc="-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dirty="0" sz="3200" spc="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G ×</a:t>
            </a:r>
            <a:r>
              <a:rPr dirty="0" sz="32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10" b="1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dirty="0" baseline="25132" sz="3150" spc="15" b="1">
                <a:solidFill>
                  <a:srgbClr val="FF0000"/>
                </a:solidFill>
                <a:latin typeface="Arial"/>
                <a:cs typeface="Arial"/>
              </a:rPr>
              <a:t>−G</a:t>
            </a:r>
            <a:r>
              <a:rPr dirty="0" baseline="25132" sz="3150" spc="457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algn="ctr" marL="1534160" marR="1527810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maximum throughput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15" b="1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baseline="-14550" sz="3150" spc="22" b="1">
                <a:solidFill>
                  <a:srgbClr val="FF0000"/>
                </a:solidFill>
                <a:latin typeface="Arial"/>
                <a:cs typeface="Arial"/>
              </a:rPr>
              <a:t>max</a:t>
            </a:r>
            <a:r>
              <a:rPr dirty="0" baseline="-14550" sz="3150" spc="434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solidFill>
                  <a:srgbClr val="FF0000"/>
                </a:solidFill>
                <a:latin typeface="Arial"/>
                <a:cs typeface="Arial"/>
              </a:rPr>
              <a:t>= 0.368</a:t>
            </a:r>
            <a:r>
              <a:rPr dirty="0" sz="3200" spc="-1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when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G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=</a:t>
            </a:r>
            <a:r>
              <a:rPr dirty="0" sz="3200" spc="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2655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12.7	</a:t>
            </a:r>
            <a:r>
              <a:rPr dirty="0" sz="2000" spc="-15" i="1">
                <a:latin typeface="Times New Roman"/>
                <a:cs typeface="Times New Roman"/>
              </a:rPr>
              <a:t>Vulnerable </a:t>
            </a:r>
            <a:r>
              <a:rPr dirty="0" sz="2000" spc="-5" i="1">
                <a:latin typeface="Times New Roman"/>
                <a:cs typeface="Times New Roman"/>
              </a:rPr>
              <a:t>time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 slotted</a:t>
            </a:r>
            <a:r>
              <a:rPr dirty="0" sz="2000" spc="-9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ALOHA</a:t>
            </a:r>
            <a:r>
              <a:rPr dirty="0" sz="2000" spc="-8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protocol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047" y="1780032"/>
            <a:ext cx="7632192" cy="436016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3439" y="1187195"/>
            <a:ext cx="8686800" cy="19050"/>
          </a:xfrm>
          <a:custGeom>
            <a:avLst/>
            <a:gdLst/>
            <a:ahLst/>
            <a:cxnLst/>
            <a:rect l="l" t="t" r="r" b="b"/>
            <a:pathLst>
              <a:path w="8686800" h="19050">
                <a:moveTo>
                  <a:pt x="8686800" y="19050"/>
                </a:moveTo>
                <a:lnTo>
                  <a:pt x="8686800" y="0"/>
                </a:lnTo>
                <a:lnTo>
                  <a:pt x="0" y="0"/>
                </a:lnTo>
                <a:lnTo>
                  <a:pt x="0" y="19050"/>
                </a:lnTo>
                <a:lnTo>
                  <a:pt x="8686800" y="190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1714500"/>
            <a:chOff x="774839" y="1206246"/>
            <a:chExt cx="9144000" cy="1714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1714500"/>
            </a:xfrm>
            <a:custGeom>
              <a:avLst/>
              <a:gdLst/>
              <a:ahLst/>
              <a:cxnLst/>
              <a:rect l="l" t="t" r="r" b="b"/>
              <a:pathLst>
                <a:path w="9144000" h="171450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4500"/>
                  </a:lnTo>
                  <a:lnTo>
                    <a:pt x="9144000" y="1714500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82173" y="1208024"/>
            <a:ext cx="852805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slotted ALOHA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 transmits 200-bit frames on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shared channel </a:t>
            </a:r>
            <a:r>
              <a:rPr dirty="0" sz="2800" spc="5" b="1" i="1">
                <a:latin typeface="Times New Roman"/>
                <a:cs typeface="Times New Roman"/>
              </a:rPr>
              <a:t>of </a:t>
            </a:r>
            <a:r>
              <a:rPr dirty="0" sz="2800" b="1" i="1">
                <a:latin typeface="Times New Roman"/>
                <a:cs typeface="Times New Roman"/>
              </a:rPr>
              <a:t>200 </a:t>
            </a:r>
            <a:r>
              <a:rPr dirty="0" sz="2800" spc="-5" b="1" i="1">
                <a:latin typeface="Times New Roman"/>
                <a:cs typeface="Times New Roman"/>
              </a:rPr>
              <a:t>kbps. What is the throughput </a:t>
            </a:r>
            <a:r>
              <a:rPr dirty="0" sz="2800" b="1" i="1">
                <a:latin typeface="Times New Roman"/>
                <a:cs typeface="Times New Roman"/>
              </a:rPr>
              <a:t>if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(all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stations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together)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produces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6398" y="2488183"/>
            <a:ext cx="367030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dirty="0" sz="2800" spc="-2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500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2173" y="2488168"/>
            <a:ext cx="3847465" cy="153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dirty="0" sz="2800" spc="-3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1000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4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dirty="0" sz="2800" spc="-2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250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per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44073" y="3996944"/>
            <a:ext cx="8606790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transmission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time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200/200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kbps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algn="just" marL="405765" marR="43180" indent="-3556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a. </a:t>
            </a:r>
            <a:r>
              <a:rPr dirty="0" sz="2800" b="1" i="1">
                <a:latin typeface="Times New Roman"/>
                <a:cs typeface="Times New Roman"/>
              </a:rPr>
              <a:t>If the </a:t>
            </a:r>
            <a:r>
              <a:rPr dirty="0" sz="2800" spc="-5" b="1" i="1">
                <a:latin typeface="Times New Roman"/>
                <a:cs typeface="Times New Roman"/>
              </a:rPr>
              <a:t>system creates 1000 frames per second, this is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spc="2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millisecond.</a:t>
            </a:r>
            <a:r>
              <a:rPr dirty="0" sz="2800" spc="9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8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load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8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1.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89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9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</a:t>
            </a:r>
            <a:r>
              <a:rPr dirty="0" sz="2800" spc="4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G×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baseline="25525" sz="2775" b="1" i="1">
                <a:latin typeface="Times New Roman"/>
                <a:cs typeface="Times New Roman"/>
              </a:rPr>
              <a:t>−G</a:t>
            </a:r>
            <a:r>
              <a:rPr dirty="0" baseline="25525" sz="2775" spc="4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0.368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(36.8</a:t>
            </a:r>
            <a:r>
              <a:rPr dirty="0" sz="2800" spc="4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percent).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means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6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throughput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6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1000</a:t>
            </a:r>
            <a:r>
              <a:rPr dirty="0" sz="2800" spc="6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×</a:t>
            </a:r>
            <a:r>
              <a:rPr dirty="0" sz="2800" spc="6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0.0368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6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368</a:t>
            </a:r>
            <a:r>
              <a:rPr dirty="0" sz="2800" spc="6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frames.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Only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386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1000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will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probably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12.4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187196"/>
            <a:ext cx="9144000" cy="2590800"/>
            <a:chOff x="774839" y="1187196"/>
            <a:chExt cx="9144000" cy="2590800"/>
          </a:xfrm>
        </p:grpSpPr>
        <p:sp>
          <p:nvSpPr>
            <p:cNvPr id="4" name="object 4"/>
            <p:cNvSpPr/>
            <p:nvPr/>
          </p:nvSpPr>
          <p:spPr>
            <a:xfrm>
              <a:off x="1003439" y="1187196"/>
              <a:ext cx="8686800" cy="19050"/>
            </a:xfrm>
            <a:custGeom>
              <a:avLst/>
              <a:gdLst/>
              <a:ahLst/>
              <a:cxnLst/>
              <a:rect l="l" t="t" r="r" b="b"/>
              <a:pathLst>
                <a:path w="8686800" h="19050">
                  <a:moveTo>
                    <a:pt x="8686800" y="19050"/>
                  </a:moveTo>
                  <a:lnTo>
                    <a:pt x="86868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68680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1962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075" y="1206246"/>
              <a:ext cx="536796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4839" y="1206258"/>
              <a:ext cx="9144000" cy="2571750"/>
            </a:xfrm>
            <a:custGeom>
              <a:avLst/>
              <a:gdLst/>
              <a:ahLst/>
              <a:cxnLst/>
              <a:rect l="l" t="t" r="r" b="b"/>
              <a:pathLst>
                <a:path w="9144000" h="2571750">
                  <a:moveTo>
                    <a:pt x="9144000" y="856488"/>
                  </a:moveTo>
                  <a:lnTo>
                    <a:pt x="8915400" y="856488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856488"/>
                  </a:lnTo>
                  <a:lnTo>
                    <a:pt x="0" y="856488"/>
                  </a:lnTo>
                  <a:lnTo>
                    <a:pt x="0" y="1713738"/>
                  </a:lnTo>
                  <a:lnTo>
                    <a:pt x="0" y="1714500"/>
                  </a:lnTo>
                  <a:lnTo>
                    <a:pt x="0" y="2571750"/>
                  </a:lnTo>
                  <a:lnTo>
                    <a:pt x="9144000" y="2571750"/>
                  </a:lnTo>
                  <a:lnTo>
                    <a:pt x="9144000" y="1714500"/>
                  </a:lnTo>
                  <a:lnTo>
                    <a:pt x="9144000" y="1713738"/>
                  </a:lnTo>
                  <a:lnTo>
                    <a:pt x="9144000" y="856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44073" y="1208024"/>
            <a:ext cx="8629650" cy="4719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05765" marR="67310" indent="-3556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dirty="0" sz="2800" spc="59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If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system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creates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500</a:t>
            </a:r>
            <a:r>
              <a:rPr dirty="0" sz="2800" spc="6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frames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second,</a:t>
            </a:r>
            <a:r>
              <a:rPr dirty="0" sz="2800" spc="6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59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(1/2) frame per millisecond. The load is (1/2). In this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b="1" i="1">
                <a:latin typeface="Times New Roman"/>
                <a:cs typeface="Times New Roman"/>
              </a:rPr>
              <a:t>S = G × e</a:t>
            </a:r>
            <a:r>
              <a:rPr dirty="0" baseline="25525" sz="2775" b="1" i="1">
                <a:latin typeface="Times New Roman"/>
                <a:cs typeface="Times New Roman"/>
              </a:rPr>
              <a:t>−G</a:t>
            </a:r>
            <a:r>
              <a:rPr dirty="0" baseline="25525" sz="2775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 </a:t>
            </a:r>
            <a:r>
              <a:rPr dirty="0" sz="2800" b="1" i="1">
                <a:latin typeface="Times New Roman"/>
                <a:cs typeface="Times New Roman"/>
              </a:rPr>
              <a:t>S = </a:t>
            </a:r>
            <a:r>
              <a:rPr dirty="0" sz="2800" spc="-5" b="1" i="1">
                <a:latin typeface="Times New Roman"/>
                <a:cs typeface="Times New Roman"/>
              </a:rPr>
              <a:t>0.303 (30.3 percent). This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means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</a:t>
            </a:r>
            <a:r>
              <a:rPr dirty="0" sz="2800" b="1" i="1">
                <a:latin typeface="Times New Roman"/>
                <a:cs typeface="Times New Roman"/>
              </a:rPr>
              <a:t> the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throughput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500</a:t>
            </a:r>
            <a:r>
              <a:rPr dirty="0" sz="2800" b="1" i="1">
                <a:latin typeface="Times New Roman"/>
                <a:cs typeface="Times New Roman"/>
              </a:rPr>
              <a:t> ×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0.0303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151. </a:t>
            </a:r>
            <a:r>
              <a:rPr dirty="0" sz="2800" b="1" i="1">
                <a:latin typeface="Times New Roman"/>
                <a:cs typeface="Times New Roman"/>
              </a:rPr>
              <a:t> Only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151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 500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will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probably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algn="just" marL="405765" marR="67945" indent="-355600">
              <a:lnSpc>
                <a:spcPct val="100000"/>
              </a:lnSpc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dirty="0" sz="2800" spc="-5" b="1" i="1">
                <a:latin typeface="Times New Roman"/>
                <a:cs typeface="Times New Roman"/>
              </a:rPr>
              <a:t>If the system creates 250 frames per second, this is (1/4)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per millisecond.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load is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(1/4).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case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 = G × e </a:t>
            </a:r>
            <a:r>
              <a:rPr dirty="0" baseline="25525" sz="2775" spc="7" b="1" i="1">
                <a:latin typeface="Times New Roman"/>
                <a:cs typeface="Times New Roman"/>
              </a:rPr>
              <a:t>−G</a:t>
            </a:r>
            <a:r>
              <a:rPr dirty="0" baseline="25525" sz="2775" spc="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 </a:t>
            </a:r>
            <a:r>
              <a:rPr dirty="0" sz="2800" b="1" i="1">
                <a:latin typeface="Times New Roman"/>
                <a:cs typeface="Times New Roman"/>
              </a:rPr>
              <a:t>S = </a:t>
            </a:r>
            <a:r>
              <a:rPr dirty="0" sz="2800" spc="-5" b="1" i="1">
                <a:latin typeface="Times New Roman"/>
                <a:cs typeface="Times New Roman"/>
              </a:rPr>
              <a:t>0.195 (19.5 percent). This means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that</a:t>
            </a:r>
            <a:r>
              <a:rPr dirty="0" sz="2800" b="1" i="1">
                <a:latin typeface="Times New Roman"/>
                <a:cs typeface="Times New Roman"/>
              </a:rPr>
              <a:t> the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throughput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250</a:t>
            </a:r>
            <a:r>
              <a:rPr dirty="0" sz="2800" b="1" i="1">
                <a:latin typeface="Times New Roman"/>
                <a:cs typeface="Times New Roman"/>
              </a:rPr>
              <a:t> ×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0.195</a:t>
            </a:r>
            <a:r>
              <a:rPr dirty="0" sz="2800" b="1" i="1">
                <a:latin typeface="Times New Roman"/>
                <a:cs typeface="Times New Roman"/>
              </a:rPr>
              <a:t> =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49.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Only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49 </a:t>
            </a:r>
            <a:r>
              <a:rPr dirty="0" sz="2800" b="1" i="1">
                <a:latin typeface="Times New Roman"/>
                <a:cs typeface="Times New Roman"/>
              </a:rPr>
              <a:t> frames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out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250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will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probably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survive.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1353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12.8	</a:t>
            </a:r>
            <a:r>
              <a:rPr dirty="0" sz="2000" spc="-5" i="1">
                <a:latin typeface="Times New Roman"/>
                <a:cs typeface="Times New Roman"/>
              </a:rPr>
              <a:t>Space/time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model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collision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197" y="1415796"/>
            <a:ext cx="7879842" cy="507872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3561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12.9	</a:t>
            </a:r>
            <a:r>
              <a:rPr dirty="0" sz="2000" spc="-15" i="1">
                <a:latin typeface="Times New Roman"/>
                <a:cs typeface="Times New Roman"/>
              </a:rPr>
              <a:t>Vulnerable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time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CSMA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2384298"/>
            <a:ext cx="8839200" cy="32986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57829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12.10	</a:t>
            </a:r>
            <a:r>
              <a:rPr dirty="0" sz="2000" spc="-5" i="1">
                <a:latin typeface="Times New Roman"/>
                <a:cs typeface="Times New Roman"/>
              </a:rPr>
              <a:t>Behavior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 three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persistence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263395"/>
            <a:ext cx="8763000" cy="5524500"/>
            <a:chOff x="927239" y="1263395"/>
            <a:chExt cx="8763000" cy="5524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2189" y="1263395"/>
              <a:ext cx="5100828" cy="54216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811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30">
                <a:solidFill>
                  <a:srgbClr val="3333CC"/>
                </a:solidFill>
              </a:rPr>
              <a:t>12.11	</a:t>
            </a:r>
            <a:r>
              <a:rPr dirty="0" sz="2000" spc="-5" i="1">
                <a:latin typeface="Times New Roman"/>
                <a:cs typeface="Times New Roman"/>
              </a:rPr>
              <a:t>Flow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diagram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three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persistence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5549" y="1522475"/>
            <a:ext cx="5065648" cy="492251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6819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12.12	</a:t>
            </a:r>
            <a:r>
              <a:rPr dirty="0" sz="2000" spc="-5" i="1">
                <a:latin typeface="Times New Roman"/>
                <a:cs typeface="Times New Roman"/>
              </a:rPr>
              <a:t>Collision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 the first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bit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45" y="2382773"/>
            <a:ext cx="9057893" cy="26144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5384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12.13</a:t>
            </a:r>
            <a:r>
              <a:rPr dirty="0" sz="2400">
                <a:solidFill>
                  <a:srgbClr val="3333CC"/>
                </a:solidFill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Collision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 abortion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 CSMA/CD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991" y="2430779"/>
            <a:ext cx="8994647" cy="29474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4839" y="1206246"/>
            <a:ext cx="9144000" cy="2571750"/>
            <a:chOff x="774839" y="1206246"/>
            <a:chExt cx="9144000" cy="2571750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16839"/>
            </a:xfrm>
            <a:custGeom>
              <a:avLst/>
              <a:gdLst/>
              <a:ahLst/>
              <a:cxnLst/>
              <a:rect l="l" t="t" r="r" b="b"/>
              <a:pathLst>
                <a:path w="422275" h="116840">
                  <a:moveTo>
                    <a:pt x="0" y="116585"/>
                  </a:moveTo>
                  <a:lnTo>
                    <a:pt x="422147" y="116585"/>
                  </a:lnTo>
                  <a:lnTo>
                    <a:pt x="422147" y="0"/>
                  </a:lnTo>
                  <a:lnTo>
                    <a:pt x="0" y="0"/>
                  </a:lnTo>
                  <a:lnTo>
                    <a:pt x="0" y="11658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16839"/>
            </a:xfrm>
            <a:custGeom>
              <a:avLst/>
              <a:gdLst/>
              <a:ahLst/>
              <a:cxnLst/>
              <a:rect l="l" t="t" r="r" b="b"/>
              <a:pathLst>
                <a:path w="31750" h="116840">
                  <a:moveTo>
                    <a:pt x="0" y="116585"/>
                  </a:moveTo>
                  <a:lnTo>
                    <a:pt x="31241" y="116585"/>
                  </a:lnTo>
                  <a:lnTo>
                    <a:pt x="31241" y="0"/>
                  </a:lnTo>
                  <a:lnTo>
                    <a:pt x="0" y="0"/>
                  </a:lnTo>
                  <a:lnTo>
                    <a:pt x="0" y="116585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322844"/>
              <a:ext cx="9144000" cy="2455545"/>
            </a:xfrm>
            <a:custGeom>
              <a:avLst/>
              <a:gdLst/>
              <a:ahLst/>
              <a:cxnLst/>
              <a:rect l="l" t="t" r="r" b="b"/>
              <a:pathLst>
                <a:path w="9144000" h="2455545">
                  <a:moveTo>
                    <a:pt x="9144000" y="739902"/>
                  </a:moveTo>
                  <a:lnTo>
                    <a:pt x="8915400" y="739902"/>
                  </a:lnTo>
                  <a:lnTo>
                    <a:pt x="8915400" y="0"/>
                  </a:lnTo>
                  <a:lnTo>
                    <a:pt x="228600" y="0"/>
                  </a:lnTo>
                  <a:lnTo>
                    <a:pt x="228600" y="739902"/>
                  </a:lnTo>
                  <a:lnTo>
                    <a:pt x="0" y="739902"/>
                  </a:lnTo>
                  <a:lnTo>
                    <a:pt x="0" y="1597152"/>
                  </a:lnTo>
                  <a:lnTo>
                    <a:pt x="0" y="1597914"/>
                  </a:lnTo>
                  <a:lnTo>
                    <a:pt x="0" y="2455164"/>
                  </a:lnTo>
                  <a:lnTo>
                    <a:pt x="9144000" y="2455164"/>
                  </a:lnTo>
                  <a:lnTo>
                    <a:pt x="9144000" y="1597914"/>
                  </a:lnTo>
                  <a:lnTo>
                    <a:pt x="9144000" y="1597152"/>
                  </a:lnTo>
                  <a:lnTo>
                    <a:pt x="9144000" y="7399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7867" y="1342898"/>
            <a:ext cx="8657590" cy="5316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0" marR="177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network using CSMA/CD has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bandwidth of 10 Mbps. </a:t>
            </a:r>
            <a:r>
              <a:rPr dirty="0" sz="2800" b="1" i="1">
                <a:latin typeface="Times New Roman"/>
                <a:cs typeface="Times New Roman"/>
              </a:rPr>
              <a:t> If the </a:t>
            </a:r>
            <a:r>
              <a:rPr dirty="0" sz="2800" spc="-5" b="1" i="1">
                <a:latin typeface="Times New Roman"/>
                <a:cs typeface="Times New Roman"/>
              </a:rPr>
              <a:t>maximum propagation time (including </a:t>
            </a:r>
            <a:r>
              <a:rPr dirty="0" sz="2800" b="1" i="1">
                <a:latin typeface="Times New Roman"/>
                <a:cs typeface="Times New Roman"/>
              </a:rPr>
              <a:t>the </a:t>
            </a:r>
            <a:r>
              <a:rPr dirty="0" sz="2800" spc="-5" b="1" i="1">
                <a:latin typeface="Times New Roman"/>
                <a:cs typeface="Times New Roman"/>
              </a:rPr>
              <a:t>delays in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devices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ignoring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time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needed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to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</a:t>
            </a:r>
            <a:r>
              <a:rPr dirty="0" sz="2800" b="1" i="1">
                <a:latin typeface="Times New Roman"/>
                <a:cs typeface="Times New Roman"/>
              </a:rPr>
              <a:t> 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jamming signal, as we see later) </a:t>
            </a:r>
            <a:r>
              <a:rPr dirty="0" sz="2800" b="1" i="1">
                <a:latin typeface="Times New Roman"/>
                <a:cs typeface="Times New Roman"/>
              </a:rPr>
              <a:t>is 25 6 μs, </a:t>
            </a:r>
            <a:r>
              <a:rPr dirty="0" sz="2800" spc="-5" b="1" i="1">
                <a:latin typeface="Times New Roman"/>
                <a:cs typeface="Times New Roman"/>
              </a:rPr>
              <a:t>what </a:t>
            </a:r>
            <a:r>
              <a:rPr dirty="0" sz="2800" b="1" i="1">
                <a:latin typeface="Times New Roman"/>
                <a:cs typeface="Times New Roman"/>
              </a:rPr>
              <a:t>is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minimum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size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frame?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34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algn="just" marL="50800" marR="93980">
              <a:lnSpc>
                <a:spcPct val="100000"/>
              </a:lnSpc>
            </a:pP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 transmission time </a:t>
            </a:r>
            <a:r>
              <a:rPr dirty="0" sz="2800" b="1" i="1">
                <a:latin typeface="Times New Roman"/>
                <a:cs typeface="Times New Roman"/>
              </a:rPr>
              <a:t>is T</a:t>
            </a:r>
            <a:r>
              <a:rPr dirty="0" baseline="-13513" sz="2775" b="1" i="1">
                <a:latin typeface="Times New Roman"/>
                <a:cs typeface="Times New Roman"/>
              </a:rPr>
              <a:t>fr</a:t>
            </a:r>
            <a:r>
              <a:rPr dirty="0" baseline="-13513" sz="2775" spc="7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 2 × T</a:t>
            </a:r>
            <a:r>
              <a:rPr dirty="0" baseline="-12012" sz="2775" b="1" i="1">
                <a:latin typeface="Times New Roman"/>
                <a:cs typeface="Times New Roman"/>
              </a:rPr>
              <a:t>p</a:t>
            </a:r>
            <a:r>
              <a:rPr dirty="0" baseline="-12012" sz="2775" spc="7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51.2</a:t>
            </a:r>
            <a:r>
              <a:rPr dirty="0" sz="2800" spc="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μs.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This </a:t>
            </a:r>
            <a:r>
              <a:rPr dirty="0" sz="2800" spc="-5" b="1" i="1">
                <a:latin typeface="Times New Roman"/>
                <a:cs typeface="Times New Roman"/>
              </a:rPr>
              <a:t>means, in the </a:t>
            </a:r>
            <a:r>
              <a:rPr dirty="0" sz="2800" spc="-10" b="1" i="1">
                <a:latin typeface="Times New Roman"/>
                <a:cs typeface="Times New Roman"/>
              </a:rPr>
              <a:t>worst </a:t>
            </a:r>
            <a:r>
              <a:rPr dirty="0" sz="2800" spc="-5" b="1" i="1">
                <a:latin typeface="Times New Roman"/>
                <a:cs typeface="Times New Roman"/>
              </a:rPr>
              <a:t>case,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station needs </a:t>
            </a:r>
            <a:r>
              <a:rPr dirty="0" sz="2800" b="1" i="1">
                <a:latin typeface="Times New Roman"/>
                <a:cs typeface="Times New Roman"/>
              </a:rPr>
              <a:t>to </a:t>
            </a:r>
            <a:r>
              <a:rPr dirty="0" sz="2800" spc="-5" b="1" i="1">
                <a:latin typeface="Times New Roman"/>
                <a:cs typeface="Times New Roman"/>
              </a:rPr>
              <a:t>transmit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b="1" i="1">
                <a:latin typeface="Times New Roman"/>
                <a:cs typeface="Times New Roman"/>
              </a:rPr>
              <a:t> a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period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of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51.2</a:t>
            </a:r>
            <a:r>
              <a:rPr dirty="0" sz="2800" b="1" i="1">
                <a:latin typeface="Times New Roman"/>
                <a:cs typeface="Times New Roman"/>
              </a:rPr>
              <a:t> μs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to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detect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collision.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minimum</a:t>
            </a:r>
            <a:r>
              <a:rPr dirty="0" sz="2800" spc="35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size</a:t>
            </a:r>
            <a:r>
              <a:rPr dirty="0" sz="2800" spc="36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3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frame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3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10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Mbps</a:t>
            </a:r>
            <a:r>
              <a:rPr dirty="0" sz="2800" spc="36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×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51.2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μs</a:t>
            </a:r>
            <a:r>
              <a:rPr dirty="0" sz="2800" spc="36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37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512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bits or 64 bytes. This is actually the minimum size of the </a:t>
            </a:r>
            <a:r>
              <a:rPr dirty="0" sz="2800" b="1" i="1">
                <a:latin typeface="Times New Roman"/>
                <a:cs typeface="Times New Roman"/>
              </a:rPr>
              <a:t> frame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Standard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Ethernet.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220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12.14	</a:t>
            </a:r>
            <a:r>
              <a:rPr dirty="0" sz="2000" spc="-5" i="1">
                <a:latin typeface="Times New Roman"/>
                <a:cs typeface="Times New Roman"/>
              </a:rPr>
              <a:t>Flow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diagram for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CSMA/CD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7239" y="1330452"/>
            <a:ext cx="8763000" cy="5114925"/>
            <a:chOff x="927239" y="1330452"/>
            <a:chExt cx="8763000" cy="5114925"/>
          </a:xfrm>
        </p:grpSpPr>
        <p:sp>
          <p:nvSpPr>
            <p:cNvPr id="4" name="object 4"/>
            <p:cNvSpPr/>
            <p:nvPr/>
          </p:nvSpPr>
          <p:spPr>
            <a:xfrm>
              <a:off x="927239" y="1330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2223" y="1362456"/>
              <a:ext cx="6300876" cy="508254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5304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12.15	</a:t>
            </a:r>
            <a:r>
              <a:rPr dirty="0" sz="2000" spc="-5" i="1">
                <a:latin typeface="Times New Roman"/>
                <a:cs typeface="Times New Roman"/>
              </a:rPr>
              <a:t>Energy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level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during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transmission,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idleness,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collision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71" y="2727198"/>
            <a:ext cx="7211568" cy="22699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985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12.16	</a:t>
            </a:r>
            <a:r>
              <a:rPr dirty="0" sz="2000" spc="-15" i="1">
                <a:latin typeface="Times New Roman"/>
                <a:cs typeface="Times New Roman"/>
              </a:rPr>
              <a:t>Timing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23" y="2787395"/>
            <a:ext cx="8510016" cy="194538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marL="93980" marR="87630" indent="3175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</a:t>
            </a:r>
            <a:r>
              <a:rPr dirty="0" sz="3200" spc="-10" b="1">
                <a:latin typeface="Arial"/>
                <a:cs typeface="Arial"/>
              </a:rPr>
              <a:t>CSMA/CA, </a:t>
            </a:r>
            <a:r>
              <a:rPr dirty="0" sz="3200" spc="-5" b="1">
                <a:latin typeface="Arial"/>
                <a:cs typeface="Arial"/>
              </a:rPr>
              <a:t>the IFS can also be used </a:t>
            </a:r>
            <a:r>
              <a:rPr dirty="0" sz="3200" spc="-10" b="1">
                <a:latin typeface="Arial"/>
                <a:cs typeface="Arial"/>
              </a:rPr>
              <a:t>to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define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priority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a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station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or a </a:t>
            </a:r>
            <a:r>
              <a:rPr dirty="0" sz="3200" spc="-10" b="1">
                <a:latin typeface="Arial"/>
                <a:cs typeface="Arial"/>
              </a:rPr>
              <a:t>frame.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1970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38379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572135" marR="563880" indent="-444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</a:t>
            </a:r>
            <a:r>
              <a:rPr dirty="0" sz="3200" spc="-10" b="1">
                <a:latin typeface="Arial"/>
                <a:cs typeface="Arial"/>
              </a:rPr>
              <a:t>CSMA/CA, </a:t>
            </a:r>
            <a:r>
              <a:rPr dirty="0" sz="3200" spc="-5" b="1">
                <a:latin typeface="Arial"/>
                <a:cs typeface="Arial"/>
              </a:rPr>
              <a:t>if the </a:t>
            </a:r>
            <a:r>
              <a:rPr dirty="0" sz="3200" spc="-10" b="1">
                <a:latin typeface="Arial"/>
                <a:cs typeface="Arial"/>
              </a:rPr>
              <a:t>station </a:t>
            </a:r>
            <a:r>
              <a:rPr dirty="0" sz="3200" spc="-5" b="1">
                <a:latin typeface="Arial"/>
                <a:cs typeface="Arial"/>
              </a:rPr>
              <a:t>finds </a:t>
            </a:r>
            <a:r>
              <a:rPr dirty="0" sz="3200" spc="-10" b="1">
                <a:latin typeface="Arial"/>
                <a:cs typeface="Arial"/>
              </a:rPr>
              <a:t>the </a:t>
            </a:r>
            <a:r>
              <a:rPr dirty="0" sz="3200" spc="-5" b="1">
                <a:latin typeface="Arial"/>
                <a:cs typeface="Arial"/>
              </a:rPr>
              <a:t> channel </a:t>
            </a:r>
            <a:r>
              <a:rPr dirty="0" sz="3200" spc="-50" b="1">
                <a:latin typeface="Arial"/>
                <a:cs typeface="Arial"/>
              </a:rPr>
              <a:t>busy, </a:t>
            </a:r>
            <a:r>
              <a:rPr dirty="0" sz="3200" spc="-5" b="1">
                <a:latin typeface="Arial"/>
                <a:cs typeface="Arial"/>
              </a:rPr>
              <a:t>it does not </a:t>
            </a:r>
            <a:r>
              <a:rPr dirty="0" sz="3200" spc="-10" b="1">
                <a:latin typeface="Arial"/>
                <a:cs typeface="Arial"/>
              </a:rPr>
              <a:t>restart </a:t>
            </a: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timer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 the </a:t>
            </a:r>
            <a:r>
              <a:rPr dirty="0" sz="3200" spc="-10" b="1">
                <a:latin typeface="Arial"/>
                <a:cs typeface="Arial"/>
              </a:rPr>
              <a:t>contention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window;</a:t>
            </a:r>
            <a:endParaRPr sz="3200">
              <a:latin typeface="Arial"/>
              <a:cs typeface="Arial"/>
            </a:endParaRPr>
          </a:p>
          <a:p>
            <a:pPr algn="ctr" marL="431165" marR="424815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it </a:t>
            </a:r>
            <a:r>
              <a:rPr dirty="0" sz="3200" spc="-10" b="1">
                <a:latin typeface="Arial"/>
                <a:cs typeface="Arial"/>
              </a:rPr>
              <a:t>stops </a:t>
            </a:r>
            <a:r>
              <a:rPr dirty="0" sz="3200" spc="-5" b="1">
                <a:latin typeface="Arial"/>
                <a:cs typeface="Arial"/>
              </a:rPr>
              <a:t>the timer and </a:t>
            </a:r>
            <a:r>
              <a:rPr dirty="0" sz="3200" spc="-10" b="1">
                <a:latin typeface="Arial"/>
                <a:cs typeface="Arial"/>
              </a:rPr>
              <a:t>restarts </a:t>
            </a:r>
            <a:r>
              <a:rPr dirty="0" sz="3200" spc="-5" b="1">
                <a:latin typeface="Arial"/>
                <a:cs typeface="Arial"/>
              </a:rPr>
              <a:t>it </a:t>
            </a:r>
            <a:r>
              <a:rPr dirty="0" sz="3200" spc="-10" b="1">
                <a:latin typeface="Arial"/>
                <a:cs typeface="Arial"/>
              </a:rPr>
              <a:t>when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channel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becomes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idle.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234325" y="5721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70139" y="5491734"/>
              <a:ext cx="8077200" cy="146050"/>
            </a:xfrm>
            <a:custGeom>
              <a:avLst/>
              <a:gdLst/>
              <a:ahLst/>
              <a:cxnLst/>
              <a:rect l="l" t="t" r="r" b="b"/>
              <a:pathLst>
                <a:path w="8077200" h="146050">
                  <a:moveTo>
                    <a:pt x="8077200" y="14554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45542"/>
                  </a:lnTo>
                  <a:lnTo>
                    <a:pt x="8077200" y="14554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8190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12.17	</a:t>
            </a:r>
            <a:r>
              <a:rPr dirty="0" sz="2000" spc="-5" i="1">
                <a:latin typeface="Times New Roman"/>
                <a:cs typeface="Times New Roman"/>
              </a:rPr>
              <a:t>Flow diagram for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CSMA/CA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039" y="1441703"/>
            <a:ext cx="3031744" cy="48508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dirty="0" spc="-5"/>
              <a:t>12-2	CONTROLLED</a:t>
            </a:r>
            <a:r>
              <a:rPr dirty="0" spc="-185"/>
              <a:t> </a:t>
            </a:r>
            <a:r>
              <a:rPr dirty="0" spc="-5"/>
              <a:t>ACCESS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58373" y="1894586"/>
            <a:ext cx="8071484" cy="4648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In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controlled </a:t>
            </a:r>
            <a:r>
              <a:rPr dirty="0" sz="2800" spc="-95" b="1" i="1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dirty="0" sz="2800" spc="-95" b="1" i="1">
                <a:latin typeface="Times New Roman"/>
                <a:cs typeface="Times New Roman"/>
              </a:rPr>
              <a:t>,,</a:t>
            </a:r>
            <a:r>
              <a:rPr dirty="0" sz="2800" spc="509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stations consult </a:t>
            </a:r>
            <a:r>
              <a:rPr dirty="0" sz="2800" b="1" i="1">
                <a:latin typeface="Times New Roman"/>
                <a:cs typeface="Times New Roman"/>
              </a:rPr>
              <a:t>one </a:t>
            </a:r>
            <a:r>
              <a:rPr dirty="0" sz="2800" spc="-5" b="1" i="1">
                <a:latin typeface="Times New Roman"/>
                <a:cs typeface="Times New Roman"/>
              </a:rPr>
              <a:t>another </a:t>
            </a:r>
            <a:r>
              <a:rPr dirty="0" sz="2800" b="1" i="1">
                <a:latin typeface="Times New Roman"/>
                <a:cs typeface="Times New Roman"/>
              </a:rPr>
              <a:t> to </a:t>
            </a:r>
            <a:r>
              <a:rPr dirty="0" sz="2800" spc="-5" b="1" i="1">
                <a:latin typeface="Times New Roman"/>
                <a:cs typeface="Times New Roman"/>
              </a:rPr>
              <a:t>find which station has the right to send.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station </a:t>
            </a:r>
            <a:r>
              <a:rPr dirty="0" sz="2800" b="1" i="1">
                <a:latin typeface="Times New Roman"/>
                <a:cs typeface="Times New Roman"/>
              </a:rPr>
              <a:t> cannot </a:t>
            </a:r>
            <a:r>
              <a:rPr dirty="0" sz="2800" spc="-5" b="1" i="1">
                <a:latin typeface="Times New Roman"/>
                <a:cs typeface="Times New Roman"/>
              </a:rPr>
              <a:t>send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unless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been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authorized</a:t>
            </a:r>
            <a:r>
              <a:rPr dirty="0" sz="2800" b="1" i="1">
                <a:latin typeface="Times New Roman"/>
                <a:cs typeface="Times New Roman"/>
              </a:rPr>
              <a:t> by </a:t>
            </a:r>
            <a:r>
              <a:rPr dirty="0" sz="2800" spc="-5" b="1" i="1">
                <a:latin typeface="Times New Roman"/>
                <a:cs typeface="Times New Roman"/>
              </a:rPr>
              <a:t>other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stations.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-1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discuss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three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popular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controlled-access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spc="-160" b="1" i="1">
                <a:latin typeface="Times New Roman"/>
                <a:cs typeface="Times New Roman"/>
              </a:rPr>
              <a:t>methods..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5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dirty="0" u="heavy" sz="2800" spc="-3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dirty="0" u="heavy" sz="2800" spc="-3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heavy" sz="2800" spc="-2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dirty="0" u="heavy" sz="2800" spc="-3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92240">
              <a:lnSpc>
                <a:spcPct val="100000"/>
              </a:lnSpc>
              <a:spcBef>
                <a:spcPts val="400"/>
              </a:spcBef>
            </a:pP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Reservation 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Polling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0" b="1">
                <a:solidFill>
                  <a:srgbClr val="0033CC"/>
                </a:solidFill>
                <a:latin typeface="Times New Roman"/>
                <a:cs typeface="Times New Roman"/>
              </a:rPr>
              <a:t>Token</a:t>
            </a:r>
            <a:r>
              <a:rPr dirty="0" sz="2400" spc="-40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Passing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6018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12.18	</a:t>
            </a:r>
            <a:r>
              <a:rPr dirty="0" sz="2000" spc="-5" i="1">
                <a:latin typeface="Times New Roman"/>
                <a:cs typeface="Times New Roman"/>
              </a:rPr>
              <a:t>Reservation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access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847" y="2863595"/>
            <a:ext cx="7860792" cy="18287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0148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12.19	</a:t>
            </a:r>
            <a:r>
              <a:rPr dirty="0" sz="2000" spc="-5" i="1">
                <a:latin typeface="Times New Roman"/>
                <a:cs typeface="Times New Roman"/>
              </a:rPr>
              <a:t>Select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poll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functions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polling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access 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693" y="2300477"/>
            <a:ext cx="8483345" cy="30777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3" y="752347"/>
            <a:ext cx="87737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12.20	</a:t>
            </a:r>
            <a:r>
              <a:rPr dirty="0" sz="2000" spc="-5" i="1">
                <a:latin typeface="Times New Roman"/>
                <a:cs typeface="Times New Roman"/>
              </a:rPr>
              <a:t>Logical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ring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and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physical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topology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token-passing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access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27239" y="1485900"/>
            <a:ext cx="8763000" cy="5149850"/>
            <a:chOff x="927239" y="1485900"/>
            <a:chExt cx="8763000" cy="5149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439" y="1485900"/>
              <a:ext cx="7102602" cy="50352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27239" y="65592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362710" algn="l"/>
              </a:tabLst>
            </a:pPr>
            <a:r>
              <a:rPr dirty="0" spc="-5"/>
              <a:t>12-3	</a:t>
            </a:r>
            <a:r>
              <a:rPr dirty="0" spc="-20"/>
              <a:t>CHANNELIZATION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158373" y="1894586"/>
            <a:ext cx="8070850" cy="434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Channelization </a:t>
            </a:r>
            <a:r>
              <a:rPr dirty="0" sz="2800" b="1" i="1">
                <a:latin typeface="Times New Roman"/>
                <a:cs typeface="Times New Roman"/>
              </a:rPr>
              <a:t>is a </a:t>
            </a:r>
            <a:r>
              <a:rPr dirty="0" sz="2800" spc="-5" b="1" i="1">
                <a:latin typeface="Times New Roman"/>
                <a:cs typeface="Times New Roman"/>
              </a:rPr>
              <a:t>multiple-access method in which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available bandwidth </a:t>
            </a:r>
            <a:r>
              <a:rPr dirty="0" sz="2800" b="1" i="1">
                <a:latin typeface="Times New Roman"/>
                <a:cs typeface="Times New Roman"/>
              </a:rPr>
              <a:t>of a </a:t>
            </a:r>
            <a:r>
              <a:rPr dirty="0" sz="2800" spc="-5" b="1" i="1">
                <a:latin typeface="Times New Roman"/>
                <a:cs typeface="Times New Roman"/>
              </a:rPr>
              <a:t>link is shared in time,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5" b="1" i="1">
                <a:latin typeface="Times New Roman"/>
                <a:cs typeface="Times New Roman"/>
              </a:rPr>
              <a:t>frequency, </a:t>
            </a:r>
            <a:r>
              <a:rPr dirty="0" sz="2800" spc="-5" b="1" i="1">
                <a:latin typeface="Times New Roman"/>
                <a:cs typeface="Times New Roman"/>
              </a:rPr>
              <a:t>or through code, between </a:t>
            </a:r>
            <a:r>
              <a:rPr dirty="0" sz="2800" spc="-10" b="1" i="1">
                <a:latin typeface="Times New Roman"/>
                <a:cs typeface="Times New Roman"/>
              </a:rPr>
              <a:t>different </a:t>
            </a:r>
            <a:r>
              <a:rPr dirty="0" sz="2800" spc="-145" b="1" i="1">
                <a:latin typeface="Times New Roman"/>
                <a:cs typeface="Times New Roman"/>
              </a:rPr>
              <a:t>stations.. </a:t>
            </a:r>
            <a:r>
              <a:rPr dirty="0" sz="2800" spc="-14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section,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discuss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three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channelization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130" b="1" i="1">
                <a:latin typeface="Times New Roman"/>
                <a:cs typeface="Times New Roman"/>
              </a:rPr>
              <a:t>protocols..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50">
              <a:latin typeface="Times New Roman"/>
              <a:cs typeface="Times New Roman"/>
            </a:endParaRPr>
          </a:p>
          <a:p>
            <a:pPr marL="12700" marR="2191385" indent="27940">
              <a:lnSpc>
                <a:spcPct val="104000"/>
              </a:lnSpc>
              <a:spcBef>
                <a:spcPts val="5"/>
              </a:spcBef>
            </a:pPr>
            <a:r>
              <a:rPr dirty="0" u="heavy" sz="2800" spc="-4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 </a:t>
            </a:r>
            <a:r>
              <a:rPr dirty="0" u="heavy" sz="28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 in this </a:t>
            </a:r>
            <a:r>
              <a:rPr dirty="0" u="heavy" sz="2800" spc="-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33CC"/>
                </a:solidFill>
                <a:latin typeface="Times New Roman"/>
                <a:cs typeface="Times New Roman"/>
              </a:rPr>
              <a:t>Frequency-Division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-1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Access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(FDMA) </a:t>
            </a:r>
            <a:r>
              <a:rPr dirty="0" sz="2400" spc="-58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45" b="1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i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me-Division</a:t>
            </a:r>
            <a:r>
              <a:rPr dirty="0" sz="2400" spc="-1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-1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Acces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s</a:t>
            </a:r>
            <a:r>
              <a:rPr dirty="0" sz="2400" spc="-1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(TDMA) 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Code-Divisio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n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Multiple</a:t>
            </a:r>
            <a:r>
              <a:rPr dirty="0" sz="2400" spc="-1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Acces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33CC"/>
                </a:solidFill>
                <a:latin typeface="Times New Roman"/>
                <a:cs typeface="Times New Roman"/>
              </a:rPr>
              <a:t>(CDMA)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marL="1275715" marR="736600" indent="-535940">
              <a:lnSpc>
                <a:spcPct val="100000"/>
              </a:lnSpc>
              <a:spcBef>
                <a:spcPts val="275"/>
              </a:spcBef>
            </a:pPr>
            <a:r>
              <a:rPr dirty="0" sz="3200" spc="-35" b="1">
                <a:latin typeface="Arial"/>
                <a:cs typeface="Arial"/>
              </a:rPr>
              <a:t>We </a:t>
            </a:r>
            <a:r>
              <a:rPr dirty="0" sz="3200" spc="-5" b="1">
                <a:latin typeface="Arial"/>
                <a:cs typeface="Arial"/>
              </a:rPr>
              <a:t>see the </a:t>
            </a:r>
            <a:r>
              <a:rPr dirty="0" sz="3200" spc="-10" b="1">
                <a:latin typeface="Arial"/>
                <a:cs typeface="Arial"/>
              </a:rPr>
              <a:t>application </a:t>
            </a:r>
            <a:r>
              <a:rPr dirty="0" sz="3200" spc="-5" b="1">
                <a:latin typeface="Arial"/>
                <a:cs typeface="Arial"/>
              </a:rPr>
              <a:t>of all </a:t>
            </a:r>
            <a:r>
              <a:rPr dirty="0" sz="3200" spc="-10" b="1">
                <a:latin typeface="Arial"/>
                <a:cs typeface="Arial"/>
              </a:rPr>
              <a:t>these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methods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Chapter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16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when</a:t>
            </a:r>
            <a:endParaRPr sz="3200">
              <a:latin typeface="Arial"/>
              <a:cs typeface="Arial"/>
            </a:endParaRPr>
          </a:p>
          <a:p>
            <a:pPr marL="600710">
              <a:lnSpc>
                <a:spcPct val="100000"/>
              </a:lnSpc>
            </a:pPr>
            <a:r>
              <a:rPr dirty="0" sz="3200" spc="-5" b="1">
                <a:latin typeface="Arial"/>
                <a:cs typeface="Arial"/>
              </a:rPr>
              <a:t>we</a:t>
            </a:r>
            <a:r>
              <a:rPr dirty="0" sz="3200" spc="-10" b="1">
                <a:latin typeface="Arial"/>
                <a:cs typeface="Arial"/>
              </a:rPr>
              <a:t> discuss cellular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phone systems.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4509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12.21	</a:t>
            </a:r>
            <a:r>
              <a:rPr dirty="0" sz="2000" spc="-5" i="1">
                <a:latin typeface="Times New Roman"/>
                <a:cs typeface="Times New Roman"/>
              </a:rPr>
              <a:t>Frequency-division multiple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access (FDMA)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071" y="1581150"/>
            <a:ext cx="7211568" cy="478764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marL="341630" marR="335280" indent="47244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</a:t>
            </a:r>
            <a:r>
              <a:rPr dirty="0" sz="3200" spc="204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FDMA,</a:t>
            </a:r>
            <a:r>
              <a:rPr dirty="0" sz="3200" spc="204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204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available</a:t>
            </a:r>
            <a:r>
              <a:rPr dirty="0" sz="3200" spc="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bandwidth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of</a:t>
            </a:r>
            <a:r>
              <a:rPr dirty="0" sz="3200" spc="-2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the</a:t>
            </a:r>
            <a:r>
              <a:rPr dirty="0" sz="3200" spc="-1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common </a:t>
            </a:r>
            <a:r>
              <a:rPr dirty="0" sz="3200" spc="-5" b="1">
                <a:latin typeface="Arial"/>
                <a:cs typeface="Arial"/>
              </a:rPr>
              <a:t>channel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is divided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into</a:t>
            </a:r>
            <a:endParaRPr sz="3200">
              <a:latin typeface="Arial"/>
              <a:cs typeface="Arial"/>
            </a:endParaRPr>
          </a:p>
          <a:p>
            <a:pPr marL="3383915" marR="718820" indent="-2660015">
              <a:lnSpc>
                <a:spcPct val="100000"/>
              </a:lnSpc>
            </a:pPr>
            <a:r>
              <a:rPr dirty="0" sz="3200" spc="-10" b="1">
                <a:latin typeface="Arial"/>
                <a:cs typeface="Arial"/>
              </a:rPr>
              <a:t>bands </a:t>
            </a:r>
            <a:r>
              <a:rPr dirty="0" sz="3200" spc="-5" b="1">
                <a:latin typeface="Arial"/>
                <a:cs typeface="Arial"/>
              </a:rPr>
              <a:t>that are </a:t>
            </a:r>
            <a:r>
              <a:rPr dirty="0" sz="3200" spc="-10" b="1">
                <a:latin typeface="Arial"/>
                <a:cs typeface="Arial"/>
              </a:rPr>
              <a:t>separated </a:t>
            </a:r>
            <a:r>
              <a:rPr dirty="0" sz="3200" spc="-5" b="1">
                <a:latin typeface="Arial"/>
                <a:cs typeface="Arial"/>
              </a:rPr>
              <a:t>by </a:t>
            </a:r>
            <a:r>
              <a:rPr dirty="0" sz="3200" spc="-10" b="1">
                <a:latin typeface="Arial"/>
                <a:cs typeface="Arial"/>
              </a:rPr>
              <a:t>guard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bands.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343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12.22	</a:t>
            </a:r>
            <a:r>
              <a:rPr dirty="0" sz="2000" spc="-10" i="1">
                <a:latin typeface="Times New Roman"/>
                <a:cs typeface="Times New Roman"/>
              </a:rPr>
              <a:t>Time-division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multiple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access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(TDMA)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039" y="1592580"/>
            <a:ext cx="7212330" cy="477621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algn="ctr" marL="611505" marR="60325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TDMA, the bandwidth is just one 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channel that is </a:t>
            </a:r>
            <a:r>
              <a:rPr dirty="0" sz="3200" spc="-10" b="1">
                <a:latin typeface="Arial"/>
                <a:cs typeface="Arial"/>
              </a:rPr>
              <a:t>timeshared </a:t>
            </a:r>
            <a:r>
              <a:rPr dirty="0" sz="3200" spc="-5" b="1">
                <a:latin typeface="Arial"/>
                <a:cs typeface="Arial"/>
              </a:rPr>
              <a:t>between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different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stations.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marL="1087755" marR="889635" indent="-195580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In </a:t>
            </a:r>
            <a:r>
              <a:rPr dirty="0" sz="3200" spc="-10" b="1">
                <a:latin typeface="Arial"/>
                <a:cs typeface="Arial"/>
              </a:rPr>
              <a:t>CDMA, </a:t>
            </a:r>
            <a:r>
              <a:rPr dirty="0" sz="3200" spc="-5" b="1">
                <a:latin typeface="Arial"/>
                <a:cs typeface="Arial"/>
              </a:rPr>
              <a:t>one </a:t>
            </a:r>
            <a:r>
              <a:rPr dirty="0" sz="3200" spc="-10" b="1">
                <a:latin typeface="Arial"/>
                <a:cs typeface="Arial"/>
              </a:rPr>
              <a:t>channel carries all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transmissions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40" b="1">
                <a:latin typeface="Arial"/>
                <a:cs typeface="Arial"/>
              </a:rPr>
              <a:t>simultaneously.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2732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0426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12.23	</a:t>
            </a:r>
            <a:r>
              <a:rPr dirty="0" sz="2000" spc="-5" i="1">
                <a:latin typeface="Times New Roman"/>
                <a:cs typeface="Times New Roman"/>
              </a:rPr>
              <a:t>Simple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idea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communication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with code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3623" y="1687829"/>
            <a:ext cx="7258050" cy="429996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4251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12.24	</a:t>
            </a:r>
            <a:r>
              <a:rPr dirty="0" sz="2000" spc="-5" i="1">
                <a:latin typeface="Times New Roman"/>
                <a:cs typeface="Times New Roman"/>
              </a:rPr>
              <a:t>Chip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sequences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3219450"/>
            <a:ext cx="8775954" cy="86334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568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12.25	</a:t>
            </a:r>
            <a:r>
              <a:rPr dirty="0" sz="2000" spc="-5" i="1">
                <a:latin typeface="Times New Roman"/>
                <a:cs typeface="Times New Roman"/>
              </a:rPr>
              <a:t>Data</a:t>
            </a:r>
            <a:r>
              <a:rPr dirty="0" sz="2000" spc="-10" i="1">
                <a:latin typeface="Times New Roman"/>
                <a:cs typeface="Times New Roman"/>
              </a:rPr>
              <a:t> representation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471" y="3365753"/>
            <a:ext cx="8125968" cy="71704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6348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12.26	</a:t>
            </a:r>
            <a:r>
              <a:rPr dirty="0" sz="2000" spc="-10" i="1">
                <a:latin typeface="Times New Roman"/>
                <a:cs typeface="Times New Roman"/>
              </a:rPr>
              <a:t>Sharing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channel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767" y="1872995"/>
            <a:ext cx="8729471" cy="44957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8002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12.27	</a:t>
            </a:r>
            <a:r>
              <a:rPr dirty="0" sz="2000" spc="-5" i="1">
                <a:latin typeface="Times New Roman"/>
                <a:cs typeface="Times New Roman"/>
              </a:rPr>
              <a:t>Digital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signal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created</a:t>
            </a:r>
            <a:r>
              <a:rPr dirty="0" sz="2000" spc="-1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by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four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stations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3" y="1901951"/>
            <a:ext cx="8026145" cy="423824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16343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12.28	</a:t>
            </a:r>
            <a:r>
              <a:rPr dirty="0" sz="2000" spc="-5" i="1">
                <a:latin typeface="Times New Roman"/>
                <a:cs typeface="Times New Roman"/>
              </a:rPr>
              <a:t>Decoding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of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the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composite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signal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for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one</a:t>
            </a:r>
            <a:r>
              <a:rPr dirty="0" sz="2000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in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CDMA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167" y="1651254"/>
            <a:ext cx="7357871" cy="433654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193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dirty="0" sz="2400" spc="-10">
                <a:solidFill>
                  <a:srgbClr val="3333CC"/>
                </a:solidFill>
              </a:rPr>
              <a:t>Figure</a:t>
            </a:r>
            <a:r>
              <a:rPr dirty="0" sz="2400" spc="-15">
                <a:solidFill>
                  <a:srgbClr val="3333CC"/>
                </a:solidFill>
              </a:rPr>
              <a:t> </a:t>
            </a:r>
            <a:r>
              <a:rPr dirty="0" sz="2400" spc="-5">
                <a:solidFill>
                  <a:srgbClr val="3333CC"/>
                </a:solidFill>
              </a:rPr>
              <a:t>12.29	</a:t>
            </a:r>
            <a:r>
              <a:rPr dirty="0" sz="2000" spc="-5" i="1">
                <a:latin typeface="Times New Roman"/>
                <a:cs typeface="Times New Roman"/>
              </a:rPr>
              <a:t>General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rule and</a:t>
            </a:r>
            <a:r>
              <a:rPr dirty="0" sz="2000" spc="5" i="1">
                <a:latin typeface="Times New Roman"/>
                <a:cs typeface="Times New Roman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examples of creating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spc="-35" i="1">
                <a:latin typeface="Times New Roman"/>
                <a:cs typeface="Times New Roman"/>
              </a:rPr>
              <a:t>Walsh</a:t>
            </a:r>
            <a:r>
              <a:rPr dirty="0" sz="2000" spc="-5" i="1">
                <a:latin typeface="Times New Roman"/>
                <a:cs typeface="Times New Roman"/>
              </a:rPr>
              <a:t> tables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843" y="1767077"/>
            <a:ext cx="5987796" cy="45255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wrap="square" lIns="0" tIns="34925" rIns="0" bIns="0" rtlCol="0" vert="horz">
            <a:spAutoFit/>
          </a:bodyPr>
          <a:lstStyle/>
          <a:p>
            <a:pPr marL="1657985" marR="468630" indent="-1184275">
              <a:lnSpc>
                <a:spcPct val="100000"/>
              </a:lnSpc>
              <a:spcBef>
                <a:spcPts val="275"/>
              </a:spcBef>
            </a:pPr>
            <a:r>
              <a:rPr dirty="0" sz="3200" spc="-5" b="1">
                <a:latin typeface="Arial"/>
                <a:cs typeface="Arial"/>
              </a:rPr>
              <a:t>The </a:t>
            </a:r>
            <a:r>
              <a:rPr dirty="0" sz="3200" spc="-10" b="1">
                <a:latin typeface="Arial"/>
                <a:cs typeface="Arial"/>
              </a:rPr>
              <a:t>number </a:t>
            </a:r>
            <a:r>
              <a:rPr dirty="0" sz="3200" spc="-5" b="1">
                <a:latin typeface="Arial"/>
                <a:cs typeface="Arial"/>
              </a:rPr>
              <a:t>of </a:t>
            </a:r>
            <a:r>
              <a:rPr dirty="0" sz="3200" spc="-10" b="1">
                <a:latin typeface="Arial"/>
                <a:cs typeface="Arial"/>
              </a:rPr>
              <a:t>sequences </a:t>
            </a:r>
            <a:r>
              <a:rPr dirty="0" sz="3200" spc="-5" b="1">
                <a:latin typeface="Arial"/>
                <a:cs typeface="Arial"/>
              </a:rPr>
              <a:t>in a </a:t>
            </a:r>
            <a:r>
              <a:rPr dirty="0" sz="3200" spc="-35" b="1">
                <a:latin typeface="Arial"/>
                <a:cs typeface="Arial"/>
              </a:rPr>
              <a:t>Walsh </a:t>
            </a:r>
            <a:r>
              <a:rPr dirty="0" sz="3200" spc="-875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table</a:t>
            </a:r>
            <a:r>
              <a:rPr dirty="0" sz="3200" spc="-2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needs</a:t>
            </a:r>
            <a:r>
              <a:rPr dirty="0" sz="3200" spc="-3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to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be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N</a:t>
            </a:r>
            <a:r>
              <a:rPr dirty="0" sz="3200" spc="-10" b="1">
                <a:latin typeface="Arial"/>
                <a:cs typeface="Arial"/>
              </a:rPr>
              <a:t> </a:t>
            </a:r>
            <a:r>
              <a:rPr dirty="0" sz="3200" spc="-5" b="1">
                <a:latin typeface="Arial"/>
                <a:cs typeface="Arial"/>
              </a:rPr>
              <a:t>=</a:t>
            </a:r>
            <a:r>
              <a:rPr dirty="0" sz="3200" b="1">
                <a:latin typeface="Arial"/>
                <a:cs typeface="Arial"/>
              </a:rPr>
              <a:t> </a:t>
            </a:r>
            <a:r>
              <a:rPr dirty="0" sz="3200" spc="5" b="1">
                <a:latin typeface="Arial"/>
                <a:cs typeface="Arial"/>
              </a:rPr>
              <a:t>2</a:t>
            </a:r>
            <a:r>
              <a:rPr dirty="0" baseline="25132" sz="3150" spc="7" b="1">
                <a:latin typeface="Arial"/>
                <a:cs typeface="Arial"/>
              </a:rPr>
              <a:t>m</a:t>
            </a:r>
            <a:r>
              <a:rPr dirty="0" sz="3200" spc="5" b="1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1970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31373" y="1512824"/>
            <a:ext cx="7654290" cy="4735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latin typeface="Times New Roman"/>
                <a:cs typeface="Times New Roman"/>
              </a:rPr>
              <a:t>Find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chips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network</a:t>
            </a:r>
            <a:r>
              <a:rPr dirty="0" sz="2800" spc="-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with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tabLst>
                <a:tab pos="3228975" algn="l"/>
              </a:tabLst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r>
              <a:rPr dirty="0" sz="2800" spc="-1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40" b="1" i="1">
                <a:latin typeface="Times New Roman"/>
                <a:cs typeface="Times New Roman"/>
              </a:rPr>
              <a:t>Two</a:t>
            </a:r>
            <a:r>
              <a:rPr dirty="0" sz="2800" spc="-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stations	</a:t>
            </a: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b.</a:t>
            </a:r>
            <a:r>
              <a:rPr dirty="0" sz="2800" spc="-3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Four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stations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can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rows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of</a:t>
            </a:r>
            <a:r>
              <a:rPr dirty="0" sz="2800" spc="-60" b="1" i="1">
                <a:latin typeface="Times New Roman"/>
                <a:cs typeface="Times New Roman"/>
              </a:rPr>
              <a:t> </a:t>
            </a:r>
            <a:r>
              <a:rPr dirty="0" sz="2800" spc="10" b="1" i="1">
                <a:latin typeface="Times New Roman"/>
                <a:cs typeface="Times New Roman"/>
              </a:rPr>
              <a:t>W</a:t>
            </a:r>
            <a:r>
              <a:rPr dirty="0" baseline="-9009" sz="2775" spc="15" b="1" i="1">
                <a:latin typeface="Times New Roman"/>
                <a:cs typeface="Times New Roman"/>
              </a:rPr>
              <a:t>2</a:t>
            </a:r>
            <a:r>
              <a:rPr dirty="0" baseline="-9009" sz="2775" spc="352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and</a:t>
            </a:r>
            <a:r>
              <a:rPr dirty="0" sz="2800" spc="-6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</a:t>
            </a:r>
            <a:r>
              <a:rPr dirty="0" baseline="-9009" sz="2775" b="1" i="1">
                <a:latin typeface="Times New Roman"/>
                <a:cs typeface="Times New Roman"/>
              </a:rPr>
              <a:t>4</a:t>
            </a:r>
            <a:r>
              <a:rPr dirty="0" baseline="-9009" sz="2775" spc="359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in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Figure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12.29:</a:t>
            </a:r>
            <a:endParaRPr sz="2800">
              <a:latin typeface="Times New Roman"/>
              <a:cs typeface="Times New Roman"/>
            </a:endParaRPr>
          </a:p>
          <a:p>
            <a:pPr marL="418465" indent="-3556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1910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two-station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network,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we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</a:t>
            </a:r>
            <a:endParaRPr sz="2800">
              <a:latin typeface="Times New Roman"/>
              <a:cs typeface="Times New Roman"/>
            </a:endParaRPr>
          </a:p>
          <a:p>
            <a:pPr marL="246253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+1]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−1].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17195" indent="-354330">
              <a:lnSpc>
                <a:spcPct val="100000"/>
              </a:lnSpc>
              <a:buClr>
                <a:srgbClr val="FF0000"/>
              </a:buClr>
              <a:buAutoNum type="alphaLcPeriod" startAt="2"/>
              <a:tabLst>
                <a:tab pos="417830" algn="l"/>
              </a:tabLst>
            </a:pPr>
            <a:r>
              <a:rPr dirty="0" sz="2800" b="1" i="1">
                <a:latin typeface="Times New Roman"/>
                <a:cs typeface="Times New Roman"/>
              </a:rPr>
              <a:t>For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four-station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network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have</a:t>
            </a:r>
            <a:endParaRPr sz="2800">
              <a:latin typeface="Times New Roman"/>
              <a:cs typeface="Times New Roman"/>
            </a:endParaRPr>
          </a:p>
          <a:p>
            <a:pPr marL="210693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+1],</a:t>
            </a:r>
            <a:r>
              <a:rPr dirty="0" sz="2800" spc="-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 </a:t>
            </a:r>
            <a:r>
              <a:rPr dirty="0" sz="2800" b="1">
                <a:latin typeface="Times New Roman"/>
                <a:cs typeface="Times New Roman"/>
              </a:rPr>
              <a:t>+1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−1],</a:t>
            </a:r>
            <a:endParaRPr sz="2800">
              <a:latin typeface="Times New Roman"/>
              <a:cs typeface="Times New Roman"/>
            </a:endParaRPr>
          </a:p>
          <a:p>
            <a:pPr marL="1573530">
              <a:lnSpc>
                <a:spcPct val="100000"/>
              </a:lnSpc>
              <a:tabLst>
                <a:tab pos="3869054" algn="l"/>
                <a:tab pos="4690110" algn="l"/>
              </a:tabLst>
            </a:pP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−1],	</a:t>
            </a:r>
            <a:r>
              <a:rPr dirty="0" sz="2800" b="1" i="1">
                <a:latin typeface="Times New Roman"/>
                <a:cs typeface="Times New Roman"/>
              </a:rPr>
              <a:t>and	</a:t>
            </a:r>
            <a:r>
              <a:rPr dirty="0" sz="2800" b="1">
                <a:latin typeface="Times New Roman"/>
                <a:cs typeface="Times New Roman"/>
              </a:rPr>
              <a:t>[+1</a:t>
            </a:r>
            <a:r>
              <a:rPr dirty="0" sz="2800" spc="-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−1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+1].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67864" y="1512824"/>
            <a:ext cx="8653780" cy="3028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marR="177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What</a:t>
            </a:r>
            <a:r>
              <a:rPr dirty="0" sz="2800" spc="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is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number</a:t>
            </a:r>
            <a:r>
              <a:rPr dirty="0" sz="2800" spc="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sequences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if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we</a:t>
            </a:r>
            <a:r>
              <a:rPr dirty="0" sz="2800" spc="3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have</a:t>
            </a:r>
            <a:r>
              <a:rPr dirty="0" sz="2800" spc="1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90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stations</a:t>
            </a:r>
            <a:r>
              <a:rPr dirty="0" sz="2800" spc="2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in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our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network?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algn="just" marL="50800" marR="92710">
              <a:lnSpc>
                <a:spcPct val="100000"/>
              </a:lnSpc>
            </a:pPr>
            <a:r>
              <a:rPr dirty="0" sz="2800" spc="-5" b="1" i="1">
                <a:latin typeface="Times New Roman"/>
                <a:cs typeface="Times New Roman"/>
              </a:rPr>
              <a:t>The number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sequences needs to </a:t>
            </a:r>
            <a:r>
              <a:rPr dirty="0" sz="2800" b="1" i="1">
                <a:latin typeface="Times New Roman"/>
                <a:cs typeface="Times New Roman"/>
              </a:rPr>
              <a:t>be 2</a:t>
            </a:r>
            <a:r>
              <a:rPr dirty="0" baseline="25525" sz="2775" b="1" i="1">
                <a:latin typeface="Times New Roman"/>
                <a:cs typeface="Times New Roman"/>
              </a:rPr>
              <a:t>m</a:t>
            </a:r>
            <a:r>
              <a:rPr dirty="0" sz="2800" b="1" i="1">
                <a:latin typeface="Times New Roman"/>
                <a:cs typeface="Times New Roman"/>
              </a:rPr>
              <a:t>. </a:t>
            </a:r>
            <a:r>
              <a:rPr dirty="0" sz="2800" spc="-110" b="1" i="1">
                <a:latin typeface="Times New Roman"/>
                <a:cs typeface="Times New Roman"/>
              </a:rPr>
              <a:t>We</a:t>
            </a:r>
            <a:r>
              <a:rPr dirty="0" sz="2800" spc="-10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need to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choose</a:t>
            </a:r>
            <a:r>
              <a:rPr dirty="0" sz="2800" spc="4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m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7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and</a:t>
            </a:r>
            <a:r>
              <a:rPr dirty="0" sz="2800" spc="4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N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2</a:t>
            </a:r>
            <a:r>
              <a:rPr dirty="0" baseline="25525" sz="2775" b="1" i="1">
                <a:latin typeface="Times New Roman"/>
                <a:cs typeface="Times New Roman"/>
              </a:rPr>
              <a:t>7</a:t>
            </a:r>
            <a:r>
              <a:rPr dirty="0" baseline="25525" sz="2775" spc="397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or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128.</a:t>
            </a:r>
            <a:r>
              <a:rPr dirty="0" sz="2800" spc="480" b="1" i="1">
                <a:latin typeface="Times New Roman"/>
                <a:cs typeface="Times New Roman"/>
              </a:rPr>
              <a:t> </a:t>
            </a:r>
            <a:r>
              <a:rPr dirty="0" sz="2800" spc="-110" b="1" i="1">
                <a:latin typeface="Times New Roman"/>
                <a:cs typeface="Times New Roman"/>
              </a:rPr>
              <a:t>We  </a:t>
            </a:r>
            <a:r>
              <a:rPr dirty="0" sz="2800" spc="-5" b="1" i="1">
                <a:latin typeface="Times New Roman"/>
                <a:cs typeface="Times New Roman"/>
              </a:rPr>
              <a:t>can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then</a:t>
            </a:r>
            <a:r>
              <a:rPr dirty="0" sz="2800" spc="48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use</a:t>
            </a:r>
            <a:r>
              <a:rPr dirty="0" sz="2800" spc="4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90 </a:t>
            </a:r>
            <a:r>
              <a:rPr dirty="0" sz="2800" spc="-69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sequences</a:t>
            </a:r>
            <a:r>
              <a:rPr dirty="0" sz="2800" spc="-3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as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chips.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6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3297649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4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43975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4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90288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49810" y="13417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0"/>
                </a:lnTo>
                <a:lnTo>
                  <a:pt x="46192" y="28103"/>
                </a:lnTo>
                <a:lnTo>
                  <a:pt x="49810" y="13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36627" y="5517641"/>
            <a:ext cx="50165" cy="48895"/>
          </a:xfrm>
          <a:custGeom>
            <a:avLst/>
            <a:gdLst/>
            <a:ahLst/>
            <a:cxnLst/>
            <a:rect l="l" t="t" r="r" b="b"/>
            <a:pathLst>
              <a:path w="50165" h="48895">
                <a:moveTo>
                  <a:pt x="49810" y="13423"/>
                </a:moveTo>
                <a:lnTo>
                  <a:pt x="41320" y="1523"/>
                </a:lnTo>
                <a:lnTo>
                  <a:pt x="37510" y="0"/>
                </a:lnTo>
                <a:lnTo>
                  <a:pt x="32938" y="0"/>
                </a:lnTo>
                <a:lnTo>
                  <a:pt x="27604" y="0"/>
                </a:lnTo>
                <a:lnTo>
                  <a:pt x="22270" y="1524"/>
                </a:lnTo>
                <a:lnTo>
                  <a:pt x="9570" y="10026"/>
                </a:lnTo>
                <a:lnTo>
                  <a:pt x="734" y="24060"/>
                </a:lnTo>
                <a:lnTo>
                  <a:pt x="0" y="38446"/>
                </a:lnTo>
                <a:lnTo>
                  <a:pt x="11602" y="48006"/>
                </a:lnTo>
                <a:lnTo>
                  <a:pt x="16174" y="48768"/>
                </a:lnTo>
                <a:lnTo>
                  <a:pt x="21508" y="48006"/>
                </a:lnTo>
                <a:lnTo>
                  <a:pt x="35185" y="41121"/>
                </a:lnTo>
                <a:lnTo>
                  <a:pt x="46192" y="28108"/>
                </a:lnTo>
                <a:lnTo>
                  <a:pt x="49810" y="13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44073" y="1512824"/>
            <a:ext cx="8630285" cy="507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165" marR="6858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Prove that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-5" b="1" i="1">
                <a:latin typeface="Times New Roman"/>
                <a:cs typeface="Times New Roman"/>
              </a:rPr>
              <a:t>receiving station can get the data sent by </a:t>
            </a:r>
            <a:r>
              <a:rPr dirty="0" sz="2800" b="1" i="1">
                <a:latin typeface="Times New Roman"/>
                <a:cs typeface="Times New Roman"/>
              </a:rPr>
              <a:t>a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specific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sender</a:t>
            </a:r>
            <a:r>
              <a:rPr dirty="0" sz="2800" b="1" i="1">
                <a:latin typeface="Times New Roman"/>
                <a:cs typeface="Times New Roman"/>
              </a:rPr>
              <a:t> if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it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multiplies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entire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data</a:t>
            </a:r>
            <a:r>
              <a:rPr dirty="0" sz="2800" b="1" i="1">
                <a:latin typeface="Times New Roman"/>
                <a:cs typeface="Times New Roman"/>
              </a:rPr>
              <a:t> on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</a:t>
            </a:r>
            <a:r>
              <a:rPr dirty="0" sz="280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channel by the </a:t>
            </a:r>
            <a:r>
              <a:rPr dirty="0" sz="2800" spc="-20" b="1" i="1">
                <a:latin typeface="Times New Roman"/>
                <a:cs typeface="Times New Roman"/>
              </a:rPr>
              <a:t>sender’s </a:t>
            </a:r>
            <a:r>
              <a:rPr dirty="0" sz="2800" spc="-5" b="1" i="1">
                <a:latin typeface="Times New Roman"/>
                <a:cs typeface="Times New Roman"/>
              </a:rPr>
              <a:t>chip code and then divides it by </a:t>
            </a:r>
            <a:r>
              <a:rPr dirty="0" sz="2800" b="1" i="1">
                <a:latin typeface="Times New Roman"/>
                <a:cs typeface="Times New Roman"/>
              </a:rPr>
              <a:t> 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number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of </a:t>
            </a:r>
            <a:r>
              <a:rPr dirty="0" sz="2800" spc="-5" b="1" i="1">
                <a:latin typeface="Times New Roman"/>
                <a:cs typeface="Times New Roman"/>
              </a:rPr>
              <a:t>stations.</a:t>
            </a:r>
            <a:endParaRPr sz="2800">
              <a:latin typeface="Times New Roman"/>
              <a:cs typeface="Times New Roman"/>
            </a:endParaRPr>
          </a:p>
          <a:p>
            <a:pPr algn="ctr" marR="7272655">
              <a:lnSpc>
                <a:spcPct val="100000"/>
              </a:lnSpc>
              <a:spcBef>
                <a:spcPts val="276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algn="ctr" marL="50800" marR="68580" indent="-635">
              <a:lnSpc>
                <a:spcPct val="100000"/>
              </a:lnSpc>
              <a:tabLst>
                <a:tab pos="1958339" algn="l"/>
                <a:tab pos="3436620" algn="l"/>
                <a:tab pos="4050665" algn="l"/>
                <a:tab pos="4751705" algn="l"/>
                <a:tab pos="5393055" algn="l"/>
                <a:tab pos="6133465" algn="l"/>
                <a:tab pos="6755130" algn="l"/>
                <a:tab pos="7554595" algn="l"/>
                <a:tab pos="809879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Let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prove</a:t>
            </a:r>
            <a:r>
              <a:rPr dirty="0" sz="2800" spc="25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this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first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station,</a:t>
            </a:r>
            <a:r>
              <a:rPr dirty="0" sz="2800" spc="254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using</a:t>
            </a:r>
            <a:r>
              <a:rPr dirty="0" sz="2800" spc="26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our</a:t>
            </a:r>
            <a:r>
              <a:rPr dirty="0" sz="2800" spc="26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previous </a:t>
            </a:r>
            <a:r>
              <a:rPr dirty="0" sz="2800" spc="-68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four-</a:t>
            </a:r>
            <a:r>
              <a:rPr dirty="0" sz="2800" spc="-5" b="1" i="1">
                <a:latin typeface="Times New Roman"/>
                <a:cs typeface="Times New Roman"/>
              </a:rPr>
              <a:t>statio</a:t>
            </a:r>
            <a:r>
              <a:rPr dirty="0" sz="2800" b="1" i="1">
                <a:latin typeface="Times New Roman"/>
                <a:cs typeface="Times New Roman"/>
              </a:rPr>
              <a:t>n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exampl</a:t>
            </a:r>
            <a:r>
              <a:rPr dirty="0" sz="2800" spc="-1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.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215" b="1" i="1">
                <a:latin typeface="Times New Roman"/>
                <a:cs typeface="Times New Roman"/>
              </a:rPr>
              <a:t>W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ca</a:t>
            </a:r>
            <a:r>
              <a:rPr dirty="0" sz="2800" b="1" i="1">
                <a:latin typeface="Times New Roman"/>
                <a:cs typeface="Times New Roman"/>
              </a:rPr>
              <a:t>n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sa</a:t>
            </a:r>
            <a:r>
              <a:rPr dirty="0" sz="2800" b="1" i="1">
                <a:latin typeface="Times New Roman"/>
                <a:cs typeface="Times New Roman"/>
              </a:rPr>
              <a:t>y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that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th</a:t>
            </a:r>
            <a:r>
              <a:rPr dirty="0" sz="2800" b="1" i="1">
                <a:latin typeface="Times New Roman"/>
                <a:cs typeface="Times New Roman"/>
              </a:rPr>
              <a:t>e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dat</a:t>
            </a:r>
            <a:r>
              <a:rPr dirty="0" sz="2800" b="1" i="1">
                <a:latin typeface="Times New Roman"/>
                <a:cs typeface="Times New Roman"/>
              </a:rPr>
              <a:t>a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b="1" i="1">
                <a:latin typeface="Times New Roman"/>
                <a:cs typeface="Times New Roman"/>
              </a:rPr>
              <a:t>on</a:t>
            </a:r>
            <a:r>
              <a:rPr dirty="0" sz="2800" b="1" i="1">
                <a:latin typeface="Times New Roman"/>
                <a:cs typeface="Times New Roman"/>
              </a:rPr>
              <a:t>	</a:t>
            </a:r>
            <a:r>
              <a:rPr dirty="0" sz="2800" spc="-5" b="1" i="1">
                <a:latin typeface="Times New Roman"/>
                <a:cs typeface="Times New Roman"/>
              </a:rPr>
              <a:t>the  </a:t>
            </a:r>
            <a:r>
              <a:rPr dirty="0" sz="2800" b="1" i="1">
                <a:latin typeface="Times New Roman"/>
                <a:cs typeface="Times New Roman"/>
              </a:rPr>
              <a:t>channel</a:t>
            </a:r>
            <a:endParaRPr sz="2800">
              <a:latin typeface="Times New Roman"/>
              <a:cs typeface="Times New Roman"/>
            </a:endParaRPr>
          </a:p>
          <a:p>
            <a:pPr algn="just" marL="50800" marR="68580" indent="533400">
              <a:lnSpc>
                <a:spcPct val="100000"/>
              </a:lnSpc>
            </a:pP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=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(d</a:t>
            </a:r>
            <a:r>
              <a:rPr dirty="0" baseline="-9009" sz="2775" b="1" i="1">
                <a:latin typeface="Times New Roman"/>
                <a:cs typeface="Times New Roman"/>
              </a:rPr>
              <a:t>1          </a:t>
            </a:r>
            <a:r>
              <a:rPr dirty="0" sz="2800" spc="-5" b="1" i="1">
                <a:latin typeface="Times New Roman"/>
                <a:cs typeface="Times New Roman"/>
              </a:rPr>
              <a:t>c</a:t>
            </a:r>
            <a:r>
              <a:rPr dirty="0" baseline="-9009" sz="2775" spc="-7" b="1" i="1">
                <a:latin typeface="Times New Roman"/>
                <a:cs typeface="Times New Roman"/>
              </a:rPr>
              <a:t>1</a:t>
            </a:r>
            <a:r>
              <a:rPr dirty="0" baseline="-9009" sz="2775" spc="675" b="1" i="1">
                <a:latin typeface="Times New Roman"/>
                <a:cs typeface="Times New Roman"/>
              </a:rPr>
              <a:t> </a:t>
            </a:r>
            <a:r>
              <a:rPr dirty="0" baseline="-9009" sz="2775" spc="6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+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baseline="-9009" sz="2775" b="1" i="1">
                <a:latin typeface="Times New Roman"/>
                <a:cs typeface="Times New Roman"/>
              </a:rPr>
              <a:t>2         </a:t>
            </a:r>
            <a:r>
              <a:rPr dirty="0" sz="2800" spc="-5" b="1" i="1">
                <a:latin typeface="Times New Roman"/>
                <a:cs typeface="Times New Roman"/>
              </a:rPr>
              <a:t>c</a:t>
            </a:r>
            <a:r>
              <a:rPr dirty="0" baseline="-9009" sz="2775" spc="-7" b="1" i="1">
                <a:latin typeface="Times New Roman"/>
                <a:cs typeface="Times New Roman"/>
              </a:rPr>
              <a:t>2</a:t>
            </a:r>
            <a:r>
              <a:rPr dirty="0" baseline="-9009" sz="2775" spc="675" b="1" i="1">
                <a:latin typeface="Times New Roman"/>
                <a:cs typeface="Times New Roman"/>
              </a:rPr>
              <a:t> </a:t>
            </a:r>
            <a:r>
              <a:rPr dirty="0" baseline="-9009" sz="2775" spc="682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+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baseline="-9009" sz="2775" b="1" i="1">
                <a:latin typeface="Times New Roman"/>
                <a:cs typeface="Times New Roman"/>
              </a:rPr>
              <a:t>3         </a:t>
            </a:r>
            <a:r>
              <a:rPr dirty="0" sz="2800" spc="-5" b="1" i="1">
                <a:latin typeface="Times New Roman"/>
                <a:cs typeface="Times New Roman"/>
              </a:rPr>
              <a:t>c</a:t>
            </a:r>
            <a:r>
              <a:rPr dirty="0" baseline="-9009" sz="2775" spc="-7" b="1" i="1">
                <a:latin typeface="Times New Roman"/>
                <a:cs typeface="Times New Roman"/>
              </a:rPr>
              <a:t>3</a:t>
            </a:r>
            <a:r>
              <a:rPr dirty="0" baseline="-9009" sz="2775" spc="675" b="1" i="1">
                <a:latin typeface="Times New Roman"/>
                <a:cs typeface="Times New Roman"/>
              </a:rPr>
              <a:t> </a:t>
            </a:r>
            <a:r>
              <a:rPr dirty="0" baseline="-9009" sz="2775" spc="67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+</a:t>
            </a:r>
            <a:r>
              <a:rPr dirty="0" sz="2800" spc="70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baseline="-9009" sz="2775" b="1" i="1">
                <a:latin typeface="Times New Roman"/>
                <a:cs typeface="Times New Roman"/>
              </a:rPr>
              <a:t>4         </a:t>
            </a:r>
            <a:r>
              <a:rPr dirty="0" sz="2800" b="1" i="1">
                <a:latin typeface="Times New Roman"/>
                <a:cs typeface="Times New Roman"/>
              </a:rPr>
              <a:t>c</a:t>
            </a:r>
            <a:r>
              <a:rPr dirty="0" baseline="-9009" sz="2775" b="1" i="1">
                <a:latin typeface="Times New Roman"/>
                <a:cs typeface="Times New Roman"/>
              </a:rPr>
              <a:t>4</a:t>
            </a:r>
            <a:r>
              <a:rPr dirty="0" sz="2800" b="1" i="1">
                <a:latin typeface="Times New Roman"/>
                <a:cs typeface="Times New Roman"/>
              </a:rPr>
              <a:t>).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The receiver which wants to get the data sent </a:t>
            </a:r>
            <a:r>
              <a:rPr dirty="0" sz="2800" b="1" i="1">
                <a:latin typeface="Times New Roman"/>
                <a:cs typeface="Times New Roman"/>
              </a:rPr>
              <a:t>by </a:t>
            </a:r>
            <a:r>
              <a:rPr dirty="0" sz="2800" spc="-5" b="1" i="1">
                <a:latin typeface="Times New Roman"/>
                <a:cs typeface="Times New Roman"/>
              </a:rPr>
              <a:t>station </a:t>
            </a:r>
            <a:r>
              <a:rPr dirty="0" sz="2800" b="1" i="1">
                <a:latin typeface="Times New Roman"/>
                <a:cs typeface="Times New Roman"/>
              </a:rPr>
              <a:t>1 </a:t>
            </a:r>
            <a:r>
              <a:rPr dirty="0" sz="2800" spc="5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multiplies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these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data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by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c</a:t>
            </a:r>
            <a:r>
              <a:rPr dirty="0" baseline="-9009" sz="2775" b="1" i="1">
                <a:latin typeface="Times New Roman"/>
                <a:cs typeface="Times New Roman"/>
              </a:rPr>
              <a:t>1</a:t>
            </a:r>
            <a:r>
              <a:rPr dirty="0"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12.8</a:t>
            </a:r>
            <a:r>
              <a:rPr dirty="0" spc="-15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108200" y="2273045"/>
            <a:ext cx="6477635" cy="1617980"/>
            <a:chOff x="2108200" y="2273045"/>
            <a:chExt cx="6477635" cy="161798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8537" y="2331719"/>
              <a:ext cx="6359652" cy="5890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108200" y="2273058"/>
              <a:ext cx="6477000" cy="647700"/>
            </a:xfrm>
            <a:custGeom>
              <a:avLst/>
              <a:gdLst/>
              <a:ahLst/>
              <a:cxnLst/>
              <a:rect l="l" t="t" r="r" b="b"/>
              <a:pathLst>
                <a:path w="6477000" h="647700">
                  <a:moveTo>
                    <a:pt x="6431280" y="45720"/>
                  </a:moveTo>
                  <a:lnTo>
                    <a:pt x="641985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647700"/>
                  </a:lnTo>
                  <a:lnTo>
                    <a:pt x="57150" y="647700"/>
                  </a:lnTo>
                  <a:lnTo>
                    <a:pt x="57150" y="57150"/>
                  </a:lnTo>
                  <a:lnTo>
                    <a:pt x="6419850" y="57150"/>
                  </a:lnTo>
                  <a:lnTo>
                    <a:pt x="6419850" y="647700"/>
                  </a:lnTo>
                  <a:lnTo>
                    <a:pt x="6431280" y="647700"/>
                  </a:lnTo>
                  <a:lnTo>
                    <a:pt x="6431280" y="45720"/>
                  </a:lnTo>
                  <a:close/>
                </a:path>
                <a:path w="6477000" h="647700">
                  <a:moveTo>
                    <a:pt x="6477000" y="0"/>
                  </a:moveTo>
                  <a:lnTo>
                    <a:pt x="644271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34290" y="647700"/>
                  </a:lnTo>
                  <a:lnTo>
                    <a:pt x="34290" y="34290"/>
                  </a:lnTo>
                  <a:lnTo>
                    <a:pt x="6442710" y="34290"/>
                  </a:lnTo>
                  <a:lnTo>
                    <a:pt x="6442710" y="647700"/>
                  </a:lnTo>
                  <a:lnTo>
                    <a:pt x="6477000" y="64770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8537" y="2920745"/>
              <a:ext cx="6359651" cy="8572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08339" y="2920758"/>
              <a:ext cx="6477000" cy="857250"/>
            </a:xfrm>
            <a:custGeom>
              <a:avLst/>
              <a:gdLst/>
              <a:ahLst/>
              <a:cxnLst/>
              <a:rect l="l" t="t" r="r" b="b"/>
              <a:pathLst>
                <a:path w="6477000" h="857250">
                  <a:moveTo>
                    <a:pt x="34277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34277" y="857250"/>
                  </a:lnTo>
                  <a:lnTo>
                    <a:pt x="34277" y="0"/>
                  </a:lnTo>
                  <a:close/>
                </a:path>
                <a:path w="6477000" h="857250">
                  <a:moveTo>
                    <a:pt x="57137" y="0"/>
                  </a:moveTo>
                  <a:lnTo>
                    <a:pt x="45720" y="0"/>
                  </a:lnTo>
                  <a:lnTo>
                    <a:pt x="45720" y="857250"/>
                  </a:lnTo>
                  <a:lnTo>
                    <a:pt x="57137" y="857250"/>
                  </a:lnTo>
                  <a:lnTo>
                    <a:pt x="57137" y="0"/>
                  </a:lnTo>
                  <a:close/>
                </a:path>
                <a:path w="6477000" h="857250">
                  <a:moveTo>
                    <a:pt x="6431280" y="0"/>
                  </a:moveTo>
                  <a:lnTo>
                    <a:pt x="6419850" y="0"/>
                  </a:lnTo>
                  <a:lnTo>
                    <a:pt x="6419850" y="857250"/>
                  </a:lnTo>
                  <a:lnTo>
                    <a:pt x="6431280" y="857250"/>
                  </a:lnTo>
                  <a:lnTo>
                    <a:pt x="6431280" y="0"/>
                  </a:lnTo>
                  <a:close/>
                </a:path>
                <a:path w="6477000" h="857250">
                  <a:moveTo>
                    <a:pt x="6477000" y="0"/>
                  </a:moveTo>
                  <a:lnTo>
                    <a:pt x="6442710" y="0"/>
                  </a:lnTo>
                  <a:lnTo>
                    <a:pt x="6442710" y="857250"/>
                  </a:lnTo>
                  <a:lnTo>
                    <a:pt x="6477000" y="85725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8537" y="3777995"/>
              <a:ext cx="6359651" cy="556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08200" y="3778008"/>
              <a:ext cx="6477000" cy="113030"/>
            </a:xfrm>
            <a:custGeom>
              <a:avLst/>
              <a:gdLst/>
              <a:ahLst/>
              <a:cxnLst/>
              <a:rect l="l" t="t" r="r" b="b"/>
              <a:pathLst>
                <a:path w="6477000" h="113029">
                  <a:moveTo>
                    <a:pt x="6431280" y="0"/>
                  </a:moveTo>
                  <a:lnTo>
                    <a:pt x="6419850" y="0"/>
                  </a:lnTo>
                  <a:lnTo>
                    <a:pt x="6419850" y="55626"/>
                  </a:lnTo>
                  <a:lnTo>
                    <a:pt x="57150" y="55626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67056"/>
                  </a:lnTo>
                  <a:lnTo>
                    <a:pt x="57150" y="67056"/>
                  </a:lnTo>
                  <a:lnTo>
                    <a:pt x="6419850" y="67056"/>
                  </a:lnTo>
                  <a:lnTo>
                    <a:pt x="6431280" y="67056"/>
                  </a:lnTo>
                  <a:lnTo>
                    <a:pt x="6431280" y="0"/>
                  </a:lnTo>
                  <a:close/>
                </a:path>
                <a:path w="6477000" h="113029">
                  <a:moveTo>
                    <a:pt x="6477000" y="0"/>
                  </a:moveTo>
                  <a:lnTo>
                    <a:pt x="6442710" y="0"/>
                  </a:lnTo>
                  <a:lnTo>
                    <a:pt x="6442710" y="78486"/>
                  </a:lnTo>
                  <a:lnTo>
                    <a:pt x="34290" y="78486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12776"/>
                  </a:lnTo>
                  <a:lnTo>
                    <a:pt x="34290" y="112776"/>
                  </a:lnTo>
                  <a:lnTo>
                    <a:pt x="6442710" y="112776"/>
                  </a:lnTo>
                  <a:lnTo>
                    <a:pt x="6477000" y="112776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56773" y="4179823"/>
            <a:ext cx="624141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latin typeface="Times New Roman"/>
                <a:cs typeface="Times New Roman"/>
              </a:rPr>
              <a:t>When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we</a:t>
            </a:r>
            <a:r>
              <a:rPr dirty="0" sz="2800" spc="-1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divide</a:t>
            </a:r>
            <a:r>
              <a:rPr dirty="0" sz="2800" spc="-35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the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result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by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N, we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get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d</a:t>
            </a:r>
            <a:r>
              <a:rPr dirty="0" baseline="-9009" sz="2775" b="1" i="1">
                <a:latin typeface="Times New Roman"/>
                <a:cs typeface="Times New Roman"/>
              </a:rPr>
              <a:t>1</a:t>
            </a:r>
            <a:r>
              <a:rPr dirty="0" baseline="-9009" sz="2775" spc="-7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0"/>
              </a:lnSpc>
            </a:pPr>
            <a:r>
              <a:rPr dirty="0" spc="-5"/>
              <a:t>12.</a:t>
            </a:r>
            <a:fld id="{81D60167-4931-47E6-BA6A-407CBD079E47}" type="slidenum">
              <a:rPr dirty="0" spc="-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Noi</dc:creator>
  <dc:title>Microsoft PowerPoint - ch12.ppt [Compatibility Mode]</dc:title>
  <dcterms:created xsi:type="dcterms:W3CDTF">2023-10-27T17:02:19Z</dcterms:created>
  <dcterms:modified xsi:type="dcterms:W3CDTF">2023-10-27T17:02:19Z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2023-10-27T00:00:00Z</vt:filetime>
  </property>
</Properties>
</file>