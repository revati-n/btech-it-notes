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9146" y="447547"/>
            <a:ext cx="821510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1917" y="1512824"/>
            <a:ext cx="852956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7373" y="6860953"/>
            <a:ext cx="672465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4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3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5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7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8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0.pn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1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3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5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7.pn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8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39" y="348995"/>
            <a:ext cx="9144000" cy="10972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5461" y="2576270"/>
            <a:ext cx="4682490" cy="1976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899794">
              <a:lnSpc>
                <a:spcPct val="145500"/>
              </a:lnSpc>
              <a:spcBef>
                <a:spcPts val="95"/>
              </a:spcBef>
            </a:pPr>
            <a:r>
              <a:rPr dirty="0" sz="4400" spc="-10">
                <a:solidFill>
                  <a:srgbClr val="33339A"/>
                </a:solidFill>
                <a:latin typeface="Arial"/>
                <a:cs typeface="Arial"/>
              </a:rPr>
              <a:t>Chapter </a:t>
            </a:r>
            <a:r>
              <a:rPr dirty="0" sz="4400" spc="-125">
                <a:solidFill>
                  <a:srgbClr val="33339A"/>
                </a:solidFill>
                <a:latin typeface="Arial"/>
                <a:cs typeface="Arial"/>
              </a:rPr>
              <a:t>11 </a:t>
            </a:r>
            <a:r>
              <a:rPr dirty="0" sz="4400" spc="-12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4400" spc="-5">
                <a:latin typeface="Arial"/>
                <a:cs typeface="Arial"/>
              </a:rPr>
              <a:t>Data</a:t>
            </a:r>
            <a:r>
              <a:rPr dirty="0" sz="4400" spc="-30">
                <a:latin typeface="Arial"/>
                <a:cs typeface="Arial"/>
              </a:rPr>
              <a:t> </a:t>
            </a:r>
            <a:r>
              <a:rPr dirty="0" sz="4400" spc="-5">
                <a:latin typeface="Arial"/>
                <a:cs typeface="Arial"/>
              </a:rPr>
              <a:t>Link</a:t>
            </a:r>
            <a:r>
              <a:rPr dirty="0" sz="4400" spc="-20">
                <a:latin typeface="Arial"/>
                <a:cs typeface="Arial"/>
              </a:rPr>
              <a:t> </a:t>
            </a:r>
            <a:r>
              <a:rPr dirty="0" sz="4400" spc="-5">
                <a:latin typeface="Arial"/>
                <a:cs typeface="Arial"/>
              </a:rPr>
              <a:t>Control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373" y="6836916"/>
            <a:ext cx="5060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14" b="1">
                <a:solidFill>
                  <a:srgbClr val="1B1B1B"/>
                </a:solidFill>
                <a:latin typeface="Arial"/>
                <a:cs typeface="Arial"/>
              </a:rPr>
              <a:t>1</a:t>
            </a:r>
            <a:r>
              <a:rPr dirty="0" sz="2000" spc="-10" b="1">
                <a:solidFill>
                  <a:srgbClr val="1B1B1B"/>
                </a:solidFill>
                <a:latin typeface="Arial"/>
                <a:cs typeface="Arial"/>
              </a:rPr>
              <a:t>1</a:t>
            </a: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.1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3763" y="6884160"/>
            <a:ext cx="5946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Copyright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McGraw-Hill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Companies,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Permission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required for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reproduction 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display.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11-1	</a:t>
            </a:r>
            <a:r>
              <a:rPr dirty="0" spc="-5"/>
              <a:t>FRAMING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774839" y="291999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8337" y="2123948"/>
            <a:ext cx="8070850" cy="4052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 data link layer needs to pack bits into </a:t>
            </a:r>
            <a:r>
              <a:rPr dirty="0" sz="2800" spc="-95" b="1" i="1">
                <a:solidFill>
                  <a:srgbClr val="FF0000"/>
                </a:solidFill>
                <a:latin typeface="Times New Roman"/>
                <a:cs typeface="Times New Roman"/>
              </a:rPr>
              <a:t>frames</a:t>
            </a:r>
            <a:r>
              <a:rPr dirty="0" sz="2800" spc="-95" b="1" i="1">
                <a:latin typeface="Times New Roman"/>
                <a:cs typeface="Times New Roman"/>
              </a:rPr>
              <a:t>,, </a:t>
            </a:r>
            <a:r>
              <a:rPr dirty="0" sz="2800" spc="-5" b="1" i="1">
                <a:latin typeface="Times New Roman"/>
                <a:cs typeface="Times New Roman"/>
              </a:rPr>
              <a:t>so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 each frame is distinguishable from </a:t>
            </a:r>
            <a:r>
              <a:rPr dirty="0" sz="2800" spc="-210" b="1" i="1">
                <a:latin typeface="Times New Roman"/>
                <a:cs typeface="Times New Roman"/>
              </a:rPr>
              <a:t>another....</a:t>
            </a:r>
            <a:r>
              <a:rPr dirty="0" sz="2800" spc="-20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Our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postal system practices </a:t>
            </a:r>
            <a:r>
              <a:rPr dirty="0" sz="2800" b="1" i="1">
                <a:latin typeface="Times New Roman"/>
                <a:cs typeface="Times New Roman"/>
              </a:rPr>
              <a:t>a type </a:t>
            </a:r>
            <a:r>
              <a:rPr dirty="0" sz="2800" spc="-5" b="1" i="1">
                <a:latin typeface="Times New Roman"/>
                <a:cs typeface="Times New Roman"/>
              </a:rPr>
              <a:t>of framing. The simple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act of inserting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letter </a:t>
            </a:r>
            <a:r>
              <a:rPr dirty="0" sz="2800" b="1" i="1">
                <a:latin typeface="Times New Roman"/>
                <a:cs typeface="Times New Roman"/>
              </a:rPr>
              <a:t>into </a:t>
            </a:r>
            <a:r>
              <a:rPr dirty="0" sz="2800" spc="-5" b="1" i="1">
                <a:latin typeface="Times New Roman"/>
                <a:cs typeface="Times New Roman"/>
              </a:rPr>
              <a:t>an envelope separates </a:t>
            </a:r>
            <a:r>
              <a:rPr dirty="0" sz="2800" b="1" i="1">
                <a:latin typeface="Times New Roman"/>
                <a:cs typeface="Times New Roman"/>
              </a:rPr>
              <a:t>one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piece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information from another; the envelope </a:t>
            </a:r>
            <a:r>
              <a:rPr dirty="0" sz="2800" spc="-10" b="1" i="1">
                <a:latin typeface="Times New Roman"/>
                <a:cs typeface="Times New Roman"/>
              </a:rPr>
              <a:t>serves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spc="-145" b="1" i="1">
                <a:latin typeface="Times New Roman"/>
                <a:cs typeface="Times New Roman"/>
              </a:rPr>
              <a:t>delimiter..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030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1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5108575">
              <a:lnSpc>
                <a:spcPct val="100000"/>
              </a:lnSpc>
              <a:spcBef>
                <a:spcPts val="400"/>
              </a:spcBef>
            </a:pP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Fixed-Size Framing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0033CC"/>
                </a:solidFill>
                <a:latin typeface="Times New Roman"/>
                <a:cs typeface="Times New Roman"/>
              </a:rPr>
              <a:t>Variable-Size</a:t>
            </a:r>
            <a:r>
              <a:rPr dirty="0" sz="2400" spc="-8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Framing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629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11.1	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spc="-10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 in a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character-oriented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39" y="2949702"/>
            <a:ext cx="7158228" cy="99364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5847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11.2	</a:t>
            </a:r>
            <a:r>
              <a:rPr dirty="0" sz="2000" spc="-5" i="1">
                <a:latin typeface="Times New Roman"/>
                <a:cs typeface="Times New Roman"/>
              </a:rPr>
              <a:t>Byte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stuffing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unstuffing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1924050"/>
            <a:ext cx="7331202" cy="40637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241935" marR="23558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Byte </a:t>
            </a:r>
            <a:r>
              <a:rPr dirty="0" sz="3200" spc="-10" b="1">
                <a:latin typeface="Arial"/>
                <a:cs typeface="Arial"/>
              </a:rPr>
              <a:t>stuffing </a:t>
            </a:r>
            <a:r>
              <a:rPr dirty="0" sz="3200" spc="-5" b="1">
                <a:latin typeface="Arial"/>
                <a:cs typeface="Arial"/>
              </a:rPr>
              <a:t>is the process of </a:t>
            </a:r>
            <a:r>
              <a:rPr dirty="0" sz="3200" spc="-10" b="1">
                <a:latin typeface="Arial"/>
                <a:cs typeface="Arial"/>
              </a:rPr>
              <a:t>adding </a:t>
            </a:r>
            <a:r>
              <a:rPr dirty="0" sz="3200" spc="-5" b="1">
                <a:latin typeface="Arial"/>
                <a:cs typeface="Arial"/>
              </a:rPr>
              <a:t>1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extra byte whenever there is a flag </a:t>
            </a:r>
            <a:r>
              <a:rPr dirty="0" sz="3200" spc="-10" b="1">
                <a:latin typeface="Arial"/>
                <a:cs typeface="Arial"/>
              </a:rPr>
              <a:t>or 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escape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character </a:t>
            </a: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0" b="1">
                <a:latin typeface="Arial"/>
                <a:cs typeface="Arial"/>
              </a:rPr>
              <a:t> text.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295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11.3	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spc="-10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bit-oriented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1589" y="3127248"/>
            <a:ext cx="6800850" cy="12603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20595"/>
            <a:ext cx="1143000" cy="342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414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2573020"/>
            <a:chOff x="774839" y="2062733"/>
            <a:chExt cx="9144000" cy="257302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32039" y="23682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2240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4839" y="2919996"/>
              <a:ext cx="9144000" cy="1715770"/>
            </a:xfrm>
            <a:custGeom>
              <a:avLst/>
              <a:gdLst/>
              <a:ahLst/>
              <a:cxnLst/>
              <a:rect l="l" t="t" r="r" b="b"/>
              <a:pathLst>
                <a:path w="9144000" h="1715770">
                  <a:moveTo>
                    <a:pt x="4953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495300" y="1715262"/>
                  </a:lnTo>
                  <a:lnTo>
                    <a:pt x="495300" y="858012"/>
                  </a:lnTo>
                  <a:lnTo>
                    <a:pt x="495300" y="857250"/>
                  </a:lnTo>
                  <a:lnTo>
                    <a:pt x="495300" y="0"/>
                  </a:lnTo>
                  <a:close/>
                </a:path>
                <a:path w="9144000" h="171577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7250"/>
                  </a:lnTo>
                  <a:lnTo>
                    <a:pt x="8572500" y="858012"/>
                  </a:lnTo>
                  <a:lnTo>
                    <a:pt x="8572500" y="1715262"/>
                  </a:lnTo>
                  <a:lnTo>
                    <a:pt x="9144000" y="1715262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270139" y="2498598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162560" marR="15430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Bit stuffing is the process of </a:t>
            </a:r>
            <a:r>
              <a:rPr dirty="0" sz="3200" spc="-10" b="1">
                <a:latin typeface="Arial"/>
                <a:cs typeface="Arial"/>
              </a:rPr>
              <a:t>adding </a:t>
            </a:r>
            <a:r>
              <a:rPr dirty="0" sz="3200" spc="-5" b="1">
                <a:latin typeface="Arial"/>
                <a:cs typeface="Arial"/>
              </a:rPr>
              <a:t>one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extra 0 </a:t>
            </a:r>
            <a:r>
              <a:rPr dirty="0" sz="3200" spc="-10" b="1">
                <a:latin typeface="Arial"/>
                <a:cs typeface="Arial"/>
              </a:rPr>
              <a:t>whenever </a:t>
            </a:r>
            <a:r>
              <a:rPr dirty="0" sz="3200" spc="-5" b="1">
                <a:latin typeface="Arial"/>
                <a:cs typeface="Arial"/>
              </a:rPr>
              <a:t>five </a:t>
            </a:r>
            <a:r>
              <a:rPr dirty="0" sz="3200" spc="-10" b="1">
                <a:latin typeface="Arial"/>
                <a:cs typeface="Arial"/>
              </a:rPr>
              <a:t>consecutive 1s </a:t>
            </a:r>
            <a:r>
              <a:rPr dirty="0" sz="3200" spc="-5" b="1">
                <a:latin typeface="Arial"/>
                <a:cs typeface="Arial"/>
              </a:rPr>
              <a:t> follow a 0 in the data, so that the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receiver</a:t>
            </a:r>
            <a:r>
              <a:rPr dirty="0" sz="3200" spc="-5" b="1">
                <a:latin typeface="Arial"/>
                <a:cs typeface="Arial"/>
              </a:rPr>
              <a:t> does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not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mistake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pattern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10" b="1">
                <a:latin typeface="Arial"/>
                <a:cs typeface="Arial"/>
              </a:rPr>
              <a:t>0111110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for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spc="-10" b="1">
                <a:latin typeface="Arial"/>
                <a:cs typeface="Arial"/>
              </a:rPr>
              <a:t> flag.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4325" y="5111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4297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11.4	</a:t>
            </a:r>
            <a:r>
              <a:rPr dirty="0" sz="2000" spc="-5" i="1">
                <a:latin typeface="Times New Roman"/>
                <a:cs typeface="Times New Roman"/>
              </a:rPr>
              <a:t>Bit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stuffing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unstuffing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117" y="2046732"/>
            <a:ext cx="5776721" cy="40934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180"/>
              <a:t>1</a:t>
            </a:r>
            <a:r>
              <a:rPr dirty="0" spc="-5"/>
              <a:t>1</a:t>
            </a:r>
            <a:r>
              <a:rPr dirty="0" spc="-10"/>
              <a:t>-</a:t>
            </a:r>
            <a:r>
              <a:rPr dirty="0" spc="-5"/>
              <a:t>2</a:t>
            </a:r>
            <a:r>
              <a:rPr dirty="0"/>
              <a:t>	</a:t>
            </a:r>
            <a:r>
              <a:rPr dirty="0" spc="-5"/>
              <a:t>FLOW</a:t>
            </a:r>
            <a:r>
              <a:rPr dirty="0" spc="-245"/>
              <a:t> </a:t>
            </a:r>
            <a:r>
              <a:rPr dirty="0" spc="-5"/>
              <a:t>AND</a:t>
            </a:r>
            <a:r>
              <a:rPr dirty="0" spc="10"/>
              <a:t> </a:t>
            </a:r>
            <a:r>
              <a:rPr dirty="0" spc="-5"/>
              <a:t>ERROR</a:t>
            </a:r>
            <a:r>
              <a:rPr dirty="0" spc="5"/>
              <a:t> </a:t>
            </a:r>
            <a:r>
              <a:rPr dirty="0" spc="-5"/>
              <a:t>CONTROL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58373" y="1966213"/>
            <a:ext cx="8071484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most important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responsibilities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the data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link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layer are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flow control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error control</a:t>
            </a:r>
            <a:r>
              <a:rPr dirty="0" sz="2800" spc="-5" b="1" i="1">
                <a:latin typeface="Times New Roman"/>
                <a:cs typeface="Times New Roman"/>
              </a:rPr>
              <a:t>. </a:t>
            </a:r>
            <a:r>
              <a:rPr dirty="0" sz="2800" spc="-15" b="1" i="1">
                <a:latin typeface="Times New Roman"/>
                <a:cs typeface="Times New Roman"/>
              </a:rPr>
              <a:t>Collectively, 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these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functions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are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known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as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dirty="0" sz="2800" spc="-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link</a:t>
            </a:r>
            <a:r>
              <a:rPr dirty="0" sz="2800" spc="-2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60" b="1" i="1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dirty="0" sz="2800" spc="-160" b="1" i="1">
                <a:latin typeface="Times New Roman"/>
                <a:cs typeface="Times New Roman"/>
              </a:rPr>
              <a:t>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373" y="6860953"/>
            <a:ext cx="53149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30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5973" y="4514528"/>
            <a:ext cx="4699000" cy="129413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4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2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2842895">
              <a:lnSpc>
                <a:spcPct val="100000"/>
              </a:lnSpc>
              <a:spcBef>
                <a:spcPts val="400"/>
              </a:spcBef>
            </a:pP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Flow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Control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Er</a:t>
            </a:r>
            <a:r>
              <a:rPr dirty="0" sz="2400" spc="-50" b="1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or</a:t>
            </a:r>
            <a:r>
              <a:rPr dirty="0" sz="2400" spc="-6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C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o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dirty="0" sz="2400" spc="-45" b="1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ol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9639" y="2977895"/>
            <a:ext cx="8533130" cy="76200"/>
          </a:xfrm>
          <a:custGeom>
            <a:avLst/>
            <a:gdLst/>
            <a:ahLst/>
            <a:cxnLst/>
            <a:rect l="l" t="t" r="r" b="b"/>
            <a:pathLst>
              <a:path w="8533130" h="76200">
                <a:moveTo>
                  <a:pt x="8532876" y="76200"/>
                </a:moveTo>
                <a:lnTo>
                  <a:pt x="8532876" y="0"/>
                </a:lnTo>
                <a:lnTo>
                  <a:pt x="0" y="0"/>
                </a:lnTo>
                <a:lnTo>
                  <a:pt x="0" y="76200"/>
                </a:lnTo>
                <a:lnTo>
                  <a:pt x="8532876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74889" y="3108198"/>
            <a:ext cx="8343900" cy="204152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169545" marR="163195">
              <a:lnSpc>
                <a:spcPct val="100000"/>
              </a:lnSpc>
              <a:spcBef>
                <a:spcPts val="275"/>
              </a:spcBef>
              <a:tabLst>
                <a:tab pos="3324860" algn="l"/>
              </a:tabLst>
            </a:pPr>
            <a:r>
              <a:rPr dirty="0" sz="3200" spc="-5" b="1">
                <a:latin typeface="Arial"/>
                <a:cs typeface="Arial"/>
              </a:rPr>
              <a:t>Flow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control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refers</a:t>
            </a:r>
            <a:r>
              <a:rPr dirty="0" sz="3200" spc="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to a set of procedures </a:t>
            </a:r>
            <a:r>
              <a:rPr dirty="0" sz="3200" spc="-869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used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to</a:t>
            </a:r>
            <a:r>
              <a:rPr dirty="0" sz="3200" spc="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restrict	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amount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data</a:t>
            </a:r>
            <a:endParaRPr sz="3200">
              <a:latin typeface="Arial"/>
              <a:cs typeface="Arial"/>
            </a:endParaRPr>
          </a:p>
          <a:p>
            <a:pPr algn="ctr" marL="1050290" marR="1045844">
              <a:lnSpc>
                <a:spcPct val="100000"/>
              </a:lnSpc>
              <a:tabLst>
                <a:tab pos="6049010" algn="l"/>
              </a:tabLst>
            </a:pPr>
            <a:r>
              <a:rPr dirty="0" sz="3200" spc="-10" b="1">
                <a:latin typeface="Arial"/>
                <a:cs typeface="Arial"/>
              </a:rPr>
              <a:t>tha</a:t>
            </a:r>
            <a:r>
              <a:rPr dirty="0" sz="3200" spc="-5" b="1">
                <a:latin typeface="Arial"/>
                <a:cs typeface="Arial"/>
              </a:rPr>
              <a:t>t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th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sende</a:t>
            </a:r>
            <a:r>
              <a:rPr dirty="0" sz="3200" spc="-5" b="1">
                <a:latin typeface="Arial"/>
                <a:cs typeface="Arial"/>
              </a:rPr>
              <a:t>r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ca</a:t>
            </a:r>
            <a:r>
              <a:rPr dirty="0" sz="3200" spc="-5" b="1">
                <a:latin typeface="Arial"/>
                <a:cs typeface="Arial"/>
              </a:rPr>
              <a:t>n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sen</a:t>
            </a:r>
            <a:r>
              <a:rPr dirty="0" sz="3200" spc="-5" b="1">
                <a:latin typeface="Arial"/>
                <a:cs typeface="Arial"/>
              </a:rPr>
              <a:t>d</a:t>
            </a:r>
            <a:r>
              <a:rPr dirty="0" sz="3200" b="1">
                <a:latin typeface="Arial"/>
                <a:cs typeface="Arial"/>
              </a:rPr>
              <a:t>	</a:t>
            </a:r>
            <a:r>
              <a:rPr dirty="0" sz="3200" spc="-10" b="1">
                <a:latin typeface="Arial"/>
                <a:cs typeface="Arial"/>
              </a:rPr>
              <a:t>before  </a:t>
            </a:r>
            <a:r>
              <a:rPr dirty="0" sz="3200" spc="-5" b="1">
                <a:latin typeface="Arial"/>
                <a:cs typeface="Arial"/>
              </a:rPr>
              <a:t>waiting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for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acknowledgment.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81925" y="5187696"/>
            <a:ext cx="8532495" cy="76200"/>
          </a:xfrm>
          <a:custGeom>
            <a:avLst/>
            <a:gdLst/>
            <a:ahLst/>
            <a:cxnLst/>
            <a:rect l="l" t="t" r="r" b="b"/>
            <a:pathLst>
              <a:path w="8532495" h="76200">
                <a:moveTo>
                  <a:pt x="8532114" y="76200"/>
                </a:moveTo>
                <a:lnTo>
                  <a:pt x="8532114" y="0"/>
                </a:lnTo>
                <a:lnTo>
                  <a:pt x="0" y="0"/>
                </a:lnTo>
                <a:lnTo>
                  <a:pt x="0" y="76200"/>
                </a:lnTo>
                <a:lnTo>
                  <a:pt x="8532114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just" marL="589280" marR="558165" indent="-2413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Error </a:t>
            </a:r>
            <a:r>
              <a:rPr dirty="0" sz="3200" spc="-10" b="1">
                <a:latin typeface="Arial"/>
                <a:cs typeface="Arial"/>
              </a:rPr>
              <a:t>control </a:t>
            </a:r>
            <a:r>
              <a:rPr dirty="0" sz="3200" spc="-5" b="1">
                <a:latin typeface="Arial"/>
                <a:cs typeface="Arial"/>
              </a:rPr>
              <a:t>in the data link layer </a:t>
            </a:r>
            <a:r>
              <a:rPr dirty="0" sz="3200" spc="-10" b="1">
                <a:latin typeface="Arial"/>
                <a:cs typeface="Arial"/>
              </a:rPr>
              <a:t>is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based on automatic repeat request,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which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retransmission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data.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11-3	</a:t>
            </a:r>
            <a:r>
              <a:rPr dirty="0" spc="-10"/>
              <a:t>PROTOCOLS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4839" y="2062746"/>
              <a:ext cx="9144000" cy="4287520"/>
            </a:xfrm>
            <a:custGeom>
              <a:avLst/>
              <a:gdLst/>
              <a:ahLst/>
              <a:cxnLst/>
              <a:rect l="l" t="t" r="r" b="b"/>
              <a:pathLst>
                <a:path w="9144000" h="428752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4287012"/>
                  </a:lnTo>
                  <a:lnTo>
                    <a:pt x="9144000" y="4287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58373" y="1770380"/>
            <a:ext cx="8071484" cy="386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Now </a:t>
            </a:r>
            <a:r>
              <a:rPr dirty="0" sz="2800" spc="-10" b="1" i="1">
                <a:latin typeface="Times New Roman"/>
                <a:cs typeface="Times New Roman"/>
              </a:rPr>
              <a:t>let </a:t>
            </a:r>
            <a:r>
              <a:rPr dirty="0" sz="2800" b="1" i="1">
                <a:latin typeface="Times New Roman"/>
                <a:cs typeface="Times New Roman"/>
              </a:rPr>
              <a:t>us </a:t>
            </a:r>
            <a:r>
              <a:rPr dirty="0" sz="2800" spc="-10" b="1" i="1">
                <a:latin typeface="Times New Roman"/>
                <a:cs typeface="Times New Roman"/>
              </a:rPr>
              <a:t>see </a:t>
            </a:r>
            <a:r>
              <a:rPr dirty="0" sz="2800" spc="-5" b="1" i="1">
                <a:latin typeface="Times New Roman"/>
                <a:cs typeface="Times New Roman"/>
              </a:rPr>
              <a:t>how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data link layer </a:t>
            </a:r>
            <a:r>
              <a:rPr dirty="0" sz="2800" spc="-10" b="1" i="1">
                <a:latin typeface="Times New Roman"/>
                <a:cs typeface="Times New Roman"/>
              </a:rPr>
              <a:t>can </a:t>
            </a:r>
            <a:r>
              <a:rPr dirty="0" sz="2800" spc="-5" b="1" i="1">
                <a:latin typeface="Times New Roman"/>
                <a:cs typeface="Times New Roman"/>
              </a:rPr>
              <a:t>combine </a:t>
            </a:r>
            <a:r>
              <a:rPr dirty="0" sz="2800" b="1" i="1">
                <a:latin typeface="Times New Roman"/>
                <a:cs typeface="Times New Roman"/>
              </a:rPr>
              <a:t> framing, </a:t>
            </a:r>
            <a:r>
              <a:rPr dirty="0" sz="2800" spc="-5" b="1" i="1">
                <a:latin typeface="Times New Roman"/>
                <a:cs typeface="Times New Roman"/>
              </a:rPr>
              <a:t>flow control, and error control to achieve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delivery</a:t>
            </a:r>
            <a:r>
              <a:rPr dirty="0" sz="2800" b="1" i="1">
                <a:latin typeface="Times New Roman"/>
                <a:cs typeface="Times New Roman"/>
              </a:rPr>
              <a:t> 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data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from</a:t>
            </a:r>
            <a:r>
              <a:rPr dirty="0" sz="2800" b="1" i="1">
                <a:latin typeface="Times New Roman"/>
                <a:cs typeface="Times New Roman"/>
              </a:rPr>
              <a:t> one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node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0" b="1" i="1">
                <a:latin typeface="Times New Roman"/>
                <a:cs typeface="Times New Roman"/>
              </a:rPr>
              <a:t>another..</a:t>
            </a:r>
            <a:r>
              <a:rPr dirty="0" sz="2800" spc="-9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protocols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normally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implemented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software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by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using </a:t>
            </a:r>
            <a:r>
              <a:rPr dirty="0" sz="2800" b="1" i="1">
                <a:latin typeface="Times New Roman"/>
                <a:cs typeface="Times New Roman"/>
              </a:rPr>
              <a:t>one of </a:t>
            </a:r>
            <a:r>
              <a:rPr dirty="0" sz="2800" spc="-5" b="1" i="1">
                <a:latin typeface="Times New Roman"/>
                <a:cs typeface="Times New Roman"/>
              </a:rPr>
              <a:t>the common programming </a:t>
            </a:r>
            <a:r>
              <a:rPr dirty="0" sz="2800" spc="-65" b="1" i="1">
                <a:latin typeface="Times New Roman"/>
                <a:cs typeface="Times New Roman"/>
              </a:rPr>
              <a:t>languages.. </a:t>
            </a:r>
            <a:r>
              <a:rPr dirty="0" sz="2800" spc="-260" b="1" i="1">
                <a:latin typeface="Times New Roman"/>
                <a:cs typeface="Times New Roman"/>
              </a:rPr>
              <a:t>To </a:t>
            </a:r>
            <a:r>
              <a:rPr dirty="0" sz="2800" spc="-25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make</a:t>
            </a:r>
            <a:r>
              <a:rPr dirty="0" sz="2800" spc="3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our</a:t>
            </a:r>
            <a:r>
              <a:rPr dirty="0" sz="2800" spc="3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discussions</a:t>
            </a:r>
            <a:r>
              <a:rPr dirty="0" sz="2800" spc="3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language-free,</a:t>
            </a:r>
            <a:r>
              <a:rPr dirty="0" sz="2800" spc="3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we</a:t>
            </a:r>
            <a:r>
              <a:rPr dirty="0" sz="2800" spc="3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</a:t>
            </a:r>
            <a:r>
              <a:rPr dirty="0" sz="2800" spc="3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written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pseudocode</a:t>
            </a:r>
            <a:r>
              <a:rPr dirty="0" sz="2800" b="1" i="1">
                <a:latin typeface="Times New Roman"/>
                <a:cs typeface="Times New Roman"/>
              </a:rPr>
              <a:t> 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version</a:t>
            </a:r>
            <a:r>
              <a:rPr dirty="0" sz="2800" b="1" i="1">
                <a:latin typeface="Times New Roman"/>
                <a:cs typeface="Times New Roman"/>
              </a:rPr>
              <a:t> 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each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protocol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concentrates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mostly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procedure</a:t>
            </a:r>
            <a:r>
              <a:rPr dirty="0" sz="2800" b="1" i="1">
                <a:latin typeface="Times New Roman"/>
                <a:cs typeface="Times New Roman"/>
              </a:rPr>
              <a:t> instead</a:t>
            </a:r>
            <a:r>
              <a:rPr dirty="0" sz="2800" spc="70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delving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into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details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language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204" b="1" i="1">
                <a:latin typeface="Times New Roman"/>
                <a:cs typeface="Times New Roman"/>
              </a:rPr>
              <a:t>rules..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63320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11.5	</a:t>
            </a:r>
            <a:r>
              <a:rPr dirty="0" sz="2000" spc="-25" i="1">
                <a:latin typeface="Times New Roman"/>
                <a:cs typeface="Times New Roman"/>
              </a:rPr>
              <a:t>Taxonomy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protocols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discussed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this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chapter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497" y="2105405"/>
            <a:ext cx="8527542" cy="38061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11-4	</a:t>
            </a:r>
            <a:r>
              <a:rPr dirty="0" spc="-5"/>
              <a:t>NOISELESS</a:t>
            </a:r>
            <a:r>
              <a:rPr dirty="0" spc="-10"/>
              <a:t> </a:t>
            </a:r>
            <a:r>
              <a:rPr dirty="0" spc="-5"/>
              <a:t>CHANNELS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58354" y="1970786"/>
            <a:ext cx="807085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Let us first assume we have an ideal channel in which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lost,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duplicated,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corrupted.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215" b="1" i="1">
                <a:latin typeface="Times New Roman"/>
                <a:cs typeface="Times New Roman"/>
              </a:rPr>
              <a:t>We </a:t>
            </a:r>
            <a:r>
              <a:rPr dirty="0" sz="2800" spc="-2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introduce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two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protocols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type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160" b="1" i="1">
                <a:latin typeface="Times New Roman"/>
                <a:cs typeface="Times New Roman"/>
              </a:rPr>
              <a:t>channel..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1005973" y="4514528"/>
            <a:ext cx="4699000" cy="129413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4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2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Simplest</a:t>
            </a:r>
            <a:r>
              <a:rPr dirty="0" sz="2400" spc="-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5" b="1">
                <a:solidFill>
                  <a:srgbClr val="0033CC"/>
                </a:solidFill>
                <a:latin typeface="Times New Roman"/>
                <a:cs typeface="Times New Roman"/>
              </a:rPr>
              <a:t>Stop-and-Wait</a:t>
            </a:r>
            <a:r>
              <a:rPr dirty="0" sz="2400" spc="-2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729" y="752347"/>
            <a:ext cx="83261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11.6	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spc="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design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simplest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with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no</a:t>
            </a:r>
            <a:r>
              <a:rPr dirty="0" sz="2000" spc="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flow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error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917" y="1597152"/>
            <a:ext cx="7605521" cy="477164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9748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11.1	</a:t>
            </a:r>
            <a:r>
              <a:rPr dirty="0" sz="2000" spc="-5" i="1">
                <a:latin typeface="Times New Roman"/>
                <a:cs typeface="Times New Roman"/>
              </a:rPr>
              <a:t>Sender-site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simplest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1264919"/>
            <a:ext cx="8839200" cy="2949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904747"/>
            <a:ext cx="71437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35">
                <a:solidFill>
                  <a:srgbClr val="FF0000"/>
                </a:solidFill>
              </a:rPr>
              <a:t>11.2	</a:t>
            </a:r>
            <a:r>
              <a:rPr dirty="0" sz="2000" spc="-5" i="1">
                <a:latin typeface="Times New Roman"/>
                <a:cs typeface="Times New Roman"/>
              </a:rPr>
              <a:t>Receiver-site algorithm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simplest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3105150"/>
            <a:chOff x="774839" y="1206246"/>
            <a:chExt cx="9144000" cy="3105150"/>
          </a:xfrm>
        </p:grpSpPr>
        <p:sp>
          <p:nvSpPr>
            <p:cNvPr id="4" name="object 4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239" y="1322832"/>
              <a:ext cx="8852204" cy="29885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71525" algn="l"/>
                <a:tab pos="1162685" algn="l"/>
                <a:tab pos="1575435" algn="l"/>
                <a:tab pos="1908175" algn="l"/>
                <a:tab pos="2093595" algn="l"/>
                <a:tab pos="2289175" algn="l"/>
                <a:tab pos="2751455" algn="l"/>
                <a:tab pos="2941320" algn="l"/>
                <a:tab pos="3213735" algn="l"/>
                <a:tab pos="3321685" algn="l"/>
                <a:tab pos="3461385" algn="l"/>
                <a:tab pos="4049395" algn="l"/>
                <a:tab pos="4649470" algn="l"/>
                <a:tab pos="4827905" algn="l"/>
                <a:tab pos="5268595" algn="l"/>
                <a:tab pos="5310505" algn="l"/>
                <a:tab pos="5542280" algn="l"/>
                <a:tab pos="6109335" algn="l"/>
                <a:tab pos="7009130" algn="l"/>
                <a:tab pos="7301865" algn="l"/>
                <a:tab pos="7703820" algn="l"/>
                <a:tab pos="8060055" algn="l"/>
                <a:tab pos="8336915" algn="l"/>
              </a:tabLst>
            </a:pPr>
            <a:r>
              <a:rPr dirty="0" spc="-5"/>
              <a:t>Figur</a:t>
            </a:r>
            <a:r>
              <a:rPr dirty="0"/>
              <a:t>e</a:t>
            </a:r>
            <a:r>
              <a:rPr dirty="0"/>
              <a:t>	</a:t>
            </a:r>
            <a:r>
              <a:rPr dirty="0" spc="-160"/>
              <a:t>1</a:t>
            </a:r>
            <a:r>
              <a:rPr dirty="0" spc="-5"/>
              <a:t>1.</a:t>
            </a:r>
            <a:r>
              <a:rPr dirty="0"/>
              <a:t>7</a:t>
            </a:r>
            <a:r>
              <a:rPr dirty="0"/>
              <a:t>	</a:t>
            </a:r>
            <a:r>
              <a:rPr dirty="0" spc="-5"/>
              <a:t>show</a:t>
            </a:r>
            <a:r>
              <a:rPr dirty="0"/>
              <a:t>s</a:t>
            </a:r>
            <a:r>
              <a:rPr dirty="0"/>
              <a:t>	</a:t>
            </a:r>
            <a:r>
              <a:rPr dirty="0"/>
              <a:t>a</a:t>
            </a:r>
            <a:r>
              <a:rPr dirty="0"/>
              <a:t>n</a:t>
            </a:r>
            <a:r>
              <a:rPr dirty="0"/>
              <a:t>		</a:t>
            </a:r>
            <a:r>
              <a:rPr dirty="0" spc="-10"/>
              <a:t>e</a:t>
            </a:r>
            <a:r>
              <a:rPr dirty="0" spc="-5"/>
              <a:t>xampl</a:t>
            </a:r>
            <a:r>
              <a:rPr dirty="0"/>
              <a:t>e</a:t>
            </a:r>
            <a:r>
              <a:rPr dirty="0"/>
              <a:t>	</a:t>
            </a:r>
            <a:r>
              <a:rPr dirty="0" spc="-5"/>
              <a:t>o</a:t>
            </a:r>
            <a:r>
              <a:rPr dirty="0"/>
              <a:t>f</a:t>
            </a:r>
            <a:r>
              <a:rPr dirty="0"/>
              <a:t>	</a:t>
            </a:r>
            <a:r>
              <a:rPr dirty="0" spc="-5"/>
              <a:t>communicatio</a:t>
            </a:r>
            <a:r>
              <a:rPr dirty="0"/>
              <a:t>n</a:t>
            </a:r>
            <a:r>
              <a:rPr dirty="0"/>
              <a:t>	</a:t>
            </a:r>
            <a:r>
              <a:rPr dirty="0" spc="-5"/>
              <a:t>using  thi</a:t>
            </a:r>
            <a:r>
              <a:rPr dirty="0"/>
              <a:t>s</a:t>
            </a:r>
            <a:r>
              <a:rPr dirty="0"/>
              <a:t>	</a:t>
            </a:r>
            <a:r>
              <a:rPr dirty="0"/>
              <a:t>p</a:t>
            </a:r>
            <a:r>
              <a:rPr dirty="0" spc="-5"/>
              <a:t>rotocol</a:t>
            </a:r>
            <a:r>
              <a:rPr dirty="0"/>
              <a:t>.</a:t>
            </a:r>
            <a:r>
              <a:rPr dirty="0"/>
              <a:t>		</a:t>
            </a:r>
            <a:r>
              <a:rPr dirty="0" spc="-5"/>
              <a:t>I</a:t>
            </a:r>
            <a:r>
              <a:rPr dirty="0"/>
              <a:t>t</a:t>
            </a:r>
            <a:r>
              <a:rPr dirty="0"/>
              <a:t>	</a:t>
            </a:r>
            <a:r>
              <a:rPr dirty="0" spc="-10"/>
              <a:t>i</a:t>
            </a:r>
            <a:r>
              <a:rPr dirty="0"/>
              <a:t>s</a:t>
            </a:r>
            <a:r>
              <a:rPr dirty="0"/>
              <a:t>	</a:t>
            </a:r>
            <a:r>
              <a:rPr dirty="0" spc="-10"/>
              <a:t>ve</a:t>
            </a:r>
            <a:r>
              <a:rPr dirty="0" spc="-5"/>
              <a:t>r</a:t>
            </a:r>
            <a:r>
              <a:rPr dirty="0"/>
              <a:t>y</a:t>
            </a:r>
            <a:r>
              <a:rPr dirty="0"/>
              <a:t>	</a:t>
            </a:r>
            <a:r>
              <a:rPr dirty="0" spc="-5"/>
              <a:t>s</a:t>
            </a:r>
            <a:r>
              <a:rPr dirty="0" spc="-5"/>
              <a:t>impl</a:t>
            </a:r>
            <a:r>
              <a:rPr dirty="0" spc="-10"/>
              <a:t>e</a:t>
            </a:r>
            <a:r>
              <a:rPr dirty="0"/>
              <a:t>.</a:t>
            </a:r>
            <a:r>
              <a:rPr dirty="0"/>
              <a:t>		</a:t>
            </a:r>
            <a:r>
              <a:rPr dirty="0"/>
              <a:t>The</a:t>
            </a:r>
            <a:r>
              <a:rPr dirty="0"/>
              <a:t>	</a:t>
            </a:r>
            <a:r>
              <a:rPr dirty="0" spc="-5"/>
              <a:t>s</a:t>
            </a:r>
            <a:r>
              <a:rPr dirty="0"/>
              <a:t>end</a:t>
            </a:r>
            <a:r>
              <a:rPr dirty="0" spc="-15"/>
              <a:t>e</a:t>
            </a:r>
            <a:r>
              <a:rPr dirty="0"/>
              <a:t>r</a:t>
            </a:r>
            <a:r>
              <a:rPr dirty="0"/>
              <a:t>	</a:t>
            </a:r>
            <a:r>
              <a:rPr dirty="0" spc="-5"/>
              <a:t>s</a:t>
            </a:r>
            <a:r>
              <a:rPr dirty="0"/>
              <a:t>ends</a:t>
            </a:r>
            <a:r>
              <a:rPr dirty="0"/>
              <a:t>	</a:t>
            </a:r>
            <a:r>
              <a:rPr dirty="0"/>
              <a:t>a  </a:t>
            </a:r>
            <a:r>
              <a:rPr dirty="0" spc="-5"/>
              <a:t>sequenc</a:t>
            </a:r>
            <a:r>
              <a:rPr dirty="0"/>
              <a:t>e</a:t>
            </a:r>
            <a:r>
              <a:rPr dirty="0"/>
              <a:t>	</a:t>
            </a:r>
            <a:r>
              <a:rPr dirty="0" spc="-5"/>
              <a:t>o</a:t>
            </a:r>
            <a:r>
              <a:rPr dirty="0"/>
              <a:t>f</a:t>
            </a:r>
            <a:r>
              <a:rPr dirty="0"/>
              <a:t>		</a:t>
            </a:r>
            <a:r>
              <a:rPr dirty="0" spc="-5"/>
              <a:t>frame</a:t>
            </a:r>
            <a:r>
              <a:rPr dirty="0"/>
              <a:t>s</a:t>
            </a:r>
            <a:r>
              <a:rPr dirty="0"/>
              <a:t>		</a:t>
            </a:r>
            <a:r>
              <a:rPr dirty="0" spc="-5"/>
              <a:t>withou</a:t>
            </a:r>
            <a:r>
              <a:rPr dirty="0"/>
              <a:t>t</a:t>
            </a:r>
            <a:r>
              <a:rPr dirty="0"/>
              <a:t>	</a:t>
            </a:r>
            <a:r>
              <a:rPr dirty="0" spc="-5"/>
              <a:t>eve</a:t>
            </a:r>
            <a:r>
              <a:rPr dirty="0"/>
              <a:t>n</a:t>
            </a:r>
            <a:r>
              <a:rPr dirty="0"/>
              <a:t>	</a:t>
            </a:r>
            <a:r>
              <a:rPr dirty="0" spc="-5"/>
              <a:t>t</a:t>
            </a:r>
            <a:r>
              <a:rPr dirty="0" spc="-5"/>
              <a:t>hinkin</a:t>
            </a:r>
            <a:r>
              <a:rPr dirty="0"/>
              <a:t>g</a:t>
            </a:r>
            <a:r>
              <a:rPr dirty="0"/>
              <a:t>	</a:t>
            </a:r>
            <a:r>
              <a:rPr dirty="0" spc="-5"/>
              <a:t>abou</a:t>
            </a:r>
            <a:r>
              <a:rPr dirty="0"/>
              <a:t>t</a:t>
            </a:r>
            <a:r>
              <a:rPr dirty="0"/>
              <a:t>	</a:t>
            </a:r>
            <a:r>
              <a:rPr dirty="0"/>
              <a:t>t</a:t>
            </a:r>
            <a:r>
              <a:rPr dirty="0" spc="-5"/>
              <a:t>he  </a:t>
            </a:r>
            <a:r>
              <a:rPr dirty="0" spc="-25"/>
              <a:t>receiver.</a:t>
            </a:r>
            <a:r>
              <a:rPr dirty="0" spc="325"/>
              <a:t> </a:t>
            </a:r>
            <a:r>
              <a:rPr dirty="0" spc="-130"/>
              <a:t>To</a:t>
            </a:r>
            <a:r>
              <a:rPr dirty="0" spc="335"/>
              <a:t> </a:t>
            </a:r>
            <a:r>
              <a:rPr dirty="0" spc="-5"/>
              <a:t>send</a:t>
            </a:r>
            <a:r>
              <a:rPr dirty="0" spc="325"/>
              <a:t> </a:t>
            </a:r>
            <a:r>
              <a:rPr dirty="0" spc="-5"/>
              <a:t>three</a:t>
            </a:r>
            <a:r>
              <a:rPr dirty="0" spc="325"/>
              <a:t> </a:t>
            </a:r>
            <a:r>
              <a:rPr dirty="0" spc="-5"/>
              <a:t>frames,</a:t>
            </a:r>
            <a:r>
              <a:rPr dirty="0" spc="325"/>
              <a:t> </a:t>
            </a:r>
            <a:r>
              <a:rPr dirty="0" spc="-5"/>
              <a:t>three</a:t>
            </a:r>
            <a:r>
              <a:rPr dirty="0" spc="335"/>
              <a:t> </a:t>
            </a:r>
            <a:r>
              <a:rPr dirty="0" spc="-5"/>
              <a:t>events</a:t>
            </a:r>
            <a:r>
              <a:rPr dirty="0" spc="325"/>
              <a:t> </a:t>
            </a:r>
            <a:r>
              <a:rPr dirty="0" spc="-10"/>
              <a:t>occur</a:t>
            </a:r>
            <a:r>
              <a:rPr dirty="0" spc="330"/>
              <a:t> </a:t>
            </a:r>
            <a:r>
              <a:rPr dirty="0"/>
              <a:t>at</a:t>
            </a:r>
            <a:r>
              <a:rPr dirty="0" spc="325"/>
              <a:t> </a:t>
            </a:r>
            <a:r>
              <a:rPr dirty="0" spc="-5"/>
              <a:t>the </a:t>
            </a:r>
            <a:r>
              <a:rPr dirty="0" spc="-685"/>
              <a:t> </a:t>
            </a:r>
            <a:r>
              <a:rPr dirty="0" spc="-5"/>
              <a:t>sender</a:t>
            </a:r>
            <a:r>
              <a:rPr dirty="0" spc="150"/>
              <a:t> </a:t>
            </a:r>
            <a:r>
              <a:rPr dirty="0" spc="-5"/>
              <a:t>site</a:t>
            </a:r>
            <a:r>
              <a:rPr dirty="0" spc="160"/>
              <a:t> </a:t>
            </a:r>
            <a:r>
              <a:rPr dirty="0" spc="-5"/>
              <a:t>and</a:t>
            </a:r>
            <a:r>
              <a:rPr dirty="0" spc="165"/>
              <a:t> </a:t>
            </a:r>
            <a:r>
              <a:rPr dirty="0" spc="-5"/>
              <a:t>three</a:t>
            </a:r>
            <a:r>
              <a:rPr dirty="0" spc="155"/>
              <a:t> </a:t>
            </a:r>
            <a:r>
              <a:rPr dirty="0" spc="-5"/>
              <a:t>events</a:t>
            </a:r>
            <a:r>
              <a:rPr dirty="0" spc="155"/>
              <a:t> </a:t>
            </a:r>
            <a:r>
              <a:rPr dirty="0"/>
              <a:t>at</a:t>
            </a:r>
            <a:r>
              <a:rPr dirty="0" spc="155"/>
              <a:t> </a:t>
            </a:r>
            <a:r>
              <a:rPr dirty="0" spc="-5"/>
              <a:t>the</a:t>
            </a:r>
            <a:r>
              <a:rPr dirty="0" spc="160"/>
              <a:t> </a:t>
            </a:r>
            <a:r>
              <a:rPr dirty="0" spc="-5"/>
              <a:t>receiver</a:t>
            </a:r>
            <a:r>
              <a:rPr dirty="0" spc="155"/>
              <a:t> </a:t>
            </a:r>
            <a:r>
              <a:rPr dirty="0" spc="-5"/>
              <a:t>site.</a:t>
            </a:r>
            <a:r>
              <a:rPr dirty="0" spc="165"/>
              <a:t> </a:t>
            </a:r>
            <a:r>
              <a:rPr dirty="0" spc="-5"/>
              <a:t>Note</a:t>
            </a:r>
            <a:r>
              <a:rPr dirty="0" spc="160"/>
              <a:t> </a:t>
            </a:r>
            <a:r>
              <a:rPr dirty="0" spc="-5"/>
              <a:t>that </a:t>
            </a:r>
            <a:r>
              <a:rPr dirty="0" spc="-685"/>
              <a:t> </a:t>
            </a:r>
            <a:r>
              <a:rPr dirty="0"/>
              <a:t>the</a:t>
            </a:r>
            <a:r>
              <a:rPr dirty="0" spc="310"/>
              <a:t> </a:t>
            </a:r>
            <a:r>
              <a:rPr dirty="0" spc="-5"/>
              <a:t>data</a:t>
            </a:r>
            <a:r>
              <a:rPr dirty="0" spc="320"/>
              <a:t> </a:t>
            </a:r>
            <a:r>
              <a:rPr dirty="0" spc="-5"/>
              <a:t>frames</a:t>
            </a:r>
            <a:r>
              <a:rPr dirty="0" spc="320"/>
              <a:t> </a:t>
            </a:r>
            <a:r>
              <a:rPr dirty="0" spc="-5"/>
              <a:t>are</a:t>
            </a:r>
            <a:r>
              <a:rPr dirty="0" spc="310"/>
              <a:t> </a:t>
            </a:r>
            <a:r>
              <a:rPr dirty="0" spc="-5"/>
              <a:t>shown</a:t>
            </a:r>
            <a:r>
              <a:rPr dirty="0" spc="320"/>
              <a:t> </a:t>
            </a:r>
            <a:r>
              <a:rPr dirty="0" spc="-5"/>
              <a:t>by</a:t>
            </a:r>
            <a:r>
              <a:rPr dirty="0" spc="315"/>
              <a:t> </a:t>
            </a:r>
            <a:r>
              <a:rPr dirty="0" spc="-5"/>
              <a:t>tilted</a:t>
            </a:r>
            <a:r>
              <a:rPr dirty="0" spc="315"/>
              <a:t> </a:t>
            </a:r>
            <a:r>
              <a:rPr dirty="0" spc="-5"/>
              <a:t>boxes;</a:t>
            </a:r>
            <a:r>
              <a:rPr dirty="0" spc="315"/>
              <a:t> </a:t>
            </a:r>
            <a:r>
              <a:rPr dirty="0"/>
              <a:t>the</a:t>
            </a:r>
            <a:r>
              <a:rPr dirty="0" spc="310"/>
              <a:t> </a:t>
            </a:r>
            <a:r>
              <a:rPr dirty="0" spc="-5"/>
              <a:t>height</a:t>
            </a:r>
            <a:r>
              <a:rPr dirty="0" spc="325"/>
              <a:t> </a:t>
            </a:r>
            <a:r>
              <a:rPr dirty="0"/>
              <a:t>of </a:t>
            </a:r>
            <a:r>
              <a:rPr dirty="0" spc="-685"/>
              <a:t> </a:t>
            </a:r>
            <a:r>
              <a:rPr dirty="0"/>
              <a:t>the box defines the transmission time </a:t>
            </a:r>
            <a:r>
              <a:rPr dirty="0" spc="-5"/>
              <a:t>difference </a:t>
            </a:r>
            <a:r>
              <a:rPr dirty="0"/>
              <a:t>between 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first</a:t>
            </a:r>
            <a:r>
              <a:rPr dirty="0" spc="-25"/>
              <a:t> 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last</a:t>
            </a:r>
            <a:r>
              <a:rPr dirty="0" spc="-30"/>
              <a:t> </a:t>
            </a:r>
            <a:r>
              <a:rPr dirty="0"/>
              <a:t>bit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frame.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599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11.7	</a:t>
            </a:r>
            <a:r>
              <a:rPr dirty="0" sz="2000" spc="-5" i="1">
                <a:latin typeface="Times New Roman"/>
                <a:cs typeface="Times New Roman"/>
              </a:rPr>
              <a:t>Flow diagram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0091" y="2173223"/>
            <a:ext cx="5146547" cy="31287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536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11.8	</a:t>
            </a:r>
            <a:r>
              <a:rPr dirty="0" sz="2000" spc="-5" i="1">
                <a:latin typeface="Times New Roman"/>
                <a:cs typeface="Times New Roman"/>
              </a:rPr>
              <a:t>Design of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15" i="1">
                <a:latin typeface="Times New Roman"/>
                <a:cs typeface="Times New Roman"/>
              </a:rPr>
              <a:t>Stop-and-Wait</a:t>
            </a:r>
            <a:r>
              <a:rPr dirty="0" sz="2000" spc="-5" i="1">
                <a:latin typeface="Times New Roman"/>
                <a:cs typeface="Times New Roman"/>
              </a:rPr>
              <a:t> 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589" y="1476755"/>
            <a:ext cx="7029450" cy="49682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27455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11.3	</a:t>
            </a:r>
            <a:r>
              <a:rPr dirty="0" sz="2000" spc="-5" i="1">
                <a:latin typeface="Times New Roman"/>
                <a:cs typeface="Times New Roman"/>
              </a:rPr>
              <a:t>Sender-site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15" i="1">
                <a:latin typeface="Times New Roman"/>
                <a:cs typeface="Times New Roman"/>
              </a:rPr>
              <a:t>Stop-and-Wait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899" y="1162050"/>
            <a:ext cx="8894064" cy="52829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2371" y="676147"/>
            <a:ext cx="74415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11.4	</a:t>
            </a:r>
            <a:r>
              <a:rPr dirty="0" sz="2000" spc="-5" i="1">
                <a:latin typeface="Times New Roman"/>
                <a:cs typeface="Times New Roman"/>
              </a:rPr>
              <a:t>Receiver-site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Stop-and-Wait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129" y="1075182"/>
            <a:ext cx="8961119" cy="32362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45" b="1" i="1">
                <a:latin typeface="Times New Roman"/>
                <a:cs typeface="Times New Roman"/>
              </a:rPr>
              <a:t>11.9 </a:t>
            </a:r>
            <a:r>
              <a:rPr dirty="0" sz="2800" spc="-5" b="1" i="1">
                <a:latin typeface="Times New Roman"/>
                <a:cs typeface="Times New Roman"/>
              </a:rPr>
              <a:t>shows </a:t>
            </a:r>
            <a:r>
              <a:rPr dirty="0" sz="2800" b="1" i="1">
                <a:latin typeface="Times New Roman"/>
                <a:cs typeface="Times New Roman"/>
              </a:rPr>
              <a:t>an </a:t>
            </a:r>
            <a:r>
              <a:rPr dirty="0" sz="2800" spc="-5" b="1" i="1">
                <a:latin typeface="Times New Roman"/>
                <a:cs typeface="Times New Roman"/>
              </a:rPr>
              <a:t>example of communication using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 protocol. It is still very simple.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sender sends one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and waits for feedback from the </a:t>
            </a:r>
            <a:r>
              <a:rPr dirty="0" sz="2800" spc="-25" b="1" i="1">
                <a:latin typeface="Times New Roman"/>
                <a:cs typeface="Times New Roman"/>
              </a:rPr>
              <a:t>receiver. </a:t>
            </a:r>
            <a:r>
              <a:rPr dirty="0" sz="2800" spc="-5" b="1" i="1">
                <a:latin typeface="Times New Roman"/>
                <a:cs typeface="Times New Roman"/>
              </a:rPr>
              <a:t>When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ACK </a:t>
            </a:r>
            <a:r>
              <a:rPr dirty="0" sz="2800" spc="-5" b="1" i="1">
                <a:latin typeface="Times New Roman"/>
                <a:cs typeface="Times New Roman"/>
              </a:rPr>
              <a:t>arrives, the sender sends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next frame. Note that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sending two frames in the protocol involves the sender </a:t>
            </a: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four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events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receiver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two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events.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599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40">
                <a:solidFill>
                  <a:srgbClr val="3333CC"/>
                </a:solidFill>
              </a:rPr>
              <a:t>11.9	</a:t>
            </a:r>
            <a:r>
              <a:rPr dirty="0" sz="2000" spc="-5" i="1">
                <a:latin typeface="Times New Roman"/>
                <a:cs typeface="Times New Roman"/>
              </a:rPr>
              <a:t>Flow diagram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1575" y="2063495"/>
            <a:ext cx="5236464" cy="39243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11-5	</a:t>
            </a:r>
            <a:r>
              <a:rPr dirty="0" spc="-5"/>
              <a:t>NOISY</a:t>
            </a:r>
            <a:r>
              <a:rPr dirty="0" spc="-135"/>
              <a:t> </a:t>
            </a:r>
            <a:r>
              <a:rPr dirty="0" spc="-5"/>
              <a:t>CHANNELS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05969" y="1970786"/>
            <a:ext cx="8070850" cy="420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Although the </a:t>
            </a:r>
            <a:r>
              <a:rPr dirty="0" sz="2800" spc="-20" b="1" i="1">
                <a:latin typeface="Times New Roman"/>
                <a:cs typeface="Times New Roman"/>
              </a:rPr>
              <a:t>Stop-and-Wait </a:t>
            </a:r>
            <a:r>
              <a:rPr dirty="0" sz="2800" spc="-5" b="1" i="1">
                <a:latin typeface="Times New Roman"/>
                <a:cs typeface="Times New Roman"/>
              </a:rPr>
              <a:t>Protocol gives us an </a:t>
            </a:r>
            <a:r>
              <a:rPr dirty="0" sz="2800" spc="-10" b="1" i="1">
                <a:latin typeface="Times New Roman"/>
                <a:cs typeface="Times New Roman"/>
              </a:rPr>
              <a:t>idea 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how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5" b="1" i="1">
                <a:latin typeface="Times New Roman"/>
                <a:cs typeface="Times New Roman"/>
              </a:rPr>
              <a:t>add flow control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5" b="1" i="1">
                <a:latin typeface="Times New Roman"/>
                <a:cs typeface="Times New Roman"/>
              </a:rPr>
              <a:t>its </a:t>
            </a:r>
            <a:r>
              <a:rPr dirty="0" sz="2800" spc="-20" b="1" i="1">
                <a:latin typeface="Times New Roman"/>
                <a:cs typeface="Times New Roman"/>
              </a:rPr>
              <a:t>predecessor, </a:t>
            </a:r>
            <a:r>
              <a:rPr dirty="0" sz="2800" spc="-5" b="1" i="1">
                <a:latin typeface="Times New Roman"/>
                <a:cs typeface="Times New Roman"/>
              </a:rPr>
              <a:t>noiseless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channels are </a:t>
            </a:r>
            <a:r>
              <a:rPr dirty="0" sz="2800" spc="-60" b="1" i="1">
                <a:latin typeface="Times New Roman"/>
                <a:cs typeface="Times New Roman"/>
              </a:rPr>
              <a:t>nonexistent..</a:t>
            </a:r>
            <a:r>
              <a:rPr dirty="0" sz="2800" spc="580" b="1" i="1">
                <a:latin typeface="Times New Roman"/>
                <a:cs typeface="Times New Roman"/>
              </a:rPr>
              <a:t> </a:t>
            </a: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discuss three protocols </a:t>
            </a:r>
            <a:r>
              <a:rPr dirty="0" sz="2800" b="1" i="1">
                <a:latin typeface="Times New Roman"/>
                <a:cs typeface="Times New Roman"/>
              </a:rPr>
              <a:t> in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section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that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use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error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control.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1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2379980">
              <a:lnSpc>
                <a:spcPct val="100000"/>
              </a:lnSpc>
              <a:spcBef>
                <a:spcPts val="400"/>
              </a:spcBef>
            </a:pPr>
            <a:r>
              <a:rPr dirty="0" sz="2400" spc="-15" b="1">
                <a:solidFill>
                  <a:srgbClr val="0033CC"/>
                </a:solidFill>
                <a:latin typeface="Times New Roman"/>
                <a:cs typeface="Times New Roman"/>
              </a:rPr>
              <a:t>Stop-and-Wait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Automatic Repeat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Request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Go-Back-N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Automatic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Repeat Request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 Selective</a:t>
            </a:r>
            <a:r>
              <a:rPr dirty="0" sz="2400" spc="-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Repeat</a:t>
            </a:r>
            <a:r>
              <a:rPr dirty="0" sz="2400" spc="-15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Automatic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Repeat</a:t>
            </a:r>
            <a:r>
              <a:rPr dirty="0" sz="2400" spc="-2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Request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232039" y="2596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9491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970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wrap="square" lIns="0" tIns="22225" rIns="0" bIns="0" rtlCol="0" vert="horz">
            <a:spAutoFit/>
          </a:bodyPr>
          <a:lstStyle/>
          <a:p>
            <a:pPr algn="ctr" marL="106045" marR="98425">
              <a:lnSpc>
                <a:spcPct val="100000"/>
              </a:lnSpc>
              <a:spcBef>
                <a:spcPts val="175"/>
              </a:spcBef>
            </a:pPr>
            <a:r>
              <a:rPr dirty="0" sz="3200" spc="-5" b="1">
                <a:latin typeface="Arial"/>
                <a:cs typeface="Arial"/>
              </a:rPr>
              <a:t>Error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correction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15" b="1">
                <a:latin typeface="Arial"/>
                <a:cs typeface="Arial"/>
              </a:rPr>
              <a:t> Stop-and-Wait</a:t>
            </a:r>
            <a:r>
              <a:rPr dirty="0" sz="3200" spc="-14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ARQ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done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by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keeping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copy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sent 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frame </a:t>
            </a:r>
            <a:r>
              <a:rPr dirty="0" sz="3200" spc="-5" b="1">
                <a:latin typeface="Arial"/>
                <a:cs typeface="Arial"/>
              </a:rPr>
              <a:t>and </a:t>
            </a:r>
            <a:r>
              <a:rPr dirty="0" sz="3200" spc="-10" b="1">
                <a:latin typeface="Arial"/>
                <a:cs typeface="Arial"/>
              </a:rPr>
              <a:t>retransmitting </a:t>
            </a:r>
            <a:r>
              <a:rPr dirty="0" sz="3200" spc="-5" b="1">
                <a:latin typeface="Arial"/>
                <a:cs typeface="Arial"/>
              </a:rPr>
              <a:t>of the </a:t>
            </a:r>
            <a:r>
              <a:rPr dirty="0" sz="3200" spc="-10" b="1">
                <a:latin typeface="Arial"/>
                <a:cs typeface="Arial"/>
              </a:rPr>
              <a:t>frame </a:t>
            </a:r>
            <a:r>
              <a:rPr dirty="0" sz="3200" spc="-5" b="1">
                <a:latin typeface="Arial"/>
                <a:cs typeface="Arial"/>
              </a:rPr>
              <a:t> when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timer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expires.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1992629"/>
            <a:ext cx="8153400" cy="680720"/>
            <a:chOff x="1232039" y="1992629"/>
            <a:chExt cx="8153400" cy="680720"/>
          </a:xfrm>
        </p:grpSpPr>
        <p:sp>
          <p:nvSpPr>
            <p:cNvPr id="8" name="object 8"/>
            <p:cNvSpPr/>
            <p:nvPr/>
          </p:nvSpPr>
          <p:spPr>
            <a:xfrm>
              <a:off x="1232039" y="2596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1992629"/>
              <a:ext cx="1143000" cy="56616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012695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151765" marR="14605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15" b="1">
                <a:latin typeface="Arial"/>
                <a:cs typeface="Arial"/>
              </a:rPr>
              <a:t>Stop-and-Wait</a:t>
            </a:r>
            <a:r>
              <a:rPr dirty="0" sz="3200" spc="-15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ARQ,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use</a:t>
            </a:r>
            <a:r>
              <a:rPr dirty="0" sz="3200" spc="-10" b="1">
                <a:latin typeface="Arial"/>
                <a:cs typeface="Arial"/>
              </a:rPr>
              <a:t> sequence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numbers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to</a:t>
            </a:r>
            <a:r>
              <a:rPr dirty="0" sz="3200" spc="-10" b="1">
                <a:latin typeface="Arial"/>
                <a:cs typeface="Arial"/>
              </a:rPr>
              <a:t> number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0" b="1">
                <a:latin typeface="Arial"/>
                <a:cs typeface="Arial"/>
              </a:rPr>
              <a:t> frames.</a:t>
            </a:r>
            <a:endParaRPr sz="3200">
              <a:latin typeface="Arial"/>
              <a:cs typeface="Arial"/>
            </a:endParaRPr>
          </a:p>
          <a:p>
            <a:pPr algn="ctr" marL="465455" marR="461009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sequence numbers </a:t>
            </a:r>
            <a:r>
              <a:rPr dirty="0" sz="3200" spc="-5" b="1">
                <a:latin typeface="Arial"/>
                <a:cs typeface="Arial"/>
              </a:rPr>
              <a:t>are </a:t>
            </a:r>
            <a:r>
              <a:rPr dirty="0" sz="3200" spc="-10" b="1">
                <a:latin typeface="Arial"/>
                <a:cs typeface="Arial"/>
              </a:rPr>
              <a:t>based on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modulo-2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arithmetic.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3" name="object 13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232039" y="24444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96795"/>
            <a:ext cx="1143000" cy="56692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8176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495300" cy="858519"/>
          </a:xfrm>
          <a:custGeom>
            <a:avLst/>
            <a:gdLst/>
            <a:ahLst/>
            <a:cxnLst/>
            <a:rect l="l" t="t" r="r" b="b"/>
            <a:pathLst>
              <a:path w="495300" h="858520">
                <a:moveTo>
                  <a:pt x="0" y="858012"/>
                </a:moveTo>
                <a:lnTo>
                  <a:pt x="495299" y="858012"/>
                </a:lnTo>
                <a:lnTo>
                  <a:pt x="495299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47339" y="2919983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858012"/>
                </a:moveTo>
                <a:lnTo>
                  <a:pt x="571500" y="858012"/>
                </a:lnTo>
                <a:lnTo>
                  <a:pt x="571500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70139" y="2574798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375285" marR="368300" indent="-63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</a:t>
            </a:r>
            <a:r>
              <a:rPr dirty="0" sz="3200" spc="-15" b="1">
                <a:latin typeface="Arial"/>
                <a:cs typeface="Arial"/>
              </a:rPr>
              <a:t>Stop-and-Wait </a:t>
            </a:r>
            <a:r>
              <a:rPr dirty="0" sz="3200" spc="-5" b="1">
                <a:latin typeface="Arial"/>
                <a:cs typeface="Arial"/>
              </a:rPr>
              <a:t>ARQ, the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acknowledgment </a:t>
            </a:r>
            <a:r>
              <a:rPr dirty="0" sz="3200" spc="-5" b="1">
                <a:latin typeface="Arial"/>
                <a:cs typeface="Arial"/>
              </a:rPr>
              <a:t>number </a:t>
            </a:r>
            <a:r>
              <a:rPr dirty="0" sz="3200" spc="-10" b="1">
                <a:latin typeface="Arial"/>
                <a:cs typeface="Arial"/>
              </a:rPr>
              <a:t>always </a:t>
            </a:r>
            <a:r>
              <a:rPr dirty="0" sz="3200" spc="-5" b="1">
                <a:latin typeface="Arial"/>
                <a:cs typeface="Arial"/>
              </a:rPr>
              <a:t> announces in modulo-2 </a:t>
            </a:r>
            <a:r>
              <a:rPr dirty="0" sz="3200" spc="-10" b="1">
                <a:latin typeface="Arial"/>
                <a:cs typeface="Arial"/>
              </a:rPr>
              <a:t>arithmetic the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sequence number </a:t>
            </a:r>
            <a:r>
              <a:rPr dirty="0" sz="3200" spc="-5" b="1">
                <a:latin typeface="Arial"/>
                <a:cs typeface="Arial"/>
              </a:rPr>
              <a:t>of the next </a:t>
            </a:r>
            <a:r>
              <a:rPr dirty="0" sz="3200" spc="-10" b="1">
                <a:latin typeface="Arial"/>
                <a:cs typeface="Arial"/>
              </a:rPr>
              <a:t>frame 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expected.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2706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11.10	</a:t>
            </a:r>
            <a:r>
              <a:rPr dirty="0" sz="2000" spc="-5" i="1">
                <a:latin typeface="Times New Roman"/>
                <a:cs typeface="Times New Roman"/>
              </a:rPr>
              <a:t>Design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 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15" i="1">
                <a:latin typeface="Times New Roman"/>
                <a:cs typeface="Times New Roman"/>
              </a:rPr>
              <a:t>Stop-and-Wait</a:t>
            </a:r>
            <a:r>
              <a:rPr dirty="0" sz="2000" spc="-1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r>
              <a:rPr dirty="0" sz="2000" spc="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8443" y="1538477"/>
            <a:ext cx="6217424" cy="49827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8373" y="828547"/>
            <a:ext cx="68967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Algorithm 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11.5	</a:t>
            </a:r>
            <a:r>
              <a:rPr dirty="0" sz="2000" spc="-5" b="1" i="1">
                <a:latin typeface="Times New Roman"/>
                <a:cs typeface="Times New Roman"/>
              </a:rPr>
              <a:t>Sender-site</a:t>
            </a:r>
            <a:r>
              <a:rPr dirty="0" sz="2000" spc="-1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algorithm</a:t>
            </a:r>
            <a:r>
              <a:rPr dirty="0" sz="2000" spc="-2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for</a:t>
            </a:r>
            <a:r>
              <a:rPr dirty="0" sz="2000" b="1" i="1">
                <a:latin typeface="Times New Roman"/>
                <a:cs typeface="Times New Roman"/>
              </a:rPr>
              <a:t> </a:t>
            </a:r>
            <a:r>
              <a:rPr dirty="0" sz="2000" spc="-15" b="1" i="1">
                <a:latin typeface="Times New Roman"/>
                <a:cs typeface="Times New Roman"/>
              </a:rPr>
              <a:t>Stop-and-Wait</a:t>
            </a:r>
            <a:r>
              <a:rPr dirty="0" sz="2000" spc="-9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1039" y="1289303"/>
            <a:ext cx="8941435" cy="4851400"/>
            <a:chOff x="851039" y="1289303"/>
            <a:chExt cx="8941435" cy="4851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039" y="1289303"/>
              <a:ext cx="8941308" cy="16314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2920746"/>
              <a:ext cx="8941308" cy="32194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06873" y="6237985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047" y="676147"/>
            <a:ext cx="689673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Algorithm 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11.5	</a:t>
            </a:r>
            <a:r>
              <a:rPr dirty="0" sz="2000" spc="-5" b="1" i="1">
                <a:latin typeface="Times New Roman"/>
                <a:cs typeface="Times New Roman"/>
              </a:rPr>
              <a:t>Sender-site</a:t>
            </a:r>
            <a:r>
              <a:rPr dirty="0" sz="2000" spc="-2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algorithm</a:t>
            </a:r>
            <a:r>
              <a:rPr dirty="0" sz="2000" spc="-1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for </a:t>
            </a:r>
            <a:r>
              <a:rPr dirty="0" sz="2000" spc="-15" b="1" i="1">
                <a:latin typeface="Times New Roman"/>
                <a:cs typeface="Times New Roman"/>
              </a:rPr>
              <a:t>Stop-and-Wait</a:t>
            </a:r>
            <a:r>
              <a:rPr dirty="0" sz="2000" spc="-9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59273" y="643382"/>
            <a:ext cx="1501140" cy="3511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039" y="1245869"/>
            <a:ext cx="9004554" cy="4741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8270" y="752347"/>
            <a:ext cx="80200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11.6	</a:t>
            </a:r>
            <a:r>
              <a:rPr dirty="0" sz="2000" spc="-5" i="1">
                <a:latin typeface="Times New Roman"/>
                <a:cs typeface="Times New Roman"/>
              </a:rPr>
              <a:t>Receiver-site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15" i="1">
                <a:latin typeface="Times New Roman"/>
                <a:cs typeface="Times New Roman"/>
              </a:rPr>
              <a:t>Stop-and-Wait</a:t>
            </a:r>
            <a:r>
              <a:rPr dirty="0" sz="2000" spc="-9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r>
              <a:rPr dirty="0" sz="2000" spc="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81519" y="1188719"/>
            <a:ext cx="8888095" cy="5104130"/>
            <a:chOff x="881519" y="1188719"/>
            <a:chExt cx="8888095" cy="5104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519" y="1188719"/>
              <a:ext cx="8887968" cy="12230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519" y="2417825"/>
              <a:ext cx="8852789" cy="387477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376920" cy="3439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65" b="1" i="1">
                <a:latin typeface="Times New Roman"/>
                <a:cs typeface="Times New Roman"/>
              </a:rPr>
              <a:t>11.11 </a:t>
            </a:r>
            <a:r>
              <a:rPr dirty="0" sz="2800" spc="-5" b="1" i="1">
                <a:latin typeface="Times New Roman"/>
                <a:cs typeface="Times New Roman"/>
              </a:rPr>
              <a:t>shows an example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20" b="1" i="1">
                <a:solidFill>
                  <a:srgbClr val="FF0000"/>
                </a:solidFill>
                <a:latin typeface="Times New Roman"/>
                <a:cs typeface="Times New Roman"/>
              </a:rPr>
              <a:t>Stop-and-Wait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ARQ</a:t>
            </a:r>
            <a:r>
              <a:rPr dirty="0" sz="2800" spc="-5" b="1" i="1">
                <a:latin typeface="Times New Roman"/>
                <a:cs typeface="Times New Roman"/>
              </a:rPr>
              <a:t>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0 </a:t>
            </a:r>
            <a:r>
              <a:rPr dirty="0" sz="2800" spc="-5" b="1" i="1">
                <a:latin typeface="Times New Roman"/>
                <a:cs typeface="Times New Roman"/>
              </a:rPr>
              <a:t>is sent and acknowledged. 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is lost </a:t>
            </a:r>
            <a:r>
              <a:rPr dirty="0" sz="2800" b="1" i="1">
                <a:latin typeface="Times New Roman"/>
                <a:cs typeface="Times New Roman"/>
              </a:rPr>
              <a:t>and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resent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after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time-out.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resent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b="1" i="1">
                <a:latin typeface="Times New Roman"/>
                <a:cs typeface="Times New Roman"/>
              </a:rPr>
              <a:t> 1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acknowledged </a:t>
            </a:r>
            <a:r>
              <a:rPr dirty="0" sz="2800" b="1" i="1">
                <a:latin typeface="Times New Roman"/>
                <a:cs typeface="Times New Roman"/>
              </a:rPr>
              <a:t>and the </a:t>
            </a:r>
            <a:r>
              <a:rPr dirty="0" sz="2800" spc="-5" b="1" i="1">
                <a:latin typeface="Times New Roman"/>
                <a:cs typeface="Times New Roman"/>
              </a:rPr>
              <a:t>timer stops. Frame </a:t>
            </a:r>
            <a:r>
              <a:rPr dirty="0" sz="2800" b="1" i="1">
                <a:latin typeface="Times New Roman"/>
                <a:cs typeface="Times New Roman"/>
              </a:rPr>
              <a:t>0 is </a:t>
            </a:r>
            <a:r>
              <a:rPr dirty="0" sz="2800" spc="-5" b="1" i="1">
                <a:latin typeface="Times New Roman"/>
                <a:cs typeface="Times New Roman"/>
              </a:rPr>
              <a:t>sent </a:t>
            </a:r>
            <a:r>
              <a:rPr dirty="0" sz="2800" b="1" i="1">
                <a:latin typeface="Times New Roman"/>
                <a:cs typeface="Times New Roman"/>
              </a:rPr>
              <a:t>and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acknowledged,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lost.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sender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has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idea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if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25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spc="25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or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lost, </a:t>
            </a:r>
            <a:r>
              <a:rPr dirty="0" sz="2800" b="1" i="1">
                <a:latin typeface="Times New Roman"/>
                <a:cs typeface="Times New Roman"/>
              </a:rPr>
              <a:t>so </a:t>
            </a:r>
            <a:r>
              <a:rPr dirty="0" sz="2800" spc="-5" b="1" i="1">
                <a:latin typeface="Times New Roman"/>
                <a:cs typeface="Times New Roman"/>
              </a:rPr>
              <a:t>after the time-out, it resends frame 0, which 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0958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8789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60">
                <a:solidFill>
                  <a:srgbClr val="3333CC"/>
                </a:solidFill>
              </a:rPr>
              <a:t>11.11	</a:t>
            </a:r>
            <a:r>
              <a:rPr dirty="0" sz="2000" spc="-5" i="1">
                <a:latin typeface="Times New Roman"/>
                <a:cs typeface="Times New Roman"/>
              </a:rPr>
              <a:t>Flow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diagram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27239" y="1457705"/>
            <a:ext cx="8763000" cy="5330190"/>
            <a:chOff x="927239" y="1457705"/>
            <a:chExt cx="8763000" cy="53301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8245" y="1457705"/>
              <a:ext cx="5900623" cy="52158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82156" y="1512824"/>
            <a:ext cx="8528685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Assume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that,</a:t>
            </a:r>
            <a:r>
              <a:rPr dirty="0" sz="2800" b="1" i="1">
                <a:latin typeface="Times New Roman"/>
                <a:cs typeface="Times New Roman"/>
              </a:rPr>
              <a:t> in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20" b="1" i="1">
                <a:latin typeface="Times New Roman"/>
                <a:cs typeface="Times New Roman"/>
              </a:rPr>
              <a:t>Stop-and-Wait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ARQ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bandwidth of the line is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Mbps, </a:t>
            </a:r>
            <a:r>
              <a:rPr dirty="0" sz="2800" b="1" i="1">
                <a:latin typeface="Times New Roman"/>
                <a:cs typeface="Times New Roman"/>
              </a:rPr>
              <a:t>and 1 </a:t>
            </a:r>
            <a:r>
              <a:rPr dirty="0" sz="2800" spc="-5" b="1" i="1">
                <a:latin typeface="Times New Roman"/>
                <a:cs typeface="Times New Roman"/>
              </a:rPr>
              <a:t>bit takes 20 ms to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make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round trip. What is the bandwidth-delay product? </a:t>
            </a:r>
            <a:r>
              <a:rPr dirty="0" sz="2800" b="1" i="1">
                <a:latin typeface="Times New Roman"/>
                <a:cs typeface="Times New Roman"/>
              </a:rPr>
              <a:t> If the </a:t>
            </a:r>
            <a:r>
              <a:rPr dirty="0" sz="2800" spc="-5" b="1" i="1">
                <a:latin typeface="Times New Roman"/>
                <a:cs typeface="Times New Roman"/>
              </a:rPr>
              <a:t>system data frames are 1000 bits </a:t>
            </a: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-5" b="1" i="1">
                <a:latin typeface="Times New Roman"/>
                <a:cs typeface="Times New Roman"/>
              </a:rPr>
              <a:t>length, what is </a:t>
            </a:r>
            <a:r>
              <a:rPr dirty="0" sz="2800" b="1" i="1">
                <a:latin typeface="Times New Roman"/>
                <a:cs typeface="Times New Roman"/>
              </a:rPr>
              <a:t> 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utilization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percentage</a:t>
            </a:r>
            <a:r>
              <a:rPr dirty="0" sz="2800" spc="-4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link?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bandwidth-delay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product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2550" y="5068823"/>
            <a:ext cx="4282440" cy="519430"/>
            <a:chOff x="2622550" y="5068823"/>
            <a:chExt cx="4282440" cy="51943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0601" y="5129783"/>
              <a:ext cx="4166615" cy="4008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22550" y="5068836"/>
              <a:ext cx="4282440" cy="519430"/>
            </a:xfrm>
            <a:custGeom>
              <a:avLst/>
              <a:gdLst/>
              <a:ahLst/>
              <a:cxnLst/>
              <a:rect l="l" t="t" r="r" b="b"/>
              <a:pathLst>
                <a:path w="4282440" h="519429">
                  <a:moveTo>
                    <a:pt x="4236720" y="45720"/>
                  </a:moveTo>
                  <a:lnTo>
                    <a:pt x="4225290" y="45720"/>
                  </a:lnTo>
                  <a:lnTo>
                    <a:pt x="4225290" y="57150"/>
                  </a:lnTo>
                  <a:lnTo>
                    <a:pt x="4225290" y="423672"/>
                  </a:lnTo>
                  <a:lnTo>
                    <a:pt x="4225290" y="461772"/>
                  </a:lnTo>
                  <a:lnTo>
                    <a:pt x="57150" y="461772"/>
                  </a:lnTo>
                  <a:lnTo>
                    <a:pt x="57150" y="423672"/>
                  </a:lnTo>
                  <a:lnTo>
                    <a:pt x="57150" y="57150"/>
                  </a:lnTo>
                  <a:lnTo>
                    <a:pt x="4225290" y="57150"/>
                  </a:lnTo>
                  <a:lnTo>
                    <a:pt x="422529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23672"/>
                  </a:lnTo>
                  <a:lnTo>
                    <a:pt x="45720" y="473202"/>
                  </a:lnTo>
                  <a:lnTo>
                    <a:pt x="57150" y="473202"/>
                  </a:lnTo>
                  <a:lnTo>
                    <a:pt x="4225290" y="473202"/>
                  </a:lnTo>
                  <a:lnTo>
                    <a:pt x="4236720" y="473202"/>
                  </a:lnTo>
                  <a:lnTo>
                    <a:pt x="4236720" y="423672"/>
                  </a:lnTo>
                  <a:lnTo>
                    <a:pt x="4236720" y="45720"/>
                  </a:lnTo>
                  <a:close/>
                </a:path>
                <a:path w="4282440" h="519429">
                  <a:moveTo>
                    <a:pt x="4282440" y="0"/>
                  </a:moveTo>
                  <a:lnTo>
                    <a:pt x="4248150" y="0"/>
                  </a:lnTo>
                  <a:lnTo>
                    <a:pt x="4248150" y="34290"/>
                  </a:lnTo>
                  <a:lnTo>
                    <a:pt x="4248150" y="423672"/>
                  </a:lnTo>
                  <a:lnTo>
                    <a:pt x="4248150" y="484632"/>
                  </a:lnTo>
                  <a:lnTo>
                    <a:pt x="34290" y="484632"/>
                  </a:lnTo>
                  <a:lnTo>
                    <a:pt x="34290" y="423672"/>
                  </a:lnTo>
                  <a:lnTo>
                    <a:pt x="34290" y="34290"/>
                  </a:lnTo>
                  <a:lnTo>
                    <a:pt x="4248150" y="34290"/>
                  </a:lnTo>
                  <a:lnTo>
                    <a:pt x="42481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23672"/>
                  </a:lnTo>
                  <a:lnTo>
                    <a:pt x="0" y="518922"/>
                  </a:lnTo>
                  <a:lnTo>
                    <a:pt x="34290" y="518922"/>
                  </a:lnTo>
                  <a:lnTo>
                    <a:pt x="4248150" y="518922"/>
                  </a:lnTo>
                  <a:lnTo>
                    <a:pt x="4282440" y="518922"/>
                  </a:lnTo>
                  <a:lnTo>
                    <a:pt x="4282440" y="423672"/>
                  </a:lnTo>
                  <a:lnTo>
                    <a:pt x="42824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11.4</a:t>
            </a:r>
            <a:r>
              <a:rPr dirty="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62" y="1512824"/>
            <a:ext cx="8529320" cy="301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 system can send 20,000 bits during the time it takes </a:t>
            </a:r>
            <a:r>
              <a:rPr dirty="0" sz="2800" b="1" i="1">
                <a:latin typeface="Times New Roman"/>
                <a:cs typeface="Times New Roman"/>
              </a:rPr>
              <a:t> for </a:t>
            </a:r>
            <a:r>
              <a:rPr dirty="0" sz="2800" spc="-5" b="1" i="1">
                <a:latin typeface="Times New Roman"/>
                <a:cs typeface="Times New Roman"/>
              </a:rPr>
              <a:t>the data to </a:t>
            </a:r>
            <a:r>
              <a:rPr dirty="0" sz="2800" b="1" i="1">
                <a:latin typeface="Times New Roman"/>
                <a:cs typeface="Times New Roman"/>
              </a:rPr>
              <a:t>go </a:t>
            </a:r>
            <a:r>
              <a:rPr dirty="0" sz="2800" spc="-5" b="1" i="1">
                <a:latin typeface="Times New Roman"/>
                <a:cs typeface="Times New Roman"/>
              </a:rPr>
              <a:t>from the sender to the receiver and then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back again. </a:t>
            </a:r>
            <a:r>
              <a:rPr dirty="0" sz="2800" spc="-25" b="1" i="1">
                <a:latin typeface="Times New Roman"/>
                <a:cs typeface="Times New Roman"/>
              </a:rPr>
              <a:t>However, </a:t>
            </a:r>
            <a:r>
              <a:rPr dirty="0" sz="2800" spc="-5" b="1" i="1">
                <a:latin typeface="Times New Roman"/>
                <a:cs typeface="Times New Roman"/>
              </a:rPr>
              <a:t>the system sends only 1000 bits. </a:t>
            </a:r>
            <a:r>
              <a:rPr dirty="0" sz="2800" spc="-110" b="1" i="1">
                <a:latin typeface="Times New Roman"/>
                <a:cs typeface="Times New Roman"/>
              </a:rPr>
              <a:t>We </a:t>
            </a:r>
            <a:r>
              <a:rPr dirty="0" sz="2800" spc="-10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can </a:t>
            </a:r>
            <a:r>
              <a:rPr dirty="0" sz="2800" spc="-5" b="1" i="1">
                <a:latin typeface="Times New Roman"/>
                <a:cs typeface="Times New Roman"/>
              </a:rPr>
              <a:t>say that the link utilization is only 1000/20,000, or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5 </a:t>
            </a:r>
            <a:r>
              <a:rPr dirty="0" sz="2800" spc="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percent. For this reason, for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link with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high bandwidth </a:t>
            </a:r>
            <a:r>
              <a:rPr dirty="0" sz="2800" b="1" i="1">
                <a:latin typeface="Times New Roman"/>
                <a:cs typeface="Times New Roman"/>
              </a:rPr>
              <a:t> or </a:t>
            </a:r>
            <a:r>
              <a:rPr dirty="0" sz="2800" spc="-5" b="1" i="1">
                <a:latin typeface="Times New Roman"/>
                <a:cs typeface="Times New Roman"/>
              </a:rPr>
              <a:t>long </a:t>
            </a:r>
            <a:r>
              <a:rPr dirty="0" sz="2800" spc="-25" b="1" i="1">
                <a:latin typeface="Times New Roman"/>
                <a:cs typeface="Times New Roman"/>
              </a:rPr>
              <a:t>delay, </a:t>
            </a:r>
            <a:r>
              <a:rPr dirty="0" sz="2800" b="1" i="1">
                <a:latin typeface="Times New Roman"/>
                <a:cs typeface="Times New Roman"/>
              </a:rPr>
              <a:t>the use of </a:t>
            </a:r>
            <a:r>
              <a:rPr dirty="0" sz="2800" spc="-20" b="1" i="1">
                <a:latin typeface="Times New Roman"/>
                <a:cs typeface="Times New Roman"/>
              </a:rPr>
              <a:t>Stop-and-Wait </a:t>
            </a:r>
            <a:r>
              <a:rPr dirty="0" sz="2800" spc="-5" b="1" i="1">
                <a:latin typeface="Times New Roman"/>
                <a:cs typeface="Times New Roman"/>
              </a:rPr>
              <a:t>ARQ wastes the </a:t>
            </a:r>
            <a:r>
              <a:rPr dirty="0" sz="2800" b="1" i="1">
                <a:latin typeface="Times New Roman"/>
                <a:cs typeface="Times New Roman"/>
              </a:rPr>
              <a:t> capacity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link.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2571750"/>
            <a:chOff x="774839" y="1206246"/>
            <a:chExt cx="9144000" cy="257175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33350"/>
            </a:xfrm>
            <a:custGeom>
              <a:avLst/>
              <a:gdLst/>
              <a:ahLst/>
              <a:cxnLst/>
              <a:rect l="l" t="t" r="r" b="b"/>
              <a:pathLst>
                <a:path w="422275" h="133350">
                  <a:moveTo>
                    <a:pt x="0" y="133349"/>
                  </a:moveTo>
                  <a:lnTo>
                    <a:pt x="422147" y="1333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31750" h="133350">
                  <a:moveTo>
                    <a:pt x="0" y="133349"/>
                  </a:moveTo>
                  <a:lnTo>
                    <a:pt x="31241" y="1333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339608"/>
              <a:ext cx="9144000" cy="2438400"/>
            </a:xfrm>
            <a:custGeom>
              <a:avLst/>
              <a:gdLst/>
              <a:ahLst/>
              <a:cxnLst/>
              <a:rect l="l" t="t" r="r" b="b"/>
              <a:pathLst>
                <a:path w="9144000" h="2438400">
                  <a:moveTo>
                    <a:pt x="9144000" y="723138"/>
                  </a:moveTo>
                  <a:lnTo>
                    <a:pt x="8458200" y="723138"/>
                  </a:lnTo>
                  <a:lnTo>
                    <a:pt x="8458200" y="0"/>
                  </a:lnTo>
                  <a:lnTo>
                    <a:pt x="228600" y="0"/>
                  </a:lnTo>
                  <a:lnTo>
                    <a:pt x="228600" y="723138"/>
                  </a:lnTo>
                  <a:lnTo>
                    <a:pt x="0" y="723138"/>
                  </a:lnTo>
                  <a:lnTo>
                    <a:pt x="0" y="1580388"/>
                  </a:lnTo>
                  <a:lnTo>
                    <a:pt x="0" y="1581150"/>
                  </a:lnTo>
                  <a:lnTo>
                    <a:pt x="0" y="2438400"/>
                  </a:lnTo>
                  <a:lnTo>
                    <a:pt x="9144000" y="2438400"/>
                  </a:lnTo>
                  <a:lnTo>
                    <a:pt x="9144000" y="1581150"/>
                  </a:lnTo>
                  <a:lnTo>
                    <a:pt x="9144000" y="1580388"/>
                  </a:lnTo>
                  <a:lnTo>
                    <a:pt x="9144000" y="72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82163" y="1360424"/>
            <a:ext cx="8528685" cy="535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1009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1504950" algn="l"/>
                <a:tab pos="2192020" algn="l"/>
                <a:tab pos="3907154" algn="l"/>
                <a:tab pos="5739130" algn="l"/>
                <a:tab pos="6268720" algn="l"/>
                <a:tab pos="6955790" algn="l"/>
                <a:tab pos="776224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Wha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i</a:t>
            </a:r>
            <a:r>
              <a:rPr dirty="0" sz="2800" b="1" i="1">
                <a:latin typeface="Times New Roman"/>
                <a:cs typeface="Times New Roman"/>
              </a:rPr>
              <a:t>s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th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u</a:t>
            </a:r>
            <a:r>
              <a:rPr dirty="0" sz="2800" spc="-5" b="1" i="1">
                <a:latin typeface="Times New Roman"/>
                <a:cs typeface="Times New Roman"/>
              </a:rPr>
              <a:t>tilizatio</a:t>
            </a:r>
            <a:r>
              <a:rPr dirty="0" sz="2800" b="1" i="1">
                <a:latin typeface="Times New Roman"/>
                <a:cs typeface="Times New Roman"/>
              </a:rPr>
              <a:t>n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p</a:t>
            </a:r>
            <a:r>
              <a:rPr dirty="0" sz="2800" spc="-5" b="1" i="1">
                <a:latin typeface="Times New Roman"/>
                <a:cs typeface="Times New Roman"/>
              </a:rPr>
              <a:t>ercentag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o</a:t>
            </a:r>
            <a:r>
              <a:rPr dirty="0" sz="2800" b="1" i="1">
                <a:latin typeface="Times New Roman"/>
                <a:cs typeface="Times New Roman"/>
              </a:rPr>
              <a:t>f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sz="2800" spc="-5" b="1" i="1">
                <a:latin typeface="Times New Roman"/>
                <a:cs typeface="Times New Roman"/>
              </a:rPr>
              <a:t>h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lin</a:t>
            </a:r>
            <a:r>
              <a:rPr dirty="0" sz="2800" b="1" i="1">
                <a:latin typeface="Times New Roman"/>
                <a:cs typeface="Times New Roman"/>
              </a:rPr>
              <a:t>k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in  </a:t>
            </a:r>
            <a:r>
              <a:rPr dirty="0" sz="2800" spc="-5" b="1" i="1">
                <a:latin typeface="Times New Roman"/>
                <a:cs typeface="Times New Roman"/>
              </a:rPr>
              <a:t>Example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80" b="1" i="1">
                <a:latin typeface="Times New Roman"/>
                <a:cs typeface="Times New Roman"/>
              </a:rPr>
              <a:t>11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4</a:t>
            </a:r>
            <a:r>
              <a:rPr dirty="0" sz="2800" spc="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if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we</a:t>
            </a:r>
            <a:r>
              <a:rPr dirty="0" sz="2800" spc="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</a:t>
            </a:r>
            <a:r>
              <a:rPr dirty="0" sz="2800" spc="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protocol</a:t>
            </a:r>
            <a:r>
              <a:rPr dirty="0" sz="2800" spc="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that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can</a:t>
            </a:r>
            <a:r>
              <a:rPr dirty="0" sz="2800" spc="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</a:t>
            </a:r>
            <a:r>
              <a:rPr dirty="0" sz="2800" spc="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up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</a:t>
            </a:r>
            <a:endParaRPr sz="2800">
              <a:latin typeface="Times New Roman"/>
              <a:cs typeface="Times New Roman"/>
            </a:endParaRPr>
          </a:p>
          <a:p>
            <a:pPr marL="12700" marR="463550">
              <a:lnSpc>
                <a:spcPct val="100000"/>
              </a:lnSpc>
              <a:tabLst>
                <a:tab pos="561340" algn="l"/>
                <a:tab pos="1760855" algn="l"/>
                <a:tab pos="2880360" algn="l"/>
                <a:tab pos="4317365" algn="l"/>
                <a:tab pos="5064125" algn="l"/>
                <a:tab pos="6580505" algn="l"/>
                <a:tab pos="7601584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1</a:t>
            </a:r>
            <a:r>
              <a:rPr dirty="0" sz="2800" b="1" i="1">
                <a:latin typeface="Times New Roman"/>
                <a:cs typeface="Times New Roman"/>
              </a:rPr>
              <a:t>5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b="1" i="1">
                <a:latin typeface="Times New Roman"/>
                <a:cs typeface="Times New Roman"/>
              </a:rPr>
              <a:t>s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befor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stoppin</a:t>
            </a:r>
            <a:r>
              <a:rPr dirty="0" sz="2800" b="1" i="1">
                <a:latin typeface="Times New Roman"/>
                <a:cs typeface="Times New Roman"/>
              </a:rPr>
              <a:t>g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-5" b="1" i="1">
                <a:latin typeface="Times New Roman"/>
                <a:cs typeface="Times New Roman"/>
              </a:rPr>
              <a:t>n</a:t>
            </a: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worryin</a:t>
            </a:r>
            <a:r>
              <a:rPr dirty="0" sz="2800" b="1" i="1">
                <a:latin typeface="Times New Roman"/>
                <a:cs typeface="Times New Roman"/>
              </a:rPr>
              <a:t>g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abou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sz="2800" spc="-5" b="1" i="1">
                <a:latin typeface="Times New Roman"/>
                <a:cs typeface="Times New Roman"/>
              </a:rPr>
              <a:t>he  </a:t>
            </a:r>
            <a:r>
              <a:rPr dirty="0" sz="2800" spc="-5" b="1" i="1">
                <a:latin typeface="Times New Roman"/>
                <a:cs typeface="Times New Roman"/>
              </a:rPr>
              <a:t>acknowledgments?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bandwidth-delay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product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still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20,000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bits.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 can send </a:t>
            </a:r>
            <a:r>
              <a:rPr dirty="0" sz="2800" b="1" i="1">
                <a:latin typeface="Times New Roman"/>
                <a:cs typeface="Times New Roman"/>
              </a:rPr>
              <a:t>up </a:t>
            </a:r>
            <a:r>
              <a:rPr dirty="0" sz="2800" spc="-5" b="1" i="1">
                <a:latin typeface="Times New Roman"/>
                <a:cs typeface="Times New Roman"/>
              </a:rPr>
              <a:t>to </a:t>
            </a:r>
            <a:r>
              <a:rPr dirty="0" sz="2800" b="1" i="1">
                <a:latin typeface="Times New Roman"/>
                <a:cs typeface="Times New Roman"/>
              </a:rPr>
              <a:t>15 </a:t>
            </a:r>
            <a:r>
              <a:rPr dirty="0" sz="2800" spc="-5" b="1" i="1">
                <a:latin typeface="Times New Roman"/>
                <a:cs typeface="Times New Roman"/>
              </a:rPr>
              <a:t>frames or 15,000 bits during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round trip. This means the utilization is 15,000/20,000, or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75 </a:t>
            </a:r>
            <a:r>
              <a:rPr dirty="0" sz="2800" spc="-5" b="1" i="1">
                <a:latin typeface="Times New Roman"/>
                <a:cs typeface="Times New Roman"/>
              </a:rPr>
              <a:t>percent. Of course, if there are damaged frames,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utilization</a:t>
            </a:r>
            <a:r>
              <a:rPr dirty="0" sz="2800" spc="3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percentage</a:t>
            </a:r>
            <a:r>
              <a:rPr dirty="0" sz="2800" spc="3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3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much</a:t>
            </a:r>
            <a:r>
              <a:rPr dirty="0" sz="2800" spc="3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less</a:t>
            </a:r>
            <a:r>
              <a:rPr dirty="0" sz="2800" spc="3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because</a:t>
            </a:r>
            <a:r>
              <a:rPr dirty="0" sz="2800" spc="3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spc="3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to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be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resent.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068829"/>
            <a:ext cx="8153400" cy="680720"/>
            <a:chOff x="1232039" y="2068829"/>
            <a:chExt cx="8153400" cy="680720"/>
          </a:xfrm>
        </p:grpSpPr>
        <p:sp>
          <p:nvSpPr>
            <p:cNvPr id="8" name="object 8"/>
            <p:cNvSpPr/>
            <p:nvPr/>
          </p:nvSpPr>
          <p:spPr>
            <a:xfrm>
              <a:off x="1232039" y="2673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068829"/>
              <a:ext cx="1143000" cy="56616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088895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3777234"/>
            <a:ext cx="9144000" cy="1715770"/>
            <a:chOff x="774839" y="3777234"/>
            <a:chExt cx="9144000" cy="17157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46"/>
              <a:ext cx="9144000" cy="1715770"/>
            </a:xfrm>
            <a:custGeom>
              <a:avLst/>
              <a:gdLst/>
              <a:ahLst/>
              <a:cxnLst/>
              <a:rect l="l" t="t" r="r" b="b"/>
              <a:pathLst>
                <a:path w="9144000" h="171577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7250"/>
                  </a:lnTo>
                  <a:lnTo>
                    <a:pt x="495300" y="85725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9144000" y="1715262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34325" y="48828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210820"/>
            </a:xfrm>
            <a:custGeom>
              <a:avLst/>
              <a:gdLst/>
              <a:ahLst/>
              <a:cxnLst/>
              <a:rect l="l" t="t" r="r" b="b"/>
              <a:pathLst>
                <a:path w="8077200" h="210820">
                  <a:moveTo>
                    <a:pt x="8077200" y="2103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210312"/>
                  </a:lnTo>
                  <a:lnTo>
                    <a:pt x="8077200" y="2103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70139" y="2803398"/>
            <a:ext cx="8077200" cy="1831339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104139" marR="9779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the Go-Back-N </a:t>
            </a:r>
            <a:r>
              <a:rPr dirty="0" sz="3200" spc="-10" b="1">
                <a:latin typeface="Arial"/>
                <a:cs typeface="Arial"/>
              </a:rPr>
              <a:t>Protocol, </a:t>
            </a: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sequence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numbers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are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modulo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10" b="1">
                <a:latin typeface="Arial"/>
                <a:cs typeface="Arial"/>
              </a:rPr>
              <a:t>2</a:t>
            </a:r>
            <a:r>
              <a:rPr dirty="0" baseline="25132" sz="3150" spc="15" b="1" i="1">
                <a:latin typeface="Arial"/>
                <a:cs typeface="Arial"/>
              </a:rPr>
              <a:t>m</a:t>
            </a:r>
            <a:r>
              <a:rPr dirty="0" sz="3200" spc="10" b="1">
                <a:latin typeface="Arial"/>
                <a:cs typeface="Arial"/>
              </a:rPr>
              <a:t>,</a:t>
            </a:r>
            <a:endParaRPr sz="3200">
              <a:latin typeface="Arial"/>
              <a:cs typeface="Arial"/>
            </a:endParaRPr>
          </a:p>
          <a:p>
            <a:pPr algn="ctr" marL="588010" marR="582930">
              <a:lnSpc>
                <a:spcPct val="100000"/>
              </a:lnSpc>
            </a:pPr>
            <a:r>
              <a:rPr dirty="0" sz="3200" spc="-10" b="1">
                <a:latin typeface="Arial"/>
                <a:cs typeface="Arial"/>
              </a:rPr>
              <a:t>where </a:t>
            </a:r>
            <a:r>
              <a:rPr dirty="0" sz="3200" spc="-5" b="1">
                <a:latin typeface="Arial"/>
                <a:cs typeface="Arial"/>
              </a:rPr>
              <a:t>m is the size of the </a:t>
            </a:r>
            <a:r>
              <a:rPr dirty="0" sz="3200" spc="-10" b="1">
                <a:latin typeface="Arial"/>
                <a:cs typeface="Arial"/>
              </a:rPr>
              <a:t>sequence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number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field in bits.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3822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11.12	</a:t>
            </a:r>
            <a:r>
              <a:rPr dirty="0" sz="2000" spc="-5" i="1">
                <a:latin typeface="Times New Roman"/>
                <a:cs typeface="Times New Roman"/>
              </a:rPr>
              <a:t>Send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window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-6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91" y="1578102"/>
            <a:ext cx="8537447" cy="456209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73629"/>
            <a:ext cx="1143000" cy="5471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93695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039" y="2920745"/>
            <a:ext cx="8153400" cy="133350"/>
            <a:chOff x="1232039" y="2920745"/>
            <a:chExt cx="8153400" cy="133350"/>
          </a:xfrm>
        </p:grpSpPr>
        <p:sp>
          <p:nvSpPr>
            <p:cNvPr id="10" name="object 10"/>
            <p:cNvSpPr/>
            <p:nvPr/>
          </p:nvSpPr>
          <p:spPr>
            <a:xfrm>
              <a:off x="1232039" y="2977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920745"/>
              <a:ext cx="1143000" cy="1905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270139" y="3108210"/>
            <a:ext cx="8077200" cy="1527175"/>
          </a:xfrm>
          <a:custGeom>
            <a:avLst/>
            <a:gdLst/>
            <a:ahLst/>
            <a:cxnLst/>
            <a:rect l="l" t="t" r="r" b="b"/>
            <a:pathLst>
              <a:path w="8077200" h="1527175">
                <a:moveTo>
                  <a:pt x="8077200" y="0"/>
                </a:moveTo>
                <a:lnTo>
                  <a:pt x="0" y="0"/>
                </a:lnTo>
                <a:lnTo>
                  <a:pt x="0" y="669036"/>
                </a:lnTo>
                <a:lnTo>
                  <a:pt x="0" y="669798"/>
                </a:lnTo>
                <a:lnTo>
                  <a:pt x="0" y="1527048"/>
                </a:lnTo>
                <a:lnTo>
                  <a:pt x="8077200" y="1527048"/>
                </a:lnTo>
                <a:lnTo>
                  <a:pt x="8077200" y="669798"/>
                </a:lnTo>
                <a:lnTo>
                  <a:pt x="8077200" y="66903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44739" y="3130550"/>
            <a:ext cx="812800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75260" marR="169545">
              <a:lnSpc>
                <a:spcPct val="100000"/>
              </a:lnSpc>
              <a:spcBef>
                <a:spcPts val="95"/>
              </a:spcBef>
            </a:pPr>
            <a:r>
              <a:rPr dirty="0" sz="3200" spc="-5" b="1">
                <a:latin typeface="Arial"/>
                <a:cs typeface="Arial"/>
              </a:rPr>
              <a:t>The send window is an </a:t>
            </a:r>
            <a:r>
              <a:rPr dirty="0" sz="3200" spc="-10" b="1">
                <a:latin typeface="Arial"/>
                <a:cs typeface="Arial"/>
              </a:rPr>
              <a:t>abstract concept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defining an imaginary box </a:t>
            </a:r>
            <a:r>
              <a:rPr dirty="0" sz="3200" b="1">
                <a:latin typeface="Arial"/>
                <a:cs typeface="Arial"/>
              </a:rPr>
              <a:t>of </a:t>
            </a:r>
            <a:r>
              <a:rPr dirty="0" sz="3200" spc="-5" b="1">
                <a:latin typeface="Arial"/>
                <a:cs typeface="Arial"/>
              </a:rPr>
              <a:t>size </a:t>
            </a:r>
            <a:r>
              <a:rPr dirty="0" sz="3200" spc="10" b="1">
                <a:latin typeface="Arial"/>
                <a:cs typeface="Arial"/>
              </a:rPr>
              <a:t>2</a:t>
            </a:r>
            <a:r>
              <a:rPr dirty="0" baseline="25132" sz="3150" spc="15" b="1" i="1">
                <a:latin typeface="Arial"/>
                <a:cs typeface="Arial"/>
              </a:rPr>
              <a:t>m</a:t>
            </a:r>
            <a:r>
              <a:rPr dirty="0" baseline="25132" sz="3150" spc="22" b="1" i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− 1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with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three</a:t>
            </a:r>
            <a:r>
              <a:rPr dirty="0" sz="3200" spc="-10" b="1">
                <a:latin typeface="Arial"/>
                <a:cs typeface="Arial"/>
              </a:rPr>
              <a:t> variables: </a:t>
            </a:r>
            <a:r>
              <a:rPr dirty="0" sz="3200" spc="5" b="1">
                <a:latin typeface="Arial"/>
                <a:cs typeface="Arial"/>
              </a:rPr>
              <a:t>S</a:t>
            </a:r>
            <a:r>
              <a:rPr dirty="0" baseline="-14550" sz="3150" spc="7" b="1">
                <a:latin typeface="Arial"/>
                <a:cs typeface="Arial"/>
              </a:rPr>
              <a:t>f</a:t>
            </a:r>
            <a:r>
              <a:rPr dirty="0" sz="3200" spc="5" b="1">
                <a:latin typeface="Arial"/>
                <a:cs typeface="Arial"/>
              </a:rPr>
              <a:t>,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5" b="1">
                <a:latin typeface="Arial"/>
                <a:cs typeface="Arial"/>
              </a:rPr>
              <a:t>S</a:t>
            </a:r>
            <a:r>
              <a:rPr dirty="0" baseline="-14550" sz="3150" spc="7" b="1">
                <a:latin typeface="Arial"/>
                <a:cs typeface="Arial"/>
              </a:rPr>
              <a:t>n</a:t>
            </a:r>
            <a:r>
              <a:rPr dirty="0" sz="3200" spc="5" b="1">
                <a:latin typeface="Arial"/>
                <a:cs typeface="Arial"/>
              </a:rPr>
              <a:t>,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and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5" b="1">
                <a:latin typeface="Arial"/>
                <a:cs typeface="Arial"/>
              </a:rPr>
              <a:t>S</a:t>
            </a:r>
            <a:r>
              <a:rPr dirty="0" baseline="-13227" sz="3150" spc="7" b="1">
                <a:latin typeface="Arial"/>
                <a:cs typeface="Arial"/>
              </a:rPr>
              <a:t>size</a:t>
            </a:r>
            <a:r>
              <a:rPr dirty="0" sz="3200" spc="5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5" name="object 15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34325" y="47304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70139" y="4634484"/>
              <a:ext cx="8077200" cy="28575"/>
            </a:xfrm>
            <a:custGeom>
              <a:avLst/>
              <a:gdLst/>
              <a:ahLst/>
              <a:cxnLst/>
              <a:rect l="l" t="t" r="r" b="b"/>
              <a:pathLst>
                <a:path w="8077200" h="28575">
                  <a:moveTo>
                    <a:pt x="8077200" y="28194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28194"/>
                  </a:lnTo>
                  <a:lnTo>
                    <a:pt x="8077200" y="28194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1007110" marR="100012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send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window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can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slide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one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or more slots when a valid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acknowledgment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arrives.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6635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11.13	</a:t>
            </a:r>
            <a:r>
              <a:rPr dirty="0" sz="2000" spc="-5" i="1">
                <a:latin typeface="Times New Roman"/>
                <a:cs typeface="Times New Roman"/>
              </a:rPr>
              <a:t>Receive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window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069" y="2193798"/>
            <a:ext cx="7760969" cy="34129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20595"/>
            <a:ext cx="1143000" cy="342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414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3430270"/>
            <a:chOff x="774839" y="2062733"/>
            <a:chExt cx="9144000" cy="343027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32039" y="23682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70139" y="2498597"/>
              <a:ext cx="8077200" cy="422275"/>
            </a:xfrm>
            <a:custGeom>
              <a:avLst/>
              <a:gdLst/>
              <a:ahLst/>
              <a:cxnLst/>
              <a:rect l="l" t="t" r="r" b="b"/>
              <a:pathLst>
                <a:path w="8077200" h="422275">
                  <a:moveTo>
                    <a:pt x="8077200" y="4221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22148"/>
                  </a:lnTo>
                  <a:lnTo>
                    <a:pt x="8077200" y="4221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2240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701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70139" y="3777246"/>
              <a:ext cx="8077200" cy="1715770"/>
            </a:xfrm>
            <a:custGeom>
              <a:avLst/>
              <a:gdLst/>
              <a:ahLst/>
              <a:cxnLst/>
              <a:rect l="l" t="t" r="r" b="b"/>
              <a:pathLst>
                <a:path w="8077200" h="17157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077200" y="1715262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715395" y="2520950"/>
            <a:ext cx="7186295" cy="295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0800" marR="43180" indent="635">
              <a:lnSpc>
                <a:spcPct val="100000"/>
              </a:lnSpc>
              <a:spcBef>
                <a:spcPts val="95"/>
              </a:spcBef>
              <a:tabLst>
                <a:tab pos="6562725" algn="l"/>
              </a:tabLst>
            </a:pP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receive window </a:t>
            </a:r>
            <a:r>
              <a:rPr dirty="0" sz="3200" spc="-5" b="1">
                <a:latin typeface="Arial"/>
                <a:cs typeface="Arial"/>
              </a:rPr>
              <a:t>is an </a:t>
            </a:r>
            <a:r>
              <a:rPr dirty="0" sz="3200" spc="-10" b="1">
                <a:latin typeface="Arial"/>
                <a:cs typeface="Arial"/>
              </a:rPr>
              <a:t>abstract 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concept</a:t>
            </a:r>
            <a:r>
              <a:rPr dirty="0" sz="3200" spc="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defining</a:t>
            </a:r>
            <a:r>
              <a:rPr dirty="0" sz="3200" spc="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an</a:t>
            </a:r>
            <a:r>
              <a:rPr dirty="0" sz="3200" spc="4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imaginary</a:t>
            </a:r>
            <a:r>
              <a:rPr dirty="0" sz="3200" spc="5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box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size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1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with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one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singl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variabl</a:t>
            </a:r>
            <a:r>
              <a:rPr dirty="0" sz="3200" spc="-5" b="1">
                <a:latin typeface="Arial"/>
                <a:cs typeface="Arial"/>
              </a:rPr>
              <a:t>e</a:t>
            </a:r>
            <a:r>
              <a:rPr dirty="0" sz="3200" b="1">
                <a:latin typeface="Arial"/>
                <a:cs typeface="Arial"/>
              </a:rPr>
              <a:t>	</a:t>
            </a:r>
            <a:r>
              <a:rPr dirty="0" sz="3200" b="1">
                <a:latin typeface="Arial"/>
                <a:cs typeface="Arial"/>
              </a:rPr>
              <a:t>R</a:t>
            </a:r>
            <a:r>
              <a:rPr dirty="0" baseline="-13227" sz="3150" spc="22" b="1">
                <a:latin typeface="Arial"/>
                <a:cs typeface="Arial"/>
              </a:rPr>
              <a:t>n</a:t>
            </a:r>
            <a:r>
              <a:rPr dirty="0" sz="3200" spc="-5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window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slides</a:t>
            </a:r>
            <a:endParaRPr sz="3200">
              <a:latin typeface="Arial"/>
              <a:cs typeface="Arial"/>
            </a:endParaRPr>
          </a:p>
          <a:p>
            <a:pPr algn="ctr" marL="345440" marR="337185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when a correct </a:t>
            </a:r>
            <a:r>
              <a:rPr dirty="0" sz="3200" spc="-10" b="1">
                <a:latin typeface="Arial"/>
                <a:cs typeface="Arial"/>
              </a:rPr>
              <a:t>frame </a:t>
            </a:r>
            <a:r>
              <a:rPr dirty="0" sz="3200" spc="-5" b="1">
                <a:latin typeface="Arial"/>
                <a:cs typeface="Arial"/>
              </a:rPr>
              <a:t>has arrived;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sliding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occurs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one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slot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time.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34325" y="5568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70139" y="5491734"/>
            <a:ext cx="8077200" cy="24130"/>
          </a:xfrm>
          <a:custGeom>
            <a:avLst/>
            <a:gdLst/>
            <a:ahLst/>
            <a:cxnLst/>
            <a:rect l="l" t="t" r="r" b="b"/>
            <a:pathLst>
              <a:path w="8077200" h="24129">
                <a:moveTo>
                  <a:pt x="8077200" y="23622"/>
                </a:moveTo>
                <a:lnTo>
                  <a:pt x="8077200" y="0"/>
                </a:lnTo>
                <a:lnTo>
                  <a:pt x="0" y="0"/>
                </a:lnTo>
                <a:lnTo>
                  <a:pt x="0" y="23622"/>
                </a:lnTo>
                <a:lnTo>
                  <a:pt x="8077200" y="23622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018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46253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11.14	</a:t>
            </a:r>
            <a:r>
              <a:rPr dirty="0" sz="2000" spc="-5" i="1">
                <a:latin typeface="Times New Roman"/>
                <a:cs typeface="Times New Roman"/>
              </a:rPr>
              <a:t>Design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-7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1293" y="1263396"/>
            <a:ext cx="6199555" cy="52425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844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11.15	</a:t>
            </a:r>
            <a:r>
              <a:rPr dirty="0" sz="2000" spc="-15" i="1">
                <a:latin typeface="Times New Roman"/>
                <a:cs typeface="Times New Roman"/>
              </a:rPr>
              <a:t>Window </a:t>
            </a:r>
            <a:r>
              <a:rPr dirty="0" sz="2000" spc="-5" i="1">
                <a:latin typeface="Times New Roman"/>
                <a:cs typeface="Times New Roman"/>
              </a:rPr>
              <a:t>size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-6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567" y="1491996"/>
            <a:ext cx="7357871" cy="51389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232039" y="2596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9491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970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257810" marR="25146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Go-Back-N</a:t>
            </a:r>
            <a:r>
              <a:rPr dirty="0" sz="3200" spc="-1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ARQ,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size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of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send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window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must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less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than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10" b="1">
                <a:latin typeface="Arial"/>
                <a:cs typeface="Arial"/>
              </a:rPr>
              <a:t>2</a:t>
            </a:r>
            <a:r>
              <a:rPr dirty="0" baseline="25132" sz="3150" spc="15" b="1" i="1">
                <a:latin typeface="Arial"/>
                <a:cs typeface="Arial"/>
              </a:rPr>
              <a:t>m</a:t>
            </a:r>
            <a:r>
              <a:rPr dirty="0" sz="3200" spc="10" b="1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  <a:p>
            <a:pPr algn="ctr" marL="1049655" marR="1043940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 size of the </a:t>
            </a:r>
            <a:r>
              <a:rPr dirty="0" sz="3200" spc="-10" b="1">
                <a:latin typeface="Arial"/>
                <a:cs typeface="Arial"/>
              </a:rPr>
              <a:t>receiver </a:t>
            </a:r>
            <a:r>
              <a:rPr dirty="0" sz="3200" spc="-5" b="1">
                <a:latin typeface="Arial"/>
                <a:cs typeface="Arial"/>
              </a:rPr>
              <a:t>window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always</a:t>
            </a:r>
            <a:r>
              <a:rPr dirty="0" sz="3200" spc="-15" b="1">
                <a:latin typeface="Arial"/>
                <a:cs typeface="Arial"/>
              </a:rPr>
              <a:t> 1.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8373" y="523747"/>
            <a:ext cx="5171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Algorithm 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11.7	</a:t>
            </a:r>
            <a:r>
              <a:rPr dirty="0" sz="2000" spc="-5" b="1" i="1">
                <a:latin typeface="Times New Roman"/>
                <a:cs typeface="Times New Roman"/>
              </a:rPr>
              <a:t>Go-Back-N</a:t>
            </a:r>
            <a:r>
              <a:rPr dirty="0" sz="2000" spc="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sender</a:t>
            </a:r>
            <a:r>
              <a:rPr dirty="0" sz="2000" spc="-1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989" y="941069"/>
            <a:ext cx="9015983" cy="5503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68773" y="6358382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229" y="371347"/>
            <a:ext cx="51714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11.7	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sender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0673" y="370585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095" y="882396"/>
            <a:ext cx="8854237" cy="5943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173" y="523747"/>
            <a:ext cx="53111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11.8	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receiver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39" y="1036319"/>
            <a:ext cx="9104376" cy="5522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857250"/>
            <a:chOff x="851039" y="348995"/>
            <a:chExt cx="8594090" cy="857250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231775"/>
            </a:xfrm>
            <a:custGeom>
              <a:avLst/>
              <a:gdLst/>
              <a:ahLst/>
              <a:cxnLst/>
              <a:rect l="l" t="t" r="r" b="b"/>
              <a:pathLst>
                <a:path w="422275" h="231775">
                  <a:moveTo>
                    <a:pt x="0" y="231647"/>
                  </a:moveTo>
                  <a:lnTo>
                    <a:pt x="422147" y="231647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23164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762000"/>
            </a:xfrm>
            <a:custGeom>
              <a:avLst/>
              <a:gdLst/>
              <a:ahLst/>
              <a:cxnLst/>
              <a:rect l="l" t="t" r="r" b="b"/>
              <a:pathLst>
                <a:path w="31750" h="762000">
                  <a:moveTo>
                    <a:pt x="0" y="761999"/>
                  </a:moveTo>
                  <a:lnTo>
                    <a:pt x="31241" y="76199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11.6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75075" y="1110996"/>
            <a:ext cx="8815705" cy="952500"/>
            <a:chOff x="875075" y="1110996"/>
            <a:chExt cx="8815705" cy="952500"/>
          </a:xfrm>
        </p:grpSpPr>
        <p:sp>
          <p:nvSpPr>
            <p:cNvPr id="10" name="object 10"/>
            <p:cNvSpPr/>
            <p:nvPr/>
          </p:nvSpPr>
          <p:spPr>
            <a:xfrm>
              <a:off x="1003439" y="1110996"/>
              <a:ext cx="8686800" cy="95250"/>
            </a:xfrm>
            <a:custGeom>
              <a:avLst/>
              <a:gdLst/>
              <a:ahLst/>
              <a:cxnLst/>
              <a:rect l="l" t="t" r="r" b="b"/>
              <a:pathLst>
                <a:path w="8686800" h="95250">
                  <a:moveTo>
                    <a:pt x="8686800" y="95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8686800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03439" y="1206246"/>
              <a:ext cx="8686800" cy="857250"/>
            </a:xfrm>
            <a:custGeom>
              <a:avLst/>
              <a:gdLst/>
              <a:ahLst/>
              <a:cxnLst/>
              <a:rect l="l" t="t" r="r" b="b"/>
              <a:pathLst>
                <a:path w="8686800" h="857250">
                  <a:moveTo>
                    <a:pt x="8686800" y="8572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86868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82156" y="1131824"/>
            <a:ext cx="8529320" cy="557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35" b="1" i="1">
                <a:latin typeface="Times New Roman"/>
                <a:cs typeface="Times New Roman"/>
              </a:rPr>
              <a:t>11.16 </a:t>
            </a:r>
            <a:r>
              <a:rPr dirty="0" sz="2800" spc="-5" b="1" i="1">
                <a:latin typeface="Times New Roman"/>
                <a:cs typeface="Times New Roman"/>
              </a:rPr>
              <a:t>shows an example of Go-Back-N. </a:t>
            </a:r>
            <a:r>
              <a:rPr dirty="0" sz="2800" b="1" i="1">
                <a:latin typeface="Times New Roman"/>
                <a:cs typeface="Times New Roman"/>
              </a:rPr>
              <a:t>This is an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example </a:t>
            </a:r>
            <a:r>
              <a:rPr dirty="0" sz="2800" b="1" i="1">
                <a:latin typeface="Times New Roman"/>
                <a:cs typeface="Times New Roman"/>
              </a:rPr>
              <a:t>of a </a:t>
            </a:r>
            <a:r>
              <a:rPr dirty="0" sz="2800" spc="-5" b="1" i="1">
                <a:latin typeface="Times New Roman"/>
                <a:cs typeface="Times New Roman"/>
              </a:rPr>
              <a:t>case where the forward channel is reliable, </a:t>
            </a:r>
            <a:r>
              <a:rPr dirty="0" sz="2800" b="1" i="1">
                <a:latin typeface="Times New Roman"/>
                <a:cs typeface="Times New Roman"/>
              </a:rPr>
              <a:t> but </a:t>
            </a:r>
            <a:r>
              <a:rPr dirty="0" sz="2800" spc="-5" b="1" i="1">
                <a:latin typeface="Times New Roman"/>
                <a:cs typeface="Times New Roman"/>
              </a:rPr>
              <a:t>the reverse is not. No data frames are lost, but some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delayed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lost.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example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also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shows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how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cumulative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help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if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acknowledgments are delayed or lost. After initialization,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seven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events.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Request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events</a:t>
            </a:r>
            <a:r>
              <a:rPr dirty="0" sz="2800" spc="6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triggered </a:t>
            </a:r>
            <a:r>
              <a:rPr dirty="0" sz="2800" b="1" i="1">
                <a:latin typeface="Times New Roman"/>
                <a:cs typeface="Times New Roman"/>
              </a:rPr>
              <a:t>by </a:t>
            </a:r>
            <a:r>
              <a:rPr dirty="0" sz="2800" spc="-5" b="1" i="1">
                <a:latin typeface="Times New Roman"/>
                <a:cs typeface="Times New Roman"/>
              </a:rPr>
              <a:t>data from the network layer; arrival events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triggered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from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physical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35" b="1" i="1">
                <a:latin typeface="Times New Roman"/>
                <a:cs typeface="Times New Roman"/>
              </a:rPr>
              <a:t>layer.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no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time-out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event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here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because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all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outstanding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before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timer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expires. Note that although ACK </a:t>
            </a:r>
            <a:r>
              <a:rPr dirty="0" sz="2800" b="1" i="1">
                <a:latin typeface="Times New Roman"/>
                <a:cs typeface="Times New Roman"/>
              </a:rPr>
              <a:t>2 </a:t>
            </a:r>
            <a:r>
              <a:rPr dirty="0" sz="2800" spc="-5" b="1" i="1">
                <a:latin typeface="Times New Roman"/>
                <a:cs typeface="Times New Roman"/>
              </a:rPr>
              <a:t>is lost, ACK </a:t>
            </a:r>
            <a:r>
              <a:rPr dirty="0" sz="2800" b="1" i="1">
                <a:latin typeface="Times New Roman"/>
                <a:cs typeface="Times New Roman"/>
              </a:rPr>
              <a:t>3 </a:t>
            </a:r>
            <a:r>
              <a:rPr dirty="0" sz="2800" spc="-5" b="1" i="1">
                <a:latin typeface="Times New Roman"/>
                <a:cs typeface="Times New Roman"/>
              </a:rPr>
              <a:t>serves as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both</a:t>
            </a:r>
            <a:r>
              <a:rPr dirty="0" sz="2800" spc="-1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and</a:t>
            </a:r>
            <a:r>
              <a:rPr dirty="0" sz="2800" spc="-1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13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11.16	</a:t>
            </a:r>
            <a:r>
              <a:rPr dirty="0" sz="2000" spc="-5" i="1">
                <a:latin typeface="Times New Roman"/>
                <a:cs typeface="Times New Roman"/>
              </a:rPr>
              <a:t>Flow diagram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11.6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071" y="1339595"/>
            <a:ext cx="7211568" cy="52136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33350"/>
            </a:xfrm>
            <a:custGeom>
              <a:avLst/>
              <a:gdLst/>
              <a:ahLst/>
              <a:cxnLst/>
              <a:rect l="l" t="t" r="r" b="b"/>
              <a:pathLst>
                <a:path w="422275" h="133350">
                  <a:moveTo>
                    <a:pt x="0" y="133349"/>
                  </a:moveTo>
                  <a:lnTo>
                    <a:pt x="422147" y="1333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31750" h="133350">
                  <a:moveTo>
                    <a:pt x="0" y="133349"/>
                  </a:moveTo>
                  <a:lnTo>
                    <a:pt x="31241" y="1333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333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339608"/>
              <a:ext cx="9144000" cy="5010150"/>
            </a:xfrm>
            <a:custGeom>
              <a:avLst/>
              <a:gdLst/>
              <a:ahLst/>
              <a:cxnLst/>
              <a:rect l="l" t="t" r="r" b="b"/>
              <a:pathLst>
                <a:path w="9144000" h="5010150">
                  <a:moveTo>
                    <a:pt x="9144000" y="723138"/>
                  </a:moveTo>
                  <a:lnTo>
                    <a:pt x="8915400" y="72313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23138"/>
                  </a:lnTo>
                  <a:lnTo>
                    <a:pt x="0" y="723138"/>
                  </a:lnTo>
                  <a:lnTo>
                    <a:pt x="0" y="1580388"/>
                  </a:lnTo>
                  <a:lnTo>
                    <a:pt x="0" y="5010150"/>
                  </a:lnTo>
                  <a:lnTo>
                    <a:pt x="9144000" y="5010150"/>
                  </a:lnTo>
                  <a:lnTo>
                    <a:pt x="9144000" y="1580388"/>
                  </a:lnTo>
                  <a:lnTo>
                    <a:pt x="9144000" y="72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82173" y="1360424"/>
            <a:ext cx="8529320" cy="514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35" b="1" i="1">
                <a:latin typeface="Times New Roman"/>
                <a:cs typeface="Times New Roman"/>
              </a:rPr>
              <a:t>11.17 </a:t>
            </a:r>
            <a:r>
              <a:rPr dirty="0" sz="2800" spc="-5" b="1" i="1">
                <a:latin typeface="Times New Roman"/>
                <a:cs typeface="Times New Roman"/>
              </a:rPr>
              <a:t>shows what happens when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frame is lost.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 </a:t>
            </a:r>
            <a:r>
              <a:rPr dirty="0" sz="2800" b="1" i="1">
                <a:latin typeface="Times New Roman"/>
                <a:cs typeface="Times New Roman"/>
              </a:rPr>
              <a:t>0, </a:t>
            </a:r>
            <a:r>
              <a:rPr dirty="0" sz="2800" spc="-5" b="1" i="1">
                <a:latin typeface="Times New Roman"/>
                <a:cs typeface="Times New Roman"/>
              </a:rPr>
              <a:t>1, </a:t>
            </a:r>
            <a:r>
              <a:rPr dirty="0" sz="2800" b="1" i="1">
                <a:latin typeface="Times New Roman"/>
                <a:cs typeface="Times New Roman"/>
              </a:rPr>
              <a:t>2,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b="1" i="1">
                <a:latin typeface="Times New Roman"/>
                <a:cs typeface="Times New Roman"/>
              </a:rPr>
              <a:t>3 </a:t>
            </a:r>
            <a:r>
              <a:rPr dirty="0" sz="2800" spc="-5" b="1" i="1">
                <a:latin typeface="Times New Roman"/>
                <a:cs typeface="Times New Roman"/>
              </a:rPr>
              <a:t>are sent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30" b="1" i="1">
                <a:latin typeface="Times New Roman"/>
                <a:cs typeface="Times New Roman"/>
              </a:rPr>
              <a:t>However,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is lost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receiver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receives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b="1" i="1">
                <a:latin typeface="Times New Roman"/>
                <a:cs typeface="Times New Roman"/>
              </a:rPr>
              <a:t> 2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3,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discarded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because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received</a:t>
            </a:r>
            <a:r>
              <a:rPr dirty="0" sz="2800" spc="-5" b="1" i="1">
                <a:latin typeface="Times New Roman"/>
                <a:cs typeface="Times New Roman"/>
              </a:rPr>
              <a:t> out</a:t>
            </a:r>
            <a:r>
              <a:rPr dirty="0" sz="2800" b="1" i="1">
                <a:latin typeface="Times New Roman"/>
                <a:cs typeface="Times New Roman"/>
              </a:rPr>
              <a:t> 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order</a:t>
            </a:r>
            <a:r>
              <a:rPr dirty="0" sz="2800" b="1" i="1">
                <a:latin typeface="Times New Roman"/>
                <a:cs typeface="Times New Roman"/>
              </a:rPr>
              <a:t> The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sender</a:t>
            </a:r>
            <a:r>
              <a:rPr dirty="0" sz="2800" spc="1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receives</a:t>
            </a:r>
            <a:r>
              <a:rPr dirty="0" sz="2800" spc="1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</a:t>
            </a:r>
            <a:r>
              <a:rPr dirty="0" sz="2800" spc="1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</a:t>
            </a:r>
            <a:r>
              <a:rPr dirty="0" sz="2800" spc="1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about</a:t>
            </a:r>
            <a:r>
              <a:rPr dirty="0" sz="2800" spc="1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spc="1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1,</a:t>
            </a:r>
            <a:r>
              <a:rPr dirty="0" sz="2800" spc="1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2,</a:t>
            </a:r>
            <a:r>
              <a:rPr dirty="0" sz="2800" spc="1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</a:t>
            </a:r>
            <a:endParaRPr sz="2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800" b="1" i="1">
                <a:latin typeface="Times New Roman"/>
                <a:cs typeface="Times New Roman"/>
              </a:rPr>
              <a:t>3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finally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expires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sends</a:t>
            </a:r>
            <a:r>
              <a:rPr dirty="0" sz="2800" spc="6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all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outstanding frames (1, 2, and 3) because it does not know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what is wrong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Note that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resending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frames </a:t>
            </a:r>
            <a:r>
              <a:rPr dirty="0" sz="2800" b="1" i="1">
                <a:latin typeface="Times New Roman"/>
                <a:cs typeface="Times New Roman"/>
              </a:rPr>
              <a:t>1, </a:t>
            </a:r>
            <a:r>
              <a:rPr dirty="0" sz="2800" spc="-5" b="1" i="1">
                <a:latin typeface="Times New Roman"/>
                <a:cs typeface="Times New Roman"/>
              </a:rPr>
              <a:t>2, </a:t>
            </a:r>
            <a:r>
              <a:rPr dirty="0" sz="2800" b="1" i="1">
                <a:latin typeface="Times New Roman"/>
                <a:cs typeface="Times New Roman"/>
              </a:rPr>
              <a:t>and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 is </a:t>
            </a:r>
            <a:r>
              <a:rPr dirty="0" sz="2800" spc="-5" b="1" i="1">
                <a:latin typeface="Times New Roman"/>
                <a:cs typeface="Times New Roman"/>
              </a:rPr>
              <a:t>the response to one single event. When the sender 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responding </a:t>
            </a:r>
            <a:r>
              <a:rPr dirty="0" sz="2800" b="1" i="1">
                <a:latin typeface="Times New Roman"/>
                <a:cs typeface="Times New Roman"/>
              </a:rPr>
              <a:t>to this </a:t>
            </a:r>
            <a:r>
              <a:rPr dirty="0" sz="2800" spc="-5" b="1" i="1">
                <a:latin typeface="Times New Roman"/>
                <a:cs typeface="Times New Roman"/>
              </a:rPr>
              <a:t>event, </a:t>
            </a:r>
            <a:r>
              <a:rPr dirty="0" sz="2800" b="1" i="1">
                <a:latin typeface="Times New Roman"/>
                <a:cs typeface="Times New Roman"/>
              </a:rPr>
              <a:t>it cannot </a:t>
            </a:r>
            <a:r>
              <a:rPr dirty="0" sz="2800" spc="-5" b="1" i="1">
                <a:latin typeface="Times New Roman"/>
                <a:cs typeface="Times New Roman"/>
              </a:rPr>
              <a:t>accept the triggering of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other events. This means that when ACK </a:t>
            </a:r>
            <a:r>
              <a:rPr dirty="0" sz="2800" b="1" i="1">
                <a:latin typeface="Times New Roman"/>
                <a:cs typeface="Times New Roman"/>
              </a:rPr>
              <a:t>2 </a:t>
            </a:r>
            <a:r>
              <a:rPr dirty="0" sz="2800" spc="-5" b="1" i="1">
                <a:latin typeface="Times New Roman"/>
                <a:cs typeface="Times New Roman"/>
              </a:rPr>
              <a:t>arrives, the </a:t>
            </a:r>
            <a:r>
              <a:rPr dirty="0" sz="2800" b="1" i="1">
                <a:latin typeface="Times New Roman"/>
                <a:cs typeface="Times New Roman"/>
              </a:rPr>
              <a:t> sender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still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busy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with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sending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11.7</a:t>
            </a:r>
            <a:r>
              <a:rPr dirty="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3439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 physical layer must wait until this event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completed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 the data link layer goes back to its sleeping state. </a:t>
            </a:r>
            <a:r>
              <a:rPr dirty="0" sz="2800" spc="-215" b="1" i="1">
                <a:latin typeface="Times New Roman"/>
                <a:cs typeface="Times New Roman"/>
              </a:rPr>
              <a:t>We </a:t>
            </a:r>
            <a:r>
              <a:rPr dirty="0" sz="2800" spc="-2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 shown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vertical line to indicate the </a:t>
            </a:r>
            <a:r>
              <a:rPr dirty="0" sz="2800" spc="-25" b="1" i="1">
                <a:latin typeface="Times New Roman"/>
                <a:cs typeface="Times New Roman"/>
              </a:rPr>
              <a:t>delay. </a:t>
            </a:r>
            <a:r>
              <a:rPr dirty="0" sz="2800" spc="-5" b="1" i="1">
                <a:latin typeface="Times New Roman"/>
                <a:cs typeface="Times New Roman"/>
              </a:rPr>
              <a:t>It is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same story with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 </a:t>
            </a:r>
            <a:r>
              <a:rPr dirty="0" sz="2800" b="1" i="1">
                <a:latin typeface="Times New Roman"/>
                <a:cs typeface="Times New Roman"/>
              </a:rPr>
              <a:t>3; </a:t>
            </a:r>
            <a:r>
              <a:rPr dirty="0" sz="2800" spc="-5" b="1" i="1">
                <a:latin typeface="Times New Roman"/>
                <a:cs typeface="Times New Roman"/>
              </a:rPr>
              <a:t>but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when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ACK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 </a:t>
            </a:r>
            <a:r>
              <a:rPr dirty="0" sz="2800" spc="-5" b="1" i="1">
                <a:latin typeface="Times New Roman"/>
                <a:cs typeface="Times New Roman"/>
              </a:rPr>
              <a:t>arrives, </a:t>
            </a:r>
            <a:r>
              <a:rPr dirty="0" sz="2800" spc="-1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 sender is busy responding to ACK </a:t>
            </a:r>
            <a:r>
              <a:rPr dirty="0" sz="2800" b="1" i="1">
                <a:latin typeface="Times New Roman"/>
                <a:cs typeface="Times New Roman"/>
              </a:rPr>
              <a:t>2. </a:t>
            </a:r>
            <a:r>
              <a:rPr dirty="0" sz="2800" spc="-5" b="1" i="1">
                <a:latin typeface="Times New Roman"/>
                <a:cs typeface="Times New Roman"/>
              </a:rPr>
              <a:t>It happens again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when </a:t>
            </a:r>
            <a:r>
              <a:rPr dirty="0" sz="2800" spc="-10" b="1" i="1">
                <a:latin typeface="Times New Roman"/>
                <a:cs typeface="Times New Roman"/>
              </a:rPr>
              <a:t>ACK </a:t>
            </a:r>
            <a:r>
              <a:rPr dirty="0" sz="2800" b="1" i="1">
                <a:latin typeface="Times New Roman"/>
                <a:cs typeface="Times New Roman"/>
              </a:rPr>
              <a:t>4 </a:t>
            </a:r>
            <a:r>
              <a:rPr dirty="0" sz="2800" spc="-5" b="1" i="1">
                <a:latin typeface="Times New Roman"/>
                <a:cs typeface="Times New Roman"/>
              </a:rPr>
              <a:t>arrives. Note that before the second timer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expires, all outstanding frames have been sent and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timer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stopped.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025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13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11.17	</a:t>
            </a:r>
            <a:r>
              <a:rPr dirty="0" sz="2000" spc="-5" i="1">
                <a:latin typeface="Times New Roman"/>
                <a:cs typeface="Times New Roman"/>
              </a:rPr>
              <a:t>Flow diagram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11.7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5039" y="1110996"/>
            <a:ext cx="5716523" cy="5486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212725" marR="205740" indent="-2540">
              <a:lnSpc>
                <a:spcPct val="100000"/>
              </a:lnSpc>
              <a:spcBef>
                <a:spcPts val="275"/>
              </a:spcBef>
            </a:pPr>
            <a:r>
              <a:rPr dirty="0" sz="3200" spc="-15" b="1">
                <a:latin typeface="Arial"/>
                <a:cs typeface="Arial"/>
              </a:rPr>
              <a:t>Stop-and-Wait </a:t>
            </a:r>
            <a:r>
              <a:rPr dirty="0" sz="3200" spc="-5" b="1">
                <a:latin typeface="Arial"/>
                <a:cs typeface="Arial"/>
              </a:rPr>
              <a:t>ARQ is a </a:t>
            </a:r>
            <a:r>
              <a:rPr dirty="0" sz="3200" spc="-10" b="1">
                <a:latin typeface="Arial"/>
                <a:cs typeface="Arial"/>
              </a:rPr>
              <a:t>special </a:t>
            </a:r>
            <a:r>
              <a:rPr dirty="0" sz="3200" spc="-5" b="1">
                <a:latin typeface="Arial"/>
                <a:cs typeface="Arial"/>
              </a:rPr>
              <a:t>case </a:t>
            </a:r>
            <a:r>
              <a:rPr dirty="0" sz="3200" spc="-10" b="1">
                <a:latin typeface="Arial"/>
                <a:cs typeface="Arial"/>
              </a:rPr>
              <a:t>of </a:t>
            </a:r>
            <a:r>
              <a:rPr dirty="0" sz="3200" spc="-5" b="1">
                <a:latin typeface="Arial"/>
                <a:cs typeface="Arial"/>
              </a:rPr>
              <a:t> Go-Back-N</a:t>
            </a:r>
            <a:r>
              <a:rPr dirty="0" sz="3200" spc="-14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ARQ in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which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size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send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window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788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11.18	</a:t>
            </a:r>
            <a:r>
              <a:rPr dirty="0" sz="2000" spc="-5" i="1">
                <a:latin typeface="Times New Roman"/>
                <a:cs typeface="Times New Roman"/>
              </a:rPr>
              <a:t>Send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window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 Selective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spc="-8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069" y="2838450"/>
            <a:ext cx="8446769" cy="22349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607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11.19	</a:t>
            </a:r>
            <a:r>
              <a:rPr dirty="0" sz="2000" spc="-5" i="1">
                <a:latin typeface="Times New Roman"/>
                <a:cs typeface="Times New Roman"/>
              </a:rPr>
              <a:t>Receive window</a:t>
            </a:r>
            <a:r>
              <a:rPr dirty="0" sz="2000" spc="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 Selective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649473"/>
            <a:ext cx="7486650" cy="21191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1225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11.20	</a:t>
            </a:r>
            <a:r>
              <a:rPr dirty="0" sz="2000" spc="-5" i="1">
                <a:latin typeface="Times New Roman"/>
                <a:cs typeface="Times New Roman"/>
              </a:rPr>
              <a:t>Design of Selective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893" y="1371600"/>
            <a:ext cx="6200254" cy="52257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311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11.21	</a:t>
            </a:r>
            <a:r>
              <a:rPr dirty="0" sz="2000" spc="-5" i="1">
                <a:latin typeface="Times New Roman"/>
                <a:cs typeface="Times New Roman"/>
              </a:rPr>
              <a:t>Selective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spc="-8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ARQ,</a:t>
            </a:r>
            <a:r>
              <a:rPr dirty="0" sz="2000" spc="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window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size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91" y="1733550"/>
            <a:ext cx="8537447" cy="46352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224154" marR="22161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Selective Repeat</a:t>
            </a:r>
            <a:r>
              <a:rPr dirty="0" sz="3200" spc="-1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ARQ,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size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10" b="1">
                <a:latin typeface="Arial"/>
                <a:cs typeface="Arial"/>
              </a:rPr>
              <a:t> the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sender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and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receiver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window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must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most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one-half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10" b="1">
                <a:latin typeface="Arial"/>
                <a:cs typeface="Arial"/>
              </a:rPr>
              <a:t>2</a:t>
            </a:r>
            <a:r>
              <a:rPr dirty="0" baseline="25132" sz="3150" spc="15" b="1">
                <a:latin typeface="Arial"/>
                <a:cs typeface="Arial"/>
              </a:rPr>
              <a:t>m</a:t>
            </a:r>
            <a:r>
              <a:rPr dirty="0" sz="3200" spc="10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2173" y="523747"/>
            <a:ext cx="6146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Algorithm 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11.9	</a:t>
            </a:r>
            <a:r>
              <a:rPr dirty="0" sz="2000" spc="-5" b="1" i="1">
                <a:latin typeface="Times New Roman"/>
                <a:cs typeface="Times New Roman"/>
              </a:rPr>
              <a:t>Sender-site</a:t>
            </a:r>
            <a:r>
              <a:rPr dirty="0" sz="2000" spc="-1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Selective</a:t>
            </a:r>
            <a:r>
              <a:rPr dirty="0" sz="2000" spc="-1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Repeat</a:t>
            </a:r>
            <a:r>
              <a:rPr dirty="0" sz="200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39" y="960119"/>
            <a:ext cx="8918448" cy="5256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78273" y="6129782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634899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0"/>
                </a:moveTo>
                <a:lnTo>
                  <a:pt x="8763000" y="0"/>
                </a:lnTo>
                <a:lnTo>
                  <a:pt x="8382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9146" y="447547"/>
            <a:ext cx="6146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Algorithm 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11.9	</a:t>
            </a:r>
            <a:r>
              <a:rPr dirty="0" sz="2000" spc="-5" b="1" i="1">
                <a:latin typeface="Times New Roman"/>
                <a:cs typeface="Times New Roman"/>
              </a:rPr>
              <a:t>Sender-site</a:t>
            </a:r>
            <a:r>
              <a:rPr dirty="0" sz="2000" spc="-15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Selective</a:t>
            </a:r>
            <a:r>
              <a:rPr dirty="0" sz="2000" spc="-1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Repeat</a:t>
            </a:r>
            <a:r>
              <a:rPr dirty="0" sz="2000" b="1" i="1">
                <a:latin typeface="Times New Roman"/>
                <a:cs typeface="Times New Roman"/>
              </a:rPr>
              <a:t> </a:t>
            </a:r>
            <a:r>
              <a:rPr dirty="0" sz="2000" spc="-5" b="1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0673" y="446785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960119"/>
            <a:ext cx="8894826" cy="5789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7373" y="6836916"/>
            <a:ext cx="6470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14" b="1">
                <a:solidFill>
                  <a:srgbClr val="1B1B1B"/>
                </a:solidFill>
                <a:latin typeface="Arial"/>
                <a:cs typeface="Arial"/>
              </a:rPr>
              <a:t>1</a:t>
            </a:r>
            <a:r>
              <a:rPr dirty="0" sz="2000" spc="-10" b="1">
                <a:solidFill>
                  <a:srgbClr val="1B1B1B"/>
                </a:solidFill>
                <a:latin typeface="Arial"/>
                <a:cs typeface="Arial"/>
              </a:rPr>
              <a:t>1</a:t>
            </a: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.</a:t>
            </a:r>
            <a:r>
              <a:rPr dirty="0" sz="2000" spc="-10" b="1">
                <a:solidFill>
                  <a:srgbClr val="1B1B1B"/>
                </a:solidFill>
                <a:latin typeface="Arial"/>
                <a:cs typeface="Arial"/>
              </a:rPr>
              <a:t>6</a:t>
            </a: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06873" y="6695185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173" y="523747"/>
            <a:ext cx="61461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40">
                <a:solidFill>
                  <a:srgbClr val="FF0000"/>
                </a:solidFill>
              </a:rPr>
              <a:t>11.9	</a:t>
            </a:r>
            <a:r>
              <a:rPr dirty="0" sz="2000" spc="-5" i="1">
                <a:latin typeface="Times New Roman"/>
                <a:cs typeface="Times New Roman"/>
              </a:rPr>
              <a:t>Sender-site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Selective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54473" y="522985"/>
            <a:ext cx="150114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10" b="1" i="1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319" y="1192530"/>
            <a:ext cx="8887968" cy="21282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63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64662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31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35">
                <a:solidFill>
                  <a:srgbClr val="FF0000"/>
                </a:solidFill>
              </a:rPr>
              <a:t>11.10	</a:t>
            </a:r>
            <a:r>
              <a:rPr dirty="0" sz="2000" spc="-5" i="1">
                <a:latin typeface="Times New Roman"/>
                <a:cs typeface="Times New Roman"/>
              </a:rPr>
              <a:t>Receiver-site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Selective Repeat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609" y="960119"/>
            <a:ext cx="9003792" cy="57896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63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447547"/>
            <a:ext cx="64662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3140" algn="l"/>
              </a:tabLst>
            </a:pPr>
            <a:r>
              <a:rPr dirty="0" sz="2400" spc="-5">
                <a:solidFill>
                  <a:srgbClr val="FF0000"/>
                </a:solidFill>
              </a:rPr>
              <a:t>Algorithm </a:t>
            </a:r>
            <a:r>
              <a:rPr dirty="0" sz="2400" spc="-35">
                <a:solidFill>
                  <a:srgbClr val="FF0000"/>
                </a:solidFill>
              </a:rPr>
              <a:t>11.10	</a:t>
            </a:r>
            <a:r>
              <a:rPr dirty="0" sz="2000" spc="-5" i="1">
                <a:latin typeface="Times New Roman"/>
                <a:cs typeface="Times New Roman"/>
              </a:rPr>
              <a:t>Receiver-site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Selective Repeat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1036319"/>
            <a:ext cx="8985504" cy="5713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63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051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11.22	</a:t>
            </a:r>
            <a:r>
              <a:rPr dirty="0" sz="2000" spc="-5" i="1">
                <a:latin typeface="Times New Roman"/>
                <a:cs typeface="Times New Roman"/>
              </a:rPr>
              <a:t>Delivery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data in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Selective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Repeat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941" y="2924555"/>
            <a:ext cx="7870697" cy="18440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63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55" y="1512824"/>
            <a:ext cx="8528685" cy="514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This example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similar to Example </a:t>
            </a:r>
            <a:r>
              <a:rPr dirty="0" sz="2800" spc="-45" b="1" i="1">
                <a:latin typeface="Times New Roman"/>
                <a:cs typeface="Times New Roman"/>
              </a:rPr>
              <a:t>11.3 </a:t>
            </a: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-5" b="1" i="1">
                <a:latin typeface="Times New Roman"/>
                <a:cs typeface="Times New Roman"/>
              </a:rPr>
              <a:t>which 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lost.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-1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show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how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Selective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Repeat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behaves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Figure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35" b="1" i="1">
                <a:latin typeface="Times New Roman"/>
                <a:cs typeface="Times New Roman"/>
              </a:rPr>
              <a:t>11.23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shows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situation.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main 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difference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the number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timers. Here, each frame sent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 resent needs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30" b="1" i="1">
                <a:latin typeface="Times New Roman"/>
                <a:cs typeface="Times New Roman"/>
              </a:rPr>
              <a:t>timer, </a:t>
            </a:r>
            <a:r>
              <a:rPr dirty="0" sz="2800" spc="-5" b="1" i="1">
                <a:latin typeface="Times New Roman"/>
                <a:cs typeface="Times New Roman"/>
              </a:rPr>
              <a:t>which means that the timers need </a:t>
            </a:r>
            <a:r>
              <a:rPr dirty="0" sz="2800" b="1" i="1">
                <a:latin typeface="Times New Roman"/>
                <a:cs typeface="Times New Roman"/>
              </a:rPr>
              <a:t> to </a:t>
            </a:r>
            <a:r>
              <a:rPr dirty="0" sz="2800" spc="-5" b="1" i="1">
                <a:latin typeface="Times New Roman"/>
                <a:cs typeface="Times New Roman"/>
              </a:rPr>
              <a:t>be numbered (0, </a:t>
            </a:r>
            <a:r>
              <a:rPr dirty="0" sz="2800" b="1" i="1">
                <a:latin typeface="Times New Roman"/>
                <a:cs typeface="Times New Roman"/>
              </a:rPr>
              <a:t>1, 2, </a:t>
            </a:r>
            <a:r>
              <a:rPr dirty="0" sz="2800" spc="-5" b="1" i="1">
                <a:latin typeface="Times New Roman"/>
                <a:cs typeface="Times New Roman"/>
              </a:rPr>
              <a:t>and 3).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timer for frame </a:t>
            </a:r>
            <a:r>
              <a:rPr dirty="0" sz="2800" b="1" i="1">
                <a:latin typeface="Times New Roman"/>
                <a:cs typeface="Times New Roman"/>
              </a:rPr>
              <a:t>0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starts at the first request, but stops when the ACK for this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arrives. The timer for 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starts </a:t>
            </a:r>
            <a:r>
              <a:rPr dirty="0" sz="2800" b="1" i="1">
                <a:latin typeface="Times New Roman"/>
                <a:cs typeface="Times New Roman"/>
              </a:rPr>
              <a:t>at the </a:t>
            </a:r>
            <a:r>
              <a:rPr dirty="0" sz="2800" spc="-5" b="1" i="1">
                <a:latin typeface="Times New Roman"/>
                <a:cs typeface="Times New Roman"/>
              </a:rPr>
              <a:t>second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request, restarts when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NAK arrives, and finally stops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when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last </a:t>
            </a:r>
            <a:r>
              <a:rPr dirty="0" sz="2800" spc="-10" b="1" i="1">
                <a:latin typeface="Times New Roman"/>
                <a:cs typeface="Times New Roman"/>
              </a:rPr>
              <a:t>ACK</a:t>
            </a:r>
            <a:r>
              <a:rPr dirty="0" sz="2800" spc="-5" b="1" i="1">
                <a:latin typeface="Times New Roman"/>
                <a:cs typeface="Times New Roman"/>
              </a:rPr>
              <a:t> arrives. The other two </a:t>
            </a:r>
            <a:r>
              <a:rPr dirty="0" sz="2800" spc="-10" b="1" i="1">
                <a:latin typeface="Times New Roman"/>
                <a:cs typeface="Times New Roman"/>
              </a:rPr>
              <a:t>timers</a:t>
            </a:r>
            <a:r>
              <a:rPr dirty="0" sz="2800" spc="-5" b="1" i="1">
                <a:latin typeface="Times New Roman"/>
                <a:cs typeface="Times New Roman"/>
              </a:rPr>
              <a:t> start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when the corresponding frames are sent and stop at the </a:t>
            </a:r>
            <a:r>
              <a:rPr dirty="0" sz="2800" b="1" i="1">
                <a:latin typeface="Times New Roman"/>
                <a:cs typeface="Times New Roman"/>
              </a:rPr>
              <a:t> last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arrival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63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dirty="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56" y="1512824"/>
            <a:ext cx="8528685" cy="514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At the receiver site we need to distinguish between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acceptance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of</a:t>
            </a:r>
            <a:r>
              <a:rPr dirty="0" sz="2800" b="1" i="1">
                <a:latin typeface="Times New Roman"/>
                <a:cs typeface="Times New Roman"/>
              </a:rPr>
              <a:t> 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delivery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30" b="1" i="1">
                <a:latin typeface="Times New Roman"/>
                <a:cs typeface="Times New Roman"/>
              </a:rPr>
              <a:t>layer. </a:t>
            </a:r>
            <a:r>
              <a:rPr dirty="0" sz="2800" spc="-5" b="1" i="1">
                <a:latin typeface="Times New Roman"/>
                <a:cs typeface="Times New Roman"/>
              </a:rPr>
              <a:t>At the second arrival, frame </a:t>
            </a:r>
            <a:r>
              <a:rPr dirty="0" sz="2800" b="1" i="1">
                <a:latin typeface="Times New Roman"/>
                <a:cs typeface="Times New Roman"/>
              </a:rPr>
              <a:t>2 </a:t>
            </a:r>
            <a:r>
              <a:rPr dirty="0" sz="2800" spc="-5" b="1" i="1">
                <a:latin typeface="Times New Roman"/>
                <a:cs typeface="Times New Roman"/>
              </a:rPr>
              <a:t>arrives and is stored </a:t>
            </a:r>
            <a:r>
              <a:rPr dirty="0" sz="2800" b="1" i="1">
                <a:latin typeface="Times New Roman"/>
                <a:cs typeface="Times New Roman"/>
              </a:rPr>
              <a:t> and </a:t>
            </a:r>
            <a:r>
              <a:rPr dirty="0" sz="2800" spc="-5" b="1" i="1">
                <a:latin typeface="Times New Roman"/>
                <a:cs typeface="Times New Roman"/>
              </a:rPr>
              <a:t>marked, but it cannot be delivered because 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missing.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next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arrival,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b="1" i="1">
                <a:latin typeface="Times New Roman"/>
                <a:cs typeface="Times New Roman"/>
              </a:rPr>
              <a:t> 3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arrives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marked and stored, but still </a:t>
            </a:r>
            <a:r>
              <a:rPr dirty="0" sz="2800" b="1" i="1">
                <a:latin typeface="Times New Roman"/>
                <a:cs typeface="Times New Roman"/>
              </a:rPr>
              <a:t>none of </a:t>
            </a:r>
            <a:r>
              <a:rPr dirty="0" sz="2800" spc="-5" b="1" i="1">
                <a:latin typeface="Times New Roman"/>
                <a:cs typeface="Times New Roman"/>
              </a:rPr>
              <a:t>the frames can be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delivered. Only at the last arrival, when finally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copy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arrives, can frames </a:t>
            </a:r>
            <a:r>
              <a:rPr dirty="0" sz="2800" b="1" i="1">
                <a:latin typeface="Times New Roman"/>
                <a:cs typeface="Times New Roman"/>
              </a:rPr>
              <a:t>1, </a:t>
            </a:r>
            <a:r>
              <a:rPr dirty="0" sz="2800" spc="-5" b="1" i="1">
                <a:latin typeface="Times New Roman"/>
                <a:cs typeface="Times New Roman"/>
              </a:rPr>
              <a:t>2, </a:t>
            </a:r>
            <a:r>
              <a:rPr dirty="0" sz="2800" b="1" i="1">
                <a:latin typeface="Times New Roman"/>
                <a:cs typeface="Times New Roman"/>
              </a:rPr>
              <a:t>and 3 </a:t>
            </a:r>
            <a:r>
              <a:rPr dirty="0" sz="2800" spc="-5" b="1" i="1">
                <a:latin typeface="Times New Roman"/>
                <a:cs typeface="Times New Roman"/>
              </a:rPr>
              <a:t>be delivered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 </a:t>
            </a:r>
            <a:r>
              <a:rPr dirty="0" sz="2800" spc="-30" b="1" i="1">
                <a:latin typeface="Times New Roman"/>
                <a:cs typeface="Times New Roman"/>
              </a:rPr>
              <a:t>layer. </a:t>
            </a:r>
            <a:r>
              <a:rPr dirty="0" sz="2800" spc="-5" b="1" i="1">
                <a:latin typeface="Times New Roman"/>
                <a:cs typeface="Times New Roman"/>
              </a:rPr>
              <a:t>There are two conditions for the delivery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 to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network layer: First,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set of consecutive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 must have arrived. Second, the set starts from the </a:t>
            </a:r>
            <a:r>
              <a:rPr dirty="0" sz="2800" b="1" i="1">
                <a:latin typeface="Times New Roman"/>
                <a:cs typeface="Times New Roman"/>
              </a:rPr>
              <a:t> beginning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window.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dirty="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436624"/>
            <a:ext cx="8528685" cy="4293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Another important point is that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NAK is sent after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second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arrival,</a:t>
            </a:r>
            <a:r>
              <a:rPr dirty="0" sz="2800" b="1" i="1">
                <a:latin typeface="Times New Roman"/>
                <a:cs typeface="Times New Roman"/>
              </a:rPr>
              <a:t> but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after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third,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although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both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situations look the same. The reason is that the protocol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does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want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crowd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with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unnecessary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NAKs and unnecessary resent frames. The second NAK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would still be NAK1 to inform the sender to resend </a:t>
            </a:r>
            <a:r>
              <a:rPr dirty="0" sz="2800" b="1" i="1">
                <a:latin typeface="Times New Roman"/>
                <a:cs typeface="Times New Roman"/>
              </a:rPr>
              <a:t>frame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again; this has already been done. The first NAK sent 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remembered (using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nakSent variable) and is </a:t>
            </a:r>
            <a:r>
              <a:rPr dirty="0" sz="2800" b="1" i="1">
                <a:latin typeface="Times New Roman"/>
                <a:cs typeface="Times New Roman"/>
              </a:rPr>
              <a:t>not sent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again until the frame slides.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NAK is sent once for each </a:t>
            </a:r>
            <a:r>
              <a:rPr dirty="0" sz="2800" b="1" i="1">
                <a:latin typeface="Times New Roman"/>
                <a:cs typeface="Times New Roman"/>
              </a:rPr>
              <a:t> window</a:t>
            </a:r>
            <a:r>
              <a:rPr dirty="0" sz="2800" spc="-4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position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and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defines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first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slot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window.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4721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2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11.8</a:t>
            </a:r>
            <a:r>
              <a:rPr dirty="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29759" y="1436624"/>
            <a:ext cx="875728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 next point is about the ACKs. Notice that only two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ACKs </a:t>
            </a:r>
            <a:r>
              <a:rPr dirty="0" sz="2800" spc="-5" b="1" i="1">
                <a:latin typeface="Times New Roman"/>
                <a:cs typeface="Times New Roman"/>
              </a:rPr>
              <a:t>are sent here. The first one acknowledges only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first frame; the second one acknowledges three frames. </a:t>
            </a: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Selective Repeat, </a:t>
            </a:r>
            <a:r>
              <a:rPr dirty="0" sz="2800" spc="-10" b="1" i="1">
                <a:latin typeface="Times New Roman"/>
                <a:cs typeface="Times New Roman"/>
              </a:rPr>
              <a:t>ACKs </a:t>
            </a:r>
            <a:r>
              <a:rPr dirty="0" sz="2800" spc="-5" b="1" i="1">
                <a:latin typeface="Times New Roman"/>
                <a:cs typeface="Times New Roman"/>
              </a:rPr>
              <a:t>are sent when data are delivered to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network </a:t>
            </a:r>
            <a:r>
              <a:rPr dirty="0" sz="2800" spc="-30" b="1" i="1">
                <a:latin typeface="Times New Roman"/>
                <a:cs typeface="Times New Roman"/>
              </a:rPr>
              <a:t>layer. </a:t>
            </a:r>
            <a:r>
              <a:rPr dirty="0" sz="2800" b="1" i="1">
                <a:latin typeface="Times New Roman"/>
                <a:cs typeface="Times New Roman"/>
              </a:rPr>
              <a:t>If </a:t>
            </a:r>
            <a:r>
              <a:rPr dirty="0" sz="2800" spc="-5" b="1" i="1">
                <a:latin typeface="Times New Roman"/>
                <a:cs typeface="Times New Roman"/>
              </a:rPr>
              <a:t>the data belonging to </a:t>
            </a:r>
            <a:r>
              <a:rPr dirty="0" sz="2800" b="1" i="1">
                <a:latin typeface="Times New Roman"/>
                <a:cs typeface="Times New Roman"/>
              </a:rPr>
              <a:t>n </a:t>
            </a:r>
            <a:r>
              <a:rPr dirty="0" sz="2800" spc="-5" b="1" i="1">
                <a:latin typeface="Times New Roman"/>
                <a:cs typeface="Times New Roman"/>
              </a:rPr>
              <a:t>frames are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delivered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shot,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only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one</a:t>
            </a:r>
            <a:r>
              <a:rPr dirty="0" sz="2800" spc="-1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sent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all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them.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13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11.23	</a:t>
            </a:r>
            <a:r>
              <a:rPr dirty="0" sz="2000" spc="-5" i="1">
                <a:latin typeface="Times New Roman"/>
                <a:cs typeface="Times New Roman"/>
              </a:rPr>
              <a:t>Flow diagram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30" i="1">
                <a:latin typeface="Times New Roman"/>
                <a:cs typeface="Times New Roman"/>
              </a:rPr>
              <a:t>11.8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915" y="1568195"/>
            <a:ext cx="6856476" cy="478383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582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11.24	</a:t>
            </a:r>
            <a:r>
              <a:rPr dirty="0" sz="2000" spc="-5" i="1">
                <a:latin typeface="Times New Roman"/>
                <a:cs typeface="Times New Roman"/>
              </a:rPr>
              <a:t>Design 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piggybacking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Go-Back-N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ARQ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0293" y="1514855"/>
            <a:ext cx="6201130" cy="49301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11-6	</a:t>
            </a:r>
            <a:r>
              <a:rPr dirty="0" spc="-5"/>
              <a:t>HDLC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05973" y="1847342"/>
            <a:ext cx="8223250" cy="432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64465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High-level Data Link Control (HDLC)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bit-oriented </a:t>
            </a:r>
            <a:r>
              <a:rPr dirty="0" sz="2800" spc="-68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protocol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communication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over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point-to-point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multipoint </a:t>
            </a:r>
            <a:r>
              <a:rPr dirty="0" sz="2800" spc="-105" b="1" i="1">
                <a:latin typeface="Times New Roman"/>
                <a:cs typeface="Times New Roman"/>
              </a:rPr>
              <a:t>links.. </a:t>
            </a:r>
            <a:r>
              <a:rPr dirty="0" sz="2800" spc="-5" b="1" i="1">
                <a:latin typeface="Times New Roman"/>
                <a:cs typeface="Times New Roman"/>
              </a:rPr>
              <a:t>It implements the </a:t>
            </a:r>
            <a:r>
              <a:rPr dirty="0" sz="2800" spc="-10" b="1" i="1">
                <a:latin typeface="Times New Roman"/>
                <a:cs typeface="Times New Roman"/>
              </a:rPr>
              <a:t>ARQ </a:t>
            </a:r>
            <a:r>
              <a:rPr dirty="0" sz="2800" spc="-5" b="1" i="1">
                <a:latin typeface="Times New Roman"/>
                <a:cs typeface="Times New Roman"/>
              </a:rPr>
              <a:t>mechanisms </a:t>
            </a:r>
            <a:r>
              <a:rPr dirty="0" sz="2800" b="1" i="1">
                <a:latin typeface="Times New Roman"/>
                <a:cs typeface="Times New Roman"/>
              </a:rPr>
              <a:t> we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discussed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-20" b="1" i="1">
                <a:latin typeface="Times New Roman"/>
                <a:cs typeface="Times New Roman"/>
              </a:rPr>
              <a:t> chapter.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algn="just" marL="12700" marR="3529329" indent="27940">
              <a:lnSpc>
                <a:spcPct val="106000"/>
              </a:lnSpc>
              <a:spcBef>
                <a:spcPts val="5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4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2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dirty="0" sz="2800" spc="-69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Configurations and </a:t>
            </a:r>
            <a:r>
              <a:rPr dirty="0" sz="2400" spc="-30" b="1">
                <a:solidFill>
                  <a:srgbClr val="0033CC"/>
                </a:solidFill>
                <a:latin typeface="Times New Roman"/>
                <a:cs typeface="Times New Roman"/>
              </a:rPr>
              <a:t>Transfer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Modes </a:t>
            </a:r>
            <a:r>
              <a:rPr dirty="0" sz="2400" spc="-58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Frames</a:t>
            </a:r>
            <a:endParaRPr sz="2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Control</a:t>
            </a:r>
            <a:r>
              <a:rPr dirty="0" sz="2400" spc="-5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Field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1903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11.25	</a:t>
            </a:r>
            <a:r>
              <a:rPr dirty="0" sz="2000" spc="-5" i="1">
                <a:latin typeface="Times New Roman"/>
                <a:cs typeface="Times New Roman"/>
              </a:rPr>
              <a:t>Normal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response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165" y="1843277"/>
            <a:ext cx="8364473" cy="43731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244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11.26	</a:t>
            </a:r>
            <a:r>
              <a:rPr dirty="0" sz="2000" spc="-5" i="1">
                <a:latin typeface="Times New Roman"/>
                <a:cs typeface="Times New Roman"/>
              </a:rPr>
              <a:t>Asynchronous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balanced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247" y="3168395"/>
            <a:ext cx="8775192" cy="14782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2683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11.27	</a:t>
            </a:r>
            <a:r>
              <a:rPr dirty="0" sz="2000" spc="-5" i="1">
                <a:latin typeface="Times New Roman"/>
                <a:cs typeface="Times New Roman"/>
              </a:rPr>
              <a:t>HDLC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999" y="2101595"/>
            <a:ext cx="8702040" cy="384352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8643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11.28	</a:t>
            </a:r>
            <a:r>
              <a:rPr dirty="0" sz="2000" spc="-5" i="1">
                <a:latin typeface="Times New Roman"/>
                <a:cs typeface="Times New Roman"/>
              </a:rPr>
              <a:t>Control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field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format for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different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641" y="2375154"/>
            <a:ext cx="4479797" cy="307924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057147"/>
            <a:ext cx="571563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dirty="0" sz="2400" spc="-50">
                <a:solidFill>
                  <a:srgbClr val="3333CC"/>
                </a:solidFill>
              </a:rPr>
              <a:t>Table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11.1	</a:t>
            </a:r>
            <a:r>
              <a:rPr dirty="0" sz="2000" spc="-5" i="1">
                <a:latin typeface="Times New Roman"/>
                <a:cs typeface="Times New Roman"/>
              </a:rPr>
              <a:t>U-frame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control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command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 response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097" y="1507997"/>
            <a:ext cx="8757463" cy="50131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5" i="1">
                <a:solidFill>
                  <a:srgbClr val="FF0000"/>
                </a:solidFill>
                <a:latin typeface="Times New Roman"/>
                <a:cs typeface="Times New Roman"/>
              </a:rPr>
              <a:t>11.9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65" y="1512824"/>
            <a:ext cx="8548370" cy="4293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35" b="1" i="1">
                <a:latin typeface="Times New Roman"/>
                <a:cs typeface="Times New Roman"/>
              </a:rPr>
              <a:t>11.29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shows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how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U-frames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can</a:t>
            </a:r>
            <a:r>
              <a:rPr dirty="0" sz="2800" b="1" i="1">
                <a:latin typeface="Times New Roman"/>
                <a:cs typeface="Times New Roman"/>
              </a:rPr>
              <a:t> be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connection establishment and connection release. Node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asks for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connection with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set asynchronous balanced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mode (SABM) frame; </a:t>
            </a:r>
            <a:r>
              <a:rPr dirty="0" sz="2800" b="1" i="1">
                <a:latin typeface="Times New Roman"/>
                <a:cs typeface="Times New Roman"/>
              </a:rPr>
              <a:t>node B </a:t>
            </a:r>
            <a:r>
              <a:rPr dirty="0" sz="2800" spc="-5" b="1" i="1">
                <a:latin typeface="Times New Roman"/>
                <a:cs typeface="Times New Roman"/>
              </a:rPr>
              <a:t>gives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positive response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with an unnumbered acknowledgment (UA) frame. After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these two exchanges, data can be transferred between 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two nodes (not shown in the figure). After data </a:t>
            </a:r>
            <a:r>
              <a:rPr dirty="0" sz="2800" spc="-25" b="1" i="1">
                <a:latin typeface="Times New Roman"/>
                <a:cs typeface="Times New Roman"/>
              </a:rPr>
              <a:t>transfer, 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sends </a:t>
            </a:r>
            <a:r>
              <a:rPr dirty="0" sz="2800" b="1" i="1">
                <a:latin typeface="Times New Roman"/>
                <a:cs typeface="Times New Roman"/>
              </a:rPr>
              <a:t>a DISC </a:t>
            </a:r>
            <a:r>
              <a:rPr dirty="0" sz="2800" spc="-5" b="1" i="1">
                <a:latin typeface="Times New Roman"/>
                <a:cs typeface="Times New Roman"/>
              </a:rPr>
              <a:t>(disconnect) frame to release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connection; it is confirmed </a:t>
            </a:r>
            <a:r>
              <a:rPr dirty="0" sz="2800" b="1" i="1">
                <a:latin typeface="Times New Roman"/>
                <a:cs typeface="Times New Roman"/>
              </a:rPr>
              <a:t>by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B </a:t>
            </a:r>
            <a:r>
              <a:rPr dirty="0" sz="2800" spc="-5" b="1" i="1">
                <a:latin typeface="Times New Roman"/>
                <a:cs typeface="Times New Roman"/>
              </a:rPr>
              <a:t>responding with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UA</a:t>
            </a:r>
            <a:r>
              <a:rPr dirty="0" sz="2800" spc="-17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(unnumbered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791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11.29	</a:t>
            </a:r>
            <a:r>
              <a:rPr dirty="0" sz="2000" spc="-5" i="1">
                <a:latin typeface="Times New Roman"/>
                <a:cs typeface="Times New Roman"/>
              </a:rPr>
              <a:t>Example of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connection and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disconnection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839" y="1491996"/>
            <a:ext cx="4653534" cy="49659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101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5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0" i="1">
                <a:solidFill>
                  <a:srgbClr val="FF0000"/>
                </a:solidFill>
                <a:latin typeface="Times New Roman"/>
                <a:cs typeface="Times New Roman"/>
              </a:rPr>
              <a:t>11.10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5143500"/>
            <a:chOff x="774839" y="1206246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57150"/>
            </a:xfrm>
            <a:custGeom>
              <a:avLst/>
              <a:gdLst/>
              <a:ahLst/>
              <a:cxnLst/>
              <a:rect l="l" t="t" r="r" b="b"/>
              <a:pathLst>
                <a:path w="422275" h="57150">
                  <a:moveTo>
                    <a:pt x="0" y="57149"/>
                  </a:moveTo>
                  <a:lnTo>
                    <a:pt x="422147" y="571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57150"/>
            </a:xfrm>
            <a:custGeom>
              <a:avLst/>
              <a:gdLst/>
              <a:ahLst/>
              <a:cxnLst/>
              <a:rect l="l" t="t" r="r" b="b"/>
              <a:pathLst>
                <a:path w="31750" h="57150">
                  <a:moveTo>
                    <a:pt x="0" y="57149"/>
                  </a:moveTo>
                  <a:lnTo>
                    <a:pt x="31241" y="571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63408"/>
              <a:ext cx="9144000" cy="5086350"/>
            </a:xfrm>
            <a:custGeom>
              <a:avLst/>
              <a:gdLst/>
              <a:ahLst/>
              <a:cxnLst/>
              <a:rect l="l" t="t" r="r" b="b"/>
              <a:pathLst>
                <a:path w="9144000" h="5086350">
                  <a:moveTo>
                    <a:pt x="9144000" y="799338"/>
                  </a:moveTo>
                  <a:lnTo>
                    <a:pt x="8915400" y="79933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99338"/>
                  </a:lnTo>
                  <a:lnTo>
                    <a:pt x="0" y="799338"/>
                  </a:lnTo>
                  <a:lnTo>
                    <a:pt x="0" y="1656588"/>
                  </a:lnTo>
                  <a:lnTo>
                    <a:pt x="0" y="5086350"/>
                  </a:lnTo>
                  <a:lnTo>
                    <a:pt x="9144000" y="5086350"/>
                  </a:lnTo>
                  <a:lnTo>
                    <a:pt x="9144000" y="1656588"/>
                  </a:lnTo>
                  <a:lnTo>
                    <a:pt x="9144000" y="799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82173" y="1284224"/>
            <a:ext cx="8528685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35" b="1" i="1">
                <a:latin typeface="Times New Roman"/>
                <a:cs typeface="Times New Roman"/>
              </a:rPr>
              <a:t>11.30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shows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exchange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using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piggybacking.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</a:t>
            </a:r>
            <a:r>
              <a:rPr dirty="0" sz="2800" b="1" i="1">
                <a:latin typeface="Times New Roman"/>
                <a:cs typeface="Times New Roman"/>
              </a:rPr>
              <a:t> 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begins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exchange</a:t>
            </a:r>
            <a:r>
              <a:rPr dirty="0" sz="2800" b="1" i="1">
                <a:latin typeface="Times New Roman"/>
                <a:cs typeface="Times New Roman"/>
              </a:rPr>
              <a:t> 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information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with</a:t>
            </a:r>
            <a:r>
              <a:rPr dirty="0" sz="2800" b="1" i="1">
                <a:latin typeface="Times New Roman"/>
                <a:cs typeface="Times New Roman"/>
              </a:rPr>
              <a:t> an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I-frame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numbered</a:t>
            </a:r>
            <a:r>
              <a:rPr dirty="0" sz="2800" b="1" i="1">
                <a:latin typeface="Times New Roman"/>
                <a:cs typeface="Times New Roman"/>
              </a:rPr>
              <a:t> 0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followed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another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I-frame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numbered </a:t>
            </a:r>
            <a:r>
              <a:rPr dirty="0" sz="2800" b="1" i="1">
                <a:latin typeface="Times New Roman"/>
                <a:cs typeface="Times New Roman"/>
              </a:rPr>
              <a:t>1.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B </a:t>
            </a:r>
            <a:r>
              <a:rPr dirty="0" sz="2800" spc="-5" b="1" i="1">
                <a:latin typeface="Times New Roman"/>
                <a:cs typeface="Times New Roman"/>
              </a:rPr>
              <a:t>piggybacks its acknowledgment of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both frames onto an I-frame of its own. Node </a:t>
            </a:r>
            <a:r>
              <a:rPr dirty="0" sz="2800" spc="-75" b="1" i="1">
                <a:latin typeface="Times New Roman"/>
                <a:cs typeface="Times New Roman"/>
              </a:rPr>
              <a:t>B’s </a:t>
            </a:r>
            <a:r>
              <a:rPr dirty="0" sz="2800" spc="-5" b="1" i="1">
                <a:latin typeface="Times New Roman"/>
                <a:cs typeface="Times New Roman"/>
              </a:rPr>
              <a:t>first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I-frame is also numbered </a:t>
            </a:r>
            <a:r>
              <a:rPr dirty="0" sz="2800" b="1" i="1">
                <a:latin typeface="Times New Roman"/>
                <a:cs typeface="Times New Roman"/>
              </a:rPr>
              <a:t>0 [N(S) </a:t>
            </a:r>
            <a:r>
              <a:rPr dirty="0" sz="2800" spc="-5" b="1" i="1">
                <a:latin typeface="Times New Roman"/>
                <a:cs typeface="Times New Roman"/>
              </a:rPr>
              <a:t>field] and contains </a:t>
            </a:r>
            <a:r>
              <a:rPr dirty="0" sz="2800" b="1" i="1">
                <a:latin typeface="Times New Roman"/>
                <a:cs typeface="Times New Roman"/>
              </a:rPr>
              <a:t>a 2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1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its</a:t>
            </a:r>
            <a:r>
              <a:rPr dirty="0" sz="2800" spc="1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N(R)</a:t>
            </a:r>
            <a:r>
              <a:rPr dirty="0" sz="2800" spc="1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field,</a:t>
            </a:r>
            <a:r>
              <a:rPr dirty="0" sz="2800" spc="1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acknowledging</a:t>
            </a:r>
            <a:r>
              <a:rPr dirty="0" sz="2800" spc="1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1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receipt</a:t>
            </a:r>
            <a:r>
              <a:rPr dirty="0" sz="2800" spc="17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of</a:t>
            </a:r>
            <a:r>
              <a:rPr dirty="0" sz="2800" spc="175" b="1" i="1">
                <a:latin typeface="Times New Roman"/>
                <a:cs typeface="Times New Roman"/>
              </a:rPr>
              <a:t> </a:t>
            </a:r>
            <a:r>
              <a:rPr dirty="0" sz="2800" spc="-145" b="1" i="1">
                <a:latin typeface="Times New Roman"/>
                <a:cs typeface="Times New Roman"/>
              </a:rPr>
              <a:t>A’s</a:t>
            </a:r>
            <a:r>
              <a:rPr dirty="0" sz="2800" spc="1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b="1" i="1">
                <a:latin typeface="Times New Roman"/>
                <a:cs typeface="Times New Roman"/>
              </a:rPr>
              <a:t>0 and </a:t>
            </a:r>
            <a:r>
              <a:rPr dirty="0" sz="2800" spc="-5" b="1" i="1">
                <a:latin typeface="Times New Roman"/>
                <a:cs typeface="Times New Roman"/>
              </a:rPr>
              <a:t>indicating that </a:t>
            </a:r>
            <a:r>
              <a:rPr dirty="0" sz="2800" b="1" i="1">
                <a:latin typeface="Times New Roman"/>
                <a:cs typeface="Times New Roman"/>
              </a:rPr>
              <a:t>it </a:t>
            </a:r>
            <a:r>
              <a:rPr dirty="0" sz="2800" spc="-5" b="1" i="1">
                <a:latin typeface="Times New Roman"/>
                <a:cs typeface="Times New Roman"/>
              </a:rPr>
              <a:t>expects frame </a:t>
            </a:r>
            <a:r>
              <a:rPr dirty="0" sz="2800" b="1" i="1">
                <a:latin typeface="Times New Roman"/>
                <a:cs typeface="Times New Roman"/>
              </a:rPr>
              <a:t>2 to </a:t>
            </a:r>
            <a:r>
              <a:rPr dirty="0" sz="2800" spc="-5" b="1" i="1">
                <a:latin typeface="Times New Roman"/>
                <a:cs typeface="Times New Roman"/>
              </a:rPr>
              <a:t>arrive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next.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</a:t>
            </a:r>
            <a:r>
              <a:rPr dirty="0" sz="2800" b="1" i="1">
                <a:latin typeface="Times New Roman"/>
                <a:cs typeface="Times New Roman"/>
              </a:rPr>
              <a:t> B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transmits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second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third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I-frames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(numbered </a:t>
            </a:r>
            <a:r>
              <a:rPr dirty="0" sz="2800" b="1" i="1">
                <a:latin typeface="Times New Roman"/>
                <a:cs typeface="Times New Roman"/>
              </a:rPr>
              <a:t>1 and 2) </a:t>
            </a:r>
            <a:r>
              <a:rPr dirty="0" sz="2800" spc="-5" b="1" i="1">
                <a:latin typeface="Times New Roman"/>
                <a:cs typeface="Times New Roman"/>
              </a:rPr>
              <a:t>before accepting further frames </a:t>
            </a:r>
            <a:r>
              <a:rPr dirty="0" sz="2800" b="1" i="1">
                <a:latin typeface="Times New Roman"/>
                <a:cs typeface="Times New Roman"/>
              </a:rPr>
              <a:t>from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node</a:t>
            </a:r>
            <a:r>
              <a:rPr dirty="0" sz="2800" spc="-1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5231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0" i="1">
                <a:solidFill>
                  <a:srgbClr val="FF0000"/>
                </a:solidFill>
                <a:latin typeface="Times New Roman"/>
                <a:cs typeface="Times New Roman"/>
              </a:rPr>
              <a:t>11.10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Its</a:t>
            </a:r>
            <a:r>
              <a:rPr dirty="0"/>
              <a:t> </a:t>
            </a:r>
            <a:r>
              <a:rPr dirty="0" spc="-5"/>
              <a:t>N(R)</a:t>
            </a:r>
            <a:r>
              <a:rPr dirty="0"/>
              <a:t> </a:t>
            </a:r>
            <a:r>
              <a:rPr dirty="0" spc="-5"/>
              <a:t>information,</a:t>
            </a:r>
            <a:r>
              <a:rPr dirty="0"/>
              <a:t> </a:t>
            </a:r>
            <a:r>
              <a:rPr dirty="0" spc="-5"/>
              <a:t>therefore,</a:t>
            </a:r>
            <a:r>
              <a:rPr dirty="0"/>
              <a:t> </a:t>
            </a:r>
            <a:r>
              <a:rPr dirty="0" spc="-5"/>
              <a:t>has</a:t>
            </a:r>
            <a:r>
              <a:rPr dirty="0"/>
              <a:t> </a:t>
            </a:r>
            <a:r>
              <a:rPr dirty="0" spc="-5"/>
              <a:t>not</a:t>
            </a:r>
            <a:r>
              <a:rPr dirty="0"/>
              <a:t> </a:t>
            </a:r>
            <a:r>
              <a:rPr dirty="0" spc="-5"/>
              <a:t>changed:</a:t>
            </a:r>
            <a:r>
              <a:rPr dirty="0"/>
              <a:t> B </a:t>
            </a:r>
            <a:r>
              <a:rPr dirty="0" spc="5"/>
              <a:t> </a:t>
            </a:r>
            <a:r>
              <a:rPr dirty="0" spc="-5"/>
              <a:t>frames </a:t>
            </a:r>
            <a:r>
              <a:rPr dirty="0"/>
              <a:t>1 </a:t>
            </a:r>
            <a:r>
              <a:rPr dirty="0" spc="-5"/>
              <a:t>and </a:t>
            </a:r>
            <a:r>
              <a:rPr dirty="0"/>
              <a:t>2 </a:t>
            </a:r>
            <a:r>
              <a:rPr dirty="0" spc="-5"/>
              <a:t>indicate that node </a:t>
            </a:r>
            <a:r>
              <a:rPr dirty="0"/>
              <a:t>B </a:t>
            </a:r>
            <a:r>
              <a:rPr dirty="0" spc="-5"/>
              <a:t>is still expecting </a:t>
            </a:r>
            <a:r>
              <a:rPr dirty="0" spc="-210"/>
              <a:t>A’s </a:t>
            </a:r>
            <a:r>
              <a:rPr dirty="0" spc="-204"/>
              <a:t> </a:t>
            </a:r>
            <a:r>
              <a:rPr dirty="0" spc="-5"/>
              <a:t>frame</a:t>
            </a:r>
            <a:r>
              <a:rPr dirty="0"/>
              <a:t> 2</a:t>
            </a:r>
            <a:r>
              <a:rPr dirty="0" spc="5"/>
              <a:t> </a:t>
            </a:r>
            <a:r>
              <a:rPr dirty="0" spc="-5"/>
              <a:t>to</a:t>
            </a:r>
            <a:r>
              <a:rPr dirty="0"/>
              <a:t> </a:t>
            </a:r>
            <a:r>
              <a:rPr dirty="0" spc="-5"/>
              <a:t>arrive</a:t>
            </a:r>
            <a:r>
              <a:rPr dirty="0"/>
              <a:t> </a:t>
            </a:r>
            <a:r>
              <a:rPr dirty="0" spc="-5"/>
              <a:t>next.</a:t>
            </a:r>
            <a:r>
              <a:rPr dirty="0"/>
              <a:t> </a:t>
            </a:r>
            <a:r>
              <a:rPr dirty="0" spc="-5"/>
              <a:t>Node</a:t>
            </a:r>
            <a:r>
              <a:rPr dirty="0"/>
              <a:t> A </a:t>
            </a:r>
            <a:r>
              <a:rPr dirty="0" spc="-5"/>
              <a:t>has</a:t>
            </a:r>
            <a:r>
              <a:rPr dirty="0"/>
              <a:t> </a:t>
            </a:r>
            <a:r>
              <a:rPr dirty="0" spc="-5"/>
              <a:t>sent</a:t>
            </a:r>
            <a:r>
              <a:rPr dirty="0"/>
              <a:t> </a:t>
            </a:r>
            <a:r>
              <a:rPr dirty="0" spc="-5"/>
              <a:t>all</a:t>
            </a:r>
            <a:r>
              <a:rPr dirty="0"/>
              <a:t> </a:t>
            </a:r>
            <a:r>
              <a:rPr dirty="0" spc="-5"/>
              <a:t>its</a:t>
            </a:r>
            <a:r>
              <a:rPr dirty="0"/>
              <a:t> </a:t>
            </a:r>
            <a:r>
              <a:rPr dirty="0" spc="-5"/>
              <a:t>data. </a:t>
            </a:r>
            <a:r>
              <a:rPr dirty="0"/>
              <a:t> </a:t>
            </a:r>
            <a:r>
              <a:rPr dirty="0" spc="-5"/>
              <a:t>Therefore, it </a:t>
            </a:r>
            <a:r>
              <a:rPr dirty="0"/>
              <a:t>cannot </a:t>
            </a:r>
            <a:r>
              <a:rPr dirty="0" spc="-5"/>
              <a:t>piggyback </a:t>
            </a:r>
            <a:r>
              <a:rPr dirty="0"/>
              <a:t>an </a:t>
            </a:r>
            <a:r>
              <a:rPr dirty="0" spc="-5"/>
              <a:t>acknowledgment </a:t>
            </a:r>
            <a:r>
              <a:rPr dirty="0"/>
              <a:t>onto </a:t>
            </a:r>
            <a:r>
              <a:rPr dirty="0" spc="5"/>
              <a:t> </a:t>
            </a:r>
            <a:r>
              <a:rPr dirty="0" spc="-5"/>
              <a:t>an I-frame and sends </a:t>
            </a:r>
            <a:r>
              <a:rPr dirty="0"/>
              <a:t>an </a:t>
            </a:r>
            <a:r>
              <a:rPr dirty="0" spc="-5"/>
              <a:t>S-frame instead. The RR code </a:t>
            </a:r>
            <a:r>
              <a:rPr dirty="0"/>
              <a:t> </a:t>
            </a:r>
            <a:r>
              <a:rPr dirty="0" spc="-5"/>
              <a:t>indicates that </a:t>
            </a:r>
            <a:r>
              <a:rPr dirty="0"/>
              <a:t>A is </a:t>
            </a:r>
            <a:r>
              <a:rPr dirty="0" spc="-5"/>
              <a:t>still ready to receive. The number </a:t>
            </a:r>
            <a:r>
              <a:rPr dirty="0"/>
              <a:t>3 in </a:t>
            </a:r>
            <a:r>
              <a:rPr dirty="0" spc="5"/>
              <a:t> </a:t>
            </a:r>
            <a:r>
              <a:rPr dirty="0" spc="-5"/>
              <a:t>the N(R) field tells </a:t>
            </a:r>
            <a:r>
              <a:rPr dirty="0"/>
              <a:t>B </a:t>
            </a:r>
            <a:r>
              <a:rPr dirty="0" spc="-5"/>
              <a:t>that frames 0, 1, and </a:t>
            </a:r>
            <a:r>
              <a:rPr dirty="0"/>
              <a:t>2 </a:t>
            </a:r>
            <a:r>
              <a:rPr dirty="0" spc="-5"/>
              <a:t>have all been </a:t>
            </a:r>
            <a:r>
              <a:rPr dirty="0"/>
              <a:t> </a:t>
            </a:r>
            <a:r>
              <a:rPr dirty="0" spc="-5"/>
              <a:t>accepted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125"/>
              <a:t> </a:t>
            </a:r>
            <a:r>
              <a:rPr dirty="0"/>
              <a:t>A</a:t>
            </a:r>
            <a:r>
              <a:rPr dirty="0" spc="-17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/>
              <a:t>now</a:t>
            </a:r>
            <a:r>
              <a:rPr dirty="0" spc="-15"/>
              <a:t> </a:t>
            </a:r>
            <a:r>
              <a:rPr dirty="0"/>
              <a:t>expecting</a:t>
            </a:r>
            <a:r>
              <a:rPr dirty="0" spc="-30"/>
              <a:t> </a:t>
            </a:r>
            <a:r>
              <a:rPr dirty="0"/>
              <a:t>frame</a:t>
            </a:r>
            <a:r>
              <a:rPr dirty="0" spc="-20"/>
              <a:t> </a:t>
            </a:r>
            <a:r>
              <a:rPr dirty="0"/>
              <a:t>number</a:t>
            </a:r>
            <a:r>
              <a:rPr dirty="0" spc="-15"/>
              <a:t> </a:t>
            </a:r>
            <a:r>
              <a:rPr dirty="0"/>
              <a:t>3.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8953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11.30	</a:t>
            </a:r>
            <a:r>
              <a:rPr dirty="0" sz="2000" spc="-5" i="1">
                <a:latin typeface="Times New Roman"/>
                <a:cs typeface="Times New Roman"/>
              </a:rPr>
              <a:t>Example 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piggybacking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without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error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6619" y="1377696"/>
            <a:ext cx="3442233" cy="52196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48793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5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75" i="1">
                <a:solidFill>
                  <a:srgbClr val="FF0000"/>
                </a:solidFill>
                <a:latin typeface="Times New Roman"/>
                <a:cs typeface="Times New Roman"/>
              </a:rPr>
              <a:t>11.11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65" y="1512824"/>
            <a:ext cx="8529320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35" b="1" i="1">
                <a:latin typeface="Times New Roman"/>
                <a:cs typeface="Times New Roman"/>
              </a:rPr>
              <a:t>11.31 </a:t>
            </a:r>
            <a:r>
              <a:rPr dirty="0" sz="2800" spc="-5" b="1" i="1">
                <a:latin typeface="Times New Roman"/>
                <a:cs typeface="Times New Roman"/>
              </a:rPr>
              <a:t>shows an exchange in which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lost.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B </a:t>
            </a:r>
            <a:r>
              <a:rPr dirty="0" sz="2800" spc="-5" b="1" i="1">
                <a:latin typeface="Times New Roman"/>
                <a:cs typeface="Times New Roman"/>
              </a:rPr>
              <a:t>sends three data frames (0, 1, and 2), but frame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lost. When node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receives frame 2, it discards it and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REJ frame </a:t>
            </a:r>
            <a:r>
              <a:rPr dirty="0" sz="2800" b="1" i="1">
                <a:latin typeface="Times New Roman"/>
                <a:cs typeface="Times New Roman"/>
              </a:rPr>
              <a:t>for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1. </a:t>
            </a:r>
            <a:r>
              <a:rPr dirty="0" sz="2800" spc="-5" b="1" i="1">
                <a:latin typeface="Times New Roman"/>
                <a:cs typeface="Times New Roman"/>
              </a:rPr>
              <a:t>Note that the protocol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being used is Go-Back-N with the special use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an REJ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as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NAK frame. The NAK frame does two things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here: </a:t>
            </a:r>
            <a:r>
              <a:rPr dirty="0" sz="2800" b="1" i="1">
                <a:latin typeface="Times New Roman"/>
                <a:cs typeface="Times New Roman"/>
              </a:rPr>
              <a:t>It </a:t>
            </a:r>
            <a:r>
              <a:rPr dirty="0" sz="2800" spc="-5" b="1" i="1">
                <a:latin typeface="Times New Roman"/>
                <a:cs typeface="Times New Roman"/>
              </a:rPr>
              <a:t>confirms the receipt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frame </a:t>
            </a:r>
            <a:r>
              <a:rPr dirty="0" sz="2800" b="1" i="1">
                <a:latin typeface="Times New Roman"/>
                <a:cs typeface="Times New Roman"/>
              </a:rPr>
              <a:t>0 </a:t>
            </a:r>
            <a:r>
              <a:rPr dirty="0" sz="2800" spc="-5" b="1" i="1">
                <a:latin typeface="Times New Roman"/>
                <a:cs typeface="Times New Roman"/>
              </a:rPr>
              <a:t>and declares that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spc="34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</a:t>
            </a:r>
            <a:r>
              <a:rPr dirty="0" sz="2800" spc="3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spc="3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any</a:t>
            </a:r>
            <a:r>
              <a:rPr dirty="0" sz="2800" spc="3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following</a:t>
            </a:r>
            <a:r>
              <a:rPr dirty="0" sz="2800" spc="34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spc="3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must</a:t>
            </a:r>
            <a:r>
              <a:rPr dirty="0" sz="2800" spc="33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</a:t>
            </a:r>
            <a:r>
              <a:rPr dirty="0" sz="2800" spc="3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resent.</a:t>
            </a:r>
            <a:r>
              <a:rPr dirty="0" sz="2800" spc="35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B, after receiving the REJ frame, resends frames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and 2.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acknowledges the receipt by sending an RR frame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(ACK)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with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acknowledgment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number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5568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11.31	</a:t>
            </a:r>
            <a:r>
              <a:rPr dirty="0" sz="2000" spc="-5" i="1">
                <a:latin typeface="Times New Roman"/>
                <a:cs typeface="Times New Roman"/>
              </a:rPr>
              <a:t>Example 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piggybacking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with error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450847"/>
            <a:ext cx="8763000" cy="5337175"/>
            <a:chOff x="927239" y="1450847"/>
            <a:chExt cx="8763000" cy="5337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7915" y="1450847"/>
              <a:ext cx="3356686" cy="52227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40485" algn="l"/>
              </a:tabLst>
            </a:pPr>
            <a:r>
              <a:rPr dirty="0" spc="-50"/>
              <a:t>11-7	</a:t>
            </a:r>
            <a:r>
              <a:rPr dirty="0" spc="-30"/>
              <a:t>POINT-TO-POINT</a:t>
            </a:r>
            <a:r>
              <a:rPr dirty="0" spc="-75"/>
              <a:t> </a:t>
            </a:r>
            <a:r>
              <a:rPr dirty="0" spc="-10"/>
              <a:t>PROTOCOL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3429000"/>
            <a:chOff x="774839" y="1206246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4839" y="2062746"/>
              <a:ext cx="9144000" cy="2573020"/>
            </a:xfrm>
            <a:custGeom>
              <a:avLst/>
              <a:gdLst/>
              <a:ahLst/>
              <a:cxnLst/>
              <a:rect l="l" t="t" r="r" b="b"/>
              <a:pathLst>
                <a:path w="9144000" h="257302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9144000" y="2572512"/>
                  </a:lnTo>
                  <a:lnTo>
                    <a:pt x="9144000" y="1715262"/>
                  </a:lnTo>
                  <a:lnTo>
                    <a:pt x="9144000" y="1714500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05973" y="1801622"/>
            <a:ext cx="8223884" cy="4738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64465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Although </a:t>
            </a:r>
            <a:r>
              <a:rPr dirty="0" sz="2800" spc="-5" b="1" i="1">
                <a:latin typeface="Times New Roman"/>
                <a:cs typeface="Times New Roman"/>
              </a:rPr>
              <a:t>HDLC is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general protocol </a:t>
            </a:r>
            <a:r>
              <a:rPr dirty="0" sz="2800" b="1" i="1">
                <a:latin typeface="Times New Roman"/>
                <a:cs typeface="Times New Roman"/>
              </a:rPr>
              <a:t>that </a:t>
            </a:r>
            <a:r>
              <a:rPr dirty="0" sz="2800" spc="-10" b="1" i="1">
                <a:latin typeface="Times New Roman"/>
                <a:cs typeface="Times New Roman"/>
              </a:rPr>
              <a:t>can </a:t>
            </a:r>
            <a:r>
              <a:rPr dirty="0" sz="2800" spc="-5" b="1" i="1">
                <a:latin typeface="Times New Roman"/>
                <a:cs typeface="Times New Roman"/>
              </a:rPr>
              <a:t>be used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 both </a:t>
            </a:r>
            <a:r>
              <a:rPr dirty="0" sz="2800" spc="-5" b="1" i="1">
                <a:latin typeface="Times New Roman"/>
                <a:cs typeface="Times New Roman"/>
              </a:rPr>
              <a:t>point-to-point and multipoint configurations, </a:t>
            </a:r>
            <a:r>
              <a:rPr dirty="0" sz="2800" b="1" i="1">
                <a:latin typeface="Times New Roman"/>
                <a:cs typeface="Times New Roman"/>
              </a:rPr>
              <a:t> one of </a:t>
            </a:r>
            <a:r>
              <a:rPr dirty="0" sz="2800" spc="-5" b="1" i="1">
                <a:latin typeface="Times New Roman"/>
                <a:cs typeface="Times New Roman"/>
              </a:rPr>
              <a:t>the most common protocols </a:t>
            </a:r>
            <a:r>
              <a:rPr dirty="0" sz="2800" b="1" i="1">
                <a:latin typeface="Times New Roman"/>
                <a:cs typeface="Times New Roman"/>
              </a:rPr>
              <a:t>for </a:t>
            </a:r>
            <a:r>
              <a:rPr dirty="0" sz="2800" spc="-5" b="1" i="1">
                <a:latin typeface="Times New Roman"/>
                <a:cs typeface="Times New Roman"/>
              </a:rPr>
              <a:t>point-to-point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access is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Point-to-Point Protocol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(PPP). </a:t>
            </a:r>
            <a:r>
              <a:rPr dirty="0" sz="2800" spc="-5" b="1" i="1">
                <a:latin typeface="Times New Roman"/>
                <a:cs typeface="Times New Roman"/>
              </a:rPr>
              <a:t>PPP is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byte-oriented</a:t>
            </a:r>
            <a:r>
              <a:rPr dirty="0" sz="2800" spc="-3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45" b="1" i="1">
                <a:latin typeface="Times New Roman"/>
                <a:cs typeface="Times New Roman"/>
              </a:rPr>
              <a:t>protocol..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3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1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5898515">
              <a:lnSpc>
                <a:spcPct val="100000"/>
              </a:lnSpc>
              <a:spcBef>
                <a:spcPts val="400"/>
              </a:spcBef>
            </a:pP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Framing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0033CC"/>
                </a:solidFill>
                <a:latin typeface="Times New Roman"/>
                <a:cs typeface="Times New Roman"/>
              </a:rPr>
              <a:t>Transition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Phases </a:t>
            </a:r>
            <a:r>
              <a:rPr dirty="0" sz="2400" spc="-58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Multiplexing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Multilink</a:t>
            </a:r>
            <a:r>
              <a:rPr dirty="0" sz="2400" spc="-2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PPP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68807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11.32	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r>
              <a:rPr dirty="0" sz="2000" spc="-8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3392423"/>
            <a:ext cx="8437626" cy="122377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297429"/>
            <a:ext cx="1143000" cy="5661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17495"/>
            <a:ext cx="71818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433705" marR="42227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PPP</a:t>
            </a:r>
            <a:r>
              <a:rPr dirty="0" sz="3200" spc="-5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byte-oriented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protocol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using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byte stuffing with the </a:t>
            </a:r>
            <a:r>
              <a:rPr dirty="0" sz="3200" spc="-10" b="1">
                <a:latin typeface="Arial"/>
                <a:cs typeface="Arial"/>
              </a:rPr>
              <a:t>escape </a:t>
            </a:r>
            <a:r>
              <a:rPr dirty="0" sz="3200" spc="-5" b="1">
                <a:latin typeface="Arial"/>
                <a:cs typeface="Arial"/>
              </a:rPr>
              <a:t>byte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85" b="1">
                <a:latin typeface="Arial"/>
                <a:cs typeface="Arial"/>
              </a:rPr>
              <a:t>01111101.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6379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11.33	</a:t>
            </a:r>
            <a:r>
              <a:rPr dirty="0" sz="2000" spc="-10" i="1">
                <a:latin typeface="Times New Roman"/>
                <a:cs typeface="Times New Roman"/>
              </a:rPr>
              <a:t>Transition</a:t>
            </a:r>
            <a:r>
              <a:rPr dirty="0" sz="2000" spc="-7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phases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467" y="1856232"/>
            <a:ext cx="6481571" cy="39791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255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11.34	</a:t>
            </a:r>
            <a:r>
              <a:rPr dirty="0" sz="2000" spc="-10" i="1">
                <a:latin typeface="Times New Roman"/>
                <a:cs typeface="Times New Roman"/>
              </a:rPr>
              <a:t>Multiplexing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799" y="1608582"/>
            <a:ext cx="7101840" cy="47602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5714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11.35	</a:t>
            </a:r>
            <a:r>
              <a:rPr dirty="0" sz="2000" spc="-5" i="1">
                <a:latin typeface="Times New Roman"/>
                <a:cs typeface="Times New Roman"/>
              </a:rPr>
              <a:t>LCP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packet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encapsulated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591" y="3015995"/>
            <a:ext cx="6937247" cy="14782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7997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dirty="0" sz="2400" spc="-50">
                <a:solidFill>
                  <a:srgbClr val="3333CC"/>
                </a:solidFill>
              </a:rPr>
              <a:t>Table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11.2	</a:t>
            </a:r>
            <a:r>
              <a:rPr dirty="0" sz="2000" spc="-5" i="1">
                <a:latin typeface="Times New Roman"/>
                <a:cs typeface="Times New Roman"/>
              </a:rPr>
              <a:t>LCP</a:t>
            </a:r>
            <a:r>
              <a:rPr dirty="0" sz="2000" spc="-1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1568196"/>
            <a:ext cx="8852789" cy="4640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4173" y="1285747"/>
            <a:ext cx="32715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dirty="0" sz="2400" spc="-50">
                <a:solidFill>
                  <a:srgbClr val="3333CC"/>
                </a:solidFill>
              </a:rPr>
              <a:t>Table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	</a:t>
            </a:r>
            <a:r>
              <a:rPr dirty="0" sz="2000" spc="-5" i="1">
                <a:latin typeface="Times New Roman"/>
                <a:cs typeface="Times New Roman"/>
              </a:rPr>
              <a:t>Common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options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305" y="1655064"/>
            <a:ext cx="7777733" cy="28087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702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11.36	</a:t>
            </a:r>
            <a:r>
              <a:rPr dirty="0" sz="2000" spc="-55" i="1">
                <a:latin typeface="Times New Roman"/>
                <a:cs typeface="Times New Roman"/>
              </a:rPr>
              <a:t>PAP </a:t>
            </a:r>
            <a:r>
              <a:rPr dirty="0" sz="2000" spc="-5" i="1">
                <a:latin typeface="Times New Roman"/>
                <a:cs typeface="Times New Roman"/>
              </a:rPr>
              <a:t>packets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encapsulated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 a PPP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197" y="1644395"/>
            <a:ext cx="6965442" cy="465200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4008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11.37	</a:t>
            </a:r>
            <a:r>
              <a:rPr dirty="0" sz="2000" spc="-5" i="1">
                <a:latin typeface="Times New Roman"/>
                <a:cs typeface="Times New Roman"/>
              </a:rPr>
              <a:t>CHAP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packets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encapsulated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773" y="1415795"/>
            <a:ext cx="6928866" cy="51625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999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11.38	</a:t>
            </a:r>
            <a:r>
              <a:rPr dirty="0" sz="2000" spc="-5" i="1">
                <a:latin typeface="Times New Roman"/>
                <a:cs typeface="Times New Roman"/>
              </a:rPr>
              <a:t>IPCP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packet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encapsulated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647" y="2787395"/>
            <a:ext cx="8317992" cy="17815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2773" y="1285747"/>
            <a:ext cx="44977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200" algn="l"/>
              </a:tabLst>
            </a:pPr>
            <a:r>
              <a:rPr dirty="0" sz="2400" spc="-50">
                <a:solidFill>
                  <a:srgbClr val="3333CC"/>
                </a:solidFill>
              </a:rPr>
              <a:t>Table</a:t>
            </a:r>
            <a:r>
              <a:rPr dirty="0" sz="2400" spc="-5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11.4	</a:t>
            </a:r>
            <a:r>
              <a:rPr dirty="0" sz="2000" spc="-5" i="1">
                <a:latin typeface="Times New Roman"/>
                <a:cs typeface="Times New Roman"/>
              </a:rPr>
              <a:t>Code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value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IPCP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197" y="1668779"/>
            <a:ext cx="7194042" cy="40904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874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11.39	</a:t>
            </a:r>
            <a:r>
              <a:rPr dirty="0" sz="2000" spc="-5" i="1">
                <a:latin typeface="Times New Roman"/>
                <a:cs typeface="Times New Roman"/>
              </a:rPr>
              <a:t>IP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datagram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encapsulated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frame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591" y="2973323"/>
            <a:ext cx="8308847" cy="15666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29120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11.40	</a:t>
            </a:r>
            <a:r>
              <a:rPr dirty="0" sz="2000" spc="-10" i="1">
                <a:latin typeface="Times New Roman"/>
                <a:cs typeface="Times New Roman"/>
              </a:rPr>
              <a:t>Multilink</a:t>
            </a:r>
            <a:r>
              <a:rPr dirty="0" sz="2000" spc="-6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PPP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39" y="2101595"/>
            <a:ext cx="7431785" cy="356616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25"/>
              <a:t>11.</a:t>
            </a:r>
            <a:fld id="{81D60167-4931-47E6-BA6A-407CBD079E47}" type="slidenum">
              <a:rPr dirty="0" spc="-25"/>
              <a:t>68</a:t>
            </a:fld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51015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5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0" i="1">
                <a:solidFill>
                  <a:srgbClr val="FF0000"/>
                </a:solidFill>
                <a:latin typeface="Times New Roman"/>
                <a:cs typeface="Times New Roman"/>
              </a:rPr>
              <a:t>11.12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42020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8415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Let us go through the phases followed by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network layer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packet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transmitted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through</a:t>
            </a:r>
            <a:r>
              <a:rPr dirty="0" sz="2800" b="1" i="1">
                <a:latin typeface="Times New Roman"/>
                <a:cs typeface="Times New Roman"/>
              </a:rPr>
              <a:t> 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PPP connection.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Figure </a:t>
            </a:r>
            <a:r>
              <a:rPr dirty="0" sz="2800" spc="-35" b="1" i="1">
                <a:latin typeface="Times New Roman"/>
                <a:cs typeface="Times New Roman"/>
              </a:rPr>
              <a:t>11.41 </a:t>
            </a:r>
            <a:r>
              <a:rPr dirty="0" sz="2800" spc="-5" b="1" i="1">
                <a:latin typeface="Times New Roman"/>
                <a:cs typeface="Times New Roman"/>
              </a:rPr>
              <a:t>shows the steps. For </a:t>
            </a:r>
            <a:r>
              <a:rPr dirty="0" sz="2800" spc="-15" b="1" i="1">
                <a:latin typeface="Times New Roman"/>
                <a:cs typeface="Times New Roman"/>
              </a:rPr>
              <a:t>simplicity, </a:t>
            </a:r>
            <a:r>
              <a:rPr dirty="0" sz="2800" spc="-5" b="1" i="1">
                <a:latin typeface="Times New Roman"/>
                <a:cs typeface="Times New Roman"/>
              </a:rPr>
              <a:t>we assume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unidirectional movement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data from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user site to the </a:t>
            </a:r>
            <a:r>
              <a:rPr dirty="0" sz="2800" b="1" i="1">
                <a:latin typeface="Times New Roman"/>
                <a:cs typeface="Times New Roman"/>
              </a:rPr>
              <a:t> system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site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(such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sending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e-mail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through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ISP).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800" spc="-5" b="1" i="1">
                <a:latin typeface="Times New Roman"/>
                <a:cs typeface="Times New Roman"/>
              </a:rPr>
              <a:t>The first two frames show link establishment. </a:t>
            </a: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-1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chosen two options (not shown in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figure): using </a:t>
            </a:r>
            <a:r>
              <a:rPr dirty="0" sz="2800" spc="-75" b="1" i="1">
                <a:latin typeface="Times New Roman"/>
                <a:cs typeface="Times New Roman"/>
              </a:rPr>
              <a:t>PAP </a:t>
            </a:r>
            <a:r>
              <a:rPr dirty="0" sz="2800" spc="-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authentication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suppressing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address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control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fields. Frames </a:t>
            </a:r>
            <a:r>
              <a:rPr dirty="0" sz="2800" b="1" i="1">
                <a:latin typeface="Times New Roman"/>
                <a:cs typeface="Times New Roman"/>
              </a:rPr>
              <a:t>3 </a:t>
            </a:r>
            <a:r>
              <a:rPr dirty="0" sz="2800" spc="-5" b="1" i="1">
                <a:latin typeface="Times New Roman"/>
                <a:cs typeface="Times New Roman"/>
              </a:rPr>
              <a:t>and </a:t>
            </a:r>
            <a:r>
              <a:rPr dirty="0" sz="2800" b="1" i="1">
                <a:latin typeface="Times New Roman"/>
                <a:cs typeface="Times New Roman"/>
              </a:rPr>
              <a:t>4 </a:t>
            </a:r>
            <a:r>
              <a:rPr dirty="0" sz="2800" spc="-5" b="1" i="1">
                <a:latin typeface="Times New Roman"/>
                <a:cs typeface="Times New Roman"/>
              </a:rPr>
              <a:t>are </a:t>
            </a:r>
            <a:r>
              <a:rPr dirty="0" sz="2800" b="1" i="1">
                <a:latin typeface="Times New Roman"/>
                <a:cs typeface="Times New Roman"/>
              </a:rPr>
              <a:t>for </a:t>
            </a:r>
            <a:r>
              <a:rPr dirty="0" sz="2800" spc="-5" b="1" i="1">
                <a:latin typeface="Times New Roman"/>
                <a:cs typeface="Times New Roman"/>
              </a:rPr>
              <a:t>authentication. Frames </a:t>
            </a:r>
            <a:r>
              <a:rPr dirty="0" sz="2800" b="1" i="1">
                <a:latin typeface="Times New Roman"/>
                <a:cs typeface="Times New Roman"/>
              </a:rPr>
              <a:t>5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and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6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establish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network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layer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connection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using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75" b="1" i="1">
                <a:latin typeface="Times New Roman"/>
                <a:cs typeface="Times New Roman"/>
              </a:rPr>
              <a:t>IPCP.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100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55231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40" i="1">
                <a:solidFill>
                  <a:srgbClr val="FF0000"/>
                </a:solidFill>
                <a:latin typeface="Times New Roman"/>
                <a:cs typeface="Times New Roman"/>
              </a:rPr>
              <a:t>11.12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64" y="1512824"/>
            <a:ext cx="8529320" cy="514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 next several frames show that some IP packets are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encapsulated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PPP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frame.</a:t>
            </a:r>
            <a:r>
              <a:rPr dirty="0" sz="2800" b="1" i="1">
                <a:latin typeface="Times New Roman"/>
                <a:cs typeface="Times New Roman"/>
              </a:rPr>
              <a:t> The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(receiver)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may have been running several network layer protocols, </a:t>
            </a:r>
            <a:r>
              <a:rPr dirty="0" sz="2800" b="1" i="1">
                <a:latin typeface="Times New Roman"/>
                <a:cs typeface="Times New Roman"/>
              </a:rPr>
              <a:t> but </a:t>
            </a:r>
            <a:r>
              <a:rPr dirty="0" sz="2800" spc="-5" b="1" i="1">
                <a:latin typeface="Times New Roman"/>
                <a:cs typeface="Times New Roman"/>
              </a:rPr>
              <a:t>it knows that the incoming data must </a:t>
            </a:r>
            <a:r>
              <a:rPr dirty="0" sz="2800" b="1" i="1">
                <a:latin typeface="Times New Roman"/>
                <a:cs typeface="Times New Roman"/>
              </a:rPr>
              <a:t>be </a:t>
            </a:r>
            <a:r>
              <a:rPr dirty="0" sz="2800" spc="-5" b="1" i="1">
                <a:latin typeface="Times New Roman"/>
                <a:cs typeface="Times New Roman"/>
              </a:rPr>
              <a:t>delivered to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IP protocol because the NCP protocol used before the </a:t>
            </a:r>
            <a:r>
              <a:rPr dirty="0" sz="2800" b="1" i="1">
                <a:latin typeface="Times New Roman"/>
                <a:cs typeface="Times New Roman"/>
              </a:rPr>
              <a:t> data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transfer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was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75" b="1" i="1">
                <a:latin typeface="Times New Roman"/>
                <a:cs typeface="Times New Roman"/>
              </a:rPr>
              <a:t>IPCP.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800" spc="-5" b="1" i="1">
                <a:latin typeface="Times New Roman"/>
                <a:cs typeface="Times New Roman"/>
              </a:rPr>
              <a:t>After data </a:t>
            </a:r>
            <a:r>
              <a:rPr dirty="0" sz="2800" spc="-20" b="1" i="1">
                <a:latin typeface="Times New Roman"/>
                <a:cs typeface="Times New Roman"/>
              </a:rPr>
              <a:t>transfer,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user then terminates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data link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connection,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which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acknowledged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by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Of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course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user</a:t>
            </a:r>
            <a:r>
              <a:rPr dirty="0" sz="2800" b="1" i="1">
                <a:latin typeface="Times New Roman"/>
                <a:cs typeface="Times New Roman"/>
              </a:rPr>
              <a:t> or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could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chosen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terminate the network layer IPCP and keep the data link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layer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running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wanted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to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run another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NCP</a:t>
            </a:r>
            <a:r>
              <a:rPr dirty="0" sz="2800" spc="-1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protocol.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100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7239" y="1178052"/>
            <a:ext cx="8763000" cy="5419725"/>
            <a:chOff x="927239" y="1178052"/>
            <a:chExt cx="8763000" cy="5419725"/>
          </a:xfrm>
        </p:grpSpPr>
        <p:sp>
          <p:nvSpPr>
            <p:cNvPr id="3" name="object 3"/>
            <p:cNvSpPr/>
            <p:nvPr/>
          </p:nvSpPr>
          <p:spPr>
            <a:xfrm>
              <a:off x="927239" y="11780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949" y="1206246"/>
              <a:ext cx="5982766" cy="53911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30308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11.41	</a:t>
            </a:r>
            <a:r>
              <a:rPr dirty="0" sz="2000" spc="-5" i="1">
                <a:latin typeface="Times New Roman"/>
                <a:cs typeface="Times New Roman"/>
              </a:rPr>
              <a:t>An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100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43046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5">
                <a:solidFill>
                  <a:srgbClr val="3333CC"/>
                </a:solidFill>
              </a:rPr>
              <a:t>Figure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400" spc="-35">
                <a:solidFill>
                  <a:srgbClr val="3333CC"/>
                </a:solidFill>
              </a:rPr>
              <a:t>11.41	</a:t>
            </a:r>
            <a:r>
              <a:rPr dirty="0" sz="2000" spc="-5" i="1">
                <a:latin typeface="Times New Roman"/>
                <a:cs typeface="Times New Roman"/>
              </a:rPr>
              <a:t>An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2247" y="1415796"/>
            <a:ext cx="7174992" cy="504367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7373" y="6860953"/>
            <a:ext cx="813435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11.</a:t>
            </a:r>
            <a:fld id="{81D60167-4931-47E6-BA6A-407CBD079E47}" type="slidenum">
              <a:rPr dirty="0" sz="2000" spc="-25" b="1">
                <a:solidFill>
                  <a:srgbClr val="1B1B1B"/>
                </a:solidFill>
                <a:latin typeface="Arial"/>
                <a:cs typeface="Arial"/>
              </a:rPr>
              <a:t>100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Noi</dc:creator>
  <dc:title>Microsoft PowerPoint - ch11.ppt [Compatibility Mode]</dc:title>
  <dcterms:created xsi:type="dcterms:W3CDTF">2023-10-27T17:01:46Z</dcterms:created>
  <dcterms:modified xsi:type="dcterms:W3CDTF">2023-10-27T17:01:46Z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2023-10-27T00:00:00Z</vt:filetime>
  </property>
</Properties>
</file>