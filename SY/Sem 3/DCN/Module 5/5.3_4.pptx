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61" r:id="rId3"/>
    <p:sldId id="264" r:id="rId4"/>
    <p:sldId id="266" r:id="rId5"/>
    <p:sldId id="267" r:id="rId6"/>
    <p:sldId id="268" r:id="rId7"/>
    <p:sldId id="270" r:id="rId8"/>
    <p:sldId id="271" r:id="rId9"/>
    <p:sldId id="272" r:id="rId10"/>
    <p:sldId id="273" r:id="rId11"/>
    <p:sldId id="274" r:id="rId12"/>
    <p:sldId id="275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5" r:id="rId47"/>
    <p:sldId id="316" r:id="rId48"/>
    <p:sldId id="317" r:id="rId49"/>
    <p:sldId id="318" r:id="rId50"/>
    <p:sldId id="319" r:id="rId51"/>
    <p:sldId id="320" r:id="rId52"/>
    <p:sldId id="321" r:id="rId53"/>
    <p:sldId id="322" r:id="rId54"/>
    <p:sldId id="323" r:id="rId55"/>
    <p:sldId id="324" r:id="rId56"/>
    <p:sldId id="325" r:id="rId57"/>
    <p:sldId id="326" r:id="rId58"/>
    <p:sldId id="327" r:id="rId59"/>
    <p:sldId id="328" r:id="rId60"/>
    <p:sldId id="329" r:id="rId61"/>
    <p:sldId id="330" r:id="rId62"/>
    <p:sldId id="331" r:id="rId63"/>
    <p:sldId id="332" r:id="rId64"/>
    <p:sldId id="336" r:id="rId65"/>
    <p:sldId id="339" r:id="rId66"/>
    <p:sldId id="340" r:id="rId67"/>
    <p:sldId id="343" r:id="rId68"/>
    <p:sldId id="344" r:id="rId69"/>
    <p:sldId id="346" r:id="rId70"/>
    <p:sldId id="368" r:id="rId71"/>
    <p:sldId id="369" r:id="rId72"/>
    <p:sldId id="370" r:id="rId73"/>
    <p:sldId id="372" r:id="rId74"/>
    <p:sldId id="374" r:id="rId75"/>
    <p:sldId id="375" r:id="rId76"/>
    <p:sldId id="376" r:id="rId77"/>
    <p:sldId id="378" r:id="rId78"/>
    <p:sldId id="380" r:id="rId79"/>
    <p:sldId id="381" r:id="rId80"/>
    <p:sldId id="382" r:id="rId81"/>
    <p:sldId id="383" r:id="rId82"/>
    <p:sldId id="384" r:id="rId83"/>
    <p:sldId id="385" r:id="rId84"/>
    <p:sldId id="388" r:id="rId85"/>
    <p:sldId id="389" r:id="rId86"/>
    <p:sldId id="390" r:id="rId87"/>
    <p:sldId id="391" r:id="rId88"/>
    <p:sldId id="394" r:id="rId89"/>
    <p:sldId id="395" r:id="rId90"/>
    <p:sldId id="396" r:id="rId91"/>
    <p:sldId id="397" r:id="rId92"/>
    <p:sldId id="398" r:id="rId93"/>
    <p:sldId id="399" r:id="rId94"/>
    <p:sldId id="400" r:id="rId95"/>
    <p:sldId id="401" r:id="rId96"/>
    <p:sldId id="402" r:id="rId97"/>
    <p:sldId id="403" r:id="rId98"/>
    <p:sldId id="404" r:id="rId99"/>
    <p:sldId id="405" r:id="rId100"/>
    <p:sldId id="406" r:id="rId101"/>
    <p:sldId id="407" r:id="rId102"/>
    <p:sldId id="408" r:id="rId103"/>
    <p:sldId id="409" r:id="rId104"/>
    <p:sldId id="410" r:id="rId105"/>
    <p:sldId id="411" r:id="rId106"/>
    <p:sldId id="412" r:id="rId107"/>
    <p:sldId id="413" r:id="rId108"/>
    <p:sldId id="414" r:id="rId109"/>
    <p:sldId id="415" r:id="rId110"/>
    <p:sldId id="416" r:id="rId111"/>
    <p:sldId id="417" r:id="rId112"/>
    <p:sldId id="418" r:id="rId113"/>
    <p:sldId id="419" r:id="rId114"/>
    <p:sldId id="420" r:id="rId115"/>
    <p:sldId id="421" r:id="rId116"/>
    <p:sldId id="422" r:id="rId117"/>
    <p:sldId id="424" r:id="rId118"/>
    <p:sldId id="425" r:id="rId119"/>
    <p:sldId id="426" r:id="rId120"/>
    <p:sldId id="427" r:id="rId121"/>
    <p:sldId id="428" r:id="rId122"/>
    <p:sldId id="429" r:id="rId123"/>
    <p:sldId id="430" r:id="rId124"/>
    <p:sldId id="431" r:id="rId125"/>
    <p:sldId id="432" r:id="rId126"/>
    <p:sldId id="433" r:id="rId127"/>
    <p:sldId id="434" r:id="rId128"/>
    <p:sldId id="435" r:id="rId129"/>
    <p:sldId id="436" r:id="rId130"/>
    <p:sldId id="437" r:id="rId131"/>
    <p:sldId id="438" r:id="rId132"/>
    <p:sldId id="439" r:id="rId133"/>
    <p:sldId id="441" r:id="rId134"/>
    <p:sldId id="443" r:id="rId135"/>
    <p:sldId id="445" r:id="rId136"/>
    <p:sldId id="446" r:id="rId137"/>
    <p:sldId id="447" r:id="rId138"/>
    <p:sldId id="448" r:id="rId139"/>
    <p:sldId id="449" r:id="rId140"/>
    <p:sldId id="450" r:id="rId141"/>
    <p:sldId id="451" r:id="rId142"/>
    <p:sldId id="452" r:id="rId143"/>
    <p:sldId id="453" r:id="rId144"/>
    <p:sldId id="454" r:id="rId145"/>
    <p:sldId id="455" r:id="rId146"/>
    <p:sldId id="456" r:id="rId147"/>
    <p:sldId id="457" r:id="rId148"/>
    <p:sldId id="458" r:id="rId149"/>
    <p:sldId id="459" r:id="rId150"/>
    <p:sldId id="460" r:id="rId151"/>
    <p:sldId id="461" r:id="rId152"/>
    <p:sldId id="462" r:id="rId153"/>
    <p:sldId id="463" r:id="rId154"/>
    <p:sldId id="464" r:id="rId155"/>
    <p:sldId id="465" r:id="rId156"/>
    <p:sldId id="466" r:id="rId157"/>
    <p:sldId id="467" r:id="rId158"/>
    <p:sldId id="468" r:id="rId159"/>
    <p:sldId id="469" r:id="rId160"/>
    <p:sldId id="470" r:id="rId161"/>
    <p:sldId id="471" r:id="rId162"/>
    <p:sldId id="472" r:id="rId163"/>
    <p:sldId id="473" r:id="rId164"/>
    <p:sldId id="474" r:id="rId165"/>
    <p:sldId id="475" r:id="rId166"/>
    <p:sldId id="476" r:id="rId167"/>
    <p:sldId id="477" r:id="rId168"/>
    <p:sldId id="478" r:id="rId169"/>
    <p:sldId id="479" r:id="rId170"/>
    <p:sldId id="481" r:id="rId171"/>
    <p:sldId id="482" r:id="rId172"/>
    <p:sldId id="483" r:id="rId173"/>
    <p:sldId id="484" r:id="rId174"/>
    <p:sldId id="485" r:id="rId175"/>
    <p:sldId id="487" r:id="rId176"/>
    <p:sldId id="488" r:id="rId177"/>
    <p:sldId id="489" r:id="rId178"/>
    <p:sldId id="490" r:id="rId179"/>
    <p:sldId id="491" r:id="rId180"/>
    <p:sldId id="492" r:id="rId181"/>
    <p:sldId id="493" r:id="rId182"/>
    <p:sldId id="494" r:id="rId183"/>
    <p:sldId id="495" r:id="rId184"/>
    <p:sldId id="496" r:id="rId185"/>
    <p:sldId id="497" r:id="rId186"/>
    <p:sldId id="498" r:id="rId187"/>
    <p:sldId id="499" r:id="rId188"/>
    <p:sldId id="500" r:id="rId189"/>
    <p:sldId id="502" r:id="rId190"/>
    <p:sldId id="503" r:id="rId191"/>
    <p:sldId id="504" r:id="rId192"/>
    <p:sldId id="505" r:id="rId193"/>
    <p:sldId id="506" r:id="rId194"/>
    <p:sldId id="507" r:id="rId195"/>
    <p:sldId id="508" r:id="rId196"/>
    <p:sldId id="509" r:id="rId197"/>
    <p:sldId id="510" r:id="rId198"/>
    <p:sldId id="511" r:id="rId199"/>
    <p:sldId id="512" r:id="rId200"/>
    <p:sldId id="513" r:id="rId201"/>
    <p:sldId id="514" r:id="rId202"/>
    <p:sldId id="515" r:id="rId203"/>
    <p:sldId id="516" r:id="rId204"/>
    <p:sldId id="517" r:id="rId205"/>
    <p:sldId id="518" r:id="rId206"/>
    <p:sldId id="519" r:id="rId207"/>
    <p:sldId id="520" r:id="rId208"/>
    <p:sldId id="521" r:id="rId209"/>
    <p:sldId id="522" r:id="rId210"/>
    <p:sldId id="523" r:id="rId211"/>
    <p:sldId id="524" r:id="rId212"/>
    <p:sldId id="525" r:id="rId213"/>
    <p:sldId id="526" r:id="rId214"/>
    <p:sldId id="527" r:id="rId215"/>
    <p:sldId id="528" r:id="rId216"/>
    <p:sldId id="529" r:id="rId217"/>
    <p:sldId id="539" r:id="rId218"/>
    <p:sldId id="540" r:id="rId219"/>
    <p:sldId id="541" r:id="rId220"/>
    <p:sldId id="542" r:id="rId221"/>
    <p:sldId id="543" r:id="rId222"/>
    <p:sldId id="544" r:id="rId223"/>
    <p:sldId id="545" r:id="rId224"/>
    <p:sldId id="546" r:id="rId225"/>
    <p:sldId id="547" r:id="rId226"/>
    <p:sldId id="548" r:id="rId227"/>
    <p:sldId id="549" r:id="rId228"/>
    <p:sldId id="550" r:id="rId229"/>
    <p:sldId id="551" r:id="rId230"/>
    <p:sldId id="552" r:id="rId231"/>
    <p:sldId id="553" r:id="rId232"/>
    <p:sldId id="554" r:id="rId233"/>
    <p:sldId id="555" r:id="rId234"/>
    <p:sldId id="556" r:id="rId235"/>
    <p:sldId id="557" r:id="rId236"/>
    <p:sldId id="558" r:id="rId237"/>
    <p:sldId id="559" r:id="rId238"/>
    <p:sldId id="560" r:id="rId239"/>
    <p:sldId id="561" r:id="rId240"/>
    <p:sldId id="562" r:id="rId241"/>
    <p:sldId id="563" r:id="rId242"/>
    <p:sldId id="564" r:id="rId243"/>
    <p:sldId id="565" r:id="rId244"/>
    <p:sldId id="566" r:id="rId245"/>
    <p:sldId id="567" r:id="rId246"/>
    <p:sldId id="570" r:id="rId247"/>
    <p:sldId id="571" r:id="rId248"/>
    <p:sldId id="572" r:id="rId249"/>
    <p:sldId id="573" r:id="rId250"/>
    <p:sldId id="574" r:id="rId251"/>
    <p:sldId id="575" r:id="rId252"/>
    <p:sldId id="576" r:id="rId253"/>
    <p:sldId id="577" r:id="rId254"/>
    <p:sldId id="578" r:id="rId255"/>
    <p:sldId id="579" r:id="rId256"/>
    <p:sldId id="580" r:id="rId257"/>
    <p:sldId id="581" r:id="rId258"/>
    <p:sldId id="582" r:id="rId259"/>
    <p:sldId id="583" r:id="rId260"/>
    <p:sldId id="584" r:id="rId261"/>
    <p:sldId id="585" r:id="rId262"/>
    <p:sldId id="586" r:id="rId263"/>
    <p:sldId id="587" r:id="rId264"/>
    <p:sldId id="588" r:id="rId265"/>
    <p:sldId id="589" r:id="rId266"/>
    <p:sldId id="590" r:id="rId267"/>
    <p:sldId id="591" r:id="rId268"/>
    <p:sldId id="592" r:id="rId269"/>
    <p:sldId id="593" r:id="rId270"/>
    <p:sldId id="594" r:id="rId271"/>
    <p:sldId id="595" r:id="rId272"/>
    <p:sldId id="596" r:id="rId273"/>
    <p:sldId id="597" r:id="rId274"/>
    <p:sldId id="598" r:id="rId275"/>
    <p:sldId id="599" r:id="rId276"/>
    <p:sldId id="600" r:id="rId277"/>
    <p:sldId id="601" r:id="rId278"/>
    <p:sldId id="602" r:id="rId279"/>
    <p:sldId id="603" r:id="rId280"/>
    <p:sldId id="604" r:id="rId281"/>
    <p:sldId id="605" r:id="rId282"/>
    <p:sldId id="606" r:id="rId283"/>
    <p:sldId id="607" r:id="rId284"/>
    <p:sldId id="608" r:id="rId285"/>
    <p:sldId id="609" r:id="rId286"/>
    <p:sldId id="610" r:id="rId287"/>
    <p:sldId id="611" r:id="rId288"/>
    <p:sldId id="612" r:id="rId289"/>
    <p:sldId id="613" r:id="rId290"/>
    <p:sldId id="614" r:id="rId291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8" d="100"/>
          <a:sy n="68" d="100"/>
        </p:scale>
        <p:origin x="1478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291" Type="http://schemas.openxmlformats.org/officeDocument/2006/relationships/slide" Target="slides/slide290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92" Type="http://schemas.openxmlformats.org/officeDocument/2006/relationships/presProps" Target="presProp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viewProps" Target="viewProps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theme" Target="theme/theme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2123" y="457211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438150" y="0"/>
                </a:moveTo>
                <a:lnTo>
                  <a:pt x="0" y="0"/>
                </a:lnTo>
                <a:lnTo>
                  <a:pt x="0" y="422148"/>
                </a:lnTo>
                <a:lnTo>
                  <a:pt x="0" y="474726"/>
                </a:lnTo>
                <a:lnTo>
                  <a:pt x="438150" y="474726"/>
                </a:lnTo>
                <a:lnTo>
                  <a:pt x="438150" y="422148"/>
                </a:lnTo>
                <a:lnTo>
                  <a:pt x="438150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647" y="457200"/>
            <a:ext cx="328422" cy="47472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65567" y="879347"/>
            <a:ext cx="422275" cy="327025"/>
          </a:xfrm>
          <a:custGeom>
            <a:avLst/>
            <a:gdLst/>
            <a:ahLst/>
            <a:cxnLst/>
            <a:rect l="l" t="t" r="r" b="b"/>
            <a:pathLst>
              <a:path w="422275" h="327025">
                <a:moveTo>
                  <a:pt x="422147" y="326897"/>
                </a:moveTo>
                <a:lnTo>
                  <a:pt x="422147" y="0"/>
                </a:lnTo>
                <a:lnTo>
                  <a:pt x="0" y="0"/>
                </a:lnTo>
                <a:lnTo>
                  <a:pt x="0" y="326897"/>
                </a:lnTo>
                <a:lnTo>
                  <a:pt x="422147" y="32689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039" y="806195"/>
            <a:ext cx="8593836" cy="40005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86547" y="348995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241" y="857249"/>
                </a:moveTo>
                <a:lnTo>
                  <a:pt x="31241" y="0"/>
                </a:lnTo>
                <a:lnTo>
                  <a:pt x="0" y="0"/>
                </a:lnTo>
                <a:lnTo>
                  <a:pt x="0" y="857249"/>
                </a:lnTo>
                <a:lnTo>
                  <a:pt x="31241" y="857249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265567" y="1206245"/>
            <a:ext cx="422275" cy="147955"/>
          </a:xfrm>
          <a:custGeom>
            <a:avLst/>
            <a:gdLst/>
            <a:ahLst/>
            <a:cxnLst/>
            <a:rect l="l" t="t" r="r" b="b"/>
            <a:pathLst>
              <a:path w="422275" h="147955">
                <a:moveTo>
                  <a:pt x="422147" y="147827"/>
                </a:moveTo>
                <a:lnTo>
                  <a:pt x="422147" y="0"/>
                </a:lnTo>
                <a:lnTo>
                  <a:pt x="0" y="0"/>
                </a:lnTo>
                <a:lnTo>
                  <a:pt x="0" y="147827"/>
                </a:lnTo>
                <a:lnTo>
                  <a:pt x="422147" y="14782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5899" y="1206245"/>
            <a:ext cx="368045" cy="14782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1039" y="1206245"/>
            <a:ext cx="560832" cy="22859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486547" y="1206245"/>
            <a:ext cx="31750" cy="196215"/>
          </a:xfrm>
          <a:custGeom>
            <a:avLst/>
            <a:gdLst/>
            <a:ahLst/>
            <a:cxnLst/>
            <a:rect l="l" t="t" r="r" b="b"/>
            <a:pathLst>
              <a:path w="31750" h="196215">
                <a:moveTo>
                  <a:pt x="31241" y="195833"/>
                </a:moveTo>
                <a:lnTo>
                  <a:pt x="31241" y="0"/>
                </a:lnTo>
                <a:lnTo>
                  <a:pt x="0" y="0"/>
                </a:lnTo>
                <a:lnTo>
                  <a:pt x="0" y="195833"/>
                </a:lnTo>
                <a:lnTo>
                  <a:pt x="31241" y="195833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44123" y="2622295"/>
            <a:ext cx="7805153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‹#›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2123" y="457211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438150" y="0"/>
                </a:moveTo>
                <a:lnTo>
                  <a:pt x="0" y="0"/>
                </a:lnTo>
                <a:lnTo>
                  <a:pt x="0" y="422148"/>
                </a:lnTo>
                <a:lnTo>
                  <a:pt x="0" y="474726"/>
                </a:lnTo>
                <a:lnTo>
                  <a:pt x="438150" y="474726"/>
                </a:lnTo>
                <a:lnTo>
                  <a:pt x="438150" y="422148"/>
                </a:lnTo>
                <a:lnTo>
                  <a:pt x="438150" y="0"/>
                </a:lnTo>
                <a:close/>
              </a:path>
            </a:pathLst>
          </a:custGeom>
          <a:solidFill>
            <a:srgbClr val="FFC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647" y="457200"/>
            <a:ext cx="328422" cy="47472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65567" y="879347"/>
            <a:ext cx="422275" cy="327025"/>
          </a:xfrm>
          <a:custGeom>
            <a:avLst/>
            <a:gdLst/>
            <a:ahLst/>
            <a:cxnLst/>
            <a:rect l="l" t="t" r="r" b="b"/>
            <a:pathLst>
              <a:path w="422275" h="327025">
                <a:moveTo>
                  <a:pt x="422147" y="326897"/>
                </a:moveTo>
                <a:lnTo>
                  <a:pt x="422147" y="0"/>
                </a:lnTo>
                <a:lnTo>
                  <a:pt x="0" y="0"/>
                </a:lnTo>
                <a:lnTo>
                  <a:pt x="0" y="326897"/>
                </a:lnTo>
                <a:lnTo>
                  <a:pt x="422147" y="326897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039" y="806195"/>
            <a:ext cx="8593836" cy="40005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86547" y="348995"/>
            <a:ext cx="31750" cy="857250"/>
          </a:xfrm>
          <a:custGeom>
            <a:avLst/>
            <a:gdLst/>
            <a:ahLst/>
            <a:cxnLst/>
            <a:rect l="l" t="t" r="r" b="b"/>
            <a:pathLst>
              <a:path w="31750" h="857250">
                <a:moveTo>
                  <a:pt x="31241" y="857249"/>
                </a:moveTo>
                <a:lnTo>
                  <a:pt x="31241" y="0"/>
                </a:lnTo>
                <a:lnTo>
                  <a:pt x="0" y="0"/>
                </a:lnTo>
                <a:lnTo>
                  <a:pt x="0" y="857249"/>
                </a:lnTo>
                <a:lnTo>
                  <a:pt x="31241" y="857249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‹#›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‹#›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27239" y="844296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199"/>
                </a:moveTo>
                <a:lnTo>
                  <a:pt x="8763000" y="0"/>
                </a:lnTo>
                <a:lnTo>
                  <a:pt x="0" y="0"/>
                </a:lnTo>
                <a:lnTo>
                  <a:pt x="0" y="76199"/>
                </a:lnTo>
                <a:lnTo>
                  <a:pt x="8763000" y="761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7239" y="1711451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50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‹#›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4839" y="348995"/>
            <a:ext cx="9144000" cy="10972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‹#›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0402" y="774445"/>
            <a:ext cx="9132595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1277" y="1589024"/>
            <a:ext cx="8530844" cy="5036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3573" y="6860953"/>
            <a:ext cx="544830" cy="309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1B1B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‹#›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9.png"/><Relationship Id="rId7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4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4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4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4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4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4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4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4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4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4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4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4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4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4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4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4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4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4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4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4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4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4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4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4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4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4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4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4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4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4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4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4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4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4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4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2.png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4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4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4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4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4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4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4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4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4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4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4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4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4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4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4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4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4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4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4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4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4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4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4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4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4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4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4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4.xml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4.xml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4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4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4.xml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4.xml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4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3.png"/><Relationship Id="rId4" Type="http://schemas.openxmlformats.org/officeDocument/2006/relationships/image" Target="../media/image202.png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4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4.xml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4.xml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4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4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4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4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png"/><Relationship Id="rId1" Type="http://schemas.openxmlformats.org/officeDocument/2006/relationships/slideLayout" Target="../slideLayouts/slideLayout4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4.xml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4.xml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.png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4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4.xml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4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4.xml"/></Relationships>
</file>

<file path=ppt/slides/_rels/slide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4.xml"/></Relationships>
</file>

<file path=ppt/slides/_rels/slide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4.xml"/></Relationships>
</file>

<file path=ppt/slides/_rels/slide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4.xml"/></Relationships>
</file>

<file path=ppt/slides/_rels/slide2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4.xml"/></Relationships>
</file>

<file path=ppt/slides/_rels/slide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4.xml"/></Relationships>
</file>

<file path=ppt/slides/_rels/slide2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2785" y="1205566"/>
            <a:ext cx="9144000" cy="845185"/>
            <a:chOff x="774839" y="348995"/>
            <a:chExt cx="9144000" cy="845185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4000" y="83820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38200"/>
                  </a:lnTo>
                  <a:lnTo>
                    <a:pt x="9144000" y="83820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39" y="348995"/>
              <a:ext cx="9144000" cy="845185"/>
            </a:xfrm>
            <a:custGeom>
              <a:avLst/>
              <a:gdLst/>
              <a:ahLst/>
              <a:cxnLst/>
              <a:rect l="l" t="t" r="r" b="b"/>
              <a:pathLst>
                <a:path w="9144000" h="845185">
                  <a:moveTo>
                    <a:pt x="6858" y="0"/>
                  </a:moveTo>
                  <a:lnTo>
                    <a:pt x="0" y="0"/>
                  </a:lnTo>
                  <a:lnTo>
                    <a:pt x="0" y="6858"/>
                  </a:lnTo>
                  <a:lnTo>
                    <a:pt x="6858" y="0"/>
                  </a:lnTo>
                  <a:close/>
                </a:path>
                <a:path w="9144000" h="845185">
                  <a:moveTo>
                    <a:pt x="9143987" y="6858"/>
                  </a:moveTo>
                  <a:lnTo>
                    <a:pt x="9137904" y="0"/>
                  </a:lnTo>
                  <a:lnTo>
                    <a:pt x="6858" y="0"/>
                  </a:lnTo>
                  <a:lnTo>
                    <a:pt x="0" y="6858"/>
                  </a:lnTo>
                  <a:lnTo>
                    <a:pt x="9143987" y="6858"/>
                  </a:lnTo>
                  <a:close/>
                </a:path>
                <a:path w="9144000" h="845185">
                  <a:moveTo>
                    <a:pt x="6858" y="832104"/>
                  </a:moveTo>
                  <a:lnTo>
                    <a:pt x="6858" y="6858"/>
                  </a:lnTo>
                  <a:lnTo>
                    <a:pt x="0" y="6858"/>
                  </a:lnTo>
                  <a:lnTo>
                    <a:pt x="0" y="832104"/>
                  </a:lnTo>
                  <a:lnTo>
                    <a:pt x="6858" y="832104"/>
                  </a:lnTo>
                  <a:close/>
                </a:path>
                <a:path w="9144000" h="845185">
                  <a:moveTo>
                    <a:pt x="9143987" y="832104"/>
                  </a:moveTo>
                  <a:lnTo>
                    <a:pt x="0" y="832104"/>
                  </a:lnTo>
                  <a:lnTo>
                    <a:pt x="6858" y="838200"/>
                  </a:lnTo>
                  <a:lnTo>
                    <a:pt x="6858" y="845058"/>
                  </a:lnTo>
                  <a:lnTo>
                    <a:pt x="9137904" y="845058"/>
                  </a:lnTo>
                  <a:lnTo>
                    <a:pt x="9137904" y="838200"/>
                  </a:lnTo>
                  <a:lnTo>
                    <a:pt x="9143987" y="832104"/>
                  </a:lnTo>
                  <a:close/>
                </a:path>
                <a:path w="9144000" h="845185">
                  <a:moveTo>
                    <a:pt x="6858" y="845058"/>
                  </a:moveTo>
                  <a:lnTo>
                    <a:pt x="6858" y="838200"/>
                  </a:lnTo>
                  <a:lnTo>
                    <a:pt x="0" y="832104"/>
                  </a:lnTo>
                  <a:lnTo>
                    <a:pt x="0" y="845058"/>
                  </a:lnTo>
                  <a:lnTo>
                    <a:pt x="6858" y="845058"/>
                  </a:lnTo>
                  <a:close/>
                </a:path>
                <a:path w="9144000" h="845185">
                  <a:moveTo>
                    <a:pt x="9144000" y="845058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43987" y="6858"/>
                  </a:lnTo>
                  <a:lnTo>
                    <a:pt x="9143987" y="845058"/>
                  </a:lnTo>
                  <a:close/>
                </a:path>
                <a:path w="9144000" h="845185">
                  <a:moveTo>
                    <a:pt x="9143987" y="832104"/>
                  </a:moveTo>
                  <a:lnTo>
                    <a:pt x="9143987" y="6858"/>
                  </a:lnTo>
                  <a:lnTo>
                    <a:pt x="9137904" y="6858"/>
                  </a:lnTo>
                  <a:lnTo>
                    <a:pt x="9137904" y="832104"/>
                  </a:lnTo>
                  <a:lnTo>
                    <a:pt x="9143987" y="832104"/>
                  </a:lnTo>
                  <a:close/>
                </a:path>
                <a:path w="9144000" h="845185">
                  <a:moveTo>
                    <a:pt x="9143987" y="845058"/>
                  </a:moveTo>
                  <a:lnTo>
                    <a:pt x="9143987" y="832104"/>
                  </a:lnTo>
                  <a:lnTo>
                    <a:pt x="9137904" y="838200"/>
                  </a:lnTo>
                  <a:lnTo>
                    <a:pt x="9137904" y="845058"/>
                  </a:lnTo>
                  <a:lnTo>
                    <a:pt x="9143987" y="8450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0329" y="1286121"/>
            <a:ext cx="9144000" cy="83820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19405">
              <a:lnSpc>
                <a:spcPct val="100000"/>
              </a:lnSpc>
              <a:spcBef>
                <a:spcPts val="850"/>
              </a:spcBef>
              <a:tabLst>
                <a:tab pos="1142365" algn="l"/>
              </a:tabLst>
            </a:pPr>
            <a:r>
              <a:rPr spc="-5" dirty="0"/>
              <a:t>3-1	ANALOG</a:t>
            </a:r>
            <a:r>
              <a:rPr spc="-185" dirty="0"/>
              <a:t> </a:t>
            </a:r>
            <a:r>
              <a:rPr spc="-5" dirty="0"/>
              <a:t>AND</a:t>
            </a:r>
            <a:r>
              <a:rPr spc="-10" dirty="0"/>
              <a:t> </a:t>
            </a:r>
            <a:r>
              <a:rPr spc="-40" dirty="0"/>
              <a:t>DIGITAL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0329" y="2229266"/>
            <a:ext cx="8756650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Data can </a:t>
            </a:r>
            <a:r>
              <a:rPr sz="2800" b="1" i="1" dirty="0">
                <a:latin typeface="Times New Roman"/>
                <a:cs typeface="Times New Roman"/>
              </a:rPr>
              <a:t>be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analog </a:t>
            </a:r>
            <a:r>
              <a:rPr sz="2800" b="1" i="1" spc="-5" dirty="0">
                <a:latin typeface="Times New Roman"/>
                <a:cs typeface="Times New Roman"/>
              </a:rPr>
              <a:t>or </a:t>
            </a:r>
            <a:r>
              <a:rPr sz="2800" b="1" i="1" spc="-85" dirty="0">
                <a:solidFill>
                  <a:srgbClr val="FF0000"/>
                </a:solidFill>
                <a:latin typeface="Times New Roman"/>
                <a:cs typeface="Times New Roman"/>
              </a:rPr>
              <a:t>digital</a:t>
            </a:r>
            <a:r>
              <a:rPr sz="2800" b="1" i="1" spc="-85" dirty="0">
                <a:latin typeface="Times New Roman"/>
                <a:cs typeface="Times New Roman"/>
              </a:rPr>
              <a:t>.. </a:t>
            </a:r>
            <a:r>
              <a:rPr sz="2800" b="1" i="1" spc="-5" dirty="0">
                <a:latin typeface="Times New Roman"/>
                <a:cs typeface="Times New Roman"/>
              </a:rPr>
              <a:t>The term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analog data </a:t>
            </a:r>
            <a:r>
              <a:rPr sz="2800" b="1" i="1" spc="-5" dirty="0">
                <a:latin typeface="Times New Roman"/>
                <a:cs typeface="Times New Roman"/>
              </a:rPr>
              <a:t>refers </a:t>
            </a:r>
            <a:r>
              <a:rPr sz="2800" b="1" i="1" dirty="0">
                <a:latin typeface="Times New Roman"/>
                <a:cs typeface="Times New Roman"/>
              </a:rPr>
              <a:t> to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information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that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continuous;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digital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data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refers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information </a:t>
            </a:r>
            <a:r>
              <a:rPr sz="2800" b="1" i="1" dirty="0">
                <a:latin typeface="Times New Roman"/>
                <a:cs typeface="Times New Roman"/>
              </a:rPr>
              <a:t>that </a:t>
            </a:r>
            <a:r>
              <a:rPr sz="2800" b="1" i="1" spc="-5" dirty="0">
                <a:latin typeface="Times New Roman"/>
                <a:cs typeface="Times New Roman"/>
              </a:rPr>
              <a:t>has discrete states. Analog data </a:t>
            </a:r>
            <a:r>
              <a:rPr sz="2800" b="1" i="1" dirty="0">
                <a:latin typeface="Times New Roman"/>
                <a:cs typeface="Times New Roman"/>
              </a:rPr>
              <a:t>take on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continuous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90" dirty="0">
                <a:latin typeface="Times New Roman"/>
                <a:cs typeface="Times New Roman"/>
              </a:rPr>
              <a:t>values..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Digital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take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on</a:t>
            </a:r>
            <a:r>
              <a:rPr sz="2800" b="1" i="1" spc="-5" dirty="0">
                <a:latin typeface="Times New Roman"/>
                <a:cs typeface="Times New Roman"/>
              </a:rPr>
              <a:t> discrete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180" dirty="0">
                <a:latin typeface="Times New Roman"/>
                <a:cs typeface="Times New Roman"/>
              </a:rPr>
              <a:t>values..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latin typeface="Arial"/>
                <a:cs typeface="Arial"/>
              </a:rPr>
              <a:t>3.</a:t>
            </a:r>
            <a:fld id="{81D60167-4931-47E6-BA6A-407CBD079E47}" type="slidenum">
              <a:rPr sz="2000" b="1" spc="-5" dirty="0">
                <a:latin typeface="Arial"/>
                <a:cs typeface="Arial"/>
              </a:rPr>
              <a:t>1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6EAB46-EC6B-ED06-A3D5-34BE34E24AC8}"/>
              </a:ext>
            </a:extLst>
          </p:cNvPr>
          <p:cNvSpPr txBox="1"/>
          <p:nvPr/>
        </p:nvSpPr>
        <p:spPr>
          <a:xfrm>
            <a:off x="546099" y="350179"/>
            <a:ext cx="93724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spc="-125" dirty="0">
                <a:latin typeface="Arial"/>
                <a:cs typeface="Arial"/>
              </a:rPr>
              <a:t>To</a:t>
            </a:r>
            <a:r>
              <a:rPr lang="en-US" sz="2400" b="1" spc="-25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be</a:t>
            </a:r>
            <a:r>
              <a:rPr lang="en-US" sz="2400" b="1" spc="-10" dirty="0">
                <a:latin typeface="Arial"/>
                <a:cs typeface="Arial"/>
              </a:rPr>
              <a:t> transmitted,</a:t>
            </a:r>
            <a:r>
              <a:rPr lang="en-US" sz="2400" b="1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data</a:t>
            </a:r>
            <a:r>
              <a:rPr lang="en-US" sz="2400" b="1" spc="-15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must</a:t>
            </a:r>
            <a:r>
              <a:rPr lang="en-US" sz="2400" b="1" spc="-10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be </a:t>
            </a:r>
            <a:r>
              <a:rPr lang="en-US" sz="2400" b="1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transformed</a:t>
            </a:r>
            <a:r>
              <a:rPr lang="en-US" sz="2400" b="1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to</a:t>
            </a:r>
            <a:r>
              <a:rPr lang="en-US" sz="2400" b="1" spc="5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electromagnetic</a:t>
            </a:r>
            <a:r>
              <a:rPr lang="en-US" sz="2400" b="1" spc="5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signals</a:t>
            </a:r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5E23ED-E4E8-AD9E-A9E7-999CEC0A163E}"/>
              </a:ext>
            </a:extLst>
          </p:cNvPr>
          <p:cNvSpPr txBox="1"/>
          <p:nvPr/>
        </p:nvSpPr>
        <p:spPr>
          <a:xfrm>
            <a:off x="431798" y="4311771"/>
            <a:ext cx="96010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</a:pPr>
            <a:r>
              <a:rPr lang="en-US" sz="2400" b="1" spc="-10" dirty="0">
                <a:latin typeface="Arial"/>
                <a:cs typeface="Arial"/>
              </a:rPr>
              <a:t>Data</a:t>
            </a:r>
            <a:r>
              <a:rPr lang="en-US" sz="2400" b="1" spc="-15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can</a:t>
            </a:r>
            <a:r>
              <a:rPr lang="en-US" sz="2400" b="1" spc="-10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be</a:t>
            </a:r>
            <a:r>
              <a:rPr lang="en-US" sz="2400" b="1" spc="-10" dirty="0">
                <a:latin typeface="Arial"/>
                <a:cs typeface="Arial"/>
              </a:rPr>
              <a:t> analog</a:t>
            </a:r>
            <a:r>
              <a:rPr lang="en-US" sz="2400" b="1" spc="-15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or</a:t>
            </a:r>
            <a:r>
              <a:rPr lang="en-US" sz="2400" b="1" spc="-10" dirty="0">
                <a:latin typeface="Arial"/>
                <a:cs typeface="Arial"/>
              </a:rPr>
              <a:t> digital.</a:t>
            </a:r>
            <a:endParaRPr lang="en-US" sz="2400" dirty="0">
              <a:latin typeface="Arial"/>
              <a:cs typeface="Arial"/>
            </a:endParaRPr>
          </a:p>
          <a:p>
            <a:pPr marL="489584" marR="483870">
              <a:lnSpc>
                <a:spcPct val="100000"/>
              </a:lnSpc>
              <a:spcBef>
                <a:spcPts val="5"/>
              </a:spcBef>
            </a:pPr>
            <a:r>
              <a:rPr lang="en-US" sz="2400" b="1" spc="-10" dirty="0">
                <a:latin typeface="Arial"/>
                <a:cs typeface="Arial"/>
              </a:rPr>
              <a:t>Analog </a:t>
            </a:r>
            <a:r>
              <a:rPr lang="en-US" sz="2400" b="1" spc="-5" dirty="0">
                <a:latin typeface="Arial"/>
                <a:cs typeface="Arial"/>
              </a:rPr>
              <a:t>data are </a:t>
            </a:r>
            <a:r>
              <a:rPr lang="en-US" sz="2400" b="1" spc="-10" dirty="0">
                <a:latin typeface="Arial"/>
                <a:cs typeface="Arial"/>
              </a:rPr>
              <a:t>continuous </a:t>
            </a:r>
            <a:r>
              <a:rPr lang="en-US" sz="2400" b="1" spc="-5" dirty="0">
                <a:latin typeface="Arial"/>
                <a:cs typeface="Arial"/>
              </a:rPr>
              <a:t>and </a:t>
            </a:r>
            <a:r>
              <a:rPr lang="en-US" sz="2400" b="1" spc="-10" dirty="0">
                <a:latin typeface="Arial"/>
                <a:cs typeface="Arial"/>
              </a:rPr>
              <a:t>take </a:t>
            </a:r>
            <a:r>
              <a:rPr lang="en-US" sz="2400" b="1" spc="-875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continuous</a:t>
            </a:r>
            <a:r>
              <a:rPr lang="en-US" sz="2400" b="1" spc="-35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values.</a:t>
            </a:r>
            <a:endParaRPr lang="en-US" sz="2400" dirty="0">
              <a:latin typeface="Arial"/>
              <a:cs typeface="Arial"/>
            </a:endParaRPr>
          </a:p>
          <a:p>
            <a:pPr marL="532765" marR="526415">
              <a:lnSpc>
                <a:spcPct val="100000"/>
              </a:lnSpc>
            </a:pPr>
            <a:r>
              <a:rPr lang="en-US" sz="2400" b="1" spc="-5" dirty="0">
                <a:latin typeface="Arial"/>
                <a:cs typeface="Arial"/>
              </a:rPr>
              <a:t>Digital data have discrete </a:t>
            </a:r>
            <a:r>
              <a:rPr lang="en-US" sz="2400" b="1" spc="-10" dirty="0">
                <a:latin typeface="Arial"/>
                <a:cs typeface="Arial"/>
              </a:rPr>
              <a:t>states </a:t>
            </a:r>
            <a:r>
              <a:rPr lang="en-US" sz="2400" b="1" spc="-5" dirty="0">
                <a:latin typeface="Arial"/>
                <a:cs typeface="Arial"/>
              </a:rPr>
              <a:t>and </a:t>
            </a:r>
            <a:r>
              <a:rPr lang="en-US" sz="2400" b="1" spc="-875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take</a:t>
            </a:r>
            <a:r>
              <a:rPr lang="en-US" sz="2400" b="1" spc="-15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discrete values.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2F4FE0-C82E-5B2A-1D86-4CDAF6721EB7}"/>
              </a:ext>
            </a:extLst>
          </p:cNvPr>
          <p:cNvSpPr txBox="1"/>
          <p:nvPr/>
        </p:nvSpPr>
        <p:spPr>
          <a:xfrm>
            <a:off x="692785" y="5534093"/>
            <a:ext cx="80207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lang="en-US" sz="1800" b="1" spc="-10" dirty="0">
                <a:latin typeface="Arial"/>
                <a:cs typeface="Arial"/>
              </a:rPr>
              <a:t>Signals</a:t>
            </a:r>
            <a:r>
              <a:rPr lang="en-US" sz="1800" b="1" spc="-15" dirty="0">
                <a:latin typeface="Arial"/>
                <a:cs typeface="Arial"/>
              </a:rPr>
              <a:t> </a:t>
            </a:r>
            <a:r>
              <a:rPr lang="en-US" sz="1800" b="1" spc="-5" dirty="0">
                <a:latin typeface="Arial"/>
                <a:cs typeface="Arial"/>
              </a:rPr>
              <a:t>can</a:t>
            </a:r>
            <a:r>
              <a:rPr lang="en-US" sz="1800" b="1" spc="-15" dirty="0">
                <a:latin typeface="Arial"/>
                <a:cs typeface="Arial"/>
              </a:rPr>
              <a:t> </a:t>
            </a:r>
            <a:r>
              <a:rPr lang="en-US" sz="1800" b="1" spc="-5" dirty="0">
                <a:latin typeface="Arial"/>
                <a:cs typeface="Arial"/>
              </a:rPr>
              <a:t>be</a:t>
            </a:r>
            <a:r>
              <a:rPr lang="en-US" sz="1800" b="1" spc="-15" dirty="0">
                <a:latin typeface="Arial"/>
                <a:cs typeface="Arial"/>
              </a:rPr>
              <a:t> </a:t>
            </a:r>
            <a:r>
              <a:rPr lang="en-US" sz="1800" b="1" spc="-10" dirty="0">
                <a:latin typeface="Arial"/>
                <a:cs typeface="Arial"/>
              </a:rPr>
              <a:t>analog</a:t>
            </a:r>
            <a:r>
              <a:rPr lang="en-US" sz="1800" b="1" spc="-15" dirty="0">
                <a:latin typeface="Arial"/>
                <a:cs typeface="Arial"/>
              </a:rPr>
              <a:t> </a:t>
            </a:r>
            <a:r>
              <a:rPr lang="en-US" sz="1800" b="1" spc="-5" dirty="0">
                <a:latin typeface="Arial"/>
                <a:cs typeface="Arial"/>
              </a:rPr>
              <a:t>or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spc="-10" dirty="0">
                <a:latin typeface="Arial"/>
                <a:cs typeface="Arial"/>
              </a:rPr>
              <a:t>digital.</a:t>
            </a:r>
            <a:endParaRPr lang="en-US" sz="1800" dirty="0">
              <a:latin typeface="Arial"/>
              <a:cs typeface="Arial"/>
            </a:endParaRPr>
          </a:p>
          <a:p>
            <a:pPr marL="622935" marR="616585" indent="635" algn="ctr">
              <a:lnSpc>
                <a:spcPct val="100000"/>
              </a:lnSpc>
              <a:spcBef>
                <a:spcPts val="5"/>
              </a:spcBef>
            </a:pPr>
            <a:r>
              <a:rPr lang="en-US" sz="1800" b="1" spc="-10" dirty="0">
                <a:latin typeface="Arial"/>
                <a:cs typeface="Arial"/>
              </a:rPr>
              <a:t>Analog signals </a:t>
            </a:r>
            <a:r>
              <a:rPr lang="en-US" sz="1800" b="1" spc="-5" dirty="0">
                <a:latin typeface="Arial"/>
                <a:cs typeface="Arial"/>
              </a:rPr>
              <a:t>can </a:t>
            </a:r>
            <a:r>
              <a:rPr lang="en-US" sz="1800" b="1" spc="-10" dirty="0">
                <a:latin typeface="Arial"/>
                <a:cs typeface="Arial"/>
              </a:rPr>
              <a:t>have </a:t>
            </a:r>
            <a:r>
              <a:rPr lang="en-US" sz="1800" b="1" spc="-5" dirty="0">
                <a:latin typeface="Arial"/>
                <a:cs typeface="Arial"/>
              </a:rPr>
              <a:t>an </a:t>
            </a:r>
            <a:r>
              <a:rPr lang="en-US" sz="1800" b="1" spc="-10" dirty="0">
                <a:latin typeface="Arial"/>
                <a:cs typeface="Arial"/>
              </a:rPr>
              <a:t>infinite </a:t>
            </a:r>
            <a:r>
              <a:rPr lang="en-US" sz="1800" b="1" spc="-875" dirty="0">
                <a:latin typeface="Arial"/>
                <a:cs typeface="Arial"/>
              </a:rPr>
              <a:t> </a:t>
            </a:r>
            <a:r>
              <a:rPr lang="en-US" sz="1800" b="1" spc="-10" dirty="0">
                <a:latin typeface="Arial"/>
                <a:cs typeface="Arial"/>
              </a:rPr>
              <a:t>number </a:t>
            </a:r>
            <a:r>
              <a:rPr lang="en-US" sz="1800" b="1" spc="-5" dirty="0">
                <a:latin typeface="Arial"/>
                <a:cs typeface="Arial"/>
              </a:rPr>
              <a:t>of </a:t>
            </a:r>
            <a:r>
              <a:rPr lang="en-US" sz="1800" b="1" spc="-10" dirty="0">
                <a:latin typeface="Arial"/>
                <a:cs typeface="Arial"/>
              </a:rPr>
              <a:t>values</a:t>
            </a:r>
            <a:r>
              <a:rPr lang="en-US" sz="1800" b="1" spc="-5" dirty="0">
                <a:latin typeface="Arial"/>
                <a:cs typeface="Arial"/>
              </a:rPr>
              <a:t> in a </a:t>
            </a:r>
            <a:r>
              <a:rPr lang="en-US" sz="1800" b="1" spc="-10" dirty="0">
                <a:latin typeface="Arial"/>
                <a:cs typeface="Arial"/>
              </a:rPr>
              <a:t>range;</a:t>
            </a:r>
            <a:r>
              <a:rPr lang="en-US" sz="1800" b="1" spc="-5" dirty="0">
                <a:latin typeface="Arial"/>
                <a:cs typeface="Arial"/>
              </a:rPr>
              <a:t> </a:t>
            </a:r>
            <a:r>
              <a:rPr lang="en-US" sz="1800" b="1" spc="-10" dirty="0">
                <a:latin typeface="Arial"/>
                <a:cs typeface="Arial"/>
              </a:rPr>
              <a:t>digital </a:t>
            </a:r>
            <a:r>
              <a:rPr lang="en-US" sz="1800" b="1" spc="-875" dirty="0">
                <a:latin typeface="Arial"/>
                <a:cs typeface="Arial"/>
              </a:rPr>
              <a:t> </a:t>
            </a:r>
            <a:r>
              <a:rPr lang="en-US" sz="1800" b="1" spc="-5" dirty="0">
                <a:latin typeface="Arial"/>
                <a:cs typeface="Arial"/>
              </a:rPr>
              <a:t>signals can have only a limited </a:t>
            </a:r>
            <a:r>
              <a:rPr lang="en-US" sz="1800" b="1" dirty="0">
                <a:latin typeface="Arial"/>
                <a:cs typeface="Arial"/>
              </a:rPr>
              <a:t> </a:t>
            </a:r>
            <a:r>
              <a:rPr lang="en-US" sz="1800" b="1" spc="-10" dirty="0">
                <a:latin typeface="Arial"/>
                <a:cs typeface="Arial"/>
              </a:rPr>
              <a:t>number</a:t>
            </a:r>
            <a:r>
              <a:rPr lang="en-US" sz="1800" b="1" spc="-20" dirty="0">
                <a:latin typeface="Arial"/>
                <a:cs typeface="Arial"/>
              </a:rPr>
              <a:t> </a:t>
            </a:r>
            <a:r>
              <a:rPr lang="en-US" sz="1800" b="1" spc="-5" dirty="0">
                <a:latin typeface="Arial"/>
                <a:cs typeface="Arial"/>
              </a:rPr>
              <a:t>of</a:t>
            </a:r>
            <a:r>
              <a:rPr lang="en-US" sz="1800" b="1" spc="-15" dirty="0">
                <a:latin typeface="Arial"/>
                <a:cs typeface="Arial"/>
              </a:rPr>
              <a:t> </a:t>
            </a:r>
            <a:r>
              <a:rPr lang="en-US" sz="1800" b="1" spc="-10" dirty="0">
                <a:latin typeface="Arial"/>
                <a:cs typeface="Arial"/>
              </a:rPr>
              <a:t>values.</a:t>
            </a:r>
            <a:endParaRPr lang="en-US"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812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3.1	</a:t>
            </a:r>
            <a:r>
              <a:rPr sz="2000" i="1" spc="-5" dirty="0">
                <a:latin typeface="Times New Roman"/>
                <a:cs typeface="Times New Roman"/>
              </a:rPr>
              <a:t>Comparison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analog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digital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signals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5503" y="1876425"/>
            <a:ext cx="8527542" cy="286816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latin typeface="Arial"/>
                <a:cs typeface="Arial"/>
              </a:rPr>
              <a:t>3.</a:t>
            </a:r>
            <a:fld id="{81D60167-4931-47E6-BA6A-407CBD079E47}" type="slidenum">
              <a:rPr sz="2000" b="1" spc="-5" dirty="0">
                <a:latin typeface="Arial"/>
                <a:cs typeface="Arial"/>
              </a:rPr>
              <a:t>2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7B363437-869D-DB3F-4575-298EC18DE4EB}"/>
              </a:ext>
            </a:extLst>
          </p:cNvPr>
          <p:cNvSpPr txBox="1"/>
          <p:nvPr/>
        </p:nvSpPr>
        <p:spPr>
          <a:xfrm>
            <a:off x="1495967" y="5004434"/>
            <a:ext cx="8077200" cy="89789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22225" rIns="0" bIns="0" rtlCol="0">
            <a:spAutoFit/>
          </a:bodyPr>
          <a:lstStyle/>
          <a:p>
            <a:pPr marL="962025" marR="257175" indent="-701040">
              <a:lnSpc>
                <a:spcPct val="100000"/>
              </a:lnSpc>
              <a:spcBef>
                <a:spcPts val="175"/>
              </a:spcBef>
            </a:pPr>
            <a:r>
              <a:rPr sz="3200" b="1" spc="-5" dirty="0">
                <a:latin typeface="Arial"/>
                <a:cs typeface="Arial"/>
              </a:rPr>
              <a:t>In data </a:t>
            </a:r>
            <a:r>
              <a:rPr sz="3200" b="1" spc="-10" dirty="0">
                <a:latin typeface="Arial"/>
                <a:cs typeface="Arial"/>
              </a:rPr>
              <a:t>communications, </a:t>
            </a:r>
            <a:r>
              <a:rPr sz="3200" b="1" spc="-5" dirty="0">
                <a:latin typeface="Arial"/>
                <a:cs typeface="Arial"/>
              </a:rPr>
              <a:t>we </a:t>
            </a:r>
            <a:r>
              <a:rPr sz="3200" b="1" spc="-10" dirty="0">
                <a:latin typeface="Arial"/>
                <a:cs typeface="Arial"/>
              </a:rPr>
              <a:t>commonly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use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periodic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analog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signals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and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7" name="object 15">
            <a:extLst>
              <a:ext uri="{FF2B5EF4-FFF2-40B4-BE49-F238E27FC236}">
                <a16:creationId xmlns:a16="http://schemas.microsoft.com/office/drawing/2014/main" id="{8F409197-767D-0124-B592-320187DBC912}"/>
              </a:ext>
            </a:extLst>
          </p:cNvPr>
          <p:cNvSpPr txBox="1"/>
          <p:nvPr/>
        </p:nvSpPr>
        <p:spPr>
          <a:xfrm>
            <a:off x="1495967" y="5902070"/>
            <a:ext cx="8077200" cy="6572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3200" b="1" spc="-10" dirty="0">
                <a:latin typeface="Arial"/>
                <a:cs typeface="Arial"/>
              </a:rPr>
              <a:t>nonperiodic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digital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signals.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71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</a:t>
            </a:r>
            <a:r>
              <a:rPr sz="2400" spc="-45" dirty="0">
                <a:solidFill>
                  <a:srgbClr val="3333CC"/>
                </a:solidFill>
              </a:rPr>
              <a:t>r</a:t>
            </a:r>
            <a:r>
              <a:rPr sz="2400" spc="-5" dirty="0">
                <a:solidFill>
                  <a:srgbClr val="3333CC"/>
                </a:solidFill>
              </a:rPr>
              <a:t>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10" dirty="0">
                <a:solidFill>
                  <a:srgbClr val="3333CC"/>
                </a:solidFill>
              </a:rPr>
              <a:t>3.</a:t>
            </a:r>
            <a:r>
              <a:rPr sz="2400" spc="-5" dirty="0">
                <a:solidFill>
                  <a:srgbClr val="3333CC"/>
                </a:solidFill>
              </a:rPr>
              <a:t>2	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-10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</a:t>
            </a:r>
            <a:r>
              <a:rPr sz="2000" i="1" spc="-10" dirty="0">
                <a:latin typeface="Times New Roman"/>
                <a:cs typeface="Times New Roman"/>
              </a:rPr>
              <a:t>n</a:t>
            </a:r>
            <a:r>
              <a:rPr sz="2000" i="1" spc="-5" dirty="0">
                <a:latin typeface="Times New Roman"/>
                <a:cs typeface="Times New Roman"/>
              </a:rPr>
              <a:t>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w</a:t>
            </a:r>
            <a:r>
              <a:rPr sz="2000" i="1" spc="-5" dirty="0">
                <a:latin typeface="Times New Roman"/>
                <a:cs typeface="Times New Roman"/>
              </a:rPr>
              <a:t>ave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6691" y="3135629"/>
            <a:ext cx="7075931" cy="208406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latin typeface="Arial"/>
                <a:cs typeface="Arial"/>
              </a:rPr>
              <a:t>3.</a:t>
            </a:r>
            <a:fld id="{81D60167-4931-47E6-BA6A-407CBD079E47}" type="slidenum">
              <a:rPr sz="2000" b="1" spc="-5" dirty="0">
                <a:latin typeface="Arial"/>
                <a:cs typeface="Arial"/>
              </a:rPr>
              <a:t>3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3.1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91999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44073" y="1817624"/>
            <a:ext cx="8453120" cy="301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power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your </a:t>
            </a:r>
            <a:r>
              <a:rPr sz="2800" b="1" i="1" dirty="0">
                <a:latin typeface="Times New Roman"/>
                <a:cs typeface="Times New Roman"/>
              </a:rPr>
              <a:t>house </a:t>
            </a:r>
            <a:r>
              <a:rPr sz="2800" b="1" i="1" spc="-5" dirty="0">
                <a:latin typeface="Times New Roman"/>
                <a:cs typeface="Times New Roman"/>
              </a:rPr>
              <a:t>can </a:t>
            </a:r>
            <a:r>
              <a:rPr sz="2800" b="1" i="1" dirty="0">
                <a:latin typeface="Times New Roman"/>
                <a:cs typeface="Times New Roman"/>
              </a:rPr>
              <a:t>be </a:t>
            </a:r>
            <a:r>
              <a:rPr sz="2800" b="1" i="1" spc="-5" dirty="0">
                <a:latin typeface="Times New Roman"/>
                <a:cs typeface="Times New Roman"/>
              </a:rPr>
              <a:t>represented by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sine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wave with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peak amplitude of 155 to 170 </a:t>
            </a:r>
            <a:r>
              <a:rPr sz="2800" b="1" i="1" spc="-185" dirty="0">
                <a:latin typeface="Times New Roman"/>
                <a:cs typeface="Times New Roman"/>
              </a:rPr>
              <a:t>V.</a:t>
            </a:r>
            <a:r>
              <a:rPr sz="2800" b="1" i="1" spc="330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However, </a:t>
            </a:r>
            <a:r>
              <a:rPr sz="2800" b="1" i="1" spc="-5" dirty="0">
                <a:latin typeface="Times New Roman"/>
                <a:cs typeface="Times New Roman"/>
              </a:rPr>
              <a:t>it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4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common</a:t>
            </a:r>
            <a:r>
              <a:rPr sz="2800" b="1" i="1" spc="4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knowledge</a:t>
            </a:r>
            <a:r>
              <a:rPr sz="2800" b="1" i="1" spc="4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that</a:t>
            </a:r>
            <a:r>
              <a:rPr sz="2800" b="1" i="1" spc="4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40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voltage</a:t>
            </a:r>
            <a:r>
              <a:rPr sz="2800" b="1" i="1" spc="4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409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power</a:t>
            </a:r>
            <a:r>
              <a:rPr sz="2800" b="1" i="1" spc="4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endParaRPr sz="2800" dirty="0">
              <a:latin typeface="Times New Roman"/>
              <a:cs typeface="Times New Roman"/>
            </a:endParaRPr>
          </a:p>
          <a:p>
            <a:pPr marL="50800" marR="431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U.S. homes is </a:t>
            </a:r>
            <a:r>
              <a:rPr sz="2800" b="1" i="1" spc="-55" dirty="0">
                <a:latin typeface="Times New Roman"/>
                <a:cs typeface="Times New Roman"/>
              </a:rPr>
              <a:t>110</a:t>
            </a:r>
            <a:r>
              <a:rPr sz="2800" b="1" i="1" spc="5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 120 </a:t>
            </a:r>
            <a:r>
              <a:rPr sz="2800" b="1" i="1" spc="-185" dirty="0">
                <a:latin typeface="Times New Roman"/>
                <a:cs typeface="Times New Roman"/>
              </a:rPr>
              <a:t>V.</a:t>
            </a:r>
            <a:r>
              <a:rPr sz="2800" b="1" i="1" spc="3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 discrepancy is due to 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fact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that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these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root</a:t>
            </a:r>
            <a:r>
              <a:rPr sz="2800" b="1" i="1" spc="4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mean</a:t>
            </a:r>
            <a:r>
              <a:rPr sz="2800" b="1" i="1" spc="48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square</a:t>
            </a:r>
            <a:r>
              <a:rPr sz="2800" b="1" i="1" spc="4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(rms)</a:t>
            </a:r>
            <a:r>
              <a:rPr sz="2800" b="1" i="1" spc="48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values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signal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-5" dirty="0">
                <a:latin typeface="Times New Roman"/>
                <a:cs typeface="Times New Roman"/>
              </a:rPr>
              <a:t>squared and then the average amplitude 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calculated</a:t>
            </a:r>
            <a:r>
              <a:rPr sz="2800" b="1" i="1" spc="67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peak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value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equal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3150" b="1" i="1" spc="15" baseline="17195" dirty="0">
                <a:solidFill>
                  <a:srgbClr val="FF0000"/>
                </a:solidFill>
                <a:latin typeface="Times New Roman"/>
                <a:cs typeface="Times New Roman"/>
              </a:rPr>
              <a:t>½</a:t>
            </a:r>
            <a:r>
              <a:rPr sz="3150" b="1" i="1" spc="254" baseline="171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×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rms</a:t>
            </a: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value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4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6520180" cy="6985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535430" marR="5080" indent="-1523365">
              <a:lnSpc>
                <a:spcPct val="100600"/>
              </a:lnSpc>
              <a:spcBef>
                <a:spcPts val="8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3.3	</a:t>
            </a:r>
            <a:r>
              <a:rPr sz="2000" i="1" spc="-30" dirty="0">
                <a:latin typeface="Times New Roman"/>
                <a:cs typeface="Times New Roman"/>
              </a:rPr>
              <a:t>Two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signals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with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the same phase and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frequency, </a:t>
            </a:r>
            <a:r>
              <a:rPr sz="2000" i="1" spc="-484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but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different amplitudes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4828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3639" y="1720595"/>
            <a:ext cx="5475732" cy="470230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5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3.2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91998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817624"/>
            <a:ext cx="8376920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voltage </a:t>
            </a:r>
            <a:r>
              <a:rPr sz="2800" b="1" i="1" dirty="0">
                <a:latin typeface="Times New Roman"/>
                <a:cs typeface="Times New Roman"/>
              </a:rPr>
              <a:t>of a </a:t>
            </a:r>
            <a:r>
              <a:rPr sz="2800" b="1" i="1" spc="-5" dirty="0">
                <a:latin typeface="Times New Roman"/>
                <a:cs typeface="Times New Roman"/>
              </a:rPr>
              <a:t>battery is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constant; this constant </a:t>
            </a:r>
            <a:r>
              <a:rPr sz="2800" b="1" i="1" dirty="0">
                <a:latin typeface="Times New Roman"/>
                <a:cs typeface="Times New Roman"/>
              </a:rPr>
              <a:t>value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 </a:t>
            </a:r>
            <a:r>
              <a:rPr sz="2800" b="1" i="1" dirty="0">
                <a:latin typeface="Times New Roman"/>
                <a:cs typeface="Times New Roman"/>
              </a:rPr>
              <a:t>be </a:t>
            </a:r>
            <a:r>
              <a:rPr sz="2800" b="1" i="1" spc="-5" dirty="0">
                <a:latin typeface="Times New Roman"/>
                <a:cs typeface="Times New Roman"/>
              </a:rPr>
              <a:t>considered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sine wave, as we will see </a:t>
            </a:r>
            <a:r>
              <a:rPr sz="2800" b="1" i="1" spc="-30" dirty="0">
                <a:latin typeface="Times New Roman"/>
                <a:cs typeface="Times New Roman"/>
              </a:rPr>
              <a:t>later. </a:t>
            </a:r>
            <a:r>
              <a:rPr sz="2800" b="1" i="1" spc="-10" dirty="0">
                <a:latin typeface="Times New Roman"/>
                <a:cs typeface="Times New Roman"/>
              </a:rPr>
              <a:t>For </a:t>
            </a:r>
            <a:r>
              <a:rPr sz="2800" b="1" i="1" spc="-5" dirty="0">
                <a:latin typeface="Times New Roman"/>
                <a:cs typeface="Times New Roman"/>
              </a:rPr>
              <a:t> example,</a:t>
            </a:r>
            <a:r>
              <a:rPr sz="2800" b="1" i="1" spc="5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</a:t>
            </a:r>
            <a:r>
              <a:rPr sz="2800" b="1" i="1" spc="3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peak</a:t>
            </a:r>
            <a:r>
              <a:rPr sz="2800" b="1" i="1" spc="5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value</a:t>
            </a:r>
            <a:r>
              <a:rPr sz="2800" b="1" i="1" spc="5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5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</a:t>
            </a:r>
            <a:r>
              <a:rPr sz="2800" b="1" i="1" spc="5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b="1" i="1" spc="1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batter</a:t>
            </a:r>
            <a:r>
              <a:rPr sz="2800" b="1" i="1" spc="3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5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normally</a:t>
            </a:r>
            <a:endParaRPr sz="28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1.5</a:t>
            </a:r>
            <a:r>
              <a:rPr sz="2800" b="1"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185" dirty="0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sz="2800" b="1" i="1" spc="-185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6</a:t>
            </a:fld>
            <a:endParaRPr spc="-5" dirty="0">
              <a:solidFill>
                <a:srgbClr val="000000"/>
              </a:solidFill>
            </a:endParaRP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4C06DF05-7F51-4559-FEE5-9C4055680032}"/>
              </a:ext>
            </a:extLst>
          </p:cNvPr>
          <p:cNvSpPr txBox="1"/>
          <p:nvPr/>
        </p:nvSpPr>
        <p:spPr>
          <a:xfrm>
            <a:off x="1142123" y="4011137"/>
            <a:ext cx="8077200" cy="36449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83515">
              <a:lnSpc>
                <a:spcPts val="2595"/>
              </a:lnSpc>
              <a:spcBef>
                <a:spcPts val="275"/>
              </a:spcBef>
            </a:pPr>
            <a:r>
              <a:rPr sz="3200" b="1" spc="-10" dirty="0">
                <a:latin typeface="Arial"/>
                <a:cs typeface="Arial"/>
              </a:rPr>
              <a:t>Frequency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and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period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are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inverse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of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8" name="object 12">
            <a:extLst>
              <a:ext uri="{FF2B5EF4-FFF2-40B4-BE49-F238E27FC236}">
                <a16:creationId xmlns:a16="http://schemas.microsoft.com/office/drawing/2014/main" id="{F8789BA6-9FB3-D529-FFA3-C2D75E5590A5}"/>
              </a:ext>
            </a:extLst>
          </p:cNvPr>
          <p:cNvGrpSpPr/>
          <p:nvPr/>
        </p:nvGrpSpPr>
        <p:grpSpPr>
          <a:xfrm>
            <a:off x="646823" y="4375374"/>
            <a:ext cx="9144000" cy="858519"/>
            <a:chOff x="774839" y="3777234"/>
            <a:chExt cx="9144000" cy="858519"/>
          </a:xfrm>
        </p:grpSpPr>
        <p:sp>
          <p:nvSpPr>
            <p:cNvPr id="19" name="object 13">
              <a:extLst>
                <a:ext uri="{FF2B5EF4-FFF2-40B4-BE49-F238E27FC236}">
                  <a16:creationId xmlns:a16="http://schemas.microsoft.com/office/drawing/2014/main" id="{E85FD5D4-0A78-26E0-9353-517D279F1334}"/>
                </a:ext>
              </a:extLst>
            </p:cNvPr>
            <p:cNvSpPr/>
            <p:nvPr/>
          </p:nvSpPr>
          <p:spPr>
            <a:xfrm>
              <a:off x="774839" y="37772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4">
              <a:extLst>
                <a:ext uri="{FF2B5EF4-FFF2-40B4-BE49-F238E27FC236}">
                  <a16:creationId xmlns:a16="http://schemas.microsoft.com/office/drawing/2014/main" id="{3A0F7816-4D2B-66A7-2633-E2994439B4CF}"/>
                </a:ext>
              </a:extLst>
            </p:cNvPr>
            <p:cNvSpPr/>
            <p:nvPr/>
          </p:nvSpPr>
          <p:spPr>
            <a:xfrm>
              <a:off x="1234325" y="4578096"/>
              <a:ext cx="8153400" cy="57150"/>
            </a:xfrm>
            <a:custGeom>
              <a:avLst/>
              <a:gdLst/>
              <a:ahLst/>
              <a:cxnLst/>
              <a:rect l="l" t="t" r="r" b="b"/>
              <a:pathLst>
                <a:path w="8153400" h="57150">
                  <a:moveTo>
                    <a:pt x="8153400" y="5715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57150"/>
                  </a:lnTo>
                  <a:lnTo>
                    <a:pt x="8153400" y="5715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5">
            <a:extLst>
              <a:ext uri="{FF2B5EF4-FFF2-40B4-BE49-F238E27FC236}">
                <a16:creationId xmlns:a16="http://schemas.microsoft.com/office/drawing/2014/main" id="{268DBBFA-3CAC-7A4A-39BB-FB93FE2CCF0E}"/>
              </a:ext>
            </a:extLst>
          </p:cNvPr>
          <p:cNvSpPr txBox="1"/>
          <p:nvPr/>
        </p:nvSpPr>
        <p:spPr>
          <a:xfrm>
            <a:off x="1142123" y="4375374"/>
            <a:ext cx="8077200" cy="70294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3200" b="1" spc="-10" dirty="0">
                <a:latin typeface="Arial"/>
                <a:cs typeface="Arial"/>
              </a:rPr>
              <a:t>each</a:t>
            </a:r>
            <a:r>
              <a:rPr sz="3200" b="1" spc="-60" dirty="0">
                <a:latin typeface="Arial"/>
                <a:cs typeface="Arial"/>
              </a:rPr>
              <a:t> </a:t>
            </a:r>
            <a:r>
              <a:rPr sz="3200" b="1" spc="-35" dirty="0">
                <a:latin typeface="Arial"/>
                <a:cs typeface="Arial"/>
              </a:rPr>
              <a:t>other.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2" name="object 16">
            <a:extLst>
              <a:ext uri="{FF2B5EF4-FFF2-40B4-BE49-F238E27FC236}">
                <a16:creationId xmlns:a16="http://schemas.microsoft.com/office/drawing/2014/main" id="{12455BDF-A1C6-15F4-9510-9773BA468D9C}"/>
              </a:ext>
            </a:extLst>
          </p:cNvPr>
          <p:cNvSpPr/>
          <p:nvPr/>
        </p:nvSpPr>
        <p:spPr>
          <a:xfrm>
            <a:off x="1106309" y="5232624"/>
            <a:ext cx="8153400" cy="20320"/>
          </a:xfrm>
          <a:custGeom>
            <a:avLst/>
            <a:gdLst/>
            <a:ahLst/>
            <a:cxnLst/>
            <a:rect l="l" t="t" r="r" b="b"/>
            <a:pathLst>
              <a:path w="8153400" h="20320">
                <a:moveTo>
                  <a:pt x="8153400" y="19812"/>
                </a:moveTo>
                <a:lnTo>
                  <a:pt x="8153400" y="0"/>
                </a:lnTo>
                <a:lnTo>
                  <a:pt x="0" y="0"/>
                </a:lnTo>
                <a:lnTo>
                  <a:pt x="0" y="19812"/>
                </a:lnTo>
                <a:lnTo>
                  <a:pt x="8153400" y="19812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17">
            <a:extLst>
              <a:ext uri="{FF2B5EF4-FFF2-40B4-BE49-F238E27FC236}">
                <a16:creationId xmlns:a16="http://schemas.microsoft.com/office/drawing/2014/main" id="{35BE6BA5-4318-5AC9-94C8-5144816079CA}"/>
              </a:ext>
            </a:extLst>
          </p:cNvPr>
          <p:cNvGrpSpPr/>
          <p:nvPr/>
        </p:nvGrpSpPr>
        <p:grpSpPr>
          <a:xfrm>
            <a:off x="3502799" y="5338542"/>
            <a:ext cx="3432810" cy="723900"/>
            <a:chOff x="3630815" y="4740402"/>
            <a:chExt cx="3432810" cy="723900"/>
          </a:xfrm>
        </p:grpSpPr>
        <p:pic>
          <p:nvPicPr>
            <p:cNvPr id="24" name="object 18">
              <a:extLst>
                <a:ext uri="{FF2B5EF4-FFF2-40B4-BE49-F238E27FC236}">
                  <a16:creationId xmlns:a16="http://schemas.microsoft.com/office/drawing/2014/main" id="{C6EE3398-3AA8-FFEF-6B68-DF1E47D5B28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59771" y="4768596"/>
              <a:ext cx="3374898" cy="666750"/>
            </a:xfrm>
            <a:prstGeom prst="rect">
              <a:avLst/>
            </a:prstGeom>
          </p:spPr>
        </p:pic>
        <p:sp>
          <p:nvSpPr>
            <p:cNvPr id="25" name="object 19">
              <a:extLst>
                <a:ext uri="{FF2B5EF4-FFF2-40B4-BE49-F238E27FC236}">
                  <a16:creationId xmlns:a16="http://schemas.microsoft.com/office/drawing/2014/main" id="{04F5BB16-58EC-A03E-7BC7-B32ED7CF1ED8}"/>
                </a:ext>
              </a:extLst>
            </p:cNvPr>
            <p:cNvSpPr/>
            <p:nvPr/>
          </p:nvSpPr>
          <p:spPr>
            <a:xfrm>
              <a:off x="3630815" y="4740402"/>
              <a:ext cx="3432810" cy="723900"/>
            </a:xfrm>
            <a:custGeom>
              <a:avLst/>
              <a:gdLst/>
              <a:ahLst/>
              <a:cxnLst/>
              <a:rect l="l" t="t" r="r" b="b"/>
              <a:pathLst>
                <a:path w="3432809" h="723900">
                  <a:moveTo>
                    <a:pt x="3432810" y="723900"/>
                  </a:moveTo>
                  <a:lnTo>
                    <a:pt x="3432810" y="0"/>
                  </a:lnTo>
                  <a:lnTo>
                    <a:pt x="0" y="0"/>
                  </a:lnTo>
                  <a:lnTo>
                    <a:pt x="0" y="723900"/>
                  </a:lnTo>
                  <a:lnTo>
                    <a:pt x="14477" y="723900"/>
                  </a:lnTo>
                  <a:lnTo>
                    <a:pt x="14477" y="28194"/>
                  </a:lnTo>
                  <a:lnTo>
                    <a:pt x="28955" y="14478"/>
                  </a:lnTo>
                  <a:lnTo>
                    <a:pt x="28955" y="28194"/>
                  </a:lnTo>
                  <a:lnTo>
                    <a:pt x="3403853" y="28194"/>
                  </a:lnTo>
                  <a:lnTo>
                    <a:pt x="3403853" y="14477"/>
                  </a:lnTo>
                  <a:lnTo>
                    <a:pt x="3418332" y="28194"/>
                  </a:lnTo>
                  <a:lnTo>
                    <a:pt x="3418332" y="723900"/>
                  </a:lnTo>
                  <a:lnTo>
                    <a:pt x="3432810" y="723900"/>
                  </a:lnTo>
                  <a:close/>
                </a:path>
                <a:path w="3432809" h="723900">
                  <a:moveTo>
                    <a:pt x="28955" y="28194"/>
                  </a:moveTo>
                  <a:lnTo>
                    <a:pt x="28955" y="14478"/>
                  </a:lnTo>
                  <a:lnTo>
                    <a:pt x="14477" y="28194"/>
                  </a:lnTo>
                  <a:lnTo>
                    <a:pt x="28955" y="28194"/>
                  </a:lnTo>
                  <a:close/>
                </a:path>
                <a:path w="3432809" h="723900">
                  <a:moveTo>
                    <a:pt x="28955" y="694944"/>
                  </a:moveTo>
                  <a:lnTo>
                    <a:pt x="28955" y="28194"/>
                  </a:lnTo>
                  <a:lnTo>
                    <a:pt x="14477" y="28194"/>
                  </a:lnTo>
                  <a:lnTo>
                    <a:pt x="14477" y="694944"/>
                  </a:lnTo>
                  <a:lnTo>
                    <a:pt x="28955" y="694944"/>
                  </a:lnTo>
                  <a:close/>
                </a:path>
                <a:path w="3432809" h="723900">
                  <a:moveTo>
                    <a:pt x="3418332" y="694944"/>
                  </a:moveTo>
                  <a:lnTo>
                    <a:pt x="14477" y="694944"/>
                  </a:lnTo>
                  <a:lnTo>
                    <a:pt x="28955" y="709422"/>
                  </a:lnTo>
                  <a:lnTo>
                    <a:pt x="28955" y="723900"/>
                  </a:lnTo>
                  <a:lnTo>
                    <a:pt x="3403853" y="723900"/>
                  </a:lnTo>
                  <a:lnTo>
                    <a:pt x="3403853" y="709422"/>
                  </a:lnTo>
                  <a:lnTo>
                    <a:pt x="3418332" y="694944"/>
                  </a:lnTo>
                  <a:close/>
                </a:path>
                <a:path w="3432809" h="723900">
                  <a:moveTo>
                    <a:pt x="28955" y="723900"/>
                  </a:moveTo>
                  <a:lnTo>
                    <a:pt x="28955" y="709422"/>
                  </a:lnTo>
                  <a:lnTo>
                    <a:pt x="14477" y="694944"/>
                  </a:lnTo>
                  <a:lnTo>
                    <a:pt x="14477" y="723900"/>
                  </a:lnTo>
                  <a:lnTo>
                    <a:pt x="28955" y="723900"/>
                  </a:lnTo>
                  <a:close/>
                </a:path>
                <a:path w="3432809" h="723900">
                  <a:moveTo>
                    <a:pt x="3418332" y="28194"/>
                  </a:moveTo>
                  <a:lnTo>
                    <a:pt x="3403853" y="14477"/>
                  </a:lnTo>
                  <a:lnTo>
                    <a:pt x="3403853" y="28194"/>
                  </a:lnTo>
                  <a:lnTo>
                    <a:pt x="3418332" y="28194"/>
                  </a:lnTo>
                  <a:close/>
                </a:path>
                <a:path w="3432809" h="723900">
                  <a:moveTo>
                    <a:pt x="3418332" y="694944"/>
                  </a:moveTo>
                  <a:lnTo>
                    <a:pt x="3418332" y="28194"/>
                  </a:lnTo>
                  <a:lnTo>
                    <a:pt x="3403853" y="28194"/>
                  </a:lnTo>
                  <a:lnTo>
                    <a:pt x="3403853" y="694944"/>
                  </a:lnTo>
                  <a:lnTo>
                    <a:pt x="3418332" y="694944"/>
                  </a:lnTo>
                  <a:close/>
                </a:path>
                <a:path w="3432809" h="723900">
                  <a:moveTo>
                    <a:pt x="3418332" y="723900"/>
                  </a:moveTo>
                  <a:lnTo>
                    <a:pt x="3418332" y="694944"/>
                  </a:lnTo>
                  <a:lnTo>
                    <a:pt x="3403853" y="709422"/>
                  </a:lnTo>
                  <a:lnTo>
                    <a:pt x="3403853" y="723900"/>
                  </a:lnTo>
                  <a:lnTo>
                    <a:pt x="3418332" y="72390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6526530" cy="6985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535430" marR="5080" indent="-1523365">
              <a:lnSpc>
                <a:spcPct val="100600"/>
              </a:lnSpc>
              <a:spcBef>
                <a:spcPts val="8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3.4	</a:t>
            </a:r>
            <a:r>
              <a:rPr sz="2000" i="1" spc="-30" dirty="0">
                <a:latin typeface="Times New Roman"/>
                <a:cs typeface="Times New Roman"/>
              </a:rPr>
              <a:t>Two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signals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with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same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amplitude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phase, </a:t>
            </a:r>
            <a:r>
              <a:rPr sz="2000" i="1" spc="-484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but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different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frequencies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4839" y="1206246"/>
            <a:ext cx="9144000" cy="5382260"/>
            <a:chOff x="774839" y="1206246"/>
            <a:chExt cx="9144000" cy="5382260"/>
          </a:xfrm>
        </p:grpSpPr>
        <p:sp>
          <p:nvSpPr>
            <p:cNvPr id="5" name="object 5"/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7239" y="1330452"/>
              <a:ext cx="8763000" cy="19050"/>
            </a:xfrm>
            <a:custGeom>
              <a:avLst/>
              <a:gdLst/>
              <a:ahLst/>
              <a:cxnLst/>
              <a:rect l="l" t="t" r="r" b="b"/>
              <a:pathLst>
                <a:path w="8763000" h="19050">
                  <a:moveTo>
                    <a:pt x="8763000" y="19049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763000" y="190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0789" y="1415796"/>
              <a:ext cx="5429250" cy="5172456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7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5523" y="2200147"/>
            <a:ext cx="4480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73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3.1	</a:t>
            </a:r>
            <a:r>
              <a:rPr sz="2000" i="1" spc="-5" dirty="0">
                <a:latin typeface="Times New Roman"/>
                <a:cs typeface="Times New Roman"/>
              </a:rPr>
              <a:t>Units of period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frequency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439" y="2676905"/>
            <a:ext cx="8601456" cy="239648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8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996573" y="551180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sz="3200" b="1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3.3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82173" y="1817624"/>
            <a:ext cx="8376284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4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power</a:t>
            </a:r>
            <a:r>
              <a:rPr sz="2800" b="1" i="1" spc="4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43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use</a:t>
            </a:r>
            <a:r>
              <a:rPr sz="2800" b="1" i="1" spc="4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at</a:t>
            </a:r>
            <a:r>
              <a:rPr sz="2800" b="1" i="1" spc="4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home</a:t>
            </a:r>
            <a:r>
              <a:rPr sz="2800" b="1" i="1" spc="4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has</a:t>
            </a:r>
            <a:r>
              <a:rPr sz="2800" b="1" i="1" spc="4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4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frequency</a:t>
            </a:r>
            <a:r>
              <a:rPr sz="2800" b="1" i="1" spc="4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4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60</a:t>
            </a:r>
            <a:r>
              <a:rPr sz="2800" b="1" i="1" spc="4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Hz</a:t>
            </a:r>
            <a:r>
              <a:rPr sz="2800" b="1" i="1" spc="-5" dirty="0">
                <a:latin typeface="Times New Roman"/>
                <a:cs typeface="Times New Roman"/>
              </a:rPr>
              <a:t>.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period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sine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wave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determined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as </a:t>
            </a:r>
            <a:r>
              <a:rPr sz="2800" b="1" i="1" dirty="0">
                <a:latin typeface="Times New Roman"/>
                <a:cs typeface="Times New Roman"/>
              </a:rPr>
              <a:t> follows: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74700" y="3576955"/>
            <a:ext cx="9144000" cy="1271270"/>
            <a:chOff x="774839" y="2919983"/>
            <a:chExt cx="9144000" cy="1271270"/>
          </a:xfrm>
        </p:grpSpPr>
        <p:sp>
          <p:nvSpPr>
            <p:cNvPr id="16" name="object 16"/>
            <p:cNvSpPr/>
            <p:nvPr/>
          </p:nvSpPr>
          <p:spPr>
            <a:xfrm>
              <a:off x="774839" y="291998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86825" y="3429000"/>
              <a:ext cx="6324600" cy="34899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125865" y="3365753"/>
              <a:ext cx="6442710" cy="412750"/>
            </a:xfrm>
            <a:custGeom>
              <a:avLst/>
              <a:gdLst/>
              <a:ahLst/>
              <a:cxnLst/>
              <a:rect l="l" t="t" r="r" b="b"/>
              <a:pathLst>
                <a:path w="6442709" h="412750">
                  <a:moveTo>
                    <a:pt x="6442710" y="412242"/>
                  </a:moveTo>
                  <a:lnTo>
                    <a:pt x="6442710" y="0"/>
                  </a:lnTo>
                  <a:lnTo>
                    <a:pt x="0" y="0"/>
                  </a:lnTo>
                  <a:lnTo>
                    <a:pt x="0" y="412242"/>
                  </a:lnTo>
                  <a:lnTo>
                    <a:pt x="28956" y="412242"/>
                  </a:lnTo>
                  <a:lnTo>
                    <a:pt x="28956" y="57150"/>
                  </a:lnTo>
                  <a:lnTo>
                    <a:pt x="57149" y="28194"/>
                  </a:lnTo>
                  <a:lnTo>
                    <a:pt x="57149" y="57150"/>
                  </a:lnTo>
                  <a:lnTo>
                    <a:pt x="6385547" y="57150"/>
                  </a:lnTo>
                  <a:lnTo>
                    <a:pt x="6385547" y="28194"/>
                  </a:lnTo>
                  <a:lnTo>
                    <a:pt x="6413753" y="57150"/>
                  </a:lnTo>
                  <a:lnTo>
                    <a:pt x="6413753" y="412242"/>
                  </a:lnTo>
                  <a:lnTo>
                    <a:pt x="6442710" y="412242"/>
                  </a:lnTo>
                  <a:close/>
                </a:path>
                <a:path w="6442709" h="412750">
                  <a:moveTo>
                    <a:pt x="57149" y="57150"/>
                  </a:moveTo>
                  <a:lnTo>
                    <a:pt x="57149" y="28194"/>
                  </a:lnTo>
                  <a:lnTo>
                    <a:pt x="28956" y="57150"/>
                  </a:lnTo>
                  <a:lnTo>
                    <a:pt x="57149" y="57150"/>
                  </a:lnTo>
                  <a:close/>
                </a:path>
                <a:path w="6442709" h="412750">
                  <a:moveTo>
                    <a:pt x="57149" y="412242"/>
                  </a:moveTo>
                  <a:lnTo>
                    <a:pt x="57149" y="57150"/>
                  </a:lnTo>
                  <a:lnTo>
                    <a:pt x="28956" y="57150"/>
                  </a:lnTo>
                  <a:lnTo>
                    <a:pt x="28956" y="412242"/>
                  </a:lnTo>
                  <a:lnTo>
                    <a:pt x="57149" y="412242"/>
                  </a:lnTo>
                  <a:close/>
                </a:path>
                <a:path w="6442709" h="412750">
                  <a:moveTo>
                    <a:pt x="6413753" y="57150"/>
                  </a:moveTo>
                  <a:lnTo>
                    <a:pt x="6385547" y="28194"/>
                  </a:lnTo>
                  <a:lnTo>
                    <a:pt x="6385547" y="57150"/>
                  </a:lnTo>
                  <a:lnTo>
                    <a:pt x="6413753" y="57150"/>
                  </a:lnTo>
                  <a:close/>
                </a:path>
                <a:path w="6442709" h="412750">
                  <a:moveTo>
                    <a:pt x="6413753" y="412242"/>
                  </a:moveTo>
                  <a:lnTo>
                    <a:pt x="6413753" y="57150"/>
                  </a:lnTo>
                  <a:lnTo>
                    <a:pt x="6385547" y="57150"/>
                  </a:lnTo>
                  <a:lnTo>
                    <a:pt x="6385547" y="412242"/>
                  </a:lnTo>
                  <a:lnTo>
                    <a:pt x="6413753" y="412242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86825" y="3777995"/>
              <a:ext cx="6324600" cy="35585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125865" y="3777995"/>
              <a:ext cx="6442710" cy="413384"/>
            </a:xfrm>
            <a:custGeom>
              <a:avLst/>
              <a:gdLst/>
              <a:ahLst/>
              <a:cxnLst/>
              <a:rect l="l" t="t" r="r" b="b"/>
              <a:pathLst>
                <a:path w="6442709" h="413385">
                  <a:moveTo>
                    <a:pt x="57150" y="355854"/>
                  </a:moveTo>
                  <a:lnTo>
                    <a:pt x="57150" y="0"/>
                  </a:lnTo>
                  <a:lnTo>
                    <a:pt x="0" y="0"/>
                  </a:lnTo>
                  <a:lnTo>
                    <a:pt x="0" y="413004"/>
                  </a:lnTo>
                  <a:lnTo>
                    <a:pt x="28956" y="413004"/>
                  </a:lnTo>
                  <a:lnTo>
                    <a:pt x="28956" y="355854"/>
                  </a:lnTo>
                  <a:lnTo>
                    <a:pt x="57150" y="355854"/>
                  </a:lnTo>
                  <a:close/>
                </a:path>
                <a:path w="6442709" h="413385">
                  <a:moveTo>
                    <a:pt x="6413754" y="355853"/>
                  </a:moveTo>
                  <a:lnTo>
                    <a:pt x="28956" y="355854"/>
                  </a:lnTo>
                  <a:lnTo>
                    <a:pt x="57150" y="384810"/>
                  </a:lnTo>
                  <a:lnTo>
                    <a:pt x="57149" y="413004"/>
                  </a:lnTo>
                  <a:lnTo>
                    <a:pt x="6385547" y="413003"/>
                  </a:lnTo>
                  <a:lnTo>
                    <a:pt x="6385547" y="384809"/>
                  </a:lnTo>
                  <a:lnTo>
                    <a:pt x="6413754" y="355853"/>
                  </a:lnTo>
                  <a:close/>
                </a:path>
                <a:path w="6442709" h="413385">
                  <a:moveTo>
                    <a:pt x="57149" y="413004"/>
                  </a:moveTo>
                  <a:lnTo>
                    <a:pt x="57150" y="384810"/>
                  </a:lnTo>
                  <a:lnTo>
                    <a:pt x="28956" y="355854"/>
                  </a:lnTo>
                  <a:lnTo>
                    <a:pt x="28956" y="413004"/>
                  </a:lnTo>
                  <a:lnTo>
                    <a:pt x="57149" y="413004"/>
                  </a:lnTo>
                  <a:close/>
                </a:path>
                <a:path w="6442709" h="413385">
                  <a:moveTo>
                    <a:pt x="6442710" y="413003"/>
                  </a:moveTo>
                  <a:lnTo>
                    <a:pt x="6442710" y="0"/>
                  </a:lnTo>
                  <a:lnTo>
                    <a:pt x="6385547" y="0"/>
                  </a:lnTo>
                  <a:lnTo>
                    <a:pt x="6385547" y="355853"/>
                  </a:lnTo>
                  <a:lnTo>
                    <a:pt x="6413754" y="355853"/>
                  </a:lnTo>
                  <a:lnTo>
                    <a:pt x="6413754" y="413003"/>
                  </a:lnTo>
                  <a:lnTo>
                    <a:pt x="6442710" y="413003"/>
                  </a:lnTo>
                  <a:close/>
                </a:path>
                <a:path w="6442709" h="413385">
                  <a:moveTo>
                    <a:pt x="6413754" y="413003"/>
                  </a:moveTo>
                  <a:lnTo>
                    <a:pt x="6413754" y="355853"/>
                  </a:lnTo>
                  <a:lnTo>
                    <a:pt x="6385547" y="384809"/>
                  </a:lnTo>
                  <a:lnTo>
                    <a:pt x="6385547" y="413003"/>
                  </a:lnTo>
                  <a:lnTo>
                    <a:pt x="6413754" y="413003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9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3.4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37772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55167" y="1817624"/>
            <a:ext cx="8477885" cy="2647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Express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period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100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microseconds.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63500" marR="558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From </a:t>
            </a:r>
            <a:r>
              <a:rPr sz="2800" b="1" i="1" spc="-55" dirty="0">
                <a:latin typeface="Times New Roman"/>
                <a:cs typeface="Times New Roman"/>
              </a:rPr>
              <a:t>Table </a:t>
            </a:r>
            <a:r>
              <a:rPr sz="2800" b="1" i="1" spc="-5" dirty="0">
                <a:latin typeface="Times New Roman"/>
                <a:cs typeface="Times New Roman"/>
              </a:rPr>
              <a:t>3.1 we find the equivalents of </a:t>
            </a:r>
            <a:r>
              <a:rPr sz="2800" b="1" i="1" dirty="0">
                <a:latin typeface="Times New Roman"/>
                <a:cs typeface="Times New Roman"/>
              </a:rPr>
              <a:t>1 </a:t>
            </a:r>
            <a:r>
              <a:rPr sz="2800" b="1" i="1" spc="-5" dirty="0">
                <a:latin typeface="Times New Roman"/>
                <a:cs typeface="Times New Roman"/>
              </a:rPr>
              <a:t>ms (1 ms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</a:t>
            </a:r>
            <a:r>
              <a:rPr sz="2775" b="1" i="1" baseline="25525" dirty="0">
                <a:latin typeface="Times New Roman"/>
                <a:cs typeface="Times New Roman"/>
              </a:rPr>
              <a:t>−3</a:t>
            </a:r>
            <a:r>
              <a:rPr sz="2775" b="1" i="1" spc="7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s) </a:t>
            </a:r>
            <a:r>
              <a:rPr sz="2800" b="1" i="1" spc="-5" dirty="0">
                <a:latin typeface="Times New Roman"/>
                <a:cs typeface="Times New Roman"/>
              </a:rPr>
              <a:t>and </a:t>
            </a:r>
            <a:r>
              <a:rPr sz="2800" b="1" i="1" dirty="0">
                <a:latin typeface="Times New Roman"/>
                <a:cs typeface="Times New Roman"/>
              </a:rPr>
              <a:t>1 s (1 s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10</a:t>
            </a:r>
            <a:r>
              <a:rPr sz="2775" b="1" i="1" baseline="25525" dirty="0">
                <a:latin typeface="Times New Roman"/>
                <a:cs typeface="Times New Roman"/>
              </a:rPr>
              <a:t>6</a:t>
            </a:r>
            <a:r>
              <a:rPr sz="2775" b="1" i="1" spc="7" baseline="255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μs).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make the following </a:t>
            </a:r>
            <a:r>
              <a:rPr sz="2800" b="1" i="1" dirty="0">
                <a:latin typeface="Times New Roman"/>
                <a:cs typeface="Times New Roman"/>
              </a:rPr>
              <a:t> substitutions:.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46873" y="4692396"/>
            <a:ext cx="8601075" cy="590550"/>
            <a:chOff x="1046873" y="4692396"/>
            <a:chExt cx="8601075" cy="59055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7833" y="4754880"/>
              <a:ext cx="8482584" cy="47091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46873" y="4692396"/>
              <a:ext cx="8601075" cy="590550"/>
            </a:xfrm>
            <a:custGeom>
              <a:avLst/>
              <a:gdLst/>
              <a:ahLst/>
              <a:cxnLst/>
              <a:rect l="l" t="t" r="r" b="b"/>
              <a:pathLst>
                <a:path w="8601075" h="590550">
                  <a:moveTo>
                    <a:pt x="8600694" y="590550"/>
                  </a:moveTo>
                  <a:lnTo>
                    <a:pt x="8600694" y="0"/>
                  </a:lnTo>
                  <a:lnTo>
                    <a:pt x="0" y="0"/>
                  </a:lnTo>
                  <a:lnTo>
                    <a:pt x="0" y="590550"/>
                  </a:lnTo>
                  <a:lnTo>
                    <a:pt x="28193" y="590550"/>
                  </a:lnTo>
                  <a:lnTo>
                    <a:pt x="28193" y="57150"/>
                  </a:lnTo>
                  <a:lnTo>
                    <a:pt x="57149" y="28956"/>
                  </a:lnTo>
                  <a:lnTo>
                    <a:pt x="57149" y="57150"/>
                  </a:lnTo>
                  <a:lnTo>
                    <a:pt x="8543543" y="57150"/>
                  </a:lnTo>
                  <a:lnTo>
                    <a:pt x="8543543" y="28955"/>
                  </a:lnTo>
                  <a:lnTo>
                    <a:pt x="8572500" y="57150"/>
                  </a:lnTo>
                  <a:lnTo>
                    <a:pt x="8572500" y="590550"/>
                  </a:lnTo>
                  <a:lnTo>
                    <a:pt x="8600694" y="590550"/>
                  </a:lnTo>
                  <a:close/>
                </a:path>
                <a:path w="8601075" h="590550">
                  <a:moveTo>
                    <a:pt x="57149" y="57150"/>
                  </a:moveTo>
                  <a:lnTo>
                    <a:pt x="57149" y="28956"/>
                  </a:lnTo>
                  <a:lnTo>
                    <a:pt x="28193" y="57150"/>
                  </a:lnTo>
                  <a:lnTo>
                    <a:pt x="57149" y="57150"/>
                  </a:lnTo>
                  <a:close/>
                </a:path>
                <a:path w="8601075" h="590550">
                  <a:moveTo>
                    <a:pt x="57149" y="533400"/>
                  </a:moveTo>
                  <a:lnTo>
                    <a:pt x="57149" y="57150"/>
                  </a:lnTo>
                  <a:lnTo>
                    <a:pt x="28193" y="57150"/>
                  </a:lnTo>
                  <a:lnTo>
                    <a:pt x="28193" y="533400"/>
                  </a:lnTo>
                  <a:lnTo>
                    <a:pt x="57149" y="533400"/>
                  </a:lnTo>
                  <a:close/>
                </a:path>
                <a:path w="8601075" h="590550">
                  <a:moveTo>
                    <a:pt x="8572500" y="533400"/>
                  </a:moveTo>
                  <a:lnTo>
                    <a:pt x="28193" y="533400"/>
                  </a:lnTo>
                  <a:lnTo>
                    <a:pt x="57149" y="562355"/>
                  </a:lnTo>
                  <a:lnTo>
                    <a:pt x="57149" y="590550"/>
                  </a:lnTo>
                  <a:lnTo>
                    <a:pt x="8543543" y="590550"/>
                  </a:lnTo>
                  <a:lnTo>
                    <a:pt x="8543543" y="562355"/>
                  </a:lnTo>
                  <a:lnTo>
                    <a:pt x="8572500" y="533400"/>
                  </a:lnTo>
                  <a:close/>
                </a:path>
                <a:path w="8601075" h="590550">
                  <a:moveTo>
                    <a:pt x="57149" y="590550"/>
                  </a:moveTo>
                  <a:lnTo>
                    <a:pt x="57149" y="562355"/>
                  </a:lnTo>
                  <a:lnTo>
                    <a:pt x="28193" y="533400"/>
                  </a:lnTo>
                  <a:lnTo>
                    <a:pt x="28193" y="590550"/>
                  </a:lnTo>
                  <a:lnTo>
                    <a:pt x="57149" y="590550"/>
                  </a:lnTo>
                  <a:close/>
                </a:path>
                <a:path w="8601075" h="590550">
                  <a:moveTo>
                    <a:pt x="8572500" y="57150"/>
                  </a:moveTo>
                  <a:lnTo>
                    <a:pt x="8543543" y="28955"/>
                  </a:lnTo>
                  <a:lnTo>
                    <a:pt x="8543543" y="57150"/>
                  </a:lnTo>
                  <a:lnTo>
                    <a:pt x="8572500" y="57150"/>
                  </a:lnTo>
                  <a:close/>
                </a:path>
                <a:path w="8601075" h="590550">
                  <a:moveTo>
                    <a:pt x="8572500" y="533400"/>
                  </a:moveTo>
                  <a:lnTo>
                    <a:pt x="8572500" y="57150"/>
                  </a:lnTo>
                  <a:lnTo>
                    <a:pt x="8543543" y="57150"/>
                  </a:lnTo>
                  <a:lnTo>
                    <a:pt x="8543543" y="533400"/>
                  </a:lnTo>
                  <a:lnTo>
                    <a:pt x="8572500" y="533400"/>
                  </a:lnTo>
                  <a:close/>
                </a:path>
                <a:path w="8601075" h="590550">
                  <a:moveTo>
                    <a:pt x="8572500" y="590550"/>
                  </a:moveTo>
                  <a:lnTo>
                    <a:pt x="8572500" y="533400"/>
                  </a:lnTo>
                  <a:lnTo>
                    <a:pt x="8543543" y="562355"/>
                  </a:lnTo>
                  <a:lnTo>
                    <a:pt x="8543543" y="590550"/>
                  </a:lnTo>
                  <a:lnTo>
                    <a:pt x="8572500" y="59055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10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3.5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37772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69473" y="1817624"/>
            <a:ext cx="850138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116839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period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100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ms.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What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its</a:t>
            </a:r>
            <a:r>
              <a:rPr sz="2800" b="1" i="1" spc="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frequency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kilohertz?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016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01600" marR="4191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First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 change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100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seconds,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then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 calculate the frequency from the period (1 Hz </a:t>
            </a:r>
            <a:r>
              <a:rPr sz="2800" b="1" i="1" dirty="0">
                <a:latin typeface="Times New Roman"/>
                <a:cs typeface="Times New Roman"/>
              </a:rPr>
              <a:t>= 10</a:t>
            </a:r>
            <a:r>
              <a:rPr sz="2775" b="1" i="1" baseline="25525" dirty="0">
                <a:latin typeface="Times New Roman"/>
                <a:cs typeface="Times New Roman"/>
              </a:rPr>
              <a:t>−3 </a:t>
            </a:r>
            <a:r>
              <a:rPr sz="2775" b="1" i="1" spc="7" baseline="25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kHz).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74839" y="4634484"/>
            <a:ext cx="9144000" cy="1791970"/>
            <a:chOff x="774839" y="4634484"/>
            <a:chExt cx="9144000" cy="1791970"/>
          </a:xfrm>
        </p:grpSpPr>
        <p:sp>
          <p:nvSpPr>
            <p:cNvPr id="17" name="object 17"/>
            <p:cNvSpPr/>
            <p:nvPr/>
          </p:nvSpPr>
          <p:spPr>
            <a:xfrm>
              <a:off x="774839" y="463448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05113" y="5129784"/>
              <a:ext cx="6287262" cy="36271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143391" y="5070348"/>
              <a:ext cx="6406515" cy="422275"/>
            </a:xfrm>
            <a:custGeom>
              <a:avLst/>
              <a:gdLst/>
              <a:ahLst/>
              <a:cxnLst/>
              <a:rect l="l" t="t" r="r" b="b"/>
              <a:pathLst>
                <a:path w="6406515" h="422275">
                  <a:moveTo>
                    <a:pt x="6406134" y="422148"/>
                  </a:moveTo>
                  <a:lnTo>
                    <a:pt x="6406134" y="0"/>
                  </a:lnTo>
                  <a:lnTo>
                    <a:pt x="0" y="0"/>
                  </a:lnTo>
                  <a:lnTo>
                    <a:pt x="0" y="422148"/>
                  </a:lnTo>
                  <a:lnTo>
                    <a:pt x="28956" y="422148"/>
                  </a:lnTo>
                  <a:lnTo>
                    <a:pt x="28956" y="57150"/>
                  </a:lnTo>
                  <a:lnTo>
                    <a:pt x="57149" y="28956"/>
                  </a:lnTo>
                  <a:lnTo>
                    <a:pt x="57149" y="57150"/>
                  </a:lnTo>
                  <a:lnTo>
                    <a:pt x="6348971" y="57150"/>
                  </a:lnTo>
                  <a:lnTo>
                    <a:pt x="6348971" y="28955"/>
                  </a:lnTo>
                  <a:lnTo>
                    <a:pt x="6377177" y="57150"/>
                  </a:lnTo>
                  <a:lnTo>
                    <a:pt x="6377177" y="422148"/>
                  </a:lnTo>
                  <a:lnTo>
                    <a:pt x="6406134" y="422148"/>
                  </a:lnTo>
                  <a:close/>
                </a:path>
                <a:path w="6406515" h="422275">
                  <a:moveTo>
                    <a:pt x="57149" y="57150"/>
                  </a:moveTo>
                  <a:lnTo>
                    <a:pt x="57149" y="28956"/>
                  </a:lnTo>
                  <a:lnTo>
                    <a:pt x="28956" y="57150"/>
                  </a:lnTo>
                  <a:lnTo>
                    <a:pt x="57149" y="57150"/>
                  </a:lnTo>
                  <a:close/>
                </a:path>
                <a:path w="6406515" h="422275">
                  <a:moveTo>
                    <a:pt x="57149" y="422148"/>
                  </a:moveTo>
                  <a:lnTo>
                    <a:pt x="57149" y="57150"/>
                  </a:lnTo>
                  <a:lnTo>
                    <a:pt x="28956" y="57150"/>
                  </a:lnTo>
                  <a:lnTo>
                    <a:pt x="28956" y="422148"/>
                  </a:lnTo>
                  <a:lnTo>
                    <a:pt x="57149" y="422148"/>
                  </a:lnTo>
                  <a:close/>
                </a:path>
                <a:path w="6406515" h="422275">
                  <a:moveTo>
                    <a:pt x="6377177" y="57150"/>
                  </a:moveTo>
                  <a:lnTo>
                    <a:pt x="6348971" y="28955"/>
                  </a:lnTo>
                  <a:lnTo>
                    <a:pt x="6348971" y="57150"/>
                  </a:lnTo>
                  <a:lnTo>
                    <a:pt x="6377177" y="57150"/>
                  </a:lnTo>
                  <a:close/>
                </a:path>
                <a:path w="6406515" h="422275">
                  <a:moveTo>
                    <a:pt x="6377177" y="422148"/>
                  </a:moveTo>
                  <a:lnTo>
                    <a:pt x="6377177" y="57150"/>
                  </a:lnTo>
                  <a:lnTo>
                    <a:pt x="6348971" y="57150"/>
                  </a:lnTo>
                  <a:lnTo>
                    <a:pt x="6348971" y="422148"/>
                  </a:lnTo>
                  <a:lnTo>
                    <a:pt x="6377177" y="422148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05113" y="5492496"/>
              <a:ext cx="6287262" cy="8572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143391" y="5492508"/>
              <a:ext cx="6406515" cy="857250"/>
            </a:xfrm>
            <a:custGeom>
              <a:avLst/>
              <a:gdLst/>
              <a:ahLst/>
              <a:cxnLst/>
              <a:rect l="l" t="t" r="r" b="b"/>
              <a:pathLst>
                <a:path w="6406515" h="857250">
                  <a:moveTo>
                    <a:pt x="5715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57150" y="857250"/>
                  </a:lnTo>
                  <a:lnTo>
                    <a:pt x="57150" y="0"/>
                  </a:lnTo>
                  <a:close/>
                </a:path>
                <a:path w="6406515" h="857250">
                  <a:moveTo>
                    <a:pt x="6406134" y="0"/>
                  </a:moveTo>
                  <a:lnTo>
                    <a:pt x="6348971" y="0"/>
                  </a:lnTo>
                  <a:lnTo>
                    <a:pt x="6348971" y="857250"/>
                  </a:lnTo>
                  <a:lnTo>
                    <a:pt x="6406134" y="857250"/>
                  </a:lnTo>
                  <a:lnTo>
                    <a:pt x="6406134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05113" y="6349746"/>
              <a:ext cx="6287262" cy="1905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143391" y="6349746"/>
              <a:ext cx="6406515" cy="76200"/>
            </a:xfrm>
            <a:custGeom>
              <a:avLst/>
              <a:gdLst/>
              <a:ahLst/>
              <a:cxnLst/>
              <a:rect l="l" t="t" r="r" b="b"/>
              <a:pathLst>
                <a:path w="6406515" h="76200">
                  <a:moveTo>
                    <a:pt x="57150" y="19050"/>
                  </a:moveTo>
                  <a:lnTo>
                    <a:pt x="5715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28956" y="76200"/>
                  </a:lnTo>
                  <a:lnTo>
                    <a:pt x="28956" y="19050"/>
                  </a:lnTo>
                  <a:lnTo>
                    <a:pt x="57150" y="19050"/>
                  </a:lnTo>
                  <a:close/>
                </a:path>
                <a:path w="6406515" h="76200">
                  <a:moveTo>
                    <a:pt x="6377178" y="19050"/>
                  </a:moveTo>
                  <a:lnTo>
                    <a:pt x="28956" y="19050"/>
                  </a:lnTo>
                  <a:lnTo>
                    <a:pt x="57150" y="48006"/>
                  </a:lnTo>
                  <a:lnTo>
                    <a:pt x="57150" y="76200"/>
                  </a:lnTo>
                  <a:lnTo>
                    <a:pt x="6348971" y="76200"/>
                  </a:lnTo>
                  <a:lnTo>
                    <a:pt x="6348971" y="48005"/>
                  </a:lnTo>
                  <a:lnTo>
                    <a:pt x="6377178" y="19050"/>
                  </a:lnTo>
                  <a:close/>
                </a:path>
                <a:path w="6406515" h="76200">
                  <a:moveTo>
                    <a:pt x="57150" y="76200"/>
                  </a:moveTo>
                  <a:lnTo>
                    <a:pt x="57150" y="48006"/>
                  </a:lnTo>
                  <a:lnTo>
                    <a:pt x="28956" y="19050"/>
                  </a:lnTo>
                  <a:lnTo>
                    <a:pt x="28956" y="76200"/>
                  </a:lnTo>
                  <a:lnTo>
                    <a:pt x="57150" y="76200"/>
                  </a:lnTo>
                  <a:close/>
                </a:path>
                <a:path w="6406515" h="76200">
                  <a:moveTo>
                    <a:pt x="6406134" y="76200"/>
                  </a:moveTo>
                  <a:lnTo>
                    <a:pt x="6406134" y="0"/>
                  </a:lnTo>
                  <a:lnTo>
                    <a:pt x="6348971" y="0"/>
                  </a:lnTo>
                  <a:lnTo>
                    <a:pt x="6348971" y="19050"/>
                  </a:lnTo>
                  <a:lnTo>
                    <a:pt x="6377178" y="19050"/>
                  </a:lnTo>
                  <a:lnTo>
                    <a:pt x="6377178" y="76200"/>
                  </a:lnTo>
                  <a:lnTo>
                    <a:pt x="6406134" y="76200"/>
                  </a:lnTo>
                  <a:close/>
                </a:path>
                <a:path w="6406515" h="76200">
                  <a:moveTo>
                    <a:pt x="6377178" y="76200"/>
                  </a:moveTo>
                  <a:lnTo>
                    <a:pt x="6377178" y="19050"/>
                  </a:lnTo>
                  <a:lnTo>
                    <a:pt x="6348971" y="48005"/>
                  </a:lnTo>
                  <a:lnTo>
                    <a:pt x="6348971" y="76200"/>
                  </a:lnTo>
                  <a:lnTo>
                    <a:pt x="6377178" y="7620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11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1234325" y="64068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12</a:t>
            </a:fld>
            <a:endParaRPr spc="-5" dirty="0">
              <a:solidFill>
                <a:srgbClr val="0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1A5732-9869-50CA-DB37-9833BB0C0D4F}"/>
              </a:ext>
            </a:extLst>
          </p:cNvPr>
          <p:cNvSpPr txBox="1"/>
          <p:nvPr/>
        </p:nvSpPr>
        <p:spPr>
          <a:xfrm>
            <a:off x="1819921" y="962025"/>
            <a:ext cx="787017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95"/>
              </a:spcBef>
            </a:pPr>
            <a:r>
              <a:rPr lang="en-US" sz="2800" b="1" spc="-10" dirty="0">
                <a:latin typeface="Arial"/>
                <a:cs typeface="Arial"/>
              </a:rPr>
              <a:t>Frequency </a:t>
            </a:r>
            <a:r>
              <a:rPr lang="en-US" sz="2800" b="1" spc="-5" dirty="0">
                <a:latin typeface="Arial"/>
                <a:cs typeface="Arial"/>
              </a:rPr>
              <a:t>is the rate of </a:t>
            </a:r>
            <a:r>
              <a:rPr lang="en-US" sz="2800" b="1" spc="-10" dirty="0">
                <a:latin typeface="Arial"/>
                <a:cs typeface="Arial"/>
              </a:rPr>
              <a:t>change with </a:t>
            </a:r>
            <a:r>
              <a:rPr lang="en-US" sz="2800" b="1" spc="-875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respect</a:t>
            </a:r>
            <a:r>
              <a:rPr lang="en-US" sz="2800" b="1" spc="-15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to</a:t>
            </a:r>
            <a:r>
              <a:rPr lang="en-US" sz="2800" b="1" spc="-10" dirty="0">
                <a:latin typeface="Arial"/>
                <a:cs typeface="Arial"/>
              </a:rPr>
              <a:t> time. Change</a:t>
            </a:r>
            <a:r>
              <a:rPr lang="en-US" sz="2800" b="1" spc="-40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in</a:t>
            </a:r>
            <a:r>
              <a:rPr lang="en-US" sz="2800" b="1" spc="-15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a</a:t>
            </a:r>
            <a:r>
              <a:rPr lang="en-US" sz="2800" b="1" spc="-20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short</a:t>
            </a:r>
            <a:r>
              <a:rPr lang="en-US" sz="2800" b="1" spc="-15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span</a:t>
            </a:r>
            <a:r>
              <a:rPr lang="en-US" sz="2800" b="1" spc="-20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of</a:t>
            </a:r>
            <a:r>
              <a:rPr lang="en-US" sz="2800" b="1" spc="-15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time </a:t>
            </a:r>
            <a:r>
              <a:rPr lang="en-US" sz="2800" b="1" spc="-875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means</a:t>
            </a:r>
            <a:r>
              <a:rPr lang="en-US" sz="2800" b="1" spc="-25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high</a:t>
            </a:r>
            <a:r>
              <a:rPr lang="en-US" sz="2800" b="1" spc="-25" dirty="0">
                <a:latin typeface="Arial"/>
                <a:cs typeface="Arial"/>
              </a:rPr>
              <a:t> </a:t>
            </a:r>
            <a:r>
              <a:rPr lang="en-US" sz="2800" b="1" spc="-30" dirty="0">
                <a:latin typeface="Arial"/>
                <a:cs typeface="Arial"/>
              </a:rPr>
              <a:t>frequency. </a:t>
            </a:r>
            <a:r>
              <a:rPr lang="en-US" sz="2800" b="1" spc="-5" dirty="0">
                <a:latin typeface="Arial"/>
                <a:cs typeface="Arial"/>
              </a:rPr>
              <a:t>Change</a:t>
            </a:r>
            <a:r>
              <a:rPr lang="en-US" sz="2800" b="1" spc="-40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over </a:t>
            </a:r>
            <a:r>
              <a:rPr lang="en-US" sz="2800" b="1" spc="-5" dirty="0">
                <a:latin typeface="Arial"/>
                <a:cs typeface="Arial"/>
              </a:rPr>
              <a:t>a</a:t>
            </a:r>
            <a:r>
              <a:rPr lang="en-US" sz="2800" b="1" spc="-10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long</a:t>
            </a:r>
            <a:r>
              <a:rPr lang="en-US" sz="2800" b="1" spc="-25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span</a:t>
            </a:r>
            <a:r>
              <a:rPr lang="en-US" sz="2800" b="1" spc="-30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of </a:t>
            </a:r>
            <a:r>
              <a:rPr lang="en-US" sz="2800" b="1" spc="-875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time</a:t>
            </a:r>
            <a:r>
              <a:rPr lang="en-US" sz="2800" b="1" spc="-30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means</a:t>
            </a:r>
            <a:r>
              <a:rPr lang="en-US" sz="2800" b="1" spc="-25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low</a:t>
            </a:r>
            <a:r>
              <a:rPr lang="en-US" sz="2800" b="1" spc="-25" dirty="0">
                <a:latin typeface="Arial"/>
                <a:cs typeface="Arial"/>
              </a:rPr>
              <a:t> </a:t>
            </a:r>
            <a:r>
              <a:rPr lang="en-US" sz="2800" b="1" spc="-30" dirty="0">
                <a:latin typeface="Arial"/>
                <a:cs typeface="Arial"/>
              </a:rPr>
              <a:t>frequency.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11BA9B-25CB-F771-9A1C-D782569DEE79}"/>
              </a:ext>
            </a:extLst>
          </p:cNvPr>
          <p:cNvSpPr txBox="1"/>
          <p:nvPr/>
        </p:nvSpPr>
        <p:spPr>
          <a:xfrm>
            <a:off x="1221625" y="2683031"/>
            <a:ext cx="724323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68960" marR="563245">
              <a:lnSpc>
                <a:spcPct val="100000"/>
              </a:lnSpc>
              <a:spcBef>
                <a:spcPts val="270"/>
              </a:spcBef>
            </a:pPr>
            <a:r>
              <a:rPr lang="en-US" sz="2800" b="1" spc="-5" dirty="0">
                <a:latin typeface="Arial"/>
                <a:cs typeface="Arial"/>
              </a:rPr>
              <a:t>If a signal does not </a:t>
            </a:r>
            <a:r>
              <a:rPr lang="en-US" sz="2800" b="1" spc="-10" dirty="0">
                <a:latin typeface="Arial"/>
                <a:cs typeface="Arial"/>
              </a:rPr>
              <a:t>change </a:t>
            </a:r>
            <a:r>
              <a:rPr lang="en-US" sz="2800" b="1" spc="-5" dirty="0">
                <a:latin typeface="Arial"/>
                <a:cs typeface="Arial"/>
              </a:rPr>
              <a:t>at all, </a:t>
            </a:r>
            <a:r>
              <a:rPr lang="en-US" sz="2800" b="1" spc="-10" dirty="0">
                <a:latin typeface="Arial"/>
                <a:cs typeface="Arial"/>
              </a:rPr>
              <a:t>its </a:t>
            </a:r>
            <a:r>
              <a:rPr lang="en-US" sz="2800" b="1" spc="-880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frequency</a:t>
            </a:r>
            <a:r>
              <a:rPr lang="en-US" sz="2800" b="1" spc="-20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is</a:t>
            </a:r>
            <a:r>
              <a:rPr lang="en-US" sz="2800" b="1" spc="-15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zero.</a:t>
            </a:r>
            <a:endParaRPr lang="en-US" sz="2800" dirty="0">
              <a:latin typeface="Arial"/>
              <a:cs typeface="Arial"/>
            </a:endParaRPr>
          </a:p>
          <a:p>
            <a:pPr marL="290830" marR="283845">
              <a:lnSpc>
                <a:spcPct val="100000"/>
              </a:lnSpc>
              <a:spcBef>
                <a:spcPts val="5"/>
              </a:spcBef>
            </a:pPr>
            <a:r>
              <a:rPr lang="en-US" sz="2800" b="1" spc="-5" dirty="0">
                <a:latin typeface="Arial"/>
                <a:cs typeface="Arial"/>
              </a:rPr>
              <a:t>If a signal changes </a:t>
            </a:r>
            <a:r>
              <a:rPr lang="en-US" sz="2800" b="1" spc="-25" dirty="0">
                <a:latin typeface="Arial"/>
                <a:cs typeface="Arial"/>
              </a:rPr>
              <a:t>instantaneously, </a:t>
            </a:r>
            <a:r>
              <a:rPr lang="en-US" sz="2800" b="1" spc="-10" dirty="0">
                <a:latin typeface="Arial"/>
                <a:cs typeface="Arial"/>
              </a:rPr>
              <a:t>its </a:t>
            </a:r>
            <a:r>
              <a:rPr lang="en-US" sz="2800" b="1" spc="-875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frequency</a:t>
            </a:r>
            <a:r>
              <a:rPr lang="en-US" sz="2800" b="1" spc="-20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is</a:t>
            </a:r>
            <a:r>
              <a:rPr lang="en-US" sz="2800" b="1" spc="-15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infinite.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842B51-9945-2FF6-826B-43F0C6750CA9}"/>
              </a:ext>
            </a:extLst>
          </p:cNvPr>
          <p:cNvSpPr txBox="1"/>
          <p:nvPr/>
        </p:nvSpPr>
        <p:spPr>
          <a:xfrm>
            <a:off x="1518296" y="4528260"/>
            <a:ext cx="771460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08660" marR="5080" indent="-696595">
              <a:lnSpc>
                <a:spcPct val="100000"/>
              </a:lnSpc>
              <a:spcBef>
                <a:spcPts val="95"/>
              </a:spcBef>
              <a:tabLst>
                <a:tab pos="2828925" algn="l"/>
              </a:tabLst>
            </a:pPr>
            <a:r>
              <a:rPr lang="en-US" sz="2800" b="1" spc="-5" dirty="0">
                <a:latin typeface="Arial"/>
                <a:cs typeface="Arial"/>
              </a:rPr>
              <a:t>Phase</a:t>
            </a:r>
            <a:r>
              <a:rPr lang="en-US" sz="2800" b="1" spc="-20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describes</a:t>
            </a:r>
            <a:r>
              <a:rPr lang="en-US" sz="2800" b="1" spc="-20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the position</a:t>
            </a:r>
            <a:r>
              <a:rPr lang="en-US" sz="2800" b="1" spc="-25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of</a:t>
            </a:r>
            <a:r>
              <a:rPr lang="en-US" sz="2800" b="1" spc="-10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the </a:t>
            </a:r>
            <a:r>
              <a:rPr lang="en-US" sz="2800" b="1" spc="-869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waveform relative</a:t>
            </a:r>
            <a:r>
              <a:rPr lang="en-US" sz="2800" b="1" spc="-15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to</a:t>
            </a:r>
            <a:r>
              <a:rPr lang="en-US" sz="2800" b="1" spc="-10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time</a:t>
            </a:r>
            <a:r>
              <a:rPr lang="en-US" sz="2800" b="1" spc="-10" dirty="0">
                <a:latin typeface="Arial"/>
                <a:cs typeface="Arial"/>
              </a:rPr>
              <a:t> 0.</a:t>
            </a:r>
            <a:endParaRPr lang="en-US"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23747"/>
            <a:ext cx="7506334" cy="6985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535430" marR="5080" indent="-1523365">
              <a:lnSpc>
                <a:spcPct val="100600"/>
              </a:lnSpc>
              <a:spcBef>
                <a:spcPts val="8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3.5	</a:t>
            </a:r>
            <a:r>
              <a:rPr sz="2000" i="1" spc="-5" dirty="0">
                <a:latin typeface="Times New Roman"/>
                <a:cs typeface="Times New Roman"/>
              </a:rPr>
              <a:t>Three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sine waves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with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same amplitude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frequency, </a:t>
            </a:r>
            <a:r>
              <a:rPr sz="2000" i="1" spc="-484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but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different</a:t>
            </a:r>
            <a:r>
              <a:rPr sz="2000" i="1" spc="-5" dirty="0">
                <a:latin typeface="Times New Roman"/>
                <a:cs typeface="Times New Roman"/>
              </a:rPr>
              <a:t> phases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9839" y="1491995"/>
            <a:ext cx="5110734" cy="496595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13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3.6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82173" y="1817624"/>
            <a:ext cx="8454390" cy="2830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890">
              <a:lnSpc>
                <a:spcPct val="100000"/>
              </a:lnSpc>
              <a:spcBef>
                <a:spcPts val="100"/>
              </a:spcBef>
              <a:tabLst>
                <a:tab pos="1141730" algn="l"/>
                <a:tab pos="2030095" algn="l"/>
                <a:tab pos="2426970" algn="l"/>
                <a:tab pos="3390265" algn="l"/>
                <a:tab pos="4004310" algn="l"/>
                <a:tab pos="4891405" algn="l"/>
                <a:tab pos="5683885" algn="l"/>
                <a:tab pos="6867525" algn="l"/>
                <a:tab pos="7303770" algn="l"/>
                <a:tab pos="809434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sine	</a:t>
            </a:r>
            <a:r>
              <a:rPr sz="2800" b="1" i="1" spc="-10" dirty="0">
                <a:latin typeface="Times New Roman"/>
                <a:cs typeface="Times New Roman"/>
              </a:rPr>
              <a:t>wave	</a:t>
            </a:r>
            <a:r>
              <a:rPr sz="2800" b="1" i="1" spc="-5" dirty="0">
                <a:latin typeface="Times New Roman"/>
                <a:cs typeface="Times New Roman"/>
              </a:rPr>
              <a:t>is	</a:t>
            </a:r>
            <a:r>
              <a:rPr sz="2800" b="1" i="1" spc="-15" dirty="0">
                <a:latin typeface="Times New Roman"/>
                <a:cs typeface="Times New Roman"/>
              </a:rPr>
              <a:t>offset	</a:t>
            </a:r>
            <a:r>
              <a:rPr sz="2800" b="1" i="1" spc="-5" dirty="0">
                <a:latin typeface="Times New Roman"/>
                <a:cs typeface="Times New Roman"/>
              </a:rPr>
              <a:t>1/6	cycle	with	</a:t>
            </a:r>
            <a:r>
              <a:rPr sz="2800" b="1" i="1" spc="-10" dirty="0">
                <a:latin typeface="Times New Roman"/>
                <a:cs typeface="Times New Roman"/>
              </a:rPr>
              <a:t>respect	</a:t>
            </a:r>
            <a:r>
              <a:rPr sz="2800" b="1" i="1" spc="-5" dirty="0">
                <a:latin typeface="Times New Roman"/>
                <a:cs typeface="Times New Roman"/>
              </a:rPr>
              <a:t>to	time	</a:t>
            </a:r>
            <a:r>
              <a:rPr sz="2800" b="1" i="1" dirty="0">
                <a:latin typeface="Times New Roman"/>
                <a:cs typeface="Times New Roman"/>
              </a:rPr>
              <a:t>0.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What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its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phase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degrees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radians?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55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88900" marR="5080">
              <a:lnSpc>
                <a:spcPct val="100000"/>
              </a:lnSpc>
              <a:tabLst>
                <a:tab pos="682625" algn="l"/>
                <a:tab pos="1619885" algn="l"/>
                <a:tab pos="2340610" algn="l"/>
                <a:tab pos="2666365" algn="l"/>
                <a:tab pos="4116070" algn="l"/>
                <a:tab pos="4993005" algn="l"/>
                <a:tab pos="5377815" algn="l"/>
                <a:tab pos="6290310" algn="l"/>
                <a:tab pos="7987030" algn="l"/>
              </a:tabLst>
            </a:pPr>
            <a:r>
              <a:rPr sz="2800" b="1" i="1" spc="-215" dirty="0">
                <a:latin typeface="Times New Roman"/>
                <a:cs typeface="Times New Roman"/>
              </a:rPr>
              <a:t>W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kno</a:t>
            </a:r>
            <a:r>
              <a:rPr sz="2800" b="1" i="1" dirty="0">
                <a:latin typeface="Times New Roman"/>
                <a:cs typeface="Times New Roman"/>
              </a:rPr>
              <a:t>w	</a:t>
            </a:r>
            <a:r>
              <a:rPr sz="2800" b="1" i="1" spc="-5" dirty="0">
                <a:latin typeface="Times New Roman"/>
                <a:cs typeface="Times New Roman"/>
              </a:rPr>
              <a:t>tha</a:t>
            </a:r>
            <a:r>
              <a:rPr sz="2800" b="1" i="1" dirty="0">
                <a:latin typeface="Times New Roman"/>
                <a:cs typeface="Times New Roman"/>
              </a:rPr>
              <a:t>t	1	</a:t>
            </a:r>
            <a:r>
              <a:rPr sz="2800" b="1" i="1" spc="-10" dirty="0">
                <a:latin typeface="Times New Roman"/>
                <a:cs typeface="Times New Roman"/>
              </a:rPr>
              <a:t>c</a:t>
            </a:r>
            <a:r>
              <a:rPr sz="2800" b="1" i="1" spc="-5" dirty="0">
                <a:latin typeface="Times New Roman"/>
                <a:cs typeface="Times New Roman"/>
              </a:rPr>
              <a:t>omplet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cycl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360°</a:t>
            </a:r>
            <a:r>
              <a:rPr sz="2800" b="1" i="1" dirty="0">
                <a:latin typeface="Times New Roman"/>
                <a:cs typeface="Times New Roman"/>
              </a:rPr>
              <a:t>.	</a:t>
            </a:r>
            <a:r>
              <a:rPr sz="2800" b="1" i="1" spc="-5" dirty="0">
                <a:latin typeface="Times New Roman"/>
                <a:cs typeface="Times New Roman"/>
              </a:rPr>
              <a:t>Therefore</a:t>
            </a:r>
            <a:r>
              <a:rPr sz="2800" b="1" i="1" dirty="0">
                <a:latin typeface="Times New Roman"/>
                <a:cs typeface="Times New Roman"/>
              </a:rPr>
              <a:t>,	</a:t>
            </a:r>
            <a:r>
              <a:rPr sz="2800" b="1" i="1" spc="-5" dirty="0">
                <a:latin typeface="Times New Roman"/>
                <a:cs typeface="Times New Roman"/>
              </a:rPr>
              <a:t>1/6  cycle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86291" y="4853178"/>
            <a:ext cx="5721985" cy="734695"/>
            <a:chOff x="2486291" y="4853178"/>
            <a:chExt cx="5721985" cy="73469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43441" y="4910328"/>
              <a:ext cx="5607558" cy="58216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486291" y="4853178"/>
              <a:ext cx="5721985" cy="639445"/>
            </a:xfrm>
            <a:custGeom>
              <a:avLst/>
              <a:gdLst/>
              <a:ahLst/>
              <a:cxnLst/>
              <a:rect l="l" t="t" r="r" b="b"/>
              <a:pathLst>
                <a:path w="5721985" h="639445">
                  <a:moveTo>
                    <a:pt x="5721858" y="639318"/>
                  </a:moveTo>
                  <a:lnTo>
                    <a:pt x="5721858" y="0"/>
                  </a:lnTo>
                  <a:lnTo>
                    <a:pt x="0" y="0"/>
                  </a:lnTo>
                  <a:lnTo>
                    <a:pt x="0" y="639318"/>
                  </a:lnTo>
                  <a:lnTo>
                    <a:pt x="28956" y="639318"/>
                  </a:lnTo>
                  <a:lnTo>
                    <a:pt x="28956" y="57150"/>
                  </a:lnTo>
                  <a:lnTo>
                    <a:pt x="57149" y="28194"/>
                  </a:lnTo>
                  <a:lnTo>
                    <a:pt x="57149" y="57150"/>
                  </a:lnTo>
                  <a:lnTo>
                    <a:pt x="5664695" y="57150"/>
                  </a:lnTo>
                  <a:lnTo>
                    <a:pt x="5664695" y="28194"/>
                  </a:lnTo>
                  <a:lnTo>
                    <a:pt x="5692901" y="57150"/>
                  </a:lnTo>
                  <a:lnTo>
                    <a:pt x="5692901" y="639318"/>
                  </a:lnTo>
                  <a:lnTo>
                    <a:pt x="5721858" y="639318"/>
                  </a:lnTo>
                  <a:close/>
                </a:path>
                <a:path w="5721985" h="639445">
                  <a:moveTo>
                    <a:pt x="57149" y="57150"/>
                  </a:moveTo>
                  <a:lnTo>
                    <a:pt x="57149" y="28194"/>
                  </a:lnTo>
                  <a:lnTo>
                    <a:pt x="28956" y="57150"/>
                  </a:lnTo>
                  <a:lnTo>
                    <a:pt x="57149" y="57150"/>
                  </a:lnTo>
                  <a:close/>
                </a:path>
                <a:path w="5721985" h="639445">
                  <a:moveTo>
                    <a:pt x="57149" y="639318"/>
                  </a:moveTo>
                  <a:lnTo>
                    <a:pt x="57149" y="57150"/>
                  </a:lnTo>
                  <a:lnTo>
                    <a:pt x="28956" y="57150"/>
                  </a:lnTo>
                  <a:lnTo>
                    <a:pt x="28956" y="639318"/>
                  </a:lnTo>
                  <a:lnTo>
                    <a:pt x="57149" y="639318"/>
                  </a:lnTo>
                  <a:close/>
                </a:path>
                <a:path w="5721985" h="639445">
                  <a:moveTo>
                    <a:pt x="5692901" y="57150"/>
                  </a:moveTo>
                  <a:lnTo>
                    <a:pt x="5664695" y="28194"/>
                  </a:lnTo>
                  <a:lnTo>
                    <a:pt x="5664695" y="57150"/>
                  </a:lnTo>
                  <a:lnTo>
                    <a:pt x="5692901" y="57150"/>
                  </a:lnTo>
                  <a:close/>
                </a:path>
                <a:path w="5721985" h="639445">
                  <a:moveTo>
                    <a:pt x="5692901" y="639318"/>
                  </a:moveTo>
                  <a:lnTo>
                    <a:pt x="5692901" y="57150"/>
                  </a:lnTo>
                  <a:lnTo>
                    <a:pt x="5664695" y="57150"/>
                  </a:lnTo>
                  <a:lnTo>
                    <a:pt x="5664695" y="639318"/>
                  </a:lnTo>
                  <a:lnTo>
                    <a:pt x="5692901" y="639318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43441" y="5491734"/>
              <a:ext cx="5607558" cy="3886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486291" y="5492496"/>
              <a:ext cx="5721985" cy="95250"/>
            </a:xfrm>
            <a:custGeom>
              <a:avLst/>
              <a:gdLst/>
              <a:ahLst/>
              <a:cxnLst/>
              <a:rect l="l" t="t" r="r" b="b"/>
              <a:pathLst>
                <a:path w="5721984" h="95250">
                  <a:moveTo>
                    <a:pt x="57150" y="38100"/>
                  </a:moveTo>
                  <a:lnTo>
                    <a:pt x="57150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28956" y="95250"/>
                  </a:lnTo>
                  <a:lnTo>
                    <a:pt x="28956" y="38100"/>
                  </a:lnTo>
                  <a:lnTo>
                    <a:pt x="57150" y="38100"/>
                  </a:lnTo>
                  <a:close/>
                </a:path>
                <a:path w="5721984" h="95250">
                  <a:moveTo>
                    <a:pt x="5692902" y="38100"/>
                  </a:moveTo>
                  <a:lnTo>
                    <a:pt x="28956" y="38100"/>
                  </a:lnTo>
                  <a:lnTo>
                    <a:pt x="57150" y="67056"/>
                  </a:lnTo>
                  <a:lnTo>
                    <a:pt x="57150" y="95250"/>
                  </a:lnTo>
                  <a:lnTo>
                    <a:pt x="5664695" y="95250"/>
                  </a:lnTo>
                  <a:lnTo>
                    <a:pt x="5664695" y="67055"/>
                  </a:lnTo>
                  <a:lnTo>
                    <a:pt x="5692902" y="38100"/>
                  </a:lnTo>
                  <a:close/>
                </a:path>
                <a:path w="5721984" h="95250">
                  <a:moveTo>
                    <a:pt x="57150" y="95250"/>
                  </a:moveTo>
                  <a:lnTo>
                    <a:pt x="57150" y="67056"/>
                  </a:lnTo>
                  <a:lnTo>
                    <a:pt x="28956" y="38100"/>
                  </a:lnTo>
                  <a:lnTo>
                    <a:pt x="28956" y="95250"/>
                  </a:lnTo>
                  <a:lnTo>
                    <a:pt x="57150" y="95250"/>
                  </a:lnTo>
                  <a:close/>
                </a:path>
                <a:path w="5721984" h="95250">
                  <a:moveTo>
                    <a:pt x="5721858" y="95250"/>
                  </a:moveTo>
                  <a:lnTo>
                    <a:pt x="5721858" y="0"/>
                  </a:lnTo>
                  <a:lnTo>
                    <a:pt x="5664695" y="0"/>
                  </a:lnTo>
                  <a:lnTo>
                    <a:pt x="5664695" y="38100"/>
                  </a:lnTo>
                  <a:lnTo>
                    <a:pt x="5692902" y="38100"/>
                  </a:lnTo>
                  <a:lnTo>
                    <a:pt x="5692902" y="95250"/>
                  </a:lnTo>
                  <a:lnTo>
                    <a:pt x="5721858" y="95250"/>
                  </a:lnTo>
                  <a:close/>
                </a:path>
                <a:path w="5721984" h="95250">
                  <a:moveTo>
                    <a:pt x="5692902" y="95250"/>
                  </a:moveTo>
                  <a:lnTo>
                    <a:pt x="5692902" y="38100"/>
                  </a:lnTo>
                  <a:lnTo>
                    <a:pt x="5664695" y="67055"/>
                  </a:lnTo>
                  <a:lnTo>
                    <a:pt x="5664695" y="95250"/>
                  </a:lnTo>
                  <a:lnTo>
                    <a:pt x="5692902" y="9525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14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898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3.6	</a:t>
            </a:r>
            <a:r>
              <a:rPr sz="2000" i="1" spc="-20" dirty="0">
                <a:latin typeface="Times New Roman"/>
                <a:cs typeface="Times New Roman"/>
              </a:rPr>
              <a:t>Wavelength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period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3127248"/>
            <a:ext cx="8034528" cy="200558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15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539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828547"/>
            <a:ext cx="78174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20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3.7	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time-domain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frequency-domain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plots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sine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wave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4066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341" y="1796795"/>
            <a:ext cx="7056881" cy="462000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16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634995"/>
            <a:ext cx="1143000" cy="2857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6558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4839" y="2919983"/>
            <a:ext cx="9144000" cy="1715770"/>
            <a:chOff x="774839" y="2919983"/>
            <a:chExt cx="9144000" cy="1715770"/>
          </a:xfrm>
        </p:grpSpPr>
        <p:sp>
          <p:nvSpPr>
            <p:cNvPr id="10" name="object 10"/>
            <p:cNvSpPr/>
            <p:nvPr/>
          </p:nvSpPr>
          <p:spPr>
            <a:xfrm>
              <a:off x="774839" y="291998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2039" y="32826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2039" y="2920745"/>
              <a:ext cx="1143000" cy="28117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74839" y="377724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70139" y="3412997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420370" marR="413384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A </a:t>
            </a:r>
            <a:r>
              <a:rPr sz="3200" b="1" spc="-10" dirty="0">
                <a:latin typeface="Arial"/>
                <a:cs typeface="Arial"/>
              </a:rPr>
              <a:t>complete </a:t>
            </a:r>
            <a:r>
              <a:rPr sz="3200" b="1" spc="-5" dirty="0">
                <a:latin typeface="Arial"/>
                <a:cs typeface="Arial"/>
              </a:rPr>
              <a:t>sine wave in the </a:t>
            </a:r>
            <a:r>
              <a:rPr sz="3200" b="1" spc="-10" dirty="0">
                <a:latin typeface="Arial"/>
                <a:cs typeface="Arial"/>
              </a:rPr>
              <a:t>time 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domain </a:t>
            </a:r>
            <a:r>
              <a:rPr sz="3200" b="1" spc="-5" dirty="0">
                <a:latin typeface="Arial"/>
                <a:cs typeface="Arial"/>
              </a:rPr>
              <a:t>can be </a:t>
            </a:r>
            <a:r>
              <a:rPr sz="3200" b="1" spc="-10" dirty="0">
                <a:latin typeface="Arial"/>
                <a:cs typeface="Arial"/>
              </a:rPr>
              <a:t>represented </a:t>
            </a:r>
            <a:r>
              <a:rPr sz="3200" b="1" spc="-5" dirty="0">
                <a:latin typeface="Arial"/>
                <a:cs typeface="Arial"/>
              </a:rPr>
              <a:t>by </a:t>
            </a:r>
            <a:r>
              <a:rPr sz="3200" b="1" spc="-10" dirty="0">
                <a:latin typeface="Arial"/>
                <a:cs typeface="Arial"/>
              </a:rPr>
              <a:t>one </a:t>
            </a:r>
            <a:r>
              <a:rPr sz="3200" b="1" spc="-5" dirty="0">
                <a:latin typeface="Arial"/>
                <a:cs typeface="Arial"/>
              </a:rPr>
              <a:t> single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spike</a:t>
            </a:r>
            <a:r>
              <a:rPr sz="3200" b="1" spc="-5" dirty="0">
                <a:latin typeface="Arial"/>
                <a:cs typeface="Arial"/>
              </a:rPr>
              <a:t> in 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frequency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domain.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34325" y="50352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17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3.7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91999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819910"/>
            <a:ext cx="8377555" cy="2583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99900"/>
              </a:lnSpc>
              <a:spcBef>
                <a:spcPts val="105"/>
              </a:spcBef>
            </a:pPr>
            <a:r>
              <a:rPr sz="2800" b="1" i="1" spc="-5" dirty="0">
                <a:latin typeface="Arial"/>
                <a:cs typeface="Arial"/>
              </a:rPr>
              <a:t>The</a:t>
            </a:r>
            <a:r>
              <a:rPr sz="2800" b="1" i="1" dirty="0">
                <a:latin typeface="Arial"/>
                <a:cs typeface="Arial"/>
              </a:rPr>
              <a:t> frequency</a:t>
            </a:r>
            <a:r>
              <a:rPr sz="2800" b="1" i="1" spc="5" dirty="0">
                <a:latin typeface="Arial"/>
                <a:cs typeface="Arial"/>
              </a:rPr>
              <a:t> </a:t>
            </a:r>
            <a:r>
              <a:rPr sz="2800" b="1" i="1" spc="-5" dirty="0">
                <a:latin typeface="Arial"/>
                <a:cs typeface="Arial"/>
              </a:rPr>
              <a:t>domain</a:t>
            </a:r>
            <a:r>
              <a:rPr sz="2800" b="1" i="1" dirty="0">
                <a:latin typeface="Arial"/>
                <a:cs typeface="Arial"/>
              </a:rPr>
              <a:t> is</a:t>
            </a:r>
            <a:r>
              <a:rPr sz="2800" b="1" i="1" spc="5" dirty="0">
                <a:latin typeface="Arial"/>
                <a:cs typeface="Arial"/>
              </a:rPr>
              <a:t> </a:t>
            </a:r>
            <a:r>
              <a:rPr sz="2800" b="1" i="1" spc="-5" dirty="0">
                <a:latin typeface="Arial"/>
                <a:cs typeface="Arial"/>
              </a:rPr>
              <a:t>more</a:t>
            </a:r>
            <a:r>
              <a:rPr sz="2800" b="1" i="1" dirty="0">
                <a:latin typeface="Arial"/>
                <a:cs typeface="Arial"/>
              </a:rPr>
              <a:t> compact</a:t>
            </a:r>
            <a:r>
              <a:rPr sz="2800" b="1" i="1" spc="5" dirty="0">
                <a:latin typeface="Arial"/>
                <a:cs typeface="Arial"/>
              </a:rPr>
              <a:t> and </a:t>
            </a:r>
            <a:r>
              <a:rPr sz="2800" b="1" i="1" spc="10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useful when we are dealing with </a:t>
            </a:r>
            <a:r>
              <a:rPr sz="2800" b="1" i="1" spc="-5" dirty="0">
                <a:latin typeface="Arial"/>
                <a:cs typeface="Arial"/>
              </a:rPr>
              <a:t>more </a:t>
            </a:r>
            <a:r>
              <a:rPr sz="2800" b="1" i="1" dirty="0">
                <a:latin typeface="Arial"/>
                <a:cs typeface="Arial"/>
              </a:rPr>
              <a:t>than one </a:t>
            </a:r>
            <a:r>
              <a:rPr sz="2800" b="1" i="1" spc="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sine wave. </a:t>
            </a:r>
            <a:r>
              <a:rPr sz="2800" b="1" i="1" spc="-5" dirty="0">
                <a:latin typeface="Arial"/>
                <a:cs typeface="Arial"/>
              </a:rPr>
              <a:t>For example, Figure </a:t>
            </a:r>
            <a:r>
              <a:rPr sz="2800" b="1" i="1" dirty="0">
                <a:latin typeface="Arial"/>
                <a:cs typeface="Arial"/>
              </a:rPr>
              <a:t>3.8 </a:t>
            </a:r>
            <a:r>
              <a:rPr sz="2800" b="1" i="1" spc="-5" dirty="0">
                <a:latin typeface="Arial"/>
                <a:cs typeface="Arial"/>
              </a:rPr>
              <a:t>shows </a:t>
            </a:r>
            <a:r>
              <a:rPr sz="2800" b="1" i="1" dirty="0">
                <a:latin typeface="Arial"/>
                <a:cs typeface="Arial"/>
              </a:rPr>
              <a:t>three </a:t>
            </a:r>
            <a:r>
              <a:rPr sz="2800" b="1" i="1" spc="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sine</a:t>
            </a:r>
            <a:r>
              <a:rPr sz="2800" b="1" i="1" spc="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waves,</a:t>
            </a:r>
            <a:r>
              <a:rPr sz="2800" b="1" i="1" spc="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each</a:t>
            </a:r>
            <a:r>
              <a:rPr sz="2800" b="1" i="1" spc="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with</a:t>
            </a:r>
            <a:r>
              <a:rPr sz="2800" b="1" i="1" spc="5" dirty="0">
                <a:latin typeface="Arial"/>
                <a:cs typeface="Arial"/>
              </a:rPr>
              <a:t> </a:t>
            </a:r>
            <a:r>
              <a:rPr sz="2800" b="1" i="1" spc="-5" dirty="0">
                <a:latin typeface="Arial"/>
                <a:cs typeface="Arial"/>
              </a:rPr>
              <a:t>different</a:t>
            </a:r>
            <a:r>
              <a:rPr sz="2800" b="1" i="1" dirty="0">
                <a:latin typeface="Arial"/>
                <a:cs typeface="Arial"/>
              </a:rPr>
              <a:t> amplitude</a:t>
            </a:r>
            <a:r>
              <a:rPr sz="2800" b="1" i="1" spc="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and </a:t>
            </a:r>
            <a:r>
              <a:rPr sz="2800" b="1" i="1" spc="-765" dirty="0">
                <a:latin typeface="Arial"/>
                <a:cs typeface="Arial"/>
              </a:rPr>
              <a:t> </a:t>
            </a:r>
            <a:r>
              <a:rPr sz="2800" b="1" i="1" spc="-10" dirty="0">
                <a:latin typeface="Arial"/>
                <a:cs typeface="Arial"/>
              </a:rPr>
              <a:t>frequency.</a:t>
            </a:r>
            <a:r>
              <a:rPr sz="2800" b="1" i="1" spc="73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All</a:t>
            </a:r>
            <a:r>
              <a:rPr sz="2800" b="1" i="1" spc="72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can</a:t>
            </a:r>
            <a:r>
              <a:rPr sz="2800" b="1" i="1" spc="745" dirty="0">
                <a:latin typeface="Arial"/>
                <a:cs typeface="Arial"/>
              </a:rPr>
              <a:t> </a:t>
            </a:r>
            <a:r>
              <a:rPr sz="2800" b="1" i="1" spc="-5" dirty="0">
                <a:latin typeface="Arial"/>
                <a:cs typeface="Arial"/>
              </a:rPr>
              <a:t>be</a:t>
            </a:r>
            <a:r>
              <a:rPr sz="2800" b="1" i="1" spc="740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represented</a:t>
            </a:r>
            <a:r>
              <a:rPr sz="2800" b="1" i="1" spc="740" dirty="0">
                <a:latin typeface="Arial"/>
                <a:cs typeface="Arial"/>
              </a:rPr>
              <a:t> </a:t>
            </a:r>
            <a:r>
              <a:rPr sz="2800" b="1" i="1" spc="-5" dirty="0">
                <a:latin typeface="Arial"/>
                <a:cs typeface="Arial"/>
              </a:rPr>
              <a:t>by</a:t>
            </a:r>
            <a:r>
              <a:rPr sz="2800" b="1" i="1" spc="74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three </a:t>
            </a:r>
            <a:r>
              <a:rPr sz="2800" b="1" i="1" spc="-770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spikes</a:t>
            </a:r>
            <a:r>
              <a:rPr sz="2800" b="1" i="1" spc="-10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in</a:t>
            </a:r>
            <a:r>
              <a:rPr sz="2800" b="1" i="1" spc="-10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the</a:t>
            </a:r>
            <a:r>
              <a:rPr sz="2800" b="1" i="1" spc="-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frequency</a:t>
            </a:r>
            <a:r>
              <a:rPr sz="2800" b="1" i="1" spc="15" dirty="0">
                <a:latin typeface="Arial"/>
                <a:cs typeface="Arial"/>
              </a:rPr>
              <a:t> </a:t>
            </a:r>
            <a:r>
              <a:rPr sz="2800" b="1" i="1" dirty="0">
                <a:latin typeface="Arial"/>
                <a:cs typeface="Arial"/>
              </a:rPr>
              <a:t>domain.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18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7727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3.8	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time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domain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frequency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domain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three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sine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waves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439" y="2330195"/>
            <a:ext cx="8583930" cy="315467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19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20</a:t>
            </a:fld>
            <a:endParaRPr spc="-5" dirty="0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EBF1E9-EED2-92EA-8B86-372A57F082D9}"/>
              </a:ext>
            </a:extLst>
          </p:cNvPr>
          <p:cNvSpPr txBox="1"/>
          <p:nvPr/>
        </p:nvSpPr>
        <p:spPr>
          <a:xfrm>
            <a:off x="1475611" y="1114425"/>
            <a:ext cx="71668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8330" marR="600710" algn="ctr">
              <a:lnSpc>
                <a:spcPct val="100000"/>
              </a:lnSpc>
              <a:spcBef>
                <a:spcPts val="275"/>
              </a:spcBef>
            </a:pPr>
            <a:r>
              <a:rPr lang="en-US" sz="2400" b="1" spc="-5" dirty="0">
                <a:latin typeface="Arial"/>
                <a:cs typeface="Arial"/>
              </a:rPr>
              <a:t>A</a:t>
            </a:r>
            <a:r>
              <a:rPr lang="en-US" sz="2400" b="1" spc="-140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single-frequency</a:t>
            </a:r>
            <a:r>
              <a:rPr lang="en-US" sz="2400" b="1" spc="-40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sine</a:t>
            </a:r>
            <a:r>
              <a:rPr lang="en-US" sz="2400" b="1" spc="-35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wave</a:t>
            </a:r>
            <a:r>
              <a:rPr lang="en-US" sz="2400" b="1" spc="-25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is</a:t>
            </a:r>
            <a:r>
              <a:rPr lang="en-US" sz="2400" b="1" spc="-15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not </a:t>
            </a:r>
            <a:r>
              <a:rPr lang="en-US" sz="2400" b="1" spc="-875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useful</a:t>
            </a:r>
            <a:r>
              <a:rPr lang="en-US" sz="2400" b="1" spc="-20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in</a:t>
            </a:r>
            <a:r>
              <a:rPr lang="en-US" sz="2400" b="1" spc="-15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data</a:t>
            </a:r>
            <a:r>
              <a:rPr lang="en-US" sz="2400" b="1" spc="-15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communications;</a:t>
            </a:r>
            <a:endParaRPr lang="en-US" sz="2400" dirty="0">
              <a:latin typeface="Arial"/>
              <a:cs typeface="Arial"/>
            </a:endParaRPr>
          </a:p>
          <a:p>
            <a:pPr marL="147955" marR="143510" indent="3175" algn="ctr">
              <a:lnSpc>
                <a:spcPct val="100000"/>
              </a:lnSpc>
            </a:pPr>
            <a:r>
              <a:rPr lang="en-US" sz="2400" b="1" spc="-5" dirty="0">
                <a:latin typeface="Arial"/>
                <a:cs typeface="Arial"/>
              </a:rPr>
              <a:t>we need to send a composite signal, a </a:t>
            </a:r>
            <a:r>
              <a:rPr lang="en-US" sz="2400" b="1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signal</a:t>
            </a:r>
            <a:r>
              <a:rPr lang="en-US" sz="2400" b="1" spc="-35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made </a:t>
            </a:r>
            <a:r>
              <a:rPr lang="en-US" sz="2400" b="1" spc="-5" dirty="0">
                <a:latin typeface="Arial"/>
                <a:cs typeface="Arial"/>
              </a:rPr>
              <a:t>of</a:t>
            </a:r>
            <a:r>
              <a:rPr lang="en-US" sz="2400" b="1" spc="-10" dirty="0">
                <a:latin typeface="Arial"/>
                <a:cs typeface="Arial"/>
              </a:rPr>
              <a:t> many simple </a:t>
            </a:r>
            <a:r>
              <a:rPr lang="en-US" sz="2400" b="1" spc="-5" dirty="0">
                <a:latin typeface="Arial"/>
                <a:cs typeface="Arial"/>
              </a:rPr>
              <a:t>sine</a:t>
            </a:r>
            <a:r>
              <a:rPr lang="en-US" sz="2400" b="1" spc="-15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waves.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908D2C-386A-0C81-8E3B-D0F579CCBE2F}"/>
              </a:ext>
            </a:extLst>
          </p:cNvPr>
          <p:cNvSpPr txBox="1"/>
          <p:nvPr/>
        </p:nvSpPr>
        <p:spPr>
          <a:xfrm>
            <a:off x="1265567" y="2953992"/>
            <a:ext cx="71668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marR="5080" indent="-3175" algn="ctr">
              <a:lnSpc>
                <a:spcPct val="100000"/>
              </a:lnSpc>
              <a:spcBef>
                <a:spcPts val="95"/>
              </a:spcBef>
            </a:pPr>
            <a:r>
              <a:rPr lang="en-US" sz="2000" b="1" spc="-5" dirty="0">
                <a:latin typeface="Arial"/>
                <a:cs typeface="Arial"/>
              </a:rPr>
              <a:t>According to Fourier </a:t>
            </a:r>
            <a:r>
              <a:rPr lang="en-US" sz="2000" b="1" spc="-10" dirty="0">
                <a:latin typeface="Arial"/>
                <a:cs typeface="Arial"/>
              </a:rPr>
              <a:t>analysis, any </a:t>
            </a:r>
            <a:r>
              <a:rPr lang="en-US" sz="2000" b="1" spc="-5" dirty="0">
                <a:latin typeface="Arial"/>
                <a:cs typeface="Arial"/>
              </a:rPr>
              <a:t> composite signal is a combination of </a:t>
            </a:r>
            <a:r>
              <a:rPr lang="en-US" sz="2000" b="1" spc="-875" dirty="0">
                <a:latin typeface="Arial"/>
                <a:cs typeface="Arial"/>
              </a:rPr>
              <a:t> </a:t>
            </a:r>
            <a:r>
              <a:rPr lang="en-US" sz="2000" b="1" spc="-10" dirty="0">
                <a:latin typeface="Arial"/>
                <a:cs typeface="Arial"/>
              </a:rPr>
              <a:t>simple </a:t>
            </a:r>
            <a:r>
              <a:rPr lang="en-US" sz="2000" b="1" spc="-5" dirty="0">
                <a:latin typeface="Arial"/>
                <a:cs typeface="Arial"/>
              </a:rPr>
              <a:t>sine </a:t>
            </a:r>
            <a:r>
              <a:rPr lang="en-US" sz="2000" b="1" spc="-10" dirty="0">
                <a:latin typeface="Arial"/>
                <a:cs typeface="Arial"/>
              </a:rPr>
              <a:t>waves </a:t>
            </a:r>
            <a:r>
              <a:rPr lang="en-US" sz="2000" b="1" spc="-5" dirty="0">
                <a:latin typeface="Arial"/>
                <a:cs typeface="Arial"/>
              </a:rPr>
              <a:t>with </a:t>
            </a:r>
            <a:r>
              <a:rPr lang="en-US" sz="2000" b="1" spc="-10" dirty="0">
                <a:latin typeface="Arial"/>
                <a:cs typeface="Arial"/>
              </a:rPr>
              <a:t>different </a:t>
            </a:r>
            <a:r>
              <a:rPr lang="en-US" sz="2000" b="1" spc="-5" dirty="0">
                <a:latin typeface="Arial"/>
                <a:cs typeface="Arial"/>
              </a:rPr>
              <a:t> frequencies,</a:t>
            </a:r>
            <a:r>
              <a:rPr lang="en-US" sz="2000" b="1" spc="-5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amplitudes,</a:t>
            </a:r>
            <a:r>
              <a:rPr lang="en-US" sz="2000" b="1" spc="-3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and</a:t>
            </a:r>
            <a:r>
              <a:rPr lang="en-US" sz="2000" b="1" spc="-4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phases.</a:t>
            </a:r>
            <a:endParaRPr lang="en-US" sz="2000" dirty="0">
              <a:latin typeface="Arial"/>
              <a:cs typeface="Arial"/>
            </a:endParaRPr>
          </a:p>
          <a:p>
            <a:pPr marL="553720" marR="546735" algn="ctr">
              <a:lnSpc>
                <a:spcPct val="100000"/>
              </a:lnSpc>
            </a:pPr>
            <a:r>
              <a:rPr lang="en-US" sz="2000" b="1" spc="-10" dirty="0">
                <a:latin typeface="Arial"/>
                <a:cs typeface="Arial"/>
              </a:rPr>
              <a:t>Fourier analysis </a:t>
            </a:r>
            <a:r>
              <a:rPr lang="en-US" sz="2000" b="1" spc="-5" dirty="0">
                <a:latin typeface="Arial"/>
                <a:cs typeface="Arial"/>
              </a:rPr>
              <a:t>is </a:t>
            </a:r>
            <a:r>
              <a:rPr lang="en-US" sz="2000" b="1" spc="-10" dirty="0">
                <a:latin typeface="Arial"/>
                <a:cs typeface="Arial"/>
              </a:rPr>
              <a:t>discussed in </a:t>
            </a:r>
            <a:r>
              <a:rPr lang="en-US" sz="2000" b="1" spc="-87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Appendix</a:t>
            </a:r>
            <a:r>
              <a:rPr lang="en-US" sz="2000" b="1" spc="-3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C.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80A603-CF5E-0ACF-FC96-A2DE3B1D0F5B}"/>
              </a:ext>
            </a:extLst>
          </p:cNvPr>
          <p:cNvSpPr txBox="1"/>
          <p:nvPr/>
        </p:nvSpPr>
        <p:spPr>
          <a:xfrm>
            <a:off x="1265567" y="4694099"/>
            <a:ext cx="84245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marR="5080" indent="1270" algn="ctr">
              <a:lnSpc>
                <a:spcPct val="100000"/>
              </a:lnSpc>
              <a:spcBef>
                <a:spcPts val="95"/>
              </a:spcBef>
            </a:pPr>
            <a:r>
              <a:rPr lang="en-US" sz="2000" b="1" spc="-5" dirty="0">
                <a:latin typeface="Arial"/>
                <a:cs typeface="Arial"/>
              </a:rPr>
              <a:t>If the composite signal is periodic, the 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US" sz="2000" b="1" spc="-10" dirty="0">
                <a:latin typeface="Arial"/>
                <a:cs typeface="Arial"/>
              </a:rPr>
              <a:t>decomposition</a:t>
            </a:r>
            <a:r>
              <a:rPr lang="en-US" sz="2000" b="1" spc="-25" dirty="0">
                <a:latin typeface="Arial"/>
                <a:cs typeface="Arial"/>
              </a:rPr>
              <a:t> </a:t>
            </a:r>
            <a:r>
              <a:rPr lang="en-US" sz="2000" b="1" spc="-10" dirty="0">
                <a:latin typeface="Arial"/>
                <a:cs typeface="Arial"/>
              </a:rPr>
              <a:t>gives</a:t>
            </a:r>
            <a:r>
              <a:rPr lang="en-US" sz="2000" b="1" spc="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a</a:t>
            </a:r>
            <a:r>
              <a:rPr lang="en-US" sz="2000" b="1" spc="5" dirty="0">
                <a:latin typeface="Arial"/>
                <a:cs typeface="Arial"/>
              </a:rPr>
              <a:t> </a:t>
            </a:r>
            <a:r>
              <a:rPr lang="en-US" sz="2000" b="1" spc="-10" dirty="0">
                <a:latin typeface="Arial"/>
                <a:cs typeface="Arial"/>
              </a:rPr>
              <a:t>series</a:t>
            </a:r>
            <a:r>
              <a:rPr lang="en-US" sz="2000" b="1" spc="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of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US" sz="2000" b="1" spc="-10" dirty="0">
                <a:latin typeface="Arial"/>
                <a:cs typeface="Arial"/>
              </a:rPr>
              <a:t>signals </a:t>
            </a:r>
            <a:r>
              <a:rPr lang="en-US" sz="2000" b="1" spc="-869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with</a:t>
            </a:r>
            <a:r>
              <a:rPr lang="en-US" sz="2000" b="1" spc="-20" dirty="0">
                <a:latin typeface="Arial"/>
                <a:cs typeface="Arial"/>
              </a:rPr>
              <a:t> </a:t>
            </a:r>
            <a:r>
              <a:rPr lang="en-US" sz="2000" b="1" spc="-10" dirty="0">
                <a:latin typeface="Arial"/>
                <a:cs typeface="Arial"/>
              </a:rPr>
              <a:t>discrete </a:t>
            </a:r>
            <a:r>
              <a:rPr lang="en-US" sz="2000" b="1" spc="-5" dirty="0">
                <a:latin typeface="Arial"/>
                <a:cs typeface="Arial"/>
              </a:rPr>
              <a:t>frequencies;</a:t>
            </a:r>
            <a:endParaRPr lang="en-US" sz="2000" dirty="0">
              <a:latin typeface="Arial"/>
              <a:cs typeface="Arial"/>
            </a:endParaRPr>
          </a:p>
          <a:p>
            <a:pPr marL="34290" marR="26034" indent="-1905" algn="ctr">
              <a:lnSpc>
                <a:spcPct val="100000"/>
              </a:lnSpc>
            </a:pPr>
            <a:r>
              <a:rPr lang="en-US" sz="2000" b="1" spc="-5" dirty="0">
                <a:latin typeface="Arial"/>
                <a:cs typeface="Arial"/>
              </a:rPr>
              <a:t>if the </a:t>
            </a:r>
            <a:r>
              <a:rPr lang="en-US" sz="2000" b="1" spc="-10" dirty="0">
                <a:latin typeface="Arial"/>
                <a:cs typeface="Arial"/>
              </a:rPr>
              <a:t>composite </a:t>
            </a:r>
            <a:r>
              <a:rPr lang="en-US" sz="2000" b="1" spc="-5" dirty="0">
                <a:latin typeface="Arial"/>
                <a:cs typeface="Arial"/>
              </a:rPr>
              <a:t>signal is </a:t>
            </a:r>
            <a:r>
              <a:rPr lang="en-US" sz="2000" b="1" spc="-10" dirty="0">
                <a:latin typeface="Arial"/>
                <a:cs typeface="Arial"/>
              </a:rPr>
              <a:t>nonperiodic, </a:t>
            </a:r>
            <a:r>
              <a:rPr lang="en-US" sz="2000" b="1" spc="-5" dirty="0">
                <a:latin typeface="Arial"/>
                <a:cs typeface="Arial"/>
              </a:rPr>
              <a:t> the </a:t>
            </a:r>
            <a:r>
              <a:rPr lang="en-US" sz="2000" b="1" spc="-10" dirty="0">
                <a:latin typeface="Arial"/>
                <a:cs typeface="Arial"/>
              </a:rPr>
              <a:t>decomposition</a:t>
            </a:r>
            <a:r>
              <a:rPr lang="en-US" sz="2000" b="1" spc="-20" dirty="0">
                <a:latin typeface="Arial"/>
                <a:cs typeface="Arial"/>
              </a:rPr>
              <a:t> </a:t>
            </a:r>
            <a:r>
              <a:rPr lang="en-US" sz="2000" b="1" spc="-10" dirty="0">
                <a:latin typeface="Arial"/>
                <a:cs typeface="Arial"/>
              </a:rPr>
              <a:t>gives</a:t>
            </a:r>
            <a:r>
              <a:rPr lang="en-US" sz="2000" b="1" spc="-5" dirty="0">
                <a:latin typeface="Arial"/>
                <a:cs typeface="Arial"/>
              </a:rPr>
              <a:t> a</a:t>
            </a:r>
            <a:r>
              <a:rPr lang="en-US" sz="2000" b="1" dirty="0">
                <a:latin typeface="Arial"/>
                <a:cs typeface="Arial"/>
              </a:rPr>
              <a:t> </a:t>
            </a:r>
            <a:r>
              <a:rPr lang="en-US" sz="2000" b="1" spc="-10" dirty="0">
                <a:latin typeface="Arial"/>
                <a:cs typeface="Arial"/>
              </a:rPr>
              <a:t>combination </a:t>
            </a:r>
            <a:r>
              <a:rPr lang="en-US" sz="2000" b="1" spc="-87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of sine </a:t>
            </a:r>
            <a:r>
              <a:rPr lang="en-US" sz="2000" b="1" spc="-10" dirty="0">
                <a:latin typeface="Arial"/>
                <a:cs typeface="Arial"/>
              </a:rPr>
              <a:t>waves </a:t>
            </a:r>
            <a:r>
              <a:rPr lang="en-US" sz="2000" b="1" spc="-5" dirty="0">
                <a:latin typeface="Arial"/>
                <a:cs typeface="Arial"/>
              </a:rPr>
              <a:t>with </a:t>
            </a:r>
            <a:r>
              <a:rPr lang="en-US" sz="2000" b="1" spc="-10" dirty="0">
                <a:latin typeface="Arial"/>
                <a:cs typeface="Arial"/>
              </a:rPr>
              <a:t>continuous </a:t>
            </a:r>
            <a:r>
              <a:rPr lang="en-US" sz="2000" b="1" spc="-5" dirty="0">
                <a:latin typeface="Arial"/>
                <a:cs typeface="Arial"/>
              </a:rPr>
              <a:t> </a:t>
            </a:r>
            <a:r>
              <a:rPr lang="en-US" sz="2000" b="1" spc="-10" dirty="0">
                <a:latin typeface="Arial"/>
                <a:cs typeface="Arial"/>
              </a:rPr>
              <a:t>frequencies.</a:t>
            </a:r>
            <a:endParaRPr lang="en-US"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3.8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91999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817624"/>
            <a:ext cx="837565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Figure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3.9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shows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periodic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composite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frequency </a:t>
            </a:r>
            <a:r>
              <a:rPr sz="2800" b="1" i="1" dirty="0">
                <a:latin typeface="Times New Roman"/>
                <a:cs typeface="Times New Roman"/>
              </a:rPr>
              <a:t>f. </a:t>
            </a:r>
            <a:r>
              <a:rPr sz="2800" b="1" i="1" spc="-5" dirty="0">
                <a:latin typeface="Times New Roman"/>
                <a:cs typeface="Times New Roman"/>
              </a:rPr>
              <a:t>This type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signal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-5" dirty="0">
                <a:latin typeface="Times New Roman"/>
                <a:cs typeface="Times New Roman"/>
              </a:rPr>
              <a:t>not typical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those </a:t>
            </a:r>
            <a:r>
              <a:rPr sz="2800" b="1" i="1" dirty="0">
                <a:latin typeface="Times New Roman"/>
                <a:cs typeface="Times New Roman"/>
              </a:rPr>
              <a:t> found in </a:t>
            </a:r>
            <a:r>
              <a:rPr sz="2800" b="1" i="1" spc="-5" dirty="0">
                <a:latin typeface="Times New Roman"/>
                <a:cs typeface="Times New Roman"/>
              </a:rPr>
              <a:t>data communications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can consider it </a:t>
            </a:r>
            <a:r>
              <a:rPr sz="2800" b="1" i="1" dirty="0">
                <a:latin typeface="Times New Roman"/>
                <a:cs typeface="Times New Roman"/>
              </a:rPr>
              <a:t>to </a:t>
            </a:r>
            <a:r>
              <a:rPr sz="2800" b="1" i="1" spc="-5" dirty="0">
                <a:latin typeface="Times New Roman"/>
                <a:cs typeface="Times New Roman"/>
              </a:rPr>
              <a:t>be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three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alarm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systems,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different</a:t>
            </a:r>
            <a:r>
              <a:rPr sz="2800" b="1" i="1" spc="680" dirty="0">
                <a:latin typeface="Times New Roman"/>
                <a:cs typeface="Times New Roman"/>
              </a:rPr>
              <a:t> </a:t>
            </a:r>
            <a:r>
              <a:rPr sz="2800" b="1" i="1" spc="-15" dirty="0">
                <a:latin typeface="Times New Roman"/>
                <a:cs typeface="Times New Roman"/>
              </a:rPr>
              <a:t>frequency.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analysis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give</a:t>
            </a:r>
            <a:r>
              <a:rPr sz="2800" b="1" i="1" dirty="0">
                <a:latin typeface="Times New Roman"/>
                <a:cs typeface="Times New Roman"/>
              </a:rPr>
              <a:t> us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good </a:t>
            </a:r>
            <a:r>
              <a:rPr sz="2800" b="1" i="1" dirty="0">
                <a:latin typeface="Times New Roman"/>
                <a:cs typeface="Times New Roman"/>
              </a:rPr>
              <a:t> understanding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how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decompose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signals.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21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539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828547"/>
            <a:ext cx="4359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20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3.9	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-10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composite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periodic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signal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4066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9273" y="2330195"/>
            <a:ext cx="8490966" cy="307543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22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23747"/>
            <a:ext cx="8014970" cy="6985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663064" marR="5080" indent="-1651000">
              <a:lnSpc>
                <a:spcPct val="100600"/>
              </a:lnSpc>
              <a:spcBef>
                <a:spcPts val="8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3.10	</a:t>
            </a:r>
            <a:r>
              <a:rPr sz="2000" i="1" spc="-5" dirty="0">
                <a:latin typeface="Times New Roman"/>
                <a:cs typeface="Times New Roman"/>
              </a:rPr>
              <a:t>Decomposition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composite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periodic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signal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time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 </a:t>
            </a:r>
            <a:r>
              <a:rPr sz="2000" i="1" spc="-484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frequency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domains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893" y="1825751"/>
            <a:ext cx="7340345" cy="469544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23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3.9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91999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817624"/>
            <a:ext cx="837819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Figure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40" dirty="0">
                <a:latin typeface="Times New Roman"/>
                <a:cs typeface="Times New Roman"/>
              </a:rPr>
              <a:t>3.11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shows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nonperiodic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composite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signal.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It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 </a:t>
            </a:r>
            <a:r>
              <a:rPr sz="2800" b="1" i="1" dirty="0">
                <a:latin typeface="Times New Roman"/>
                <a:cs typeface="Times New Roman"/>
              </a:rPr>
              <a:t>be </a:t>
            </a:r>
            <a:r>
              <a:rPr sz="2800" b="1" i="1" spc="-5" dirty="0">
                <a:latin typeface="Times New Roman"/>
                <a:cs typeface="Times New Roman"/>
              </a:rPr>
              <a:t>the signal created by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microphone </a:t>
            </a:r>
            <a:r>
              <a:rPr sz="2800" b="1" i="1" dirty="0">
                <a:latin typeface="Times New Roman"/>
                <a:cs typeface="Times New Roman"/>
              </a:rPr>
              <a:t>or a </a:t>
            </a:r>
            <a:r>
              <a:rPr sz="2800" b="1" i="1" spc="-5" dirty="0">
                <a:latin typeface="Times New Roman"/>
                <a:cs typeface="Times New Roman"/>
              </a:rPr>
              <a:t>telephone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set when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word or </a:t>
            </a:r>
            <a:r>
              <a:rPr sz="2800" b="1" i="1" spc="-10" dirty="0">
                <a:latin typeface="Times New Roman"/>
                <a:cs typeface="Times New Roman"/>
              </a:rPr>
              <a:t>two </a:t>
            </a:r>
            <a:r>
              <a:rPr sz="2800" b="1" i="1" spc="-5" dirty="0">
                <a:latin typeface="Times New Roman"/>
                <a:cs typeface="Times New Roman"/>
              </a:rPr>
              <a:t>is pronounced</a:t>
            </a:r>
            <a:r>
              <a:rPr sz="2800" b="1" i="1" dirty="0">
                <a:latin typeface="Times New Roman"/>
                <a:cs typeface="Times New Roman"/>
              </a:rPr>
              <a:t> In thi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case,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composite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cannot</a:t>
            </a:r>
            <a:r>
              <a:rPr sz="2800" b="1" i="1" dirty="0">
                <a:latin typeface="Times New Roman"/>
                <a:cs typeface="Times New Roman"/>
              </a:rPr>
              <a:t> be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periodic,</a:t>
            </a:r>
            <a:r>
              <a:rPr sz="2800" b="1" i="1" spc="6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because</a:t>
            </a:r>
            <a:r>
              <a:rPr sz="2800" b="1" i="1" spc="6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that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implies </a:t>
            </a:r>
            <a:r>
              <a:rPr sz="2800" b="1" i="1" dirty="0">
                <a:latin typeface="Times New Roman"/>
                <a:cs typeface="Times New Roman"/>
              </a:rPr>
              <a:t>that </a:t>
            </a:r>
            <a:r>
              <a:rPr sz="2800" b="1" i="1" spc="-5" dirty="0">
                <a:latin typeface="Times New Roman"/>
                <a:cs typeface="Times New Roman"/>
              </a:rPr>
              <a:t>we are repeating the same word or words </a:t>
            </a:r>
            <a:r>
              <a:rPr sz="2800" b="1" i="1" dirty="0">
                <a:latin typeface="Times New Roman"/>
                <a:cs typeface="Times New Roman"/>
              </a:rPr>
              <a:t> with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exactly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same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tone.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24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7546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spc="-40" dirty="0">
                <a:solidFill>
                  <a:srgbClr val="3333CC"/>
                </a:solidFill>
              </a:rPr>
              <a:t>3.11	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time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frequency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domains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nonperiodic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signal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2415" y="2675382"/>
            <a:ext cx="8345423" cy="262661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25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32039" y="2330195"/>
            <a:ext cx="8153400" cy="590550"/>
            <a:chOff x="1232039" y="2330195"/>
            <a:chExt cx="8153400" cy="590550"/>
          </a:xfrm>
        </p:grpSpPr>
        <p:sp>
          <p:nvSpPr>
            <p:cNvPr id="8" name="object 8"/>
            <p:cNvSpPr/>
            <p:nvPr/>
          </p:nvSpPr>
          <p:spPr>
            <a:xfrm>
              <a:off x="1232039" y="2901695"/>
              <a:ext cx="8153400" cy="19050"/>
            </a:xfrm>
            <a:custGeom>
              <a:avLst/>
              <a:gdLst/>
              <a:ahLst/>
              <a:cxnLst/>
              <a:rect l="l" t="t" r="r" b="b"/>
              <a:pathLst>
                <a:path w="8153400" h="19050">
                  <a:moveTo>
                    <a:pt x="8153400" y="1905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153400" y="1905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2039" y="2330195"/>
              <a:ext cx="1143000" cy="56692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2039" y="2919983"/>
            <a:ext cx="8153400" cy="58419"/>
          </a:xfrm>
          <a:custGeom>
            <a:avLst/>
            <a:gdLst/>
            <a:ahLst/>
            <a:cxnLst/>
            <a:rect l="l" t="t" r="r" b="b"/>
            <a:pathLst>
              <a:path w="8153400" h="58419">
                <a:moveTo>
                  <a:pt x="8153400" y="57911"/>
                </a:moveTo>
                <a:lnTo>
                  <a:pt x="8153400" y="0"/>
                </a:lnTo>
                <a:lnTo>
                  <a:pt x="0" y="0"/>
                </a:lnTo>
                <a:lnTo>
                  <a:pt x="0" y="57912"/>
                </a:lnTo>
                <a:lnTo>
                  <a:pt x="8153400" y="57911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70139" y="30319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52729" marR="245745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bandwidth </a:t>
            </a:r>
            <a:r>
              <a:rPr sz="3200" b="1" spc="-5" dirty="0">
                <a:latin typeface="Arial"/>
                <a:cs typeface="Arial"/>
              </a:rPr>
              <a:t>of a </a:t>
            </a:r>
            <a:r>
              <a:rPr sz="3200" b="1" spc="-10" dirty="0">
                <a:latin typeface="Arial"/>
                <a:cs typeface="Arial"/>
              </a:rPr>
              <a:t>composite </a:t>
            </a:r>
            <a:r>
              <a:rPr sz="3200" b="1" spc="-5" dirty="0">
                <a:latin typeface="Arial"/>
                <a:cs typeface="Arial"/>
              </a:rPr>
              <a:t>signal </a:t>
            </a:r>
            <a:r>
              <a:rPr sz="3200" b="1" spc="-10" dirty="0">
                <a:latin typeface="Arial"/>
                <a:cs typeface="Arial"/>
              </a:rPr>
              <a:t>is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difference between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the</a:t>
            </a:r>
            <a:endParaRPr sz="3200">
              <a:latin typeface="Arial"/>
              <a:cs typeface="Arial"/>
            </a:endParaRPr>
          </a:p>
          <a:p>
            <a:pPr marL="657860" marR="651510" algn="ctr">
              <a:lnSpc>
                <a:spcPct val="100000"/>
              </a:lnSpc>
            </a:pPr>
            <a:r>
              <a:rPr sz="3200" b="1" spc="-10" dirty="0">
                <a:latin typeface="Arial"/>
                <a:cs typeface="Arial"/>
              </a:rPr>
              <a:t>highest </a:t>
            </a:r>
            <a:r>
              <a:rPr sz="3200" b="1" spc="-5" dirty="0">
                <a:latin typeface="Arial"/>
                <a:cs typeface="Arial"/>
              </a:rPr>
              <a:t>and the </a:t>
            </a:r>
            <a:r>
              <a:rPr sz="3200" b="1" spc="-10" dirty="0">
                <a:latin typeface="Arial"/>
                <a:cs typeface="Arial"/>
              </a:rPr>
              <a:t>lowest frequencies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contained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that</a:t>
            </a:r>
            <a:r>
              <a:rPr sz="3200" b="1" spc="-10" dirty="0">
                <a:latin typeface="Arial"/>
                <a:cs typeface="Arial"/>
              </a:rPr>
              <a:t> signal.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34325" y="5111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26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8078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3.12	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bandwidth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periodic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nonperiodic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composite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signals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5989" y="1440180"/>
            <a:ext cx="6115050" cy="500481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27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3.10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062745"/>
            <a:ext cx="9144000" cy="2573020"/>
          </a:xfrm>
          <a:custGeom>
            <a:avLst/>
            <a:gdLst/>
            <a:ahLst/>
            <a:cxnLst/>
            <a:rect l="l" t="t" r="r" b="b"/>
            <a:pathLst>
              <a:path w="9144000" h="25730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4500"/>
                </a:lnTo>
                <a:lnTo>
                  <a:pt x="0" y="1715262"/>
                </a:lnTo>
                <a:lnTo>
                  <a:pt x="0" y="2572512"/>
                </a:lnTo>
                <a:lnTo>
                  <a:pt x="9144000" y="2572512"/>
                </a:lnTo>
                <a:lnTo>
                  <a:pt x="9144000" y="1715262"/>
                </a:lnTo>
                <a:lnTo>
                  <a:pt x="9144000" y="1714500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44057" y="1665224"/>
            <a:ext cx="8453120" cy="301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>
              <a:lnSpc>
                <a:spcPct val="100000"/>
              </a:lnSpc>
              <a:spcBef>
                <a:spcPts val="100"/>
              </a:spcBef>
              <a:tabLst>
                <a:tab pos="448945" algn="l"/>
                <a:tab pos="514350" algn="l"/>
                <a:tab pos="767715" algn="l"/>
                <a:tab pos="1076960" algn="l"/>
                <a:tab pos="2091055" algn="l"/>
                <a:tab pos="3021965" algn="l"/>
                <a:tab pos="3120390" algn="l"/>
                <a:tab pos="3498215" algn="l"/>
                <a:tab pos="4057650" algn="l"/>
                <a:tab pos="4739005" algn="l"/>
                <a:tab pos="5414645" algn="l"/>
                <a:tab pos="6128385" algn="l"/>
                <a:tab pos="6396355" algn="l"/>
                <a:tab pos="6800850" algn="l"/>
                <a:tab pos="7533640" algn="l"/>
                <a:tab pos="802640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If	a	p</a:t>
            </a:r>
            <a:r>
              <a:rPr sz="2800" b="1" i="1" spc="-5" dirty="0">
                <a:latin typeface="Times New Roman"/>
                <a:cs typeface="Times New Roman"/>
              </a:rPr>
              <a:t>eriodi</a:t>
            </a:r>
            <a:r>
              <a:rPr sz="2800" b="1" i="1" dirty="0">
                <a:latin typeface="Times New Roman"/>
                <a:cs typeface="Times New Roman"/>
              </a:rPr>
              <a:t>c	</a:t>
            </a:r>
            <a:r>
              <a:rPr sz="2800" b="1" i="1" spc="-5" dirty="0">
                <a:latin typeface="Times New Roman"/>
                <a:cs typeface="Times New Roman"/>
              </a:rPr>
              <a:t>s</a:t>
            </a:r>
            <a:r>
              <a:rPr sz="2800" b="1" i="1" dirty="0">
                <a:latin typeface="Times New Roman"/>
                <a:cs typeface="Times New Roman"/>
              </a:rPr>
              <a:t>ig</a:t>
            </a:r>
            <a:r>
              <a:rPr sz="2800" b="1" i="1" spc="-5" dirty="0">
                <a:latin typeface="Times New Roman"/>
                <a:cs typeface="Times New Roman"/>
              </a:rPr>
              <a:t>na</a:t>
            </a:r>
            <a:r>
              <a:rPr sz="2800" b="1" i="1" dirty="0">
                <a:latin typeface="Times New Roman"/>
                <a:cs typeface="Times New Roman"/>
              </a:rPr>
              <a:t>l		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deco</a:t>
            </a:r>
            <a:r>
              <a:rPr sz="2800" b="1" i="1" spc="-10" dirty="0">
                <a:latin typeface="Times New Roman"/>
                <a:cs typeface="Times New Roman"/>
              </a:rPr>
              <a:t>m</a:t>
            </a:r>
            <a:r>
              <a:rPr sz="2800" b="1" i="1" dirty="0">
                <a:latin typeface="Times New Roman"/>
                <a:cs typeface="Times New Roman"/>
              </a:rPr>
              <a:t>p</a:t>
            </a:r>
            <a:r>
              <a:rPr sz="2800" b="1" i="1" spc="-5" dirty="0">
                <a:latin typeface="Times New Roman"/>
                <a:cs typeface="Times New Roman"/>
              </a:rPr>
              <a:t>ose</a:t>
            </a:r>
            <a:r>
              <a:rPr sz="2800" b="1" i="1" dirty="0">
                <a:latin typeface="Times New Roman"/>
                <a:cs typeface="Times New Roman"/>
              </a:rPr>
              <a:t>d	</a:t>
            </a:r>
            <a:r>
              <a:rPr sz="2800" b="1" i="1" spc="-5" dirty="0">
                <a:latin typeface="Times New Roman"/>
                <a:cs typeface="Times New Roman"/>
              </a:rPr>
              <a:t>int</a:t>
            </a:r>
            <a:r>
              <a:rPr sz="2800" b="1" i="1" dirty="0">
                <a:latin typeface="Times New Roman"/>
                <a:cs typeface="Times New Roman"/>
              </a:rPr>
              <a:t>o	f</a:t>
            </a:r>
            <a:r>
              <a:rPr sz="2800" b="1" i="1" spc="-10" dirty="0">
                <a:latin typeface="Times New Roman"/>
                <a:cs typeface="Times New Roman"/>
              </a:rPr>
              <a:t>iv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sin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10" dirty="0">
                <a:latin typeface="Times New Roman"/>
                <a:cs typeface="Times New Roman"/>
              </a:rPr>
              <a:t>w</a:t>
            </a:r>
            <a:r>
              <a:rPr sz="2800" b="1" i="1" spc="-5" dirty="0">
                <a:latin typeface="Times New Roman"/>
                <a:cs typeface="Times New Roman"/>
              </a:rPr>
              <a:t>aves  with</a:t>
            </a:r>
            <a:r>
              <a:rPr sz="2800" b="1" i="1" spc="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frequencies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100,</a:t>
            </a:r>
            <a:r>
              <a:rPr sz="2800" b="1" i="1" spc="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300,</a:t>
            </a:r>
            <a:r>
              <a:rPr sz="2800" b="1" i="1" spc="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500,</a:t>
            </a:r>
            <a:r>
              <a:rPr sz="2800" b="1" i="1" spc="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700,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spc="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900</a:t>
            </a:r>
            <a:r>
              <a:rPr sz="2800" b="1" i="1" spc="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Hz,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what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s		</a:t>
            </a:r>
            <a:r>
              <a:rPr sz="2800" b="1" i="1" spc="-5" dirty="0">
                <a:latin typeface="Times New Roman"/>
                <a:cs typeface="Times New Roman"/>
              </a:rPr>
              <a:t>it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bandwidth</a:t>
            </a:r>
            <a:r>
              <a:rPr sz="2800" b="1" i="1" dirty="0">
                <a:latin typeface="Times New Roman"/>
                <a:cs typeface="Times New Roman"/>
              </a:rPr>
              <a:t>?	</a:t>
            </a:r>
            <a:r>
              <a:rPr sz="2800" b="1" i="1" spc="-5" dirty="0">
                <a:latin typeface="Times New Roman"/>
                <a:cs typeface="Times New Roman"/>
              </a:rPr>
              <a:t>Dra</a:t>
            </a:r>
            <a:r>
              <a:rPr sz="2800" b="1" i="1" dirty="0">
                <a:latin typeface="Times New Roman"/>
                <a:cs typeface="Times New Roman"/>
              </a:rPr>
              <a:t>w	</a:t>
            </a:r>
            <a:r>
              <a:rPr sz="2800" b="1" i="1" spc="-5" dirty="0">
                <a:latin typeface="Times New Roman"/>
                <a:cs typeface="Times New Roman"/>
              </a:rPr>
              <a:t>th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s</a:t>
            </a:r>
            <a:r>
              <a:rPr sz="2800" b="1" i="1" dirty="0">
                <a:latin typeface="Times New Roman"/>
                <a:cs typeface="Times New Roman"/>
              </a:rPr>
              <a:t>p</a:t>
            </a:r>
            <a:r>
              <a:rPr sz="2800" b="1" i="1" spc="-5" dirty="0">
                <a:latin typeface="Times New Roman"/>
                <a:cs typeface="Times New Roman"/>
              </a:rPr>
              <a:t>ectrum</a:t>
            </a:r>
            <a:r>
              <a:rPr sz="2800" b="1" i="1" dirty="0">
                <a:latin typeface="Times New Roman"/>
                <a:cs typeface="Times New Roman"/>
              </a:rPr>
              <a:t>,	</a:t>
            </a:r>
            <a:r>
              <a:rPr sz="2800" b="1" i="1" spc="-5" dirty="0">
                <a:latin typeface="Times New Roman"/>
                <a:cs typeface="Times New Roman"/>
              </a:rPr>
              <a:t>assumi</a:t>
            </a:r>
            <a:r>
              <a:rPr sz="2800" b="1" i="1" dirty="0">
                <a:latin typeface="Times New Roman"/>
                <a:cs typeface="Times New Roman"/>
              </a:rPr>
              <a:t>ng	</a:t>
            </a:r>
            <a:r>
              <a:rPr sz="2800" b="1" i="1" spc="-5" dirty="0">
                <a:latin typeface="Times New Roman"/>
                <a:cs typeface="Times New Roman"/>
              </a:rPr>
              <a:t>all  </a:t>
            </a:r>
            <a:r>
              <a:rPr sz="2800" b="1" i="1" dirty="0">
                <a:latin typeface="Times New Roman"/>
                <a:cs typeface="Times New Roman"/>
              </a:rPr>
              <a:t>components have a maximum amplitude of 10 </a:t>
            </a:r>
            <a:r>
              <a:rPr sz="2800" b="1" i="1" spc="-185" dirty="0">
                <a:latin typeface="Times New Roman"/>
                <a:cs typeface="Times New Roman"/>
              </a:rPr>
              <a:t>V. </a:t>
            </a:r>
            <a:r>
              <a:rPr sz="2800" b="1" i="1" spc="-180" dirty="0"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50800" marR="43815">
              <a:lnSpc>
                <a:spcPct val="100000"/>
              </a:lnSpc>
              <a:tabLst>
                <a:tab pos="1030605" algn="l"/>
                <a:tab pos="524700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Let</a:t>
            </a:r>
            <a:r>
              <a:rPr sz="2800" b="1" i="1" spc="3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775" b="1" i="1" baseline="-12012" dirty="0">
                <a:solidFill>
                  <a:srgbClr val="FF0000"/>
                </a:solidFill>
                <a:latin typeface="Times New Roman"/>
                <a:cs typeface="Times New Roman"/>
              </a:rPr>
              <a:t>h	</a:t>
            </a:r>
            <a:r>
              <a:rPr sz="2800" b="1" i="1" spc="-5" dirty="0">
                <a:latin typeface="Times New Roman"/>
                <a:cs typeface="Times New Roman"/>
              </a:rPr>
              <a:t>be</a:t>
            </a:r>
            <a:r>
              <a:rPr sz="2800" b="1" i="1" spc="3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3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highest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spc="-15" dirty="0">
                <a:latin typeface="Times New Roman"/>
                <a:cs typeface="Times New Roman"/>
              </a:rPr>
              <a:t>frequency,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775" b="1" i="1" baseline="-12012" dirty="0">
                <a:solidFill>
                  <a:srgbClr val="FF0000"/>
                </a:solidFill>
                <a:latin typeface="Times New Roman"/>
                <a:cs typeface="Times New Roman"/>
              </a:rPr>
              <a:t>l	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2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lowest</a:t>
            </a:r>
            <a:r>
              <a:rPr sz="2800" b="1" i="1" spc="270" dirty="0">
                <a:latin typeface="Times New Roman"/>
                <a:cs typeface="Times New Roman"/>
              </a:rPr>
              <a:t> </a:t>
            </a:r>
            <a:r>
              <a:rPr sz="2800" b="1" i="1" spc="-15" dirty="0">
                <a:latin typeface="Times New Roman"/>
                <a:cs typeface="Times New Roman"/>
              </a:rPr>
              <a:t>frequency,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bandwidth.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Then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74839" y="4634484"/>
            <a:ext cx="9144000" cy="923925"/>
            <a:chOff x="774839" y="4634484"/>
            <a:chExt cx="9144000" cy="923925"/>
          </a:xfrm>
        </p:grpSpPr>
        <p:sp>
          <p:nvSpPr>
            <p:cNvPr id="17" name="object 17"/>
            <p:cNvSpPr/>
            <p:nvPr/>
          </p:nvSpPr>
          <p:spPr>
            <a:xfrm>
              <a:off x="774839" y="463448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30409" y="5047488"/>
              <a:ext cx="3837431" cy="44500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367925" y="4985004"/>
              <a:ext cx="3957320" cy="508000"/>
            </a:xfrm>
            <a:custGeom>
              <a:avLst/>
              <a:gdLst/>
              <a:ahLst/>
              <a:cxnLst/>
              <a:rect l="l" t="t" r="r" b="b"/>
              <a:pathLst>
                <a:path w="3957320" h="508000">
                  <a:moveTo>
                    <a:pt x="3957066" y="507492"/>
                  </a:moveTo>
                  <a:lnTo>
                    <a:pt x="3957066" y="0"/>
                  </a:lnTo>
                  <a:lnTo>
                    <a:pt x="0" y="0"/>
                  </a:lnTo>
                  <a:lnTo>
                    <a:pt x="0" y="507492"/>
                  </a:lnTo>
                  <a:lnTo>
                    <a:pt x="28194" y="507492"/>
                  </a:lnTo>
                  <a:lnTo>
                    <a:pt x="28194" y="57150"/>
                  </a:lnTo>
                  <a:lnTo>
                    <a:pt x="57150" y="28194"/>
                  </a:lnTo>
                  <a:lnTo>
                    <a:pt x="57150" y="57150"/>
                  </a:lnTo>
                  <a:lnTo>
                    <a:pt x="3899916" y="57150"/>
                  </a:lnTo>
                  <a:lnTo>
                    <a:pt x="3899916" y="28194"/>
                  </a:lnTo>
                  <a:lnTo>
                    <a:pt x="3928872" y="57150"/>
                  </a:lnTo>
                  <a:lnTo>
                    <a:pt x="3928872" y="507492"/>
                  </a:lnTo>
                  <a:lnTo>
                    <a:pt x="3957066" y="507492"/>
                  </a:lnTo>
                  <a:close/>
                </a:path>
                <a:path w="3957320" h="508000">
                  <a:moveTo>
                    <a:pt x="57150" y="57150"/>
                  </a:moveTo>
                  <a:lnTo>
                    <a:pt x="57150" y="28194"/>
                  </a:lnTo>
                  <a:lnTo>
                    <a:pt x="28194" y="57150"/>
                  </a:lnTo>
                  <a:lnTo>
                    <a:pt x="57150" y="57150"/>
                  </a:lnTo>
                  <a:close/>
                </a:path>
                <a:path w="3957320" h="508000">
                  <a:moveTo>
                    <a:pt x="57150" y="507492"/>
                  </a:moveTo>
                  <a:lnTo>
                    <a:pt x="57150" y="57150"/>
                  </a:lnTo>
                  <a:lnTo>
                    <a:pt x="28194" y="57150"/>
                  </a:lnTo>
                  <a:lnTo>
                    <a:pt x="28194" y="507492"/>
                  </a:lnTo>
                  <a:lnTo>
                    <a:pt x="57150" y="507492"/>
                  </a:lnTo>
                  <a:close/>
                </a:path>
                <a:path w="3957320" h="508000">
                  <a:moveTo>
                    <a:pt x="3928872" y="57150"/>
                  </a:moveTo>
                  <a:lnTo>
                    <a:pt x="3899916" y="28194"/>
                  </a:lnTo>
                  <a:lnTo>
                    <a:pt x="3899916" y="57150"/>
                  </a:lnTo>
                  <a:lnTo>
                    <a:pt x="3928872" y="57150"/>
                  </a:lnTo>
                  <a:close/>
                </a:path>
                <a:path w="3957320" h="508000">
                  <a:moveTo>
                    <a:pt x="3928872" y="507492"/>
                  </a:moveTo>
                  <a:lnTo>
                    <a:pt x="3928872" y="57150"/>
                  </a:lnTo>
                  <a:lnTo>
                    <a:pt x="3899916" y="57150"/>
                  </a:lnTo>
                  <a:lnTo>
                    <a:pt x="3899916" y="507492"/>
                  </a:lnTo>
                  <a:lnTo>
                    <a:pt x="3928872" y="507492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30409" y="5492496"/>
              <a:ext cx="3837431" cy="838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367925" y="5492496"/>
              <a:ext cx="3957320" cy="66040"/>
            </a:xfrm>
            <a:custGeom>
              <a:avLst/>
              <a:gdLst/>
              <a:ahLst/>
              <a:cxnLst/>
              <a:rect l="l" t="t" r="r" b="b"/>
              <a:pathLst>
                <a:path w="3957320" h="66039">
                  <a:moveTo>
                    <a:pt x="57150" y="8382"/>
                  </a:moveTo>
                  <a:lnTo>
                    <a:pt x="57150" y="0"/>
                  </a:lnTo>
                  <a:lnTo>
                    <a:pt x="0" y="0"/>
                  </a:lnTo>
                  <a:lnTo>
                    <a:pt x="0" y="65532"/>
                  </a:lnTo>
                  <a:lnTo>
                    <a:pt x="28194" y="65532"/>
                  </a:lnTo>
                  <a:lnTo>
                    <a:pt x="28194" y="8382"/>
                  </a:lnTo>
                  <a:lnTo>
                    <a:pt x="57150" y="8382"/>
                  </a:lnTo>
                  <a:close/>
                </a:path>
                <a:path w="3957320" h="66039">
                  <a:moveTo>
                    <a:pt x="3928872" y="8381"/>
                  </a:moveTo>
                  <a:lnTo>
                    <a:pt x="28194" y="8382"/>
                  </a:lnTo>
                  <a:lnTo>
                    <a:pt x="57150" y="36576"/>
                  </a:lnTo>
                  <a:lnTo>
                    <a:pt x="57150" y="65532"/>
                  </a:lnTo>
                  <a:lnTo>
                    <a:pt x="3899916" y="65531"/>
                  </a:lnTo>
                  <a:lnTo>
                    <a:pt x="3899916" y="36575"/>
                  </a:lnTo>
                  <a:lnTo>
                    <a:pt x="3928872" y="8381"/>
                  </a:lnTo>
                  <a:close/>
                </a:path>
                <a:path w="3957320" h="66039">
                  <a:moveTo>
                    <a:pt x="57150" y="65532"/>
                  </a:moveTo>
                  <a:lnTo>
                    <a:pt x="57150" y="36576"/>
                  </a:lnTo>
                  <a:lnTo>
                    <a:pt x="28194" y="8382"/>
                  </a:lnTo>
                  <a:lnTo>
                    <a:pt x="28194" y="65532"/>
                  </a:lnTo>
                  <a:lnTo>
                    <a:pt x="57150" y="65532"/>
                  </a:lnTo>
                  <a:close/>
                </a:path>
                <a:path w="3957320" h="66039">
                  <a:moveTo>
                    <a:pt x="3957066" y="65531"/>
                  </a:moveTo>
                  <a:lnTo>
                    <a:pt x="3957066" y="0"/>
                  </a:lnTo>
                  <a:lnTo>
                    <a:pt x="3899916" y="0"/>
                  </a:lnTo>
                  <a:lnTo>
                    <a:pt x="3899916" y="8381"/>
                  </a:lnTo>
                  <a:lnTo>
                    <a:pt x="3928872" y="8381"/>
                  </a:lnTo>
                  <a:lnTo>
                    <a:pt x="3928872" y="65531"/>
                  </a:lnTo>
                  <a:lnTo>
                    <a:pt x="3957066" y="65531"/>
                  </a:lnTo>
                  <a:close/>
                </a:path>
                <a:path w="3957320" h="66039">
                  <a:moveTo>
                    <a:pt x="3928872" y="65531"/>
                  </a:moveTo>
                  <a:lnTo>
                    <a:pt x="3928872" y="8381"/>
                  </a:lnTo>
                  <a:lnTo>
                    <a:pt x="3899916" y="36575"/>
                  </a:lnTo>
                  <a:lnTo>
                    <a:pt x="3899916" y="65531"/>
                  </a:lnTo>
                  <a:lnTo>
                    <a:pt x="3928872" y="65531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82173" y="5780023"/>
            <a:ext cx="837565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spectrum</a:t>
            </a:r>
            <a:r>
              <a:rPr sz="2800" b="1" i="1" spc="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has</a:t>
            </a:r>
            <a:r>
              <a:rPr sz="2800" b="1" i="1" spc="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only</a:t>
            </a:r>
            <a:r>
              <a:rPr sz="2800" b="1" i="1" spc="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five</a:t>
            </a:r>
            <a:r>
              <a:rPr sz="2800" b="1" i="1" spc="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spikes,</a:t>
            </a:r>
            <a:r>
              <a:rPr sz="2800" b="1" i="1" spc="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at</a:t>
            </a:r>
            <a:r>
              <a:rPr sz="2800" b="1" i="1" spc="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100,</a:t>
            </a:r>
            <a:r>
              <a:rPr sz="2800" b="1" i="1" spc="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300,</a:t>
            </a:r>
            <a:r>
              <a:rPr sz="2800" b="1" i="1" spc="1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500,</a:t>
            </a:r>
            <a:r>
              <a:rPr sz="2800" b="1" i="1" spc="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700,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900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Hz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(see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3.13).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28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539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828547"/>
            <a:ext cx="5092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20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3.13	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bandwidth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3.10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4066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9749" y="2779776"/>
            <a:ext cx="6928866" cy="230505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29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069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3.11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74839" y="2062733"/>
            <a:ext cx="9144000" cy="3430270"/>
            <a:chOff x="774839" y="2062733"/>
            <a:chExt cx="9144000" cy="3430270"/>
          </a:xfrm>
        </p:grpSpPr>
        <p:sp>
          <p:nvSpPr>
            <p:cNvPr id="15" name="object 15"/>
            <p:cNvSpPr/>
            <p:nvPr/>
          </p:nvSpPr>
          <p:spPr>
            <a:xfrm>
              <a:off x="774839" y="2062746"/>
              <a:ext cx="9144000" cy="3430270"/>
            </a:xfrm>
            <a:custGeom>
              <a:avLst/>
              <a:gdLst/>
              <a:ahLst/>
              <a:cxnLst/>
              <a:rect l="l" t="t" r="r" b="b"/>
              <a:pathLst>
                <a:path w="9144000" h="3430270">
                  <a:moveTo>
                    <a:pt x="9144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3429762"/>
                  </a:lnTo>
                  <a:lnTo>
                    <a:pt x="9144000" y="3429762"/>
                  </a:lnTo>
                  <a:lnTo>
                    <a:pt x="9144000" y="8572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95385" y="4882895"/>
              <a:ext cx="6504431" cy="4191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035949" y="4822698"/>
              <a:ext cx="6621145" cy="536575"/>
            </a:xfrm>
            <a:custGeom>
              <a:avLst/>
              <a:gdLst/>
              <a:ahLst/>
              <a:cxnLst/>
              <a:rect l="l" t="t" r="r" b="b"/>
              <a:pathLst>
                <a:path w="6621145" h="536575">
                  <a:moveTo>
                    <a:pt x="6621018" y="536448"/>
                  </a:moveTo>
                  <a:lnTo>
                    <a:pt x="6621018" y="0"/>
                  </a:lnTo>
                  <a:lnTo>
                    <a:pt x="0" y="0"/>
                  </a:lnTo>
                  <a:lnTo>
                    <a:pt x="0" y="536448"/>
                  </a:lnTo>
                  <a:lnTo>
                    <a:pt x="28193" y="536448"/>
                  </a:lnTo>
                  <a:lnTo>
                    <a:pt x="28193" y="57150"/>
                  </a:lnTo>
                  <a:lnTo>
                    <a:pt x="57150" y="28956"/>
                  </a:lnTo>
                  <a:lnTo>
                    <a:pt x="57150" y="57150"/>
                  </a:lnTo>
                  <a:lnTo>
                    <a:pt x="6563867" y="57150"/>
                  </a:lnTo>
                  <a:lnTo>
                    <a:pt x="6563867" y="28955"/>
                  </a:lnTo>
                  <a:lnTo>
                    <a:pt x="6592824" y="57150"/>
                  </a:lnTo>
                  <a:lnTo>
                    <a:pt x="6592824" y="536448"/>
                  </a:lnTo>
                  <a:lnTo>
                    <a:pt x="6621018" y="536448"/>
                  </a:lnTo>
                  <a:close/>
                </a:path>
                <a:path w="6621145" h="536575">
                  <a:moveTo>
                    <a:pt x="57150" y="57150"/>
                  </a:moveTo>
                  <a:lnTo>
                    <a:pt x="57150" y="28956"/>
                  </a:lnTo>
                  <a:lnTo>
                    <a:pt x="28193" y="57150"/>
                  </a:lnTo>
                  <a:lnTo>
                    <a:pt x="57150" y="57150"/>
                  </a:lnTo>
                  <a:close/>
                </a:path>
                <a:path w="6621145" h="536575">
                  <a:moveTo>
                    <a:pt x="57150" y="479298"/>
                  </a:moveTo>
                  <a:lnTo>
                    <a:pt x="57150" y="57150"/>
                  </a:lnTo>
                  <a:lnTo>
                    <a:pt x="28193" y="57150"/>
                  </a:lnTo>
                  <a:lnTo>
                    <a:pt x="28193" y="479298"/>
                  </a:lnTo>
                  <a:lnTo>
                    <a:pt x="57150" y="479298"/>
                  </a:lnTo>
                  <a:close/>
                </a:path>
                <a:path w="6621145" h="536575">
                  <a:moveTo>
                    <a:pt x="6592824" y="479298"/>
                  </a:moveTo>
                  <a:lnTo>
                    <a:pt x="28193" y="479298"/>
                  </a:lnTo>
                  <a:lnTo>
                    <a:pt x="57150" y="508254"/>
                  </a:lnTo>
                  <a:lnTo>
                    <a:pt x="57150" y="536448"/>
                  </a:lnTo>
                  <a:lnTo>
                    <a:pt x="6563867" y="536448"/>
                  </a:lnTo>
                  <a:lnTo>
                    <a:pt x="6563867" y="508254"/>
                  </a:lnTo>
                  <a:lnTo>
                    <a:pt x="6592824" y="479298"/>
                  </a:lnTo>
                  <a:close/>
                </a:path>
                <a:path w="6621145" h="536575">
                  <a:moveTo>
                    <a:pt x="57150" y="536448"/>
                  </a:moveTo>
                  <a:lnTo>
                    <a:pt x="57150" y="508254"/>
                  </a:lnTo>
                  <a:lnTo>
                    <a:pt x="28193" y="479298"/>
                  </a:lnTo>
                  <a:lnTo>
                    <a:pt x="28193" y="536448"/>
                  </a:lnTo>
                  <a:lnTo>
                    <a:pt x="57150" y="536448"/>
                  </a:lnTo>
                  <a:close/>
                </a:path>
                <a:path w="6621145" h="536575">
                  <a:moveTo>
                    <a:pt x="6592824" y="57150"/>
                  </a:moveTo>
                  <a:lnTo>
                    <a:pt x="6563867" y="28955"/>
                  </a:lnTo>
                  <a:lnTo>
                    <a:pt x="6563867" y="57150"/>
                  </a:lnTo>
                  <a:lnTo>
                    <a:pt x="6592824" y="57150"/>
                  </a:lnTo>
                  <a:close/>
                </a:path>
                <a:path w="6621145" h="536575">
                  <a:moveTo>
                    <a:pt x="6592824" y="479298"/>
                  </a:moveTo>
                  <a:lnTo>
                    <a:pt x="6592824" y="57150"/>
                  </a:lnTo>
                  <a:lnTo>
                    <a:pt x="6563867" y="57150"/>
                  </a:lnTo>
                  <a:lnTo>
                    <a:pt x="6563867" y="479298"/>
                  </a:lnTo>
                  <a:lnTo>
                    <a:pt x="6592824" y="479298"/>
                  </a:lnTo>
                  <a:close/>
                </a:path>
                <a:path w="6621145" h="536575">
                  <a:moveTo>
                    <a:pt x="6592824" y="536448"/>
                  </a:moveTo>
                  <a:lnTo>
                    <a:pt x="6592824" y="479298"/>
                  </a:lnTo>
                  <a:lnTo>
                    <a:pt x="6563867" y="508254"/>
                  </a:lnTo>
                  <a:lnTo>
                    <a:pt x="6563867" y="536448"/>
                  </a:lnTo>
                  <a:lnTo>
                    <a:pt x="6592824" y="536448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031357" y="1665224"/>
            <a:ext cx="8477885" cy="4810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55244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periodic signal has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bandwidth </a:t>
            </a:r>
            <a:r>
              <a:rPr sz="2800" b="1" i="1" dirty="0">
                <a:latin typeface="Times New Roman"/>
                <a:cs typeface="Times New Roman"/>
              </a:rPr>
              <a:t>of 20 </a:t>
            </a:r>
            <a:r>
              <a:rPr sz="2800" b="1" i="1" spc="-5" dirty="0">
                <a:latin typeface="Times New Roman"/>
                <a:cs typeface="Times New Roman"/>
              </a:rPr>
              <a:t>Hz.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highest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frequency is </a:t>
            </a:r>
            <a:r>
              <a:rPr sz="2800" b="1" i="1" dirty="0">
                <a:latin typeface="Times New Roman"/>
                <a:cs typeface="Times New Roman"/>
              </a:rPr>
              <a:t>60 </a:t>
            </a:r>
            <a:r>
              <a:rPr sz="2800" b="1" i="1" spc="-5" dirty="0">
                <a:latin typeface="Times New Roman"/>
                <a:cs typeface="Times New Roman"/>
              </a:rPr>
              <a:t>Hz. What is the lowest frequency? Draw </a:t>
            </a:r>
            <a:r>
              <a:rPr sz="2800" b="1" i="1" dirty="0">
                <a:latin typeface="Times New Roman"/>
                <a:cs typeface="Times New Roman"/>
              </a:rPr>
              <a:t> the </a:t>
            </a:r>
            <a:r>
              <a:rPr sz="2800" b="1" i="1" spc="-5" dirty="0">
                <a:latin typeface="Times New Roman"/>
                <a:cs typeface="Times New Roman"/>
              </a:rPr>
              <a:t>spectrum if the signal contains all frequencies of the </a:t>
            </a:r>
            <a:r>
              <a:rPr sz="2800" b="1" i="1" dirty="0">
                <a:latin typeface="Times New Roman"/>
                <a:cs typeface="Times New Roman"/>
              </a:rPr>
              <a:t> same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amplitude.</a:t>
            </a:r>
            <a:endParaRPr sz="28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63500" marR="56515">
              <a:lnSpc>
                <a:spcPct val="100000"/>
              </a:lnSpc>
              <a:tabLst>
                <a:tab pos="1043305" algn="l"/>
                <a:tab pos="525970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Let</a:t>
            </a:r>
            <a:r>
              <a:rPr sz="2800" b="1" i="1" spc="3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775" b="1" i="1" baseline="-21021" dirty="0">
                <a:solidFill>
                  <a:srgbClr val="FF0000"/>
                </a:solidFill>
                <a:latin typeface="Times New Roman"/>
                <a:cs typeface="Times New Roman"/>
              </a:rPr>
              <a:t>h	</a:t>
            </a:r>
            <a:r>
              <a:rPr sz="2800" b="1" i="1" spc="-5" dirty="0">
                <a:latin typeface="Times New Roman"/>
                <a:cs typeface="Times New Roman"/>
              </a:rPr>
              <a:t>be</a:t>
            </a:r>
            <a:r>
              <a:rPr sz="2800" b="1" i="1" spc="3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3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highest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spc="-15" dirty="0">
                <a:latin typeface="Times New Roman"/>
                <a:cs typeface="Times New Roman"/>
              </a:rPr>
              <a:t>frequency,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775" b="1" i="1" baseline="-21021" dirty="0">
                <a:solidFill>
                  <a:srgbClr val="FF0000"/>
                </a:solidFill>
                <a:latin typeface="Times New Roman"/>
                <a:cs typeface="Times New Roman"/>
              </a:rPr>
              <a:t>l	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2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lowest</a:t>
            </a:r>
            <a:r>
              <a:rPr sz="2800" b="1" i="1" spc="270" dirty="0">
                <a:latin typeface="Times New Roman"/>
                <a:cs typeface="Times New Roman"/>
              </a:rPr>
              <a:t> </a:t>
            </a:r>
            <a:r>
              <a:rPr sz="2800" b="1" i="1" spc="-15" dirty="0">
                <a:latin typeface="Times New Roman"/>
                <a:cs typeface="Times New Roman"/>
              </a:rPr>
              <a:t>frequency,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bandwidth.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Then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50">
              <a:latin typeface="Times New Roman"/>
              <a:cs typeface="Times New Roman"/>
            </a:endParaRPr>
          </a:p>
          <a:p>
            <a:pPr marL="63500" marR="55880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1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spectrum</a:t>
            </a:r>
            <a:r>
              <a:rPr sz="2800" b="1" i="1" spc="1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contains</a:t>
            </a:r>
            <a:r>
              <a:rPr sz="2800" b="1" i="1" spc="20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all</a:t>
            </a:r>
            <a:r>
              <a:rPr sz="2800" b="1" i="1" spc="1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integer</a:t>
            </a:r>
            <a:r>
              <a:rPr sz="2800" b="1" i="1" spc="2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frequencies.</a:t>
            </a:r>
            <a:r>
              <a:rPr sz="2800" b="1" i="1" spc="210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1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by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series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spikes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(see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3.14).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30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078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3.14	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bandwidth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30" dirty="0">
                <a:latin typeface="Times New Roman"/>
                <a:cs typeface="Times New Roman"/>
              </a:rPr>
              <a:t>3.11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1673" y="3352800"/>
            <a:ext cx="8033766" cy="141579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31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3.12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919996"/>
            <a:ext cx="9144000" cy="3430270"/>
          </a:xfrm>
          <a:custGeom>
            <a:avLst/>
            <a:gdLst/>
            <a:ahLst/>
            <a:cxnLst/>
            <a:rect l="l" t="t" r="r" b="b"/>
            <a:pathLst>
              <a:path w="9144000" h="34302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3429762"/>
                </a:lnTo>
                <a:lnTo>
                  <a:pt x="9144000" y="342976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817624"/>
            <a:ext cx="8378190" cy="429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indent="33782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nonperiodic composite signal </a:t>
            </a:r>
            <a:r>
              <a:rPr sz="2800" b="1" i="1" dirty="0">
                <a:latin typeface="Times New Roman"/>
                <a:cs typeface="Times New Roman"/>
              </a:rPr>
              <a:t>has a </a:t>
            </a:r>
            <a:r>
              <a:rPr sz="2800" b="1" i="1" spc="-5" dirty="0">
                <a:latin typeface="Times New Roman"/>
                <a:cs typeface="Times New Roman"/>
              </a:rPr>
              <a:t>bandwidth of </a:t>
            </a:r>
            <a:r>
              <a:rPr sz="2800" b="1" i="1" dirty="0">
                <a:latin typeface="Times New Roman"/>
                <a:cs typeface="Times New Roman"/>
              </a:rPr>
              <a:t>200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kHz,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middle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140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kHz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peak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amplitude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20 </a:t>
            </a:r>
            <a:r>
              <a:rPr sz="2800" b="1" i="1" dirty="0">
                <a:latin typeface="Times New Roman"/>
                <a:cs typeface="Times New Roman"/>
              </a:rPr>
              <a:t>V The </a:t>
            </a:r>
            <a:r>
              <a:rPr sz="2800" b="1" i="1" spc="-5" dirty="0">
                <a:latin typeface="Times New Roman"/>
                <a:cs typeface="Times New Roman"/>
              </a:rPr>
              <a:t>two extreme frequencies have </a:t>
            </a:r>
            <a:r>
              <a:rPr sz="2800" b="1" i="1" dirty="0">
                <a:latin typeface="Times New Roman"/>
                <a:cs typeface="Times New Roman"/>
              </a:rPr>
              <a:t>an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amplitude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0.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Draw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domain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7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signal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The lowest frequency must be at 40 kHz and the highest </a:t>
            </a:r>
            <a:r>
              <a:rPr sz="2800" b="1" i="1" dirty="0">
                <a:latin typeface="Times New Roman"/>
                <a:cs typeface="Times New Roman"/>
              </a:rPr>
              <a:t> at</a:t>
            </a:r>
            <a:r>
              <a:rPr sz="2800" b="1" i="1" spc="5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240</a:t>
            </a:r>
            <a:r>
              <a:rPr sz="2800" b="1" i="1" spc="5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kHz</a:t>
            </a:r>
            <a:r>
              <a:rPr sz="2800" b="1" i="1" spc="5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Figure</a:t>
            </a:r>
            <a:r>
              <a:rPr sz="2800" b="1" i="1" spc="5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15</a:t>
            </a:r>
            <a:r>
              <a:rPr sz="2800" b="1" i="1" spc="5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shows</a:t>
            </a:r>
            <a:r>
              <a:rPr sz="2800" b="1" i="1" spc="5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5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frequency</a:t>
            </a:r>
            <a:r>
              <a:rPr sz="2800" b="1" i="1" spc="5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domain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bandwidth.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32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092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3.15	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bandwidth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3.12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2778251"/>
            <a:ext cx="8136635" cy="221894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33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3.13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062745"/>
            <a:ext cx="9144000" cy="2573020"/>
          </a:xfrm>
          <a:custGeom>
            <a:avLst/>
            <a:gdLst/>
            <a:ahLst/>
            <a:cxnLst/>
            <a:rect l="l" t="t" r="r" b="b"/>
            <a:pathLst>
              <a:path w="9144000" h="25730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4500"/>
                </a:lnTo>
                <a:lnTo>
                  <a:pt x="0" y="1715262"/>
                </a:lnTo>
                <a:lnTo>
                  <a:pt x="0" y="2572512"/>
                </a:lnTo>
                <a:lnTo>
                  <a:pt x="9144000" y="2572512"/>
                </a:lnTo>
                <a:lnTo>
                  <a:pt x="9144000" y="1715262"/>
                </a:lnTo>
                <a:lnTo>
                  <a:pt x="9144000" y="1714500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665224"/>
            <a:ext cx="837692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example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nonperiodic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composite</a:t>
            </a:r>
            <a:r>
              <a:rPr sz="2800" b="1" i="1" spc="-5" dirty="0">
                <a:latin typeface="Times New Roman"/>
                <a:cs typeface="Times New Roman"/>
              </a:rPr>
              <a:t> signal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the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 propagated </a:t>
            </a:r>
            <a:r>
              <a:rPr sz="2800" b="1" i="1" dirty="0">
                <a:latin typeface="Times New Roman"/>
                <a:cs typeface="Times New Roman"/>
              </a:rPr>
              <a:t>by </a:t>
            </a:r>
            <a:r>
              <a:rPr sz="2800" b="1" i="1" spc="-5" dirty="0">
                <a:latin typeface="Times New Roman"/>
                <a:cs typeface="Times New Roman"/>
              </a:rPr>
              <a:t>an AM radio station. In the United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States,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radio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station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assigned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10-kHz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bandwidth. The total bandwidth dedicated to AM radio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ranges from 530 to 1700 kHz.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will show the rationale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behind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10-kHz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bandwidth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Chapter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5.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34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3.14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91999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817624"/>
            <a:ext cx="837692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Another</a:t>
            </a:r>
            <a:r>
              <a:rPr sz="2800" b="1" i="1" spc="5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example</a:t>
            </a:r>
            <a:r>
              <a:rPr sz="2800" b="1" i="1" spc="5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5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5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nonperiodic</a:t>
            </a:r>
            <a:r>
              <a:rPr sz="2800" b="1" i="1" spc="5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composite</a:t>
            </a:r>
            <a:r>
              <a:rPr sz="2800" b="1" i="1" spc="5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</a:t>
            </a:r>
            <a:r>
              <a:rPr sz="2800" b="1" i="1" spc="5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signal propagated by an FM radio station.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United States, each FM radio station is assigned </a:t>
            </a:r>
            <a:r>
              <a:rPr sz="2800" b="1" i="1" dirty="0">
                <a:latin typeface="Times New Roman"/>
                <a:cs typeface="Times New Roman"/>
              </a:rPr>
              <a:t>a 200-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kHz bandwidth. The total bandwidth dedicated </a:t>
            </a:r>
            <a:r>
              <a:rPr sz="2800" b="1" i="1" dirty="0">
                <a:latin typeface="Times New Roman"/>
                <a:cs typeface="Times New Roman"/>
              </a:rPr>
              <a:t>to </a:t>
            </a:r>
            <a:r>
              <a:rPr sz="2800" b="1" i="1" spc="-5" dirty="0">
                <a:latin typeface="Times New Roman"/>
                <a:cs typeface="Times New Roman"/>
              </a:rPr>
              <a:t>FM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radio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ranges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from </a:t>
            </a:r>
            <a:r>
              <a:rPr sz="2800" b="1" i="1" dirty="0">
                <a:latin typeface="Times New Roman"/>
                <a:cs typeface="Times New Roman"/>
              </a:rPr>
              <a:t>88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108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MHz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will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rationale</a:t>
            </a:r>
            <a:r>
              <a:rPr sz="2800" b="1" i="1" spc="-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behind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200-kHz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bandwidth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Chapter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5.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35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3.15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062745"/>
            <a:ext cx="9144000" cy="4287520"/>
          </a:xfrm>
          <a:custGeom>
            <a:avLst/>
            <a:gdLst/>
            <a:ahLst/>
            <a:cxnLst/>
            <a:rect l="l" t="t" r="r" b="b"/>
            <a:pathLst>
              <a:path w="9144000" h="42875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4287012"/>
                </a:lnTo>
                <a:lnTo>
                  <a:pt x="9144000" y="4287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665224"/>
            <a:ext cx="8376920" cy="429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Another</a:t>
            </a:r>
            <a:r>
              <a:rPr sz="2800" b="1" i="1" spc="5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example</a:t>
            </a:r>
            <a:r>
              <a:rPr sz="2800" b="1" i="1" spc="5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5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5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nonperiodic</a:t>
            </a:r>
            <a:r>
              <a:rPr sz="2800" b="1" i="1" spc="5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composite</a:t>
            </a:r>
            <a:r>
              <a:rPr sz="2800" b="1" i="1" spc="5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</a:t>
            </a:r>
            <a:r>
              <a:rPr sz="2800" b="1" i="1" spc="5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signal received </a:t>
            </a:r>
            <a:r>
              <a:rPr sz="2800" b="1" i="1" dirty="0">
                <a:latin typeface="Times New Roman"/>
                <a:cs typeface="Times New Roman"/>
              </a:rPr>
              <a:t>by </a:t>
            </a:r>
            <a:r>
              <a:rPr sz="2800" b="1" i="1" spc="-5" dirty="0">
                <a:latin typeface="Times New Roman"/>
                <a:cs typeface="Times New Roman"/>
              </a:rPr>
              <a:t>an old-fashioned analog black-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and-white </a:t>
            </a:r>
            <a:r>
              <a:rPr sz="2800" b="1" i="1" spc="-125" dirty="0">
                <a:latin typeface="Times New Roman"/>
                <a:cs typeface="Times New Roman"/>
              </a:rPr>
              <a:t>TV.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TV screen is made up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pixels. </a:t>
            </a:r>
            <a:r>
              <a:rPr sz="2800" b="1" i="1" dirty="0">
                <a:latin typeface="Times New Roman"/>
                <a:cs typeface="Times New Roman"/>
              </a:rPr>
              <a:t>If </a:t>
            </a:r>
            <a:r>
              <a:rPr sz="2800" b="1" i="1" spc="-5" dirty="0">
                <a:latin typeface="Times New Roman"/>
                <a:cs typeface="Times New Roman"/>
              </a:rPr>
              <a:t>we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assume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resolution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525</a:t>
            </a:r>
            <a:r>
              <a:rPr sz="2800" b="1" i="1" dirty="0">
                <a:latin typeface="Times New Roman"/>
                <a:cs typeface="Times New Roman"/>
              </a:rPr>
              <a:t> ×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700,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have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367,500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pixels per screen. If we scan the screen 30 times per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second,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367,500</a:t>
            </a:r>
            <a:r>
              <a:rPr sz="2800" b="1" i="1" dirty="0">
                <a:latin typeface="Times New Roman"/>
                <a:cs typeface="Times New Roman"/>
              </a:rPr>
              <a:t> ×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30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20" dirty="0">
                <a:latin typeface="Times New Roman"/>
                <a:cs typeface="Times New Roman"/>
              </a:rPr>
              <a:t>11,025,000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pixels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second. The worst-case scenario is alternating black and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white pixels.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can send </a:t>
            </a:r>
            <a:r>
              <a:rPr sz="2800" b="1" i="1" dirty="0">
                <a:latin typeface="Times New Roman"/>
                <a:cs typeface="Times New Roman"/>
              </a:rPr>
              <a:t>2 </a:t>
            </a:r>
            <a:r>
              <a:rPr sz="2800" b="1" i="1" spc="-5" dirty="0">
                <a:latin typeface="Times New Roman"/>
                <a:cs typeface="Times New Roman"/>
              </a:rPr>
              <a:t>pixels per cycle. Therefore,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 need </a:t>
            </a:r>
            <a:r>
              <a:rPr sz="2800" b="1" i="1" spc="-20" dirty="0">
                <a:latin typeface="Times New Roman"/>
                <a:cs typeface="Times New Roman"/>
              </a:rPr>
              <a:t>11,025,000 </a:t>
            </a:r>
            <a:r>
              <a:rPr sz="2800" b="1" i="1" dirty="0">
                <a:latin typeface="Times New Roman"/>
                <a:cs typeface="Times New Roman"/>
              </a:rPr>
              <a:t>/ 2 = 5,512,500 </a:t>
            </a:r>
            <a:r>
              <a:rPr sz="2800" b="1" i="1" spc="-5" dirty="0">
                <a:latin typeface="Times New Roman"/>
                <a:cs typeface="Times New Roman"/>
              </a:rPr>
              <a:t>cycles per second, or </a:t>
            </a:r>
            <a:r>
              <a:rPr sz="2800" b="1" i="1" dirty="0">
                <a:latin typeface="Times New Roman"/>
                <a:cs typeface="Times New Roman"/>
              </a:rPr>
              <a:t> Hz.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bandwidth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needed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5.5125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MHz.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36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45185"/>
            <a:chOff x="774839" y="348995"/>
            <a:chExt cx="9144000" cy="845185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4000" y="83820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38200"/>
                  </a:lnTo>
                  <a:lnTo>
                    <a:pt x="9144000" y="83820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39" y="348995"/>
              <a:ext cx="9144000" cy="845185"/>
            </a:xfrm>
            <a:custGeom>
              <a:avLst/>
              <a:gdLst/>
              <a:ahLst/>
              <a:cxnLst/>
              <a:rect l="l" t="t" r="r" b="b"/>
              <a:pathLst>
                <a:path w="9144000" h="845185">
                  <a:moveTo>
                    <a:pt x="6858" y="0"/>
                  </a:moveTo>
                  <a:lnTo>
                    <a:pt x="0" y="0"/>
                  </a:lnTo>
                  <a:lnTo>
                    <a:pt x="0" y="6858"/>
                  </a:lnTo>
                  <a:lnTo>
                    <a:pt x="6858" y="0"/>
                  </a:lnTo>
                  <a:close/>
                </a:path>
                <a:path w="9144000" h="845185">
                  <a:moveTo>
                    <a:pt x="9143987" y="6858"/>
                  </a:moveTo>
                  <a:lnTo>
                    <a:pt x="9137904" y="0"/>
                  </a:lnTo>
                  <a:lnTo>
                    <a:pt x="6858" y="0"/>
                  </a:lnTo>
                  <a:lnTo>
                    <a:pt x="0" y="6858"/>
                  </a:lnTo>
                  <a:lnTo>
                    <a:pt x="9143987" y="6858"/>
                  </a:lnTo>
                  <a:close/>
                </a:path>
                <a:path w="9144000" h="845185">
                  <a:moveTo>
                    <a:pt x="6858" y="832104"/>
                  </a:moveTo>
                  <a:lnTo>
                    <a:pt x="6858" y="6858"/>
                  </a:lnTo>
                  <a:lnTo>
                    <a:pt x="0" y="6858"/>
                  </a:lnTo>
                  <a:lnTo>
                    <a:pt x="0" y="832104"/>
                  </a:lnTo>
                  <a:lnTo>
                    <a:pt x="6858" y="832104"/>
                  </a:lnTo>
                  <a:close/>
                </a:path>
                <a:path w="9144000" h="845185">
                  <a:moveTo>
                    <a:pt x="9143987" y="832104"/>
                  </a:moveTo>
                  <a:lnTo>
                    <a:pt x="0" y="832104"/>
                  </a:lnTo>
                  <a:lnTo>
                    <a:pt x="6858" y="838200"/>
                  </a:lnTo>
                  <a:lnTo>
                    <a:pt x="6858" y="845058"/>
                  </a:lnTo>
                  <a:lnTo>
                    <a:pt x="9137904" y="845058"/>
                  </a:lnTo>
                  <a:lnTo>
                    <a:pt x="9137904" y="838200"/>
                  </a:lnTo>
                  <a:lnTo>
                    <a:pt x="9143987" y="832104"/>
                  </a:lnTo>
                  <a:close/>
                </a:path>
                <a:path w="9144000" h="845185">
                  <a:moveTo>
                    <a:pt x="6858" y="845058"/>
                  </a:moveTo>
                  <a:lnTo>
                    <a:pt x="6858" y="838200"/>
                  </a:lnTo>
                  <a:lnTo>
                    <a:pt x="0" y="832104"/>
                  </a:lnTo>
                  <a:lnTo>
                    <a:pt x="0" y="845058"/>
                  </a:lnTo>
                  <a:lnTo>
                    <a:pt x="6858" y="845058"/>
                  </a:lnTo>
                  <a:close/>
                </a:path>
                <a:path w="9144000" h="845185">
                  <a:moveTo>
                    <a:pt x="9144000" y="845058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43987" y="6858"/>
                  </a:lnTo>
                  <a:lnTo>
                    <a:pt x="9143987" y="845058"/>
                  </a:lnTo>
                  <a:close/>
                </a:path>
                <a:path w="9144000" h="845185">
                  <a:moveTo>
                    <a:pt x="9143987" y="832104"/>
                  </a:moveTo>
                  <a:lnTo>
                    <a:pt x="9143987" y="6858"/>
                  </a:lnTo>
                  <a:lnTo>
                    <a:pt x="9137904" y="6858"/>
                  </a:lnTo>
                  <a:lnTo>
                    <a:pt x="9137904" y="832104"/>
                  </a:lnTo>
                  <a:lnTo>
                    <a:pt x="9143987" y="832104"/>
                  </a:lnTo>
                  <a:close/>
                </a:path>
                <a:path w="9144000" h="845185">
                  <a:moveTo>
                    <a:pt x="9143987" y="845058"/>
                  </a:moveTo>
                  <a:lnTo>
                    <a:pt x="9143987" y="832104"/>
                  </a:lnTo>
                  <a:lnTo>
                    <a:pt x="9137904" y="838200"/>
                  </a:lnTo>
                  <a:lnTo>
                    <a:pt x="9137904" y="845058"/>
                  </a:lnTo>
                  <a:lnTo>
                    <a:pt x="9143987" y="8450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4839" y="348995"/>
            <a:ext cx="9144000" cy="83820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19405">
              <a:lnSpc>
                <a:spcPct val="100000"/>
              </a:lnSpc>
              <a:spcBef>
                <a:spcPts val="850"/>
              </a:spcBef>
              <a:tabLst>
                <a:tab pos="1164590" algn="l"/>
              </a:tabLst>
            </a:pPr>
            <a:r>
              <a:rPr spc="-5" dirty="0"/>
              <a:t>3</a:t>
            </a:r>
            <a:r>
              <a:rPr spc="-10" dirty="0"/>
              <a:t>-</a:t>
            </a:r>
            <a:r>
              <a:rPr spc="-5" dirty="0"/>
              <a:t>3</a:t>
            </a:r>
            <a:r>
              <a:rPr dirty="0"/>
              <a:t>	</a:t>
            </a:r>
            <a:r>
              <a:rPr spc="-5" dirty="0"/>
              <a:t>DIGI</a:t>
            </a:r>
            <a:r>
              <a:rPr spc="-245" dirty="0"/>
              <a:t>T</a:t>
            </a:r>
            <a:r>
              <a:rPr spc="-5" dirty="0"/>
              <a:t>AL</a:t>
            </a:r>
            <a:r>
              <a:rPr spc="-150" dirty="0"/>
              <a:t> </a:t>
            </a:r>
            <a:r>
              <a:rPr spc="-5" dirty="0"/>
              <a:t>SIGNALS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2062745"/>
            <a:ext cx="9144000" cy="2573020"/>
          </a:xfrm>
          <a:custGeom>
            <a:avLst/>
            <a:gdLst/>
            <a:ahLst/>
            <a:cxnLst/>
            <a:rect l="l" t="t" r="r" b="b"/>
            <a:pathLst>
              <a:path w="9144000" h="25730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4500"/>
                </a:lnTo>
                <a:lnTo>
                  <a:pt x="0" y="1715262"/>
                </a:lnTo>
                <a:lnTo>
                  <a:pt x="0" y="2572512"/>
                </a:lnTo>
                <a:lnTo>
                  <a:pt x="9144000" y="2572512"/>
                </a:lnTo>
                <a:lnTo>
                  <a:pt x="9144000" y="1715262"/>
                </a:lnTo>
                <a:lnTo>
                  <a:pt x="9144000" y="1714500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29773" y="1297939"/>
            <a:ext cx="8453755" cy="5381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addition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being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represented</a:t>
            </a:r>
            <a:r>
              <a:rPr sz="2800" b="1" i="1" dirty="0">
                <a:latin typeface="Times New Roman"/>
                <a:cs typeface="Times New Roman"/>
              </a:rPr>
              <a:t> by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analog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signal,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information can also be represented </a:t>
            </a:r>
            <a:r>
              <a:rPr sz="2800" b="1" i="1" dirty="0">
                <a:latin typeface="Times New Roman"/>
                <a:cs typeface="Times New Roman"/>
              </a:rPr>
              <a:t>by a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digital </a:t>
            </a:r>
            <a:r>
              <a:rPr sz="2800" b="1" i="1" spc="-285" dirty="0">
                <a:solidFill>
                  <a:srgbClr val="FF0000"/>
                </a:solidFill>
                <a:latin typeface="Times New Roman"/>
                <a:cs typeface="Times New Roman"/>
              </a:rPr>
              <a:t>signal</a:t>
            </a:r>
            <a:r>
              <a:rPr sz="2800" b="1" i="1" spc="-285" dirty="0">
                <a:latin typeface="Times New Roman"/>
                <a:cs typeface="Times New Roman"/>
              </a:rPr>
              <a:t>.... </a:t>
            </a:r>
            <a:r>
              <a:rPr sz="2800" b="1" i="1" spc="-2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spc="4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example,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4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</a:t>
            </a:r>
            <a:r>
              <a:rPr sz="2800" b="1" i="1" spc="4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</a:t>
            </a:r>
            <a:r>
              <a:rPr sz="2800" b="1" i="1" spc="4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encoded</a:t>
            </a:r>
            <a:r>
              <a:rPr sz="2800" b="1" i="1" spc="4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4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positive</a:t>
            </a:r>
            <a:r>
              <a:rPr sz="2800" b="1" i="1" spc="45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voltage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 a 0 as </a:t>
            </a:r>
            <a:r>
              <a:rPr sz="2800" b="1" i="1" spc="-5" dirty="0">
                <a:latin typeface="Times New Roman"/>
                <a:cs typeface="Times New Roman"/>
              </a:rPr>
              <a:t>zero </a:t>
            </a:r>
            <a:r>
              <a:rPr sz="2800" b="1" i="1" spc="-195" dirty="0">
                <a:latin typeface="Times New Roman"/>
                <a:cs typeface="Times New Roman"/>
              </a:rPr>
              <a:t>voltage....</a:t>
            </a:r>
            <a:r>
              <a:rPr sz="2800" b="1" i="1" spc="-1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digital signal </a:t>
            </a:r>
            <a:r>
              <a:rPr sz="2800" b="1" i="1" dirty="0">
                <a:latin typeface="Times New Roman"/>
                <a:cs typeface="Times New Roman"/>
              </a:rPr>
              <a:t>can </a:t>
            </a:r>
            <a:r>
              <a:rPr sz="2800" b="1" i="1" spc="-5" dirty="0">
                <a:latin typeface="Times New Roman"/>
                <a:cs typeface="Times New Roman"/>
              </a:rPr>
              <a:t>have more </a:t>
            </a:r>
            <a:r>
              <a:rPr sz="2800" b="1" i="1" dirty="0">
                <a:latin typeface="Times New Roman"/>
                <a:cs typeface="Times New Roman"/>
              </a:rPr>
              <a:t> than </a:t>
            </a:r>
            <a:r>
              <a:rPr sz="2800" b="1" i="1" spc="-5" dirty="0">
                <a:latin typeface="Times New Roman"/>
                <a:cs typeface="Times New Roman"/>
              </a:rPr>
              <a:t>two levels.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this case, we can send more </a:t>
            </a:r>
            <a:r>
              <a:rPr sz="2800" b="1" i="1" dirty="0">
                <a:latin typeface="Times New Roman"/>
                <a:cs typeface="Times New Roman"/>
              </a:rPr>
              <a:t>than 1 </a:t>
            </a:r>
            <a:r>
              <a:rPr sz="2800" b="1" i="1" spc="-5" dirty="0">
                <a:latin typeface="Times New Roman"/>
                <a:cs typeface="Times New Roman"/>
              </a:rPr>
              <a:t>bit </a:t>
            </a:r>
            <a:r>
              <a:rPr sz="2800" b="1" i="1" dirty="0">
                <a:latin typeface="Times New Roman"/>
                <a:cs typeface="Times New Roman"/>
              </a:rPr>
              <a:t> for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315" dirty="0">
                <a:latin typeface="Times New Roman"/>
                <a:cs typeface="Times New Roman"/>
              </a:rPr>
              <a:t>level....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75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88900" marR="6961505">
              <a:lnSpc>
                <a:spcPct val="100000"/>
              </a:lnSpc>
              <a:spcBef>
                <a:spcPts val="400"/>
              </a:spcBef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Bit Rate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Bit</a:t>
            </a:r>
            <a:r>
              <a:rPr sz="2400" b="1" spc="-10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Length</a:t>
            </a:r>
            <a:endParaRPr sz="2400">
              <a:latin typeface="Times New Roman"/>
              <a:cs typeface="Times New Roman"/>
            </a:endParaRPr>
          </a:p>
          <a:p>
            <a:pPr marL="88900" marR="2667000">
              <a:lnSpc>
                <a:spcPct val="100000"/>
              </a:lnSpc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Digital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Signal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as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a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Composite</a:t>
            </a:r>
            <a:r>
              <a:rPr sz="2400" b="1" spc="-1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Analog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Signal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Application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Layer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37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7874634" cy="6985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663064" marR="5080" indent="-1651000">
              <a:lnSpc>
                <a:spcPct val="100600"/>
              </a:lnSpc>
              <a:spcBef>
                <a:spcPts val="8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3.16	</a:t>
            </a:r>
            <a:r>
              <a:rPr sz="2000" i="1" spc="-30" dirty="0">
                <a:latin typeface="Times New Roman"/>
                <a:cs typeface="Times New Roman"/>
              </a:rPr>
              <a:t>Two</a:t>
            </a:r>
            <a:r>
              <a:rPr sz="2000" i="1" spc="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digital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signals: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one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with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two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signal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levels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other </a:t>
            </a:r>
            <a:r>
              <a:rPr sz="2000" i="1" spc="-484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with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four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signal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levels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4839" y="1206246"/>
            <a:ext cx="9144000" cy="5505450"/>
            <a:chOff x="774839" y="1206246"/>
            <a:chExt cx="9144000" cy="5505450"/>
          </a:xfrm>
        </p:grpSpPr>
        <p:sp>
          <p:nvSpPr>
            <p:cNvPr id="5" name="object 5"/>
            <p:cNvSpPr/>
            <p:nvPr/>
          </p:nvSpPr>
          <p:spPr>
            <a:xfrm>
              <a:off x="774839" y="1206246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27239" y="1330452"/>
              <a:ext cx="8763000" cy="19050"/>
            </a:xfrm>
            <a:custGeom>
              <a:avLst/>
              <a:gdLst/>
              <a:ahLst/>
              <a:cxnLst/>
              <a:rect l="l" t="t" r="r" b="b"/>
              <a:pathLst>
                <a:path w="8763000" h="19050">
                  <a:moveTo>
                    <a:pt x="8763000" y="19049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763000" y="190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5039" y="1533906"/>
              <a:ext cx="5707354" cy="506349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27239" y="6635496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38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3.16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82173" y="1817624"/>
            <a:ext cx="8376284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0513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digital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</a:t>
            </a:r>
            <a:r>
              <a:rPr sz="2800" b="1" i="1" dirty="0">
                <a:latin typeface="Times New Roman"/>
                <a:cs typeface="Times New Roman"/>
              </a:rPr>
              <a:t> has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eight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levels.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How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many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needed per level?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calculate the number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bits from 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formula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98500" y="3430047"/>
            <a:ext cx="9144000" cy="1131570"/>
            <a:chOff x="774839" y="2919983"/>
            <a:chExt cx="9144000" cy="1131570"/>
          </a:xfrm>
        </p:grpSpPr>
        <p:sp>
          <p:nvSpPr>
            <p:cNvPr id="16" name="object 16"/>
            <p:cNvSpPr/>
            <p:nvPr/>
          </p:nvSpPr>
          <p:spPr>
            <a:xfrm>
              <a:off x="774839" y="291998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74377" y="3566159"/>
              <a:ext cx="4346448" cy="21183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116465" y="3505200"/>
              <a:ext cx="4461510" cy="273050"/>
            </a:xfrm>
            <a:custGeom>
              <a:avLst/>
              <a:gdLst/>
              <a:ahLst/>
              <a:cxnLst/>
              <a:rect l="l" t="t" r="r" b="b"/>
              <a:pathLst>
                <a:path w="4461509" h="273050">
                  <a:moveTo>
                    <a:pt x="4461510" y="272796"/>
                  </a:moveTo>
                  <a:lnTo>
                    <a:pt x="4461510" y="0"/>
                  </a:lnTo>
                  <a:lnTo>
                    <a:pt x="0" y="0"/>
                  </a:lnTo>
                  <a:lnTo>
                    <a:pt x="0" y="272796"/>
                  </a:lnTo>
                  <a:lnTo>
                    <a:pt x="28956" y="272796"/>
                  </a:lnTo>
                  <a:lnTo>
                    <a:pt x="28956" y="57150"/>
                  </a:lnTo>
                  <a:lnTo>
                    <a:pt x="57149" y="28956"/>
                  </a:lnTo>
                  <a:lnTo>
                    <a:pt x="57149" y="57150"/>
                  </a:lnTo>
                  <a:lnTo>
                    <a:pt x="4404347" y="57150"/>
                  </a:lnTo>
                  <a:lnTo>
                    <a:pt x="4404347" y="28955"/>
                  </a:lnTo>
                  <a:lnTo>
                    <a:pt x="4432553" y="57150"/>
                  </a:lnTo>
                  <a:lnTo>
                    <a:pt x="4432553" y="272796"/>
                  </a:lnTo>
                  <a:lnTo>
                    <a:pt x="4461510" y="272796"/>
                  </a:lnTo>
                  <a:close/>
                </a:path>
                <a:path w="4461509" h="273050">
                  <a:moveTo>
                    <a:pt x="57149" y="57150"/>
                  </a:moveTo>
                  <a:lnTo>
                    <a:pt x="57149" y="28956"/>
                  </a:lnTo>
                  <a:lnTo>
                    <a:pt x="28956" y="57150"/>
                  </a:lnTo>
                  <a:lnTo>
                    <a:pt x="57149" y="57150"/>
                  </a:lnTo>
                  <a:close/>
                </a:path>
                <a:path w="4461509" h="273050">
                  <a:moveTo>
                    <a:pt x="57149" y="272796"/>
                  </a:moveTo>
                  <a:lnTo>
                    <a:pt x="57149" y="57150"/>
                  </a:lnTo>
                  <a:lnTo>
                    <a:pt x="28956" y="57150"/>
                  </a:lnTo>
                  <a:lnTo>
                    <a:pt x="28956" y="272796"/>
                  </a:lnTo>
                  <a:lnTo>
                    <a:pt x="57149" y="272796"/>
                  </a:lnTo>
                  <a:close/>
                </a:path>
                <a:path w="4461509" h="273050">
                  <a:moveTo>
                    <a:pt x="4432553" y="57150"/>
                  </a:moveTo>
                  <a:lnTo>
                    <a:pt x="4404347" y="28955"/>
                  </a:lnTo>
                  <a:lnTo>
                    <a:pt x="4404347" y="57150"/>
                  </a:lnTo>
                  <a:lnTo>
                    <a:pt x="4432553" y="57150"/>
                  </a:lnTo>
                  <a:close/>
                </a:path>
                <a:path w="4461509" h="273050">
                  <a:moveTo>
                    <a:pt x="4432553" y="272796"/>
                  </a:moveTo>
                  <a:lnTo>
                    <a:pt x="4432553" y="57150"/>
                  </a:lnTo>
                  <a:lnTo>
                    <a:pt x="4404347" y="57150"/>
                  </a:lnTo>
                  <a:lnTo>
                    <a:pt x="4404347" y="272796"/>
                  </a:lnTo>
                  <a:lnTo>
                    <a:pt x="4432553" y="272796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74377" y="3777995"/>
              <a:ext cx="4346448" cy="21640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116465" y="3777995"/>
              <a:ext cx="4461510" cy="273685"/>
            </a:xfrm>
            <a:custGeom>
              <a:avLst/>
              <a:gdLst/>
              <a:ahLst/>
              <a:cxnLst/>
              <a:rect l="l" t="t" r="r" b="b"/>
              <a:pathLst>
                <a:path w="4461509" h="273685">
                  <a:moveTo>
                    <a:pt x="57150" y="216408"/>
                  </a:moveTo>
                  <a:lnTo>
                    <a:pt x="57150" y="0"/>
                  </a:lnTo>
                  <a:lnTo>
                    <a:pt x="0" y="0"/>
                  </a:lnTo>
                  <a:lnTo>
                    <a:pt x="0" y="273558"/>
                  </a:lnTo>
                  <a:lnTo>
                    <a:pt x="28956" y="273558"/>
                  </a:lnTo>
                  <a:lnTo>
                    <a:pt x="28956" y="216408"/>
                  </a:lnTo>
                  <a:lnTo>
                    <a:pt x="57150" y="216408"/>
                  </a:lnTo>
                  <a:close/>
                </a:path>
                <a:path w="4461509" h="273685">
                  <a:moveTo>
                    <a:pt x="4432554" y="216407"/>
                  </a:moveTo>
                  <a:lnTo>
                    <a:pt x="28956" y="216408"/>
                  </a:lnTo>
                  <a:lnTo>
                    <a:pt x="57150" y="244602"/>
                  </a:lnTo>
                  <a:lnTo>
                    <a:pt x="57150" y="273558"/>
                  </a:lnTo>
                  <a:lnTo>
                    <a:pt x="4404347" y="273557"/>
                  </a:lnTo>
                  <a:lnTo>
                    <a:pt x="4404347" y="244601"/>
                  </a:lnTo>
                  <a:lnTo>
                    <a:pt x="4432554" y="216407"/>
                  </a:lnTo>
                  <a:close/>
                </a:path>
                <a:path w="4461509" h="273685">
                  <a:moveTo>
                    <a:pt x="57150" y="273558"/>
                  </a:moveTo>
                  <a:lnTo>
                    <a:pt x="57150" y="244602"/>
                  </a:lnTo>
                  <a:lnTo>
                    <a:pt x="28956" y="216408"/>
                  </a:lnTo>
                  <a:lnTo>
                    <a:pt x="28956" y="273558"/>
                  </a:lnTo>
                  <a:lnTo>
                    <a:pt x="57150" y="273558"/>
                  </a:lnTo>
                  <a:close/>
                </a:path>
                <a:path w="4461509" h="273685">
                  <a:moveTo>
                    <a:pt x="4461510" y="273557"/>
                  </a:moveTo>
                  <a:lnTo>
                    <a:pt x="4461510" y="0"/>
                  </a:lnTo>
                  <a:lnTo>
                    <a:pt x="4404347" y="0"/>
                  </a:lnTo>
                  <a:lnTo>
                    <a:pt x="4404347" y="216407"/>
                  </a:lnTo>
                  <a:lnTo>
                    <a:pt x="4432554" y="216407"/>
                  </a:lnTo>
                  <a:lnTo>
                    <a:pt x="4432554" y="273557"/>
                  </a:lnTo>
                  <a:lnTo>
                    <a:pt x="4461510" y="273557"/>
                  </a:lnTo>
                  <a:close/>
                </a:path>
                <a:path w="4461509" h="273685">
                  <a:moveTo>
                    <a:pt x="4432554" y="273557"/>
                  </a:moveTo>
                  <a:lnTo>
                    <a:pt x="4432554" y="216407"/>
                  </a:lnTo>
                  <a:lnTo>
                    <a:pt x="4404347" y="244601"/>
                  </a:lnTo>
                  <a:lnTo>
                    <a:pt x="4404347" y="273557"/>
                  </a:lnTo>
                  <a:lnTo>
                    <a:pt x="4432554" y="273557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082173" y="4575302"/>
            <a:ext cx="60229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signal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level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represented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by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39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3.17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91999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817624"/>
            <a:ext cx="8376920" cy="301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13384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digital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</a:t>
            </a:r>
            <a:r>
              <a:rPr sz="2800" b="1" i="1" dirty="0">
                <a:latin typeface="Times New Roman"/>
                <a:cs typeface="Times New Roman"/>
              </a:rPr>
              <a:t> has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nine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levels.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How</a:t>
            </a:r>
            <a:r>
              <a:rPr sz="2800" b="1" i="1" dirty="0">
                <a:latin typeface="Times New Roman"/>
                <a:cs typeface="Times New Roman"/>
              </a:rPr>
              <a:t> many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needed per level?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calculate the number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bits by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using</a:t>
            </a:r>
            <a:r>
              <a:rPr sz="2800" b="1" i="1" spc="4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4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formula</a:t>
            </a:r>
            <a:r>
              <a:rPr sz="2800" b="1" i="1" spc="5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spc="48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</a:t>
            </a:r>
            <a:r>
              <a:rPr sz="2800" b="1" i="1" spc="500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level</a:t>
            </a:r>
            <a:r>
              <a:rPr sz="2800" b="1" i="1" spc="4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4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represented</a:t>
            </a:r>
            <a:r>
              <a:rPr sz="2800" b="1" i="1" spc="5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by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3.17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bits.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However,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answer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realistic.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number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bits sent per </a:t>
            </a:r>
            <a:r>
              <a:rPr sz="2800" b="1" i="1" spc="-10" dirty="0">
                <a:latin typeface="Times New Roman"/>
                <a:cs typeface="Times New Roman"/>
              </a:rPr>
              <a:t>level </a:t>
            </a:r>
            <a:r>
              <a:rPr sz="2800" b="1" i="1" spc="-5" dirty="0">
                <a:latin typeface="Times New Roman"/>
                <a:cs typeface="Times New Roman"/>
              </a:rPr>
              <a:t>needs to be </a:t>
            </a:r>
            <a:r>
              <a:rPr sz="2800" b="1" i="1" dirty="0">
                <a:latin typeface="Times New Roman"/>
                <a:cs typeface="Times New Roman"/>
              </a:rPr>
              <a:t>an </a:t>
            </a:r>
            <a:r>
              <a:rPr sz="2800" b="1" i="1" spc="-5" dirty="0">
                <a:latin typeface="Times New Roman"/>
                <a:cs typeface="Times New Roman"/>
              </a:rPr>
              <a:t>integer </a:t>
            </a:r>
            <a:r>
              <a:rPr sz="2800" b="1" i="1" dirty="0">
                <a:latin typeface="Times New Roman"/>
                <a:cs typeface="Times New Roman"/>
              </a:rPr>
              <a:t>as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well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as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power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example,</a:t>
            </a:r>
            <a:r>
              <a:rPr sz="2800" b="1" i="1" dirty="0">
                <a:latin typeface="Times New Roman"/>
                <a:cs typeface="Times New Roman"/>
              </a:rPr>
              <a:t> 4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represent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one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level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40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3.18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919996"/>
            <a:ext cx="9144000" cy="2573020"/>
          </a:xfrm>
          <a:custGeom>
            <a:avLst/>
            <a:gdLst/>
            <a:ahLst/>
            <a:cxnLst/>
            <a:rect l="l" t="t" r="r" b="b"/>
            <a:pathLst>
              <a:path w="9144000" h="25730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4500"/>
                </a:lnTo>
                <a:lnTo>
                  <a:pt x="0" y="1715262"/>
                </a:lnTo>
                <a:lnTo>
                  <a:pt x="0" y="2572512"/>
                </a:lnTo>
                <a:lnTo>
                  <a:pt x="9144000" y="2572512"/>
                </a:lnTo>
                <a:lnTo>
                  <a:pt x="9144000" y="1715262"/>
                </a:lnTo>
                <a:lnTo>
                  <a:pt x="9144000" y="1714500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817624"/>
            <a:ext cx="8376284" cy="301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Assume we </a:t>
            </a:r>
            <a:r>
              <a:rPr sz="2800" b="1" i="1" spc="-10" dirty="0">
                <a:latin typeface="Times New Roman"/>
                <a:cs typeface="Times New Roman"/>
              </a:rPr>
              <a:t>need </a:t>
            </a:r>
            <a:r>
              <a:rPr sz="2800" b="1" i="1" spc="-5" dirty="0">
                <a:latin typeface="Times New Roman"/>
                <a:cs typeface="Times New Roman"/>
              </a:rPr>
              <a:t>to download text documents </a:t>
            </a:r>
            <a:r>
              <a:rPr sz="2800" b="1" i="1" dirty="0">
                <a:latin typeface="Times New Roman"/>
                <a:cs typeface="Times New Roman"/>
              </a:rPr>
              <a:t>at </a:t>
            </a:r>
            <a:r>
              <a:rPr sz="2800" b="1" i="1" spc="-5" dirty="0">
                <a:latin typeface="Times New Roman"/>
                <a:cs typeface="Times New Roman"/>
              </a:rPr>
              <a:t>the rate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 100 pages per second. What is the required bit rate of 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channel?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indent="35560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page </a:t>
            </a:r>
            <a:r>
              <a:rPr sz="2800" b="1" i="1" dirty="0">
                <a:latin typeface="Times New Roman"/>
                <a:cs typeface="Times New Roman"/>
              </a:rPr>
              <a:t>is an </a:t>
            </a:r>
            <a:r>
              <a:rPr sz="2800" b="1" i="1" spc="-5" dirty="0">
                <a:latin typeface="Times New Roman"/>
                <a:cs typeface="Times New Roman"/>
              </a:rPr>
              <a:t>average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24 lines with 80 characters in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spc="5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line.</a:t>
            </a:r>
            <a:r>
              <a:rPr sz="2800" b="1" i="1" spc="5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If</a:t>
            </a:r>
            <a:r>
              <a:rPr sz="2800" b="1" i="1" spc="5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50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assume</a:t>
            </a:r>
            <a:r>
              <a:rPr sz="2800" b="1" i="1" spc="50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that</a:t>
            </a:r>
            <a:r>
              <a:rPr sz="2800" b="1" i="1" spc="50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one</a:t>
            </a:r>
            <a:r>
              <a:rPr sz="2800" b="1" i="1" spc="50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character</a:t>
            </a:r>
            <a:r>
              <a:rPr sz="2800" b="1" i="1" spc="50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requires</a:t>
            </a:r>
            <a:r>
              <a:rPr sz="2800" b="1" i="1" spc="509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8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bits,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57779" y="5010150"/>
            <a:ext cx="5577840" cy="501650"/>
            <a:chOff x="2557779" y="5010150"/>
            <a:chExt cx="5577840" cy="50165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16593" y="5074920"/>
              <a:ext cx="5461253" cy="37947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557780" y="5010162"/>
              <a:ext cx="5577840" cy="501650"/>
            </a:xfrm>
            <a:custGeom>
              <a:avLst/>
              <a:gdLst/>
              <a:ahLst/>
              <a:cxnLst/>
              <a:rect l="l" t="t" r="r" b="b"/>
              <a:pathLst>
                <a:path w="5577840" h="501650">
                  <a:moveTo>
                    <a:pt x="5520055" y="444246"/>
                  </a:moveTo>
                  <a:lnTo>
                    <a:pt x="57289" y="444246"/>
                  </a:lnTo>
                  <a:lnTo>
                    <a:pt x="57289" y="455676"/>
                  </a:lnTo>
                  <a:lnTo>
                    <a:pt x="5520055" y="455676"/>
                  </a:lnTo>
                  <a:lnTo>
                    <a:pt x="5520055" y="444246"/>
                  </a:lnTo>
                  <a:close/>
                </a:path>
                <a:path w="5577840" h="501650">
                  <a:moveTo>
                    <a:pt x="5532120" y="45720"/>
                  </a:moveTo>
                  <a:lnTo>
                    <a:pt x="552069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455676"/>
                  </a:lnTo>
                  <a:lnTo>
                    <a:pt x="57150" y="455676"/>
                  </a:lnTo>
                  <a:lnTo>
                    <a:pt x="57150" y="57150"/>
                  </a:lnTo>
                  <a:lnTo>
                    <a:pt x="5520690" y="57150"/>
                  </a:lnTo>
                  <a:lnTo>
                    <a:pt x="5520690" y="455676"/>
                  </a:lnTo>
                  <a:lnTo>
                    <a:pt x="5532120" y="455676"/>
                  </a:lnTo>
                  <a:lnTo>
                    <a:pt x="5532120" y="45720"/>
                  </a:lnTo>
                  <a:close/>
                </a:path>
                <a:path w="5577840" h="501650">
                  <a:moveTo>
                    <a:pt x="5577840" y="0"/>
                  </a:moveTo>
                  <a:lnTo>
                    <a:pt x="5543550" y="0"/>
                  </a:lnTo>
                  <a:lnTo>
                    <a:pt x="5543550" y="34290"/>
                  </a:lnTo>
                  <a:lnTo>
                    <a:pt x="5543550" y="482346"/>
                  </a:lnTo>
                  <a:lnTo>
                    <a:pt x="5542927" y="482346"/>
                  </a:lnTo>
                  <a:lnTo>
                    <a:pt x="5542927" y="467106"/>
                  </a:lnTo>
                  <a:lnTo>
                    <a:pt x="34429" y="467106"/>
                  </a:lnTo>
                  <a:lnTo>
                    <a:pt x="34417" y="482346"/>
                  </a:lnTo>
                  <a:lnTo>
                    <a:pt x="34290" y="482346"/>
                  </a:lnTo>
                  <a:lnTo>
                    <a:pt x="34290" y="34290"/>
                  </a:lnTo>
                  <a:lnTo>
                    <a:pt x="5543550" y="34290"/>
                  </a:lnTo>
                  <a:lnTo>
                    <a:pt x="554355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482346"/>
                  </a:lnTo>
                  <a:lnTo>
                    <a:pt x="139" y="482346"/>
                  </a:lnTo>
                  <a:lnTo>
                    <a:pt x="139" y="501396"/>
                  </a:lnTo>
                  <a:lnTo>
                    <a:pt x="5577205" y="501396"/>
                  </a:lnTo>
                  <a:lnTo>
                    <a:pt x="5577205" y="482346"/>
                  </a:lnTo>
                  <a:lnTo>
                    <a:pt x="5577840" y="482346"/>
                  </a:lnTo>
                  <a:lnTo>
                    <a:pt x="557784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41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3.19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062745"/>
            <a:ext cx="9144000" cy="3430270"/>
          </a:xfrm>
          <a:custGeom>
            <a:avLst/>
            <a:gdLst/>
            <a:ahLst/>
            <a:cxnLst/>
            <a:rect l="l" t="t" r="r" b="b"/>
            <a:pathLst>
              <a:path w="9144000" h="34302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3429762"/>
                </a:lnTo>
                <a:lnTo>
                  <a:pt x="9144000" y="342976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662175"/>
            <a:ext cx="8375650" cy="3439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digitized voice channel, as we will see in Chapter 4, 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made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digitizing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4-kHz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analog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voice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10" dirty="0">
                <a:latin typeface="Times New Roman"/>
                <a:cs typeface="Times New Roman"/>
              </a:rPr>
              <a:t>need </a:t>
            </a:r>
            <a:r>
              <a:rPr sz="2800" b="1" i="1" spc="-5" dirty="0">
                <a:latin typeface="Times New Roman"/>
                <a:cs typeface="Times New Roman"/>
              </a:rPr>
              <a:t>to sample the signal at </a:t>
            </a:r>
            <a:r>
              <a:rPr sz="2800" b="1" i="1" spc="-10" dirty="0">
                <a:latin typeface="Times New Roman"/>
                <a:cs typeface="Times New Roman"/>
              </a:rPr>
              <a:t>twice </a:t>
            </a:r>
            <a:r>
              <a:rPr sz="2800" b="1" i="1" spc="-5" dirty="0">
                <a:latin typeface="Times New Roman"/>
                <a:cs typeface="Times New Roman"/>
              </a:rPr>
              <a:t>the highest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frequency (two samples per hertz).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assume that each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sample</a:t>
            </a:r>
            <a:r>
              <a:rPr sz="2800" b="1" i="1" spc="5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requires</a:t>
            </a:r>
            <a:r>
              <a:rPr sz="2800" b="1" i="1" spc="60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8</a:t>
            </a:r>
            <a:r>
              <a:rPr sz="2800" b="1" i="1" spc="6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bits.</a:t>
            </a:r>
            <a:r>
              <a:rPr sz="2800" b="1" i="1" spc="5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What</a:t>
            </a:r>
            <a:r>
              <a:rPr sz="2800" b="1" i="1" spc="6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6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6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required</a:t>
            </a:r>
            <a:r>
              <a:rPr sz="2800" b="1" i="1" spc="5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</a:t>
            </a:r>
            <a:r>
              <a:rPr sz="2800" b="1" i="1" spc="6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calculated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205479" y="5351526"/>
            <a:ext cx="4282440" cy="464820"/>
            <a:chOff x="3205479" y="5351526"/>
            <a:chExt cx="4282440" cy="464820"/>
          </a:xfrm>
        </p:grpSpPr>
        <p:sp>
          <p:nvSpPr>
            <p:cNvPr id="17" name="object 17"/>
            <p:cNvSpPr/>
            <p:nvPr/>
          </p:nvSpPr>
          <p:spPr>
            <a:xfrm>
              <a:off x="3205480" y="5351538"/>
              <a:ext cx="4282440" cy="140970"/>
            </a:xfrm>
            <a:custGeom>
              <a:avLst/>
              <a:gdLst/>
              <a:ahLst/>
              <a:cxnLst/>
              <a:rect l="l" t="t" r="r" b="b"/>
              <a:pathLst>
                <a:path w="4282440" h="140970">
                  <a:moveTo>
                    <a:pt x="57150" y="45720"/>
                  </a:moveTo>
                  <a:lnTo>
                    <a:pt x="45720" y="45720"/>
                  </a:lnTo>
                  <a:lnTo>
                    <a:pt x="45720" y="140970"/>
                  </a:lnTo>
                  <a:lnTo>
                    <a:pt x="57150" y="140970"/>
                  </a:lnTo>
                  <a:lnTo>
                    <a:pt x="57150" y="45720"/>
                  </a:lnTo>
                  <a:close/>
                </a:path>
                <a:path w="4282440" h="140970">
                  <a:moveTo>
                    <a:pt x="4282440" y="0"/>
                  </a:moveTo>
                  <a:lnTo>
                    <a:pt x="424815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140970"/>
                  </a:lnTo>
                  <a:lnTo>
                    <a:pt x="34290" y="140970"/>
                  </a:lnTo>
                  <a:lnTo>
                    <a:pt x="34290" y="34290"/>
                  </a:lnTo>
                  <a:lnTo>
                    <a:pt x="4248150" y="34290"/>
                  </a:lnTo>
                  <a:lnTo>
                    <a:pt x="4248150" y="140970"/>
                  </a:lnTo>
                  <a:lnTo>
                    <a:pt x="4282440" y="140970"/>
                  </a:lnTo>
                  <a:lnTo>
                    <a:pt x="428244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62629" y="5397246"/>
              <a:ext cx="4168140" cy="36195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205480" y="5397258"/>
              <a:ext cx="4282440" cy="419100"/>
            </a:xfrm>
            <a:custGeom>
              <a:avLst/>
              <a:gdLst/>
              <a:ahLst/>
              <a:cxnLst/>
              <a:rect l="l" t="t" r="r" b="b"/>
              <a:pathLst>
                <a:path w="4282440" h="419100">
                  <a:moveTo>
                    <a:pt x="4235450" y="0"/>
                  </a:moveTo>
                  <a:lnTo>
                    <a:pt x="4225290" y="0"/>
                  </a:lnTo>
                  <a:lnTo>
                    <a:pt x="4225290" y="95250"/>
                  </a:lnTo>
                  <a:lnTo>
                    <a:pt x="4225290" y="361950"/>
                  </a:lnTo>
                  <a:lnTo>
                    <a:pt x="57150" y="361950"/>
                  </a:lnTo>
                  <a:lnTo>
                    <a:pt x="57150" y="95250"/>
                  </a:lnTo>
                  <a:lnTo>
                    <a:pt x="45720" y="95250"/>
                  </a:lnTo>
                  <a:lnTo>
                    <a:pt x="45720" y="373380"/>
                  </a:lnTo>
                  <a:lnTo>
                    <a:pt x="57150" y="373380"/>
                  </a:lnTo>
                  <a:lnTo>
                    <a:pt x="4225290" y="373380"/>
                  </a:lnTo>
                  <a:lnTo>
                    <a:pt x="4235450" y="373380"/>
                  </a:lnTo>
                  <a:lnTo>
                    <a:pt x="4235450" y="95250"/>
                  </a:lnTo>
                  <a:lnTo>
                    <a:pt x="4235450" y="0"/>
                  </a:lnTo>
                  <a:close/>
                </a:path>
                <a:path w="4282440" h="419100">
                  <a:moveTo>
                    <a:pt x="4282440" y="95250"/>
                  </a:moveTo>
                  <a:lnTo>
                    <a:pt x="4248150" y="95250"/>
                  </a:lnTo>
                  <a:lnTo>
                    <a:pt x="4248150" y="384810"/>
                  </a:lnTo>
                  <a:lnTo>
                    <a:pt x="34290" y="384810"/>
                  </a:lnTo>
                  <a:lnTo>
                    <a:pt x="34290" y="95250"/>
                  </a:lnTo>
                  <a:lnTo>
                    <a:pt x="0" y="95250"/>
                  </a:lnTo>
                  <a:lnTo>
                    <a:pt x="0" y="419100"/>
                  </a:lnTo>
                  <a:lnTo>
                    <a:pt x="34290" y="419100"/>
                  </a:lnTo>
                  <a:lnTo>
                    <a:pt x="4248150" y="419100"/>
                  </a:lnTo>
                  <a:lnTo>
                    <a:pt x="4282440" y="419100"/>
                  </a:lnTo>
                  <a:lnTo>
                    <a:pt x="4282440" y="9525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42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3.20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325370" y="5285232"/>
            <a:ext cx="6043930" cy="455295"/>
            <a:chOff x="2325370" y="5285232"/>
            <a:chExt cx="6043930" cy="45529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87993" y="5349240"/>
              <a:ext cx="5924549" cy="14325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325370" y="5285244"/>
              <a:ext cx="6043930" cy="207645"/>
            </a:xfrm>
            <a:custGeom>
              <a:avLst/>
              <a:gdLst/>
              <a:ahLst/>
              <a:cxnLst/>
              <a:rect l="l" t="t" r="r" b="b"/>
              <a:pathLst>
                <a:path w="6043930" h="207645">
                  <a:moveTo>
                    <a:pt x="5998210" y="45720"/>
                  </a:moveTo>
                  <a:lnTo>
                    <a:pt x="598678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207264"/>
                  </a:lnTo>
                  <a:lnTo>
                    <a:pt x="57150" y="207264"/>
                  </a:lnTo>
                  <a:lnTo>
                    <a:pt x="57150" y="57150"/>
                  </a:lnTo>
                  <a:lnTo>
                    <a:pt x="5986780" y="57150"/>
                  </a:lnTo>
                  <a:lnTo>
                    <a:pt x="5986780" y="207264"/>
                  </a:lnTo>
                  <a:lnTo>
                    <a:pt x="5998210" y="207264"/>
                  </a:lnTo>
                  <a:lnTo>
                    <a:pt x="5998210" y="45720"/>
                  </a:lnTo>
                  <a:close/>
                </a:path>
                <a:path w="6043930" h="207645">
                  <a:moveTo>
                    <a:pt x="6043930" y="0"/>
                  </a:moveTo>
                  <a:lnTo>
                    <a:pt x="600964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207264"/>
                  </a:lnTo>
                  <a:lnTo>
                    <a:pt x="34290" y="207264"/>
                  </a:lnTo>
                  <a:lnTo>
                    <a:pt x="34290" y="34290"/>
                  </a:lnTo>
                  <a:lnTo>
                    <a:pt x="6009640" y="34290"/>
                  </a:lnTo>
                  <a:lnTo>
                    <a:pt x="6009640" y="207264"/>
                  </a:lnTo>
                  <a:lnTo>
                    <a:pt x="6043930" y="207264"/>
                  </a:lnTo>
                  <a:lnTo>
                    <a:pt x="604393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87993" y="5492496"/>
              <a:ext cx="5924549" cy="1905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325370" y="5492508"/>
              <a:ext cx="6043930" cy="247650"/>
            </a:xfrm>
            <a:custGeom>
              <a:avLst/>
              <a:gdLst/>
              <a:ahLst/>
              <a:cxnLst/>
              <a:rect l="l" t="t" r="r" b="b"/>
              <a:pathLst>
                <a:path w="6043930" h="247650">
                  <a:moveTo>
                    <a:pt x="5998210" y="0"/>
                  </a:moveTo>
                  <a:lnTo>
                    <a:pt x="5986780" y="0"/>
                  </a:lnTo>
                  <a:lnTo>
                    <a:pt x="5986780" y="190500"/>
                  </a:lnTo>
                  <a:lnTo>
                    <a:pt x="57150" y="190500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201930"/>
                  </a:lnTo>
                  <a:lnTo>
                    <a:pt x="57150" y="201930"/>
                  </a:lnTo>
                  <a:lnTo>
                    <a:pt x="5986780" y="201930"/>
                  </a:lnTo>
                  <a:lnTo>
                    <a:pt x="5998210" y="201930"/>
                  </a:lnTo>
                  <a:lnTo>
                    <a:pt x="5998210" y="0"/>
                  </a:lnTo>
                  <a:close/>
                </a:path>
                <a:path w="6043930" h="247650">
                  <a:moveTo>
                    <a:pt x="6043930" y="0"/>
                  </a:moveTo>
                  <a:lnTo>
                    <a:pt x="6009640" y="0"/>
                  </a:lnTo>
                  <a:lnTo>
                    <a:pt x="6009640" y="213360"/>
                  </a:lnTo>
                  <a:lnTo>
                    <a:pt x="34290" y="21336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247650"/>
                  </a:lnTo>
                  <a:lnTo>
                    <a:pt x="34290" y="247650"/>
                  </a:lnTo>
                  <a:lnTo>
                    <a:pt x="6009640" y="247650"/>
                  </a:lnTo>
                  <a:lnTo>
                    <a:pt x="6043930" y="247650"/>
                  </a:lnTo>
                  <a:lnTo>
                    <a:pt x="604393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082173" y="1589024"/>
            <a:ext cx="8453120" cy="5191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440" algn="l"/>
                <a:tab pos="1395095" algn="l"/>
                <a:tab pos="2026285" algn="l"/>
                <a:tab pos="2579370" algn="l"/>
                <a:tab pos="3329304" algn="l"/>
                <a:tab pos="3941445" algn="l"/>
                <a:tab pos="6332220" algn="l"/>
                <a:tab pos="695896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What	is	the	bit	rate	for	high-definition	TV	(HDTV)?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812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HDTV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digital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broadcast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high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quality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video</a:t>
            </a:r>
            <a:r>
              <a:rPr sz="2800" b="1" i="1" spc="3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signals.</a:t>
            </a:r>
            <a:r>
              <a:rPr sz="2800" b="1" i="1" spc="3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3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HDTV</a:t>
            </a:r>
            <a:r>
              <a:rPr sz="2800" b="1" i="1" spc="3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screen</a:t>
            </a:r>
            <a:r>
              <a:rPr sz="2800" b="1" i="1" spc="3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3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normally</a:t>
            </a:r>
            <a:r>
              <a:rPr sz="2800" b="1" i="1" spc="3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3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ratio</a:t>
            </a:r>
            <a:r>
              <a:rPr sz="2800" b="1" i="1" spc="3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16 : 9. </a:t>
            </a:r>
            <a:r>
              <a:rPr sz="2800" b="1" i="1" spc="-5" dirty="0">
                <a:latin typeface="Times New Roman"/>
                <a:cs typeface="Times New Roman"/>
              </a:rPr>
              <a:t>There are </a:t>
            </a:r>
            <a:r>
              <a:rPr sz="2800" b="1" i="1" dirty="0">
                <a:latin typeface="Times New Roman"/>
                <a:cs typeface="Times New Roman"/>
              </a:rPr>
              <a:t>1920 </a:t>
            </a:r>
            <a:r>
              <a:rPr sz="2800" b="1" i="1" spc="-5" dirty="0">
                <a:latin typeface="Times New Roman"/>
                <a:cs typeface="Times New Roman"/>
              </a:rPr>
              <a:t>by 1080 pixels per screen, and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screen is renewed </a:t>
            </a:r>
            <a:r>
              <a:rPr sz="2800" b="1" i="1" dirty="0">
                <a:latin typeface="Times New Roman"/>
                <a:cs typeface="Times New Roman"/>
              </a:rPr>
              <a:t>30 </a:t>
            </a:r>
            <a:r>
              <a:rPr sz="2800" b="1" i="1" spc="-5" dirty="0">
                <a:latin typeface="Times New Roman"/>
                <a:cs typeface="Times New Roman"/>
              </a:rPr>
              <a:t>times per second. </a:t>
            </a:r>
            <a:r>
              <a:rPr sz="2800" b="1" i="1" spc="-15" dirty="0">
                <a:latin typeface="Times New Roman"/>
                <a:cs typeface="Times New Roman"/>
              </a:rPr>
              <a:t>Twenty-four </a:t>
            </a:r>
            <a:r>
              <a:rPr sz="2800" b="1" i="1" spc="-5" dirty="0">
                <a:latin typeface="Times New Roman"/>
                <a:cs typeface="Times New Roman"/>
              </a:rPr>
              <a:t>bits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represents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color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pixel.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00">
              <a:latin typeface="Times New Roman"/>
              <a:cs typeface="Times New Roman"/>
            </a:endParaRPr>
          </a:p>
          <a:p>
            <a:pPr marL="88900" marR="50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TV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stations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reduce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20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40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Mbps </a:t>
            </a:r>
            <a:r>
              <a:rPr sz="2800" b="1" i="1" dirty="0">
                <a:latin typeface="Times New Roman"/>
                <a:cs typeface="Times New Roman"/>
              </a:rPr>
              <a:t> through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compression.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43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23747"/>
            <a:ext cx="8044180" cy="6985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598930" marR="5080" indent="-1586865">
              <a:lnSpc>
                <a:spcPct val="100600"/>
              </a:lnSpc>
              <a:spcBef>
                <a:spcPts val="8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3.17		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time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frequency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domains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periodic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nonperiodic </a:t>
            </a:r>
            <a:r>
              <a:rPr sz="2000" i="1" spc="-484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digital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signals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6873" y="1735073"/>
            <a:ext cx="8719566" cy="470992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44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077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3.18	</a:t>
            </a:r>
            <a:r>
              <a:rPr sz="2000" i="1" spc="-5" dirty="0">
                <a:latin typeface="Times New Roman"/>
                <a:cs typeface="Times New Roman"/>
              </a:rPr>
              <a:t>Baseband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transmission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5300" y="1647825"/>
            <a:ext cx="6681216" cy="170002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45</a:t>
            </a:fld>
            <a:endParaRPr spc="-5" dirty="0">
              <a:solidFill>
                <a:srgbClr val="000000"/>
              </a:solidFill>
            </a:endParaRPr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6CDC7D57-2563-77BD-00B2-3AB7BF13C446}"/>
              </a:ext>
            </a:extLst>
          </p:cNvPr>
          <p:cNvSpPr txBox="1"/>
          <p:nvPr/>
        </p:nvSpPr>
        <p:spPr>
          <a:xfrm>
            <a:off x="1308100" y="4066918"/>
            <a:ext cx="8077200" cy="36449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427990">
              <a:lnSpc>
                <a:spcPts val="2595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1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digital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signal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 </a:t>
            </a:r>
            <a:r>
              <a:rPr sz="3200" b="1" spc="-10" dirty="0">
                <a:latin typeface="Arial"/>
                <a:cs typeface="Arial"/>
              </a:rPr>
              <a:t>composite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analog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9" name="object 15">
            <a:extLst>
              <a:ext uri="{FF2B5EF4-FFF2-40B4-BE49-F238E27FC236}">
                <a16:creationId xmlns:a16="http://schemas.microsoft.com/office/drawing/2014/main" id="{91A7DC86-35C8-7583-9F32-F586437094F3}"/>
              </a:ext>
            </a:extLst>
          </p:cNvPr>
          <p:cNvSpPr txBox="1"/>
          <p:nvPr/>
        </p:nvSpPr>
        <p:spPr>
          <a:xfrm>
            <a:off x="1308100" y="4431155"/>
            <a:ext cx="8077200" cy="70294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158115" rIns="0" bIns="0" rtlCol="0">
            <a:spAutoFit/>
          </a:bodyPr>
          <a:lstStyle/>
          <a:p>
            <a:pPr marL="848994">
              <a:lnSpc>
                <a:spcPct val="100000"/>
              </a:lnSpc>
              <a:spcBef>
                <a:spcPts val="1245"/>
              </a:spcBef>
            </a:pPr>
            <a:r>
              <a:rPr sz="3200" b="1" spc="-5" dirty="0">
                <a:latin typeface="Arial"/>
                <a:cs typeface="Arial"/>
              </a:rPr>
              <a:t>signal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with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infinite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bandwidth.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565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3.19	</a:t>
            </a:r>
            <a:r>
              <a:rPr sz="2000" i="1" spc="-5" dirty="0">
                <a:latin typeface="Times New Roman"/>
                <a:cs typeface="Times New Roman"/>
              </a:rPr>
              <a:t>Bandwidths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two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low-pass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channels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439" y="1720595"/>
            <a:ext cx="8739378" cy="44576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46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867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3.20	</a:t>
            </a:r>
            <a:r>
              <a:rPr sz="2000" i="1" spc="-5" dirty="0">
                <a:latin typeface="Times New Roman"/>
                <a:cs typeface="Times New Roman"/>
              </a:rPr>
              <a:t>Baseband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transmission using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dedicated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medium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145" y="2522982"/>
            <a:ext cx="8829293" cy="224561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47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/>
          <p:nvPr/>
        </p:nvSpPr>
        <p:spPr>
          <a:xfrm>
            <a:off x="1270139" y="4646034"/>
            <a:ext cx="8077200" cy="6985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1543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15"/>
              </a:spcBef>
            </a:pPr>
            <a:r>
              <a:rPr sz="3200" b="1" spc="-10" dirty="0">
                <a:latin typeface="Arial"/>
                <a:cs typeface="Arial"/>
              </a:rPr>
              <a:t>very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wide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bandwidth.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32039" y="2101595"/>
            <a:ext cx="8153400" cy="647700"/>
            <a:chOff x="1232039" y="2101595"/>
            <a:chExt cx="8153400" cy="647700"/>
          </a:xfrm>
        </p:grpSpPr>
        <p:sp>
          <p:nvSpPr>
            <p:cNvPr id="8" name="object 8"/>
            <p:cNvSpPr/>
            <p:nvPr/>
          </p:nvSpPr>
          <p:spPr>
            <a:xfrm>
              <a:off x="1232039" y="26730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2039" y="2101595"/>
              <a:ext cx="1143000" cy="56692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44123" y="21224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3777246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495300" y="0"/>
                </a:moveTo>
                <a:lnTo>
                  <a:pt x="0" y="0"/>
                </a:lnTo>
                <a:lnTo>
                  <a:pt x="0" y="858012"/>
                </a:lnTo>
                <a:lnTo>
                  <a:pt x="495300" y="858012"/>
                </a:lnTo>
                <a:lnTo>
                  <a:pt x="495300" y="0"/>
                </a:lnTo>
                <a:close/>
              </a:path>
              <a:path w="9144000" h="858520">
                <a:moveTo>
                  <a:pt x="9144000" y="0"/>
                </a:moveTo>
                <a:lnTo>
                  <a:pt x="8572500" y="0"/>
                </a:lnTo>
                <a:lnTo>
                  <a:pt x="8572500" y="858012"/>
                </a:lnTo>
                <a:lnTo>
                  <a:pt x="9144000" y="85801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70139" y="2803398"/>
            <a:ext cx="8077200" cy="1831339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22225" rIns="0" bIns="0" rtlCol="0">
            <a:spAutoFit/>
          </a:bodyPr>
          <a:lstStyle/>
          <a:p>
            <a:pPr marL="196215" marR="188595" indent="-635" algn="ctr">
              <a:lnSpc>
                <a:spcPct val="100000"/>
              </a:lnSpc>
              <a:spcBef>
                <a:spcPts val="175"/>
              </a:spcBef>
            </a:pPr>
            <a:r>
              <a:rPr sz="3200" b="1" spc="-10" dirty="0">
                <a:latin typeface="Arial"/>
                <a:cs typeface="Arial"/>
              </a:rPr>
              <a:t>Baseband transmission </a:t>
            </a:r>
            <a:r>
              <a:rPr sz="3200" b="1" spc="-5" dirty="0">
                <a:latin typeface="Arial"/>
                <a:cs typeface="Arial"/>
              </a:rPr>
              <a:t>of a </a:t>
            </a:r>
            <a:r>
              <a:rPr sz="3200" b="1" spc="-10" dirty="0">
                <a:latin typeface="Arial"/>
                <a:cs typeface="Arial"/>
              </a:rPr>
              <a:t>digital </a:t>
            </a:r>
            <a:r>
              <a:rPr sz="3200" b="1" spc="-5" dirty="0">
                <a:latin typeface="Arial"/>
                <a:cs typeface="Arial"/>
              </a:rPr>
              <a:t> signal that </a:t>
            </a:r>
            <a:r>
              <a:rPr sz="3200" b="1" spc="-10" dirty="0">
                <a:latin typeface="Arial"/>
                <a:cs typeface="Arial"/>
              </a:rPr>
              <a:t>preserves </a:t>
            </a:r>
            <a:r>
              <a:rPr sz="3200" b="1" spc="-5" dirty="0">
                <a:latin typeface="Arial"/>
                <a:cs typeface="Arial"/>
              </a:rPr>
              <a:t>the shape of </a:t>
            </a:r>
            <a:r>
              <a:rPr sz="3200" b="1" spc="-10" dirty="0">
                <a:latin typeface="Arial"/>
                <a:cs typeface="Arial"/>
              </a:rPr>
              <a:t>the </a:t>
            </a:r>
            <a:r>
              <a:rPr sz="3200" b="1" spc="-5" dirty="0">
                <a:latin typeface="Arial"/>
                <a:cs typeface="Arial"/>
              </a:rPr>
              <a:t> digital signal is </a:t>
            </a:r>
            <a:r>
              <a:rPr sz="3200" b="1" spc="-10" dirty="0">
                <a:latin typeface="Arial"/>
                <a:cs typeface="Arial"/>
              </a:rPr>
              <a:t>possible </a:t>
            </a:r>
            <a:r>
              <a:rPr sz="3200" b="1" spc="-5" dirty="0">
                <a:latin typeface="Arial"/>
                <a:cs typeface="Arial"/>
              </a:rPr>
              <a:t>only if we </a:t>
            </a:r>
            <a:r>
              <a:rPr sz="3200" b="1" spc="-10" dirty="0">
                <a:latin typeface="Arial"/>
                <a:cs typeface="Arial"/>
              </a:rPr>
              <a:t>have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low-pass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channel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with an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infinite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or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234325" y="5491734"/>
            <a:ext cx="8153400" cy="1270"/>
          </a:xfrm>
          <a:custGeom>
            <a:avLst/>
            <a:gdLst/>
            <a:ahLst/>
            <a:cxnLst/>
            <a:rect l="l" t="t" r="r" b="b"/>
            <a:pathLst>
              <a:path w="8153400" h="1270">
                <a:moveTo>
                  <a:pt x="8153400" y="761"/>
                </a:moveTo>
                <a:lnTo>
                  <a:pt x="8153400" y="0"/>
                </a:lnTo>
                <a:lnTo>
                  <a:pt x="0" y="0"/>
                </a:lnTo>
                <a:lnTo>
                  <a:pt x="0" y="761"/>
                </a:lnTo>
                <a:lnTo>
                  <a:pt x="8153400" y="761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48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3.21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062745"/>
            <a:ext cx="9144000" cy="4287520"/>
          </a:xfrm>
          <a:custGeom>
            <a:avLst/>
            <a:gdLst/>
            <a:ahLst/>
            <a:cxnLst/>
            <a:rect l="l" t="t" r="r" b="b"/>
            <a:pathLst>
              <a:path w="9144000" h="42875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4287012"/>
                </a:lnTo>
                <a:lnTo>
                  <a:pt x="9144000" y="4287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741424"/>
            <a:ext cx="8376920" cy="471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example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dedicated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where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entire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</a:t>
            </a:r>
            <a:r>
              <a:rPr sz="2800" b="1" i="1" spc="2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2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medium</a:t>
            </a:r>
            <a:r>
              <a:rPr sz="2800" b="1" i="1" spc="2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used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as</a:t>
            </a:r>
            <a:r>
              <a:rPr sz="2800" b="1" i="1" spc="2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one</a:t>
            </a:r>
            <a:r>
              <a:rPr sz="2800" b="1" i="1" spc="2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single</a:t>
            </a:r>
            <a:r>
              <a:rPr sz="2800" b="1" i="1" spc="2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LAN.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Almost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every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wired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LAN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today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uses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dedicated channel for two stations communicating with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30" dirty="0">
                <a:latin typeface="Times New Roman"/>
                <a:cs typeface="Times New Roman"/>
              </a:rPr>
              <a:t>other.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bus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topology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LAN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multipoint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connections,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only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two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stations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communicate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 other at each moment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time (timesharing);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other stations need to refrain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from sending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data. In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topology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LAN,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entire</a:t>
            </a:r>
            <a:r>
              <a:rPr sz="2800" b="1" i="1" dirty="0">
                <a:latin typeface="Times New Roman"/>
                <a:cs typeface="Times New Roman"/>
              </a:rPr>
              <a:t> channel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between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station and the hub is used for communication between </a:t>
            </a:r>
            <a:r>
              <a:rPr sz="2800" b="1" i="1" dirty="0">
                <a:latin typeface="Times New Roman"/>
                <a:cs typeface="Times New Roman"/>
              </a:rPr>
              <a:t> these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two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entities.</a:t>
            </a:r>
            <a:r>
              <a:rPr sz="2800" b="1" i="1" spc="-75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study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LANs</a:t>
            </a:r>
            <a:r>
              <a:rPr sz="2800" b="1" i="1" dirty="0">
                <a:latin typeface="Times New Roman"/>
                <a:cs typeface="Times New Roman"/>
              </a:rPr>
              <a:t> in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Chapter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14.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49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8427720" cy="6985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663064" marR="5080" indent="-1651000">
              <a:lnSpc>
                <a:spcPct val="100600"/>
              </a:lnSpc>
              <a:spcBef>
                <a:spcPts val="8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3.21	</a:t>
            </a:r>
            <a:r>
              <a:rPr sz="2000" i="1" spc="-5" dirty="0">
                <a:latin typeface="Times New Roman"/>
                <a:cs typeface="Times New Roman"/>
              </a:rPr>
              <a:t>Rough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approximation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digital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signal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using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first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harmonic </a:t>
            </a:r>
            <a:r>
              <a:rPr sz="2000" i="1" spc="-484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worst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case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4828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2639" y="1720595"/>
            <a:ext cx="5947905" cy="464667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50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7183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3.22	</a:t>
            </a:r>
            <a:r>
              <a:rPr sz="2000" i="1" spc="-5" dirty="0">
                <a:latin typeface="Times New Roman"/>
                <a:cs typeface="Times New Roman"/>
              </a:rPr>
              <a:t>Simulating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digital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signal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with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first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three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harmonics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4371" y="1644395"/>
            <a:ext cx="5878067" cy="458343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51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30381" y="2897674"/>
            <a:ext cx="7158355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2355"/>
              </a:lnSpc>
            </a:pPr>
            <a:r>
              <a:rPr sz="2400" b="1" spc="10" dirty="0">
                <a:latin typeface="Arial"/>
                <a:cs typeface="Arial"/>
              </a:rPr>
              <a:t>In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15" dirty="0">
                <a:latin typeface="Arial"/>
                <a:cs typeface="Arial"/>
              </a:rPr>
              <a:t>baseband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10" dirty="0">
                <a:latin typeface="Arial"/>
                <a:cs typeface="Arial"/>
              </a:rPr>
              <a:t>transmission,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10" dirty="0">
                <a:latin typeface="Arial"/>
                <a:cs typeface="Arial"/>
              </a:rPr>
              <a:t>the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10" dirty="0">
                <a:latin typeface="Arial"/>
                <a:cs typeface="Arial"/>
              </a:rPr>
              <a:t>required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15" dirty="0">
                <a:latin typeface="Arial"/>
                <a:cs typeface="Arial"/>
              </a:rPr>
              <a:t>bandwidth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10" dirty="0">
                <a:latin typeface="Arial"/>
                <a:cs typeface="Arial"/>
              </a:rPr>
              <a:t>is</a:t>
            </a:r>
            <a:endParaRPr sz="2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2400" b="1" spc="10" dirty="0">
                <a:latin typeface="Arial"/>
                <a:cs typeface="Arial"/>
              </a:rPr>
              <a:t>proportional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10" dirty="0">
                <a:latin typeface="Arial"/>
                <a:cs typeface="Arial"/>
              </a:rPr>
              <a:t>to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spc="10" dirty="0">
                <a:latin typeface="Arial"/>
                <a:cs typeface="Arial"/>
              </a:rPr>
              <a:t>the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10" dirty="0">
                <a:latin typeface="Arial"/>
                <a:cs typeface="Arial"/>
              </a:rPr>
              <a:t>bit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spc="10" dirty="0">
                <a:latin typeface="Arial"/>
                <a:cs typeface="Arial"/>
              </a:rPr>
              <a:t>rate;</a:t>
            </a:r>
            <a:endParaRPr sz="2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2400" b="1" spc="10" dirty="0">
                <a:latin typeface="Arial"/>
                <a:cs typeface="Arial"/>
              </a:rPr>
              <a:t>if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20" dirty="0">
                <a:latin typeface="Arial"/>
                <a:cs typeface="Arial"/>
              </a:rPr>
              <a:t>we</a:t>
            </a:r>
            <a:r>
              <a:rPr sz="2400" b="1" spc="10" dirty="0">
                <a:latin typeface="Arial"/>
                <a:cs typeface="Arial"/>
              </a:rPr>
              <a:t> </a:t>
            </a:r>
            <a:r>
              <a:rPr sz="2400" b="1" spc="20" dirty="0">
                <a:latin typeface="Arial"/>
                <a:cs typeface="Arial"/>
              </a:rPr>
              <a:t>need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15" dirty="0">
                <a:latin typeface="Arial"/>
                <a:cs typeface="Arial"/>
              </a:rPr>
              <a:t>to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20" dirty="0">
                <a:latin typeface="Arial"/>
                <a:cs typeface="Arial"/>
              </a:rPr>
              <a:t>send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10" dirty="0">
                <a:latin typeface="Arial"/>
                <a:cs typeface="Arial"/>
              </a:rPr>
              <a:t>bits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faster, </a:t>
            </a:r>
            <a:r>
              <a:rPr sz="2400" b="1" spc="20" dirty="0">
                <a:latin typeface="Arial"/>
                <a:cs typeface="Arial"/>
              </a:rPr>
              <a:t>we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15" dirty="0">
                <a:latin typeface="Arial"/>
                <a:cs typeface="Arial"/>
              </a:rPr>
              <a:t>need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b="1" spc="20" dirty="0">
                <a:latin typeface="Arial"/>
                <a:cs typeface="Arial"/>
              </a:rPr>
              <a:t>more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b="1" spc="15" dirty="0">
                <a:latin typeface="Arial"/>
                <a:cs typeface="Arial"/>
              </a:rPr>
              <a:t>bandwidth.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039" y="4672710"/>
            <a:ext cx="8115300" cy="971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" algn="ctr">
              <a:lnSpc>
                <a:spcPts val="3365"/>
              </a:lnSpc>
            </a:pPr>
            <a:r>
              <a:rPr sz="3200" b="1" spc="-5" dirty="0">
                <a:latin typeface="Arial"/>
                <a:cs typeface="Arial"/>
              </a:rPr>
              <a:t>if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need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send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bits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35" dirty="0">
                <a:latin typeface="Arial"/>
                <a:cs typeface="Arial"/>
              </a:rPr>
              <a:t>faster,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need</a:t>
            </a:r>
            <a:endParaRPr sz="3200" dirty="0">
              <a:latin typeface="Arial"/>
              <a:cs typeface="Arial"/>
            </a:endParaRPr>
          </a:p>
          <a:p>
            <a:pPr marL="38100" algn="ctr">
              <a:lnSpc>
                <a:spcPct val="100000"/>
              </a:lnSpc>
            </a:pPr>
            <a:r>
              <a:rPr sz="3200" b="1" spc="-10" dirty="0">
                <a:latin typeface="Arial"/>
                <a:cs typeface="Arial"/>
              </a:rPr>
              <a:t>more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bandwidth.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52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1629" y="2123947"/>
            <a:ext cx="39389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73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3.2	</a:t>
            </a:r>
            <a:r>
              <a:rPr sz="2000" i="1" spc="-5" dirty="0">
                <a:latin typeface="Times New Roman"/>
                <a:cs typeface="Times New Roman"/>
              </a:rPr>
              <a:t>Bandwidth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requirements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6769" y="2586227"/>
            <a:ext cx="8739378" cy="23842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53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3.22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06273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19">
                <a:moveTo>
                  <a:pt x="9144000" y="858011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4839" y="37772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4839" y="549174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82173" y="1665224"/>
            <a:ext cx="8604250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What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required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</a:t>
            </a:r>
            <a:r>
              <a:rPr sz="2800" b="1" i="1" spc="325" dirty="0">
                <a:latin typeface="Times New Roman"/>
                <a:cs typeface="Times New Roman"/>
              </a:rPr>
              <a:t> </a:t>
            </a:r>
            <a:r>
              <a:rPr sz="2800" b="1" i="1" spc="5" dirty="0">
                <a:latin typeface="Times New Roman"/>
                <a:cs typeface="Times New Roman"/>
              </a:rPr>
              <a:t>of</a:t>
            </a:r>
            <a:r>
              <a:rPr sz="2800" b="1" i="1" spc="3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low-pass</a:t>
            </a:r>
            <a:r>
              <a:rPr sz="2800" b="1" i="1" spc="3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if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1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need</a:t>
            </a:r>
            <a:r>
              <a:rPr sz="2800" b="1" i="1" spc="1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spc="1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send</a:t>
            </a:r>
            <a:r>
              <a:rPr sz="2800" b="1" i="1" spc="1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1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Mbps</a:t>
            </a:r>
            <a:r>
              <a:rPr sz="2800" b="1" i="1" spc="1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by</a:t>
            </a:r>
            <a:r>
              <a:rPr sz="2800" b="1" i="1" spc="1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using</a:t>
            </a:r>
            <a:r>
              <a:rPr sz="2800" b="1" i="1" spc="1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baseband</a:t>
            </a:r>
            <a:r>
              <a:rPr sz="2800" b="1" i="1" spc="1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transmission?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answer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depends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accuracy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desired.</a:t>
            </a:r>
            <a:endParaRPr sz="2800">
              <a:latin typeface="Times New Roman"/>
              <a:cs typeface="Times New Roman"/>
            </a:endParaRPr>
          </a:p>
          <a:p>
            <a:pPr marL="367665" indent="-355600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36830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minimum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bandwidth,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bit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/2,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500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kHz.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Times New Roman"/>
              <a:buAutoNum type="alphaLcPeriod"/>
            </a:pPr>
            <a:endParaRPr sz="2900">
              <a:latin typeface="Times New Roman"/>
              <a:cs typeface="Times New Roman"/>
            </a:endParaRPr>
          </a:p>
          <a:p>
            <a:pPr marL="354330" marR="1351915" indent="-354330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354330" algn="l"/>
                <a:tab pos="2825115" algn="l"/>
              </a:tabLst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better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solution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first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third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harmonics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with	B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 500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kHz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5" dirty="0">
                <a:latin typeface="Times New Roman"/>
                <a:cs typeface="Times New Roman"/>
              </a:rPr>
              <a:t>1.5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MHz.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Times New Roman"/>
              <a:buAutoNum type="alphaLcPeriod"/>
            </a:pPr>
            <a:endParaRPr sz="2900">
              <a:latin typeface="Times New Roman"/>
              <a:cs typeface="Times New Roman"/>
            </a:endParaRPr>
          </a:p>
          <a:p>
            <a:pPr marL="347345" marR="358140" indent="-347345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34734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Still </a:t>
            </a:r>
            <a:r>
              <a:rPr sz="2800" b="1" i="1" dirty="0">
                <a:latin typeface="Times New Roman"/>
                <a:cs typeface="Times New Roman"/>
              </a:rPr>
              <a:t>a better </a:t>
            </a:r>
            <a:r>
              <a:rPr sz="2800" b="1" i="1" spc="-5" dirty="0">
                <a:latin typeface="Times New Roman"/>
                <a:cs typeface="Times New Roman"/>
              </a:rPr>
              <a:t>solution </a:t>
            </a:r>
            <a:r>
              <a:rPr sz="2800" b="1" i="1" dirty="0">
                <a:latin typeface="Times New Roman"/>
                <a:cs typeface="Times New Roman"/>
              </a:rPr>
              <a:t>is to </a:t>
            </a:r>
            <a:r>
              <a:rPr sz="2800" b="1" i="1" spc="-5" dirty="0">
                <a:latin typeface="Times New Roman"/>
                <a:cs typeface="Times New Roman"/>
              </a:rPr>
              <a:t>use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first, </a:t>
            </a:r>
            <a:r>
              <a:rPr sz="2800" b="1" i="1" dirty="0">
                <a:latin typeface="Times New Roman"/>
                <a:cs typeface="Times New Roman"/>
              </a:rPr>
              <a:t>third, and fifth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harmonics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with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5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500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kHz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2.5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MHz</a:t>
            </a:r>
            <a:r>
              <a:rPr sz="2400" b="1" i="1" dirty="0"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54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3.22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34573" y="1584451"/>
            <a:ext cx="8604885" cy="3439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6905" algn="l"/>
                <a:tab pos="1505585" algn="l"/>
                <a:tab pos="1861820" algn="l"/>
                <a:tab pos="3303904" algn="l"/>
                <a:tab pos="4667250" algn="l"/>
                <a:tab pos="5477510" algn="l"/>
                <a:tab pos="7197090" algn="l"/>
                <a:tab pos="7908290" algn="l"/>
              </a:tabLst>
            </a:pPr>
            <a:r>
              <a:rPr sz="2800" b="1" i="1" spc="-215" dirty="0">
                <a:latin typeface="Times New Roman"/>
                <a:cs typeface="Times New Roman"/>
              </a:rPr>
              <a:t>W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hav</a:t>
            </a:r>
            <a:r>
              <a:rPr sz="2800" b="1" i="1" dirty="0">
                <a:latin typeface="Times New Roman"/>
                <a:cs typeface="Times New Roman"/>
              </a:rPr>
              <a:t>e	a	</a:t>
            </a:r>
            <a:r>
              <a:rPr sz="2800" b="1" i="1" spc="-5" dirty="0">
                <a:latin typeface="Times New Roman"/>
                <a:cs typeface="Times New Roman"/>
              </a:rPr>
              <a:t>low-pas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channe</a:t>
            </a:r>
            <a:r>
              <a:rPr sz="2800" b="1" i="1" dirty="0">
                <a:latin typeface="Times New Roman"/>
                <a:cs typeface="Times New Roman"/>
              </a:rPr>
              <a:t>l	</a:t>
            </a:r>
            <a:r>
              <a:rPr sz="2800" b="1" i="1" spc="-5" dirty="0">
                <a:latin typeface="Times New Roman"/>
                <a:cs typeface="Times New Roman"/>
              </a:rPr>
              <a:t>wit</a:t>
            </a:r>
            <a:r>
              <a:rPr sz="2800" b="1" i="1" dirty="0">
                <a:latin typeface="Times New Roman"/>
                <a:cs typeface="Times New Roman"/>
              </a:rPr>
              <a:t>h	</a:t>
            </a:r>
            <a:r>
              <a:rPr sz="2800" b="1" i="1" spc="-5" dirty="0">
                <a:latin typeface="Times New Roman"/>
                <a:cs typeface="Times New Roman"/>
              </a:rPr>
              <a:t>bandwidt</a:t>
            </a:r>
            <a:r>
              <a:rPr sz="2800" b="1" i="1" dirty="0">
                <a:latin typeface="Times New Roman"/>
                <a:cs typeface="Times New Roman"/>
              </a:rPr>
              <a:t>h	</a:t>
            </a:r>
            <a:r>
              <a:rPr sz="2800" b="1" i="1" spc="-5" dirty="0">
                <a:latin typeface="Times New Roman"/>
                <a:cs typeface="Times New Roman"/>
              </a:rPr>
              <a:t>10</a:t>
            </a:r>
            <a:r>
              <a:rPr sz="2800" b="1" i="1" dirty="0">
                <a:latin typeface="Times New Roman"/>
                <a:cs typeface="Times New Roman"/>
              </a:rPr>
              <a:t>0	</a:t>
            </a:r>
            <a:r>
              <a:rPr sz="2800" b="1" i="1" spc="-5" dirty="0">
                <a:latin typeface="Times New Roman"/>
                <a:cs typeface="Times New Roman"/>
              </a:rPr>
              <a:t>kHz.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What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maximum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endParaRPr sz="2800">
              <a:latin typeface="Times New Roman"/>
              <a:cs typeface="Times New Roman"/>
            </a:endParaRPr>
          </a:p>
          <a:p>
            <a:pPr marL="3619500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channel?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The maximum bit rate can be achieved if we </a:t>
            </a:r>
            <a:r>
              <a:rPr sz="2800" b="1" i="1" dirty="0">
                <a:latin typeface="Times New Roman"/>
                <a:cs typeface="Times New Roman"/>
              </a:rPr>
              <a:t>use </a:t>
            </a:r>
            <a:r>
              <a:rPr sz="2800" b="1" i="1" spc="-5" dirty="0">
                <a:latin typeface="Times New Roman"/>
                <a:cs typeface="Times New Roman"/>
              </a:rPr>
              <a:t>the first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harmonic. The bit rate is </a:t>
            </a:r>
            <a:r>
              <a:rPr sz="2800" b="1" i="1" dirty="0">
                <a:latin typeface="Times New Roman"/>
                <a:cs typeface="Times New Roman"/>
              </a:rPr>
              <a:t>2 </a:t>
            </a:r>
            <a:r>
              <a:rPr sz="2800" b="1" i="1" spc="-5" dirty="0">
                <a:latin typeface="Times New Roman"/>
                <a:cs typeface="Times New Roman"/>
              </a:rPr>
              <a:t>times the available bandwidth, </a:t>
            </a:r>
            <a:r>
              <a:rPr sz="2800" b="1" i="1" dirty="0">
                <a:latin typeface="Times New Roman"/>
                <a:cs typeface="Times New Roman"/>
              </a:rPr>
              <a:t> or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200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kbps.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55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5198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3.23	</a:t>
            </a:r>
            <a:r>
              <a:rPr sz="2000" i="1" spc="-5" dirty="0">
                <a:latin typeface="Times New Roman"/>
                <a:cs typeface="Times New Roman"/>
              </a:rPr>
              <a:t>Bandwidth 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 bandpass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channel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439" y="2939795"/>
            <a:ext cx="7898130" cy="184023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56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32039" y="1872995"/>
            <a:ext cx="8153400" cy="647700"/>
            <a:chOff x="1232039" y="1872995"/>
            <a:chExt cx="8153400" cy="647700"/>
          </a:xfrm>
        </p:grpSpPr>
        <p:sp>
          <p:nvSpPr>
            <p:cNvPr id="8" name="object 8"/>
            <p:cNvSpPr/>
            <p:nvPr/>
          </p:nvSpPr>
          <p:spPr>
            <a:xfrm>
              <a:off x="1232039" y="24444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2039" y="1872995"/>
              <a:ext cx="1143000" cy="56692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44123" y="18938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2919983"/>
            <a:ext cx="495300" cy="858519"/>
          </a:xfrm>
          <a:custGeom>
            <a:avLst/>
            <a:gdLst/>
            <a:ahLst/>
            <a:cxnLst/>
            <a:rect l="l" t="t" r="r" b="b"/>
            <a:pathLst>
              <a:path w="495300" h="858520">
                <a:moveTo>
                  <a:pt x="0" y="858012"/>
                </a:moveTo>
                <a:lnTo>
                  <a:pt x="495299" y="858012"/>
                </a:lnTo>
                <a:lnTo>
                  <a:pt x="495299" y="0"/>
                </a:lnTo>
                <a:lnTo>
                  <a:pt x="0" y="0"/>
                </a:lnTo>
                <a:lnTo>
                  <a:pt x="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347339" y="2919983"/>
            <a:ext cx="571500" cy="858519"/>
          </a:xfrm>
          <a:custGeom>
            <a:avLst/>
            <a:gdLst/>
            <a:ahLst/>
            <a:cxnLst/>
            <a:rect l="l" t="t" r="r" b="b"/>
            <a:pathLst>
              <a:path w="571500" h="858520">
                <a:moveTo>
                  <a:pt x="0" y="858012"/>
                </a:moveTo>
                <a:lnTo>
                  <a:pt x="571500" y="858012"/>
                </a:lnTo>
                <a:lnTo>
                  <a:pt x="571500" y="0"/>
                </a:lnTo>
                <a:lnTo>
                  <a:pt x="0" y="0"/>
                </a:lnTo>
                <a:lnTo>
                  <a:pt x="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70139" y="2574798"/>
            <a:ext cx="8077200" cy="252920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420370" marR="413384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If the </a:t>
            </a:r>
            <a:r>
              <a:rPr sz="3200" b="1" spc="-10" dirty="0">
                <a:latin typeface="Arial"/>
                <a:cs typeface="Arial"/>
              </a:rPr>
              <a:t>available channel </a:t>
            </a:r>
            <a:r>
              <a:rPr sz="3200" b="1" spc="-5" dirty="0">
                <a:latin typeface="Arial"/>
                <a:cs typeface="Arial"/>
              </a:rPr>
              <a:t>is a </a:t>
            </a:r>
            <a:r>
              <a:rPr sz="3200" b="1" spc="-10" dirty="0">
                <a:latin typeface="Arial"/>
                <a:cs typeface="Arial"/>
              </a:rPr>
              <a:t>bandpass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channel, </a:t>
            </a:r>
            <a:r>
              <a:rPr sz="3200" b="1" spc="-5" dirty="0">
                <a:latin typeface="Arial"/>
                <a:cs typeface="Arial"/>
              </a:rPr>
              <a:t>we </a:t>
            </a:r>
            <a:r>
              <a:rPr sz="3200" b="1" spc="-10" dirty="0">
                <a:latin typeface="Arial"/>
                <a:cs typeface="Arial"/>
              </a:rPr>
              <a:t>cannot </a:t>
            </a:r>
            <a:r>
              <a:rPr sz="3200" b="1" spc="-5" dirty="0">
                <a:latin typeface="Arial"/>
                <a:cs typeface="Arial"/>
              </a:rPr>
              <a:t>send the </a:t>
            </a:r>
            <a:r>
              <a:rPr sz="3200" b="1" spc="-10" dirty="0">
                <a:latin typeface="Arial"/>
                <a:cs typeface="Arial"/>
              </a:rPr>
              <a:t>digital </a:t>
            </a:r>
            <a:r>
              <a:rPr sz="3200" b="1" spc="-5" dirty="0">
                <a:latin typeface="Arial"/>
                <a:cs typeface="Arial"/>
              </a:rPr>
              <a:t> signal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directly to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channel;</a:t>
            </a:r>
            <a:endParaRPr sz="3200">
              <a:latin typeface="Arial"/>
              <a:cs typeface="Arial"/>
            </a:endParaRPr>
          </a:p>
          <a:p>
            <a:pPr marL="297815" marR="293370"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we need to </a:t>
            </a:r>
            <a:r>
              <a:rPr sz="3200" b="1" spc="-10" dirty="0">
                <a:latin typeface="Arial"/>
                <a:cs typeface="Arial"/>
              </a:rPr>
              <a:t>convert </a:t>
            </a:r>
            <a:r>
              <a:rPr sz="3200" b="1" spc="-5" dirty="0">
                <a:latin typeface="Arial"/>
                <a:cs typeface="Arial"/>
              </a:rPr>
              <a:t>the digital signal </a:t>
            </a:r>
            <a:r>
              <a:rPr sz="3200" b="1" spc="-10" dirty="0">
                <a:latin typeface="Arial"/>
                <a:cs typeface="Arial"/>
              </a:rPr>
              <a:t>to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analog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signal</a:t>
            </a:r>
            <a:r>
              <a:rPr sz="3200" b="1" spc="-10" dirty="0">
                <a:latin typeface="Arial"/>
                <a:cs typeface="Arial"/>
              </a:rPr>
              <a:t> before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transmission.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34325" y="5187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57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523747"/>
            <a:ext cx="8087359" cy="69850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663064" marR="5080" indent="-1651000">
              <a:lnSpc>
                <a:spcPct val="100600"/>
              </a:lnSpc>
              <a:spcBef>
                <a:spcPts val="8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3.24	</a:t>
            </a:r>
            <a:r>
              <a:rPr sz="2000" i="1" spc="-5" dirty="0">
                <a:latin typeface="Times New Roman"/>
                <a:cs typeface="Times New Roman"/>
              </a:rPr>
              <a:t>Modulation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digital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signal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transmission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on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bandpass </a:t>
            </a:r>
            <a:r>
              <a:rPr sz="2000" i="1" spc="-484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channel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249" y="1982723"/>
            <a:ext cx="8682990" cy="430987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58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3.24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062745"/>
            <a:ext cx="9144000" cy="4287520"/>
          </a:xfrm>
          <a:custGeom>
            <a:avLst/>
            <a:gdLst/>
            <a:ahLst/>
            <a:cxnLst/>
            <a:rect l="l" t="t" r="r" b="b"/>
            <a:pathLst>
              <a:path w="9144000" h="42875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4287012"/>
                </a:lnTo>
                <a:lnTo>
                  <a:pt x="9144000" y="4287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665224"/>
            <a:ext cx="8378190" cy="471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example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broadband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transmission</a:t>
            </a:r>
            <a:r>
              <a:rPr sz="2800" b="1" i="1" spc="6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using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modulation is the sending of computer data through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telephone subscriber line, the line connecting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resident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 the central telephone </a:t>
            </a:r>
            <a:r>
              <a:rPr sz="2800" b="1" i="1" spc="-10" dirty="0">
                <a:latin typeface="Times New Roman"/>
                <a:cs typeface="Times New Roman"/>
              </a:rPr>
              <a:t>office. </a:t>
            </a:r>
            <a:r>
              <a:rPr sz="2800" b="1" i="1" spc="-5" dirty="0">
                <a:latin typeface="Times New Roman"/>
                <a:cs typeface="Times New Roman"/>
              </a:rPr>
              <a:t>These lines are designed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 </a:t>
            </a:r>
            <a:r>
              <a:rPr sz="2800" b="1" i="1" spc="-10" dirty="0">
                <a:latin typeface="Times New Roman"/>
                <a:cs typeface="Times New Roman"/>
              </a:rPr>
              <a:t>carry </a:t>
            </a:r>
            <a:r>
              <a:rPr sz="2800" b="1" i="1" spc="-5" dirty="0">
                <a:latin typeface="Times New Roman"/>
                <a:cs typeface="Times New Roman"/>
              </a:rPr>
              <a:t>voice with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limited bandwidth.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channel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considered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bandpass channel.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convert the digital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 from the computer </a:t>
            </a:r>
            <a:r>
              <a:rPr sz="2800" b="1" i="1" dirty="0">
                <a:latin typeface="Times New Roman"/>
                <a:cs typeface="Times New Roman"/>
              </a:rPr>
              <a:t>to an analog </a:t>
            </a:r>
            <a:r>
              <a:rPr sz="2800" b="1" i="1" spc="-5" dirty="0">
                <a:latin typeface="Times New Roman"/>
                <a:cs typeface="Times New Roman"/>
              </a:rPr>
              <a:t>signal, and send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analog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install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two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converters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change the digital signal </a:t>
            </a:r>
            <a:r>
              <a:rPr sz="2800" b="1" i="1" dirty="0">
                <a:latin typeface="Times New Roman"/>
                <a:cs typeface="Times New Roman"/>
              </a:rPr>
              <a:t>to </a:t>
            </a:r>
            <a:r>
              <a:rPr sz="2800" b="1" i="1" spc="-5" dirty="0">
                <a:latin typeface="Times New Roman"/>
                <a:cs typeface="Times New Roman"/>
              </a:rPr>
              <a:t>analog and vice versa </a:t>
            </a:r>
            <a:r>
              <a:rPr sz="2800" b="1" i="1" spc="-10" dirty="0">
                <a:latin typeface="Times New Roman"/>
                <a:cs typeface="Times New Roman"/>
              </a:rPr>
              <a:t>at </a:t>
            </a:r>
            <a:r>
              <a:rPr sz="2800" b="1" i="1" spc="5" dirty="0">
                <a:latin typeface="Times New Roman"/>
                <a:cs typeface="Times New Roman"/>
              </a:rPr>
              <a:t>the 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receiving end.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spc="-20" dirty="0">
                <a:latin typeface="Times New Roman"/>
                <a:cs typeface="Times New Roman"/>
              </a:rPr>
              <a:t>converter,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 case, is called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modem</a:t>
            </a:r>
            <a:r>
              <a:rPr sz="2800" b="1" i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which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discuss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detail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Chapter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5.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59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3.25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919996"/>
            <a:ext cx="9144000" cy="3430270"/>
          </a:xfrm>
          <a:custGeom>
            <a:avLst/>
            <a:gdLst/>
            <a:ahLst/>
            <a:cxnLst/>
            <a:rect l="l" t="t" r="r" b="b"/>
            <a:pathLst>
              <a:path w="9144000" h="34302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3429762"/>
                </a:lnTo>
                <a:lnTo>
                  <a:pt x="9144000" y="342976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817624"/>
            <a:ext cx="8376920" cy="429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433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second example is the digital cellular telephone. </a:t>
            </a:r>
            <a:r>
              <a:rPr sz="2800" b="1" i="1" spc="-10" dirty="0">
                <a:latin typeface="Times New Roman"/>
                <a:cs typeface="Times New Roman"/>
              </a:rPr>
              <a:t>For </a:t>
            </a:r>
            <a:r>
              <a:rPr sz="2800" b="1" i="1" spc="-5" dirty="0">
                <a:latin typeface="Times New Roman"/>
                <a:cs typeface="Times New Roman"/>
              </a:rPr>
              <a:t> better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reception,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digital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cellular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phones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convert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analog </a:t>
            </a:r>
            <a:r>
              <a:rPr sz="2800" b="1" i="1" spc="-5" dirty="0">
                <a:latin typeface="Times New Roman"/>
                <a:cs typeface="Times New Roman"/>
              </a:rPr>
              <a:t>voice signal </a:t>
            </a:r>
            <a:r>
              <a:rPr sz="2800" b="1" i="1" dirty="0">
                <a:latin typeface="Times New Roman"/>
                <a:cs typeface="Times New Roman"/>
              </a:rPr>
              <a:t>to a </a:t>
            </a:r>
            <a:r>
              <a:rPr sz="2800" b="1" i="1" spc="-5" dirty="0">
                <a:latin typeface="Times New Roman"/>
                <a:cs typeface="Times New Roman"/>
              </a:rPr>
              <a:t>digital signal (see Chapter 16)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Although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allocated</a:t>
            </a:r>
            <a:r>
              <a:rPr sz="2800" b="1" i="1" dirty="0">
                <a:latin typeface="Times New Roman"/>
                <a:cs typeface="Times New Roman"/>
              </a:rPr>
              <a:t> to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company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providing digital cellular </a:t>
            </a:r>
            <a:r>
              <a:rPr sz="2800" b="1" i="1" dirty="0">
                <a:latin typeface="Times New Roman"/>
                <a:cs typeface="Times New Roman"/>
              </a:rPr>
              <a:t>phone </a:t>
            </a:r>
            <a:r>
              <a:rPr sz="2800" b="1" i="1" spc="-5" dirty="0">
                <a:latin typeface="Times New Roman"/>
                <a:cs typeface="Times New Roman"/>
              </a:rPr>
              <a:t>service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-5" dirty="0">
                <a:latin typeface="Times New Roman"/>
                <a:cs typeface="Times New Roman"/>
              </a:rPr>
              <a:t>very wide, </a:t>
            </a:r>
            <a:r>
              <a:rPr sz="2800" b="1" i="1" spc="-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 still cannot send the digital signal without conversion. </a:t>
            </a:r>
            <a:r>
              <a:rPr sz="2800" b="1" i="1" dirty="0">
                <a:latin typeface="Times New Roman"/>
                <a:cs typeface="Times New Roman"/>
              </a:rPr>
              <a:t> The </a:t>
            </a:r>
            <a:r>
              <a:rPr sz="2800" b="1" i="1" spc="-5" dirty="0">
                <a:latin typeface="Times New Roman"/>
                <a:cs typeface="Times New Roman"/>
              </a:rPr>
              <a:t>reason is </a:t>
            </a:r>
            <a:r>
              <a:rPr sz="2800" b="1" i="1" dirty="0">
                <a:latin typeface="Times New Roman"/>
                <a:cs typeface="Times New Roman"/>
              </a:rPr>
              <a:t>that </a:t>
            </a:r>
            <a:r>
              <a:rPr sz="2800" b="1" i="1" spc="-5" dirty="0">
                <a:latin typeface="Times New Roman"/>
                <a:cs typeface="Times New Roman"/>
              </a:rPr>
              <a:t>we only have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bandpass </a:t>
            </a:r>
            <a:r>
              <a:rPr sz="2800" b="1" i="1" dirty="0">
                <a:latin typeface="Times New Roman"/>
                <a:cs typeface="Times New Roman"/>
              </a:rPr>
              <a:t>channel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available between caller and callee.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need to convert </a:t>
            </a:r>
            <a:r>
              <a:rPr sz="2800" b="1" i="1" dirty="0">
                <a:latin typeface="Times New Roman"/>
                <a:cs typeface="Times New Roman"/>
              </a:rPr>
              <a:t> the </a:t>
            </a:r>
            <a:r>
              <a:rPr sz="2800" b="1" i="1" spc="-5" dirty="0">
                <a:latin typeface="Times New Roman"/>
                <a:cs typeface="Times New Roman"/>
              </a:rPr>
              <a:t>digitized voice </a:t>
            </a:r>
            <a:r>
              <a:rPr sz="2800" b="1" i="1" dirty="0">
                <a:latin typeface="Times New Roman"/>
                <a:cs typeface="Times New Roman"/>
              </a:rPr>
              <a:t>to a </a:t>
            </a:r>
            <a:r>
              <a:rPr sz="2800" b="1" i="1" spc="-5" dirty="0">
                <a:latin typeface="Times New Roman"/>
                <a:cs typeface="Times New Roman"/>
              </a:rPr>
              <a:t>composite analog signal before </a:t>
            </a:r>
            <a:r>
              <a:rPr sz="2800" b="1" i="1" dirty="0">
                <a:latin typeface="Times New Roman"/>
                <a:cs typeface="Times New Roman"/>
              </a:rPr>
              <a:t> sending.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60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45185"/>
            <a:chOff x="774839" y="348995"/>
            <a:chExt cx="9144000" cy="845185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4000" y="83820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38200"/>
                  </a:lnTo>
                  <a:lnTo>
                    <a:pt x="9144000" y="83820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39" y="348995"/>
              <a:ext cx="9144000" cy="845185"/>
            </a:xfrm>
            <a:custGeom>
              <a:avLst/>
              <a:gdLst/>
              <a:ahLst/>
              <a:cxnLst/>
              <a:rect l="l" t="t" r="r" b="b"/>
              <a:pathLst>
                <a:path w="9144000" h="845185">
                  <a:moveTo>
                    <a:pt x="6858" y="0"/>
                  </a:moveTo>
                  <a:lnTo>
                    <a:pt x="0" y="0"/>
                  </a:lnTo>
                  <a:lnTo>
                    <a:pt x="0" y="6858"/>
                  </a:lnTo>
                  <a:lnTo>
                    <a:pt x="6858" y="0"/>
                  </a:lnTo>
                  <a:close/>
                </a:path>
                <a:path w="9144000" h="845185">
                  <a:moveTo>
                    <a:pt x="9143987" y="6858"/>
                  </a:moveTo>
                  <a:lnTo>
                    <a:pt x="9137904" y="0"/>
                  </a:lnTo>
                  <a:lnTo>
                    <a:pt x="6858" y="0"/>
                  </a:lnTo>
                  <a:lnTo>
                    <a:pt x="0" y="6858"/>
                  </a:lnTo>
                  <a:lnTo>
                    <a:pt x="9143987" y="6858"/>
                  </a:lnTo>
                  <a:close/>
                </a:path>
                <a:path w="9144000" h="845185">
                  <a:moveTo>
                    <a:pt x="6858" y="832104"/>
                  </a:moveTo>
                  <a:lnTo>
                    <a:pt x="6858" y="6858"/>
                  </a:lnTo>
                  <a:lnTo>
                    <a:pt x="0" y="6858"/>
                  </a:lnTo>
                  <a:lnTo>
                    <a:pt x="0" y="832104"/>
                  </a:lnTo>
                  <a:lnTo>
                    <a:pt x="6858" y="832104"/>
                  </a:lnTo>
                  <a:close/>
                </a:path>
                <a:path w="9144000" h="845185">
                  <a:moveTo>
                    <a:pt x="9143987" y="832104"/>
                  </a:moveTo>
                  <a:lnTo>
                    <a:pt x="0" y="832104"/>
                  </a:lnTo>
                  <a:lnTo>
                    <a:pt x="6858" y="838200"/>
                  </a:lnTo>
                  <a:lnTo>
                    <a:pt x="6858" y="845058"/>
                  </a:lnTo>
                  <a:lnTo>
                    <a:pt x="9137904" y="845058"/>
                  </a:lnTo>
                  <a:lnTo>
                    <a:pt x="9137904" y="838200"/>
                  </a:lnTo>
                  <a:lnTo>
                    <a:pt x="9143987" y="832104"/>
                  </a:lnTo>
                  <a:close/>
                </a:path>
                <a:path w="9144000" h="845185">
                  <a:moveTo>
                    <a:pt x="6858" y="845058"/>
                  </a:moveTo>
                  <a:lnTo>
                    <a:pt x="6858" y="838200"/>
                  </a:lnTo>
                  <a:lnTo>
                    <a:pt x="0" y="832104"/>
                  </a:lnTo>
                  <a:lnTo>
                    <a:pt x="0" y="845058"/>
                  </a:lnTo>
                  <a:lnTo>
                    <a:pt x="6858" y="845058"/>
                  </a:lnTo>
                  <a:close/>
                </a:path>
                <a:path w="9144000" h="845185">
                  <a:moveTo>
                    <a:pt x="9144000" y="845058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43987" y="6858"/>
                  </a:lnTo>
                  <a:lnTo>
                    <a:pt x="9143987" y="845058"/>
                  </a:lnTo>
                  <a:close/>
                </a:path>
                <a:path w="9144000" h="845185">
                  <a:moveTo>
                    <a:pt x="9143987" y="832104"/>
                  </a:moveTo>
                  <a:lnTo>
                    <a:pt x="9143987" y="6858"/>
                  </a:lnTo>
                  <a:lnTo>
                    <a:pt x="9137904" y="6858"/>
                  </a:lnTo>
                  <a:lnTo>
                    <a:pt x="9137904" y="832104"/>
                  </a:lnTo>
                  <a:lnTo>
                    <a:pt x="9143987" y="832104"/>
                  </a:lnTo>
                  <a:close/>
                </a:path>
                <a:path w="9144000" h="845185">
                  <a:moveTo>
                    <a:pt x="9143987" y="845058"/>
                  </a:moveTo>
                  <a:lnTo>
                    <a:pt x="9143987" y="832104"/>
                  </a:lnTo>
                  <a:lnTo>
                    <a:pt x="9137904" y="838200"/>
                  </a:lnTo>
                  <a:lnTo>
                    <a:pt x="9137904" y="845058"/>
                  </a:lnTo>
                  <a:lnTo>
                    <a:pt x="9143987" y="8450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4839" y="348995"/>
            <a:ext cx="9144000" cy="83820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19405">
              <a:lnSpc>
                <a:spcPct val="100000"/>
              </a:lnSpc>
              <a:spcBef>
                <a:spcPts val="850"/>
              </a:spcBef>
              <a:tabLst>
                <a:tab pos="1157605" algn="l"/>
              </a:tabLst>
            </a:pPr>
            <a:r>
              <a:rPr spc="-5" dirty="0"/>
              <a:t>3-4	TRANSMISSION</a:t>
            </a:r>
            <a:r>
              <a:rPr spc="10" dirty="0"/>
              <a:t> </a:t>
            </a:r>
            <a:r>
              <a:rPr spc="-30" dirty="0"/>
              <a:t>IMPAIRMENT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29761" y="1574545"/>
            <a:ext cx="8451850" cy="4739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Signals travel through transmission media, which are </a:t>
            </a:r>
            <a:r>
              <a:rPr sz="2800" b="1" i="1" dirty="0">
                <a:latin typeface="Times New Roman"/>
                <a:cs typeface="Times New Roman"/>
              </a:rPr>
              <a:t>not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85" dirty="0">
                <a:latin typeface="Times New Roman"/>
                <a:cs typeface="Times New Roman"/>
              </a:rPr>
              <a:t>perfect.. </a:t>
            </a:r>
            <a:r>
              <a:rPr sz="2800" b="1" i="1" spc="-5" dirty="0">
                <a:latin typeface="Times New Roman"/>
                <a:cs typeface="Times New Roman"/>
              </a:rPr>
              <a:t>The imperfection causes signal </a:t>
            </a:r>
            <a:r>
              <a:rPr sz="2800" b="1" i="1" spc="-65" dirty="0">
                <a:latin typeface="Times New Roman"/>
                <a:cs typeface="Times New Roman"/>
              </a:rPr>
              <a:t>impairment.. </a:t>
            </a:r>
            <a:r>
              <a:rPr sz="2800" b="1" i="1" spc="-5" dirty="0">
                <a:latin typeface="Times New Roman"/>
                <a:cs typeface="Times New Roman"/>
              </a:rPr>
              <a:t>This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means </a:t>
            </a:r>
            <a:r>
              <a:rPr sz="2800" b="1" i="1" dirty="0">
                <a:latin typeface="Times New Roman"/>
                <a:cs typeface="Times New Roman"/>
              </a:rPr>
              <a:t>that the </a:t>
            </a:r>
            <a:r>
              <a:rPr sz="2800" b="1" i="1" spc="-5" dirty="0">
                <a:latin typeface="Times New Roman"/>
                <a:cs typeface="Times New Roman"/>
              </a:rPr>
              <a:t>signal at </a:t>
            </a:r>
            <a:r>
              <a:rPr sz="2800" b="1" i="1" dirty="0">
                <a:latin typeface="Times New Roman"/>
                <a:cs typeface="Times New Roman"/>
              </a:rPr>
              <a:t>the beginning of </a:t>
            </a:r>
            <a:r>
              <a:rPr sz="2800" b="1" i="1" spc="-5" dirty="0">
                <a:latin typeface="Times New Roman"/>
                <a:cs typeface="Times New Roman"/>
              </a:rPr>
              <a:t>the medium is </a:t>
            </a:r>
            <a:r>
              <a:rPr sz="2800" b="1" i="1" dirty="0">
                <a:latin typeface="Times New Roman"/>
                <a:cs typeface="Times New Roman"/>
              </a:rPr>
              <a:t> not</a:t>
            </a:r>
            <a:r>
              <a:rPr sz="2800" b="1" i="1" spc="5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5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same</a:t>
            </a:r>
            <a:r>
              <a:rPr sz="2800" b="1" i="1" spc="58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</a:t>
            </a:r>
            <a:r>
              <a:rPr sz="2800" b="1" i="1" spc="5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5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</a:t>
            </a:r>
            <a:r>
              <a:rPr sz="2800" b="1" i="1" spc="58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at</a:t>
            </a:r>
            <a:r>
              <a:rPr sz="2800" b="1" i="1" spc="5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5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end</a:t>
            </a:r>
            <a:r>
              <a:rPr sz="2800" b="1" i="1" spc="5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5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585" dirty="0">
                <a:latin typeface="Times New Roman"/>
                <a:cs typeface="Times New Roman"/>
              </a:rPr>
              <a:t> </a:t>
            </a:r>
            <a:r>
              <a:rPr sz="2800" b="1" i="1" spc="-185" dirty="0">
                <a:latin typeface="Times New Roman"/>
                <a:cs typeface="Times New Roman"/>
              </a:rPr>
              <a:t>medium.. </a:t>
            </a:r>
            <a:r>
              <a:rPr sz="2800" b="1" i="1" spc="-1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What</a:t>
            </a:r>
            <a:r>
              <a:rPr sz="2800" b="1" i="1" spc="6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6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sent</a:t>
            </a:r>
            <a:r>
              <a:rPr sz="2800" b="1" i="1" spc="6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6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not</a:t>
            </a:r>
            <a:r>
              <a:rPr sz="2800" b="1" i="1" spc="6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what</a:t>
            </a:r>
            <a:r>
              <a:rPr sz="2800" b="1" i="1" spc="6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6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received.</a:t>
            </a:r>
            <a:r>
              <a:rPr sz="2800" b="1" i="1" spc="6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Three</a:t>
            </a:r>
            <a:r>
              <a:rPr sz="2800" b="1" i="1" spc="6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causes</a:t>
            </a:r>
            <a:r>
              <a:rPr sz="2800" b="1" i="1" spc="6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impairment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are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5" dirty="0">
                <a:solidFill>
                  <a:srgbClr val="FF0000"/>
                </a:solidFill>
                <a:latin typeface="Times New Roman"/>
                <a:cs typeface="Times New Roman"/>
              </a:rPr>
              <a:t>attenuation</a:t>
            </a:r>
            <a:r>
              <a:rPr sz="2800" b="1" i="1" spc="-55" dirty="0">
                <a:latin typeface="Times New Roman"/>
                <a:cs typeface="Times New Roman"/>
              </a:rPr>
              <a:t>,,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distortion</a:t>
            </a:r>
            <a:r>
              <a:rPr sz="2800" b="1" i="1" spc="-65" dirty="0">
                <a:latin typeface="Times New Roman"/>
                <a:cs typeface="Times New Roman"/>
              </a:rPr>
              <a:t>,,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spc="-204" dirty="0">
                <a:solidFill>
                  <a:srgbClr val="FF0000"/>
                </a:solidFill>
                <a:latin typeface="Times New Roman"/>
                <a:cs typeface="Times New Roman"/>
              </a:rPr>
              <a:t>noise</a:t>
            </a:r>
            <a:r>
              <a:rPr sz="2800" b="1" i="1" spc="-204" dirty="0">
                <a:latin typeface="Times New Roman"/>
                <a:cs typeface="Times New Roman"/>
              </a:rPr>
              <a:t>..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95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88900" marR="6797675">
              <a:lnSpc>
                <a:spcPct val="100000"/>
              </a:lnSpc>
              <a:spcBef>
                <a:spcPts val="400"/>
              </a:spcBef>
            </a:pP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Attenuation 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Distortion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Noise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61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9420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3.25	</a:t>
            </a:r>
            <a:r>
              <a:rPr sz="2000" i="1" spc="-5" dirty="0">
                <a:latin typeface="Times New Roman"/>
                <a:cs typeface="Times New Roman"/>
              </a:rPr>
              <a:t>Causes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impairment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1495" y="2634995"/>
            <a:ext cx="7019543" cy="221818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62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2886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3.26	</a:t>
            </a:r>
            <a:r>
              <a:rPr sz="2000" i="1" spc="-5" dirty="0">
                <a:latin typeface="Times New Roman"/>
                <a:cs typeface="Times New Roman"/>
              </a:rPr>
              <a:t>Attenuation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293" y="2417826"/>
            <a:ext cx="7797545" cy="296036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63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406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3.27	</a:t>
            </a:r>
            <a:r>
              <a:rPr sz="2000" i="1" spc="-5" dirty="0">
                <a:latin typeface="Times New Roman"/>
                <a:cs typeface="Times New Roman"/>
              </a:rPr>
              <a:t>Decibels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3.28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239" y="2558795"/>
            <a:ext cx="8766809" cy="233857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64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2701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3.28	</a:t>
            </a:r>
            <a:r>
              <a:rPr sz="2000" i="1" spc="-5" dirty="0">
                <a:latin typeface="Times New Roman"/>
                <a:cs typeface="Times New Roman"/>
              </a:rPr>
              <a:t>Distortion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6121" y="2237232"/>
            <a:ext cx="8335518" cy="321716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65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2235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</a:t>
            </a:r>
            <a:r>
              <a:rPr sz="2400" spc="-45" dirty="0">
                <a:solidFill>
                  <a:srgbClr val="3333CC"/>
                </a:solidFill>
              </a:rPr>
              <a:t>r</a:t>
            </a:r>
            <a:r>
              <a:rPr sz="2400" spc="-5" dirty="0">
                <a:solidFill>
                  <a:srgbClr val="3333CC"/>
                </a:solidFill>
              </a:rPr>
              <a:t>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10" dirty="0">
                <a:solidFill>
                  <a:srgbClr val="3333CC"/>
                </a:solidFill>
              </a:rPr>
              <a:t>3.2</a:t>
            </a:r>
            <a:r>
              <a:rPr sz="2400" spc="-5" dirty="0">
                <a:solidFill>
                  <a:srgbClr val="3333CC"/>
                </a:solidFill>
              </a:rPr>
              <a:t>9	</a:t>
            </a:r>
            <a:r>
              <a:rPr sz="2000" i="1" spc="-5" dirty="0">
                <a:latin typeface="Times New Roman"/>
                <a:cs typeface="Times New Roman"/>
              </a:rPr>
              <a:t>Noise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7789" y="2757677"/>
            <a:ext cx="7486650" cy="269671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66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539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828547"/>
            <a:ext cx="6546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20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3.30	</a:t>
            </a:r>
            <a:r>
              <a:rPr sz="2000" i="1" spc="-30" dirty="0">
                <a:latin typeface="Times New Roman"/>
                <a:cs typeface="Times New Roman"/>
              </a:rPr>
              <a:t>Two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cases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 SNR:</a:t>
            </a:r>
            <a:r>
              <a:rPr sz="2000" i="1" spc="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 high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SNR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 a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low SNR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4066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27239" y="1755648"/>
            <a:ext cx="8763000" cy="4879975"/>
            <a:chOff x="927239" y="1755648"/>
            <a:chExt cx="8763000" cy="48799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0223" y="1755648"/>
              <a:ext cx="8281416" cy="47655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27239" y="6559295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67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45185"/>
            <a:chOff x="774839" y="348995"/>
            <a:chExt cx="9144000" cy="845185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38200"/>
            </a:xfrm>
            <a:custGeom>
              <a:avLst/>
              <a:gdLst/>
              <a:ahLst/>
              <a:cxnLst/>
              <a:rect l="l" t="t" r="r" b="b"/>
              <a:pathLst>
                <a:path w="9144000" h="838200">
                  <a:moveTo>
                    <a:pt x="9144000" y="83820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38200"/>
                  </a:lnTo>
                  <a:lnTo>
                    <a:pt x="9144000" y="83820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39" y="348995"/>
              <a:ext cx="9144000" cy="845185"/>
            </a:xfrm>
            <a:custGeom>
              <a:avLst/>
              <a:gdLst/>
              <a:ahLst/>
              <a:cxnLst/>
              <a:rect l="l" t="t" r="r" b="b"/>
              <a:pathLst>
                <a:path w="9144000" h="845185">
                  <a:moveTo>
                    <a:pt x="6858" y="0"/>
                  </a:moveTo>
                  <a:lnTo>
                    <a:pt x="0" y="0"/>
                  </a:lnTo>
                  <a:lnTo>
                    <a:pt x="0" y="6858"/>
                  </a:lnTo>
                  <a:lnTo>
                    <a:pt x="6858" y="0"/>
                  </a:lnTo>
                  <a:close/>
                </a:path>
                <a:path w="9144000" h="845185">
                  <a:moveTo>
                    <a:pt x="9143987" y="6858"/>
                  </a:moveTo>
                  <a:lnTo>
                    <a:pt x="9137904" y="0"/>
                  </a:lnTo>
                  <a:lnTo>
                    <a:pt x="6858" y="0"/>
                  </a:lnTo>
                  <a:lnTo>
                    <a:pt x="0" y="6858"/>
                  </a:lnTo>
                  <a:lnTo>
                    <a:pt x="9143987" y="6858"/>
                  </a:lnTo>
                  <a:close/>
                </a:path>
                <a:path w="9144000" h="845185">
                  <a:moveTo>
                    <a:pt x="6858" y="832104"/>
                  </a:moveTo>
                  <a:lnTo>
                    <a:pt x="6858" y="6858"/>
                  </a:lnTo>
                  <a:lnTo>
                    <a:pt x="0" y="6858"/>
                  </a:lnTo>
                  <a:lnTo>
                    <a:pt x="0" y="832104"/>
                  </a:lnTo>
                  <a:lnTo>
                    <a:pt x="6858" y="832104"/>
                  </a:lnTo>
                  <a:close/>
                </a:path>
                <a:path w="9144000" h="845185">
                  <a:moveTo>
                    <a:pt x="9143987" y="832104"/>
                  </a:moveTo>
                  <a:lnTo>
                    <a:pt x="0" y="832104"/>
                  </a:lnTo>
                  <a:lnTo>
                    <a:pt x="6858" y="838200"/>
                  </a:lnTo>
                  <a:lnTo>
                    <a:pt x="6858" y="845058"/>
                  </a:lnTo>
                  <a:lnTo>
                    <a:pt x="9137904" y="845058"/>
                  </a:lnTo>
                  <a:lnTo>
                    <a:pt x="9137904" y="838200"/>
                  </a:lnTo>
                  <a:lnTo>
                    <a:pt x="9143987" y="832104"/>
                  </a:lnTo>
                  <a:close/>
                </a:path>
                <a:path w="9144000" h="845185">
                  <a:moveTo>
                    <a:pt x="6858" y="845058"/>
                  </a:moveTo>
                  <a:lnTo>
                    <a:pt x="6858" y="838200"/>
                  </a:lnTo>
                  <a:lnTo>
                    <a:pt x="0" y="832104"/>
                  </a:lnTo>
                  <a:lnTo>
                    <a:pt x="0" y="845058"/>
                  </a:lnTo>
                  <a:lnTo>
                    <a:pt x="6858" y="845058"/>
                  </a:lnTo>
                  <a:close/>
                </a:path>
                <a:path w="9144000" h="845185">
                  <a:moveTo>
                    <a:pt x="9144000" y="845058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43987" y="6858"/>
                  </a:lnTo>
                  <a:lnTo>
                    <a:pt x="9143987" y="845058"/>
                  </a:lnTo>
                  <a:close/>
                </a:path>
                <a:path w="9144000" h="845185">
                  <a:moveTo>
                    <a:pt x="9143987" y="832104"/>
                  </a:moveTo>
                  <a:lnTo>
                    <a:pt x="9143987" y="6858"/>
                  </a:lnTo>
                  <a:lnTo>
                    <a:pt x="9137904" y="6858"/>
                  </a:lnTo>
                  <a:lnTo>
                    <a:pt x="9137904" y="832104"/>
                  </a:lnTo>
                  <a:lnTo>
                    <a:pt x="9143987" y="832104"/>
                  </a:lnTo>
                  <a:close/>
                </a:path>
                <a:path w="9144000" h="845185">
                  <a:moveTo>
                    <a:pt x="9143987" y="845058"/>
                  </a:moveTo>
                  <a:lnTo>
                    <a:pt x="9143987" y="832104"/>
                  </a:lnTo>
                  <a:lnTo>
                    <a:pt x="9137904" y="838200"/>
                  </a:lnTo>
                  <a:lnTo>
                    <a:pt x="9137904" y="845058"/>
                  </a:lnTo>
                  <a:lnTo>
                    <a:pt x="9143987" y="8450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74839" y="348995"/>
            <a:ext cx="9144000" cy="83820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19405">
              <a:lnSpc>
                <a:spcPct val="100000"/>
              </a:lnSpc>
              <a:spcBef>
                <a:spcPts val="850"/>
              </a:spcBef>
              <a:tabLst>
                <a:tab pos="1164590" algn="l"/>
              </a:tabLst>
            </a:pPr>
            <a:r>
              <a:rPr spc="-5" dirty="0"/>
              <a:t>3</a:t>
            </a:r>
            <a:r>
              <a:rPr spc="-10" dirty="0"/>
              <a:t>-</a:t>
            </a:r>
            <a:r>
              <a:rPr spc="-5" dirty="0"/>
              <a:t>5</a:t>
            </a:r>
            <a:r>
              <a:rPr dirty="0"/>
              <a:t>	</a:t>
            </a:r>
            <a:r>
              <a:rPr spc="-5" dirty="0"/>
              <a:t>D</a:t>
            </a:r>
            <a:r>
              <a:rPr spc="-245" dirty="0"/>
              <a:t>AT</a:t>
            </a:r>
            <a:r>
              <a:rPr spc="-5" dirty="0"/>
              <a:t>A</a:t>
            </a:r>
            <a:r>
              <a:rPr spc="-165" dirty="0"/>
              <a:t> </a:t>
            </a:r>
            <a:r>
              <a:rPr spc="-5" dirty="0"/>
              <a:t>R</a:t>
            </a:r>
            <a:r>
              <a:rPr spc="-245" dirty="0"/>
              <a:t>A</a:t>
            </a:r>
            <a:r>
              <a:rPr spc="-5" dirty="0"/>
              <a:t>TE</a:t>
            </a:r>
            <a:r>
              <a:rPr spc="10" dirty="0"/>
              <a:t> </a:t>
            </a:r>
            <a:r>
              <a:rPr spc="-5" dirty="0"/>
              <a:t>LIMITS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2062745"/>
            <a:ext cx="9144000" cy="2573020"/>
          </a:xfrm>
          <a:custGeom>
            <a:avLst/>
            <a:gdLst/>
            <a:ahLst/>
            <a:cxnLst/>
            <a:rect l="l" t="t" r="r" b="b"/>
            <a:pathLst>
              <a:path w="9144000" h="25730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4500"/>
                </a:lnTo>
                <a:lnTo>
                  <a:pt x="0" y="1715262"/>
                </a:lnTo>
                <a:lnTo>
                  <a:pt x="0" y="2572512"/>
                </a:lnTo>
                <a:lnTo>
                  <a:pt x="9144000" y="2572512"/>
                </a:lnTo>
                <a:lnTo>
                  <a:pt x="9144000" y="1715262"/>
                </a:lnTo>
                <a:lnTo>
                  <a:pt x="9144000" y="1714500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29773" y="1374139"/>
            <a:ext cx="8453120" cy="2598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very important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consideration in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communications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how fast we can send data,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bits per second, over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channel.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depends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on three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factors:</a:t>
            </a:r>
            <a:endParaRPr sz="2800" dirty="0">
              <a:latin typeface="Times New Roman"/>
              <a:cs typeface="Times New Roman"/>
            </a:endParaRPr>
          </a:p>
          <a:p>
            <a:pPr marL="27813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800" b="1" i="1" spc="-705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.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bandwidth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available</a:t>
            </a:r>
            <a:endParaRPr sz="2800" dirty="0">
              <a:latin typeface="Times New Roman"/>
              <a:cs typeface="Times New Roman"/>
            </a:endParaRPr>
          </a:p>
          <a:p>
            <a:pPr marL="27813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2.</a:t>
            </a:r>
            <a:r>
              <a:rPr sz="28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level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signals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use</a:t>
            </a:r>
            <a:endParaRPr sz="2800" dirty="0">
              <a:latin typeface="Times New Roman"/>
              <a:cs typeface="Times New Roman"/>
            </a:endParaRPr>
          </a:p>
          <a:p>
            <a:pPr marL="27813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  <a:r>
              <a:rPr sz="2800" b="1" i="1" spc="-705" dirty="0">
                <a:latin typeface="Times New Roman"/>
                <a:cs typeface="Times New Roman"/>
              </a:rPr>
              <a:t>.</a:t>
            </a:r>
            <a:r>
              <a:rPr sz="2800" b="1" i="1" dirty="0">
                <a:latin typeface="Times New Roman"/>
                <a:cs typeface="Times New Roman"/>
              </a:rPr>
              <a:t>.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quality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channel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(the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leve</a:t>
            </a:r>
            <a:r>
              <a:rPr sz="2800" b="1" i="1" dirty="0">
                <a:latin typeface="Times New Roman"/>
                <a:cs typeface="Times New Roman"/>
              </a:rPr>
              <a:t>l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noise)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68</a:t>
            </a:fld>
            <a:endParaRPr spc="-5" dirty="0">
              <a:solidFill>
                <a:srgbClr val="000000"/>
              </a:solidFill>
            </a:endParaRPr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0670A41C-9FD2-0AB8-5B5D-2FBD53A1B897}"/>
              </a:ext>
            </a:extLst>
          </p:cNvPr>
          <p:cNvSpPr txBox="1"/>
          <p:nvPr/>
        </p:nvSpPr>
        <p:spPr>
          <a:xfrm>
            <a:off x="1135866" y="4380865"/>
            <a:ext cx="705739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890" marR="5080" indent="-123825">
              <a:lnSpc>
                <a:spcPct val="100000"/>
              </a:lnSpc>
              <a:spcBef>
                <a:spcPts val="95"/>
              </a:spcBef>
            </a:pPr>
            <a:r>
              <a:rPr sz="3200" b="1" spc="-10" dirty="0">
                <a:latin typeface="Arial"/>
                <a:cs typeface="Arial"/>
              </a:rPr>
              <a:t>Increasing </a:t>
            </a: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levels </a:t>
            </a:r>
            <a:r>
              <a:rPr sz="3200" b="1" spc="-5" dirty="0">
                <a:latin typeface="Arial"/>
                <a:cs typeface="Arial"/>
              </a:rPr>
              <a:t>of a signal may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reduce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reliability</a:t>
            </a:r>
            <a:r>
              <a:rPr sz="3200" b="1" spc="-5" dirty="0">
                <a:latin typeface="Arial"/>
                <a:cs typeface="Arial"/>
              </a:rPr>
              <a:t> of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system.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3.33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3777246"/>
            <a:ext cx="9144000" cy="2573020"/>
          </a:xfrm>
          <a:custGeom>
            <a:avLst/>
            <a:gdLst/>
            <a:ahLst/>
            <a:cxnLst/>
            <a:rect l="l" t="t" r="r" b="b"/>
            <a:pathLst>
              <a:path w="9144000" h="25730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4500"/>
                </a:lnTo>
                <a:lnTo>
                  <a:pt x="0" y="1715262"/>
                </a:lnTo>
                <a:lnTo>
                  <a:pt x="0" y="2572512"/>
                </a:lnTo>
                <a:lnTo>
                  <a:pt x="9144000" y="2572512"/>
                </a:lnTo>
                <a:lnTo>
                  <a:pt x="9144000" y="1715262"/>
                </a:lnTo>
                <a:lnTo>
                  <a:pt x="9144000" y="1714500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817624"/>
            <a:ext cx="8377555" cy="471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100"/>
              </a:spcBef>
              <a:tabLst>
                <a:tab pos="992505" algn="l"/>
                <a:tab pos="1696085" algn="l"/>
                <a:tab pos="3070860" algn="l"/>
                <a:tab pos="4523105" algn="l"/>
                <a:tab pos="5147310" algn="l"/>
                <a:tab pos="5968365" algn="l"/>
                <a:tab pos="7025640" algn="l"/>
                <a:tab pos="790765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Doe</a:t>
            </a:r>
            <a:r>
              <a:rPr sz="2800" b="1" i="1" dirty="0">
                <a:latin typeface="Times New Roman"/>
                <a:cs typeface="Times New Roman"/>
              </a:rPr>
              <a:t>s	the	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Nyquis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t	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theore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m	</a:t>
            </a:r>
            <a:r>
              <a:rPr sz="2800" b="1" i="1" spc="-5" dirty="0">
                <a:latin typeface="Times New Roman"/>
                <a:cs typeface="Times New Roman"/>
              </a:rPr>
              <a:t>bi</a:t>
            </a:r>
            <a:r>
              <a:rPr sz="2800" b="1" i="1" dirty="0">
                <a:latin typeface="Times New Roman"/>
                <a:cs typeface="Times New Roman"/>
              </a:rPr>
              <a:t>t	</a:t>
            </a:r>
            <a:r>
              <a:rPr sz="2800" b="1" i="1" spc="-5" dirty="0">
                <a:latin typeface="Times New Roman"/>
                <a:cs typeface="Times New Roman"/>
              </a:rPr>
              <a:t>rat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agre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wit</a:t>
            </a:r>
            <a:r>
              <a:rPr sz="2800" b="1" i="1" dirty="0">
                <a:latin typeface="Times New Roman"/>
                <a:cs typeface="Times New Roman"/>
              </a:rPr>
              <a:t>h	the  intuitive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described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baseband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transmission?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They match when we have only two levels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said,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baseband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transmission,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2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times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 </a:t>
            </a:r>
            <a:r>
              <a:rPr sz="2800" b="1" i="1" dirty="0">
                <a:latin typeface="Times New Roman"/>
                <a:cs typeface="Times New Roman"/>
              </a:rPr>
              <a:t>if </a:t>
            </a:r>
            <a:r>
              <a:rPr sz="2800" b="1" i="1" spc="-5" dirty="0">
                <a:latin typeface="Times New Roman"/>
                <a:cs typeface="Times New Roman"/>
              </a:rPr>
              <a:t>we </a:t>
            </a:r>
            <a:r>
              <a:rPr sz="2800" b="1" i="1" dirty="0">
                <a:latin typeface="Times New Roman"/>
                <a:cs typeface="Times New Roman"/>
              </a:rPr>
              <a:t>use </a:t>
            </a:r>
            <a:r>
              <a:rPr sz="2800" b="1" i="1" spc="-5" dirty="0">
                <a:latin typeface="Times New Roman"/>
                <a:cs typeface="Times New Roman"/>
              </a:rPr>
              <a:t>only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first harmonic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the worst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case. </a:t>
            </a:r>
            <a:r>
              <a:rPr sz="2800" b="1" i="1" spc="-25" dirty="0">
                <a:latin typeface="Times New Roman"/>
                <a:cs typeface="Times New Roman"/>
              </a:rPr>
              <a:t>However, </a:t>
            </a:r>
            <a:r>
              <a:rPr sz="2800" b="1" i="1" spc="-5" dirty="0">
                <a:latin typeface="Times New Roman"/>
                <a:cs typeface="Times New Roman"/>
              </a:rPr>
              <a:t>the Nyquist formula is more general than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what we </a:t>
            </a:r>
            <a:r>
              <a:rPr sz="2800" b="1" i="1" spc="-10" dirty="0">
                <a:latin typeface="Times New Roman"/>
                <a:cs typeface="Times New Roman"/>
              </a:rPr>
              <a:t>derived </a:t>
            </a:r>
            <a:r>
              <a:rPr sz="2800" b="1" i="1" spc="-5" dirty="0">
                <a:latin typeface="Times New Roman"/>
                <a:cs typeface="Times New Roman"/>
              </a:rPr>
              <a:t>intuitively; it </a:t>
            </a:r>
            <a:r>
              <a:rPr sz="2800" b="1" i="1" dirty="0">
                <a:latin typeface="Times New Roman"/>
                <a:cs typeface="Times New Roman"/>
              </a:rPr>
              <a:t>can </a:t>
            </a:r>
            <a:r>
              <a:rPr sz="2800" b="1" i="1" spc="-5" dirty="0">
                <a:latin typeface="Times New Roman"/>
                <a:cs typeface="Times New Roman"/>
              </a:rPr>
              <a:t>be applied </a:t>
            </a:r>
            <a:r>
              <a:rPr sz="2800" b="1" i="1" dirty="0">
                <a:latin typeface="Times New Roman"/>
                <a:cs typeface="Times New Roman"/>
              </a:rPr>
              <a:t>to </a:t>
            </a:r>
            <a:r>
              <a:rPr sz="2800" b="1" i="1" spc="-5" dirty="0">
                <a:latin typeface="Times New Roman"/>
                <a:cs typeface="Times New Roman"/>
              </a:rPr>
              <a:t>baseband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transmission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modulation.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Also,</a:t>
            </a:r>
            <a:r>
              <a:rPr sz="2800" b="1" i="1" dirty="0">
                <a:latin typeface="Times New Roman"/>
                <a:cs typeface="Times New Roman"/>
              </a:rPr>
              <a:t> it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applied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when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have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two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more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levels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signals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>
                <a:solidFill>
                  <a:srgbClr val="000000"/>
                </a:solidFill>
              </a:rPr>
              <a:t>3.</a:t>
            </a:r>
            <a:fld id="{81D60167-4931-47E6-BA6A-407CBD079E47}" type="slidenum">
              <a:rPr spc="-5" dirty="0">
                <a:solidFill>
                  <a:srgbClr val="000000"/>
                </a:solidFill>
              </a:rPr>
              <a:t>69</a:t>
            </a:fld>
            <a:endParaRPr spc="-5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539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828547"/>
            <a:ext cx="5241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20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3.31	</a:t>
            </a:r>
            <a:r>
              <a:rPr sz="2000" i="1" spc="-5" dirty="0">
                <a:latin typeface="Times New Roman"/>
                <a:cs typeface="Times New Roman"/>
              </a:rPr>
              <a:t>Filling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link with bits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case 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4066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847" y="2419350"/>
            <a:ext cx="7403592" cy="341604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53573" y="6860953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latin typeface="Arial"/>
                <a:cs typeface="Arial"/>
              </a:rPr>
              <a:t>3.</a:t>
            </a:r>
            <a:fld id="{81D60167-4931-47E6-BA6A-407CBD079E47}" type="slidenum">
              <a:rPr sz="2000" b="1" spc="-5" dirty="0">
                <a:latin typeface="Arial"/>
                <a:cs typeface="Arial"/>
              </a:rPr>
              <a:t>70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592073"/>
            <a:ext cx="8594090" cy="614680"/>
            <a:chOff x="851039" y="592073"/>
            <a:chExt cx="8594090" cy="614680"/>
          </a:xfrm>
        </p:grpSpPr>
        <p:sp>
          <p:nvSpPr>
            <p:cNvPr id="3" name="object 3"/>
            <p:cNvSpPr/>
            <p:nvPr/>
          </p:nvSpPr>
          <p:spPr>
            <a:xfrm>
              <a:off x="1142123" y="700289"/>
              <a:ext cx="438150" cy="474980"/>
            </a:xfrm>
            <a:custGeom>
              <a:avLst/>
              <a:gdLst/>
              <a:ahLst/>
              <a:cxnLst/>
              <a:rect l="l" t="t" r="r" b="b"/>
              <a:pathLst>
                <a:path w="438150" h="474980">
                  <a:moveTo>
                    <a:pt x="438150" y="0"/>
                  </a:moveTo>
                  <a:lnTo>
                    <a:pt x="0" y="0"/>
                  </a:lnTo>
                  <a:lnTo>
                    <a:pt x="0" y="422148"/>
                  </a:lnTo>
                  <a:lnTo>
                    <a:pt x="0" y="474726"/>
                  </a:lnTo>
                  <a:lnTo>
                    <a:pt x="438150" y="474726"/>
                  </a:lnTo>
                  <a:lnTo>
                    <a:pt x="438150" y="422148"/>
                  </a:lnTo>
                  <a:lnTo>
                    <a:pt x="438150" y="0"/>
                  </a:lnTo>
                  <a:close/>
                </a:path>
              </a:pathLst>
            </a:custGeom>
            <a:solidFill>
              <a:srgbClr val="FFC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4647" y="700277"/>
              <a:ext cx="328422" cy="4747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65567" y="1122425"/>
              <a:ext cx="422275" cy="83820"/>
            </a:xfrm>
            <a:custGeom>
              <a:avLst/>
              <a:gdLst/>
              <a:ahLst/>
              <a:cxnLst/>
              <a:rect l="l" t="t" r="r" b="b"/>
              <a:pathLst>
                <a:path w="422275" h="83819">
                  <a:moveTo>
                    <a:pt x="422147" y="83819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83819"/>
                  </a:lnTo>
                  <a:lnTo>
                    <a:pt x="422147" y="83819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86547" y="592073"/>
              <a:ext cx="31750" cy="614680"/>
            </a:xfrm>
            <a:custGeom>
              <a:avLst/>
              <a:gdLst/>
              <a:ahLst/>
              <a:cxnLst/>
              <a:rect l="l" t="t" r="r" b="b"/>
              <a:pathLst>
                <a:path w="31750" h="614680">
                  <a:moveTo>
                    <a:pt x="31241" y="614171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614171"/>
                  </a:lnTo>
                  <a:lnTo>
                    <a:pt x="31241" y="614171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049273"/>
              <a:ext cx="8593836" cy="156972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6573" y="551180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3.48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851039" y="1206246"/>
            <a:ext cx="1153160" cy="438150"/>
            <a:chOff x="851039" y="1206246"/>
            <a:chExt cx="1153160" cy="438150"/>
          </a:xfrm>
        </p:grpSpPr>
        <p:sp>
          <p:nvSpPr>
            <p:cNvPr id="10" name="object 10"/>
            <p:cNvSpPr/>
            <p:nvPr/>
          </p:nvSpPr>
          <p:spPr>
            <a:xfrm>
              <a:off x="1265567" y="1206246"/>
              <a:ext cx="422275" cy="391160"/>
            </a:xfrm>
            <a:custGeom>
              <a:avLst/>
              <a:gdLst/>
              <a:ahLst/>
              <a:cxnLst/>
              <a:rect l="l" t="t" r="r" b="b"/>
              <a:pathLst>
                <a:path w="422275" h="391159">
                  <a:moveTo>
                    <a:pt x="422147" y="390905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390905"/>
                  </a:lnTo>
                  <a:lnTo>
                    <a:pt x="422147" y="390905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35899" y="1206246"/>
              <a:ext cx="368045" cy="39090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039" y="1206246"/>
              <a:ext cx="560832" cy="2651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86547" y="1206246"/>
              <a:ext cx="31750" cy="438150"/>
            </a:xfrm>
            <a:custGeom>
              <a:avLst/>
              <a:gdLst/>
              <a:ahLst/>
              <a:cxnLst/>
              <a:rect l="l" t="t" r="r" b="b"/>
              <a:pathLst>
                <a:path w="31750" h="438150">
                  <a:moveTo>
                    <a:pt x="31242" y="438150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438150"/>
                  </a:lnTo>
                  <a:lnTo>
                    <a:pt x="31242" y="43815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291999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817624"/>
            <a:ext cx="8377555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625475" algn="l"/>
                <a:tab pos="960755" algn="l"/>
                <a:tab pos="1024890" algn="l"/>
                <a:tab pos="1325245" algn="l"/>
                <a:tab pos="1638300" algn="l"/>
                <a:tab pos="1783080" algn="l"/>
                <a:tab pos="1825625" algn="l"/>
                <a:tab pos="2263140" algn="l"/>
                <a:tab pos="2338705" algn="l"/>
                <a:tab pos="2563495" algn="l"/>
                <a:tab pos="2780665" algn="l"/>
                <a:tab pos="2979420" algn="l"/>
                <a:tab pos="3201035" algn="l"/>
                <a:tab pos="3259454" algn="l"/>
                <a:tab pos="3600450" algn="l"/>
                <a:tab pos="3879215" algn="l"/>
                <a:tab pos="4056379" algn="l"/>
                <a:tab pos="4312920" algn="l"/>
                <a:tab pos="4601845" algn="l"/>
                <a:tab pos="4793615" algn="l"/>
                <a:tab pos="4832350" algn="l"/>
                <a:tab pos="5304155" algn="l"/>
                <a:tab pos="5431790" algn="l"/>
                <a:tab pos="5966460" algn="l"/>
                <a:tab pos="6163310" algn="l"/>
                <a:tab pos="6226175" algn="l"/>
                <a:tab pos="6646545" algn="l"/>
                <a:tab pos="7700645" algn="l"/>
                <a:tab pos="7908925" algn="l"/>
                <a:tab pos="8183245" algn="l"/>
              </a:tabLst>
            </a:pPr>
            <a:r>
              <a:rPr sz="2800" b="1" i="1" spc="-215" dirty="0">
                <a:latin typeface="Times New Roman"/>
                <a:cs typeface="Times New Roman"/>
              </a:rPr>
              <a:t>W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ca</a:t>
            </a:r>
            <a:r>
              <a:rPr sz="2800" b="1" i="1" dirty="0">
                <a:latin typeface="Times New Roman"/>
                <a:cs typeface="Times New Roman"/>
              </a:rPr>
              <a:t>n	think	</a:t>
            </a:r>
            <a:r>
              <a:rPr sz="2800" b="1" i="1" spc="-5" dirty="0">
                <a:latin typeface="Times New Roman"/>
                <a:cs typeface="Times New Roman"/>
              </a:rPr>
              <a:t>abou</a:t>
            </a:r>
            <a:r>
              <a:rPr sz="2800" b="1" i="1" dirty="0">
                <a:latin typeface="Times New Roman"/>
                <a:cs typeface="Times New Roman"/>
              </a:rPr>
              <a:t>t		</a:t>
            </a:r>
            <a:r>
              <a:rPr sz="2800" b="1" i="1" spc="-5" dirty="0">
                <a:latin typeface="Times New Roman"/>
                <a:cs typeface="Times New Roman"/>
              </a:rPr>
              <a:t>th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lin</a:t>
            </a:r>
            <a:r>
              <a:rPr sz="2800" b="1" i="1" dirty="0">
                <a:latin typeface="Times New Roman"/>
                <a:cs typeface="Times New Roman"/>
              </a:rPr>
              <a:t>k	</a:t>
            </a:r>
            <a:r>
              <a:rPr sz="2800" b="1" i="1" spc="-5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betwee</a:t>
            </a:r>
            <a:r>
              <a:rPr sz="2800" b="1" i="1" dirty="0">
                <a:latin typeface="Times New Roman"/>
                <a:cs typeface="Times New Roman"/>
              </a:rPr>
              <a:t>n	</a:t>
            </a:r>
            <a:r>
              <a:rPr sz="2800" b="1" i="1" spc="-5" dirty="0">
                <a:latin typeface="Times New Roman"/>
                <a:cs typeface="Times New Roman"/>
              </a:rPr>
              <a:t>tw</a:t>
            </a:r>
            <a:r>
              <a:rPr sz="2800" b="1" i="1" dirty="0">
                <a:latin typeface="Times New Roman"/>
                <a:cs typeface="Times New Roman"/>
              </a:rPr>
              <a:t>o	</a:t>
            </a:r>
            <a:r>
              <a:rPr sz="2800" b="1" i="1" spc="-5" dirty="0">
                <a:latin typeface="Times New Roman"/>
                <a:cs typeface="Times New Roman"/>
              </a:rPr>
              <a:t>point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dirty="0">
                <a:latin typeface="Times New Roman"/>
                <a:cs typeface="Times New Roman"/>
              </a:rPr>
              <a:t>s	a  </a:t>
            </a:r>
            <a:r>
              <a:rPr sz="2800" b="1" i="1" spc="-5" dirty="0">
                <a:latin typeface="Times New Roman"/>
                <a:cs typeface="Times New Roman"/>
              </a:rPr>
              <a:t>pipe</a:t>
            </a:r>
            <a:r>
              <a:rPr sz="2800" b="1" i="1" dirty="0">
                <a:latin typeface="Times New Roman"/>
                <a:cs typeface="Times New Roman"/>
              </a:rPr>
              <a:t>.	</a:t>
            </a: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i="1" spc="5" dirty="0">
                <a:latin typeface="Times New Roman"/>
                <a:cs typeface="Times New Roman"/>
              </a:rPr>
              <a:t>h</a:t>
            </a:r>
            <a:r>
              <a:rPr sz="2800" b="1" i="1" dirty="0">
                <a:latin typeface="Times New Roman"/>
                <a:cs typeface="Times New Roman"/>
              </a:rPr>
              <a:t>e		</a:t>
            </a:r>
            <a:r>
              <a:rPr sz="2800" b="1" i="1" spc="-5" dirty="0">
                <a:latin typeface="Times New Roman"/>
                <a:cs typeface="Times New Roman"/>
              </a:rPr>
              <a:t>cros</a:t>
            </a:r>
            <a:r>
              <a:rPr sz="2800" b="1" i="1" dirty="0">
                <a:latin typeface="Times New Roman"/>
                <a:cs typeface="Times New Roman"/>
              </a:rPr>
              <a:t>s		s</a:t>
            </a:r>
            <a:r>
              <a:rPr sz="2800" b="1" i="1" spc="-5" dirty="0">
                <a:latin typeface="Times New Roman"/>
                <a:cs typeface="Times New Roman"/>
              </a:rPr>
              <a:t>ectio</a:t>
            </a:r>
            <a:r>
              <a:rPr sz="2800" b="1" i="1" dirty="0">
                <a:latin typeface="Times New Roman"/>
                <a:cs typeface="Times New Roman"/>
              </a:rPr>
              <a:t>n		of	</a:t>
            </a:r>
            <a:r>
              <a:rPr sz="2800" b="1" i="1" spc="-5" dirty="0">
                <a:latin typeface="Times New Roman"/>
                <a:cs typeface="Times New Roman"/>
              </a:rPr>
              <a:t>th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pip</a:t>
            </a:r>
            <a:r>
              <a:rPr sz="2800" b="1" i="1" dirty="0">
                <a:latin typeface="Times New Roman"/>
                <a:cs typeface="Times New Roman"/>
              </a:rPr>
              <a:t>e		</a:t>
            </a:r>
            <a:r>
              <a:rPr sz="2800" b="1" i="1" spc="-5" dirty="0">
                <a:latin typeface="Times New Roman"/>
                <a:cs typeface="Times New Roman"/>
              </a:rPr>
              <a:t>represent</a:t>
            </a:r>
            <a:r>
              <a:rPr sz="2800" b="1" i="1" dirty="0">
                <a:latin typeface="Times New Roman"/>
                <a:cs typeface="Times New Roman"/>
              </a:rPr>
              <a:t>s		</a:t>
            </a:r>
            <a:r>
              <a:rPr sz="2800" b="1" i="1" spc="-6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 bandwidth,			and	the	length	</a:t>
            </a:r>
            <a:r>
              <a:rPr sz="2800" b="1" i="1" dirty="0">
                <a:latin typeface="Times New Roman"/>
                <a:cs typeface="Times New Roman"/>
              </a:rPr>
              <a:t>of	th		</a:t>
            </a:r>
            <a:r>
              <a:rPr sz="2800" b="1" i="1" spc="-5" dirty="0">
                <a:latin typeface="Times New Roman"/>
                <a:cs typeface="Times New Roman"/>
              </a:rPr>
              <a:t>pipe		represents	th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delay.		</a:t>
            </a:r>
            <a:r>
              <a:rPr sz="2800" b="1" i="1" spc="-110" dirty="0">
                <a:latin typeface="Times New Roman"/>
                <a:cs typeface="Times New Roman"/>
              </a:rPr>
              <a:t>We	</a:t>
            </a:r>
            <a:r>
              <a:rPr sz="2800" b="1" i="1" spc="-5" dirty="0">
                <a:latin typeface="Times New Roman"/>
                <a:cs typeface="Times New Roman"/>
              </a:rPr>
              <a:t>can		say	the	volume		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5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5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pipe</a:t>
            </a:r>
            <a:r>
              <a:rPr sz="2800" b="1" i="1" spc="5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defines</a:t>
            </a:r>
            <a:r>
              <a:rPr sz="2800" b="1" i="1" spc="6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bandwidth-delay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product,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shown </a:t>
            </a:r>
            <a:r>
              <a:rPr sz="2800" b="1" i="1" dirty="0">
                <a:latin typeface="Times New Roman"/>
                <a:cs typeface="Times New Roman"/>
              </a:rPr>
              <a:t>in Figure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3573" y="6860953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latin typeface="Arial"/>
                <a:cs typeface="Arial"/>
              </a:rPr>
              <a:t>3.</a:t>
            </a:r>
            <a:fld id="{81D60167-4931-47E6-BA6A-407CBD079E47}" type="slidenum">
              <a:rPr sz="2000" b="1" spc="-5" dirty="0">
                <a:latin typeface="Arial"/>
                <a:cs typeface="Arial"/>
              </a:rPr>
              <a:t>71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143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3.32	</a:t>
            </a:r>
            <a:r>
              <a:rPr sz="2000" i="1" spc="-5" dirty="0">
                <a:latin typeface="Times New Roman"/>
                <a:cs typeface="Times New Roman"/>
              </a:rPr>
              <a:t>Filling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the link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with bits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case 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6567" y="1559052"/>
            <a:ext cx="7401306" cy="443865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53573" y="6860953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latin typeface="Arial"/>
                <a:cs typeface="Arial"/>
              </a:rPr>
              <a:t>3.</a:t>
            </a:r>
            <a:fld id="{81D60167-4931-47E6-BA6A-407CBD079E47}" type="slidenum">
              <a:rPr sz="2000" b="1" spc="-5" dirty="0">
                <a:latin typeface="Arial"/>
                <a:cs typeface="Arial"/>
              </a:rPr>
              <a:t>72</a:t>
            </a:fld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0629" y="2265173"/>
            <a:ext cx="544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lang="en-US" sz="2400" spc="-15">
                <a:solidFill>
                  <a:srgbClr val="3333CC"/>
                </a:solidFill>
              </a:rPr>
              <a:t>Figure</a:t>
            </a:r>
            <a:r>
              <a:rPr lang="en-US" sz="2400" spc="-5">
                <a:solidFill>
                  <a:srgbClr val="3333CC"/>
                </a:solidFill>
              </a:rPr>
              <a:t> 3.33	</a:t>
            </a:r>
            <a:r>
              <a:rPr lang="en-US" sz="2000" i="1" spc="-5">
                <a:latin typeface="Times New Roman"/>
                <a:cs typeface="Times New Roman"/>
              </a:rPr>
              <a:t>Concept</a:t>
            </a:r>
            <a:r>
              <a:rPr lang="en-US" sz="2000" i="1">
                <a:latin typeface="Times New Roman"/>
                <a:cs typeface="Times New Roman"/>
              </a:rPr>
              <a:t> </a:t>
            </a:r>
            <a:r>
              <a:rPr lang="en-US" sz="2000" i="1" spc="-5">
                <a:latin typeface="Times New Roman"/>
                <a:cs typeface="Times New Roman"/>
              </a:rPr>
              <a:t>of</a:t>
            </a:r>
            <a:r>
              <a:rPr lang="en-US" sz="2000" i="1" spc="5">
                <a:latin typeface="Times New Roman"/>
                <a:cs typeface="Times New Roman"/>
              </a:rPr>
              <a:t> </a:t>
            </a:r>
            <a:r>
              <a:rPr lang="en-US" sz="2000" i="1" spc="-5">
                <a:latin typeface="Times New Roman"/>
                <a:cs typeface="Times New Roman"/>
              </a:rPr>
              <a:t>bandwidth-delay</a:t>
            </a:r>
            <a:r>
              <a:rPr lang="en-US" sz="2000" i="1" spc="-15">
                <a:latin typeface="Times New Roman"/>
                <a:cs typeface="Times New Roman"/>
              </a:rPr>
              <a:t> </a:t>
            </a:r>
            <a:r>
              <a:rPr lang="en-US" sz="2000" i="1" spc="-5">
                <a:latin typeface="Times New Roman"/>
                <a:cs typeface="Times New Roman"/>
              </a:rPr>
              <a:t>product</a:t>
            </a:r>
            <a:endParaRPr lang="en-US" sz="20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2821" y="3425952"/>
            <a:ext cx="7916418" cy="120929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68580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latin typeface="Arial"/>
                <a:cs typeface="Arial"/>
              </a:rPr>
              <a:t>3.</a:t>
            </a:r>
            <a:fld id="{81D60167-4931-47E6-BA6A-407CBD079E47}" type="slidenum">
              <a:rPr sz="2000" b="1" spc="-5" dirty="0">
                <a:latin typeface="Arial"/>
                <a:cs typeface="Arial"/>
              </a:rPr>
              <a:t>73</a:t>
            </a:fld>
            <a:endParaRPr sz="2000"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E9066-6C7E-3B39-E8CD-0FD5766F5006}"/>
              </a:ext>
            </a:extLst>
          </p:cNvPr>
          <p:cNvSpPr txBox="1"/>
          <p:nvPr/>
        </p:nvSpPr>
        <p:spPr>
          <a:xfrm>
            <a:off x="698500" y="979983"/>
            <a:ext cx="8915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spc="-5" dirty="0">
                <a:latin typeface="Arial"/>
                <a:cs typeface="Arial"/>
              </a:rPr>
              <a:t>The </a:t>
            </a:r>
            <a:r>
              <a:rPr lang="en-US" sz="2000" b="1" spc="-10" dirty="0">
                <a:latin typeface="Arial"/>
                <a:cs typeface="Arial"/>
              </a:rPr>
              <a:t>bandwidth-delay product defines </a:t>
            </a:r>
            <a:r>
              <a:rPr lang="en-US" sz="2000" b="1" spc="-5" dirty="0">
                <a:latin typeface="Arial"/>
                <a:cs typeface="Arial"/>
              </a:rPr>
              <a:t> the</a:t>
            </a:r>
            <a:r>
              <a:rPr lang="en-US" sz="2000" b="1" spc="-25" dirty="0">
                <a:latin typeface="Arial"/>
                <a:cs typeface="Arial"/>
              </a:rPr>
              <a:t> </a:t>
            </a:r>
            <a:r>
              <a:rPr lang="en-US" sz="2000" b="1" spc="-10" dirty="0">
                <a:latin typeface="Arial"/>
                <a:cs typeface="Arial"/>
              </a:rPr>
              <a:t>number</a:t>
            </a:r>
            <a:r>
              <a:rPr lang="en-US" sz="2000" b="1" spc="-1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of</a:t>
            </a:r>
            <a:r>
              <a:rPr lang="en-US" sz="2000" b="1" spc="-10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bits</a:t>
            </a:r>
            <a:r>
              <a:rPr lang="en-US" sz="2000" b="1" spc="-15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that</a:t>
            </a:r>
            <a:r>
              <a:rPr lang="en-US" sz="2000" b="1" spc="-10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can</a:t>
            </a:r>
            <a:r>
              <a:rPr lang="en-US" sz="2000" b="1" spc="-20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fill</a:t>
            </a:r>
            <a:r>
              <a:rPr lang="en-US" sz="2000" b="1" spc="-10" dirty="0">
                <a:latin typeface="Arial"/>
                <a:cs typeface="Arial"/>
              </a:rPr>
              <a:t> </a:t>
            </a:r>
            <a:r>
              <a:rPr lang="en-US" sz="2000" b="1" spc="-5" dirty="0">
                <a:latin typeface="Arial"/>
                <a:cs typeface="Arial"/>
              </a:rPr>
              <a:t>the</a:t>
            </a:r>
            <a:r>
              <a:rPr lang="en-US" sz="2000" b="1" spc="-10" dirty="0">
                <a:latin typeface="Arial"/>
                <a:cs typeface="Arial"/>
              </a:rPr>
              <a:t> link</a:t>
            </a:r>
            <a:endParaRPr lang="en-IN" sz="2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158875" algn="l"/>
              </a:tabLst>
            </a:pPr>
            <a:r>
              <a:rPr spc="-5" dirty="0"/>
              <a:t>4-1	</a:t>
            </a:r>
            <a:r>
              <a:rPr spc="-35" dirty="0"/>
              <a:t>DIGITAL-TO-DIGITAL</a:t>
            </a:r>
            <a:r>
              <a:rPr spc="-155" dirty="0"/>
              <a:t> </a:t>
            </a:r>
            <a:r>
              <a:rPr spc="-5" dirty="0"/>
              <a:t>CONVERSION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1714500"/>
            <a:chOff x="774839" y="1206246"/>
            <a:chExt cx="9144000" cy="171450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4839" y="20627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9144000" y="85801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58373" y="1801622"/>
            <a:ext cx="807085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02920" algn="l"/>
                <a:tab pos="1190625" algn="l"/>
                <a:tab pos="2459355" algn="l"/>
                <a:tab pos="3006725" algn="l"/>
                <a:tab pos="3613785" algn="l"/>
                <a:tab pos="4380865" algn="l"/>
                <a:tab pos="4928235" algn="l"/>
                <a:tab pos="5615305" algn="l"/>
                <a:tab pos="7129145" algn="l"/>
              </a:tabLst>
            </a:pPr>
            <a:r>
              <a:rPr sz="2800" b="1" i="1" dirty="0">
                <a:latin typeface="Times New Roman"/>
                <a:cs typeface="Times New Roman"/>
              </a:rPr>
              <a:t>In	this	</a:t>
            </a:r>
            <a:r>
              <a:rPr sz="2800" b="1" i="1" spc="-5" dirty="0">
                <a:latin typeface="Times New Roman"/>
                <a:cs typeface="Times New Roman"/>
              </a:rPr>
              <a:t>sectio</a:t>
            </a:r>
            <a:r>
              <a:rPr sz="2800" b="1" i="1" dirty="0">
                <a:latin typeface="Times New Roman"/>
                <a:cs typeface="Times New Roman"/>
              </a:rPr>
              <a:t>n,	</a:t>
            </a:r>
            <a:r>
              <a:rPr sz="2800" b="1" i="1" spc="-10" dirty="0">
                <a:latin typeface="Times New Roman"/>
                <a:cs typeface="Times New Roman"/>
              </a:rPr>
              <a:t>w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10" dirty="0">
                <a:latin typeface="Times New Roman"/>
                <a:cs typeface="Times New Roman"/>
              </a:rPr>
              <a:t>se</a:t>
            </a:r>
            <a:r>
              <a:rPr sz="2800" b="1" i="1" dirty="0">
                <a:latin typeface="Times New Roman"/>
                <a:cs typeface="Times New Roman"/>
              </a:rPr>
              <a:t>e	how	</a:t>
            </a:r>
            <a:r>
              <a:rPr sz="2800" b="1" i="1" spc="-10" dirty="0">
                <a:latin typeface="Times New Roman"/>
                <a:cs typeface="Times New Roman"/>
              </a:rPr>
              <a:t>w</a:t>
            </a:r>
            <a:r>
              <a:rPr sz="2800" b="1" i="1" dirty="0">
                <a:latin typeface="Times New Roman"/>
                <a:cs typeface="Times New Roman"/>
              </a:rPr>
              <a:t>e	can	</a:t>
            </a:r>
            <a:r>
              <a:rPr sz="2800" b="1" i="1" spc="-5" dirty="0">
                <a:latin typeface="Times New Roman"/>
                <a:cs typeface="Times New Roman"/>
              </a:rPr>
              <a:t>represen</a:t>
            </a:r>
            <a:r>
              <a:rPr sz="2800" b="1" i="1" dirty="0">
                <a:latin typeface="Times New Roman"/>
                <a:cs typeface="Times New Roman"/>
              </a:rPr>
              <a:t>t	</a:t>
            </a:r>
            <a:r>
              <a:rPr sz="2800" b="1" i="1" spc="-5" dirty="0">
                <a:latin typeface="Times New Roman"/>
                <a:cs typeface="Times New Roman"/>
              </a:rPr>
              <a:t>digital  data</a:t>
            </a:r>
            <a:r>
              <a:rPr sz="2800" b="1" i="1" spc="2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by</a:t>
            </a:r>
            <a:r>
              <a:rPr sz="2800" b="1" i="1" spc="2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using</a:t>
            </a:r>
            <a:r>
              <a:rPr sz="2800" b="1" i="1" spc="2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digital</a:t>
            </a:r>
            <a:r>
              <a:rPr sz="2800" b="1" i="1" spc="2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signals.</a:t>
            </a:r>
            <a:r>
              <a:rPr sz="2800" b="1" i="1" spc="2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2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conversion</a:t>
            </a:r>
            <a:r>
              <a:rPr sz="2800" b="1" i="1" spc="2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involves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291998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73" y="2655061"/>
            <a:ext cx="724725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9810" algn="l"/>
                <a:tab pos="2976245" algn="l"/>
                <a:tab pos="3787140" algn="l"/>
                <a:tab pos="5122545" algn="l"/>
                <a:tab pos="617029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three	techniques:	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line	</a:t>
            </a:r>
            <a:r>
              <a:rPr sz="2800" b="1" i="1" spc="-95" dirty="0">
                <a:solidFill>
                  <a:srgbClr val="FF0000"/>
                </a:solidFill>
                <a:latin typeface="Times New Roman"/>
                <a:cs typeface="Times New Roman"/>
              </a:rPr>
              <a:t>coding</a:t>
            </a:r>
            <a:r>
              <a:rPr sz="2800" b="1" i="1" spc="-95" dirty="0">
                <a:latin typeface="Times New Roman"/>
                <a:cs typeface="Times New Roman"/>
              </a:rPr>
              <a:t>,,	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block	</a:t>
            </a:r>
            <a:r>
              <a:rPr sz="2800" b="1" i="1" spc="-180" dirty="0">
                <a:solidFill>
                  <a:srgbClr val="FF0000"/>
                </a:solidFill>
                <a:latin typeface="Times New Roman"/>
                <a:cs typeface="Times New Roman"/>
              </a:rPr>
              <a:t>coding</a:t>
            </a:r>
            <a:r>
              <a:rPr sz="2800" b="1" i="1" spc="-180" dirty="0">
                <a:latin typeface="Times New Roman"/>
                <a:cs typeface="Times New Roman"/>
              </a:rPr>
              <a:t>,,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58373" y="3081781"/>
            <a:ext cx="70319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89455" algn="l"/>
                <a:tab pos="2911475" algn="l"/>
                <a:tab pos="4149725" algn="l"/>
                <a:tab pos="4637405" algn="l"/>
                <a:tab pos="5873750" algn="l"/>
              </a:tabLst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scramblin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r>
              <a:rPr sz="2800" b="1" i="1" spc="-705" dirty="0">
                <a:latin typeface="Times New Roman"/>
                <a:cs typeface="Times New Roman"/>
              </a:rPr>
              <a:t>.</a:t>
            </a:r>
            <a:r>
              <a:rPr sz="2800" b="1" i="1" dirty="0">
                <a:latin typeface="Times New Roman"/>
                <a:cs typeface="Times New Roman"/>
              </a:rPr>
              <a:t>.	Line	</a:t>
            </a:r>
            <a:r>
              <a:rPr sz="2800" b="1" i="1" spc="-5" dirty="0">
                <a:latin typeface="Times New Roman"/>
                <a:cs typeface="Times New Roman"/>
              </a:rPr>
              <a:t>codin</a:t>
            </a:r>
            <a:r>
              <a:rPr sz="2800" b="1" i="1" dirty="0">
                <a:latin typeface="Times New Roman"/>
                <a:cs typeface="Times New Roman"/>
              </a:rPr>
              <a:t>g	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alway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needed</a:t>
            </a:r>
            <a:r>
              <a:rPr sz="2800" b="1" i="1" dirty="0"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14948" y="2655061"/>
            <a:ext cx="81470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3495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and  block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4839" y="37772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05973" y="3508502"/>
            <a:ext cx="7520940" cy="3031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coding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scrambling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may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may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not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180" dirty="0">
                <a:latin typeface="Times New Roman"/>
                <a:cs typeface="Times New Roman"/>
              </a:rPr>
              <a:t>needed..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35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Line</a:t>
            </a:r>
            <a:r>
              <a:rPr sz="2400" b="1" spc="-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Coding</a:t>
            </a:r>
            <a:endParaRPr sz="2400">
              <a:latin typeface="Times New Roman"/>
              <a:cs typeface="Times New Roman"/>
            </a:endParaRPr>
          </a:p>
          <a:p>
            <a:pPr marL="12700" marR="4690745">
              <a:lnSpc>
                <a:spcPct val="100000"/>
              </a:lnSpc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Line Coding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Schemes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Block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Coding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Scrambling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4.2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207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4.1	</a:t>
            </a:r>
            <a:r>
              <a:rPr sz="2000" i="1" spc="-5" dirty="0">
                <a:latin typeface="Times New Roman"/>
                <a:cs typeface="Times New Roman"/>
              </a:rPr>
              <a:t>Line coding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 decoding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5047" y="2460498"/>
            <a:ext cx="8775192" cy="268909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4.3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168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4.2	</a:t>
            </a:r>
            <a:r>
              <a:rPr sz="2000" i="1" spc="-5" dirty="0">
                <a:latin typeface="Times New Roman"/>
                <a:cs typeface="Times New Roman"/>
              </a:rPr>
              <a:t>Signal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element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versus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data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element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2639" y="1644395"/>
            <a:ext cx="6105905" cy="488822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4.4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557530" marR="551815" algn="ctr">
              <a:lnSpc>
                <a:spcPct val="100000"/>
              </a:lnSpc>
              <a:spcBef>
                <a:spcPts val="275"/>
              </a:spcBef>
            </a:pPr>
            <a:r>
              <a:rPr sz="3200" b="1" spc="-10" dirty="0">
                <a:latin typeface="Arial"/>
                <a:cs typeface="Arial"/>
              </a:rPr>
              <a:t>Although </a:t>
            </a: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actual </a:t>
            </a:r>
            <a:r>
              <a:rPr sz="3200" b="1" spc="-5" dirty="0">
                <a:latin typeface="Arial"/>
                <a:cs typeface="Arial"/>
              </a:rPr>
              <a:t>bandwidth of a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digital signal is infinite, the </a:t>
            </a:r>
            <a:r>
              <a:rPr sz="3200" b="1" spc="-10" dirty="0">
                <a:latin typeface="Arial"/>
                <a:cs typeface="Arial"/>
              </a:rPr>
              <a:t>effective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bandwidth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 </a:t>
            </a:r>
            <a:r>
              <a:rPr sz="3200" b="1" spc="-10" dirty="0">
                <a:latin typeface="Arial"/>
                <a:cs typeface="Arial"/>
              </a:rPr>
              <a:t>finite.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4.6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911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4.3	</a:t>
            </a:r>
            <a:r>
              <a:rPr sz="2000" i="1" spc="-10" dirty="0">
                <a:latin typeface="Times New Roman"/>
                <a:cs typeface="Times New Roman"/>
              </a:rPr>
              <a:t>Effect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lack of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synchronization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3925" y="1949195"/>
            <a:ext cx="6627114" cy="427253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4.8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4.3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062745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2018029" y="4375403"/>
            <a:ext cx="6656070" cy="455930"/>
            <a:chOff x="2018029" y="4375403"/>
            <a:chExt cx="6656070" cy="45593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5573" y="4432553"/>
              <a:ext cx="6541769" cy="20269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018030" y="4375416"/>
              <a:ext cx="6656070" cy="260350"/>
            </a:xfrm>
            <a:custGeom>
              <a:avLst/>
              <a:gdLst/>
              <a:ahLst/>
              <a:cxnLst/>
              <a:rect l="l" t="t" r="r" b="b"/>
              <a:pathLst>
                <a:path w="6656070" h="260350">
                  <a:moveTo>
                    <a:pt x="6610350" y="45720"/>
                  </a:moveTo>
                  <a:lnTo>
                    <a:pt x="659892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259842"/>
                  </a:lnTo>
                  <a:lnTo>
                    <a:pt x="57150" y="259842"/>
                  </a:lnTo>
                  <a:lnTo>
                    <a:pt x="57150" y="57150"/>
                  </a:lnTo>
                  <a:lnTo>
                    <a:pt x="6598920" y="57150"/>
                  </a:lnTo>
                  <a:lnTo>
                    <a:pt x="6598920" y="259842"/>
                  </a:lnTo>
                  <a:lnTo>
                    <a:pt x="6610350" y="259842"/>
                  </a:lnTo>
                  <a:lnTo>
                    <a:pt x="6610350" y="45720"/>
                  </a:lnTo>
                  <a:close/>
                </a:path>
                <a:path w="6656070" h="260350">
                  <a:moveTo>
                    <a:pt x="6656070" y="0"/>
                  </a:moveTo>
                  <a:lnTo>
                    <a:pt x="662178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259842"/>
                  </a:lnTo>
                  <a:lnTo>
                    <a:pt x="34290" y="259842"/>
                  </a:lnTo>
                  <a:lnTo>
                    <a:pt x="34290" y="34290"/>
                  </a:lnTo>
                  <a:lnTo>
                    <a:pt x="6621780" y="34290"/>
                  </a:lnTo>
                  <a:lnTo>
                    <a:pt x="6621780" y="259842"/>
                  </a:lnTo>
                  <a:lnTo>
                    <a:pt x="6656070" y="259842"/>
                  </a:lnTo>
                  <a:lnTo>
                    <a:pt x="665607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5573" y="4635245"/>
              <a:ext cx="6541769" cy="13868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18030" y="4635258"/>
              <a:ext cx="6656070" cy="196215"/>
            </a:xfrm>
            <a:custGeom>
              <a:avLst/>
              <a:gdLst/>
              <a:ahLst/>
              <a:cxnLst/>
              <a:rect l="l" t="t" r="r" b="b"/>
              <a:pathLst>
                <a:path w="6656070" h="196214">
                  <a:moveTo>
                    <a:pt x="6610350" y="0"/>
                  </a:moveTo>
                  <a:lnTo>
                    <a:pt x="6598920" y="0"/>
                  </a:lnTo>
                  <a:lnTo>
                    <a:pt x="6598920" y="138684"/>
                  </a:lnTo>
                  <a:lnTo>
                    <a:pt x="57150" y="138684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150114"/>
                  </a:lnTo>
                  <a:lnTo>
                    <a:pt x="57150" y="150114"/>
                  </a:lnTo>
                  <a:lnTo>
                    <a:pt x="6598920" y="150114"/>
                  </a:lnTo>
                  <a:lnTo>
                    <a:pt x="6610350" y="150114"/>
                  </a:lnTo>
                  <a:lnTo>
                    <a:pt x="6610350" y="0"/>
                  </a:lnTo>
                  <a:close/>
                </a:path>
                <a:path w="6656070" h="196214">
                  <a:moveTo>
                    <a:pt x="6656070" y="0"/>
                  </a:moveTo>
                  <a:lnTo>
                    <a:pt x="6621780" y="0"/>
                  </a:lnTo>
                  <a:lnTo>
                    <a:pt x="6621780" y="161544"/>
                  </a:lnTo>
                  <a:lnTo>
                    <a:pt x="34290" y="161544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195834"/>
                  </a:lnTo>
                  <a:lnTo>
                    <a:pt x="34290" y="195834"/>
                  </a:lnTo>
                  <a:lnTo>
                    <a:pt x="6621780" y="195834"/>
                  </a:lnTo>
                  <a:lnTo>
                    <a:pt x="6656070" y="195834"/>
                  </a:lnTo>
                  <a:lnTo>
                    <a:pt x="665607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082173" y="1284224"/>
            <a:ext cx="8604250" cy="465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9375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In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digital transmission, the receiver clock is 0.1 percent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faster than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sender clock. How many extra bits </a:t>
            </a:r>
            <a:r>
              <a:rPr sz="2800" b="1" i="1" spc="-10" dirty="0">
                <a:latin typeface="Times New Roman"/>
                <a:cs typeface="Times New Roman"/>
              </a:rPr>
              <a:t>per </a:t>
            </a:r>
            <a:r>
              <a:rPr sz="2800" b="1" i="1" spc="-5" dirty="0">
                <a:latin typeface="Times New Roman"/>
                <a:cs typeface="Times New Roman"/>
              </a:rPr>
              <a:t> second</a:t>
            </a:r>
            <a:r>
              <a:rPr sz="2800" b="1" i="1" spc="4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does</a:t>
            </a:r>
            <a:r>
              <a:rPr sz="2800" b="1" i="1" spc="11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11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receiver</a:t>
            </a:r>
            <a:r>
              <a:rPr sz="2800" b="1" i="1" spc="11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</a:t>
            </a:r>
            <a:r>
              <a:rPr sz="2800" b="1" i="1" spc="11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if</a:t>
            </a:r>
            <a:r>
              <a:rPr sz="2800" b="1" i="1" spc="11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11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</a:t>
            </a:r>
            <a:r>
              <a:rPr sz="2800" b="1" i="1" spc="11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spc="11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kbps?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How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many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if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Mbps?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80645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At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kbps,</a:t>
            </a:r>
            <a:r>
              <a:rPr sz="2800" b="1" i="1" spc="2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2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receiver</a:t>
            </a:r>
            <a:r>
              <a:rPr sz="2800" b="1" i="1" spc="2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receives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1001</a:t>
            </a:r>
            <a:r>
              <a:rPr sz="2800" b="1" i="1" spc="2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bps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instead</a:t>
            </a:r>
            <a:r>
              <a:rPr sz="2800" b="1" i="1" spc="2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2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1000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bps.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550">
              <a:latin typeface="Times New Roman"/>
              <a:cs typeface="Times New Roman"/>
            </a:endParaRPr>
          </a:p>
          <a:p>
            <a:pPr marL="88900" marR="5080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At</a:t>
            </a:r>
            <a:r>
              <a:rPr sz="2800" b="1" i="1" spc="2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2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Mbps,</a:t>
            </a:r>
            <a:r>
              <a:rPr sz="2800" b="1" i="1" spc="2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220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receiver</a:t>
            </a:r>
            <a:r>
              <a:rPr sz="2800" b="1" i="1" spc="2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receives</a:t>
            </a:r>
            <a:r>
              <a:rPr sz="2800" b="1" i="1" spc="2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1,001,000</a:t>
            </a:r>
            <a:r>
              <a:rPr sz="2800" b="1" i="1" spc="2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bps</a:t>
            </a:r>
            <a:r>
              <a:rPr sz="2800" b="1" i="1" spc="2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instead</a:t>
            </a:r>
            <a:r>
              <a:rPr sz="2800" b="1" i="1" spc="2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1,000,000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bps.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97939" y="6157721"/>
            <a:ext cx="8097520" cy="421005"/>
            <a:chOff x="1297939" y="6157721"/>
            <a:chExt cx="8097520" cy="421005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54721" y="6217919"/>
              <a:ext cx="7983474" cy="1318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297940" y="6157734"/>
              <a:ext cx="8097520" cy="192405"/>
            </a:xfrm>
            <a:custGeom>
              <a:avLst/>
              <a:gdLst/>
              <a:ahLst/>
              <a:cxnLst/>
              <a:rect l="l" t="t" r="r" b="b"/>
              <a:pathLst>
                <a:path w="8097520" h="192404">
                  <a:moveTo>
                    <a:pt x="8051800" y="45720"/>
                  </a:moveTo>
                  <a:lnTo>
                    <a:pt x="804037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192024"/>
                  </a:lnTo>
                  <a:lnTo>
                    <a:pt x="57150" y="192024"/>
                  </a:lnTo>
                  <a:lnTo>
                    <a:pt x="57150" y="57150"/>
                  </a:lnTo>
                  <a:lnTo>
                    <a:pt x="8040370" y="57150"/>
                  </a:lnTo>
                  <a:lnTo>
                    <a:pt x="8040370" y="192024"/>
                  </a:lnTo>
                  <a:lnTo>
                    <a:pt x="8051800" y="192024"/>
                  </a:lnTo>
                  <a:lnTo>
                    <a:pt x="8051800" y="45720"/>
                  </a:lnTo>
                  <a:close/>
                </a:path>
                <a:path w="8097520" h="192404">
                  <a:moveTo>
                    <a:pt x="8097520" y="0"/>
                  </a:moveTo>
                  <a:lnTo>
                    <a:pt x="806323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192024"/>
                  </a:lnTo>
                  <a:lnTo>
                    <a:pt x="34290" y="192024"/>
                  </a:lnTo>
                  <a:lnTo>
                    <a:pt x="34290" y="34290"/>
                  </a:lnTo>
                  <a:lnTo>
                    <a:pt x="8063230" y="34290"/>
                  </a:lnTo>
                  <a:lnTo>
                    <a:pt x="8063230" y="192024"/>
                  </a:lnTo>
                  <a:lnTo>
                    <a:pt x="8097520" y="192024"/>
                  </a:lnTo>
                  <a:lnTo>
                    <a:pt x="809752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54721" y="6349745"/>
              <a:ext cx="7983474" cy="17145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297940" y="6349758"/>
              <a:ext cx="8097520" cy="228600"/>
            </a:xfrm>
            <a:custGeom>
              <a:avLst/>
              <a:gdLst/>
              <a:ahLst/>
              <a:cxnLst/>
              <a:rect l="l" t="t" r="r" b="b"/>
              <a:pathLst>
                <a:path w="8097520" h="228600">
                  <a:moveTo>
                    <a:pt x="8051800" y="0"/>
                  </a:moveTo>
                  <a:lnTo>
                    <a:pt x="8040370" y="0"/>
                  </a:lnTo>
                  <a:lnTo>
                    <a:pt x="8040370" y="171450"/>
                  </a:lnTo>
                  <a:lnTo>
                    <a:pt x="57150" y="171450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182880"/>
                  </a:lnTo>
                  <a:lnTo>
                    <a:pt x="57150" y="182880"/>
                  </a:lnTo>
                  <a:lnTo>
                    <a:pt x="8040370" y="182880"/>
                  </a:lnTo>
                  <a:lnTo>
                    <a:pt x="8051800" y="182880"/>
                  </a:lnTo>
                  <a:lnTo>
                    <a:pt x="8051800" y="0"/>
                  </a:lnTo>
                  <a:close/>
                </a:path>
                <a:path w="8097520" h="228600">
                  <a:moveTo>
                    <a:pt x="8097520" y="0"/>
                  </a:moveTo>
                  <a:lnTo>
                    <a:pt x="8063230" y="0"/>
                  </a:lnTo>
                  <a:lnTo>
                    <a:pt x="8063230" y="194310"/>
                  </a:lnTo>
                  <a:lnTo>
                    <a:pt x="34290" y="19431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228600"/>
                  </a:lnTo>
                  <a:lnTo>
                    <a:pt x="34290" y="228600"/>
                  </a:lnTo>
                  <a:lnTo>
                    <a:pt x="8063230" y="228600"/>
                  </a:lnTo>
                  <a:lnTo>
                    <a:pt x="8097520" y="228600"/>
                  </a:lnTo>
                  <a:lnTo>
                    <a:pt x="809752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4.9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677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4.4	</a:t>
            </a:r>
            <a:r>
              <a:rPr sz="2000" i="1" spc="-5" dirty="0">
                <a:latin typeface="Times New Roman"/>
                <a:cs typeface="Times New Roman"/>
              </a:rPr>
              <a:t>Line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coding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schemes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9239" y="2231898"/>
            <a:ext cx="7642859" cy="337489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4.10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8468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4.5	</a:t>
            </a:r>
            <a:r>
              <a:rPr sz="2000" i="1" spc="-5" dirty="0">
                <a:latin typeface="Times New Roman"/>
                <a:cs typeface="Times New Roman"/>
              </a:rPr>
              <a:t>Unipolar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NRZ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scheme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5775" y="2964179"/>
            <a:ext cx="7293864" cy="188061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4.11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025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4.6	</a:t>
            </a:r>
            <a:r>
              <a:rPr sz="2000" i="1" spc="-5" dirty="0">
                <a:latin typeface="Times New Roman"/>
                <a:cs typeface="Times New Roman"/>
              </a:rPr>
              <a:t>Polar NRZ-L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 NRZ-I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schemes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569" y="2482595"/>
            <a:ext cx="8865869" cy="276910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4.12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74839" y="2919983"/>
            <a:ext cx="495300" cy="858519"/>
          </a:xfrm>
          <a:custGeom>
            <a:avLst/>
            <a:gdLst/>
            <a:ahLst/>
            <a:cxnLst/>
            <a:rect l="l" t="t" r="r" b="b"/>
            <a:pathLst>
              <a:path w="495300" h="858520">
                <a:moveTo>
                  <a:pt x="0" y="858012"/>
                </a:moveTo>
                <a:lnTo>
                  <a:pt x="495299" y="858012"/>
                </a:lnTo>
                <a:lnTo>
                  <a:pt x="495299" y="0"/>
                </a:lnTo>
                <a:lnTo>
                  <a:pt x="0" y="0"/>
                </a:lnTo>
                <a:lnTo>
                  <a:pt x="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347339" y="2919983"/>
            <a:ext cx="571500" cy="858519"/>
          </a:xfrm>
          <a:custGeom>
            <a:avLst/>
            <a:gdLst/>
            <a:ahLst/>
            <a:cxnLst/>
            <a:rect l="l" t="t" r="r" b="b"/>
            <a:pathLst>
              <a:path w="571500" h="858520">
                <a:moveTo>
                  <a:pt x="0" y="858012"/>
                </a:moveTo>
                <a:lnTo>
                  <a:pt x="571500" y="858012"/>
                </a:lnTo>
                <a:lnTo>
                  <a:pt x="571500" y="0"/>
                </a:lnTo>
                <a:lnTo>
                  <a:pt x="0" y="0"/>
                </a:lnTo>
                <a:lnTo>
                  <a:pt x="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9653" y="914343"/>
            <a:ext cx="8077200" cy="252920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954405" marR="944880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NRZ-L</a:t>
            </a:r>
            <a:r>
              <a:rPr sz="3200" b="1" spc="-7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level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voltage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determines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value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bit.</a:t>
            </a:r>
            <a:endParaRPr sz="3200" dirty="0">
              <a:latin typeface="Arial"/>
              <a:cs typeface="Arial"/>
            </a:endParaRPr>
          </a:p>
          <a:p>
            <a:pPr marL="1818005" marR="1809114" indent="-2540"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In NRZ-I the </a:t>
            </a:r>
            <a:r>
              <a:rPr sz="3200" b="1" spc="-10" dirty="0">
                <a:latin typeface="Arial"/>
                <a:cs typeface="Arial"/>
              </a:rPr>
              <a:t>inversion </a:t>
            </a:r>
            <a:r>
              <a:rPr sz="3200" b="1" spc="-5" dirty="0">
                <a:latin typeface="Arial"/>
                <a:cs typeface="Arial"/>
              </a:rPr>
              <a:t> or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lack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inversion</a:t>
            </a:r>
            <a:endParaRPr sz="3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200" b="1" spc="-10" dirty="0">
                <a:latin typeface="Arial"/>
                <a:cs typeface="Arial"/>
              </a:rPr>
              <a:t>determines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value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bit.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4.13</a:t>
            </a: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8105D042-D791-0AF2-E298-7F03C7527D00}"/>
              </a:ext>
            </a:extLst>
          </p:cNvPr>
          <p:cNvSpPr txBox="1"/>
          <p:nvPr/>
        </p:nvSpPr>
        <p:spPr>
          <a:xfrm>
            <a:off x="1129653" y="3585903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020570" marR="284480" indent="-1731645">
              <a:lnSpc>
                <a:spcPct val="100000"/>
              </a:lnSpc>
              <a:spcBef>
                <a:spcPts val="275"/>
              </a:spcBef>
            </a:pPr>
            <a:r>
              <a:rPr sz="3200" b="1" spc="-10" dirty="0">
                <a:latin typeface="Arial"/>
                <a:cs typeface="Arial"/>
              </a:rPr>
              <a:t>NRZ-L</a:t>
            </a:r>
            <a:r>
              <a:rPr sz="3200" b="1" spc="-7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and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NRZ-I </a:t>
            </a:r>
            <a:r>
              <a:rPr sz="3200" b="1" spc="-5" dirty="0">
                <a:latin typeface="Arial"/>
                <a:cs typeface="Arial"/>
              </a:rPr>
              <a:t>both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have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</a:t>
            </a:r>
            <a:r>
              <a:rPr sz="3200" b="1" spc="-10" dirty="0">
                <a:latin typeface="Arial"/>
                <a:cs typeface="Arial"/>
              </a:rPr>
              <a:t> average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signal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rate of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N/2 Bd.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8" name="object 10">
            <a:extLst>
              <a:ext uri="{FF2B5EF4-FFF2-40B4-BE49-F238E27FC236}">
                <a16:creationId xmlns:a16="http://schemas.microsoft.com/office/drawing/2014/main" id="{D977B87D-75DC-DA6D-3EC6-43E3D40D5723}"/>
              </a:ext>
            </a:extLst>
          </p:cNvPr>
          <p:cNvSpPr txBox="1"/>
          <p:nvPr/>
        </p:nvSpPr>
        <p:spPr>
          <a:xfrm>
            <a:off x="1129653" y="4848943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031364" marR="880110" indent="-1144905">
              <a:lnSpc>
                <a:spcPct val="100000"/>
              </a:lnSpc>
              <a:spcBef>
                <a:spcPts val="275"/>
              </a:spcBef>
            </a:pPr>
            <a:r>
              <a:rPr sz="3200" b="1" spc="-10" dirty="0">
                <a:latin typeface="Arial"/>
                <a:cs typeface="Arial"/>
              </a:rPr>
              <a:t>NRZ-L</a:t>
            </a:r>
            <a:r>
              <a:rPr sz="3200" b="1" spc="-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and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NRZ-I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both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have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DC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component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problem.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4.4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2678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473200" algn="l"/>
                <a:tab pos="1848485" algn="l"/>
                <a:tab pos="2796540" algn="l"/>
                <a:tab pos="3902710" algn="l"/>
                <a:tab pos="4318000" algn="l"/>
                <a:tab pos="5621020" algn="l"/>
                <a:tab pos="6864984" algn="l"/>
                <a:tab pos="772414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2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</a:t>
            </a:r>
            <a:r>
              <a:rPr sz="2800" b="1" i="1" spc="-5" dirty="0">
                <a:latin typeface="Times New Roman"/>
                <a:cs typeface="Times New Roman"/>
              </a:rPr>
              <a:t>yste</a:t>
            </a:r>
            <a:r>
              <a:rPr sz="2800" b="1" i="1" dirty="0">
                <a:latin typeface="Times New Roman"/>
                <a:cs typeface="Times New Roman"/>
              </a:rPr>
              <a:t>m	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usin</a:t>
            </a:r>
            <a:r>
              <a:rPr sz="2800" b="1" i="1" dirty="0">
                <a:latin typeface="Times New Roman"/>
                <a:cs typeface="Times New Roman"/>
              </a:rPr>
              <a:t>g	</a:t>
            </a:r>
            <a:r>
              <a:rPr sz="2800" b="1" i="1" spc="-5" dirty="0">
                <a:latin typeface="Times New Roman"/>
                <a:cs typeface="Times New Roman"/>
              </a:rPr>
              <a:t>NRZ-</a:t>
            </a:r>
            <a:r>
              <a:rPr sz="2800" b="1" i="1" dirty="0">
                <a:latin typeface="Times New Roman"/>
                <a:cs typeface="Times New Roman"/>
              </a:rPr>
              <a:t>I	to	</a:t>
            </a:r>
            <a:r>
              <a:rPr sz="2800" b="1" i="1" spc="-5" dirty="0">
                <a:latin typeface="Times New Roman"/>
                <a:cs typeface="Times New Roman"/>
              </a:rPr>
              <a:t>transfe</a:t>
            </a:r>
            <a:r>
              <a:rPr sz="2800" b="1" i="1" dirty="0">
                <a:latin typeface="Times New Roman"/>
                <a:cs typeface="Times New Roman"/>
              </a:rPr>
              <a:t>r	</a:t>
            </a:r>
            <a:r>
              <a:rPr sz="2800" b="1" i="1" spc="-5" dirty="0">
                <a:latin typeface="Times New Roman"/>
                <a:cs typeface="Times New Roman"/>
              </a:rPr>
              <a:t>1-Mbp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data</a:t>
            </a:r>
            <a:r>
              <a:rPr sz="2800" b="1" i="1" dirty="0">
                <a:latin typeface="Times New Roman"/>
                <a:cs typeface="Times New Roman"/>
              </a:rPr>
              <a:t>.	</a:t>
            </a:r>
            <a:r>
              <a:rPr sz="2800" b="1" i="1" spc="-10" dirty="0">
                <a:latin typeface="Times New Roman"/>
                <a:cs typeface="Times New Roman"/>
              </a:rPr>
              <a:t>W</a:t>
            </a:r>
            <a:r>
              <a:rPr sz="2800" b="1" i="1" spc="-5" dirty="0">
                <a:latin typeface="Times New Roman"/>
                <a:cs typeface="Times New Roman"/>
              </a:rPr>
              <a:t>hat  </a:t>
            </a:r>
            <a:r>
              <a:rPr sz="2800" b="1" i="1" dirty="0">
                <a:latin typeface="Times New Roman"/>
                <a:cs typeface="Times New Roman"/>
              </a:rPr>
              <a:t>are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average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signal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minimum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bandwidth?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377724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44073" y="3476498"/>
            <a:ext cx="8604885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50800" marR="431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The average signal rate is </a:t>
            </a:r>
            <a:r>
              <a:rPr sz="2800" b="1" i="1" dirty="0">
                <a:latin typeface="Times New Roman"/>
                <a:cs typeface="Times New Roman"/>
              </a:rPr>
              <a:t>S = </a:t>
            </a:r>
            <a:r>
              <a:rPr sz="2800" b="1" i="1" spc="-5" dirty="0">
                <a:latin typeface="Times New Roman"/>
                <a:cs typeface="Times New Roman"/>
              </a:rPr>
              <a:t>N/2 </a:t>
            </a:r>
            <a:r>
              <a:rPr sz="2800" b="1" i="1" dirty="0">
                <a:latin typeface="Times New Roman"/>
                <a:cs typeface="Times New Roman"/>
              </a:rPr>
              <a:t>= </a:t>
            </a:r>
            <a:r>
              <a:rPr sz="2800" b="1" i="1" spc="-5" dirty="0">
                <a:latin typeface="Times New Roman"/>
                <a:cs typeface="Times New Roman"/>
              </a:rPr>
              <a:t>500 kbaud.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minimum</a:t>
            </a:r>
            <a:r>
              <a:rPr sz="2800" b="1" i="1" spc="2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</a:t>
            </a:r>
            <a:r>
              <a:rPr sz="2800" b="1" i="1" spc="2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spc="2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average</a:t>
            </a:r>
            <a:r>
              <a:rPr sz="2800" b="1" i="1" spc="2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baud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spc="2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775" b="1" i="1" baseline="-12012" dirty="0">
                <a:latin typeface="Times New Roman"/>
                <a:cs typeface="Times New Roman"/>
              </a:rPr>
              <a:t>min</a:t>
            </a:r>
            <a:r>
              <a:rPr sz="2775" b="1" i="1" spc="15" baseline="-12012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500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kHz.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4.16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298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4.7	</a:t>
            </a:r>
            <a:r>
              <a:rPr sz="2000" i="1" spc="-5" dirty="0">
                <a:latin typeface="Times New Roman"/>
                <a:cs typeface="Times New Roman"/>
              </a:rPr>
              <a:t>Polar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RZ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scheme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3375" y="2725673"/>
            <a:ext cx="7751064" cy="234772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4.17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8248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4.8	</a:t>
            </a:r>
            <a:r>
              <a:rPr sz="2000" i="1" spc="-5" dirty="0">
                <a:latin typeface="Times New Roman"/>
                <a:cs typeface="Times New Roman"/>
              </a:rPr>
              <a:t>Polar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biphase: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Manchester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differential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Manchester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schemes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973" y="2035301"/>
            <a:ext cx="8524493" cy="410489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4.18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374414" y="634614"/>
            <a:ext cx="8077200" cy="1143262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555625" marR="549910" indent="635" algn="ctr">
              <a:lnSpc>
                <a:spcPct val="100000"/>
              </a:lnSpc>
              <a:spcBef>
                <a:spcPts val="275"/>
              </a:spcBef>
            </a:pPr>
            <a:r>
              <a:rPr sz="2400" b="1" spc="-5" dirty="0">
                <a:latin typeface="Arial"/>
                <a:cs typeface="Arial"/>
              </a:rPr>
              <a:t>In </a:t>
            </a:r>
            <a:r>
              <a:rPr sz="2400" b="1" spc="-10" dirty="0">
                <a:latin typeface="Arial"/>
                <a:cs typeface="Arial"/>
              </a:rPr>
              <a:t>Manchester </a:t>
            </a:r>
            <a:r>
              <a:rPr sz="2400" b="1" spc="-5" dirty="0">
                <a:latin typeface="Arial"/>
                <a:cs typeface="Arial"/>
              </a:rPr>
              <a:t>and </a:t>
            </a:r>
            <a:r>
              <a:rPr sz="2400" b="1" spc="-10" dirty="0">
                <a:latin typeface="Arial"/>
                <a:cs typeface="Arial"/>
              </a:rPr>
              <a:t>differential </a:t>
            </a:r>
            <a:r>
              <a:rPr sz="2400" b="1" spc="-5" dirty="0">
                <a:latin typeface="Arial"/>
                <a:cs typeface="Arial"/>
              </a:rPr>
              <a:t> Manchester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encoding,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the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transition </a:t>
            </a:r>
            <a:r>
              <a:rPr sz="2400" b="1" spc="-87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at the </a:t>
            </a:r>
            <a:r>
              <a:rPr sz="2400" b="1" spc="-10" dirty="0">
                <a:latin typeface="Arial"/>
                <a:cs typeface="Arial"/>
              </a:rPr>
              <a:t>middle </a:t>
            </a:r>
            <a:r>
              <a:rPr sz="2400" b="1" spc="-5" dirty="0">
                <a:latin typeface="Arial"/>
                <a:cs typeface="Arial"/>
              </a:rPr>
              <a:t>of the bit is used </a:t>
            </a:r>
            <a:r>
              <a:rPr sz="2400" b="1" spc="-10" dirty="0">
                <a:latin typeface="Arial"/>
                <a:cs typeface="Arial"/>
              </a:rPr>
              <a:t>for 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synchronization.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4.19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4A4B41-7B66-3446-8074-C14792789C2A}"/>
              </a:ext>
            </a:extLst>
          </p:cNvPr>
          <p:cNvSpPr txBox="1"/>
          <p:nvPr/>
        </p:nvSpPr>
        <p:spPr>
          <a:xfrm>
            <a:off x="1374413" y="2026341"/>
            <a:ext cx="80133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535" marR="209550" algn="ctr">
              <a:lnSpc>
                <a:spcPct val="100000"/>
              </a:lnSpc>
              <a:spcBef>
                <a:spcPts val="275"/>
              </a:spcBef>
            </a:pPr>
            <a:r>
              <a:rPr lang="en-US" sz="2400" b="1" spc="-5" dirty="0">
                <a:latin typeface="Arial"/>
                <a:cs typeface="Arial"/>
              </a:rPr>
              <a:t>The </a:t>
            </a:r>
            <a:r>
              <a:rPr lang="en-US" sz="2400" b="1" spc="-10" dirty="0">
                <a:latin typeface="Arial"/>
                <a:cs typeface="Arial"/>
              </a:rPr>
              <a:t>minimum </a:t>
            </a:r>
            <a:r>
              <a:rPr lang="en-US" sz="2400" b="1" spc="-5" dirty="0">
                <a:latin typeface="Arial"/>
                <a:cs typeface="Arial"/>
              </a:rPr>
              <a:t>bandwidth of </a:t>
            </a:r>
            <a:r>
              <a:rPr lang="en-US" sz="2400" b="1" spc="-10" dirty="0">
                <a:latin typeface="Arial"/>
                <a:cs typeface="Arial"/>
              </a:rPr>
              <a:t>Manchester </a:t>
            </a:r>
            <a:r>
              <a:rPr lang="en-US" sz="2400" b="1" spc="-875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and differential Manchester is 2 </a:t>
            </a:r>
            <a:r>
              <a:rPr lang="en-US" sz="2400" b="1" spc="-10" dirty="0">
                <a:latin typeface="Arial"/>
                <a:cs typeface="Arial"/>
              </a:rPr>
              <a:t>times </a:t>
            </a:r>
            <a:r>
              <a:rPr lang="en-US" sz="2400" b="1" spc="-5" dirty="0">
                <a:latin typeface="Arial"/>
                <a:cs typeface="Arial"/>
              </a:rPr>
              <a:t> that</a:t>
            </a:r>
            <a:r>
              <a:rPr lang="en-US" sz="2400" b="1" spc="-20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of</a:t>
            </a:r>
            <a:r>
              <a:rPr lang="en-US" sz="2400" b="1" spc="-15" dirty="0">
                <a:latin typeface="Arial"/>
                <a:cs typeface="Arial"/>
              </a:rPr>
              <a:t> </a:t>
            </a:r>
            <a:r>
              <a:rPr lang="en-US" sz="2400" b="1" spc="-10" dirty="0">
                <a:latin typeface="Arial"/>
                <a:cs typeface="Arial"/>
              </a:rPr>
              <a:t>NRZ.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804A98-B8F5-C76F-F757-BBACB204414C}"/>
              </a:ext>
            </a:extLst>
          </p:cNvPr>
          <p:cNvSpPr txBox="1"/>
          <p:nvPr/>
        </p:nvSpPr>
        <p:spPr>
          <a:xfrm>
            <a:off x="1265566" y="3458613"/>
            <a:ext cx="81860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2865" marR="132715" indent="-1194435">
              <a:lnSpc>
                <a:spcPct val="100000"/>
              </a:lnSpc>
              <a:spcBef>
                <a:spcPts val="275"/>
              </a:spcBef>
            </a:pPr>
            <a:r>
              <a:rPr lang="en-US" sz="2400" b="1" spc="-5" dirty="0">
                <a:latin typeface="Arial"/>
                <a:cs typeface="Arial"/>
              </a:rPr>
              <a:t>In </a:t>
            </a:r>
            <a:r>
              <a:rPr lang="en-US" sz="2400" b="1" spc="-10" dirty="0">
                <a:latin typeface="Arial"/>
                <a:cs typeface="Arial"/>
              </a:rPr>
              <a:t>bipolar encoding, </a:t>
            </a:r>
            <a:r>
              <a:rPr lang="en-US" sz="2400" b="1" spc="-5" dirty="0">
                <a:latin typeface="Arial"/>
                <a:cs typeface="Arial"/>
              </a:rPr>
              <a:t>we use three </a:t>
            </a:r>
            <a:r>
              <a:rPr lang="en-US" sz="2400" b="1" spc="-10" dirty="0">
                <a:latin typeface="Arial"/>
                <a:cs typeface="Arial"/>
              </a:rPr>
              <a:t>levels: </a:t>
            </a:r>
            <a:r>
              <a:rPr lang="en-US" sz="2400" b="1" spc="-875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positive,</a:t>
            </a:r>
            <a:r>
              <a:rPr lang="en-US" sz="2400" b="1" spc="-35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zero,</a:t>
            </a:r>
            <a:r>
              <a:rPr lang="en-US" sz="2400" b="1" spc="-10" dirty="0">
                <a:latin typeface="Arial"/>
                <a:cs typeface="Arial"/>
              </a:rPr>
              <a:t> </a:t>
            </a:r>
            <a:r>
              <a:rPr lang="en-US" sz="2400" b="1" spc="-5" dirty="0">
                <a:latin typeface="Arial"/>
                <a:cs typeface="Arial"/>
              </a:rPr>
              <a:t>and</a:t>
            </a:r>
            <a:r>
              <a:rPr lang="en-US" sz="2400" b="1" spc="-10" dirty="0">
                <a:latin typeface="Arial"/>
                <a:cs typeface="Arial"/>
              </a:rPr>
              <a:t> negative.</a:t>
            </a:r>
            <a:endParaRPr lang="en-US"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86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4.9	</a:t>
            </a:r>
            <a:r>
              <a:rPr sz="2000" i="1" spc="-5" dirty="0">
                <a:latin typeface="Times New Roman"/>
                <a:cs typeface="Times New Roman"/>
              </a:rPr>
              <a:t>Bipolar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schemes:</a:t>
            </a:r>
            <a:r>
              <a:rPr sz="2000" i="1" spc="-8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AMI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pseudoternary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541" y="2694432"/>
            <a:ext cx="8556497" cy="237896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4.22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377825" marR="370205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In </a:t>
            </a:r>
            <a:r>
              <a:rPr sz="3200" b="1" i="1" spc="-5" dirty="0">
                <a:latin typeface="Arial"/>
                <a:cs typeface="Arial"/>
              </a:rPr>
              <a:t>m</a:t>
            </a:r>
            <a:r>
              <a:rPr sz="3200" b="1" spc="-5" dirty="0">
                <a:latin typeface="Arial"/>
                <a:cs typeface="Arial"/>
              </a:rPr>
              <a:t>B</a:t>
            </a:r>
            <a:r>
              <a:rPr sz="3200" b="1" i="1" spc="-5" dirty="0">
                <a:latin typeface="Arial"/>
                <a:cs typeface="Arial"/>
              </a:rPr>
              <a:t>n</a:t>
            </a:r>
            <a:r>
              <a:rPr sz="3200" b="1" spc="-5" dirty="0">
                <a:latin typeface="Arial"/>
                <a:cs typeface="Arial"/>
              </a:rPr>
              <a:t>L </a:t>
            </a:r>
            <a:r>
              <a:rPr sz="3200" b="1" spc="-10" dirty="0">
                <a:latin typeface="Arial"/>
                <a:cs typeface="Arial"/>
              </a:rPr>
              <a:t>schemes, </a:t>
            </a:r>
            <a:r>
              <a:rPr sz="3200" b="1" spc="-5" dirty="0">
                <a:latin typeface="Arial"/>
                <a:cs typeface="Arial"/>
              </a:rPr>
              <a:t>a </a:t>
            </a:r>
            <a:r>
              <a:rPr sz="3200" b="1" spc="-10" dirty="0">
                <a:latin typeface="Arial"/>
                <a:cs typeface="Arial"/>
              </a:rPr>
              <a:t>pattern </a:t>
            </a:r>
            <a:r>
              <a:rPr sz="3200" b="1" spc="-5" dirty="0">
                <a:latin typeface="Arial"/>
                <a:cs typeface="Arial"/>
              </a:rPr>
              <a:t>of </a:t>
            </a:r>
            <a:r>
              <a:rPr sz="3200" b="1" i="1" spc="-5" dirty="0">
                <a:latin typeface="Arial"/>
                <a:cs typeface="Arial"/>
              </a:rPr>
              <a:t>m </a:t>
            </a:r>
            <a:r>
              <a:rPr sz="3200" b="1" spc="-10" dirty="0">
                <a:latin typeface="Arial"/>
                <a:cs typeface="Arial"/>
              </a:rPr>
              <a:t>data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elements is encoded as a </a:t>
            </a:r>
            <a:r>
              <a:rPr sz="3200" b="1" spc="-10" dirty="0">
                <a:latin typeface="Arial"/>
                <a:cs typeface="Arial"/>
              </a:rPr>
              <a:t>pattern </a:t>
            </a:r>
            <a:r>
              <a:rPr sz="3200" b="1" dirty="0">
                <a:latin typeface="Arial"/>
                <a:cs typeface="Arial"/>
              </a:rPr>
              <a:t>of </a:t>
            </a:r>
            <a:r>
              <a:rPr sz="3200" b="1" i="1" spc="-5" dirty="0">
                <a:latin typeface="Arial"/>
                <a:cs typeface="Arial"/>
              </a:rPr>
              <a:t>n </a:t>
            </a:r>
            <a:r>
              <a:rPr sz="3200" b="1" i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signal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elements</a:t>
            </a:r>
            <a:r>
              <a:rPr sz="3200" b="1" spc="-5" dirty="0">
                <a:latin typeface="Arial"/>
                <a:cs typeface="Arial"/>
              </a:rPr>
              <a:t> in</a:t>
            </a:r>
            <a:r>
              <a:rPr sz="3200" b="1" spc="-10" dirty="0">
                <a:latin typeface="Arial"/>
                <a:cs typeface="Arial"/>
              </a:rPr>
              <a:t> which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25" dirty="0">
                <a:latin typeface="Arial"/>
                <a:cs typeface="Arial"/>
              </a:rPr>
              <a:t>2</a:t>
            </a:r>
            <a:r>
              <a:rPr sz="3150" b="1" spc="37" baseline="25132" dirty="0">
                <a:latin typeface="Arial"/>
                <a:cs typeface="Arial"/>
              </a:rPr>
              <a:t>m</a:t>
            </a:r>
            <a:r>
              <a:rPr sz="3150" b="1" spc="450" baseline="25132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≤</a:t>
            </a:r>
            <a:r>
              <a:rPr sz="3200" b="1" spc="5" dirty="0">
                <a:latin typeface="Arial"/>
                <a:cs typeface="Arial"/>
              </a:rPr>
              <a:t> L</a:t>
            </a:r>
            <a:r>
              <a:rPr sz="3150" b="1" spc="7" baseline="25132" dirty="0">
                <a:latin typeface="Arial"/>
                <a:cs typeface="Arial"/>
              </a:rPr>
              <a:t>n</a:t>
            </a:r>
            <a:r>
              <a:rPr sz="3200" b="1" spc="5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4.23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29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4.10	</a:t>
            </a:r>
            <a:r>
              <a:rPr sz="2000" i="1" spc="-5" dirty="0">
                <a:latin typeface="Times New Roman"/>
                <a:cs typeface="Times New Roman"/>
              </a:rPr>
              <a:t>Multilevel: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2B1Q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scheme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27239" y="1330452"/>
            <a:ext cx="8763000" cy="5381625"/>
            <a:chOff x="927239" y="1330452"/>
            <a:chExt cx="8763000" cy="5381625"/>
          </a:xfrm>
        </p:grpSpPr>
        <p:sp>
          <p:nvSpPr>
            <p:cNvPr id="5" name="object 5"/>
            <p:cNvSpPr/>
            <p:nvPr/>
          </p:nvSpPr>
          <p:spPr>
            <a:xfrm>
              <a:off x="927239" y="1330452"/>
              <a:ext cx="8763000" cy="19050"/>
            </a:xfrm>
            <a:custGeom>
              <a:avLst/>
              <a:gdLst/>
              <a:ahLst/>
              <a:cxnLst/>
              <a:rect l="l" t="t" r="r" b="b"/>
              <a:pathLst>
                <a:path w="8763000" h="19050">
                  <a:moveTo>
                    <a:pt x="8763000" y="19049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8763000" y="190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1015" y="1339596"/>
              <a:ext cx="7659623" cy="525475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27239" y="6635496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4.24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247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spc="-40" dirty="0">
                <a:solidFill>
                  <a:srgbClr val="3333CC"/>
                </a:solidFill>
              </a:rPr>
              <a:t>4.11	</a:t>
            </a:r>
            <a:r>
              <a:rPr sz="2000" i="1" spc="-5" dirty="0">
                <a:latin typeface="Times New Roman"/>
                <a:cs typeface="Times New Roman"/>
              </a:rPr>
              <a:t>Multilevel: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8B6T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scheme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943" y="3192779"/>
            <a:ext cx="8921495" cy="180136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4.25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539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828547"/>
            <a:ext cx="4738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20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4.12	</a:t>
            </a:r>
            <a:r>
              <a:rPr sz="2000" i="1" spc="-5" dirty="0">
                <a:latin typeface="Times New Roman"/>
                <a:cs typeface="Times New Roman"/>
              </a:rPr>
              <a:t>Multilevel: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4D-PAM5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scheme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4066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239" y="2089404"/>
            <a:ext cx="8803385" cy="397459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4.26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938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4.13	</a:t>
            </a:r>
            <a:r>
              <a:rPr sz="2000" i="1" spc="-5" dirty="0">
                <a:latin typeface="Times New Roman"/>
                <a:cs typeface="Times New Roman"/>
              </a:rPr>
              <a:t>Multitransition: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50" dirty="0">
                <a:latin typeface="Times New Roman"/>
                <a:cs typeface="Times New Roman"/>
              </a:rPr>
              <a:t>MLT-3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scheme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145" y="2122932"/>
            <a:ext cx="8829293" cy="410489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4.27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438147"/>
            <a:ext cx="4800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73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4.1	</a:t>
            </a:r>
            <a:r>
              <a:rPr sz="2000" i="1" spc="-5" dirty="0">
                <a:latin typeface="Times New Roman"/>
                <a:cs typeface="Times New Roman"/>
              </a:rPr>
              <a:t>Summary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line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coding schemes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18095" y="1889760"/>
            <a:ext cx="8851900" cy="4174490"/>
            <a:chOff x="918095" y="1889760"/>
            <a:chExt cx="8851900" cy="41744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3439" y="1889760"/>
              <a:ext cx="8702802" cy="23759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8095" y="4022598"/>
              <a:ext cx="8851887" cy="204139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4.28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3200" b="1" spc="-10" dirty="0">
                <a:latin typeface="Arial"/>
                <a:cs typeface="Arial"/>
              </a:rPr>
              <a:t>Block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coding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 normally </a:t>
            </a:r>
            <a:r>
              <a:rPr sz="3200" b="1" spc="-10" dirty="0">
                <a:latin typeface="Arial"/>
                <a:cs typeface="Arial"/>
              </a:rPr>
              <a:t>referred</a:t>
            </a:r>
            <a:r>
              <a:rPr sz="3200" b="1" spc="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 </a:t>
            </a:r>
            <a:r>
              <a:rPr sz="3200" b="1" spc="-10" dirty="0">
                <a:latin typeface="Arial"/>
                <a:cs typeface="Arial"/>
              </a:rPr>
              <a:t>as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200" b="1" i="1" spc="-5" dirty="0">
                <a:latin typeface="Arial"/>
                <a:cs typeface="Arial"/>
              </a:rPr>
              <a:t>m</a:t>
            </a:r>
            <a:r>
              <a:rPr sz="3200" b="1" spc="-5" dirty="0">
                <a:latin typeface="Arial"/>
                <a:cs typeface="Arial"/>
              </a:rPr>
              <a:t>B/</a:t>
            </a:r>
            <a:r>
              <a:rPr sz="3200" b="1" i="1" spc="-5" dirty="0">
                <a:latin typeface="Arial"/>
                <a:cs typeface="Arial"/>
              </a:rPr>
              <a:t>n</a:t>
            </a:r>
            <a:r>
              <a:rPr sz="3200" b="1" spc="-5" dirty="0">
                <a:latin typeface="Arial"/>
                <a:cs typeface="Arial"/>
              </a:rPr>
              <a:t>B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coding;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it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replaces </a:t>
            </a:r>
            <a:r>
              <a:rPr sz="3200" b="1" spc="-5" dirty="0">
                <a:latin typeface="Arial"/>
                <a:cs typeface="Arial"/>
              </a:rPr>
              <a:t>each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m</a:t>
            </a:r>
            <a:r>
              <a:rPr sz="3200" b="1" spc="-5" dirty="0">
                <a:latin typeface="Arial"/>
                <a:cs typeface="Arial"/>
              </a:rPr>
              <a:t>-bit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group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with</a:t>
            </a:r>
            <a:r>
              <a:rPr sz="3200" b="1" spc="-10" dirty="0">
                <a:latin typeface="Arial"/>
                <a:cs typeface="Arial"/>
              </a:rPr>
              <a:t> an</a:t>
            </a:r>
            <a:endParaRPr sz="32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3200" b="1" i="1" spc="-5" dirty="0">
                <a:latin typeface="Arial"/>
                <a:cs typeface="Arial"/>
              </a:rPr>
              <a:t>n</a:t>
            </a:r>
            <a:r>
              <a:rPr sz="3200" b="1" spc="-5" dirty="0">
                <a:latin typeface="Arial"/>
                <a:cs typeface="Arial"/>
              </a:rPr>
              <a:t>-bit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group.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5187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4.29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886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4.14	</a:t>
            </a:r>
            <a:r>
              <a:rPr sz="2000" i="1" spc="-5" dirty="0">
                <a:latin typeface="Times New Roman"/>
                <a:cs typeface="Times New Roman"/>
              </a:rPr>
              <a:t>Block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coding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concept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4069" y="1984248"/>
            <a:ext cx="5703570" cy="407974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4.30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7721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4.15	</a:t>
            </a:r>
            <a:r>
              <a:rPr sz="2000" i="1" spc="-5" dirty="0">
                <a:latin typeface="Times New Roman"/>
                <a:cs typeface="Times New Roman"/>
              </a:rPr>
              <a:t>Using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block coding 4B/5B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with NRZ-I</a:t>
            </a:r>
            <a:r>
              <a:rPr sz="2000" i="1" spc="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line coding scheme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0119" y="2614422"/>
            <a:ext cx="8199119" cy="238277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4.31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773" y="371347"/>
            <a:ext cx="3636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73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4.2	</a:t>
            </a:r>
            <a:r>
              <a:rPr sz="2000" i="1" spc="-5" dirty="0">
                <a:latin typeface="Times New Roman"/>
                <a:cs typeface="Times New Roman"/>
              </a:rPr>
              <a:t>4B/5B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mapping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codes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11999" y="807719"/>
            <a:ext cx="8702040" cy="5866130"/>
            <a:chOff x="911999" y="807719"/>
            <a:chExt cx="8702040" cy="58661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999" y="807719"/>
              <a:ext cx="8702040" cy="25222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1999" y="3190493"/>
              <a:ext cx="8677579" cy="348310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4.32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307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4.16	</a:t>
            </a:r>
            <a:r>
              <a:rPr sz="2000" i="1" spc="-5" dirty="0">
                <a:latin typeface="Times New Roman"/>
                <a:cs typeface="Times New Roman"/>
              </a:rPr>
              <a:t>Substitution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 4B/5B block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coding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847" y="2589276"/>
            <a:ext cx="8317992" cy="278891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4.33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4.5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57" y="1512824"/>
            <a:ext cx="8528685" cy="503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at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1-Mbps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What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the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minimum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required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using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combination</a:t>
            </a:r>
            <a:r>
              <a:rPr sz="2800" b="1" i="1" dirty="0">
                <a:latin typeface="Times New Roman"/>
                <a:cs typeface="Times New Roman"/>
              </a:rPr>
              <a:t> of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4B/5B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NRZ-I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Manchester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coding?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2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First 4B/5B block coding increases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bit rate to 1.25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Mbps. The minimum bandwidth using NRZ-I is N/2 </a:t>
            </a:r>
            <a:r>
              <a:rPr sz="2800" b="1" i="1" dirty="0">
                <a:latin typeface="Times New Roman"/>
                <a:cs typeface="Times New Roman"/>
              </a:rPr>
              <a:t>or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625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kHz.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Manchester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scheme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needs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minimum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dirty="0">
                <a:latin typeface="Times New Roman"/>
                <a:cs typeface="Times New Roman"/>
              </a:rPr>
              <a:t> 1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MHz.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first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choice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needs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lower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bandwidth, </a:t>
            </a:r>
            <a:r>
              <a:rPr sz="2800" b="1" i="1" dirty="0">
                <a:latin typeface="Times New Roman"/>
                <a:cs typeface="Times New Roman"/>
              </a:rPr>
              <a:t>but </a:t>
            </a:r>
            <a:r>
              <a:rPr sz="2800" b="1" i="1" spc="-5" dirty="0">
                <a:latin typeface="Times New Roman"/>
                <a:cs typeface="Times New Roman"/>
              </a:rPr>
              <a:t>has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DC component problem; the second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choice needs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higher bandwidth, but does not have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DC </a:t>
            </a:r>
            <a:r>
              <a:rPr sz="2800" b="1" i="1" dirty="0">
                <a:latin typeface="Times New Roman"/>
                <a:cs typeface="Times New Roman"/>
              </a:rPr>
              <a:t> component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problem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4.34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084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4.17	</a:t>
            </a:r>
            <a:r>
              <a:rPr sz="2000" i="1" spc="-5" dirty="0">
                <a:latin typeface="Times New Roman"/>
                <a:cs typeface="Times New Roman"/>
              </a:rPr>
              <a:t>8B/10B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block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encoding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639" y="2634995"/>
            <a:ext cx="7669530" cy="243382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4.35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427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4.18	</a:t>
            </a:r>
            <a:r>
              <a:rPr sz="2000" i="1" spc="-5" dirty="0">
                <a:latin typeface="Times New Roman"/>
                <a:cs typeface="Times New Roman"/>
              </a:rPr>
              <a:t>AMI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used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with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scrambling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6047" y="2530601"/>
            <a:ext cx="7860792" cy="261137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4.36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956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4.19	</a:t>
            </a:r>
            <a:r>
              <a:rPr sz="2000" i="1" spc="-30" dirty="0">
                <a:latin typeface="Times New Roman"/>
                <a:cs typeface="Times New Roman"/>
              </a:rPr>
              <a:t>Two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cases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 B8ZS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scrambling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technique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239" y="2907029"/>
            <a:ext cx="8830056" cy="261594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4.37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06680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917700" marR="612140" indent="-1306195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B8ZS </a:t>
            </a:r>
            <a:r>
              <a:rPr sz="3200" b="1" spc="-10" dirty="0">
                <a:latin typeface="Arial"/>
                <a:cs typeface="Arial"/>
              </a:rPr>
              <a:t>substitutes </a:t>
            </a:r>
            <a:r>
              <a:rPr sz="3200" b="1" spc="-5" dirty="0">
                <a:latin typeface="Arial"/>
                <a:cs typeface="Arial"/>
              </a:rPr>
              <a:t>eight </a:t>
            </a:r>
            <a:r>
              <a:rPr sz="3200" b="1" spc="-10" dirty="0">
                <a:latin typeface="Arial"/>
                <a:cs typeface="Arial"/>
              </a:rPr>
              <a:t>consecutive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zeros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with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000VB0VB.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1970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4.38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701420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4.20	</a:t>
            </a:r>
            <a:r>
              <a:rPr sz="2000" i="1" spc="-10" dirty="0">
                <a:latin typeface="Times New Roman"/>
                <a:cs typeface="Times New Roman"/>
              </a:rPr>
              <a:t>Different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situations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HDB3</a:t>
            </a:r>
            <a:r>
              <a:rPr sz="2000" i="1" spc="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scrambling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technique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9239" y="2271522"/>
            <a:ext cx="6463284" cy="356387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4.39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342900" marR="334010" indent="-5715" algn="ctr">
              <a:lnSpc>
                <a:spcPct val="100000"/>
              </a:lnSpc>
              <a:spcBef>
                <a:spcPts val="275"/>
              </a:spcBef>
            </a:pPr>
            <a:r>
              <a:rPr sz="3200" b="1" spc="-10" dirty="0">
                <a:latin typeface="Arial"/>
                <a:cs typeface="Arial"/>
              </a:rPr>
              <a:t>HDB3 substitutes </a:t>
            </a:r>
            <a:r>
              <a:rPr sz="3200" b="1" spc="-5" dirty="0">
                <a:latin typeface="Arial"/>
                <a:cs typeface="Arial"/>
              </a:rPr>
              <a:t>four </a:t>
            </a:r>
            <a:r>
              <a:rPr sz="3200" b="1" spc="-10" dirty="0">
                <a:latin typeface="Arial"/>
                <a:cs typeface="Arial"/>
              </a:rPr>
              <a:t>consecutive </a:t>
            </a:r>
            <a:r>
              <a:rPr sz="3200" b="1" spc="-5" dirty="0">
                <a:latin typeface="Arial"/>
                <a:cs typeface="Arial"/>
              </a:rPr>
              <a:t> zeros</a:t>
            </a:r>
            <a:r>
              <a:rPr sz="3200" b="1" spc="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with</a:t>
            </a:r>
            <a:r>
              <a:rPr sz="3200" b="1" spc="7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000V</a:t>
            </a:r>
            <a:r>
              <a:rPr sz="3200" b="1" spc="8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or</a:t>
            </a:r>
            <a:r>
              <a:rPr sz="3200" b="1" spc="8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B00V</a:t>
            </a:r>
            <a:r>
              <a:rPr sz="3200" b="1" spc="8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depending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on the number of nonzero pulses </a:t>
            </a:r>
            <a:r>
              <a:rPr sz="3200" b="1" spc="-10" dirty="0">
                <a:latin typeface="Arial"/>
                <a:cs typeface="Arial"/>
              </a:rPr>
              <a:t>after </a:t>
            </a:r>
            <a:r>
              <a:rPr sz="3200" b="1" spc="-88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last</a:t>
            </a:r>
            <a:r>
              <a:rPr sz="3200" b="1" spc="-10" dirty="0">
                <a:latin typeface="Arial"/>
                <a:cs typeface="Arial"/>
              </a:rPr>
              <a:t> substitution.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5187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4.40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137285" algn="l"/>
              </a:tabLst>
            </a:pPr>
            <a:r>
              <a:rPr spc="-5" dirty="0"/>
              <a:t>4-2	</a:t>
            </a:r>
            <a:r>
              <a:rPr spc="-20" dirty="0"/>
              <a:t>ANALOG-TO-DIGITAL</a:t>
            </a:r>
            <a:r>
              <a:rPr spc="-175" dirty="0"/>
              <a:t> </a:t>
            </a:r>
            <a:r>
              <a:rPr spc="-5" dirty="0"/>
              <a:t>CONVERSION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05973" y="1894586"/>
            <a:ext cx="8223250" cy="4126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have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seen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Chapter</a:t>
            </a:r>
            <a:r>
              <a:rPr sz="2800" b="1" i="1" dirty="0">
                <a:latin typeface="Times New Roman"/>
                <a:cs typeface="Times New Roman"/>
              </a:rPr>
              <a:t> 3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that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digital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superior to </a:t>
            </a:r>
            <a:r>
              <a:rPr sz="2800" b="1" i="1" dirty="0">
                <a:latin typeface="Times New Roman"/>
                <a:cs typeface="Times New Roman"/>
              </a:rPr>
              <a:t>an </a:t>
            </a:r>
            <a:r>
              <a:rPr sz="2800" b="1" i="1" spc="-5" dirty="0">
                <a:latin typeface="Times New Roman"/>
                <a:cs typeface="Times New Roman"/>
              </a:rPr>
              <a:t>analog </a:t>
            </a:r>
            <a:r>
              <a:rPr sz="2800" b="1" i="1" dirty="0">
                <a:latin typeface="Times New Roman"/>
                <a:cs typeface="Times New Roman"/>
              </a:rPr>
              <a:t>signal. </a:t>
            </a:r>
            <a:r>
              <a:rPr sz="2800" b="1" i="1" spc="-5" dirty="0">
                <a:latin typeface="Times New Roman"/>
                <a:cs typeface="Times New Roman"/>
              </a:rPr>
              <a:t>The tendency today is to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change an analog signal to digital </a:t>
            </a:r>
            <a:r>
              <a:rPr sz="2800" b="1" i="1" spc="-120" dirty="0">
                <a:latin typeface="Times New Roman"/>
                <a:cs typeface="Times New Roman"/>
              </a:rPr>
              <a:t>data.. </a:t>
            </a:r>
            <a:r>
              <a:rPr sz="2800" b="1" i="1" spc="-5" dirty="0">
                <a:latin typeface="Times New Roman"/>
                <a:cs typeface="Times New Roman"/>
              </a:rPr>
              <a:t>In this section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describe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two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techniques,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pulse</a:t>
            </a:r>
            <a:r>
              <a:rPr sz="28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code</a:t>
            </a:r>
            <a:r>
              <a:rPr sz="2800" b="1" i="1" spc="6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modulation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delta</a:t>
            </a:r>
            <a:r>
              <a:rPr sz="2800" b="1" i="1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120" dirty="0">
                <a:solidFill>
                  <a:srgbClr val="FF0000"/>
                </a:solidFill>
                <a:latin typeface="Times New Roman"/>
                <a:cs typeface="Times New Roman"/>
              </a:rPr>
              <a:t>modulation</a:t>
            </a:r>
            <a:r>
              <a:rPr sz="2800" b="1" i="1" spc="-120" dirty="0">
                <a:latin typeface="Times New Roman"/>
                <a:cs typeface="Times New Roman"/>
              </a:rPr>
              <a:t>..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12700" marR="3528695" indent="27940">
              <a:lnSpc>
                <a:spcPct val="106000"/>
              </a:lnSpc>
              <a:spcBef>
                <a:spcPts val="2205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 </a:t>
            </a:r>
            <a:r>
              <a:rPr sz="2800" b="1" i="1" spc="-6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Pulse Code Modulation (PCM)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Delta</a:t>
            </a:r>
            <a:r>
              <a:rPr sz="24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Modulation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(DM)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4.41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739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4.21	</a:t>
            </a:r>
            <a:r>
              <a:rPr sz="2000" i="1" spc="-5" dirty="0">
                <a:latin typeface="Times New Roman"/>
                <a:cs typeface="Times New Roman"/>
              </a:rPr>
              <a:t>Components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PCM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encoder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765" y="2077973"/>
            <a:ext cx="8821673" cy="398602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4.42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6167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4.22	</a:t>
            </a:r>
            <a:r>
              <a:rPr sz="2000" i="1" spc="-5" dirty="0">
                <a:latin typeface="Times New Roman"/>
                <a:cs typeface="Times New Roman"/>
              </a:rPr>
              <a:t>Three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different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sampling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methods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PCM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8095" y="1687829"/>
            <a:ext cx="8848343" cy="483336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4.43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884680" marR="349885" indent="-1532890">
              <a:lnSpc>
                <a:spcPct val="100000"/>
              </a:lnSpc>
              <a:spcBef>
                <a:spcPts val="275"/>
              </a:spcBef>
            </a:pPr>
            <a:r>
              <a:rPr sz="3200" b="1" spc="-10" dirty="0">
                <a:latin typeface="Arial"/>
                <a:cs typeface="Arial"/>
              </a:rPr>
              <a:t>According </a:t>
            </a:r>
            <a:r>
              <a:rPr sz="3200" b="1" spc="-5" dirty="0">
                <a:latin typeface="Arial"/>
                <a:cs typeface="Arial"/>
              </a:rPr>
              <a:t>to the </a:t>
            </a:r>
            <a:r>
              <a:rPr sz="3200" b="1" spc="-10" dirty="0">
                <a:latin typeface="Arial"/>
                <a:cs typeface="Arial"/>
              </a:rPr>
              <a:t>Nyquist theorem, the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sampling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rate must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</a:t>
            </a:r>
            <a:endParaRPr sz="3200">
              <a:latin typeface="Arial"/>
              <a:cs typeface="Arial"/>
            </a:endParaRPr>
          </a:p>
          <a:p>
            <a:pPr marL="1784985" marR="414655" indent="-1365250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at least 2 times the </a:t>
            </a:r>
            <a:r>
              <a:rPr sz="3200" b="1" spc="-10" dirty="0">
                <a:latin typeface="Arial"/>
                <a:cs typeface="Arial"/>
              </a:rPr>
              <a:t>highest frequency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contained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signal.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5187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4.44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7572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4.23	</a:t>
            </a:r>
            <a:r>
              <a:rPr sz="2000" i="1" spc="-5" dirty="0">
                <a:latin typeface="Times New Roman"/>
                <a:cs typeface="Times New Roman"/>
              </a:rPr>
              <a:t>Nyquist sampling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rate for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low-pass and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bandpass signals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5399" y="2230373"/>
            <a:ext cx="7330440" cy="360502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4.45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22580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4.6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91665" y="1512824"/>
            <a:ext cx="8833485" cy="3439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431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For </a:t>
            </a:r>
            <a:r>
              <a:rPr sz="2800" b="1" i="1" dirty="0">
                <a:latin typeface="Times New Roman"/>
                <a:cs typeface="Times New Roman"/>
              </a:rPr>
              <a:t>an </a:t>
            </a:r>
            <a:r>
              <a:rPr sz="2800" b="1" i="1" spc="-5" dirty="0">
                <a:latin typeface="Times New Roman"/>
                <a:cs typeface="Times New Roman"/>
              </a:rPr>
              <a:t>intuitive example of the Nyquist theorem, let </a:t>
            </a:r>
            <a:r>
              <a:rPr sz="2800" b="1" i="1" dirty="0">
                <a:latin typeface="Times New Roman"/>
                <a:cs typeface="Times New Roman"/>
              </a:rPr>
              <a:t>us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sample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simple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sine</a:t>
            </a:r>
            <a:r>
              <a:rPr sz="2800" b="1" i="1" spc="26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wave</a:t>
            </a:r>
            <a:r>
              <a:rPr sz="2800" b="1" i="1" spc="25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at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three</a:t>
            </a:r>
            <a:r>
              <a:rPr sz="2800" b="1" i="1" spc="2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sampling</a:t>
            </a:r>
            <a:r>
              <a:rPr sz="2800" b="1" i="1" spc="2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rates:</a:t>
            </a:r>
            <a:r>
              <a:rPr sz="2800" b="1" i="1" spc="2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775" b="1" i="1" baseline="-21021" dirty="0">
                <a:latin typeface="Times New Roman"/>
                <a:cs typeface="Times New Roman"/>
              </a:rPr>
              <a:t>s</a:t>
            </a:r>
            <a:r>
              <a:rPr sz="2775" b="1" i="1" spc="75" baseline="-2102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2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4f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(2</a:t>
            </a:r>
            <a:r>
              <a:rPr sz="2800" b="1" i="1" spc="2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times</a:t>
            </a:r>
            <a:r>
              <a:rPr sz="2800" b="1" i="1" spc="8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8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Nyquist</a:t>
            </a:r>
            <a:r>
              <a:rPr sz="2800" b="1" i="1" spc="8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rate),</a:t>
            </a:r>
            <a:r>
              <a:rPr sz="2800" b="1" i="1" spc="8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775" b="1" i="1" baseline="-21021" dirty="0">
                <a:latin typeface="Times New Roman"/>
                <a:cs typeface="Times New Roman"/>
              </a:rPr>
              <a:t>s</a:t>
            </a:r>
            <a:r>
              <a:rPr sz="2775" b="1" i="1" spc="997" baseline="-2102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88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2f</a:t>
            </a:r>
            <a:r>
              <a:rPr sz="2800" b="1" i="1" spc="8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(Nyquist</a:t>
            </a:r>
            <a:r>
              <a:rPr sz="2800" b="1" i="1" spc="8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rate),</a:t>
            </a:r>
            <a:r>
              <a:rPr sz="2800" b="1" i="1" spc="8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775" b="1" i="1" baseline="-21021" dirty="0">
                <a:latin typeface="Times New Roman"/>
                <a:cs typeface="Times New Roman"/>
              </a:rPr>
              <a:t>s</a:t>
            </a:r>
            <a:r>
              <a:rPr sz="2775" b="1" i="1" spc="7" baseline="-2102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f (one-half the </a:t>
            </a:r>
            <a:r>
              <a:rPr sz="2800" b="1" i="1" spc="-5" dirty="0">
                <a:latin typeface="Times New Roman"/>
                <a:cs typeface="Times New Roman"/>
              </a:rPr>
              <a:t>Nyquist rate). Figure 4.24 shows the </a:t>
            </a:r>
            <a:r>
              <a:rPr sz="2800" b="1" i="1" dirty="0">
                <a:latin typeface="Times New Roman"/>
                <a:cs typeface="Times New Roman"/>
              </a:rPr>
              <a:t> sampling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subsequent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recovery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signal.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50800" marR="42545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It</a:t>
            </a:r>
            <a:r>
              <a:rPr sz="2800" b="1" i="1" spc="1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</a:t>
            </a:r>
            <a:r>
              <a:rPr sz="2800" b="1" i="1" spc="17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</a:t>
            </a:r>
            <a:r>
              <a:rPr sz="2800" b="1" i="1" spc="1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seen</a:t>
            </a:r>
            <a:r>
              <a:rPr sz="2800" b="1" i="1" spc="1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that</a:t>
            </a:r>
            <a:r>
              <a:rPr sz="2800" b="1" i="1" spc="1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sampling</a:t>
            </a:r>
            <a:r>
              <a:rPr sz="2800" b="1" i="1" spc="1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at</a:t>
            </a:r>
            <a:r>
              <a:rPr sz="2800" b="1" i="1" spc="1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1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Nyquist</a:t>
            </a:r>
            <a:r>
              <a:rPr sz="2800" b="1" i="1" spc="1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spc="1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</a:t>
            </a:r>
            <a:r>
              <a:rPr sz="2800" b="1" i="1" spc="1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create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48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good</a:t>
            </a:r>
            <a:r>
              <a:rPr sz="2800" b="1" i="1" spc="4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approximation</a:t>
            </a:r>
            <a:r>
              <a:rPr sz="2800" b="1" i="1" spc="48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48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48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original</a:t>
            </a:r>
            <a:r>
              <a:rPr sz="2800" b="1" i="1" spc="48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sine</a:t>
            </a:r>
            <a:r>
              <a:rPr sz="2800" b="1" i="1" spc="484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wave</a:t>
            </a:r>
            <a:r>
              <a:rPr sz="2800" b="1" i="1" spc="48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(part</a:t>
            </a:r>
            <a:r>
              <a:rPr sz="2800" b="1" i="1" spc="48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4.46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29773" y="4926584"/>
            <a:ext cx="35667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64740" algn="l"/>
                <a:tab pos="296164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Oversamplin</a:t>
            </a:r>
            <a:r>
              <a:rPr sz="2800" b="1" i="1" dirty="0">
                <a:latin typeface="Times New Roman"/>
                <a:cs typeface="Times New Roman"/>
              </a:rPr>
              <a:t>g	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n	</a:t>
            </a:r>
            <a:r>
              <a:rPr sz="2800" b="1" i="1" spc="-5" dirty="0">
                <a:latin typeface="Times New Roman"/>
                <a:cs typeface="Times New Roman"/>
              </a:rPr>
              <a:t>part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9773" y="5353303"/>
            <a:ext cx="347535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22220" algn="l"/>
                <a:tab pos="326517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appro</a:t>
            </a:r>
            <a:r>
              <a:rPr sz="2800" b="1" i="1" spc="-10" dirty="0">
                <a:latin typeface="Times New Roman"/>
                <a:cs typeface="Times New Roman"/>
              </a:rPr>
              <a:t>x</a:t>
            </a:r>
            <a:r>
              <a:rPr sz="2800" b="1" i="1" spc="-5" dirty="0">
                <a:latin typeface="Times New Roman"/>
                <a:cs typeface="Times New Roman"/>
              </a:rPr>
              <a:t>imation</a:t>
            </a:r>
            <a:r>
              <a:rPr sz="2800" b="1" i="1" dirty="0">
                <a:latin typeface="Times New Roman"/>
                <a:cs typeface="Times New Roman"/>
              </a:rPr>
              <a:t>,	b</a:t>
            </a:r>
            <a:r>
              <a:rPr sz="2800" b="1" i="1" spc="-5" dirty="0">
                <a:latin typeface="Times New Roman"/>
                <a:cs typeface="Times New Roman"/>
              </a:rPr>
              <a:t>u</a:t>
            </a:r>
            <a:r>
              <a:rPr sz="2800" b="1" i="1" dirty="0">
                <a:latin typeface="Times New Roman"/>
                <a:cs typeface="Times New Roman"/>
              </a:rPr>
              <a:t>t	</a:t>
            </a:r>
            <a:r>
              <a:rPr sz="2800" b="1" i="1" spc="-5" dirty="0">
                <a:latin typeface="Times New Roman"/>
                <a:cs typeface="Times New Roman"/>
              </a:rPr>
              <a:t>it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48333" y="4926584"/>
            <a:ext cx="503999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2555">
              <a:lnSpc>
                <a:spcPct val="100000"/>
              </a:lnSpc>
              <a:spcBef>
                <a:spcPts val="100"/>
              </a:spcBef>
              <a:tabLst>
                <a:tab pos="517525" algn="l"/>
                <a:tab pos="612775" algn="l"/>
                <a:tab pos="1446530" algn="l"/>
                <a:tab pos="2308860" algn="l"/>
                <a:tab pos="2338070" algn="l"/>
                <a:tab pos="3132455" algn="l"/>
                <a:tab pos="3523615" algn="l"/>
                <a:tab pos="4276725" algn="l"/>
              </a:tabLst>
            </a:pPr>
            <a:r>
              <a:rPr sz="2800" b="1" i="1" dirty="0">
                <a:latin typeface="Times New Roman"/>
                <a:cs typeface="Times New Roman"/>
              </a:rPr>
              <a:t>b		</a:t>
            </a:r>
            <a:r>
              <a:rPr sz="2800" b="1" i="1" spc="-5" dirty="0">
                <a:latin typeface="Times New Roman"/>
                <a:cs typeface="Times New Roman"/>
              </a:rPr>
              <a:t>ca</a:t>
            </a:r>
            <a:r>
              <a:rPr sz="2800" b="1" i="1" dirty="0">
                <a:latin typeface="Times New Roman"/>
                <a:cs typeface="Times New Roman"/>
              </a:rPr>
              <a:t>n	</a:t>
            </a:r>
            <a:r>
              <a:rPr sz="2800" b="1" i="1" spc="-5" dirty="0">
                <a:latin typeface="Times New Roman"/>
                <a:cs typeface="Times New Roman"/>
              </a:rPr>
              <a:t>als</a:t>
            </a:r>
            <a:r>
              <a:rPr sz="2800" b="1" i="1" dirty="0">
                <a:latin typeface="Times New Roman"/>
                <a:cs typeface="Times New Roman"/>
              </a:rPr>
              <a:t>o		</a:t>
            </a:r>
            <a:r>
              <a:rPr sz="2800" b="1" i="1" spc="-10" dirty="0">
                <a:latin typeface="Times New Roman"/>
                <a:cs typeface="Times New Roman"/>
              </a:rPr>
              <a:t>c</a:t>
            </a:r>
            <a:r>
              <a:rPr sz="2800" b="1" i="1" spc="-5" dirty="0">
                <a:latin typeface="Times New Roman"/>
                <a:cs typeface="Times New Roman"/>
              </a:rPr>
              <a:t>reat</a:t>
            </a:r>
            <a:r>
              <a:rPr sz="2800" b="1" i="1" dirty="0">
                <a:latin typeface="Times New Roman"/>
                <a:cs typeface="Times New Roman"/>
              </a:rPr>
              <a:t>e	t</a:t>
            </a:r>
            <a:r>
              <a:rPr sz="2800" b="1" i="1" spc="-5" dirty="0">
                <a:latin typeface="Times New Roman"/>
                <a:cs typeface="Times New Roman"/>
              </a:rPr>
              <a:t>h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same  i</a:t>
            </a:r>
            <a:r>
              <a:rPr sz="2800" b="1" i="1" dirty="0">
                <a:latin typeface="Times New Roman"/>
                <a:cs typeface="Times New Roman"/>
              </a:rPr>
              <a:t>s	r</a:t>
            </a:r>
            <a:r>
              <a:rPr sz="2800" b="1" i="1" spc="-10" dirty="0">
                <a:latin typeface="Times New Roman"/>
                <a:cs typeface="Times New Roman"/>
              </a:rPr>
              <a:t>e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i="1" spc="-5" dirty="0">
                <a:latin typeface="Times New Roman"/>
                <a:cs typeface="Times New Roman"/>
              </a:rPr>
              <a:t>u</a:t>
            </a:r>
            <a:r>
              <a:rPr sz="2800" b="1" i="1" dirty="0">
                <a:latin typeface="Times New Roman"/>
                <a:cs typeface="Times New Roman"/>
              </a:rPr>
              <a:t>ndant	and	</a:t>
            </a:r>
            <a:r>
              <a:rPr sz="2800" b="1" i="1" spc="-5" dirty="0">
                <a:latin typeface="Times New Roman"/>
                <a:cs typeface="Times New Roman"/>
              </a:rPr>
              <a:t>unnecessar</a:t>
            </a:r>
            <a:r>
              <a:rPr sz="2800" b="1" i="1" spc="-105" dirty="0">
                <a:latin typeface="Times New Roman"/>
                <a:cs typeface="Times New Roman"/>
              </a:rPr>
              <a:t>y</a:t>
            </a:r>
            <a:r>
              <a:rPr sz="2800" b="1" i="1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9773" y="5780023"/>
            <a:ext cx="875601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Sampling</a:t>
            </a:r>
            <a:r>
              <a:rPr sz="2800" b="1" i="1" spc="1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below</a:t>
            </a:r>
            <a:r>
              <a:rPr sz="2800" b="1" i="1" spc="1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2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Nyquist</a:t>
            </a:r>
            <a:r>
              <a:rPr sz="2800" b="1" i="1" spc="2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spc="1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(part</a:t>
            </a:r>
            <a:r>
              <a:rPr sz="2800" b="1" i="1" spc="2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c)</a:t>
            </a:r>
            <a:r>
              <a:rPr sz="2800" b="1" i="1" spc="2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does</a:t>
            </a:r>
            <a:r>
              <a:rPr sz="2800" b="1" i="1" spc="2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not</a:t>
            </a:r>
            <a:r>
              <a:rPr sz="2800" b="1" i="1" spc="2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produce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signal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that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looks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like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original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sine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wave.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79863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4.24	</a:t>
            </a:r>
            <a:r>
              <a:rPr sz="2000" i="1" spc="-5" dirty="0">
                <a:latin typeface="Times New Roman"/>
                <a:cs typeface="Times New Roman"/>
              </a:rPr>
              <a:t>Recovery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 a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sampled sine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wave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 </a:t>
            </a:r>
            <a:r>
              <a:rPr sz="2000" i="1" spc="-10" dirty="0">
                <a:latin typeface="Times New Roman"/>
                <a:cs typeface="Times New Roman"/>
              </a:rPr>
              <a:t>different </a:t>
            </a:r>
            <a:r>
              <a:rPr sz="2000" i="1" spc="-5" dirty="0">
                <a:latin typeface="Times New Roman"/>
                <a:cs typeface="Times New Roman"/>
              </a:rPr>
              <a:t>sampling rates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0343" y="1415795"/>
            <a:ext cx="6406896" cy="488670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4.47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22580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4.7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6773" y="1512824"/>
            <a:ext cx="8580755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Consider the revolution of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hand </a:t>
            </a:r>
            <a:r>
              <a:rPr sz="2800" b="1" i="1" dirty="0">
                <a:latin typeface="Times New Roman"/>
                <a:cs typeface="Times New Roman"/>
              </a:rPr>
              <a:t>of a </a:t>
            </a:r>
            <a:r>
              <a:rPr sz="2800" b="1" i="1" spc="-5" dirty="0">
                <a:latin typeface="Times New Roman"/>
                <a:cs typeface="Times New Roman"/>
              </a:rPr>
              <a:t>clock. The second </a:t>
            </a:r>
            <a:r>
              <a:rPr sz="2800" b="1" i="1" dirty="0">
                <a:latin typeface="Times New Roman"/>
                <a:cs typeface="Times New Roman"/>
              </a:rPr>
              <a:t> hand of a </a:t>
            </a:r>
            <a:r>
              <a:rPr sz="2800" b="1" i="1" spc="-5" dirty="0">
                <a:latin typeface="Times New Roman"/>
                <a:cs typeface="Times New Roman"/>
              </a:rPr>
              <a:t>clock has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period </a:t>
            </a:r>
            <a:r>
              <a:rPr sz="2800" b="1" i="1" dirty="0">
                <a:latin typeface="Times New Roman"/>
                <a:cs typeface="Times New Roman"/>
              </a:rPr>
              <a:t>of 60 s. </a:t>
            </a:r>
            <a:r>
              <a:rPr sz="2800" b="1" i="1" spc="-5" dirty="0">
                <a:latin typeface="Times New Roman"/>
                <a:cs typeface="Times New Roman"/>
              </a:rPr>
              <a:t>According to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Nyquist theorem, we need to sample the hand every 30 </a:t>
            </a:r>
            <a:r>
              <a:rPr sz="2800" b="1" i="1" dirty="0">
                <a:latin typeface="Times New Roman"/>
                <a:cs typeface="Times New Roman"/>
              </a:rPr>
              <a:t>s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85" dirty="0">
                <a:latin typeface="Times New Roman"/>
                <a:cs typeface="Times New Roman"/>
              </a:rPr>
              <a:t>(T</a:t>
            </a:r>
            <a:r>
              <a:rPr sz="2775" b="1" i="1" spc="-127" baseline="-21021" dirty="0">
                <a:latin typeface="Times New Roman"/>
                <a:cs typeface="Times New Roman"/>
              </a:rPr>
              <a:t>s</a:t>
            </a:r>
            <a:r>
              <a:rPr sz="2775" b="1" i="1" spc="-120" baseline="-2102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T or f</a:t>
            </a:r>
            <a:r>
              <a:rPr sz="2775" b="1" i="1" baseline="-21021" dirty="0">
                <a:latin typeface="Times New Roman"/>
                <a:cs typeface="Times New Roman"/>
              </a:rPr>
              <a:t>s </a:t>
            </a:r>
            <a:r>
              <a:rPr sz="2800" b="1" i="1" dirty="0">
                <a:latin typeface="Times New Roman"/>
                <a:cs typeface="Times New Roman"/>
              </a:rPr>
              <a:t>= 2f ). In </a:t>
            </a:r>
            <a:r>
              <a:rPr sz="2800" b="1" i="1" spc="-5" dirty="0">
                <a:latin typeface="Times New Roman"/>
                <a:cs typeface="Times New Roman"/>
              </a:rPr>
              <a:t>Figure </a:t>
            </a:r>
            <a:r>
              <a:rPr sz="2800" b="1" i="1" dirty="0">
                <a:latin typeface="Times New Roman"/>
                <a:cs typeface="Times New Roman"/>
              </a:rPr>
              <a:t>4.25a, </a:t>
            </a:r>
            <a:r>
              <a:rPr sz="2800" b="1" i="1" spc="-5" dirty="0">
                <a:latin typeface="Times New Roman"/>
                <a:cs typeface="Times New Roman"/>
              </a:rPr>
              <a:t>the sample points, in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35" dirty="0">
                <a:latin typeface="Times New Roman"/>
                <a:cs typeface="Times New Roman"/>
              </a:rPr>
              <a:t>order,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 12, 6, 12, </a:t>
            </a:r>
            <a:r>
              <a:rPr sz="2800" b="1" i="1" dirty="0">
                <a:latin typeface="Times New Roman"/>
                <a:cs typeface="Times New Roman"/>
              </a:rPr>
              <a:t>6, </a:t>
            </a:r>
            <a:r>
              <a:rPr sz="2800" b="1" i="1" spc="-5" dirty="0">
                <a:latin typeface="Times New Roman"/>
                <a:cs typeface="Times New Roman"/>
              </a:rPr>
              <a:t>12, and </a:t>
            </a:r>
            <a:r>
              <a:rPr sz="2800" b="1" i="1" dirty="0">
                <a:latin typeface="Times New Roman"/>
                <a:cs typeface="Times New Roman"/>
              </a:rPr>
              <a:t>6. </a:t>
            </a:r>
            <a:r>
              <a:rPr sz="2800" b="1" i="1" spc="-5" dirty="0">
                <a:latin typeface="Times New Roman"/>
                <a:cs typeface="Times New Roman"/>
              </a:rPr>
              <a:t>The receiver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samples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cannot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tell</a:t>
            </a:r>
            <a:r>
              <a:rPr sz="2800" b="1" i="1" dirty="0">
                <a:latin typeface="Times New Roman"/>
                <a:cs typeface="Times New Roman"/>
              </a:rPr>
              <a:t> if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clock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moving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forward</a:t>
            </a:r>
            <a:r>
              <a:rPr sz="2800" b="1" i="1" dirty="0">
                <a:latin typeface="Times New Roman"/>
                <a:cs typeface="Times New Roman"/>
              </a:rPr>
              <a:t> or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backward.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part </a:t>
            </a:r>
            <a:r>
              <a:rPr sz="2800" b="1" i="1" dirty="0">
                <a:latin typeface="Times New Roman"/>
                <a:cs typeface="Times New Roman"/>
              </a:rPr>
              <a:t>b, </a:t>
            </a:r>
            <a:r>
              <a:rPr sz="2800" b="1" i="1" spc="-5" dirty="0">
                <a:latin typeface="Times New Roman"/>
                <a:cs typeface="Times New Roman"/>
              </a:rPr>
              <a:t>we sample at double the Nyquist rate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(every</a:t>
            </a:r>
            <a:r>
              <a:rPr sz="2800" b="1" i="1" spc="4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15</a:t>
            </a:r>
            <a:r>
              <a:rPr sz="2800" b="1" i="1" spc="4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s).</a:t>
            </a:r>
            <a:r>
              <a:rPr sz="2800" b="1" i="1" spc="4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4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sample</a:t>
            </a:r>
            <a:r>
              <a:rPr sz="2800" b="1" i="1" spc="4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points</a:t>
            </a:r>
            <a:r>
              <a:rPr sz="2800" b="1" i="1" spc="4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</a:t>
            </a:r>
            <a:r>
              <a:rPr sz="2800" b="1" i="1" spc="4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12,</a:t>
            </a:r>
            <a:r>
              <a:rPr sz="2800" b="1" i="1" spc="4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3,</a:t>
            </a:r>
            <a:r>
              <a:rPr sz="2800" b="1" i="1" spc="4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6,</a:t>
            </a:r>
            <a:r>
              <a:rPr sz="2800" b="1" i="1" spc="4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9,</a:t>
            </a:r>
            <a:r>
              <a:rPr sz="2800" b="1" i="1" spc="4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spc="4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12.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clock is moving forward. In part c, we sample below </a:t>
            </a:r>
            <a:r>
              <a:rPr sz="2800" b="1" i="1" dirty="0">
                <a:latin typeface="Times New Roman"/>
                <a:cs typeface="Times New Roman"/>
              </a:rPr>
              <a:t> the </a:t>
            </a:r>
            <a:r>
              <a:rPr sz="2800" b="1" i="1" spc="-5" dirty="0">
                <a:latin typeface="Times New Roman"/>
                <a:cs typeface="Times New Roman"/>
              </a:rPr>
              <a:t>Nyquist rate </a:t>
            </a:r>
            <a:r>
              <a:rPr sz="2800" b="1" i="1" spc="-90" dirty="0">
                <a:latin typeface="Times New Roman"/>
                <a:cs typeface="Times New Roman"/>
              </a:rPr>
              <a:t>(T</a:t>
            </a:r>
            <a:r>
              <a:rPr sz="2775" b="1" i="1" spc="-135" baseline="-21021" dirty="0">
                <a:latin typeface="Times New Roman"/>
                <a:cs typeface="Times New Roman"/>
              </a:rPr>
              <a:t>s</a:t>
            </a:r>
            <a:r>
              <a:rPr sz="2775" b="1" i="1" spc="-127" baseline="-21021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T </a:t>
            </a:r>
            <a:r>
              <a:rPr sz="2800" b="1" i="1" spc="-5" dirty="0">
                <a:latin typeface="Times New Roman"/>
                <a:cs typeface="Times New Roman"/>
              </a:rPr>
              <a:t>or 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775" b="1" i="1" baseline="-21021" dirty="0">
                <a:latin typeface="Times New Roman"/>
                <a:cs typeface="Times New Roman"/>
              </a:rPr>
              <a:t>s </a:t>
            </a:r>
            <a:r>
              <a:rPr sz="2800" b="1" i="1" dirty="0">
                <a:latin typeface="Times New Roman"/>
                <a:cs typeface="Times New Roman"/>
              </a:rPr>
              <a:t>= f ). </a:t>
            </a:r>
            <a:r>
              <a:rPr sz="2800" b="1" i="1" spc="-5" dirty="0">
                <a:latin typeface="Times New Roman"/>
                <a:cs typeface="Times New Roman"/>
              </a:rPr>
              <a:t>The sample points are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12, 9, </a:t>
            </a:r>
            <a:r>
              <a:rPr sz="2800" b="1" i="1" dirty="0">
                <a:latin typeface="Times New Roman"/>
                <a:cs typeface="Times New Roman"/>
              </a:rPr>
              <a:t>6, </a:t>
            </a:r>
            <a:r>
              <a:rPr sz="2800" b="1" i="1" spc="-5" dirty="0">
                <a:latin typeface="Times New Roman"/>
                <a:cs typeface="Times New Roman"/>
              </a:rPr>
              <a:t>3, </a:t>
            </a:r>
            <a:r>
              <a:rPr sz="2800" b="1" i="1" dirty="0">
                <a:latin typeface="Times New Roman"/>
                <a:cs typeface="Times New Roman"/>
              </a:rPr>
              <a:t>and </a:t>
            </a:r>
            <a:r>
              <a:rPr sz="2800" b="1" i="1" spc="-5" dirty="0">
                <a:latin typeface="Times New Roman"/>
                <a:cs typeface="Times New Roman"/>
              </a:rPr>
              <a:t>12. Although the clock is moving forward, 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receiver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thinks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clock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moving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backward.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4.48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794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4.25	</a:t>
            </a:r>
            <a:r>
              <a:rPr sz="2000" i="1" spc="-5" dirty="0">
                <a:latin typeface="Times New Roman"/>
                <a:cs typeface="Times New Roman"/>
              </a:rPr>
              <a:t>Sampling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 a clock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with only one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hand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27239" y="1966722"/>
            <a:ext cx="8763000" cy="4669155"/>
            <a:chOff x="927239" y="1966722"/>
            <a:chExt cx="8763000" cy="46691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4341" y="1966722"/>
              <a:ext cx="6727697" cy="45544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7239" y="6559295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4.49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22580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4.8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56" y="1512824"/>
            <a:ext cx="854837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example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related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Example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4.7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seemingly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backward rotation of the wheels </a:t>
            </a:r>
            <a:r>
              <a:rPr sz="2800" b="1" i="1" dirty="0">
                <a:latin typeface="Times New Roman"/>
                <a:cs typeface="Times New Roman"/>
              </a:rPr>
              <a:t>of a </a:t>
            </a:r>
            <a:r>
              <a:rPr sz="2800" b="1" i="1" spc="-5" dirty="0">
                <a:latin typeface="Times New Roman"/>
                <a:cs typeface="Times New Roman"/>
              </a:rPr>
              <a:t>forward-moving car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movie. This can be explained by under-sampling.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movie is filmed at </a:t>
            </a:r>
            <a:r>
              <a:rPr sz="2800" b="1" i="1" dirty="0">
                <a:latin typeface="Times New Roman"/>
                <a:cs typeface="Times New Roman"/>
              </a:rPr>
              <a:t>24 </a:t>
            </a:r>
            <a:r>
              <a:rPr sz="2800" b="1" i="1" spc="-5" dirty="0">
                <a:latin typeface="Times New Roman"/>
                <a:cs typeface="Times New Roman"/>
              </a:rPr>
              <a:t>frames per second. </a:t>
            </a:r>
            <a:r>
              <a:rPr sz="2800" b="1" i="1" dirty="0">
                <a:latin typeface="Times New Roman"/>
                <a:cs typeface="Times New Roman"/>
              </a:rPr>
              <a:t>If a </a:t>
            </a:r>
            <a:r>
              <a:rPr sz="2800" b="1" i="1" spc="-10" dirty="0">
                <a:latin typeface="Times New Roman"/>
                <a:cs typeface="Times New Roman"/>
              </a:rPr>
              <a:t>wheel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rotating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more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than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12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times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second,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under- </a:t>
            </a:r>
            <a:r>
              <a:rPr sz="2800" b="1" i="1" dirty="0">
                <a:latin typeface="Times New Roman"/>
                <a:cs typeface="Times New Roman"/>
              </a:rPr>
              <a:t> sampling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creates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impression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5" dirty="0">
                <a:latin typeface="Times New Roman"/>
                <a:cs typeface="Times New Roman"/>
              </a:rPr>
              <a:t> backward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rotation.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A1BA65-B451-CF21-0FDC-6D391FA0BDD6}"/>
              </a:ext>
            </a:extLst>
          </p:cNvPr>
          <p:cNvSpPr txBox="1"/>
          <p:nvPr/>
        </p:nvSpPr>
        <p:spPr>
          <a:xfrm>
            <a:off x="927100" y="4382898"/>
            <a:ext cx="898894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lang="en-US" sz="2800" b="1" i="1" spc="-35" dirty="0">
                <a:latin typeface="Times New Roman"/>
                <a:cs typeface="Times New Roman"/>
              </a:rPr>
              <a:t>Telephone</a:t>
            </a:r>
            <a:r>
              <a:rPr lang="en-US" sz="2800" b="1" i="1" spc="-30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companies</a:t>
            </a:r>
            <a:r>
              <a:rPr lang="en-US" sz="2800" b="1" i="1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digitize</a:t>
            </a:r>
            <a:r>
              <a:rPr lang="en-US" sz="2800" b="1" i="1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voice</a:t>
            </a:r>
            <a:r>
              <a:rPr lang="en-US" sz="2800" b="1" i="1" dirty="0">
                <a:latin typeface="Times New Roman"/>
                <a:cs typeface="Times New Roman"/>
              </a:rPr>
              <a:t> by</a:t>
            </a:r>
            <a:r>
              <a:rPr lang="en-US" sz="2800" b="1" i="1" spc="5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assuming</a:t>
            </a:r>
            <a:r>
              <a:rPr lang="en-US" sz="2800" b="1" i="1" dirty="0">
                <a:latin typeface="Times New Roman"/>
                <a:cs typeface="Times New Roman"/>
              </a:rPr>
              <a:t> a </a:t>
            </a:r>
            <a:r>
              <a:rPr lang="en-US" sz="2800" b="1" i="1" spc="5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maximum</a:t>
            </a:r>
            <a:r>
              <a:rPr lang="en-US" sz="2800" b="1" i="1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frequency</a:t>
            </a:r>
            <a:r>
              <a:rPr lang="en-US" sz="2800" b="1" i="1" dirty="0">
                <a:latin typeface="Times New Roman"/>
                <a:cs typeface="Times New Roman"/>
              </a:rPr>
              <a:t> of</a:t>
            </a:r>
            <a:r>
              <a:rPr lang="en-US" sz="2800" b="1" i="1" spc="5" dirty="0">
                <a:latin typeface="Times New Roman"/>
                <a:cs typeface="Times New Roman"/>
              </a:rPr>
              <a:t> </a:t>
            </a:r>
            <a:r>
              <a:rPr lang="en-US" sz="2800" b="1" i="1" dirty="0">
                <a:latin typeface="Times New Roman"/>
                <a:cs typeface="Times New Roman"/>
              </a:rPr>
              <a:t>4000</a:t>
            </a:r>
            <a:r>
              <a:rPr lang="en-US" sz="2800" b="1" i="1" spc="5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Hz.</a:t>
            </a:r>
            <a:r>
              <a:rPr lang="en-US" sz="2800" b="1" i="1" dirty="0">
                <a:latin typeface="Times New Roman"/>
                <a:cs typeface="Times New Roman"/>
              </a:rPr>
              <a:t> The</a:t>
            </a:r>
            <a:r>
              <a:rPr lang="en-US" sz="2800" b="1" i="1" spc="5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sampling</a:t>
            </a:r>
            <a:r>
              <a:rPr lang="en-US" sz="2800" b="1" i="1" dirty="0">
                <a:latin typeface="Times New Roman"/>
                <a:cs typeface="Times New Roman"/>
              </a:rPr>
              <a:t> </a:t>
            </a:r>
            <a:r>
              <a:rPr lang="en-US" sz="2800" b="1" i="1" spc="-5" dirty="0">
                <a:latin typeface="Times New Roman"/>
                <a:cs typeface="Times New Roman"/>
              </a:rPr>
              <a:t>rate </a:t>
            </a:r>
            <a:r>
              <a:rPr lang="en-US" sz="2800" b="1" i="1" dirty="0">
                <a:latin typeface="Times New Roman"/>
                <a:cs typeface="Times New Roman"/>
              </a:rPr>
              <a:t> therefore</a:t>
            </a:r>
            <a:r>
              <a:rPr lang="en-US" sz="2800" b="1" i="1" spc="-35" dirty="0">
                <a:latin typeface="Times New Roman"/>
                <a:cs typeface="Times New Roman"/>
              </a:rPr>
              <a:t> </a:t>
            </a:r>
            <a:r>
              <a:rPr lang="en-US" sz="2800" b="1" i="1" dirty="0">
                <a:latin typeface="Times New Roman"/>
                <a:cs typeface="Times New Roman"/>
              </a:rPr>
              <a:t>is</a:t>
            </a:r>
            <a:r>
              <a:rPr lang="en-US" sz="2800" b="1" i="1" spc="-10" dirty="0">
                <a:latin typeface="Times New Roman"/>
                <a:cs typeface="Times New Roman"/>
              </a:rPr>
              <a:t> </a:t>
            </a:r>
            <a:r>
              <a:rPr lang="en-US" sz="2800" b="1" i="1" dirty="0">
                <a:latin typeface="Times New Roman"/>
                <a:cs typeface="Times New Roman"/>
              </a:rPr>
              <a:t>8000</a:t>
            </a:r>
            <a:r>
              <a:rPr lang="en-US" sz="2800" b="1" i="1" spc="-20" dirty="0">
                <a:latin typeface="Times New Roman"/>
                <a:cs typeface="Times New Roman"/>
              </a:rPr>
              <a:t> </a:t>
            </a:r>
            <a:r>
              <a:rPr lang="en-US" sz="2800" b="1" i="1" dirty="0">
                <a:latin typeface="Times New Roman"/>
                <a:cs typeface="Times New Roman"/>
              </a:rPr>
              <a:t>samples</a:t>
            </a:r>
            <a:r>
              <a:rPr lang="en-US" sz="2800" b="1" i="1" spc="-30" dirty="0">
                <a:latin typeface="Times New Roman"/>
                <a:cs typeface="Times New Roman"/>
              </a:rPr>
              <a:t> </a:t>
            </a:r>
            <a:r>
              <a:rPr lang="en-US" sz="2800" b="1" i="1" dirty="0">
                <a:latin typeface="Times New Roman"/>
                <a:cs typeface="Times New Roman"/>
              </a:rPr>
              <a:t>per</a:t>
            </a:r>
            <a:r>
              <a:rPr lang="en-US" sz="2800" b="1" i="1" spc="-15" dirty="0">
                <a:latin typeface="Times New Roman"/>
                <a:cs typeface="Times New Roman"/>
              </a:rPr>
              <a:t> </a:t>
            </a:r>
            <a:r>
              <a:rPr lang="en-US" sz="2800" b="1" i="1" dirty="0">
                <a:latin typeface="Times New Roman"/>
                <a:cs typeface="Times New Roman"/>
              </a:rPr>
              <a:t>second.</a:t>
            </a:r>
            <a:endParaRPr lang="en-US"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4.10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2805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1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complex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low-pass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</a:t>
            </a:r>
            <a:r>
              <a:rPr sz="2800" b="1" i="1" spc="3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has</a:t>
            </a:r>
            <a:r>
              <a:rPr sz="2800" b="1" i="1" spc="3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</a:t>
            </a:r>
            <a:r>
              <a:rPr sz="2800" b="1" i="1" spc="3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200</a:t>
            </a:r>
            <a:r>
              <a:rPr sz="2800" b="1" i="1" spc="3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kHz.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What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minimum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sampling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signal?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3777246"/>
            <a:ext cx="9144000" cy="2573020"/>
          </a:xfrm>
          <a:custGeom>
            <a:avLst/>
            <a:gdLst/>
            <a:ahLst/>
            <a:cxnLst/>
            <a:rect l="l" t="t" r="r" b="b"/>
            <a:pathLst>
              <a:path w="9144000" h="25730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4500"/>
                </a:lnTo>
                <a:lnTo>
                  <a:pt x="0" y="1715262"/>
                </a:lnTo>
                <a:lnTo>
                  <a:pt x="0" y="2572512"/>
                </a:lnTo>
                <a:lnTo>
                  <a:pt x="9144000" y="2572512"/>
                </a:lnTo>
                <a:lnTo>
                  <a:pt x="9144000" y="1715262"/>
                </a:lnTo>
                <a:lnTo>
                  <a:pt x="9144000" y="1714500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82173" y="3476498"/>
            <a:ext cx="852805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The bandwidth of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low-pass signal is between </a:t>
            </a:r>
            <a:r>
              <a:rPr sz="2800" b="1" i="1" dirty="0">
                <a:latin typeface="Times New Roman"/>
                <a:cs typeface="Times New Roman"/>
              </a:rPr>
              <a:t>0 </a:t>
            </a:r>
            <a:r>
              <a:rPr sz="2800" b="1" i="1" spc="-5" dirty="0">
                <a:latin typeface="Times New Roman"/>
                <a:cs typeface="Times New Roman"/>
              </a:rPr>
              <a:t>and f,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where</a:t>
            </a:r>
            <a:r>
              <a:rPr sz="2800" b="1" i="1" dirty="0">
                <a:latin typeface="Times New Roman"/>
                <a:cs typeface="Times New Roman"/>
              </a:rPr>
              <a:t> 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maximum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Therefore,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sample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</a:t>
            </a:r>
            <a:r>
              <a:rPr sz="2800" b="1" i="1" dirty="0">
                <a:latin typeface="Times New Roman"/>
                <a:cs typeface="Times New Roman"/>
              </a:rPr>
              <a:t> at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times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highest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(200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kHz)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sampling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 therefore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400,000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samples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per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second.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4.52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069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4.11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2678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complex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bandpass</a:t>
            </a:r>
            <a:r>
              <a:rPr sz="2800" b="1" i="1" spc="2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has</a:t>
            </a:r>
            <a:r>
              <a:rPr sz="2800" b="1" i="1" spc="2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22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</a:t>
            </a:r>
            <a:r>
              <a:rPr sz="2800" b="1" i="1" spc="2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2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200</a:t>
            </a:r>
            <a:r>
              <a:rPr sz="2800" b="1" i="1" spc="2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kHz.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What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minimum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sampling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signal?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377724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82173" y="3476498"/>
            <a:ext cx="8529320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cannot find the minimum sampling rate in this </a:t>
            </a:r>
            <a:r>
              <a:rPr sz="2800" b="1" i="1" spc="-10" dirty="0">
                <a:latin typeface="Times New Roman"/>
                <a:cs typeface="Times New Roman"/>
              </a:rPr>
              <a:t>case </a:t>
            </a:r>
            <a:r>
              <a:rPr sz="2800" b="1" i="1" spc="-5" dirty="0">
                <a:latin typeface="Times New Roman"/>
                <a:cs typeface="Times New Roman"/>
              </a:rPr>
              <a:t> because we do not </a:t>
            </a:r>
            <a:r>
              <a:rPr sz="2800" b="1" i="1" dirty="0">
                <a:latin typeface="Times New Roman"/>
                <a:cs typeface="Times New Roman"/>
              </a:rPr>
              <a:t>know </a:t>
            </a:r>
            <a:r>
              <a:rPr sz="2800" b="1" i="1" spc="-5" dirty="0">
                <a:latin typeface="Times New Roman"/>
                <a:cs typeface="Times New Roman"/>
              </a:rPr>
              <a:t>where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bandwidth starts or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ends.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do </a:t>
            </a:r>
            <a:r>
              <a:rPr sz="2800" b="1" i="1" spc="-5" dirty="0">
                <a:latin typeface="Times New Roman"/>
                <a:cs typeface="Times New Roman"/>
              </a:rPr>
              <a:t>not know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maximum frequency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signal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4.53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6578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4.26	</a:t>
            </a:r>
            <a:r>
              <a:rPr sz="2000" i="1" spc="-5" dirty="0">
                <a:latin typeface="Times New Roman"/>
                <a:cs typeface="Times New Roman"/>
              </a:rPr>
              <a:t>Quantization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encoding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sampled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signal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0669" y="1399031"/>
            <a:ext cx="6846569" cy="512216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4.54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4.12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6773" y="1512824"/>
            <a:ext cx="740600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What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SNR</a:t>
            </a:r>
            <a:r>
              <a:rPr sz="2775" b="1" i="1" baseline="-12012" dirty="0">
                <a:latin typeface="Times New Roman"/>
                <a:cs typeface="Times New Roman"/>
              </a:rPr>
              <a:t>dB</a:t>
            </a:r>
            <a:r>
              <a:rPr sz="2775" b="1" i="1" spc="352" baseline="-12012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example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4.26?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3777246"/>
            <a:ext cx="9144000" cy="3430270"/>
          </a:xfrm>
          <a:custGeom>
            <a:avLst/>
            <a:gdLst/>
            <a:ahLst/>
            <a:cxnLst/>
            <a:rect l="l" t="t" r="r" b="b"/>
            <a:pathLst>
              <a:path w="9144000" h="34302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3429762"/>
                </a:lnTo>
                <a:lnTo>
                  <a:pt x="9144000" y="342976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56773" y="3476498"/>
            <a:ext cx="8456930" cy="301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38100" marR="30480">
              <a:lnSpc>
                <a:spcPct val="100000"/>
              </a:lnSpc>
            </a:pP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dirty="0">
                <a:latin typeface="Times New Roman"/>
                <a:cs typeface="Times New Roman"/>
              </a:rPr>
              <a:t>can use the formula to find the quantization.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dirty="0">
                <a:latin typeface="Times New Roman"/>
                <a:cs typeface="Times New Roman"/>
              </a:rPr>
              <a:t>have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eight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levels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per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sample,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so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1920" algn="ctr">
              <a:lnSpc>
                <a:spcPct val="100000"/>
              </a:lnSpc>
            </a:pPr>
            <a:r>
              <a:rPr sz="2800" b="1" i="1" dirty="0">
                <a:solidFill>
                  <a:srgbClr val="3333CC"/>
                </a:solidFill>
                <a:latin typeface="Times New Roman"/>
                <a:cs typeface="Times New Roman"/>
              </a:rPr>
              <a:t>SNR</a:t>
            </a:r>
            <a:r>
              <a:rPr sz="2775" b="1" i="1" baseline="-12012" dirty="0">
                <a:solidFill>
                  <a:srgbClr val="3333CC"/>
                </a:solidFill>
                <a:latin typeface="Times New Roman"/>
                <a:cs typeface="Times New Roman"/>
              </a:rPr>
              <a:t>dB</a:t>
            </a:r>
            <a:r>
              <a:rPr sz="2775" b="1" i="1" spc="352" baseline="-12012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sz="2800" b="1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3333CC"/>
                </a:solidFill>
                <a:latin typeface="Times New Roman"/>
                <a:cs typeface="Times New Roman"/>
              </a:rPr>
              <a:t>6 02(3)</a:t>
            </a:r>
            <a:r>
              <a:rPr sz="2800" b="1" i="1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3333CC"/>
                </a:solidFill>
                <a:latin typeface="Times New Roman"/>
                <a:cs typeface="Times New Roman"/>
              </a:rPr>
              <a:t>+</a:t>
            </a:r>
            <a:r>
              <a:rPr sz="2800" b="1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3333CC"/>
                </a:solidFill>
                <a:latin typeface="Times New Roman"/>
                <a:cs typeface="Times New Roman"/>
              </a:rPr>
              <a:t>1 76</a:t>
            </a:r>
            <a:r>
              <a:rPr sz="2800" b="1" i="1" spc="-1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3333CC"/>
                </a:solidFill>
                <a:latin typeface="Times New Roman"/>
                <a:cs typeface="Times New Roman"/>
              </a:rPr>
              <a:t>=</a:t>
            </a:r>
            <a:r>
              <a:rPr sz="2800" b="1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3333CC"/>
                </a:solidFill>
                <a:latin typeface="Times New Roman"/>
                <a:cs typeface="Times New Roman"/>
              </a:rPr>
              <a:t>19</a:t>
            </a:r>
            <a:r>
              <a:rPr sz="2800" b="1" i="1" spc="-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3333CC"/>
                </a:solidFill>
                <a:latin typeface="Times New Roman"/>
                <a:cs typeface="Times New Roman"/>
              </a:rPr>
              <a:t>82</a:t>
            </a:r>
            <a:r>
              <a:rPr sz="2800" b="1" i="1" spc="-25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3333CC"/>
                </a:solidFill>
                <a:latin typeface="Times New Roman"/>
                <a:cs typeface="Times New Roman"/>
              </a:rPr>
              <a:t>dB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Increasing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number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levels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increases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SNR.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4.55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4.13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56773" y="1512824"/>
            <a:ext cx="857948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974850" algn="l"/>
                <a:tab pos="3643629" algn="l"/>
                <a:tab pos="4345305" algn="l"/>
                <a:tab pos="5207000" algn="l"/>
                <a:tab pos="6045835" algn="l"/>
                <a:tab pos="6571615" algn="l"/>
                <a:tab pos="7691755" algn="l"/>
              </a:tabLst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telephone	subscriber	line	must	have	an	</a:t>
            </a:r>
            <a:r>
              <a:rPr sz="2800" b="1" i="1" dirty="0">
                <a:latin typeface="Times New Roman"/>
                <a:cs typeface="Times New Roman"/>
              </a:rPr>
              <a:t>SNR</a:t>
            </a:r>
            <a:r>
              <a:rPr sz="2775" b="1" i="1" baseline="-12012" dirty="0">
                <a:latin typeface="Times New Roman"/>
                <a:cs typeface="Times New Roman"/>
              </a:rPr>
              <a:t>dB	</a:t>
            </a:r>
            <a:r>
              <a:rPr sz="2800" b="1" i="1" spc="-5" dirty="0">
                <a:latin typeface="Times New Roman"/>
                <a:cs typeface="Times New Roman"/>
              </a:rPr>
              <a:t>above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40.</a:t>
            </a:r>
            <a:r>
              <a:rPr sz="2800" b="1" i="1" spc="-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What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minimum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number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sample?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4839" y="3777234"/>
            <a:ext cx="9144000" cy="1367790"/>
            <a:chOff x="774839" y="3777234"/>
            <a:chExt cx="9144000" cy="1367790"/>
          </a:xfrm>
        </p:grpSpPr>
        <p:sp>
          <p:nvSpPr>
            <p:cNvPr id="10" name="object 10"/>
            <p:cNvSpPr/>
            <p:nvPr/>
          </p:nvSpPr>
          <p:spPr>
            <a:xfrm>
              <a:off x="774839" y="37772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51289" y="4635246"/>
              <a:ext cx="4929505" cy="0"/>
            </a:xfrm>
            <a:custGeom>
              <a:avLst/>
              <a:gdLst/>
              <a:ahLst/>
              <a:cxnLst/>
              <a:rect l="l" t="t" r="r" b="b"/>
              <a:pathLst>
                <a:path w="4929505">
                  <a:moveTo>
                    <a:pt x="4929377" y="0"/>
                  </a:moveTo>
                  <a:lnTo>
                    <a:pt x="0" y="0"/>
                  </a:lnTo>
                  <a:lnTo>
                    <a:pt x="4929377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08439" y="4692396"/>
              <a:ext cx="4815078" cy="39547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851150" y="4635258"/>
              <a:ext cx="4930140" cy="509905"/>
            </a:xfrm>
            <a:custGeom>
              <a:avLst/>
              <a:gdLst/>
              <a:ahLst/>
              <a:cxnLst/>
              <a:rect l="l" t="t" r="r" b="b"/>
              <a:pathLst>
                <a:path w="4930140" h="509904">
                  <a:moveTo>
                    <a:pt x="4872367" y="452628"/>
                  </a:moveTo>
                  <a:lnTo>
                    <a:pt x="57289" y="452628"/>
                  </a:lnTo>
                  <a:lnTo>
                    <a:pt x="57289" y="464058"/>
                  </a:lnTo>
                  <a:lnTo>
                    <a:pt x="4872367" y="464058"/>
                  </a:lnTo>
                  <a:lnTo>
                    <a:pt x="4872367" y="452628"/>
                  </a:lnTo>
                  <a:close/>
                </a:path>
                <a:path w="4930140" h="509904">
                  <a:moveTo>
                    <a:pt x="4884420" y="45720"/>
                  </a:moveTo>
                  <a:lnTo>
                    <a:pt x="487299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464058"/>
                  </a:lnTo>
                  <a:lnTo>
                    <a:pt x="57150" y="464058"/>
                  </a:lnTo>
                  <a:lnTo>
                    <a:pt x="57150" y="57150"/>
                  </a:lnTo>
                  <a:lnTo>
                    <a:pt x="4872990" y="57150"/>
                  </a:lnTo>
                  <a:lnTo>
                    <a:pt x="4872990" y="464058"/>
                  </a:lnTo>
                  <a:lnTo>
                    <a:pt x="4884420" y="464058"/>
                  </a:lnTo>
                  <a:lnTo>
                    <a:pt x="4884420" y="45720"/>
                  </a:lnTo>
                  <a:close/>
                </a:path>
                <a:path w="4930140" h="509904">
                  <a:moveTo>
                    <a:pt x="4895227" y="475488"/>
                  </a:moveTo>
                  <a:lnTo>
                    <a:pt x="34429" y="475488"/>
                  </a:lnTo>
                  <a:lnTo>
                    <a:pt x="34429" y="509778"/>
                  </a:lnTo>
                  <a:lnTo>
                    <a:pt x="4895227" y="509778"/>
                  </a:lnTo>
                  <a:lnTo>
                    <a:pt x="4895227" y="475488"/>
                  </a:lnTo>
                  <a:close/>
                </a:path>
                <a:path w="4930140" h="509904">
                  <a:moveTo>
                    <a:pt x="4930140" y="0"/>
                  </a:moveTo>
                  <a:lnTo>
                    <a:pt x="489585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509778"/>
                  </a:lnTo>
                  <a:lnTo>
                    <a:pt x="34290" y="509778"/>
                  </a:lnTo>
                  <a:lnTo>
                    <a:pt x="34290" y="34290"/>
                  </a:lnTo>
                  <a:lnTo>
                    <a:pt x="4895850" y="34290"/>
                  </a:lnTo>
                  <a:lnTo>
                    <a:pt x="4895850" y="509778"/>
                  </a:lnTo>
                  <a:lnTo>
                    <a:pt x="4930140" y="509778"/>
                  </a:lnTo>
                  <a:lnTo>
                    <a:pt x="493014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082173" y="3476498"/>
            <a:ext cx="8528685" cy="2726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calculate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number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7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1743075" algn="l"/>
                <a:tab pos="3524885" algn="l"/>
                <a:tab pos="4814570" algn="l"/>
                <a:tab pos="5965825" algn="l"/>
                <a:tab pos="6366510" algn="l"/>
                <a:tab pos="6905625" algn="l"/>
                <a:tab pos="7306309" algn="l"/>
                <a:tab pos="8042275" algn="l"/>
              </a:tabLst>
            </a:pPr>
            <a:r>
              <a:rPr sz="2800" b="1" i="1" spc="-260" dirty="0">
                <a:latin typeface="Times New Roman"/>
                <a:cs typeface="Times New Roman"/>
              </a:rPr>
              <a:t>T</a:t>
            </a:r>
            <a:r>
              <a:rPr sz="2800" b="1" i="1" spc="-5" dirty="0">
                <a:latin typeface="Times New Roman"/>
                <a:cs typeface="Times New Roman"/>
              </a:rPr>
              <a:t>elep</a:t>
            </a:r>
            <a:r>
              <a:rPr sz="2800" b="1" i="1" dirty="0">
                <a:latin typeface="Times New Roman"/>
                <a:cs typeface="Times New Roman"/>
              </a:rPr>
              <a:t>hone	</a:t>
            </a:r>
            <a:r>
              <a:rPr sz="2800" b="1" i="1" spc="-5" dirty="0">
                <a:latin typeface="Times New Roman"/>
                <a:cs typeface="Times New Roman"/>
              </a:rPr>
              <a:t>compa</a:t>
            </a:r>
            <a:r>
              <a:rPr sz="2800" b="1" i="1" dirty="0">
                <a:latin typeface="Times New Roman"/>
                <a:cs typeface="Times New Roman"/>
              </a:rPr>
              <a:t>ni</a:t>
            </a:r>
            <a:r>
              <a:rPr sz="2800" b="1" i="1" spc="-5" dirty="0">
                <a:latin typeface="Times New Roman"/>
                <a:cs typeface="Times New Roman"/>
              </a:rPr>
              <a:t>e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usu</a:t>
            </a:r>
            <a:r>
              <a:rPr sz="2800" b="1" i="1" spc="5" dirty="0">
                <a:latin typeface="Times New Roman"/>
                <a:cs typeface="Times New Roman"/>
              </a:rPr>
              <a:t>a</a:t>
            </a:r>
            <a:r>
              <a:rPr sz="2800" b="1" i="1" spc="-5" dirty="0">
                <a:latin typeface="Times New Roman"/>
                <a:cs typeface="Times New Roman"/>
              </a:rPr>
              <a:t>ll</a:t>
            </a:r>
            <a:r>
              <a:rPr sz="2800" b="1" i="1" dirty="0">
                <a:latin typeface="Times New Roman"/>
                <a:cs typeface="Times New Roman"/>
              </a:rPr>
              <a:t>y	</a:t>
            </a:r>
            <a:r>
              <a:rPr sz="2800" b="1" i="1" spc="-5" dirty="0">
                <a:latin typeface="Times New Roman"/>
                <a:cs typeface="Times New Roman"/>
              </a:rPr>
              <a:t>assig</a:t>
            </a:r>
            <a:r>
              <a:rPr sz="2800" b="1" i="1" dirty="0">
                <a:latin typeface="Times New Roman"/>
                <a:cs typeface="Times New Roman"/>
              </a:rPr>
              <a:t>n	7	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i="1" dirty="0">
                <a:latin typeface="Times New Roman"/>
                <a:cs typeface="Times New Roman"/>
              </a:rPr>
              <a:t>r	8	</a:t>
            </a:r>
            <a:r>
              <a:rPr sz="2800" b="1" i="1" spc="-5" dirty="0">
                <a:latin typeface="Times New Roman"/>
                <a:cs typeface="Times New Roman"/>
              </a:rPr>
              <a:t>bit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p</a:t>
            </a:r>
            <a:r>
              <a:rPr sz="2800" b="1" i="1" spc="-10" dirty="0">
                <a:latin typeface="Times New Roman"/>
                <a:cs typeface="Times New Roman"/>
              </a:rPr>
              <a:t>e</a:t>
            </a:r>
            <a:r>
              <a:rPr sz="2800" b="1" i="1" dirty="0">
                <a:latin typeface="Times New Roman"/>
                <a:cs typeface="Times New Roman"/>
              </a:rPr>
              <a:t>r  sample.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4.56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2920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4.14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28685" cy="3409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5740">
              <a:lnSpc>
                <a:spcPct val="100000"/>
              </a:lnSpc>
              <a:spcBef>
                <a:spcPts val="100"/>
              </a:spcBef>
            </a:pP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want </a:t>
            </a:r>
            <a:r>
              <a:rPr sz="2800" b="1" i="1" dirty="0">
                <a:latin typeface="Times New Roman"/>
                <a:cs typeface="Times New Roman"/>
              </a:rPr>
              <a:t>to </a:t>
            </a:r>
            <a:r>
              <a:rPr sz="2800" b="1" i="1" spc="-5" dirty="0">
                <a:latin typeface="Times New Roman"/>
                <a:cs typeface="Times New Roman"/>
              </a:rPr>
              <a:t>digitize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human </a:t>
            </a:r>
            <a:r>
              <a:rPr sz="2800" b="1" i="1" dirty="0">
                <a:latin typeface="Times New Roman"/>
                <a:cs typeface="Times New Roman"/>
              </a:rPr>
              <a:t>voice. </a:t>
            </a:r>
            <a:r>
              <a:rPr sz="2800" b="1" i="1" spc="-5" dirty="0">
                <a:latin typeface="Times New Roman"/>
                <a:cs typeface="Times New Roman"/>
              </a:rPr>
              <a:t>What </a:t>
            </a:r>
            <a:r>
              <a:rPr sz="2800" b="1" i="1" dirty="0">
                <a:latin typeface="Times New Roman"/>
                <a:cs typeface="Times New Roman"/>
              </a:rPr>
              <a:t>is the </a:t>
            </a:r>
            <a:r>
              <a:rPr sz="2800" b="1" i="1" spc="-5" dirty="0">
                <a:latin typeface="Times New Roman"/>
                <a:cs typeface="Times New Roman"/>
              </a:rPr>
              <a:t>bit rate,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assuming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8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per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sample?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human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voice normally contains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frequencies from </a:t>
            </a:r>
            <a:r>
              <a:rPr sz="2800" b="1" i="1" dirty="0">
                <a:latin typeface="Times New Roman"/>
                <a:cs typeface="Times New Roman"/>
              </a:rPr>
              <a:t>0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4000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Hz.</a:t>
            </a:r>
            <a:r>
              <a:rPr sz="2800" b="1" i="1" dirty="0">
                <a:latin typeface="Times New Roman"/>
                <a:cs typeface="Times New Roman"/>
              </a:rPr>
              <a:t> So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sampling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calculated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follows: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47339" y="5350002"/>
            <a:ext cx="4999990" cy="771525"/>
            <a:chOff x="2847339" y="5350002"/>
            <a:chExt cx="4999990" cy="77152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09201" y="5413248"/>
              <a:ext cx="4881372" cy="792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847340" y="5350014"/>
              <a:ext cx="4999990" cy="142875"/>
            </a:xfrm>
            <a:custGeom>
              <a:avLst/>
              <a:gdLst/>
              <a:ahLst/>
              <a:cxnLst/>
              <a:rect l="l" t="t" r="r" b="b"/>
              <a:pathLst>
                <a:path w="4999990" h="142875">
                  <a:moveTo>
                    <a:pt x="4954270" y="45720"/>
                  </a:moveTo>
                  <a:lnTo>
                    <a:pt x="494284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142494"/>
                  </a:lnTo>
                  <a:lnTo>
                    <a:pt x="57150" y="142494"/>
                  </a:lnTo>
                  <a:lnTo>
                    <a:pt x="57150" y="57150"/>
                  </a:lnTo>
                  <a:lnTo>
                    <a:pt x="4942840" y="57150"/>
                  </a:lnTo>
                  <a:lnTo>
                    <a:pt x="4942840" y="142494"/>
                  </a:lnTo>
                  <a:lnTo>
                    <a:pt x="4954270" y="142494"/>
                  </a:lnTo>
                  <a:lnTo>
                    <a:pt x="4954270" y="45720"/>
                  </a:lnTo>
                  <a:close/>
                </a:path>
                <a:path w="4999990" h="142875">
                  <a:moveTo>
                    <a:pt x="4999990" y="0"/>
                  </a:moveTo>
                  <a:lnTo>
                    <a:pt x="496570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142494"/>
                  </a:lnTo>
                  <a:lnTo>
                    <a:pt x="34290" y="142494"/>
                  </a:lnTo>
                  <a:lnTo>
                    <a:pt x="34290" y="34290"/>
                  </a:lnTo>
                  <a:lnTo>
                    <a:pt x="4965700" y="34290"/>
                  </a:lnTo>
                  <a:lnTo>
                    <a:pt x="4965700" y="142494"/>
                  </a:lnTo>
                  <a:lnTo>
                    <a:pt x="4999990" y="142494"/>
                  </a:lnTo>
                  <a:lnTo>
                    <a:pt x="499999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09201" y="5492496"/>
              <a:ext cx="4881372" cy="5715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847340" y="5492508"/>
              <a:ext cx="4999990" cy="628650"/>
            </a:xfrm>
            <a:custGeom>
              <a:avLst/>
              <a:gdLst/>
              <a:ahLst/>
              <a:cxnLst/>
              <a:rect l="l" t="t" r="r" b="b"/>
              <a:pathLst>
                <a:path w="4999990" h="628650">
                  <a:moveTo>
                    <a:pt x="4954270" y="0"/>
                  </a:moveTo>
                  <a:lnTo>
                    <a:pt x="4942840" y="0"/>
                  </a:lnTo>
                  <a:lnTo>
                    <a:pt x="4942840" y="571500"/>
                  </a:lnTo>
                  <a:lnTo>
                    <a:pt x="57150" y="571500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582930"/>
                  </a:lnTo>
                  <a:lnTo>
                    <a:pt x="57150" y="582930"/>
                  </a:lnTo>
                  <a:lnTo>
                    <a:pt x="4942840" y="582930"/>
                  </a:lnTo>
                  <a:lnTo>
                    <a:pt x="4954270" y="582930"/>
                  </a:lnTo>
                  <a:lnTo>
                    <a:pt x="4954270" y="0"/>
                  </a:lnTo>
                  <a:close/>
                </a:path>
                <a:path w="4999990" h="628650">
                  <a:moveTo>
                    <a:pt x="4999990" y="0"/>
                  </a:moveTo>
                  <a:lnTo>
                    <a:pt x="4965700" y="0"/>
                  </a:lnTo>
                  <a:lnTo>
                    <a:pt x="4965700" y="594360"/>
                  </a:lnTo>
                  <a:lnTo>
                    <a:pt x="34290" y="59436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628650"/>
                  </a:lnTo>
                  <a:lnTo>
                    <a:pt x="34290" y="628650"/>
                  </a:lnTo>
                  <a:lnTo>
                    <a:pt x="4965700" y="628650"/>
                  </a:lnTo>
                  <a:lnTo>
                    <a:pt x="4999990" y="628650"/>
                  </a:lnTo>
                  <a:lnTo>
                    <a:pt x="499999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4.57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916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4.27	</a:t>
            </a:r>
            <a:r>
              <a:rPr sz="2000" i="1" spc="-5" dirty="0">
                <a:latin typeface="Times New Roman"/>
                <a:cs typeface="Times New Roman"/>
              </a:rPr>
              <a:t>Components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 a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PCM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decoder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639" y="2231898"/>
            <a:ext cx="8510778" cy="337489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4.58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73" y="368299"/>
            <a:ext cx="23291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4.15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67" y="1512824"/>
            <a:ext cx="8528685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have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low-pass analog signal </a:t>
            </a:r>
            <a:r>
              <a:rPr sz="2800" b="1" i="1" dirty="0">
                <a:latin typeface="Times New Roman"/>
                <a:cs typeface="Times New Roman"/>
              </a:rPr>
              <a:t>of 4 </a:t>
            </a:r>
            <a:r>
              <a:rPr sz="2800" b="1" i="1" spc="-5" dirty="0">
                <a:latin typeface="Times New Roman"/>
                <a:cs typeface="Times New Roman"/>
              </a:rPr>
              <a:t>kHz. If we send the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analog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need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minimum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 of </a:t>
            </a:r>
            <a:r>
              <a:rPr sz="2800" b="1" i="1" dirty="0">
                <a:latin typeface="Times New Roman"/>
                <a:cs typeface="Times New Roman"/>
              </a:rPr>
              <a:t>4 </a:t>
            </a:r>
            <a:r>
              <a:rPr sz="2800" b="1" i="1" spc="-5" dirty="0">
                <a:latin typeface="Times New Roman"/>
                <a:cs typeface="Times New Roman"/>
              </a:rPr>
              <a:t>kHz. </a:t>
            </a:r>
            <a:r>
              <a:rPr sz="2800" b="1" i="1" dirty="0">
                <a:latin typeface="Times New Roman"/>
                <a:cs typeface="Times New Roman"/>
              </a:rPr>
              <a:t>If </a:t>
            </a:r>
            <a:r>
              <a:rPr sz="2800" b="1" i="1" spc="-5" dirty="0">
                <a:latin typeface="Times New Roman"/>
                <a:cs typeface="Times New Roman"/>
              </a:rPr>
              <a:t>we digitize the signal and send </a:t>
            </a:r>
            <a:r>
              <a:rPr sz="2800" b="1" i="1" dirty="0">
                <a:latin typeface="Times New Roman"/>
                <a:cs typeface="Times New Roman"/>
              </a:rPr>
              <a:t>8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sample,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need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minimum </a:t>
            </a:r>
            <a:r>
              <a:rPr sz="2800" b="1" i="1" dirty="0">
                <a:latin typeface="Times New Roman"/>
                <a:cs typeface="Times New Roman"/>
              </a:rPr>
              <a:t> bandwidth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8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kHz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32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kHz.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4.59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999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4.28	</a:t>
            </a:r>
            <a:r>
              <a:rPr sz="2000" i="1" spc="-5" dirty="0">
                <a:latin typeface="Times New Roman"/>
                <a:cs typeface="Times New Roman"/>
              </a:rPr>
              <a:t>The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process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delta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modulation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2451354"/>
            <a:ext cx="7871459" cy="300304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4.60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787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4.29	</a:t>
            </a:r>
            <a:r>
              <a:rPr sz="2000" i="1" spc="-5" dirty="0">
                <a:latin typeface="Times New Roman"/>
                <a:cs typeface="Times New Roman"/>
              </a:rPr>
              <a:t>Delta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modulation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components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0119" y="2681477"/>
            <a:ext cx="8427719" cy="254431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4.61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026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4.30	</a:t>
            </a:r>
            <a:r>
              <a:rPr sz="2000" i="1" spc="-5" dirty="0">
                <a:latin typeface="Times New Roman"/>
                <a:cs typeface="Times New Roman"/>
              </a:rPr>
              <a:t>Delta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demodulation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components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5671" y="2785872"/>
            <a:ext cx="7668768" cy="25161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4.62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152525" algn="l"/>
              </a:tabLst>
            </a:pPr>
            <a:r>
              <a:rPr spc="-5" dirty="0"/>
              <a:t>4-3	TRANSMISSION</a:t>
            </a:r>
            <a:r>
              <a:rPr dirty="0"/>
              <a:t> </a:t>
            </a:r>
            <a:r>
              <a:rPr spc="-5" dirty="0"/>
              <a:t>MODES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05973" y="1895348"/>
            <a:ext cx="8224520" cy="452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The transmission of binary data across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link </a:t>
            </a:r>
            <a:r>
              <a:rPr sz="2800" b="1" i="1" dirty="0">
                <a:latin typeface="Times New Roman"/>
                <a:cs typeface="Times New Roman"/>
              </a:rPr>
              <a:t>can be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accomplished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either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parallel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serial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mode.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parallel mode, multiple bits are sent with </a:t>
            </a:r>
            <a:r>
              <a:rPr sz="2800" b="1" i="1" spc="-10" dirty="0">
                <a:latin typeface="Times New Roman"/>
                <a:cs typeface="Times New Roman"/>
              </a:rPr>
              <a:t>each </a:t>
            </a:r>
            <a:r>
              <a:rPr sz="2800" b="1" i="1" spc="-5" dirty="0">
                <a:latin typeface="Times New Roman"/>
                <a:cs typeface="Times New Roman"/>
              </a:rPr>
              <a:t>clock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tick. In serial mode, </a:t>
            </a:r>
            <a:r>
              <a:rPr sz="2800" b="1" i="1" dirty="0">
                <a:latin typeface="Times New Roman"/>
                <a:cs typeface="Times New Roman"/>
              </a:rPr>
              <a:t>1 </a:t>
            </a:r>
            <a:r>
              <a:rPr sz="2800" b="1" i="1" spc="-5" dirty="0">
                <a:latin typeface="Times New Roman"/>
                <a:cs typeface="Times New Roman"/>
              </a:rPr>
              <a:t>bit is sent with </a:t>
            </a:r>
            <a:r>
              <a:rPr sz="2800" b="1" i="1" spc="-10" dirty="0">
                <a:latin typeface="Times New Roman"/>
                <a:cs typeface="Times New Roman"/>
              </a:rPr>
              <a:t>each </a:t>
            </a:r>
            <a:r>
              <a:rPr sz="2800" b="1" i="1" spc="-5" dirty="0">
                <a:latin typeface="Times New Roman"/>
                <a:cs typeface="Times New Roman"/>
              </a:rPr>
              <a:t>clock tick.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While there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-5" dirty="0">
                <a:latin typeface="Times New Roman"/>
                <a:cs typeface="Times New Roman"/>
              </a:rPr>
              <a:t>only </a:t>
            </a:r>
            <a:r>
              <a:rPr sz="2800" b="1" i="1" dirty="0">
                <a:latin typeface="Times New Roman"/>
                <a:cs typeface="Times New Roman"/>
              </a:rPr>
              <a:t>one </a:t>
            </a:r>
            <a:r>
              <a:rPr sz="2800" b="1" i="1" spc="-5" dirty="0">
                <a:latin typeface="Times New Roman"/>
                <a:cs typeface="Times New Roman"/>
              </a:rPr>
              <a:t>way to send parallel data, there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three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subclasses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serial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transmission: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asynchronous,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synchronous,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isochronous..</a:t>
            </a:r>
            <a:endParaRPr sz="280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2370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5381625">
              <a:lnSpc>
                <a:spcPct val="100000"/>
              </a:lnSpc>
              <a:spcBef>
                <a:spcPts val="400"/>
              </a:spcBef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Parallel</a:t>
            </a:r>
            <a:r>
              <a:rPr sz="2400" b="1" spc="-1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Transmission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Serial</a:t>
            </a:r>
            <a:r>
              <a:rPr sz="2400" b="1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Transmission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4.63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737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4.31	</a:t>
            </a:r>
            <a:r>
              <a:rPr sz="2000" i="1" spc="-5" dirty="0">
                <a:latin typeface="Times New Roman"/>
                <a:cs typeface="Times New Roman"/>
              </a:rPr>
              <a:t>Data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transmission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 modes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645" y="2394204"/>
            <a:ext cx="8410193" cy="306019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4.64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877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4.32	</a:t>
            </a:r>
            <a:r>
              <a:rPr sz="2000" i="1" spc="-5" dirty="0">
                <a:latin typeface="Times New Roman"/>
                <a:cs typeface="Times New Roman"/>
              </a:rPr>
              <a:t>Parallel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transmission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8171" y="2332482"/>
            <a:ext cx="5878067" cy="342671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4.65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666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4.33	</a:t>
            </a:r>
            <a:r>
              <a:rPr sz="2000" i="1" spc="-5" dirty="0">
                <a:latin typeface="Times New Roman"/>
                <a:cs typeface="Times New Roman"/>
              </a:rPr>
              <a:t>Serial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transmission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5439" y="2330195"/>
            <a:ext cx="6608826" cy="339471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4.66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25988" y="1304352"/>
            <a:ext cx="8077200" cy="215636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83515" marR="179705" algn="ctr">
              <a:lnSpc>
                <a:spcPct val="100000"/>
              </a:lnSpc>
              <a:spcBef>
                <a:spcPts val="275"/>
              </a:spcBef>
            </a:pPr>
            <a:r>
              <a:rPr sz="2800" b="1" spc="-5" dirty="0">
                <a:latin typeface="Arial"/>
                <a:cs typeface="Arial"/>
              </a:rPr>
              <a:t>In </a:t>
            </a:r>
            <a:r>
              <a:rPr sz="2800" b="1" spc="-10" dirty="0">
                <a:latin typeface="Arial"/>
                <a:cs typeface="Arial"/>
              </a:rPr>
              <a:t>asynchronous transmission, </a:t>
            </a:r>
            <a:r>
              <a:rPr sz="2800" b="1" spc="-5" dirty="0">
                <a:latin typeface="Arial"/>
                <a:cs typeface="Arial"/>
              </a:rPr>
              <a:t>we </a:t>
            </a:r>
            <a:r>
              <a:rPr sz="2800" b="1" spc="-10" dirty="0">
                <a:latin typeface="Arial"/>
                <a:cs typeface="Arial"/>
              </a:rPr>
              <a:t>send </a:t>
            </a:r>
            <a:r>
              <a:rPr sz="2800" b="1" spc="-87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1 start bit (0) at the beginning and 1 </a:t>
            </a:r>
            <a:r>
              <a:rPr sz="2800" b="1" spc="-10" dirty="0">
                <a:latin typeface="Arial"/>
                <a:cs typeface="Arial"/>
              </a:rPr>
              <a:t>or </a:t>
            </a:r>
            <a:r>
              <a:rPr sz="2800" b="1" spc="-5" dirty="0">
                <a:latin typeface="Arial"/>
                <a:cs typeface="Arial"/>
              </a:rPr>
              <a:t> more stop bits (1s) at the end of </a:t>
            </a:r>
            <a:r>
              <a:rPr sz="2800" b="1" spc="-10" dirty="0">
                <a:latin typeface="Arial"/>
                <a:cs typeface="Arial"/>
              </a:rPr>
              <a:t>each </a:t>
            </a:r>
            <a:r>
              <a:rPr sz="2800" b="1" spc="-5" dirty="0">
                <a:latin typeface="Arial"/>
                <a:cs typeface="Arial"/>
              </a:rPr>
              <a:t> byte.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There </a:t>
            </a:r>
            <a:r>
              <a:rPr sz="2800" b="1" spc="-5" dirty="0">
                <a:latin typeface="Arial"/>
                <a:cs typeface="Arial"/>
              </a:rPr>
              <a:t>may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be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a</a:t>
            </a:r>
            <a:r>
              <a:rPr sz="2800" b="1" spc="-1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gap</a:t>
            </a:r>
            <a:r>
              <a:rPr sz="2800" b="1" spc="-10" dirty="0">
                <a:latin typeface="Arial"/>
                <a:cs typeface="Arial"/>
              </a:rPr>
              <a:t> between</a:t>
            </a:r>
            <a:endParaRPr sz="2800" dirty="0">
              <a:latin typeface="Arial"/>
              <a:cs typeface="Arial"/>
            </a:endParaRPr>
          </a:p>
          <a:p>
            <a:pPr algn="ctr">
              <a:lnSpc>
                <a:spcPts val="3135"/>
              </a:lnSpc>
            </a:pPr>
            <a:r>
              <a:rPr sz="2800" b="1" spc="-5" dirty="0">
                <a:latin typeface="Arial"/>
                <a:cs typeface="Arial"/>
              </a:rPr>
              <a:t>each</a:t>
            </a:r>
            <a:r>
              <a:rPr sz="2800" b="1" spc="-6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byte.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DAE4D2-0833-A5A6-0DFA-97A5FE36BD7B}"/>
              </a:ext>
            </a:extLst>
          </p:cNvPr>
          <p:cNvSpPr txBox="1"/>
          <p:nvPr/>
        </p:nvSpPr>
        <p:spPr>
          <a:xfrm>
            <a:off x="1003300" y="3602372"/>
            <a:ext cx="8077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7395" marR="741680" indent="-1270" algn="ctr">
              <a:lnSpc>
                <a:spcPct val="100000"/>
              </a:lnSpc>
              <a:spcBef>
                <a:spcPts val="275"/>
              </a:spcBef>
            </a:pPr>
            <a:r>
              <a:rPr lang="en-US" sz="2800" b="1" spc="-10" dirty="0">
                <a:latin typeface="Arial"/>
                <a:cs typeface="Arial"/>
              </a:rPr>
              <a:t>Asynchronous </a:t>
            </a:r>
            <a:r>
              <a:rPr lang="en-US" sz="2800" b="1" spc="-5" dirty="0">
                <a:latin typeface="Arial"/>
                <a:cs typeface="Arial"/>
              </a:rPr>
              <a:t>here </a:t>
            </a:r>
            <a:r>
              <a:rPr lang="en-US" sz="2800" b="1" spc="-10" dirty="0">
                <a:latin typeface="Arial"/>
                <a:cs typeface="Arial"/>
              </a:rPr>
              <a:t>means </a:t>
            </a:r>
            <a:r>
              <a:rPr lang="en-US" sz="2800" b="1" spc="-5" dirty="0">
                <a:latin typeface="Arial"/>
                <a:cs typeface="Arial"/>
              </a:rPr>
              <a:t> “asynchronous at the byte </a:t>
            </a:r>
            <a:r>
              <a:rPr lang="en-US" sz="2800" b="1" spc="-10" dirty="0">
                <a:latin typeface="Arial"/>
                <a:cs typeface="Arial"/>
              </a:rPr>
              <a:t>level,” </a:t>
            </a:r>
            <a:r>
              <a:rPr lang="en-US" sz="2800" b="1" spc="-5" dirty="0">
                <a:latin typeface="Arial"/>
                <a:cs typeface="Arial"/>
              </a:rPr>
              <a:t> but the bits are still </a:t>
            </a:r>
            <a:r>
              <a:rPr lang="en-US" sz="2800" b="1" spc="-10" dirty="0">
                <a:latin typeface="Arial"/>
                <a:cs typeface="Arial"/>
              </a:rPr>
              <a:t>synchronized; </a:t>
            </a:r>
            <a:r>
              <a:rPr lang="en-US" sz="2800" b="1" spc="-875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their</a:t>
            </a:r>
            <a:r>
              <a:rPr lang="en-US" sz="2800" b="1" spc="-15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durations</a:t>
            </a:r>
            <a:r>
              <a:rPr lang="en-US" sz="2800" b="1" spc="-15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are</a:t>
            </a:r>
            <a:r>
              <a:rPr lang="en-US" sz="2800" b="1" spc="-10" dirty="0">
                <a:latin typeface="Arial"/>
                <a:cs typeface="Arial"/>
              </a:rPr>
              <a:t> </a:t>
            </a:r>
            <a:r>
              <a:rPr lang="en-US" sz="2800" b="1" spc="-5" dirty="0">
                <a:latin typeface="Arial"/>
                <a:cs typeface="Arial"/>
              </a:rPr>
              <a:t>the</a:t>
            </a:r>
            <a:r>
              <a:rPr lang="en-US" sz="2800" b="1" spc="-15" dirty="0">
                <a:latin typeface="Arial"/>
                <a:cs typeface="Arial"/>
              </a:rPr>
              <a:t> </a:t>
            </a:r>
            <a:r>
              <a:rPr lang="en-US" sz="2800" b="1" spc="-10" dirty="0">
                <a:latin typeface="Arial"/>
                <a:cs typeface="Arial"/>
              </a:rPr>
              <a:t>same.</a:t>
            </a:r>
            <a:endParaRPr lang="en-US"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555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4.34	</a:t>
            </a:r>
            <a:r>
              <a:rPr sz="2000" i="1" spc="-5" dirty="0">
                <a:latin typeface="Times New Roman"/>
                <a:cs typeface="Times New Roman"/>
              </a:rPr>
              <a:t>Asynchronous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transmission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6992" y="1749965"/>
            <a:ext cx="7805166" cy="304571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4.69</a:t>
            </a: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0BDCB55E-7144-8F27-4AF1-DB1FAF9F2B5E}"/>
              </a:ext>
            </a:extLst>
          </p:cNvPr>
          <p:cNvSpPr txBox="1"/>
          <p:nvPr/>
        </p:nvSpPr>
        <p:spPr>
          <a:xfrm>
            <a:off x="1308100" y="4872281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06375" marR="199390" indent="-3175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In </a:t>
            </a:r>
            <a:r>
              <a:rPr sz="3200" b="1" spc="-10" dirty="0">
                <a:latin typeface="Arial"/>
                <a:cs typeface="Arial"/>
              </a:rPr>
              <a:t>synchronous transmission, </a:t>
            </a:r>
            <a:r>
              <a:rPr sz="3200" b="1" spc="-5" dirty="0">
                <a:latin typeface="Arial"/>
                <a:cs typeface="Arial"/>
              </a:rPr>
              <a:t>we </a:t>
            </a:r>
            <a:r>
              <a:rPr sz="3200" b="1" spc="-10" dirty="0">
                <a:latin typeface="Arial"/>
                <a:cs typeface="Arial"/>
              </a:rPr>
              <a:t>send </a:t>
            </a:r>
            <a:r>
              <a:rPr sz="3200" b="1" spc="-5" dirty="0">
                <a:latin typeface="Arial"/>
                <a:cs typeface="Arial"/>
              </a:rPr>
              <a:t> bits one after another without start or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stop bits or gaps. It is the </a:t>
            </a:r>
            <a:r>
              <a:rPr sz="3200" b="1" spc="-10" dirty="0">
                <a:latin typeface="Arial"/>
                <a:cs typeface="Arial"/>
              </a:rPr>
              <a:t>responsibility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receiver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group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bits.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429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4.35	</a:t>
            </a:r>
            <a:r>
              <a:rPr sz="2000" i="1" spc="-5" dirty="0">
                <a:latin typeface="Times New Roman"/>
                <a:cs typeface="Times New Roman"/>
              </a:rPr>
              <a:t>Synchronous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transmission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5493" y="2823972"/>
            <a:ext cx="7797545" cy="20208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4.71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158875" algn="l"/>
              </a:tabLst>
            </a:pPr>
            <a:r>
              <a:rPr spc="-5" dirty="0"/>
              <a:t>5-1	</a:t>
            </a:r>
            <a:r>
              <a:rPr spc="-20" dirty="0"/>
              <a:t>DIGITAL-TO-ANALOG</a:t>
            </a:r>
            <a:r>
              <a:rPr spc="-10" dirty="0"/>
              <a:t> </a:t>
            </a:r>
            <a:r>
              <a:rPr spc="-5" dirty="0"/>
              <a:t>CONVERSION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05973" y="1970786"/>
            <a:ext cx="8070850" cy="4541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Digital-to-analog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conversion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process</a:t>
            </a:r>
            <a:r>
              <a:rPr sz="2800" b="1" i="1" spc="6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changing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one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characteristics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analog </a:t>
            </a:r>
            <a:r>
              <a:rPr sz="2800" b="1" i="1" dirty="0">
                <a:latin typeface="Times New Roman"/>
                <a:cs typeface="Times New Roman"/>
              </a:rPr>
              <a:t> signal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based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information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digital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235" dirty="0">
                <a:latin typeface="Times New Roman"/>
                <a:cs typeface="Times New Roman"/>
              </a:rPr>
              <a:t>data..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50">
              <a:latin typeface="Times New Roman"/>
              <a:cs typeface="Times New Roman"/>
            </a:endParaRPr>
          </a:p>
          <a:p>
            <a:pPr marL="12700" marR="2809240" indent="27940">
              <a:lnSpc>
                <a:spcPct val="106000"/>
              </a:lnSpc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 in this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Aspects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of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Digital-to-Analog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 Conversion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Amplitude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Shift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Keying</a:t>
            </a:r>
            <a:endParaRPr sz="2400">
              <a:latin typeface="Times New Roman"/>
              <a:cs typeface="Times New Roman"/>
            </a:endParaRPr>
          </a:p>
          <a:p>
            <a:pPr marL="12700" marR="4957445">
              <a:lnSpc>
                <a:spcPct val="100000"/>
              </a:lnSpc>
            </a:pP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Frequency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Shift Keying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Phase</a:t>
            </a:r>
            <a:r>
              <a:rPr sz="24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Shift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Keying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Quadratu</a:t>
            </a:r>
            <a:r>
              <a:rPr sz="2400" b="1" spc="-45" dirty="0">
                <a:solidFill>
                  <a:srgbClr val="0033CC"/>
                </a:solidFill>
                <a:latin typeface="Times New Roman"/>
                <a:cs typeface="Times New Roman"/>
              </a:rPr>
              <a:t>r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e</a:t>
            </a:r>
            <a:r>
              <a:rPr sz="2400" b="1" spc="-1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Amplitud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e</a:t>
            </a:r>
            <a:r>
              <a:rPr sz="2400" b="1" spc="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Modulation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7373" y="69371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5.2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539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828547"/>
            <a:ext cx="4499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20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5.1	</a:t>
            </a:r>
            <a:r>
              <a:rPr sz="2000" i="1" spc="-5" dirty="0">
                <a:latin typeface="Times New Roman"/>
                <a:cs typeface="Times New Roman"/>
              </a:rPr>
              <a:t>Digital-to-analog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conversion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4066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7239" y="2476500"/>
            <a:ext cx="8885681" cy="259689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7373" y="69371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5.3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379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5.2	</a:t>
            </a:r>
            <a:r>
              <a:rPr sz="2000" i="1" spc="-20" dirty="0">
                <a:latin typeface="Times New Roman"/>
                <a:cs typeface="Times New Roman"/>
              </a:rPr>
              <a:t>Types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digital-to-analog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conversion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789" y="2253995"/>
            <a:ext cx="8401050" cy="288797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7373" y="69371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5.4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720595"/>
            <a:ext cx="1143000" cy="3429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17414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4839" y="2062733"/>
            <a:ext cx="9144000" cy="3963670"/>
            <a:chOff x="774839" y="2062733"/>
            <a:chExt cx="9144000" cy="3963670"/>
          </a:xfrm>
        </p:grpSpPr>
        <p:sp>
          <p:nvSpPr>
            <p:cNvPr id="10" name="object 10"/>
            <p:cNvSpPr/>
            <p:nvPr/>
          </p:nvSpPr>
          <p:spPr>
            <a:xfrm>
              <a:off x="774839" y="206273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9144000" y="85801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2039" y="22920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70139" y="2422397"/>
              <a:ext cx="8077200" cy="498475"/>
            </a:xfrm>
            <a:custGeom>
              <a:avLst/>
              <a:gdLst/>
              <a:ahLst/>
              <a:cxnLst/>
              <a:rect l="l" t="t" r="r" b="b"/>
              <a:pathLst>
                <a:path w="8077200" h="498475">
                  <a:moveTo>
                    <a:pt x="8077200" y="498348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498348"/>
                  </a:lnTo>
                  <a:lnTo>
                    <a:pt x="8077200" y="498348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2039" y="2063495"/>
              <a:ext cx="1143000" cy="22402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4839" y="291999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0139" y="2919983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4839" y="377724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70139" y="3777246"/>
              <a:ext cx="8077200" cy="1715770"/>
            </a:xfrm>
            <a:custGeom>
              <a:avLst/>
              <a:gdLst/>
              <a:ahLst/>
              <a:cxnLst/>
              <a:rect l="l" t="t" r="r" b="b"/>
              <a:pathLst>
                <a:path w="8077200" h="1715770">
                  <a:moveTo>
                    <a:pt x="80772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5262"/>
                  </a:lnTo>
                  <a:lnTo>
                    <a:pt x="8077200" y="1715262"/>
                  </a:lnTo>
                  <a:lnTo>
                    <a:pt x="8077200" y="858012"/>
                  </a:lnTo>
                  <a:lnTo>
                    <a:pt x="8077200" y="85725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34325" y="59496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0139" y="5491733"/>
              <a:ext cx="8077200" cy="434340"/>
            </a:xfrm>
            <a:custGeom>
              <a:avLst/>
              <a:gdLst/>
              <a:ahLst/>
              <a:cxnLst/>
              <a:rect l="l" t="t" r="r" b="b"/>
              <a:pathLst>
                <a:path w="8077200" h="434339">
                  <a:moveTo>
                    <a:pt x="8077200" y="434339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434340"/>
                  </a:lnTo>
                  <a:lnTo>
                    <a:pt x="8077200" y="434339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49635" y="2444750"/>
            <a:ext cx="7915909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Arial"/>
                <a:cs typeface="Arial"/>
              </a:rPr>
              <a:t>Bit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rate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 the</a:t>
            </a:r>
            <a:r>
              <a:rPr sz="3200" b="1" spc="-10" dirty="0">
                <a:latin typeface="Arial"/>
                <a:cs typeface="Arial"/>
              </a:rPr>
              <a:t> number</a:t>
            </a:r>
            <a:r>
              <a:rPr sz="3200" b="1" spc="-5" dirty="0">
                <a:latin typeface="Arial"/>
                <a:cs typeface="Arial"/>
              </a:rPr>
              <a:t> of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bits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per </a:t>
            </a:r>
            <a:r>
              <a:rPr sz="3200" b="1" spc="-10" dirty="0">
                <a:latin typeface="Arial"/>
                <a:cs typeface="Arial"/>
              </a:rPr>
              <a:t>second.</a:t>
            </a:r>
            <a:endParaRPr sz="3200">
              <a:latin typeface="Arial"/>
              <a:cs typeface="Arial"/>
            </a:endParaRPr>
          </a:p>
          <a:p>
            <a:pPr marL="745490" marR="736600"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Baud rate is the number of </a:t>
            </a:r>
            <a:r>
              <a:rPr sz="3200" b="1" spc="-10" dirty="0">
                <a:latin typeface="Arial"/>
                <a:cs typeface="Arial"/>
              </a:rPr>
              <a:t>signal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elements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per second.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Arial"/>
              <a:cs typeface="Arial"/>
            </a:endParaRPr>
          </a:p>
          <a:p>
            <a:pPr marL="487680" marR="477520"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In the </a:t>
            </a:r>
            <a:r>
              <a:rPr sz="3200" b="1" spc="-10" dirty="0">
                <a:latin typeface="Arial"/>
                <a:cs typeface="Arial"/>
              </a:rPr>
              <a:t>analog transmission </a:t>
            </a:r>
            <a:r>
              <a:rPr sz="3200" b="1" spc="-5" dirty="0">
                <a:latin typeface="Arial"/>
                <a:cs typeface="Arial"/>
              </a:rPr>
              <a:t>of digital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data,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baud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rate is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less</a:t>
            </a:r>
            <a:r>
              <a:rPr sz="3200" b="1" spc="-10" dirty="0">
                <a:latin typeface="Arial"/>
                <a:cs typeface="Arial"/>
              </a:rPr>
              <a:t> than</a:t>
            </a:r>
            <a:endParaRPr sz="32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or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equal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bit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rate.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7373" y="69371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5.5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6771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5.1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37772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2164" y="1512824"/>
            <a:ext cx="8161655" cy="3211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386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An analog signal carries 4 bits per signal element. If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1000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signal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elements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are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per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second,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find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In </a:t>
            </a:r>
            <a:r>
              <a:rPr sz="2800" b="1" i="1" dirty="0">
                <a:latin typeface="Times New Roman"/>
                <a:cs typeface="Times New Roman"/>
              </a:rPr>
              <a:t>this case, r = 4, S = 1000, and N is </a:t>
            </a:r>
            <a:r>
              <a:rPr sz="2800" b="1" i="1" spc="-5" dirty="0">
                <a:latin typeface="Times New Roman"/>
                <a:cs typeface="Times New Roman"/>
              </a:rPr>
              <a:t>unknown.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dirty="0">
                <a:latin typeface="Times New Roman"/>
                <a:cs typeface="Times New Roman"/>
              </a:rPr>
              <a:t>can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find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value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from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4839" y="4634484"/>
            <a:ext cx="9144000" cy="1182370"/>
            <a:chOff x="774839" y="4634484"/>
            <a:chExt cx="9144000" cy="1182370"/>
          </a:xfrm>
        </p:grpSpPr>
        <p:sp>
          <p:nvSpPr>
            <p:cNvPr id="11" name="object 11"/>
            <p:cNvSpPr/>
            <p:nvPr/>
          </p:nvSpPr>
          <p:spPr>
            <a:xfrm>
              <a:off x="774839" y="463448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29675" y="5193030"/>
              <a:ext cx="6433565" cy="29946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072640" y="5135892"/>
              <a:ext cx="6548120" cy="356870"/>
            </a:xfrm>
            <a:custGeom>
              <a:avLst/>
              <a:gdLst/>
              <a:ahLst/>
              <a:cxnLst/>
              <a:rect l="l" t="t" r="r" b="b"/>
              <a:pathLst>
                <a:path w="6548120" h="356870">
                  <a:moveTo>
                    <a:pt x="6502400" y="45720"/>
                  </a:moveTo>
                  <a:lnTo>
                    <a:pt x="649097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356616"/>
                  </a:lnTo>
                  <a:lnTo>
                    <a:pt x="57150" y="356616"/>
                  </a:lnTo>
                  <a:lnTo>
                    <a:pt x="57150" y="57150"/>
                  </a:lnTo>
                  <a:lnTo>
                    <a:pt x="6490970" y="57150"/>
                  </a:lnTo>
                  <a:lnTo>
                    <a:pt x="6490970" y="356616"/>
                  </a:lnTo>
                  <a:lnTo>
                    <a:pt x="6502400" y="356616"/>
                  </a:lnTo>
                  <a:lnTo>
                    <a:pt x="6502400" y="45720"/>
                  </a:lnTo>
                  <a:close/>
                </a:path>
                <a:path w="6548120" h="356870">
                  <a:moveTo>
                    <a:pt x="6548120" y="0"/>
                  </a:moveTo>
                  <a:lnTo>
                    <a:pt x="651383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356616"/>
                  </a:lnTo>
                  <a:lnTo>
                    <a:pt x="34290" y="356616"/>
                  </a:lnTo>
                  <a:lnTo>
                    <a:pt x="34290" y="34290"/>
                  </a:lnTo>
                  <a:lnTo>
                    <a:pt x="6513830" y="34290"/>
                  </a:lnTo>
                  <a:lnTo>
                    <a:pt x="6513830" y="356616"/>
                  </a:lnTo>
                  <a:lnTo>
                    <a:pt x="6548120" y="356616"/>
                  </a:lnTo>
                  <a:lnTo>
                    <a:pt x="654812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29675" y="5492496"/>
              <a:ext cx="6433565" cy="2667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072640" y="5492508"/>
              <a:ext cx="6548120" cy="323850"/>
            </a:xfrm>
            <a:custGeom>
              <a:avLst/>
              <a:gdLst/>
              <a:ahLst/>
              <a:cxnLst/>
              <a:rect l="l" t="t" r="r" b="b"/>
              <a:pathLst>
                <a:path w="6548120" h="323850">
                  <a:moveTo>
                    <a:pt x="6502400" y="0"/>
                  </a:moveTo>
                  <a:lnTo>
                    <a:pt x="6490970" y="0"/>
                  </a:lnTo>
                  <a:lnTo>
                    <a:pt x="6490970" y="266700"/>
                  </a:lnTo>
                  <a:lnTo>
                    <a:pt x="57150" y="266700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278130"/>
                  </a:lnTo>
                  <a:lnTo>
                    <a:pt x="57150" y="278130"/>
                  </a:lnTo>
                  <a:lnTo>
                    <a:pt x="6490970" y="278130"/>
                  </a:lnTo>
                  <a:lnTo>
                    <a:pt x="6502400" y="278130"/>
                  </a:lnTo>
                  <a:lnTo>
                    <a:pt x="6502400" y="0"/>
                  </a:lnTo>
                  <a:close/>
                </a:path>
                <a:path w="6548120" h="323850">
                  <a:moveTo>
                    <a:pt x="6548120" y="0"/>
                  </a:moveTo>
                  <a:lnTo>
                    <a:pt x="6513830" y="0"/>
                  </a:lnTo>
                  <a:lnTo>
                    <a:pt x="6513830" y="289560"/>
                  </a:lnTo>
                  <a:lnTo>
                    <a:pt x="34290" y="28956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323850"/>
                  </a:lnTo>
                  <a:lnTo>
                    <a:pt x="34290" y="323850"/>
                  </a:lnTo>
                  <a:lnTo>
                    <a:pt x="6513830" y="323850"/>
                  </a:lnTo>
                  <a:lnTo>
                    <a:pt x="6548120" y="323850"/>
                  </a:lnTo>
                  <a:lnTo>
                    <a:pt x="654812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7373" y="69371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5.6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6771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5.2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377724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2171" y="1512824"/>
            <a:ext cx="8606155" cy="3590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384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An analog signal has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bit rate of 8000 bps and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baud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1000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baud.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How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many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elements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carried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element?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How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many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elements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do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need?</a:t>
            </a:r>
            <a:endParaRPr sz="28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19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88900" marR="50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In this example, </a:t>
            </a:r>
            <a:r>
              <a:rPr sz="2800" b="1" i="1" dirty="0">
                <a:latin typeface="Times New Roman"/>
                <a:cs typeface="Times New Roman"/>
              </a:rPr>
              <a:t>S = </a:t>
            </a:r>
            <a:r>
              <a:rPr sz="2800" b="1" i="1" spc="-5" dirty="0">
                <a:latin typeface="Times New Roman"/>
                <a:cs typeface="Times New Roman"/>
              </a:rPr>
              <a:t>1000, </a:t>
            </a:r>
            <a:r>
              <a:rPr sz="2800" b="1" i="1" dirty="0">
                <a:latin typeface="Times New Roman"/>
                <a:cs typeface="Times New Roman"/>
              </a:rPr>
              <a:t>N = </a:t>
            </a:r>
            <a:r>
              <a:rPr sz="2800" b="1" i="1" spc="-5" dirty="0">
                <a:latin typeface="Times New Roman"/>
                <a:cs typeface="Times New Roman"/>
              </a:rPr>
              <a:t>8000, and </a:t>
            </a:r>
            <a:r>
              <a:rPr sz="2800" b="1" i="1" dirty="0">
                <a:latin typeface="Times New Roman"/>
                <a:cs typeface="Times New Roman"/>
              </a:rPr>
              <a:t>r </a:t>
            </a:r>
            <a:r>
              <a:rPr sz="2800" b="1" i="1" spc="-5" dirty="0">
                <a:latin typeface="Times New Roman"/>
                <a:cs typeface="Times New Roman"/>
              </a:rPr>
              <a:t>and </a:t>
            </a:r>
            <a:r>
              <a:rPr sz="2800" b="1" i="1" dirty="0">
                <a:latin typeface="Times New Roman"/>
                <a:cs typeface="Times New Roman"/>
              </a:rPr>
              <a:t>L </a:t>
            </a:r>
            <a:r>
              <a:rPr sz="2800" b="1" i="1" spc="-5" dirty="0">
                <a:latin typeface="Times New Roman"/>
                <a:cs typeface="Times New Roman"/>
              </a:rPr>
              <a:t>are </a:t>
            </a:r>
            <a:r>
              <a:rPr sz="2800" b="1" i="1" dirty="0">
                <a:latin typeface="Times New Roman"/>
                <a:cs typeface="Times New Roman"/>
              </a:rPr>
              <a:t> unknown.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48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find </a:t>
            </a:r>
            <a:r>
              <a:rPr sz="2800" b="1" i="1" spc="-5" dirty="0">
                <a:latin typeface="Times New Roman"/>
                <a:cs typeface="Times New Roman"/>
              </a:rPr>
              <a:t>first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value </a:t>
            </a:r>
            <a:r>
              <a:rPr sz="2800" b="1" i="1" dirty="0">
                <a:latin typeface="Times New Roman"/>
                <a:cs typeface="Times New Roman"/>
              </a:rPr>
              <a:t>of r and </a:t>
            </a:r>
            <a:r>
              <a:rPr sz="2800" b="1" i="1" spc="-5" dirty="0">
                <a:latin typeface="Times New Roman"/>
                <a:cs typeface="Times New Roman"/>
              </a:rPr>
              <a:t>then the value 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75445" y="5191505"/>
            <a:ext cx="5542915" cy="1158240"/>
            <a:chOff x="2575445" y="5191505"/>
            <a:chExt cx="5542915" cy="115824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4881" y="5248655"/>
              <a:ext cx="5425440" cy="24384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575560" y="5191518"/>
              <a:ext cx="5542280" cy="300990"/>
            </a:xfrm>
            <a:custGeom>
              <a:avLst/>
              <a:gdLst/>
              <a:ahLst/>
              <a:cxnLst/>
              <a:rect l="l" t="t" r="r" b="b"/>
              <a:pathLst>
                <a:path w="5542280" h="300989">
                  <a:moveTo>
                    <a:pt x="5496560" y="45720"/>
                  </a:moveTo>
                  <a:lnTo>
                    <a:pt x="548513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300990"/>
                  </a:lnTo>
                  <a:lnTo>
                    <a:pt x="57150" y="300990"/>
                  </a:lnTo>
                  <a:lnTo>
                    <a:pt x="57150" y="57150"/>
                  </a:lnTo>
                  <a:lnTo>
                    <a:pt x="5485130" y="57150"/>
                  </a:lnTo>
                  <a:lnTo>
                    <a:pt x="5485130" y="300990"/>
                  </a:lnTo>
                  <a:lnTo>
                    <a:pt x="5496560" y="300990"/>
                  </a:lnTo>
                  <a:lnTo>
                    <a:pt x="5496560" y="45720"/>
                  </a:lnTo>
                  <a:close/>
                </a:path>
                <a:path w="5542280" h="300989">
                  <a:moveTo>
                    <a:pt x="5542280" y="0"/>
                  </a:moveTo>
                  <a:lnTo>
                    <a:pt x="550799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300990"/>
                  </a:lnTo>
                  <a:lnTo>
                    <a:pt x="34290" y="300990"/>
                  </a:lnTo>
                  <a:lnTo>
                    <a:pt x="34290" y="34290"/>
                  </a:lnTo>
                  <a:lnTo>
                    <a:pt x="5507990" y="34290"/>
                  </a:lnTo>
                  <a:lnTo>
                    <a:pt x="5507990" y="300990"/>
                  </a:lnTo>
                  <a:lnTo>
                    <a:pt x="5542280" y="300990"/>
                  </a:lnTo>
                  <a:lnTo>
                    <a:pt x="554228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34881" y="5492495"/>
              <a:ext cx="5425440" cy="8001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575560" y="5492508"/>
              <a:ext cx="5542280" cy="857250"/>
            </a:xfrm>
            <a:custGeom>
              <a:avLst/>
              <a:gdLst/>
              <a:ahLst/>
              <a:cxnLst/>
              <a:rect l="l" t="t" r="r" b="b"/>
              <a:pathLst>
                <a:path w="5542280" h="857250">
                  <a:moveTo>
                    <a:pt x="5496560" y="0"/>
                  </a:moveTo>
                  <a:lnTo>
                    <a:pt x="5485130" y="0"/>
                  </a:lnTo>
                  <a:lnTo>
                    <a:pt x="5485130" y="800100"/>
                  </a:lnTo>
                  <a:lnTo>
                    <a:pt x="57150" y="800100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811530"/>
                  </a:lnTo>
                  <a:lnTo>
                    <a:pt x="57150" y="811530"/>
                  </a:lnTo>
                  <a:lnTo>
                    <a:pt x="5485130" y="811530"/>
                  </a:lnTo>
                  <a:lnTo>
                    <a:pt x="5496560" y="811530"/>
                  </a:lnTo>
                  <a:lnTo>
                    <a:pt x="5496560" y="0"/>
                  </a:lnTo>
                  <a:close/>
                </a:path>
                <a:path w="5542280" h="857250">
                  <a:moveTo>
                    <a:pt x="5542280" y="0"/>
                  </a:moveTo>
                  <a:lnTo>
                    <a:pt x="5507990" y="0"/>
                  </a:lnTo>
                  <a:lnTo>
                    <a:pt x="5507990" y="822960"/>
                  </a:lnTo>
                  <a:lnTo>
                    <a:pt x="34290" y="82296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34290" y="857250"/>
                  </a:lnTo>
                  <a:lnTo>
                    <a:pt x="5507990" y="857250"/>
                  </a:lnTo>
                  <a:lnTo>
                    <a:pt x="5541911" y="857250"/>
                  </a:lnTo>
                  <a:lnTo>
                    <a:pt x="5542280" y="857250"/>
                  </a:lnTo>
                  <a:lnTo>
                    <a:pt x="554228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77373" y="69371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5.7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596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5.3	</a:t>
            </a:r>
            <a:r>
              <a:rPr sz="2000" i="1" spc="-5" dirty="0">
                <a:latin typeface="Times New Roman"/>
                <a:cs typeface="Times New Roman"/>
              </a:rPr>
              <a:t>Binary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amplitude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shift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keying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189" y="3103626"/>
            <a:ext cx="8629650" cy="235077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5.8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697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5.4	</a:t>
            </a:r>
            <a:r>
              <a:rPr sz="2000" i="1" spc="-10" dirty="0">
                <a:latin typeface="Times New Roman"/>
                <a:cs typeface="Times New Roman"/>
              </a:rPr>
              <a:t>Implementation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 binary</a:t>
            </a:r>
            <a:r>
              <a:rPr sz="2000" i="1" spc="-9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ASK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6893" y="3062477"/>
            <a:ext cx="8254745" cy="239191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5.9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6771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5.3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377724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44073" y="1571498"/>
            <a:ext cx="8606155" cy="398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0165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have an available bandwidth of 100 kHz which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spans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from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200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300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kHz.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What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carrier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frequency and the bit rate if we modulated our data by </a:t>
            </a:r>
            <a:r>
              <a:rPr sz="2800" b="1" i="1" dirty="0">
                <a:latin typeface="Times New Roman"/>
                <a:cs typeface="Times New Roman"/>
              </a:rPr>
              <a:t> using</a:t>
            </a:r>
            <a:r>
              <a:rPr sz="2800" b="1" i="1" spc="-1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ASK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with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1?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96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50800" marR="431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The middle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the bandwidth is located at 250 kHz. This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means that our carrier frequency </a:t>
            </a:r>
            <a:r>
              <a:rPr sz="2800" b="1" i="1" dirty="0">
                <a:latin typeface="Times New Roman"/>
                <a:cs typeface="Times New Roman"/>
              </a:rPr>
              <a:t>can be </a:t>
            </a:r>
            <a:r>
              <a:rPr sz="2800" b="1" i="1" spc="-5" dirty="0">
                <a:latin typeface="Times New Roman"/>
                <a:cs typeface="Times New Roman"/>
              </a:rPr>
              <a:t>at </a:t>
            </a:r>
            <a:r>
              <a:rPr sz="2800" b="1" i="1" dirty="0">
                <a:latin typeface="Times New Roman"/>
                <a:cs typeface="Times New Roman"/>
              </a:rPr>
              <a:t>f</a:t>
            </a:r>
            <a:r>
              <a:rPr sz="2775" b="1" i="1" baseline="-21021" dirty="0">
                <a:latin typeface="Times New Roman"/>
                <a:cs typeface="Times New Roman"/>
              </a:rPr>
              <a:t>c </a:t>
            </a:r>
            <a:r>
              <a:rPr sz="2800" b="1" i="1" dirty="0">
                <a:latin typeface="Times New Roman"/>
                <a:cs typeface="Times New Roman"/>
              </a:rPr>
              <a:t>= </a:t>
            </a:r>
            <a:r>
              <a:rPr sz="2800" b="1" i="1" spc="-5" dirty="0">
                <a:latin typeface="Times New Roman"/>
                <a:cs typeface="Times New Roman"/>
              </a:rPr>
              <a:t>250 kHz.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can use the formula for bandwidth to find the bit rate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(with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1).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4839" y="5491734"/>
            <a:ext cx="9144000" cy="1054100"/>
            <a:chOff x="774839" y="5491734"/>
            <a:chExt cx="9144000" cy="1054100"/>
          </a:xfrm>
        </p:grpSpPr>
        <p:sp>
          <p:nvSpPr>
            <p:cNvPr id="11" name="object 11"/>
            <p:cNvSpPr/>
            <p:nvPr/>
          </p:nvSpPr>
          <p:spPr>
            <a:xfrm>
              <a:off x="774839" y="54917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3999" y="858012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3999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64449" y="5911596"/>
              <a:ext cx="7765542" cy="43815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407160" y="5854458"/>
              <a:ext cx="7880350" cy="495300"/>
            </a:xfrm>
            <a:custGeom>
              <a:avLst/>
              <a:gdLst/>
              <a:ahLst/>
              <a:cxnLst/>
              <a:rect l="l" t="t" r="r" b="b"/>
              <a:pathLst>
                <a:path w="7880350" h="495300">
                  <a:moveTo>
                    <a:pt x="7834630" y="45720"/>
                  </a:moveTo>
                  <a:lnTo>
                    <a:pt x="782320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495300"/>
                  </a:lnTo>
                  <a:lnTo>
                    <a:pt x="57150" y="495300"/>
                  </a:lnTo>
                  <a:lnTo>
                    <a:pt x="57150" y="57150"/>
                  </a:lnTo>
                  <a:lnTo>
                    <a:pt x="7823200" y="57150"/>
                  </a:lnTo>
                  <a:lnTo>
                    <a:pt x="7823200" y="495300"/>
                  </a:lnTo>
                  <a:lnTo>
                    <a:pt x="7834630" y="495300"/>
                  </a:lnTo>
                  <a:lnTo>
                    <a:pt x="7834630" y="45720"/>
                  </a:lnTo>
                  <a:close/>
                </a:path>
                <a:path w="7880350" h="495300">
                  <a:moveTo>
                    <a:pt x="7880350" y="0"/>
                  </a:moveTo>
                  <a:lnTo>
                    <a:pt x="784606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495300"/>
                  </a:lnTo>
                  <a:lnTo>
                    <a:pt x="34290" y="495300"/>
                  </a:lnTo>
                  <a:lnTo>
                    <a:pt x="34290" y="34290"/>
                  </a:lnTo>
                  <a:lnTo>
                    <a:pt x="7846060" y="34290"/>
                  </a:lnTo>
                  <a:lnTo>
                    <a:pt x="7846060" y="495300"/>
                  </a:lnTo>
                  <a:lnTo>
                    <a:pt x="7880350" y="495300"/>
                  </a:lnTo>
                  <a:lnTo>
                    <a:pt x="788035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4449" y="6349746"/>
              <a:ext cx="7765542" cy="13868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407160" y="6349758"/>
              <a:ext cx="7880350" cy="196215"/>
            </a:xfrm>
            <a:custGeom>
              <a:avLst/>
              <a:gdLst/>
              <a:ahLst/>
              <a:cxnLst/>
              <a:rect l="l" t="t" r="r" b="b"/>
              <a:pathLst>
                <a:path w="7880350" h="196215">
                  <a:moveTo>
                    <a:pt x="7834630" y="0"/>
                  </a:moveTo>
                  <a:lnTo>
                    <a:pt x="7823200" y="0"/>
                  </a:lnTo>
                  <a:lnTo>
                    <a:pt x="7823200" y="138684"/>
                  </a:lnTo>
                  <a:lnTo>
                    <a:pt x="57150" y="138684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150114"/>
                  </a:lnTo>
                  <a:lnTo>
                    <a:pt x="57150" y="150114"/>
                  </a:lnTo>
                  <a:lnTo>
                    <a:pt x="7823200" y="150114"/>
                  </a:lnTo>
                  <a:lnTo>
                    <a:pt x="7834630" y="150114"/>
                  </a:lnTo>
                  <a:lnTo>
                    <a:pt x="7834630" y="0"/>
                  </a:lnTo>
                  <a:close/>
                </a:path>
                <a:path w="7880350" h="196215">
                  <a:moveTo>
                    <a:pt x="7880350" y="0"/>
                  </a:moveTo>
                  <a:lnTo>
                    <a:pt x="7846060" y="0"/>
                  </a:lnTo>
                  <a:lnTo>
                    <a:pt x="7846060" y="161544"/>
                  </a:lnTo>
                  <a:lnTo>
                    <a:pt x="34290" y="161544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195834"/>
                  </a:lnTo>
                  <a:lnTo>
                    <a:pt x="34290" y="195834"/>
                  </a:lnTo>
                  <a:lnTo>
                    <a:pt x="7846060" y="195834"/>
                  </a:lnTo>
                  <a:lnTo>
                    <a:pt x="7880350" y="195834"/>
                  </a:lnTo>
                  <a:lnTo>
                    <a:pt x="788035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5.10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6771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5.4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91998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2173" y="1817624"/>
            <a:ext cx="8072120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data communications, we normally use full-duplex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links with communication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both directions.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need </a:t>
            </a:r>
            <a:r>
              <a:rPr sz="2800" b="1" i="1" dirty="0">
                <a:latin typeface="Times New Roman"/>
                <a:cs typeface="Times New Roman"/>
              </a:rPr>
              <a:t> to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divide</a:t>
            </a:r>
            <a:r>
              <a:rPr sz="2800" b="1" i="1" dirty="0">
                <a:latin typeface="Times New Roman"/>
                <a:cs typeface="Times New Roman"/>
              </a:rPr>
              <a:t> th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</a:t>
            </a:r>
            <a:r>
              <a:rPr sz="2800" b="1" i="1" dirty="0">
                <a:latin typeface="Times New Roman"/>
                <a:cs typeface="Times New Roman"/>
              </a:rPr>
              <a:t> into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two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two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carrier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frequencies,</a:t>
            </a:r>
            <a:r>
              <a:rPr sz="2800" b="1" i="1" spc="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as</a:t>
            </a:r>
            <a:r>
              <a:rPr sz="2800" b="1" i="1" spc="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shown</a:t>
            </a:r>
            <a:r>
              <a:rPr sz="2800" b="1" i="1" spc="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spc="1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Figure</a:t>
            </a:r>
            <a:r>
              <a:rPr sz="2800" b="1" i="1" spc="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5.5.</a:t>
            </a:r>
            <a:r>
              <a:rPr sz="2800" b="1" i="1" spc="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figure</a:t>
            </a:r>
            <a:r>
              <a:rPr sz="2800" b="1" i="1" spc="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2173" y="3524504"/>
            <a:ext cx="655700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8820" algn="l"/>
                <a:tab pos="2274570" algn="l"/>
                <a:tab pos="2823845" algn="l"/>
                <a:tab pos="3589654" algn="l"/>
                <a:tab pos="4846955" algn="l"/>
              </a:tabLst>
            </a:pPr>
            <a:r>
              <a:rPr sz="2800" b="1" i="1" dirty="0">
                <a:latin typeface="Times New Roman"/>
                <a:cs typeface="Times New Roman"/>
              </a:rPr>
              <a:t>the	</a:t>
            </a:r>
            <a:r>
              <a:rPr sz="2800" b="1" i="1" spc="-5" dirty="0">
                <a:latin typeface="Times New Roman"/>
                <a:cs typeface="Times New Roman"/>
              </a:rPr>
              <a:t>position</a:t>
            </a:r>
            <a:r>
              <a:rPr sz="2800" b="1" i="1" dirty="0">
                <a:latin typeface="Times New Roman"/>
                <a:cs typeface="Times New Roman"/>
              </a:rPr>
              <a:t>s	of	</a:t>
            </a:r>
            <a:r>
              <a:rPr sz="2800" b="1" i="1" spc="-5" dirty="0">
                <a:latin typeface="Times New Roman"/>
                <a:cs typeface="Times New Roman"/>
              </a:rPr>
              <a:t>tw</a:t>
            </a:r>
            <a:r>
              <a:rPr sz="2800" b="1" i="1" dirty="0">
                <a:latin typeface="Times New Roman"/>
                <a:cs typeface="Times New Roman"/>
              </a:rPr>
              <a:t>o	</a:t>
            </a:r>
            <a:r>
              <a:rPr sz="2800" b="1" i="1" spc="-5" dirty="0">
                <a:latin typeface="Times New Roman"/>
                <a:cs typeface="Times New Roman"/>
              </a:rPr>
              <a:t>carrie</a:t>
            </a:r>
            <a:r>
              <a:rPr sz="2800" b="1" i="1" dirty="0">
                <a:latin typeface="Times New Roman"/>
                <a:cs typeface="Times New Roman"/>
              </a:rPr>
              <a:t>r	</a:t>
            </a:r>
            <a:r>
              <a:rPr sz="2800" b="1" i="1" spc="-5" dirty="0">
                <a:latin typeface="Times New Roman"/>
                <a:cs typeface="Times New Roman"/>
              </a:rPr>
              <a:t>frequencies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4510" y="3501431"/>
            <a:ext cx="807085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783705">
              <a:lnSpc>
                <a:spcPct val="100000"/>
              </a:lnSpc>
              <a:spcBef>
                <a:spcPts val="100"/>
              </a:spcBef>
              <a:tabLst>
                <a:tab pos="2123440" algn="l"/>
                <a:tab pos="3039745" algn="l"/>
                <a:tab pos="4705350" algn="l"/>
                <a:tab pos="6590030" algn="l"/>
                <a:tab pos="7366634" algn="l"/>
                <a:tab pos="760285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an</a:t>
            </a:r>
            <a:r>
              <a:rPr sz="2800" b="1" i="1" dirty="0">
                <a:latin typeface="Times New Roman"/>
                <a:cs typeface="Times New Roman"/>
              </a:rPr>
              <a:t>d		</a:t>
            </a:r>
            <a:r>
              <a:rPr sz="2800" b="1" i="1" spc="-5" dirty="0">
                <a:latin typeface="Times New Roman"/>
                <a:cs typeface="Times New Roman"/>
              </a:rPr>
              <a:t>the  bandwidths</a:t>
            </a:r>
            <a:r>
              <a:rPr sz="2800" b="1" i="1" dirty="0">
                <a:latin typeface="Times New Roman"/>
                <a:cs typeface="Times New Roman"/>
              </a:rPr>
              <a:t>.	</a:t>
            </a:r>
            <a:r>
              <a:rPr sz="2800" b="1" i="1" spc="-5" dirty="0">
                <a:latin typeface="Times New Roman"/>
                <a:cs typeface="Times New Roman"/>
              </a:rPr>
              <a:t>Th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availabl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bandwidt</a:t>
            </a:r>
            <a:r>
              <a:rPr sz="2800" b="1" i="1" dirty="0">
                <a:latin typeface="Times New Roman"/>
                <a:cs typeface="Times New Roman"/>
              </a:rPr>
              <a:t>h	</a:t>
            </a:r>
            <a:r>
              <a:rPr sz="2800" b="1" i="1" spc="-5" dirty="0">
                <a:latin typeface="Times New Roman"/>
                <a:cs typeface="Times New Roman"/>
              </a:rPr>
              <a:t>fo</a:t>
            </a:r>
            <a:r>
              <a:rPr sz="2800" b="1" i="1" dirty="0">
                <a:latin typeface="Times New Roman"/>
                <a:cs typeface="Times New Roman"/>
              </a:rPr>
              <a:t>r	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57681" y="4339817"/>
            <a:ext cx="807085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direction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3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now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50</a:t>
            </a:r>
            <a:r>
              <a:rPr sz="2800" b="1" i="1" spc="32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kHz,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which</a:t>
            </a:r>
            <a:r>
              <a:rPr sz="2800" b="1" i="1" spc="3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leaves</a:t>
            </a:r>
            <a:r>
              <a:rPr sz="2800" b="1" i="1" spc="3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us</a:t>
            </a:r>
            <a:r>
              <a:rPr sz="2800" b="1" i="1" spc="3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</a:t>
            </a:r>
            <a:r>
              <a:rPr sz="2800" b="1" i="1" spc="3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3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25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kbps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direction.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5.11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6852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5.5	</a:t>
            </a:r>
            <a:r>
              <a:rPr sz="2000" i="1" spc="-5" dirty="0">
                <a:latin typeface="Times New Roman"/>
                <a:cs typeface="Times New Roman"/>
              </a:rPr>
              <a:t>Bandwidth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 full-duplex</a:t>
            </a:r>
            <a:r>
              <a:rPr sz="2000" i="1" spc="-9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ASK</a:t>
            </a:r>
            <a:r>
              <a:rPr sz="2000" i="1" spc="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used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Example 5.4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3941" y="3100577"/>
            <a:ext cx="4898897" cy="166801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5.12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59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5.6	</a:t>
            </a:r>
            <a:r>
              <a:rPr sz="2000" i="1" spc="-5" dirty="0">
                <a:latin typeface="Times New Roman"/>
                <a:cs typeface="Times New Roman"/>
              </a:rPr>
              <a:t>Binary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frequency shift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keying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6769" y="2640329"/>
            <a:ext cx="8637269" cy="266166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5.13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6771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5.5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377724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2173" y="1512824"/>
            <a:ext cx="8529955" cy="3637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2915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have an available bandwidth of 100 kHz which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spans from 200 to 300 </a:t>
            </a:r>
            <a:r>
              <a:rPr sz="2800" b="1" i="1" dirty="0">
                <a:latin typeface="Times New Roman"/>
                <a:cs typeface="Times New Roman"/>
              </a:rPr>
              <a:t>kHz. </a:t>
            </a:r>
            <a:r>
              <a:rPr sz="2800" b="1" i="1" spc="-5" dirty="0">
                <a:latin typeface="Times New Roman"/>
                <a:cs typeface="Times New Roman"/>
              </a:rPr>
              <a:t>What </a:t>
            </a:r>
            <a:r>
              <a:rPr sz="2800" b="1" i="1" dirty="0">
                <a:latin typeface="Times New Roman"/>
                <a:cs typeface="Times New Roman"/>
              </a:rPr>
              <a:t>should </a:t>
            </a:r>
            <a:r>
              <a:rPr sz="2800" b="1" i="1" spc="-5" dirty="0">
                <a:latin typeface="Times New Roman"/>
                <a:cs typeface="Times New Roman"/>
              </a:rPr>
              <a:t>be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carrier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frequency and the bit rate if we modulated our data by </a:t>
            </a:r>
            <a:r>
              <a:rPr sz="2800" b="1" i="1" dirty="0">
                <a:latin typeface="Times New Roman"/>
                <a:cs typeface="Times New Roman"/>
              </a:rPr>
              <a:t> using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FSK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1?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problem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similar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Example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5.3,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but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modulating by using FSK.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midpoint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the band is </a:t>
            </a:r>
            <a:r>
              <a:rPr sz="2800" b="1" i="1" dirty="0">
                <a:latin typeface="Times New Roman"/>
                <a:cs typeface="Times New Roman"/>
              </a:rPr>
              <a:t>at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250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kHz.</a:t>
            </a:r>
            <a:r>
              <a:rPr sz="2800" b="1" i="1" spc="-65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choose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2Δf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50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kHz;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means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11580" y="5397246"/>
            <a:ext cx="8307070" cy="466090"/>
            <a:chOff x="1211580" y="5397246"/>
            <a:chExt cx="8307070" cy="46609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75473" y="5458968"/>
              <a:ext cx="8186166" cy="3352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11580" y="5397258"/>
              <a:ext cx="8307070" cy="95250"/>
            </a:xfrm>
            <a:custGeom>
              <a:avLst/>
              <a:gdLst/>
              <a:ahLst/>
              <a:cxnLst/>
              <a:rect l="l" t="t" r="r" b="b"/>
              <a:pathLst>
                <a:path w="8307070" h="95250">
                  <a:moveTo>
                    <a:pt x="8261350" y="45720"/>
                  </a:moveTo>
                  <a:lnTo>
                    <a:pt x="8249920" y="45720"/>
                  </a:lnTo>
                  <a:lnTo>
                    <a:pt x="57150" y="45720"/>
                  </a:lnTo>
                  <a:lnTo>
                    <a:pt x="45720" y="45720"/>
                  </a:lnTo>
                  <a:lnTo>
                    <a:pt x="45720" y="95250"/>
                  </a:lnTo>
                  <a:lnTo>
                    <a:pt x="57150" y="95250"/>
                  </a:lnTo>
                  <a:lnTo>
                    <a:pt x="57150" y="57150"/>
                  </a:lnTo>
                  <a:lnTo>
                    <a:pt x="8249920" y="57150"/>
                  </a:lnTo>
                  <a:lnTo>
                    <a:pt x="8249920" y="95250"/>
                  </a:lnTo>
                  <a:lnTo>
                    <a:pt x="8261350" y="95250"/>
                  </a:lnTo>
                  <a:lnTo>
                    <a:pt x="8261350" y="45720"/>
                  </a:lnTo>
                  <a:close/>
                </a:path>
                <a:path w="8307070" h="95250">
                  <a:moveTo>
                    <a:pt x="8307070" y="0"/>
                  </a:moveTo>
                  <a:lnTo>
                    <a:pt x="8272780" y="0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95250"/>
                  </a:lnTo>
                  <a:lnTo>
                    <a:pt x="34290" y="95250"/>
                  </a:lnTo>
                  <a:lnTo>
                    <a:pt x="34290" y="34290"/>
                  </a:lnTo>
                  <a:lnTo>
                    <a:pt x="8272780" y="34290"/>
                  </a:lnTo>
                  <a:lnTo>
                    <a:pt x="8272780" y="95250"/>
                  </a:lnTo>
                  <a:lnTo>
                    <a:pt x="8307070" y="95250"/>
                  </a:lnTo>
                  <a:lnTo>
                    <a:pt x="830707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5473" y="5492496"/>
              <a:ext cx="8186166" cy="31318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11580" y="5492508"/>
              <a:ext cx="8307070" cy="370840"/>
            </a:xfrm>
            <a:custGeom>
              <a:avLst/>
              <a:gdLst/>
              <a:ahLst/>
              <a:cxnLst/>
              <a:rect l="l" t="t" r="r" b="b"/>
              <a:pathLst>
                <a:path w="8307070" h="370839">
                  <a:moveTo>
                    <a:pt x="8261350" y="0"/>
                  </a:moveTo>
                  <a:lnTo>
                    <a:pt x="8249920" y="0"/>
                  </a:lnTo>
                  <a:lnTo>
                    <a:pt x="8249920" y="313182"/>
                  </a:lnTo>
                  <a:lnTo>
                    <a:pt x="57150" y="313182"/>
                  </a:lnTo>
                  <a:lnTo>
                    <a:pt x="57150" y="0"/>
                  </a:lnTo>
                  <a:lnTo>
                    <a:pt x="45720" y="0"/>
                  </a:lnTo>
                  <a:lnTo>
                    <a:pt x="45720" y="324612"/>
                  </a:lnTo>
                  <a:lnTo>
                    <a:pt x="57150" y="324612"/>
                  </a:lnTo>
                  <a:lnTo>
                    <a:pt x="8249920" y="324612"/>
                  </a:lnTo>
                  <a:lnTo>
                    <a:pt x="8261350" y="324612"/>
                  </a:lnTo>
                  <a:lnTo>
                    <a:pt x="8261350" y="0"/>
                  </a:lnTo>
                  <a:close/>
                </a:path>
                <a:path w="8307070" h="370839">
                  <a:moveTo>
                    <a:pt x="8307070" y="0"/>
                  </a:moveTo>
                  <a:lnTo>
                    <a:pt x="8272780" y="0"/>
                  </a:lnTo>
                  <a:lnTo>
                    <a:pt x="8272780" y="336042"/>
                  </a:lnTo>
                  <a:lnTo>
                    <a:pt x="34290" y="336042"/>
                  </a:lnTo>
                  <a:lnTo>
                    <a:pt x="34290" y="0"/>
                  </a:lnTo>
                  <a:lnTo>
                    <a:pt x="0" y="0"/>
                  </a:lnTo>
                  <a:lnTo>
                    <a:pt x="0" y="370332"/>
                  </a:lnTo>
                  <a:lnTo>
                    <a:pt x="34290" y="370332"/>
                  </a:lnTo>
                  <a:lnTo>
                    <a:pt x="8272780" y="370332"/>
                  </a:lnTo>
                  <a:lnTo>
                    <a:pt x="8307070" y="370332"/>
                  </a:lnTo>
                  <a:lnTo>
                    <a:pt x="8307070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5.14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869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5.7	</a:t>
            </a:r>
            <a:r>
              <a:rPr sz="2000" i="1" spc="-5" dirty="0">
                <a:latin typeface="Times New Roman"/>
                <a:cs typeface="Times New Roman"/>
              </a:rPr>
              <a:t>Bandwidth 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MFSK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used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5.6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9649" y="2855976"/>
            <a:ext cx="8225790" cy="244601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5.15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6771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5.6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463449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2173" y="1589024"/>
            <a:ext cx="8529320" cy="4872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22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need to send data </a:t>
            </a:r>
            <a:r>
              <a:rPr sz="2800" b="1" i="1" dirty="0">
                <a:latin typeface="Times New Roman"/>
                <a:cs typeface="Times New Roman"/>
              </a:rPr>
              <a:t>3 </a:t>
            </a:r>
            <a:r>
              <a:rPr sz="2800" b="1" i="1" spc="-5" dirty="0">
                <a:latin typeface="Times New Roman"/>
                <a:cs typeface="Times New Roman"/>
              </a:rPr>
              <a:t>bits </a:t>
            </a:r>
            <a:r>
              <a:rPr sz="2800" b="1" i="1" dirty="0">
                <a:latin typeface="Times New Roman"/>
                <a:cs typeface="Times New Roman"/>
              </a:rPr>
              <a:t>at a </a:t>
            </a:r>
            <a:r>
              <a:rPr sz="2800" b="1" i="1" spc="-5" dirty="0">
                <a:latin typeface="Times New Roman"/>
                <a:cs typeface="Times New Roman"/>
              </a:rPr>
              <a:t>time at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bit rate of </a:t>
            </a:r>
            <a:r>
              <a:rPr sz="2800" b="1" i="1" dirty="0">
                <a:latin typeface="Times New Roman"/>
                <a:cs typeface="Times New Roman"/>
              </a:rPr>
              <a:t>3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Mbps. The carrier frequency is 10 MHz. Calculate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number of levels </a:t>
            </a:r>
            <a:r>
              <a:rPr sz="2800" b="1" i="1" spc="-10" dirty="0">
                <a:latin typeface="Times New Roman"/>
                <a:cs typeface="Times New Roman"/>
              </a:rPr>
              <a:t>(different </a:t>
            </a:r>
            <a:r>
              <a:rPr sz="2800" b="1" i="1" spc="-5" dirty="0">
                <a:latin typeface="Times New Roman"/>
                <a:cs typeface="Times New Roman"/>
              </a:rPr>
              <a:t>frequencies), the baud rate,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bandwidth.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can have </a:t>
            </a:r>
            <a:r>
              <a:rPr sz="2800" b="1" i="1" dirty="0">
                <a:latin typeface="Times New Roman"/>
                <a:cs typeface="Times New Roman"/>
              </a:rPr>
              <a:t>L = 23 = 8. The baud </a:t>
            </a:r>
            <a:r>
              <a:rPr sz="2800" b="1" i="1" spc="-5" dirty="0">
                <a:latin typeface="Times New Roman"/>
                <a:cs typeface="Times New Roman"/>
              </a:rPr>
              <a:t>rate is </a:t>
            </a:r>
            <a:r>
              <a:rPr sz="2800" b="1" i="1" dirty="0">
                <a:latin typeface="Times New Roman"/>
                <a:cs typeface="Times New Roman"/>
              </a:rPr>
              <a:t>S = 3 </a:t>
            </a:r>
            <a:r>
              <a:rPr sz="2800" b="1" i="1" spc="-5" dirty="0">
                <a:latin typeface="Times New Roman"/>
                <a:cs typeface="Times New Roman"/>
              </a:rPr>
              <a:t>MHz/3 </a:t>
            </a:r>
            <a:r>
              <a:rPr sz="2800" b="1" i="1" dirty="0">
                <a:latin typeface="Times New Roman"/>
                <a:cs typeface="Times New Roman"/>
              </a:rPr>
              <a:t>=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1000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Mbaud.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means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that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carrier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frequencies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must</a:t>
            </a:r>
            <a:r>
              <a:rPr sz="2800" b="1" i="1" spc="1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</a:t>
            </a:r>
            <a:r>
              <a:rPr sz="2800" b="1" i="1" spc="10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MHz</a:t>
            </a:r>
            <a:r>
              <a:rPr sz="2800" b="1" i="1" spc="1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apart</a:t>
            </a:r>
            <a:r>
              <a:rPr sz="2800" b="1" i="1" spc="1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(2Δf</a:t>
            </a:r>
            <a:r>
              <a:rPr sz="2800" b="1" i="1" spc="1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1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MHz).</a:t>
            </a:r>
            <a:r>
              <a:rPr sz="2800" b="1" i="1" spc="10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</a:t>
            </a:r>
            <a:r>
              <a:rPr sz="2800" b="1" i="1" spc="1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10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= 8 × </a:t>
            </a:r>
            <a:r>
              <a:rPr sz="2800" b="1" i="1" spc="-5" dirty="0">
                <a:latin typeface="Times New Roman"/>
                <a:cs typeface="Times New Roman"/>
              </a:rPr>
              <a:t>1000 </a:t>
            </a:r>
            <a:r>
              <a:rPr sz="2800" b="1" i="1" dirty="0">
                <a:latin typeface="Times New Roman"/>
                <a:cs typeface="Times New Roman"/>
              </a:rPr>
              <a:t>= </a:t>
            </a:r>
            <a:r>
              <a:rPr sz="2800" b="1" i="1" spc="-5" dirty="0">
                <a:latin typeface="Times New Roman"/>
                <a:cs typeface="Times New Roman"/>
              </a:rPr>
              <a:t>8000. Figure 5.8 shows the allocation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frequencies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bandwidth.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5.16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869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5.8	</a:t>
            </a:r>
            <a:r>
              <a:rPr sz="2000" i="1" spc="-5" dirty="0">
                <a:latin typeface="Times New Roman"/>
                <a:cs typeface="Times New Roman"/>
              </a:rPr>
              <a:t>Bandwidth 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MFSK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used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5.6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8239" y="3225545"/>
            <a:ext cx="7742681" cy="18478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5.17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161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5.9	</a:t>
            </a:r>
            <a:r>
              <a:rPr sz="2000" i="1" spc="-5" dirty="0">
                <a:latin typeface="Times New Roman"/>
                <a:cs typeface="Times New Roman"/>
              </a:rPr>
              <a:t>Binary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phase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shift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keying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439" y="3059429"/>
            <a:ext cx="8629650" cy="231876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5.18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288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5.10	</a:t>
            </a:r>
            <a:r>
              <a:rPr sz="2000" i="1" spc="-10" dirty="0">
                <a:latin typeface="Times New Roman"/>
                <a:cs typeface="Times New Roman"/>
              </a:rPr>
              <a:t>Implementation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BASK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5191" y="2813304"/>
            <a:ext cx="8080247" cy="256489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5.19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4737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spc="-40" dirty="0">
                <a:solidFill>
                  <a:srgbClr val="3333CC"/>
                </a:solidFill>
              </a:rPr>
              <a:t>5.11	</a:t>
            </a:r>
            <a:r>
              <a:rPr sz="2000" i="1" spc="-5" dirty="0">
                <a:latin typeface="Times New Roman"/>
                <a:cs typeface="Times New Roman"/>
              </a:rPr>
              <a:t>QPSK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 its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implementation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0199" y="1491995"/>
            <a:ext cx="7258050" cy="491337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5.20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6771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5.7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89024"/>
            <a:ext cx="807402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899794" algn="l"/>
                <a:tab pos="1529715" algn="l"/>
                <a:tab pos="3247390" algn="l"/>
                <a:tab pos="3858260" algn="l"/>
                <a:tab pos="4211955" algn="l"/>
                <a:tab pos="5276850" algn="l"/>
                <a:tab pos="7252334" algn="l"/>
                <a:tab pos="770509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Fin</a:t>
            </a:r>
            <a:r>
              <a:rPr sz="2800" b="1" i="1" dirty="0">
                <a:latin typeface="Times New Roman"/>
                <a:cs typeface="Times New Roman"/>
              </a:rPr>
              <a:t>d	</a:t>
            </a:r>
            <a:r>
              <a:rPr sz="2800" b="1" i="1" spc="-5" dirty="0">
                <a:latin typeface="Times New Roman"/>
                <a:cs typeface="Times New Roman"/>
              </a:rPr>
              <a:t>th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bandwidt</a:t>
            </a:r>
            <a:r>
              <a:rPr sz="2800" b="1" i="1" dirty="0">
                <a:latin typeface="Times New Roman"/>
                <a:cs typeface="Times New Roman"/>
              </a:rPr>
              <a:t>h	</a:t>
            </a:r>
            <a:r>
              <a:rPr sz="2800" b="1" i="1" spc="-5" dirty="0">
                <a:latin typeface="Times New Roman"/>
                <a:cs typeface="Times New Roman"/>
              </a:rPr>
              <a:t>fo</a:t>
            </a:r>
            <a:r>
              <a:rPr sz="2800" b="1" i="1" dirty="0">
                <a:latin typeface="Times New Roman"/>
                <a:cs typeface="Times New Roman"/>
              </a:rPr>
              <a:t>r	a	</a:t>
            </a:r>
            <a:r>
              <a:rPr sz="2800" b="1" i="1" spc="-5" dirty="0">
                <a:latin typeface="Times New Roman"/>
                <a:cs typeface="Times New Roman"/>
              </a:rPr>
              <a:t>signa</a:t>
            </a:r>
            <a:r>
              <a:rPr sz="2800" b="1" i="1" dirty="0">
                <a:latin typeface="Times New Roman"/>
                <a:cs typeface="Times New Roman"/>
              </a:rPr>
              <a:t>l	</a:t>
            </a:r>
            <a:r>
              <a:rPr sz="2800" b="1" i="1" spc="-5" dirty="0">
                <a:latin typeface="Times New Roman"/>
                <a:cs typeface="Times New Roman"/>
              </a:rPr>
              <a:t>transmittin</a:t>
            </a:r>
            <a:r>
              <a:rPr sz="2800" b="1" i="1" dirty="0">
                <a:latin typeface="Times New Roman"/>
                <a:cs typeface="Times New Roman"/>
              </a:rPr>
              <a:t>g	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dirty="0">
                <a:latin typeface="Times New Roman"/>
                <a:cs typeface="Times New Roman"/>
              </a:rPr>
              <a:t>t	</a:t>
            </a:r>
            <a:r>
              <a:rPr sz="2800" b="1" i="1" spc="-5" dirty="0">
                <a:latin typeface="Times New Roman"/>
                <a:cs typeface="Times New Roman"/>
              </a:rPr>
              <a:t>1</a:t>
            </a:r>
            <a:r>
              <a:rPr sz="2800" b="1" i="1" dirty="0">
                <a:latin typeface="Times New Roman"/>
                <a:cs typeface="Times New Roman"/>
              </a:rPr>
              <a:t>2  Mbps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for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QPSK. The</a:t>
            </a:r>
            <a:r>
              <a:rPr sz="2800" b="1" i="1" spc="-5" dirty="0">
                <a:latin typeface="Times New Roman"/>
                <a:cs typeface="Times New Roman"/>
              </a:rPr>
              <a:t> value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0.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5.21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2167" y="3646424"/>
            <a:ext cx="8528050" cy="215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For QPSK, </a:t>
            </a:r>
            <a:r>
              <a:rPr sz="2800" b="1" i="1" dirty="0">
                <a:latin typeface="Times New Roman"/>
                <a:cs typeface="Times New Roman"/>
              </a:rPr>
              <a:t>2 </a:t>
            </a:r>
            <a:r>
              <a:rPr sz="2800" b="1" i="1" spc="-5" dirty="0">
                <a:latin typeface="Times New Roman"/>
                <a:cs typeface="Times New Roman"/>
              </a:rPr>
              <a:t>bits is carried by one signal element. This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means that </a:t>
            </a:r>
            <a:r>
              <a:rPr sz="2800" b="1" i="1" dirty="0">
                <a:latin typeface="Times New Roman"/>
                <a:cs typeface="Times New Roman"/>
              </a:rPr>
              <a:t>r = 2. So the </a:t>
            </a:r>
            <a:r>
              <a:rPr sz="2800" b="1" i="1" spc="-5" dirty="0">
                <a:latin typeface="Times New Roman"/>
                <a:cs typeface="Times New Roman"/>
              </a:rPr>
              <a:t>signal rate (baud rate) is </a:t>
            </a:r>
            <a:r>
              <a:rPr sz="2800" b="1" i="1" dirty="0">
                <a:latin typeface="Times New Roman"/>
                <a:cs typeface="Times New Roman"/>
              </a:rPr>
              <a:t>S = N ×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(1/r) </a:t>
            </a:r>
            <a:r>
              <a:rPr sz="2800" b="1" i="1" dirty="0">
                <a:latin typeface="Times New Roman"/>
                <a:cs typeface="Times New Roman"/>
              </a:rPr>
              <a:t>= 6 </a:t>
            </a:r>
            <a:r>
              <a:rPr sz="2800" b="1" i="1" spc="-5" dirty="0">
                <a:latin typeface="Times New Roman"/>
                <a:cs typeface="Times New Roman"/>
              </a:rPr>
              <a:t>Mbaud. </a:t>
            </a:r>
            <a:r>
              <a:rPr sz="2800" b="1" i="1" spc="-30" dirty="0">
                <a:latin typeface="Times New Roman"/>
                <a:cs typeface="Times New Roman"/>
              </a:rPr>
              <a:t>With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value of </a:t>
            </a:r>
            <a:r>
              <a:rPr sz="2800" b="1" i="1" dirty="0">
                <a:latin typeface="Times New Roman"/>
                <a:cs typeface="Times New Roman"/>
              </a:rPr>
              <a:t>d = 0, </a:t>
            </a:r>
            <a:r>
              <a:rPr sz="2800" b="1" i="1" spc="-5" dirty="0">
                <a:latin typeface="Times New Roman"/>
                <a:cs typeface="Times New Roman"/>
              </a:rPr>
              <a:t>we have </a:t>
            </a:r>
            <a:r>
              <a:rPr sz="2800" b="1" i="1" dirty="0">
                <a:latin typeface="Times New Roman"/>
                <a:cs typeface="Times New Roman"/>
              </a:rPr>
              <a:t>B = S = 6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MHz.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309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5.12	</a:t>
            </a:r>
            <a:r>
              <a:rPr sz="2000" i="1" spc="-5" dirty="0">
                <a:latin typeface="Times New Roman"/>
                <a:cs typeface="Times New Roman"/>
              </a:rPr>
              <a:t>Concept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constellation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diagram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2491" y="2338577"/>
            <a:ext cx="5603747" cy="364921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5.22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6771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5.8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59" y="1817624"/>
            <a:ext cx="8070215" cy="2708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63930" algn="l"/>
                <a:tab pos="1558290" algn="l"/>
                <a:tab pos="3573145" algn="l"/>
                <a:tab pos="5075555" algn="l"/>
                <a:tab pos="5650230" algn="l"/>
                <a:tab pos="6167120" algn="l"/>
                <a:tab pos="697992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Show	</a:t>
            </a:r>
            <a:r>
              <a:rPr sz="2800" b="1" i="1" spc="-5" dirty="0">
                <a:latin typeface="Times New Roman"/>
                <a:cs typeface="Times New Roman"/>
              </a:rPr>
              <a:t>th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constellatio</a:t>
            </a:r>
            <a:r>
              <a:rPr sz="2800" b="1" i="1" dirty="0">
                <a:latin typeface="Times New Roman"/>
                <a:cs typeface="Times New Roman"/>
              </a:rPr>
              <a:t>n	</a:t>
            </a:r>
            <a:r>
              <a:rPr sz="2800" b="1" i="1" spc="-5" dirty="0">
                <a:latin typeface="Times New Roman"/>
                <a:cs typeface="Times New Roman"/>
              </a:rPr>
              <a:t>diagram</a:t>
            </a:r>
            <a:r>
              <a:rPr sz="2800" b="1" i="1" dirty="0">
                <a:latin typeface="Times New Roman"/>
                <a:cs typeface="Times New Roman"/>
              </a:rPr>
              <a:t>s	for	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dirty="0">
                <a:latin typeface="Times New Roman"/>
                <a:cs typeface="Times New Roman"/>
              </a:rPr>
              <a:t>n	</a:t>
            </a:r>
            <a:r>
              <a:rPr sz="2800" b="1" i="1" spc="-5" dirty="0">
                <a:latin typeface="Times New Roman"/>
                <a:cs typeface="Times New Roman"/>
              </a:rPr>
              <a:t>AS</a:t>
            </a:r>
            <a:r>
              <a:rPr sz="2800" b="1" i="1" dirty="0">
                <a:latin typeface="Times New Roman"/>
                <a:cs typeface="Times New Roman"/>
              </a:rPr>
              <a:t>K	</a:t>
            </a:r>
            <a:r>
              <a:rPr sz="2800" b="1" i="1" spc="-5" dirty="0">
                <a:latin typeface="Times New Roman"/>
                <a:cs typeface="Times New Roman"/>
              </a:rPr>
              <a:t>(OOK</a:t>
            </a:r>
            <a:r>
              <a:rPr sz="2800" b="1" i="1" dirty="0">
                <a:latin typeface="Times New Roman"/>
                <a:cs typeface="Times New Roman"/>
              </a:rPr>
              <a:t>),  BPSK,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QPSK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signals.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5.13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three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constellation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diagrams.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5.23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70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5.13	</a:t>
            </a:r>
            <a:r>
              <a:rPr sz="2000" i="1" spc="-5" dirty="0">
                <a:latin typeface="Times New Roman"/>
                <a:cs typeface="Times New Roman"/>
              </a:rPr>
              <a:t>Three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constellation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diagrams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9565" y="3054095"/>
            <a:ext cx="8135873" cy="20192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5.24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32039" y="2711195"/>
            <a:ext cx="8153400" cy="647700"/>
            <a:chOff x="1232039" y="2711195"/>
            <a:chExt cx="8153400" cy="647700"/>
          </a:xfrm>
        </p:grpSpPr>
        <p:sp>
          <p:nvSpPr>
            <p:cNvPr id="8" name="object 8"/>
            <p:cNvSpPr/>
            <p:nvPr/>
          </p:nvSpPr>
          <p:spPr>
            <a:xfrm>
              <a:off x="1232039" y="32826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2039" y="2711195"/>
              <a:ext cx="1143000" cy="56692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270139" y="3412997"/>
            <a:ext cx="8077200" cy="36449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386080">
              <a:lnSpc>
                <a:spcPts val="2595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Quadrature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amplitude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modulation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44123" y="27320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74839" y="3777234"/>
            <a:ext cx="9144000" cy="858519"/>
            <a:chOff x="774839" y="3777234"/>
            <a:chExt cx="9144000" cy="858519"/>
          </a:xfrm>
        </p:grpSpPr>
        <p:sp>
          <p:nvSpPr>
            <p:cNvPr id="13" name="object 13"/>
            <p:cNvSpPr/>
            <p:nvPr/>
          </p:nvSpPr>
          <p:spPr>
            <a:xfrm>
              <a:off x="774839" y="37772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34325" y="45018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70139" y="3777234"/>
            <a:ext cx="8077200" cy="70294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1581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45"/>
              </a:spcBef>
            </a:pPr>
            <a:r>
              <a:rPr sz="3200" b="1" spc="-10" dirty="0">
                <a:latin typeface="Arial"/>
                <a:cs typeface="Arial"/>
              </a:rPr>
              <a:t>combination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1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ASK and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PSK.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5.25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782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5.14	</a:t>
            </a:r>
            <a:r>
              <a:rPr sz="2000" i="1" spc="-5" dirty="0">
                <a:latin typeface="Times New Roman"/>
                <a:cs typeface="Times New Roman"/>
              </a:rPr>
              <a:t>Constellation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diagrams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some QAMs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439" y="3064001"/>
            <a:ext cx="8610600" cy="183641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5.26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137285" algn="l"/>
              </a:tabLst>
            </a:pPr>
            <a:r>
              <a:rPr spc="-5" dirty="0"/>
              <a:t>5-2	ANALOG</a:t>
            </a:r>
            <a:r>
              <a:rPr spc="-185" dirty="0"/>
              <a:t> </a:t>
            </a:r>
            <a:r>
              <a:rPr spc="-5" dirty="0"/>
              <a:t>AND</a:t>
            </a:r>
            <a:r>
              <a:rPr spc="-10" dirty="0"/>
              <a:t> </a:t>
            </a:r>
            <a:r>
              <a:rPr spc="-40" dirty="0"/>
              <a:t>DIGITAL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3429000"/>
            <a:chOff x="774839" y="1206246"/>
            <a:chExt cx="9144000" cy="342900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4839" y="2062746"/>
              <a:ext cx="9144000" cy="2573020"/>
            </a:xfrm>
            <a:custGeom>
              <a:avLst/>
              <a:gdLst/>
              <a:ahLst/>
              <a:cxnLst/>
              <a:rect l="l" t="t" r="r" b="b"/>
              <a:pathLst>
                <a:path w="9144000" h="2573020">
                  <a:moveTo>
                    <a:pt x="9144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4500"/>
                  </a:lnTo>
                  <a:lnTo>
                    <a:pt x="0" y="1715262"/>
                  </a:lnTo>
                  <a:lnTo>
                    <a:pt x="0" y="2572512"/>
                  </a:lnTo>
                  <a:lnTo>
                    <a:pt x="9144000" y="2572512"/>
                  </a:lnTo>
                  <a:lnTo>
                    <a:pt x="9144000" y="1715262"/>
                  </a:lnTo>
                  <a:lnTo>
                    <a:pt x="9144000" y="1714500"/>
                  </a:lnTo>
                  <a:lnTo>
                    <a:pt x="9144000" y="858012"/>
                  </a:lnTo>
                  <a:lnTo>
                    <a:pt x="9144000" y="8572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05973" y="1755139"/>
            <a:ext cx="8147050" cy="441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Analog-to-analog conversion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-5" dirty="0">
                <a:latin typeface="Times New Roman"/>
                <a:cs typeface="Times New Roman"/>
              </a:rPr>
              <a:t>the representation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analog information by an </a:t>
            </a:r>
            <a:r>
              <a:rPr sz="2800" b="1" i="1" dirty="0">
                <a:latin typeface="Times New Roman"/>
                <a:cs typeface="Times New Roman"/>
              </a:rPr>
              <a:t>analog </a:t>
            </a:r>
            <a:r>
              <a:rPr sz="2800" b="1" i="1" spc="-5" dirty="0">
                <a:latin typeface="Times New Roman"/>
                <a:cs typeface="Times New Roman"/>
              </a:rPr>
              <a:t>signal. One may ask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need</a:t>
            </a:r>
            <a:r>
              <a:rPr sz="2800" b="1" i="1" dirty="0">
                <a:latin typeface="Times New Roman"/>
                <a:cs typeface="Times New Roman"/>
              </a:rPr>
              <a:t> to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modulate</a:t>
            </a:r>
            <a:r>
              <a:rPr sz="2800" b="1" i="1" dirty="0">
                <a:latin typeface="Times New Roman"/>
                <a:cs typeface="Times New Roman"/>
              </a:rPr>
              <a:t> an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analog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signal;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it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already analog. Modulation is needed </a:t>
            </a:r>
            <a:r>
              <a:rPr sz="2800" b="1" i="1" dirty="0">
                <a:latin typeface="Times New Roman"/>
                <a:cs typeface="Times New Roman"/>
              </a:rPr>
              <a:t>if </a:t>
            </a:r>
            <a:r>
              <a:rPr sz="2800" b="1" i="1" spc="-5" dirty="0">
                <a:latin typeface="Times New Roman"/>
                <a:cs typeface="Times New Roman"/>
              </a:rPr>
              <a:t>the medium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bandpass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nature or if only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bandpass </a:t>
            </a:r>
            <a:r>
              <a:rPr sz="2800" b="1" i="1" dirty="0">
                <a:latin typeface="Times New Roman"/>
                <a:cs typeface="Times New Roman"/>
              </a:rPr>
              <a:t>channel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available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us.</a:t>
            </a:r>
            <a:endParaRPr sz="2800">
              <a:latin typeface="Times New Roman"/>
              <a:cs typeface="Times New Roman"/>
            </a:endParaRPr>
          </a:p>
          <a:p>
            <a:pPr marL="40640" algn="just">
              <a:lnSpc>
                <a:spcPct val="100000"/>
              </a:lnSpc>
              <a:spcBef>
                <a:spcPts val="2035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5137785" algn="just">
              <a:lnSpc>
                <a:spcPct val="100000"/>
              </a:lnSpc>
              <a:spcBef>
                <a:spcPts val="400"/>
              </a:spcBef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Amplitude Modulation </a:t>
            </a:r>
            <a:r>
              <a:rPr sz="2400" b="1" spc="-5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Frequency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Modulation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Phase</a:t>
            </a:r>
            <a:r>
              <a:rPr sz="24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Modulation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5.27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6464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5.15	</a:t>
            </a:r>
            <a:r>
              <a:rPr sz="2000" i="1" spc="-20" dirty="0">
                <a:latin typeface="Times New Roman"/>
                <a:cs typeface="Times New Roman"/>
              </a:rPr>
              <a:t>Types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analog-to-analog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modulation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0495" y="2835401"/>
            <a:ext cx="8391143" cy="216179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5.28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992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5.16	</a:t>
            </a:r>
            <a:r>
              <a:rPr sz="2000" i="1" spc="-5" dirty="0">
                <a:latin typeface="Times New Roman"/>
                <a:cs typeface="Times New Roman"/>
              </a:rPr>
              <a:t>Amplitude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modulation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765" y="2113026"/>
            <a:ext cx="8821673" cy="395097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5.29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32039" y="2253995"/>
            <a:ext cx="8153400" cy="666750"/>
            <a:chOff x="1232039" y="2253995"/>
            <a:chExt cx="8153400" cy="666750"/>
          </a:xfrm>
        </p:grpSpPr>
        <p:sp>
          <p:nvSpPr>
            <p:cNvPr id="8" name="object 8"/>
            <p:cNvSpPr/>
            <p:nvPr/>
          </p:nvSpPr>
          <p:spPr>
            <a:xfrm>
              <a:off x="1232039" y="2859023"/>
              <a:ext cx="8153400" cy="62230"/>
            </a:xfrm>
            <a:custGeom>
              <a:avLst/>
              <a:gdLst/>
              <a:ahLst/>
              <a:cxnLst/>
              <a:rect l="l" t="t" r="r" b="b"/>
              <a:pathLst>
                <a:path w="8153400" h="62230">
                  <a:moveTo>
                    <a:pt x="8153400" y="61722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61722"/>
                  </a:lnTo>
                  <a:lnTo>
                    <a:pt x="8153400" y="61722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2039" y="2253995"/>
              <a:ext cx="1143000" cy="56692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44123" y="22748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2039" y="2919983"/>
            <a:ext cx="8153400" cy="15240"/>
          </a:xfrm>
          <a:custGeom>
            <a:avLst/>
            <a:gdLst/>
            <a:ahLst/>
            <a:cxnLst/>
            <a:rect l="l" t="t" r="r" b="b"/>
            <a:pathLst>
              <a:path w="8153400" h="15239">
                <a:moveTo>
                  <a:pt x="8153400" y="15239"/>
                </a:moveTo>
                <a:lnTo>
                  <a:pt x="8153400" y="0"/>
                </a:lnTo>
                <a:lnTo>
                  <a:pt x="0" y="0"/>
                </a:lnTo>
                <a:lnTo>
                  <a:pt x="0" y="15240"/>
                </a:lnTo>
                <a:lnTo>
                  <a:pt x="8153400" y="15239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70139" y="3035058"/>
            <a:ext cx="8077200" cy="2457450"/>
          </a:xfrm>
          <a:custGeom>
            <a:avLst/>
            <a:gdLst/>
            <a:ahLst/>
            <a:cxnLst/>
            <a:rect l="l" t="t" r="r" b="b"/>
            <a:pathLst>
              <a:path w="8077200" h="2457450">
                <a:moveTo>
                  <a:pt x="8077200" y="0"/>
                </a:moveTo>
                <a:lnTo>
                  <a:pt x="0" y="0"/>
                </a:lnTo>
                <a:lnTo>
                  <a:pt x="0" y="742188"/>
                </a:lnTo>
                <a:lnTo>
                  <a:pt x="0" y="742950"/>
                </a:lnTo>
                <a:lnTo>
                  <a:pt x="0" y="1599438"/>
                </a:lnTo>
                <a:lnTo>
                  <a:pt x="0" y="1600200"/>
                </a:lnTo>
                <a:lnTo>
                  <a:pt x="0" y="2457450"/>
                </a:lnTo>
                <a:lnTo>
                  <a:pt x="8077200" y="2457450"/>
                </a:lnTo>
                <a:lnTo>
                  <a:pt x="8077200" y="1600200"/>
                </a:lnTo>
                <a:lnTo>
                  <a:pt x="8077200" y="1599438"/>
                </a:lnTo>
                <a:lnTo>
                  <a:pt x="8077200" y="742950"/>
                </a:lnTo>
                <a:lnTo>
                  <a:pt x="8077200" y="742188"/>
                </a:lnTo>
                <a:lnTo>
                  <a:pt x="8077200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95913" y="3545077"/>
            <a:ext cx="7025005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 algn="ctr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total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bandwidth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required</a:t>
            </a:r>
            <a:r>
              <a:rPr sz="3200" b="1" spc="-5" dirty="0">
                <a:latin typeface="Arial"/>
                <a:cs typeface="Arial"/>
              </a:rPr>
              <a:t> for</a:t>
            </a:r>
            <a:r>
              <a:rPr sz="3200" b="1" spc="-1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AM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can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determined</a:t>
            </a:r>
            <a:endParaRPr sz="3200">
              <a:latin typeface="Arial"/>
              <a:cs typeface="Arial"/>
            </a:endParaRPr>
          </a:p>
          <a:p>
            <a:pPr marL="424815" marR="415925"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from the bandwidth of the </a:t>
            </a:r>
            <a:r>
              <a:rPr sz="3200" b="1" spc="-10" dirty="0">
                <a:latin typeface="Arial"/>
                <a:cs typeface="Arial"/>
              </a:rPr>
              <a:t>audio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signal: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10" dirty="0">
                <a:latin typeface="Arial"/>
                <a:cs typeface="Arial"/>
              </a:rPr>
              <a:t>B</a:t>
            </a:r>
            <a:r>
              <a:rPr sz="3150" b="1" spc="15" baseline="-21164" dirty="0">
                <a:latin typeface="Arial"/>
                <a:cs typeface="Arial"/>
              </a:rPr>
              <a:t>AM</a:t>
            </a:r>
            <a:r>
              <a:rPr sz="3150" b="1" spc="442" baseline="-21164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= </a:t>
            </a:r>
            <a:r>
              <a:rPr sz="3200" b="1" spc="-10" dirty="0">
                <a:latin typeface="Arial"/>
                <a:cs typeface="Arial"/>
              </a:rPr>
              <a:t>2B.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74839" y="5491734"/>
            <a:ext cx="9144000" cy="858519"/>
            <a:chOff x="774839" y="5491734"/>
            <a:chExt cx="9144000" cy="858519"/>
          </a:xfrm>
        </p:grpSpPr>
        <p:sp>
          <p:nvSpPr>
            <p:cNvPr id="15" name="object 15"/>
            <p:cNvSpPr/>
            <p:nvPr/>
          </p:nvSpPr>
          <p:spPr>
            <a:xfrm>
              <a:off x="774839" y="54917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3999" y="858012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3999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34325" y="5602224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70139" y="5491734"/>
              <a:ext cx="8077200" cy="72390"/>
            </a:xfrm>
            <a:custGeom>
              <a:avLst/>
              <a:gdLst/>
              <a:ahLst/>
              <a:cxnLst/>
              <a:rect l="l" t="t" r="r" b="b"/>
              <a:pathLst>
                <a:path w="8077200" h="72389">
                  <a:moveTo>
                    <a:pt x="8077200" y="72389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72390"/>
                  </a:lnTo>
                  <a:lnTo>
                    <a:pt x="8077200" y="72389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5.30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731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5.17	</a:t>
            </a:r>
            <a:r>
              <a:rPr sz="2000" i="1" spc="-5" dirty="0">
                <a:latin typeface="Times New Roman"/>
                <a:cs typeface="Times New Roman"/>
              </a:rPr>
              <a:t>AM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band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allocation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6839" y="3595878"/>
            <a:ext cx="6920483" cy="109651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5.31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32039" y="2711195"/>
            <a:ext cx="8153400" cy="647700"/>
            <a:chOff x="1232039" y="2711195"/>
            <a:chExt cx="8153400" cy="647700"/>
          </a:xfrm>
        </p:grpSpPr>
        <p:sp>
          <p:nvSpPr>
            <p:cNvPr id="8" name="object 8"/>
            <p:cNvSpPr/>
            <p:nvPr/>
          </p:nvSpPr>
          <p:spPr>
            <a:xfrm>
              <a:off x="1232039" y="32826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2039" y="2711195"/>
              <a:ext cx="1143000" cy="56692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44123" y="27320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3777234"/>
            <a:ext cx="495300" cy="858519"/>
          </a:xfrm>
          <a:custGeom>
            <a:avLst/>
            <a:gdLst/>
            <a:ahLst/>
            <a:cxnLst/>
            <a:rect l="l" t="t" r="r" b="b"/>
            <a:pathLst>
              <a:path w="495300" h="858520">
                <a:moveTo>
                  <a:pt x="0" y="858012"/>
                </a:moveTo>
                <a:lnTo>
                  <a:pt x="495299" y="858012"/>
                </a:lnTo>
                <a:lnTo>
                  <a:pt x="495299" y="0"/>
                </a:lnTo>
                <a:lnTo>
                  <a:pt x="0" y="0"/>
                </a:lnTo>
                <a:lnTo>
                  <a:pt x="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347339" y="3777234"/>
            <a:ext cx="571500" cy="858519"/>
          </a:xfrm>
          <a:custGeom>
            <a:avLst/>
            <a:gdLst/>
            <a:ahLst/>
            <a:cxnLst/>
            <a:rect l="l" t="t" r="r" b="b"/>
            <a:pathLst>
              <a:path w="571500" h="858520">
                <a:moveTo>
                  <a:pt x="0" y="858012"/>
                </a:moveTo>
                <a:lnTo>
                  <a:pt x="571500" y="858012"/>
                </a:lnTo>
                <a:lnTo>
                  <a:pt x="571500" y="0"/>
                </a:lnTo>
                <a:lnTo>
                  <a:pt x="0" y="0"/>
                </a:lnTo>
                <a:lnTo>
                  <a:pt x="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70139" y="3412997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73355" marR="167005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The total bandwidth </a:t>
            </a:r>
            <a:r>
              <a:rPr sz="3200" b="1" spc="-10" dirty="0">
                <a:latin typeface="Arial"/>
                <a:cs typeface="Arial"/>
              </a:rPr>
              <a:t>required </a:t>
            </a:r>
            <a:r>
              <a:rPr sz="3200" b="1" spc="-5" dirty="0">
                <a:latin typeface="Arial"/>
                <a:cs typeface="Arial"/>
              </a:rPr>
              <a:t>for FM </a:t>
            </a:r>
            <a:r>
              <a:rPr sz="3200" b="1" spc="-10" dirty="0">
                <a:latin typeface="Arial"/>
                <a:cs typeface="Arial"/>
              </a:rPr>
              <a:t>can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determined from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bandwidth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audio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signal: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15" dirty="0">
                <a:latin typeface="Arial"/>
                <a:cs typeface="Arial"/>
              </a:rPr>
              <a:t>B</a:t>
            </a:r>
            <a:r>
              <a:rPr sz="3150" b="1" spc="22" baseline="-21164" dirty="0">
                <a:latin typeface="Arial"/>
                <a:cs typeface="Arial"/>
              </a:rPr>
              <a:t>FM</a:t>
            </a:r>
            <a:r>
              <a:rPr sz="3150" b="1" spc="442" baseline="-21164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=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2(1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+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β)B.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34325" y="50352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5.32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0360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5.18	</a:t>
            </a:r>
            <a:r>
              <a:rPr sz="2000" i="1" spc="-5" dirty="0">
                <a:latin typeface="Times New Roman"/>
                <a:cs typeface="Times New Roman"/>
              </a:rPr>
              <a:t>Frequency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modulation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1039" y="2025395"/>
            <a:ext cx="8839200" cy="433273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5.33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731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5.19	</a:t>
            </a:r>
            <a:r>
              <a:rPr sz="2000" i="1" spc="-5" dirty="0">
                <a:latin typeface="Times New Roman"/>
                <a:cs typeface="Times New Roman"/>
              </a:rPr>
              <a:t>FM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band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allocation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2895" y="3438905"/>
            <a:ext cx="7933943" cy="110109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5.34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542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5.20	</a:t>
            </a:r>
            <a:r>
              <a:rPr sz="2000" i="1" spc="-5" dirty="0">
                <a:latin typeface="Times New Roman"/>
                <a:cs typeface="Times New Roman"/>
              </a:rPr>
              <a:t>Phase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modulation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847" y="1949195"/>
            <a:ext cx="8775192" cy="417195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5.35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32039" y="2101595"/>
            <a:ext cx="8153400" cy="647700"/>
            <a:chOff x="1232039" y="2101595"/>
            <a:chExt cx="8153400" cy="647700"/>
          </a:xfrm>
        </p:grpSpPr>
        <p:sp>
          <p:nvSpPr>
            <p:cNvPr id="8" name="object 8"/>
            <p:cNvSpPr/>
            <p:nvPr/>
          </p:nvSpPr>
          <p:spPr>
            <a:xfrm>
              <a:off x="1232039" y="26730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2039" y="2101595"/>
              <a:ext cx="1143000" cy="56692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44123" y="21224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3777246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495300" y="0"/>
                </a:moveTo>
                <a:lnTo>
                  <a:pt x="0" y="0"/>
                </a:lnTo>
                <a:lnTo>
                  <a:pt x="0" y="858012"/>
                </a:lnTo>
                <a:lnTo>
                  <a:pt x="495300" y="858012"/>
                </a:lnTo>
                <a:lnTo>
                  <a:pt x="495300" y="0"/>
                </a:lnTo>
                <a:close/>
              </a:path>
              <a:path w="9144000" h="858520">
                <a:moveTo>
                  <a:pt x="9144000" y="0"/>
                </a:moveTo>
                <a:lnTo>
                  <a:pt x="8572500" y="0"/>
                </a:lnTo>
                <a:lnTo>
                  <a:pt x="8572500" y="858012"/>
                </a:lnTo>
                <a:lnTo>
                  <a:pt x="9144000" y="85801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70139" y="2803398"/>
            <a:ext cx="8077200" cy="1831339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61290" marR="154940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The total bandwidth </a:t>
            </a:r>
            <a:r>
              <a:rPr sz="3200" b="1" spc="-10" dirty="0">
                <a:latin typeface="Arial"/>
                <a:cs typeface="Arial"/>
              </a:rPr>
              <a:t>required </a:t>
            </a:r>
            <a:r>
              <a:rPr sz="3200" b="1" spc="-5" dirty="0">
                <a:latin typeface="Arial"/>
                <a:cs typeface="Arial"/>
              </a:rPr>
              <a:t>for PM </a:t>
            </a:r>
            <a:r>
              <a:rPr sz="3200" b="1" spc="-10" dirty="0">
                <a:latin typeface="Arial"/>
                <a:cs typeface="Arial"/>
              </a:rPr>
              <a:t>can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determined from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bandwidth</a:t>
            </a:r>
            <a:endParaRPr sz="3200" dirty="0">
              <a:latin typeface="Arial"/>
              <a:cs typeface="Arial"/>
            </a:endParaRPr>
          </a:p>
          <a:p>
            <a:pPr marL="1050290" marR="1046480"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and </a:t>
            </a:r>
            <a:r>
              <a:rPr sz="3200" b="1" spc="-10" dirty="0">
                <a:latin typeface="Arial"/>
                <a:cs typeface="Arial"/>
              </a:rPr>
              <a:t>maximum amplitude </a:t>
            </a:r>
            <a:r>
              <a:rPr sz="3200" b="1" spc="-5" dirty="0">
                <a:latin typeface="Arial"/>
                <a:cs typeface="Arial"/>
              </a:rPr>
              <a:t>of </a:t>
            </a:r>
            <a:r>
              <a:rPr sz="3200" b="1" spc="-10" dirty="0">
                <a:latin typeface="Arial"/>
                <a:cs typeface="Arial"/>
              </a:rPr>
              <a:t>the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modulating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signal: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70255" y="4776470"/>
            <a:ext cx="30772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200" b="1" spc="15" dirty="0">
                <a:latin typeface="Arial"/>
                <a:cs typeface="Arial"/>
              </a:rPr>
              <a:t>B</a:t>
            </a:r>
            <a:r>
              <a:rPr sz="3150" b="1" spc="22" baseline="-21164" dirty="0">
                <a:latin typeface="Arial"/>
                <a:cs typeface="Arial"/>
              </a:rPr>
              <a:t>PM</a:t>
            </a:r>
            <a:r>
              <a:rPr sz="3150" b="1" spc="419" baseline="-21164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=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2(1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+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β)B.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7373" y="6937153"/>
            <a:ext cx="54483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5.36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720595"/>
            <a:ext cx="1143000" cy="3429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17414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74839" y="2062733"/>
            <a:ext cx="9144000" cy="3863340"/>
            <a:chOff x="774839" y="2062733"/>
            <a:chExt cx="9144000" cy="3863340"/>
          </a:xfrm>
        </p:grpSpPr>
        <p:sp>
          <p:nvSpPr>
            <p:cNvPr id="10" name="object 10"/>
            <p:cNvSpPr/>
            <p:nvPr/>
          </p:nvSpPr>
          <p:spPr>
            <a:xfrm>
              <a:off x="774839" y="206273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19">
                  <a:moveTo>
                    <a:pt x="9144000" y="858011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32039" y="22920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70139" y="2422397"/>
              <a:ext cx="8077200" cy="498475"/>
            </a:xfrm>
            <a:custGeom>
              <a:avLst/>
              <a:gdLst/>
              <a:ahLst/>
              <a:cxnLst/>
              <a:rect l="l" t="t" r="r" b="b"/>
              <a:pathLst>
                <a:path w="8077200" h="498475">
                  <a:moveTo>
                    <a:pt x="8077200" y="498348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498348"/>
                  </a:lnTo>
                  <a:lnTo>
                    <a:pt x="8077200" y="498348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2039" y="2063495"/>
              <a:ext cx="1143000" cy="22402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74839" y="291999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0139" y="2919983"/>
              <a:ext cx="8077200" cy="858519"/>
            </a:xfrm>
            <a:custGeom>
              <a:avLst/>
              <a:gdLst/>
              <a:ahLst/>
              <a:cxnLst/>
              <a:rect l="l" t="t" r="r" b="b"/>
              <a:pathLst>
                <a:path w="8077200" h="858520">
                  <a:moveTo>
                    <a:pt x="8077200" y="8580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8077200" y="8580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4839" y="3777246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495300" y="0"/>
                  </a:moveTo>
                  <a:lnTo>
                    <a:pt x="0" y="0"/>
                  </a:lnTo>
                  <a:lnTo>
                    <a:pt x="0" y="858012"/>
                  </a:lnTo>
                  <a:lnTo>
                    <a:pt x="495300" y="858012"/>
                  </a:lnTo>
                  <a:lnTo>
                    <a:pt x="495300" y="0"/>
                  </a:lnTo>
                  <a:close/>
                </a:path>
                <a:path w="9144000" h="85852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8012"/>
                  </a:lnTo>
                  <a:lnTo>
                    <a:pt x="9144000" y="85801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70139" y="3777246"/>
              <a:ext cx="8077200" cy="2148840"/>
            </a:xfrm>
            <a:custGeom>
              <a:avLst/>
              <a:gdLst/>
              <a:ahLst/>
              <a:cxnLst/>
              <a:rect l="l" t="t" r="r" b="b"/>
              <a:pathLst>
                <a:path w="8077200" h="2148840">
                  <a:moveTo>
                    <a:pt x="80772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4500"/>
                  </a:lnTo>
                  <a:lnTo>
                    <a:pt x="0" y="1715262"/>
                  </a:lnTo>
                  <a:lnTo>
                    <a:pt x="0" y="2148840"/>
                  </a:lnTo>
                  <a:lnTo>
                    <a:pt x="8077200" y="2148840"/>
                  </a:lnTo>
                  <a:lnTo>
                    <a:pt x="8077200" y="1715262"/>
                  </a:lnTo>
                  <a:lnTo>
                    <a:pt x="8077200" y="1714500"/>
                  </a:lnTo>
                  <a:lnTo>
                    <a:pt x="8077200" y="858012"/>
                  </a:lnTo>
                  <a:lnTo>
                    <a:pt x="8077200" y="857250"/>
                  </a:lnTo>
                  <a:lnTo>
                    <a:pt x="8077200" y="0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21847" y="2444750"/>
            <a:ext cx="7573645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3200" b="1" spc="-10" dirty="0">
                <a:latin typeface="Arial"/>
                <a:cs typeface="Arial"/>
              </a:rPr>
              <a:t>Bandwidth utilization </a:t>
            </a:r>
            <a:r>
              <a:rPr sz="3200" b="1" spc="-5" dirty="0">
                <a:latin typeface="Arial"/>
                <a:cs typeface="Arial"/>
              </a:rPr>
              <a:t>is the wise use </a:t>
            </a:r>
            <a:r>
              <a:rPr sz="3200" b="1" spc="-10" dirty="0">
                <a:latin typeface="Arial"/>
                <a:cs typeface="Arial"/>
              </a:rPr>
              <a:t>of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available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bandwidth</a:t>
            </a:r>
            <a:r>
              <a:rPr sz="3200" b="1" spc="86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</a:t>
            </a:r>
            <a:r>
              <a:rPr sz="3200" b="1" spc="88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achieve 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specific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goals.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Arial"/>
              <a:cs typeface="Arial"/>
            </a:endParaRPr>
          </a:p>
          <a:p>
            <a:pPr marL="21590" marR="13335" algn="ctr">
              <a:lnSpc>
                <a:spcPct val="100000"/>
              </a:lnSpc>
            </a:pPr>
            <a:r>
              <a:rPr sz="3200" b="1" spc="-10" dirty="0">
                <a:latin typeface="Arial"/>
                <a:cs typeface="Arial"/>
              </a:rPr>
              <a:t>Efficiency </a:t>
            </a:r>
            <a:r>
              <a:rPr sz="3200" b="1" spc="-5" dirty="0">
                <a:latin typeface="Arial"/>
                <a:cs typeface="Arial"/>
              </a:rPr>
              <a:t>can be </a:t>
            </a:r>
            <a:r>
              <a:rPr sz="3200" b="1" spc="-10" dirty="0">
                <a:latin typeface="Arial"/>
                <a:cs typeface="Arial"/>
              </a:rPr>
              <a:t>achieved </a:t>
            </a:r>
            <a:r>
              <a:rPr sz="3200" b="1" spc="-5" dirty="0">
                <a:latin typeface="Arial"/>
                <a:cs typeface="Arial"/>
              </a:rPr>
              <a:t>by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multiplexing; privacy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and </a:t>
            </a:r>
            <a:r>
              <a:rPr sz="3200" b="1" spc="-10" dirty="0">
                <a:latin typeface="Arial"/>
                <a:cs typeface="Arial"/>
              </a:rPr>
              <a:t>anti-jamming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can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achieved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by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spreading.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34325" y="60258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6.2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1697" y="596899"/>
            <a:ext cx="91313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3055">
              <a:lnSpc>
                <a:spcPct val="100000"/>
              </a:lnSpc>
              <a:spcBef>
                <a:spcPts val="95"/>
              </a:spcBef>
              <a:tabLst>
                <a:tab pos="1157605" algn="l"/>
              </a:tabLst>
            </a:pPr>
            <a:r>
              <a:rPr spc="-5" dirty="0"/>
              <a:t>6-1	</a:t>
            </a:r>
            <a:r>
              <a:rPr spc="-30" dirty="0"/>
              <a:t>MULTIPLEXING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140335"/>
            <a:chOff x="774839" y="1206246"/>
            <a:chExt cx="9144000" cy="140335"/>
          </a:xfrm>
        </p:grpSpPr>
        <p:sp>
          <p:nvSpPr>
            <p:cNvPr id="7" name="object 7"/>
            <p:cNvSpPr/>
            <p:nvPr/>
          </p:nvSpPr>
          <p:spPr>
            <a:xfrm>
              <a:off x="774839" y="1206246"/>
              <a:ext cx="9144000" cy="133350"/>
            </a:xfrm>
            <a:custGeom>
              <a:avLst/>
              <a:gdLst/>
              <a:ahLst/>
              <a:cxnLst/>
              <a:rect l="l" t="t" r="r" b="b"/>
              <a:pathLst>
                <a:path w="9144000" h="133350">
                  <a:moveTo>
                    <a:pt x="9144000" y="133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133350"/>
                  </a:lnTo>
                  <a:lnTo>
                    <a:pt x="9144000" y="133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140335"/>
            </a:xfrm>
            <a:custGeom>
              <a:avLst/>
              <a:gdLst/>
              <a:ahLst/>
              <a:cxnLst/>
              <a:rect l="l" t="t" r="r" b="b"/>
              <a:pathLst>
                <a:path w="9144000" h="140334">
                  <a:moveTo>
                    <a:pt x="6858" y="127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127254"/>
                  </a:lnTo>
                  <a:lnTo>
                    <a:pt x="6858" y="127254"/>
                  </a:lnTo>
                  <a:close/>
                </a:path>
                <a:path w="9144000" h="140334">
                  <a:moveTo>
                    <a:pt x="9143987" y="127253"/>
                  </a:moveTo>
                  <a:lnTo>
                    <a:pt x="0" y="127254"/>
                  </a:lnTo>
                  <a:lnTo>
                    <a:pt x="6858" y="133350"/>
                  </a:lnTo>
                  <a:lnTo>
                    <a:pt x="6858" y="140208"/>
                  </a:lnTo>
                  <a:lnTo>
                    <a:pt x="9137904" y="140207"/>
                  </a:lnTo>
                  <a:lnTo>
                    <a:pt x="9137904" y="133350"/>
                  </a:lnTo>
                  <a:lnTo>
                    <a:pt x="9143987" y="127253"/>
                  </a:lnTo>
                  <a:close/>
                </a:path>
                <a:path w="9144000" h="140334">
                  <a:moveTo>
                    <a:pt x="6858" y="140208"/>
                  </a:moveTo>
                  <a:lnTo>
                    <a:pt x="6858" y="133350"/>
                  </a:lnTo>
                  <a:lnTo>
                    <a:pt x="0" y="127254"/>
                  </a:lnTo>
                  <a:lnTo>
                    <a:pt x="0" y="140208"/>
                  </a:lnTo>
                  <a:lnTo>
                    <a:pt x="6858" y="140208"/>
                  </a:lnTo>
                  <a:close/>
                </a:path>
                <a:path w="9144000" h="140334">
                  <a:moveTo>
                    <a:pt x="9144000" y="140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127253"/>
                  </a:lnTo>
                  <a:lnTo>
                    <a:pt x="9143987" y="127253"/>
                  </a:lnTo>
                  <a:lnTo>
                    <a:pt x="9143987" y="140207"/>
                  </a:lnTo>
                  <a:close/>
                </a:path>
                <a:path w="9144000" h="140334">
                  <a:moveTo>
                    <a:pt x="9143987" y="140207"/>
                  </a:moveTo>
                  <a:lnTo>
                    <a:pt x="9143987" y="127253"/>
                  </a:lnTo>
                  <a:lnTo>
                    <a:pt x="9137904" y="133350"/>
                  </a:lnTo>
                  <a:lnTo>
                    <a:pt x="9137904" y="140207"/>
                  </a:lnTo>
                  <a:lnTo>
                    <a:pt x="9143987" y="140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05973" y="1438148"/>
            <a:ext cx="8223884" cy="519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Whenever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medium</a:t>
            </a:r>
            <a:r>
              <a:rPr sz="2800" b="1" i="1" dirty="0">
                <a:latin typeface="Times New Roman"/>
                <a:cs typeface="Times New Roman"/>
              </a:rPr>
              <a:t> linking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two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devices</a:t>
            </a:r>
            <a:r>
              <a:rPr sz="2800" b="1" i="1" dirty="0">
                <a:latin typeface="Times New Roman"/>
                <a:cs typeface="Times New Roman"/>
              </a:rPr>
              <a:t> is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greater</a:t>
            </a:r>
            <a:r>
              <a:rPr sz="2800" b="1" i="1" dirty="0">
                <a:latin typeface="Times New Roman"/>
                <a:cs typeface="Times New Roman"/>
              </a:rPr>
              <a:t> than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needs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devices, the </a:t>
            </a:r>
            <a:r>
              <a:rPr sz="2800" b="1" i="1" dirty="0">
                <a:latin typeface="Times New Roman"/>
                <a:cs typeface="Times New Roman"/>
              </a:rPr>
              <a:t>link </a:t>
            </a:r>
            <a:r>
              <a:rPr sz="2800" b="1" i="1" spc="-5" dirty="0">
                <a:latin typeface="Times New Roman"/>
                <a:cs typeface="Times New Roman"/>
              </a:rPr>
              <a:t>can be shared. Multiplexing is the </a:t>
            </a:r>
            <a:r>
              <a:rPr sz="2800" b="1" i="1" spc="-10" dirty="0">
                <a:latin typeface="Times New Roman"/>
                <a:cs typeface="Times New Roman"/>
              </a:rPr>
              <a:t>set 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techniques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that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allows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simultaneous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transmission of multiple signals across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single data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20" dirty="0">
                <a:latin typeface="Times New Roman"/>
                <a:cs typeface="Times New Roman"/>
              </a:rPr>
              <a:t>link.. </a:t>
            </a:r>
            <a:r>
              <a:rPr sz="2800" b="1" i="1" spc="-5" dirty="0">
                <a:latin typeface="Times New Roman"/>
                <a:cs typeface="Times New Roman"/>
              </a:rPr>
              <a:t>As data and telecommunications </a:t>
            </a:r>
            <a:r>
              <a:rPr sz="2800" b="1" i="1" dirty="0">
                <a:latin typeface="Times New Roman"/>
                <a:cs typeface="Times New Roman"/>
              </a:rPr>
              <a:t>use </a:t>
            </a:r>
            <a:r>
              <a:rPr sz="2800" b="1" i="1" spc="-5" dirty="0">
                <a:latin typeface="Times New Roman"/>
                <a:cs typeface="Times New Roman"/>
              </a:rPr>
              <a:t>increases, </a:t>
            </a:r>
            <a:r>
              <a:rPr sz="2800" b="1" i="1" dirty="0">
                <a:latin typeface="Times New Roman"/>
                <a:cs typeface="Times New Roman"/>
              </a:rPr>
              <a:t>so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does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traffic.</a:t>
            </a:r>
            <a:endParaRPr sz="2800">
              <a:latin typeface="Times New Roman"/>
              <a:cs typeface="Times New Roman"/>
            </a:endParaRPr>
          </a:p>
          <a:p>
            <a:pPr marL="12700" marR="2853055" indent="27940">
              <a:lnSpc>
                <a:spcPct val="103000"/>
              </a:lnSpc>
              <a:spcBef>
                <a:spcPts val="1795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 in this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Frequency-Division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Multiplexing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Wavelength-Division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Multiplexing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Synchronous Time-Division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Multiplexing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Statistical</a:t>
            </a:r>
            <a:r>
              <a:rPr sz="2400" b="1" spc="-6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Time-Division</a:t>
            </a:r>
            <a:r>
              <a:rPr sz="24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Multiplexing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6.3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535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6.1	</a:t>
            </a:r>
            <a:r>
              <a:rPr sz="2000" i="1" spc="-5" dirty="0">
                <a:latin typeface="Times New Roman"/>
                <a:cs typeface="Times New Roman"/>
              </a:rPr>
              <a:t>Dividing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 link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into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channels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639" y="2936748"/>
            <a:ext cx="8465057" cy="206044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6.4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267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6.2	</a:t>
            </a:r>
            <a:r>
              <a:rPr sz="2000" i="1" spc="-5" dirty="0">
                <a:latin typeface="Times New Roman"/>
                <a:cs typeface="Times New Roman"/>
              </a:rPr>
              <a:t>Categories of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multiplexing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647" y="2740151"/>
            <a:ext cx="8317992" cy="240944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6.5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908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6.3	</a:t>
            </a:r>
            <a:r>
              <a:rPr sz="2000" i="1" spc="-5" dirty="0">
                <a:latin typeface="Times New Roman"/>
                <a:cs typeface="Times New Roman"/>
              </a:rPr>
              <a:t>Frequency-division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multiplexing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60" y="2028825"/>
            <a:ext cx="8793480" cy="225856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6.6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id="{3CDF700E-4486-49EF-E04A-E530DFF8535E}"/>
              </a:ext>
            </a:extLst>
          </p:cNvPr>
          <p:cNvSpPr txBox="1"/>
          <p:nvPr/>
        </p:nvSpPr>
        <p:spPr>
          <a:xfrm>
            <a:off x="1267311" y="4422583"/>
            <a:ext cx="789432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49655" marR="5080" indent="-1037590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Arial"/>
                <a:cs typeface="Arial"/>
              </a:rPr>
              <a:t>FDM is an analog multiplexing technique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that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combines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analog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signals.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910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6.4	</a:t>
            </a:r>
            <a:r>
              <a:rPr sz="2000" i="1" spc="-5" dirty="0">
                <a:latin typeface="Times New Roman"/>
                <a:cs typeface="Times New Roman"/>
              </a:rPr>
              <a:t>FDM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process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293" y="2322576"/>
            <a:ext cx="8254745" cy="374142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6.8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635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6.5	</a:t>
            </a:r>
            <a:r>
              <a:rPr sz="2000" i="1" spc="-5" dirty="0">
                <a:latin typeface="Times New Roman"/>
                <a:cs typeface="Times New Roman"/>
              </a:rPr>
              <a:t>FDM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demultiplexing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541" y="2219705"/>
            <a:ext cx="8556497" cy="369189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6.9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6.1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062745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2173" y="1284224"/>
            <a:ext cx="8531860" cy="529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Assume that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voice channel occupies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bandwidth of </a:t>
            </a:r>
            <a:r>
              <a:rPr sz="2800" b="1" i="1" dirty="0">
                <a:latin typeface="Times New Roman"/>
                <a:cs typeface="Times New Roman"/>
              </a:rPr>
              <a:t>4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kHz.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need to combine three voice channels into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link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bandwidth of 12 kHz, from 20 to 32 kHz. Show the </a:t>
            </a:r>
            <a:r>
              <a:rPr sz="2800" b="1" i="1" dirty="0">
                <a:latin typeface="Times New Roman"/>
                <a:cs typeface="Times New Roman"/>
              </a:rPr>
              <a:t> configuration, </a:t>
            </a:r>
            <a:r>
              <a:rPr sz="2800" b="1" i="1" spc="-5" dirty="0">
                <a:latin typeface="Times New Roman"/>
                <a:cs typeface="Times New Roman"/>
              </a:rPr>
              <a:t>using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frequency domain. Assume there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are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no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guard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bands.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172720">
              <a:lnSpc>
                <a:spcPct val="100000"/>
              </a:lnSpc>
            </a:pP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shift </a:t>
            </a:r>
            <a:r>
              <a:rPr sz="2800" b="1" i="1" dirty="0">
                <a:latin typeface="Times New Roman"/>
                <a:cs typeface="Times New Roman"/>
              </a:rPr>
              <a:t>(modulate) each of the three voice channels to a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different </a:t>
            </a:r>
            <a:r>
              <a:rPr sz="2800" b="1" i="1" dirty="0">
                <a:latin typeface="Times New Roman"/>
                <a:cs typeface="Times New Roman"/>
              </a:rPr>
              <a:t>bandwidth, as </a:t>
            </a:r>
            <a:r>
              <a:rPr sz="2800" b="1" i="1" spc="-5" dirty="0">
                <a:latin typeface="Times New Roman"/>
                <a:cs typeface="Times New Roman"/>
              </a:rPr>
              <a:t>shown </a:t>
            </a:r>
            <a:r>
              <a:rPr sz="2800" b="1" i="1" dirty="0">
                <a:latin typeface="Times New Roman"/>
                <a:cs typeface="Times New Roman"/>
              </a:rPr>
              <a:t>in Figure 6.6.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dirty="0">
                <a:latin typeface="Times New Roman"/>
                <a:cs typeface="Times New Roman"/>
              </a:rPr>
              <a:t>use the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20- to 24-kHz bandwidth for the first channel, the 24- to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28-kHz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bandwidth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second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channel,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28-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32-kHz bandwidth for the third one. Then we combine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them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shown</a:t>
            </a:r>
            <a:r>
              <a:rPr sz="2800" b="1" i="1" dirty="0">
                <a:latin typeface="Times New Roman"/>
                <a:cs typeface="Times New Roman"/>
              </a:rPr>
              <a:t> in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6.6.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6.10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539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7239" y="11780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58373" y="599947"/>
            <a:ext cx="2802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6.6	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6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6.1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27239" y="1248155"/>
            <a:ext cx="8763000" cy="5463540"/>
            <a:chOff x="927239" y="1248155"/>
            <a:chExt cx="8763000" cy="54635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0639" y="1248155"/>
              <a:ext cx="8153400" cy="534924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27239" y="6635496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6.11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6.2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91998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463449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82172" y="1817624"/>
            <a:ext cx="8529955" cy="4551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10" dirty="0">
                <a:latin typeface="Times New Roman"/>
                <a:cs typeface="Times New Roman"/>
              </a:rPr>
              <a:t>Five </a:t>
            </a:r>
            <a:r>
              <a:rPr sz="2800" b="1" i="1" spc="-5" dirty="0">
                <a:latin typeface="Times New Roman"/>
                <a:cs typeface="Times New Roman"/>
              </a:rPr>
              <a:t>channels, each with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100-kHz bandwidth, are to </a:t>
            </a:r>
            <a:r>
              <a:rPr sz="2800" b="1" i="1" dirty="0">
                <a:latin typeface="Times New Roman"/>
                <a:cs typeface="Times New Roman"/>
              </a:rPr>
              <a:t>be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multiplexed </a:t>
            </a:r>
            <a:r>
              <a:rPr sz="2800" b="1" i="1" spc="-25" dirty="0">
                <a:latin typeface="Times New Roman"/>
                <a:cs typeface="Times New Roman"/>
              </a:rPr>
              <a:t>together. </a:t>
            </a:r>
            <a:r>
              <a:rPr sz="2800" b="1" i="1" spc="-5" dirty="0">
                <a:latin typeface="Times New Roman"/>
                <a:cs typeface="Times New Roman"/>
              </a:rPr>
              <a:t>What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-5" dirty="0">
                <a:latin typeface="Times New Roman"/>
                <a:cs typeface="Times New Roman"/>
              </a:rPr>
              <a:t>the minimum bandwidth of </a:t>
            </a:r>
            <a:r>
              <a:rPr sz="2800" b="1" i="1" dirty="0">
                <a:latin typeface="Times New Roman"/>
                <a:cs typeface="Times New Roman"/>
              </a:rPr>
              <a:t> th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link </a:t>
            </a:r>
            <a:r>
              <a:rPr sz="2800" b="1" i="1" spc="-5" dirty="0">
                <a:latin typeface="Times New Roman"/>
                <a:cs typeface="Times New Roman"/>
              </a:rPr>
              <a:t>if ther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10" dirty="0">
                <a:latin typeface="Times New Roman"/>
                <a:cs typeface="Times New Roman"/>
              </a:rPr>
              <a:t>need </a:t>
            </a:r>
            <a:r>
              <a:rPr sz="2800" b="1" i="1" dirty="0">
                <a:latin typeface="Times New Roman"/>
                <a:cs typeface="Times New Roman"/>
              </a:rPr>
              <a:t>for a </a:t>
            </a:r>
            <a:r>
              <a:rPr sz="2800" b="1" i="1" spc="-5" dirty="0">
                <a:latin typeface="Times New Roman"/>
                <a:cs typeface="Times New Roman"/>
              </a:rPr>
              <a:t>guard </a:t>
            </a:r>
            <a:r>
              <a:rPr sz="2800" b="1" i="1" dirty="0">
                <a:latin typeface="Times New Roman"/>
                <a:cs typeface="Times New Roman"/>
              </a:rPr>
              <a:t>band of </a:t>
            </a:r>
            <a:r>
              <a:rPr sz="2800" b="1" i="1" spc="-5" dirty="0">
                <a:latin typeface="Times New Roman"/>
                <a:cs typeface="Times New Roman"/>
              </a:rPr>
              <a:t>10 </a:t>
            </a:r>
            <a:r>
              <a:rPr sz="2800" b="1" i="1" dirty="0">
                <a:latin typeface="Times New Roman"/>
                <a:cs typeface="Times New Roman"/>
              </a:rPr>
              <a:t>kHz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between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channels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prevent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interference?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6985">
              <a:lnSpc>
                <a:spcPct val="100000"/>
              </a:lnSpc>
              <a:tabLst>
                <a:tab pos="733425" algn="l"/>
                <a:tab pos="1434465" algn="l"/>
                <a:tab pos="3013710" algn="l"/>
                <a:tab pos="3576320" algn="l"/>
                <a:tab pos="4434840" algn="l"/>
                <a:tab pos="4879340" algn="l"/>
                <a:tab pos="5718175" algn="l"/>
                <a:tab pos="6518909" algn="l"/>
                <a:tab pos="755650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Fo</a:t>
            </a:r>
            <a:r>
              <a:rPr sz="2800" b="1" i="1" dirty="0">
                <a:latin typeface="Times New Roman"/>
                <a:cs typeface="Times New Roman"/>
              </a:rPr>
              <a:t>r	f</a:t>
            </a:r>
            <a:r>
              <a:rPr sz="2800" b="1" i="1" spc="-5" dirty="0">
                <a:latin typeface="Times New Roman"/>
                <a:cs typeface="Times New Roman"/>
              </a:rPr>
              <a:t>iv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channels</a:t>
            </a:r>
            <a:r>
              <a:rPr sz="2800" b="1" i="1" dirty="0">
                <a:latin typeface="Times New Roman"/>
                <a:cs typeface="Times New Roman"/>
              </a:rPr>
              <a:t>,	</a:t>
            </a: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nee</a:t>
            </a:r>
            <a:r>
              <a:rPr sz="2800" b="1" i="1" dirty="0">
                <a:latin typeface="Times New Roman"/>
                <a:cs typeface="Times New Roman"/>
              </a:rPr>
              <a:t>d	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dirty="0">
                <a:latin typeface="Times New Roman"/>
                <a:cs typeface="Times New Roman"/>
              </a:rPr>
              <a:t>t	</a:t>
            </a:r>
            <a:r>
              <a:rPr sz="2800" b="1" i="1" spc="-5" dirty="0">
                <a:latin typeface="Times New Roman"/>
                <a:cs typeface="Times New Roman"/>
              </a:rPr>
              <a:t>leas</a:t>
            </a:r>
            <a:r>
              <a:rPr sz="2800" b="1" i="1" dirty="0">
                <a:latin typeface="Times New Roman"/>
                <a:cs typeface="Times New Roman"/>
              </a:rPr>
              <a:t>t	f</a:t>
            </a:r>
            <a:r>
              <a:rPr sz="2800" b="1" i="1" spc="-5" dirty="0">
                <a:latin typeface="Times New Roman"/>
                <a:cs typeface="Times New Roman"/>
              </a:rPr>
              <a:t>ou</a:t>
            </a:r>
            <a:r>
              <a:rPr sz="2800" b="1" i="1" dirty="0">
                <a:latin typeface="Times New Roman"/>
                <a:cs typeface="Times New Roman"/>
              </a:rPr>
              <a:t>r	g</a:t>
            </a:r>
            <a:r>
              <a:rPr sz="2800" b="1" i="1" spc="-5" dirty="0">
                <a:latin typeface="Times New Roman"/>
                <a:cs typeface="Times New Roman"/>
              </a:rPr>
              <a:t>uar</a:t>
            </a:r>
            <a:r>
              <a:rPr sz="2800" b="1" i="1" dirty="0">
                <a:latin typeface="Times New Roman"/>
                <a:cs typeface="Times New Roman"/>
              </a:rPr>
              <a:t>d	</a:t>
            </a:r>
            <a:r>
              <a:rPr sz="2800" b="1" i="1" spc="-5" dirty="0">
                <a:latin typeface="Times New Roman"/>
                <a:cs typeface="Times New Roman"/>
              </a:rPr>
              <a:t>bands. 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means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that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required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bandwidth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least</a:t>
            </a:r>
            <a:endParaRPr sz="2800">
              <a:latin typeface="Times New Roman"/>
              <a:cs typeface="Times New Roman"/>
            </a:endParaRPr>
          </a:p>
          <a:p>
            <a:pPr marL="2226945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r>
              <a:rPr sz="28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×</a:t>
            </a: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100</a:t>
            </a: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sz="28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×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10</a:t>
            </a:r>
            <a:r>
              <a:rPr sz="28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sz="2800" b="1" i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540</a:t>
            </a:r>
            <a:r>
              <a:rPr sz="28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kHz,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as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shown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6.7.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6.12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802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6.7	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6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6.2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439" y="2964179"/>
            <a:ext cx="7696200" cy="233781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6.13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6.3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91998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4634496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82173" y="1817624"/>
            <a:ext cx="8528685" cy="454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6355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Four data channels (digital), each transmitting at </a:t>
            </a:r>
            <a:r>
              <a:rPr sz="2800" b="1" i="1" dirty="0">
                <a:latin typeface="Times New Roman"/>
                <a:cs typeface="Times New Roman"/>
              </a:rPr>
              <a:t>1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Mbps, use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satellite channel of </a:t>
            </a:r>
            <a:r>
              <a:rPr sz="2800" b="1" i="1" dirty="0">
                <a:latin typeface="Times New Roman"/>
                <a:cs typeface="Times New Roman"/>
              </a:rPr>
              <a:t>1 </a:t>
            </a:r>
            <a:r>
              <a:rPr sz="2800" b="1" i="1" spc="-5" dirty="0">
                <a:latin typeface="Times New Roman"/>
                <a:cs typeface="Times New Roman"/>
              </a:rPr>
              <a:t>MHz. Design </a:t>
            </a:r>
            <a:r>
              <a:rPr sz="2800" b="1" i="1" dirty="0">
                <a:latin typeface="Times New Roman"/>
                <a:cs typeface="Times New Roman"/>
              </a:rPr>
              <a:t>an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appropriate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configuration,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using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FDM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satellite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analog.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divide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into</a:t>
            </a:r>
            <a:r>
              <a:rPr sz="2800" b="1" i="1" dirty="0">
                <a:latin typeface="Times New Roman"/>
                <a:cs typeface="Times New Roman"/>
              </a:rPr>
              <a:t> four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channels, each channel having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250-kHz bandwidth.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 digital channel </a:t>
            </a:r>
            <a:r>
              <a:rPr sz="2800" b="1" i="1" dirty="0">
                <a:latin typeface="Times New Roman"/>
                <a:cs typeface="Times New Roman"/>
              </a:rPr>
              <a:t>of 1 </a:t>
            </a:r>
            <a:r>
              <a:rPr sz="2800" b="1" i="1" spc="-5" dirty="0">
                <a:latin typeface="Times New Roman"/>
                <a:cs typeface="Times New Roman"/>
              </a:rPr>
              <a:t>Mbps is modulated such that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 </a:t>
            </a:r>
            <a:r>
              <a:rPr sz="2800" b="1" i="1" dirty="0">
                <a:latin typeface="Times New Roman"/>
                <a:cs typeface="Times New Roman"/>
              </a:rPr>
              <a:t>4 </a:t>
            </a:r>
            <a:r>
              <a:rPr sz="2800" b="1" i="1" spc="-5" dirty="0">
                <a:latin typeface="Times New Roman"/>
                <a:cs typeface="Times New Roman"/>
              </a:rPr>
              <a:t>bits is modulated to </a:t>
            </a:r>
            <a:r>
              <a:rPr sz="2800" b="1" i="1" dirty="0">
                <a:latin typeface="Times New Roman"/>
                <a:cs typeface="Times New Roman"/>
              </a:rPr>
              <a:t>1 </a:t>
            </a:r>
            <a:r>
              <a:rPr sz="2800" b="1" i="1" spc="-5" dirty="0">
                <a:latin typeface="Times New Roman"/>
                <a:cs typeface="Times New Roman"/>
              </a:rPr>
              <a:t>Hz. One solution is 16-QAM </a:t>
            </a:r>
            <a:r>
              <a:rPr sz="2800" b="1" i="1" dirty="0">
                <a:latin typeface="Times New Roman"/>
                <a:cs typeface="Times New Roman"/>
              </a:rPr>
              <a:t> modulation.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Figure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6.8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shows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one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possible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configuration.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6.14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802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6.8	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6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6.3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3549" y="2470404"/>
            <a:ext cx="6892290" cy="313639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6.15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3324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6.9	</a:t>
            </a:r>
            <a:r>
              <a:rPr sz="2000" i="1" spc="-5" dirty="0">
                <a:latin typeface="Times New Roman"/>
                <a:cs typeface="Times New Roman"/>
              </a:rPr>
              <a:t>Analog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hierarchy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9367" y="2215895"/>
            <a:ext cx="8272271" cy="36194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6.16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6.4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06273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19">
                <a:moveTo>
                  <a:pt x="9144000" y="858011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2173" y="1360424"/>
            <a:ext cx="8300084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The Advanced Mobile Phone System (AMPS) uses two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bands</a:t>
            </a:r>
            <a:r>
              <a:rPr sz="2800" b="1" i="1" dirty="0">
                <a:latin typeface="Times New Roman"/>
                <a:cs typeface="Times New Roman"/>
              </a:rPr>
              <a:t> The </a:t>
            </a:r>
            <a:r>
              <a:rPr sz="2800" b="1" i="1" spc="-5" dirty="0">
                <a:latin typeface="Times New Roman"/>
                <a:cs typeface="Times New Roman"/>
              </a:rPr>
              <a:t>first </a:t>
            </a:r>
            <a:r>
              <a:rPr sz="2800" b="1" i="1" dirty="0">
                <a:latin typeface="Times New Roman"/>
                <a:cs typeface="Times New Roman"/>
              </a:rPr>
              <a:t>band of 824 </a:t>
            </a:r>
            <a:r>
              <a:rPr sz="2800" b="1" i="1" spc="-5" dirty="0">
                <a:latin typeface="Times New Roman"/>
                <a:cs typeface="Times New Roman"/>
              </a:rPr>
              <a:t>to 849 MHz is used </a:t>
            </a:r>
            <a:r>
              <a:rPr sz="2800" b="1" i="1" dirty="0">
                <a:latin typeface="Times New Roman"/>
                <a:cs typeface="Times New Roman"/>
              </a:rPr>
              <a:t>for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sending,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869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894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MHz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used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receiving.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spc="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user</a:t>
            </a:r>
            <a:r>
              <a:rPr sz="2800" b="1" i="1" spc="1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has</a:t>
            </a:r>
            <a:r>
              <a:rPr sz="2800" b="1" i="1" spc="9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1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bandwidth</a:t>
            </a:r>
            <a:r>
              <a:rPr sz="2800" b="1" i="1" spc="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1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30</a:t>
            </a:r>
            <a:r>
              <a:rPr sz="2800" b="1" i="1" spc="1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kHz</a:t>
            </a:r>
            <a:r>
              <a:rPr sz="2800" b="1" i="1" spc="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</a:t>
            </a:r>
            <a:r>
              <a:rPr sz="2800" b="1" i="1" spc="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spc="9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direction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291998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82173" y="3067304"/>
            <a:ext cx="830008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440" algn="l"/>
                <a:tab pos="2065655" algn="l"/>
                <a:tab pos="3290570" algn="l"/>
                <a:tab pos="4100195" algn="l"/>
                <a:tab pos="4869180" algn="l"/>
                <a:tab pos="5837555" algn="l"/>
                <a:tab pos="7239634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Ho</a:t>
            </a:r>
            <a:r>
              <a:rPr sz="2800" b="1" i="1" dirty="0">
                <a:latin typeface="Times New Roman"/>
                <a:cs typeface="Times New Roman"/>
              </a:rPr>
              <a:t>w	</a:t>
            </a:r>
            <a:r>
              <a:rPr sz="2800" b="1" i="1" spc="-10" dirty="0">
                <a:latin typeface="Times New Roman"/>
                <a:cs typeface="Times New Roman"/>
              </a:rPr>
              <a:t>m</a:t>
            </a:r>
            <a:r>
              <a:rPr sz="2800" b="1" i="1" spc="-5" dirty="0">
                <a:latin typeface="Times New Roman"/>
                <a:cs typeface="Times New Roman"/>
              </a:rPr>
              <a:t>an</a:t>
            </a:r>
            <a:r>
              <a:rPr sz="2800" b="1" i="1" dirty="0">
                <a:latin typeface="Times New Roman"/>
                <a:cs typeface="Times New Roman"/>
              </a:rPr>
              <a:t>y	p</a:t>
            </a:r>
            <a:r>
              <a:rPr sz="2800" b="1" i="1" spc="-5" dirty="0">
                <a:latin typeface="Times New Roman"/>
                <a:cs typeface="Times New Roman"/>
              </a:rPr>
              <a:t>eopl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10" dirty="0">
                <a:latin typeface="Times New Roman"/>
                <a:cs typeface="Times New Roman"/>
              </a:rPr>
              <a:t>c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dirty="0">
                <a:latin typeface="Times New Roman"/>
                <a:cs typeface="Times New Roman"/>
              </a:rPr>
              <a:t>n	</a:t>
            </a:r>
            <a:r>
              <a:rPr sz="2800" b="1" i="1" spc="-5" dirty="0">
                <a:latin typeface="Times New Roman"/>
                <a:cs typeface="Times New Roman"/>
              </a:rPr>
              <a:t>us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thei</a:t>
            </a:r>
            <a:r>
              <a:rPr sz="2800" b="1" i="1" dirty="0">
                <a:latin typeface="Times New Roman"/>
                <a:cs typeface="Times New Roman"/>
              </a:rPr>
              <a:t>r	</a:t>
            </a:r>
            <a:r>
              <a:rPr sz="2800" b="1" i="1" spc="-5" dirty="0">
                <a:latin typeface="Times New Roman"/>
                <a:cs typeface="Times New Roman"/>
              </a:rPr>
              <a:t>cellula</a:t>
            </a:r>
            <a:r>
              <a:rPr sz="2800" b="1" i="1" dirty="0">
                <a:latin typeface="Times New Roman"/>
                <a:cs typeface="Times New Roman"/>
              </a:rPr>
              <a:t>r	p</a:t>
            </a:r>
            <a:r>
              <a:rPr sz="2800" b="1" i="1" spc="-5" dirty="0">
                <a:latin typeface="Times New Roman"/>
                <a:cs typeface="Times New Roman"/>
              </a:rPr>
              <a:t>hones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37772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82173" y="3311449"/>
            <a:ext cx="8528050" cy="167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117590">
              <a:lnSpc>
                <a:spcPct val="142900"/>
              </a:lnSpc>
              <a:spcBef>
                <a:spcPts val="9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simultaneously? 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</a:t>
            </a:r>
            <a:r>
              <a:rPr sz="2800" b="1" i="1" spc="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25</a:t>
            </a:r>
            <a:r>
              <a:rPr sz="2800" b="1" i="1" spc="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MHz.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If</a:t>
            </a:r>
            <a:r>
              <a:rPr sz="2800" b="1" i="1" spc="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divide</a:t>
            </a:r>
            <a:r>
              <a:rPr sz="2800" b="1" i="1" spc="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25</a:t>
            </a:r>
            <a:r>
              <a:rPr sz="2800" b="1" i="1" spc="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MHz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by</a:t>
            </a:r>
            <a:r>
              <a:rPr sz="2800" b="1" i="1" spc="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30</a:t>
            </a:r>
            <a:r>
              <a:rPr sz="2800" b="1" i="1" spc="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kHz,</a:t>
            </a:r>
            <a:r>
              <a:rPr sz="2800" b="1" i="1" spc="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6.17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82172" y="4957048"/>
            <a:ext cx="8528685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get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833.33.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20" dirty="0">
                <a:latin typeface="Times New Roman"/>
                <a:cs typeface="Times New Roman"/>
              </a:rPr>
              <a:t>reality,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band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divided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832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channels.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these,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42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control,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which means only 790 channels are available for cellular </a:t>
            </a:r>
            <a:r>
              <a:rPr sz="2800" b="1" i="1" dirty="0">
                <a:latin typeface="Times New Roman"/>
                <a:cs typeface="Times New Roman"/>
              </a:rPr>
              <a:t> phone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users.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154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6.10	</a:t>
            </a:r>
            <a:r>
              <a:rPr sz="2000" i="1" spc="-10" dirty="0">
                <a:latin typeface="Times New Roman"/>
                <a:cs typeface="Times New Roman"/>
              </a:rPr>
              <a:t>Wavelength-division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multiplexing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6799" y="3019805"/>
            <a:ext cx="8016240" cy="228219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6.18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2602229"/>
            <a:ext cx="1143000" cy="31851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44123" y="2622295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4839" y="2919983"/>
            <a:ext cx="9144000" cy="1715770"/>
            <a:chOff x="774839" y="2919983"/>
            <a:chExt cx="9144000" cy="1715770"/>
          </a:xfrm>
        </p:grpSpPr>
        <p:sp>
          <p:nvSpPr>
            <p:cNvPr id="5" name="object 5"/>
            <p:cNvSpPr/>
            <p:nvPr/>
          </p:nvSpPr>
          <p:spPr>
            <a:xfrm>
              <a:off x="774839" y="291998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32039" y="32826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70139" y="3412997"/>
              <a:ext cx="8077200" cy="365125"/>
            </a:xfrm>
            <a:custGeom>
              <a:avLst/>
              <a:gdLst/>
              <a:ahLst/>
              <a:cxnLst/>
              <a:rect l="l" t="t" r="r" b="b"/>
              <a:pathLst>
                <a:path w="8077200" h="365125">
                  <a:moveTo>
                    <a:pt x="8077200" y="364998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364998"/>
                  </a:lnTo>
                  <a:lnTo>
                    <a:pt x="8077200" y="364998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2039" y="2920745"/>
              <a:ext cx="1143000" cy="2476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74839" y="3777233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34325" y="45018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70139" y="3777233"/>
              <a:ext cx="8077200" cy="702945"/>
            </a:xfrm>
            <a:custGeom>
              <a:avLst/>
              <a:gdLst/>
              <a:ahLst/>
              <a:cxnLst/>
              <a:rect l="l" t="t" r="r" b="b"/>
              <a:pathLst>
                <a:path w="8077200" h="702945">
                  <a:moveTo>
                    <a:pt x="8077200" y="702563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702564"/>
                  </a:lnTo>
                  <a:lnTo>
                    <a:pt x="8077200" y="702563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78804" y="3435350"/>
            <a:ext cx="725678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29285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Arial"/>
                <a:cs typeface="Arial"/>
              </a:rPr>
              <a:t>WDM is an analog multiplexing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technique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combine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optical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signals.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6.19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8241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spc="-40" dirty="0">
                <a:solidFill>
                  <a:srgbClr val="3333CC"/>
                </a:solidFill>
              </a:rPr>
              <a:t>6.11	</a:t>
            </a:r>
            <a:r>
              <a:rPr sz="2000" i="1" spc="-5" dirty="0">
                <a:latin typeface="Times New Roman"/>
                <a:cs typeface="Times New Roman"/>
              </a:rPr>
              <a:t>Prisms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wavelength-division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multiplexing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demultiplexing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639" y="3092195"/>
            <a:ext cx="8401050" cy="194005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6.20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206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</a:t>
            </a:r>
            <a:r>
              <a:rPr sz="2400" spc="-45" dirty="0">
                <a:solidFill>
                  <a:srgbClr val="3333CC"/>
                </a:solidFill>
              </a:rPr>
              <a:t>r</a:t>
            </a:r>
            <a:r>
              <a:rPr sz="2400" spc="-5" dirty="0">
                <a:solidFill>
                  <a:srgbClr val="3333CC"/>
                </a:solidFill>
              </a:rPr>
              <a:t>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10" dirty="0">
                <a:solidFill>
                  <a:srgbClr val="3333CC"/>
                </a:solidFill>
              </a:rPr>
              <a:t>6.1</a:t>
            </a:r>
            <a:r>
              <a:rPr sz="2400" spc="-5" dirty="0">
                <a:solidFill>
                  <a:srgbClr val="3333CC"/>
                </a:solidFill>
              </a:rPr>
              <a:t>2	</a:t>
            </a:r>
            <a:r>
              <a:rPr sz="2000" i="1" spc="-10" dirty="0">
                <a:latin typeface="Times New Roman"/>
                <a:cs typeface="Times New Roman"/>
              </a:rPr>
              <a:t>TDM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8373" y="1891713"/>
            <a:ext cx="7979664" cy="303656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0AD55E-23A7-E1AE-4BE8-B0AD15EA4755}"/>
              </a:ext>
            </a:extLst>
          </p:cNvPr>
          <p:cNvSpPr txBox="1"/>
          <p:nvPr/>
        </p:nvSpPr>
        <p:spPr>
          <a:xfrm>
            <a:off x="954050" y="5153740"/>
            <a:ext cx="85836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TDM is a digital multiplexing technique for combining several low-rate  channels into one high-rate one.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828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6.13	</a:t>
            </a:r>
            <a:r>
              <a:rPr sz="2000" i="1" spc="-10" dirty="0">
                <a:latin typeface="Times New Roman"/>
                <a:cs typeface="Times New Roman"/>
              </a:rPr>
              <a:t>Synchronous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time-division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multiplexing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2646426"/>
            <a:ext cx="8153400" cy="303656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6.23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406395"/>
            <a:ext cx="1143000" cy="5143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4272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30540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84398"/>
            <a:ext cx="8077200" cy="145034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29235" marR="221615" indent="485140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19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synchronous</a:t>
            </a:r>
            <a:r>
              <a:rPr sz="3200" b="1" spc="16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TDM,</a:t>
            </a:r>
            <a:r>
              <a:rPr sz="3200" b="1" spc="19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19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data</a:t>
            </a:r>
            <a:r>
              <a:rPr sz="3200" b="1" spc="19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rate </a:t>
            </a:r>
            <a:r>
              <a:rPr sz="3200" b="1" spc="-5" dirty="0">
                <a:latin typeface="Arial"/>
                <a:cs typeface="Arial"/>
              </a:rPr>
              <a:t> of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link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n</a:t>
            </a:r>
            <a:r>
              <a:rPr sz="3200" b="1" i="1" spc="-1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times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35" dirty="0">
                <a:latin typeface="Arial"/>
                <a:cs typeface="Arial"/>
              </a:rPr>
              <a:t>faster,</a:t>
            </a:r>
            <a:r>
              <a:rPr sz="3200" b="1" spc="-5" dirty="0">
                <a:latin typeface="Arial"/>
                <a:cs typeface="Arial"/>
              </a:rPr>
              <a:t> and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unit</a:t>
            </a:r>
            <a:endParaRPr sz="3200">
              <a:latin typeface="Arial"/>
              <a:cs typeface="Arial"/>
            </a:endParaRPr>
          </a:p>
          <a:p>
            <a:pPr marL="1434465">
              <a:lnSpc>
                <a:spcPts val="3465"/>
              </a:lnSpc>
            </a:pPr>
            <a:r>
              <a:rPr sz="3200" b="1" spc="-5" dirty="0">
                <a:latin typeface="Arial"/>
                <a:cs typeface="Arial"/>
              </a:rPr>
              <a:t>duration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 </a:t>
            </a:r>
            <a:r>
              <a:rPr sz="3200" b="1" i="1" spc="-5" dirty="0">
                <a:latin typeface="Arial"/>
                <a:cs typeface="Arial"/>
              </a:rPr>
              <a:t>n</a:t>
            </a:r>
            <a:r>
              <a:rPr sz="3200" b="1" i="1" spc="-1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times </a:t>
            </a:r>
            <a:r>
              <a:rPr sz="3200" b="1" spc="-30" dirty="0">
                <a:latin typeface="Arial"/>
                <a:cs typeface="Arial"/>
              </a:rPr>
              <a:t>shorter.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32039" y="2920745"/>
            <a:ext cx="1143000" cy="52578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774839" y="4634484"/>
            <a:ext cx="9144000" cy="858519"/>
            <a:chOff x="774839" y="4634484"/>
            <a:chExt cx="9144000" cy="858519"/>
          </a:xfrm>
        </p:grpSpPr>
        <p:sp>
          <p:nvSpPr>
            <p:cNvPr id="13" name="object 13"/>
            <p:cNvSpPr/>
            <p:nvPr/>
          </p:nvSpPr>
          <p:spPr>
            <a:xfrm>
              <a:off x="774839" y="463448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34325" y="48066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0139" y="4634484"/>
              <a:ext cx="8077200" cy="104775"/>
            </a:xfrm>
            <a:custGeom>
              <a:avLst/>
              <a:gdLst/>
              <a:ahLst/>
              <a:cxnLst/>
              <a:rect l="l" t="t" r="r" b="b"/>
              <a:pathLst>
                <a:path w="8077200" h="104775">
                  <a:moveTo>
                    <a:pt x="8077200" y="104394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104394"/>
                  </a:lnTo>
                  <a:lnTo>
                    <a:pt x="8077200" y="104394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6.24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6.5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28685" cy="479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spc="1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Figure</a:t>
            </a:r>
            <a:r>
              <a:rPr sz="2800" b="1" i="1" spc="1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6.13,</a:t>
            </a:r>
            <a:r>
              <a:rPr sz="2800" b="1" i="1" spc="1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</a:t>
            </a:r>
            <a:r>
              <a:rPr sz="2800" b="1" i="1" spc="1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spc="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spc="1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spc="1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input</a:t>
            </a:r>
            <a:r>
              <a:rPr sz="2800" b="1" i="1" spc="11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connection</a:t>
            </a:r>
            <a:r>
              <a:rPr sz="2800" b="1" i="1" spc="1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 </a:t>
            </a:r>
            <a:r>
              <a:rPr sz="2800" b="1" i="1" spc="-5" dirty="0">
                <a:latin typeface="Times New Roman"/>
                <a:cs typeface="Times New Roman"/>
              </a:rPr>
              <a:t>kbps. If </a:t>
            </a:r>
            <a:r>
              <a:rPr sz="2800" b="1" i="1" dirty="0">
                <a:latin typeface="Times New Roman"/>
                <a:cs typeface="Times New Roman"/>
              </a:rPr>
              <a:t>1 </a:t>
            </a:r>
            <a:r>
              <a:rPr sz="2800" b="1" i="1" spc="-5" dirty="0">
                <a:latin typeface="Times New Roman"/>
                <a:cs typeface="Times New Roman"/>
              </a:rPr>
              <a:t>bit at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time is multiplexed (a </a:t>
            </a:r>
            <a:r>
              <a:rPr sz="2800" b="1" i="1" spc="-10" dirty="0">
                <a:latin typeface="Times New Roman"/>
                <a:cs typeface="Times New Roman"/>
              </a:rPr>
              <a:t>unit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dirty="0">
                <a:latin typeface="Times New Roman"/>
                <a:cs typeface="Times New Roman"/>
              </a:rPr>
              <a:t>1 </a:t>
            </a:r>
            <a:r>
              <a:rPr sz="2800" b="1" i="1" spc="-5" dirty="0">
                <a:latin typeface="Times New Roman"/>
                <a:cs typeface="Times New Roman"/>
              </a:rPr>
              <a:t>bit),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what is the duration </a:t>
            </a:r>
            <a:r>
              <a:rPr sz="2800" b="1" i="1" dirty="0">
                <a:latin typeface="Times New Roman"/>
                <a:cs typeface="Times New Roman"/>
              </a:rPr>
              <a:t>of (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b="1" i="1" dirty="0">
                <a:latin typeface="Times New Roman"/>
                <a:cs typeface="Times New Roman"/>
              </a:rPr>
              <a:t>) </a:t>
            </a:r>
            <a:r>
              <a:rPr sz="2800" b="1" i="1" spc="-5" dirty="0">
                <a:latin typeface="Times New Roman"/>
                <a:cs typeface="Times New Roman"/>
              </a:rPr>
              <a:t>each input slot, </a:t>
            </a:r>
            <a:r>
              <a:rPr sz="2800" b="1" i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800" b="1" i="1" dirty="0">
                <a:latin typeface="Times New Roman"/>
                <a:cs typeface="Times New Roman"/>
              </a:rPr>
              <a:t>) </a:t>
            </a:r>
            <a:r>
              <a:rPr sz="2800" b="1" i="1" spc="-5" dirty="0">
                <a:latin typeface="Times New Roman"/>
                <a:cs typeface="Times New Roman"/>
              </a:rPr>
              <a:t>each output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slot,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5" dirty="0">
                <a:latin typeface="Times New Roman"/>
                <a:cs typeface="Times New Roman"/>
              </a:rPr>
              <a:t> (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800" b="1" i="1" spc="-5" dirty="0">
                <a:latin typeface="Times New Roman"/>
                <a:cs typeface="Times New Roman"/>
              </a:rPr>
              <a:t>) each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frame?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answer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questions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follows:</a:t>
            </a:r>
            <a:endParaRPr sz="2800">
              <a:latin typeface="Times New Roman"/>
              <a:cs typeface="Times New Roman"/>
            </a:endParaRPr>
          </a:p>
          <a:p>
            <a:pPr marL="469900" marR="192405" indent="-457200">
              <a:lnSpc>
                <a:spcPct val="100000"/>
              </a:lnSpc>
              <a:tabLst>
                <a:tab pos="456565" algn="l"/>
              </a:tabLst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a.	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input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connection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kbps.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means that the bit duration is 1/1000 s or 1 ms. The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duration of the input time </a:t>
            </a:r>
            <a:r>
              <a:rPr sz="2800" b="1" i="1" spc="-5" dirty="0">
                <a:latin typeface="Times New Roman"/>
                <a:cs typeface="Times New Roman"/>
              </a:rPr>
              <a:t>slot </a:t>
            </a:r>
            <a:r>
              <a:rPr sz="2800" b="1" i="1" dirty="0">
                <a:latin typeface="Times New Roman"/>
                <a:cs typeface="Times New Roman"/>
              </a:rPr>
              <a:t>is 1 ms (same as bit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duration).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6.25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371347"/>
            <a:ext cx="46932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5" dirty="0">
                <a:solidFill>
                  <a:srgbClr val="FF0000"/>
                </a:solidFill>
                <a:latin typeface="Arial"/>
                <a:cs typeface="Arial"/>
              </a:rPr>
              <a:t>6.5</a:t>
            </a:r>
            <a:r>
              <a:rPr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2015743"/>
            <a:ext cx="8474075" cy="3439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tabLst>
                <a:tab pos="456565" algn="l"/>
              </a:tabLst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b.	</a:t>
            </a:r>
            <a:r>
              <a:rPr sz="2800" b="1" i="1" dirty="0">
                <a:latin typeface="Times New Roman"/>
                <a:cs typeface="Times New Roman"/>
              </a:rPr>
              <a:t>The duration of each output time </a:t>
            </a:r>
            <a:r>
              <a:rPr sz="2800" b="1" i="1" spc="-5" dirty="0">
                <a:latin typeface="Times New Roman"/>
                <a:cs typeface="Times New Roman"/>
              </a:rPr>
              <a:t>slot </a:t>
            </a:r>
            <a:r>
              <a:rPr sz="2800" b="1" i="1" dirty="0">
                <a:latin typeface="Times New Roman"/>
                <a:cs typeface="Times New Roman"/>
              </a:rPr>
              <a:t>is one-third of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input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time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slot.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means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duration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output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time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slot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1/3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469265" marR="266700" indent="-457200">
              <a:lnSpc>
                <a:spcPct val="100000"/>
              </a:lnSpc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c. </a:t>
            </a:r>
            <a:r>
              <a:rPr sz="2800" b="1" i="1" spc="-5" dirty="0">
                <a:latin typeface="Times New Roman"/>
                <a:cs typeface="Times New Roman"/>
              </a:rPr>
              <a:t>Each </a:t>
            </a:r>
            <a:r>
              <a:rPr sz="2800" b="1" i="1" dirty="0">
                <a:latin typeface="Times New Roman"/>
                <a:cs typeface="Times New Roman"/>
              </a:rPr>
              <a:t>frame carries three output time </a:t>
            </a:r>
            <a:r>
              <a:rPr sz="2800" b="1" i="1" spc="-5" dirty="0">
                <a:latin typeface="Times New Roman"/>
                <a:cs typeface="Times New Roman"/>
              </a:rPr>
              <a:t>slots. So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duration of a frame is 3 × 1/3 ms, or 1 ms. The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duration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frame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same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duration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input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unit.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6.26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6.6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465580"/>
            <a:ext cx="8530590" cy="520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Figure 6.14 shows synchronous TDM with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data stream </a:t>
            </a:r>
            <a:r>
              <a:rPr sz="2800" b="1" i="1" dirty="0">
                <a:latin typeface="Times New Roman"/>
                <a:cs typeface="Times New Roman"/>
              </a:rPr>
              <a:t> for </a:t>
            </a:r>
            <a:r>
              <a:rPr sz="2800" b="1" i="1" spc="-5" dirty="0">
                <a:latin typeface="Times New Roman"/>
                <a:cs typeface="Times New Roman"/>
              </a:rPr>
              <a:t>each input </a:t>
            </a:r>
            <a:r>
              <a:rPr sz="2800" b="1" i="1" dirty="0">
                <a:latin typeface="Times New Roman"/>
                <a:cs typeface="Times New Roman"/>
              </a:rPr>
              <a:t>and one </a:t>
            </a:r>
            <a:r>
              <a:rPr sz="2800" b="1" i="1" spc="-5" dirty="0">
                <a:latin typeface="Times New Roman"/>
                <a:cs typeface="Times New Roman"/>
              </a:rPr>
              <a:t>data stream for the </a:t>
            </a:r>
            <a:r>
              <a:rPr sz="2800" b="1" i="1" dirty="0">
                <a:latin typeface="Times New Roman"/>
                <a:cs typeface="Times New Roman"/>
              </a:rPr>
              <a:t>output. The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unit</a:t>
            </a:r>
            <a:r>
              <a:rPr sz="2800" b="1" i="1" spc="3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3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</a:t>
            </a:r>
            <a:r>
              <a:rPr sz="2800" b="1" i="1" spc="3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3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3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bit.</a:t>
            </a:r>
            <a:r>
              <a:rPr sz="2800" b="1" i="1" spc="3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Find</a:t>
            </a:r>
            <a:r>
              <a:rPr sz="2800" b="1" i="1" spc="3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b="1" i="1" spc="-5" dirty="0">
                <a:latin typeface="Times New Roman"/>
                <a:cs typeface="Times New Roman"/>
              </a:rPr>
              <a:t>)</a:t>
            </a:r>
            <a:r>
              <a:rPr sz="2800" b="1" i="1" spc="3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3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input</a:t>
            </a:r>
            <a:r>
              <a:rPr sz="2800" b="1" i="1" spc="3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</a:t>
            </a:r>
            <a:r>
              <a:rPr sz="2800" b="1" i="1" spc="3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duration,</a:t>
            </a:r>
            <a:r>
              <a:rPr sz="2800" b="1" i="1" spc="3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800" b="1" i="1" spc="-5" dirty="0">
                <a:latin typeface="Times New Roman"/>
                <a:cs typeface="Times New Roman"/>
              </a:rPr>
              <a:t>)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 output </a:t>
            </a:r>
            <a:r>
              <a:rPr sz="2800" b="1" i="1" spc="-5" dirty="0">
                <a:latin typeface="Times New Roman"/>
                <a:cs typeface="Times New Roman"/>
              </a:rPr>
              <a:t>bit duration, (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800" b="1" i="1" spc="-5" dirty="0">
                <a:latin typeface="Times New Roman"/>
                <a:cs typeface="Times New Roman"/>
              </a:rPr>
              <a:t>) </a:t>
            </a:r>
            <a:r>
              <a:rPr sz="2800" b="1" i="1" dirty="0">
                <a:latin typeface="Times New Roman"/>
                <a:cs typeface="Times New Roman"/>
              </a:rPr>
              <a:t>the output </a:t>
            </a:r>
            <a:r>
              <a:rPr sz="2800" b="1" i="1" spc="-5" dirty="0">
                <a:latin typeface="Times New Roman"/>
                <a:cs typeface="Times New Roman"/>
              </a:rPr>
              <a:t>bit rate, and </a:t>
            </a:r>
            <a:r>
              <a:rPr sz="2800" b="1" i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2800" b="1" i="1" dirty="0">
                <a:latin typeface="Times New Roman"/>
                <a:cs typeface="Times New Roman"/>
              </a:rPr>
              <a:t>)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output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frame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answer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questions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follows:</a:t>
            </a:r>
            <a:endParaRPr sz="2800">
              <a:latin typeface="Times New Roman"/>
              <a:cs typeface="Times New Roman"/>
            </a:endParaRPr>
          </a:p>
          <a:p>
            <a:pPr marL="434340" marR="7620" indent="-434340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434340" algn="l"/>
                <a:tab pos="434975" algn="l"/>
                <a:tab pos="1162050" algn="l"/>
                <a:tab pos="2087245" algn="l"/>
                <a:tab pos="2616200" algn="l"/>
                <a:tab pos="4034790" algn="l"/>
                <a:tab pos="4426585" algn="l"/>
                <a:tab pos="5034915" algn="l"/>
                <a:tab pos="6235065" algn="l"/>
                <a:tab pos="6686550" algn="l"/>
                <a:tab pos="7294880" algn="l"/>
                <a:tab pos="782447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The	</a:t>
            </a:r>
            <a:r>
              <a:rPr sz="2800" b="1" i="1" spc="-5" dirty="0">
                <a:latin typeface="Times New Roman"/>
                <a:cs typeface="Times New Roman"/>
              </a:rPr>
              <a:t>inp</a:t>
            </a:r>
            <a:r>
              <a:rPr sz="2800" b="1" i="1" dirty="0">
                <a:latin typeface="Times New Roman"/>
                <a:cs typeface="Times New Roman"/>
              </a:rPr>
              <a:t>ut	</a:t>
            </a: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i="1" dirty="0">
                <a:latin typeface="Times New Roman"/>
                <a:cs typeface="Times New Roman"/>
              </a:rPr>
              <a:t>it	</a:t>
            </a:r>
            <a:r>
              <a:rPr sz="2800" b="1" i="1" spc="-5" dirty="0">
                <a:latin typeface="Times New Roman"/>
                <a:cs typeface="Times New Roman"/>
              </a:rPr>
              <a:t>duratio</a:t>
            </a:r>
            <a:r>
              <a:rPr sz="2800" b="1" i="1" dirty="0">
                <a:latin typeface="Times New Roman"/>
                <a:cs typeface="Times New Roman"/>
              </a:rPr>
              <a:t>n	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th</a:t>
            </a:r>
            <a:r>
              <a:rPr sz="2800" b="1" i="1" dirty="0">
                <a:latin typeface="Times New Roman"/>
                <a:cs typeface="Times New Roman"/>
              </a:rPr>
              <a:t>e	i</a:t>
            </a:r>
            <a:r>
              <a:rPr sz="2800" b="1" i="1" spc="-5" dirty="0">
                <a:latin typeface="Times New Roman"/>
                <a:cs typeface="Times New Roman"/>
              </a:rPr>
              <a:t>nvers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i="1" dirty="0">
                <a:latin typeface="Times New Roman"/>
                <a:cs typeface="Times New Roman"/>
              </a:rPr>
              <a:t>f	</a:t>
            </a:r>
            <a:r>
              <a:rPr sz="2800" b="1" i="1" spc="-5" dirty="0">
                <a:latin typeface="Times New Roman"/>
                <a:cs typeface="Times New Roman"/>
              </a:rPr>
              <a:t>th</a:t>
            </a:r>
            <a:r>
              <a:rPr sz="2800" b="1" i="1" dirty="0">
                <a:latin typeface="Times New Roman"/>
                <a:cs typeface="Times New Roman"/>
              </a:rPr>
              <a:t>e	b</a:t>
            </a:r>
            <a:r>
              <a:rPr sz="2800" b="1" i="1" spc="-10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t	</a:t>
            </a:r>
            <a:r>
              <a:rPr sz="2800" b="1" i="1" spc="-5" dirty="0">
                <a:latin typeface="Times New Roman"/>
                <a:cs typeface="Times New Roman"/>
              </a:rPr>
              <a:t>rat</a:t>
            </a:r>
            <a:r>
              <a:rPr sz="2800" b="1" i="1" spc="-10" dirty="0">
                <a:latin typeface="Times New Roman"/>
                <a:cs typeface="Times New Roman"/>
              </a:rPr>
              <a:t>e</a:t>
            </a:r>
            <a:r>
              <a:rPr sz="2800" b="1" i="1" dirty="0">
                <a:latin typeface="Times New Roman"/>
                <a:cs typeface="Times New Roman"/>
              </a:rPr>
              <a:t>:  1/1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Mbps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1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μs.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Times New Roman"/>
              <a:buAutoNum type="alphaLcPeriod"/>
            </a:pPr>
            <a:endParaRPr sz="2900">
              <a:latin typeface="Times New Roman"/>
              <a:cs typeface="Times New Roman"/>
            </a:endParaRPr>
          </a:p>
          <a:p>
            <a:pPr marL="415290" marR="7620" indent="-41529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AutoNum type="alphaLcPeriod"/>
              <a:tabLst>
                <a:tab pos="415290" algn="l"/>
                <a:tab pos="415925" algn="l"/>
                <a:tab pos="1123950" algn="l"/>
                <a:tab pos="2207895" algn="l"/>
                <a:tab pos="2719070" algn="l"/>
                <a:tab pos="4119245" algn="l"/>
                <a:tab pos="4492625" algn="l"/>
                <a:tab pos="6209665" algn="l"/>
                <a:tab pos="6642734" algn="l"/>
                <a:tab pos="7232015" algn="l"/>
                <a:tab pos="813943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Th</a:t>
            </a:r>
            <a:r>
              <a:rPr sz="2800" b="1" i="1" dirty="0">
                <a:latin typeface="Times New Roman"/>
                <a:cs typeface="Times New Roman"/>
              </a:rPr>
              <a:t>e	</a:t>
            </a:r>
            <a:r>
              <a:rPr sz="2800" b="1" i="1" spc="-5" dirty="0">
                <a:latin typeface="Times New Roman"/>
                <a:cs typeface="Times New Roman"/>
              </a:rPr>
              <a:t>outpu</a:t>
            </a:r>
            <a:r>
              <a:rPr sz="2800" b="1" i="1" dirty="0">
                <a:latin typeface="Times New Roman"/>
                <a:cs typeface="Times New Roman"/>
              </a:rPr>
              <a:t>t	b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t	</a:t>
            </a:r>
            <a:r>
              <a:rPr sz="2800" b="1" i="1" spc="-5" dirty="0">
                <a:latin typeface="Times New Roman"/>
                <a:cs typeface="Times New Roman"/>
              </a:rPr>
              <a:t>duratio</a:t>
            </a:r>
            <a:r>
              <a:rPr sz="2800" b="1" i="1" dirty="0">
                <a:latin typeface="Times New Roman"/>
                <a:cs typeface="Times New Roman"/>
              </a:rPr>
              <a:t>n	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one-fourt</a:t>
            </a:r>
            <a:r>
              <a:rPr sz="2800" b="1" i="1" dirty="0">
                <a:latin typeface="Times New Roman"/>
                <a:cs typeface="Times New Roman"/>
              </a:rPr>
              <a:t>h	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i="1" dirty="0">
                <a:latin typeface="Times New Roman"/>
                <a:cs typeface="Times New Roman"/>
              </a:rPr>
              <a:t>f	</a:t>
            </a:r>
            <a:r>
              <a:rPr sz="2800" b="1" i="1" spc="-5" dirty="0">
                <a:latin typeface="Times New Roman"/>
                <a:cs typeface="Times New Roman"/>
              </a:rPr>
              <a:t>th</a:t>
            </a:r>
            <a:r>
              <a:rPr sz="2800" b="1" i="1" dirty="0">
                <a:latin typeface="Times New Roman"/>
                <a:cs typeface="Times New Roman"/>
              </a:rPr>
              <a:t>e	i</a:t>
            </a:r>
            <a:r>
              <a:rPr sz="2800" b="1" i="1" spc="-5" dirty="0">
                <a:latin typeface="Times New Roman"/>
                <a:cs typeface="Times New Roman"/>
              </a:rPr>
              <a:t>npu</a:t>
            </a:r>
            <a:r>
              <a:rPr sz="2800" b="1" i="1" dirty="0">
                <a:latin typeface="Times New Roman"/>
                <a:cs typeface="Times New Roman"/>
              </a:rPr>
              <a:t>t	</a:t>
            </a:r>
            <a:r>
              <a:rPr sz="2800" b="1" i="1" spc="-5" dirty="0">
                <a:latin typeface="Times New Roman"/>
                <a:cs typeface="Times New Roman"/>
              </a:rPr>
              <a:t>bit  duration,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¼ μs.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6.27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371347"/>
            <a:ext cx="46932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5" dirty="0">
                <a:solidFill>
                  <a:srgbClr val="FF0000"/>
                </a:solidFill>
                <a:latin typeface="Arial"/>
                <a:cs typeface="Arial"/>
              </a:rPr>
              <a:t>6.6</a:t>
            </a:r>
            <a:r>
              <a:rPr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062745"/>
            <a:ext cx="9144000" cy="5144770"/>
          </a:xfrm>
          <a:custGeom>
            <a:avLst/>
            <a:gdLst/>
            <a:ahLst/>
            <a:cxnLst/>
            <a:rect l="l" t="t" r="r" b="b"/>
            <a:pathLst>
              <a:path w="9144000" h="5144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5144262"/>
                </a:lnTo>
                <a:lnTo>
                  <a:pt x="9144000" y="514426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2173" y="1665224"/>
            <a:ext cx="8453120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29845" indent="-457200">
              <a:lnSpc>
                <a:spcPct val="100000"/>
              </a:lnSpc>
              <a:spcBef>
                <a:spcPts val="100"/>
              </a:spcBef>
              <a:tabLst>
                <a:tab pos="436245" algn="l"/>
              </a:tabLst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c.	</a:t>
            </a:r>
            <a:r>
              <a:rPr sz="2800" b="1" i="1" dirty="0">
                <a:latin typeface="Times New Roman"/>
                <a:cs typeface="Times New Roman"/>
              </a:rPr>
              <a:t>The output bit </a:t>
            </a:r>
            <a:r>
              <a:rPr sz="2800" b="1" i="1" spc="-5" dirty="0">
                <a:latin typeface="Times New Roman"/>
                <a:cs typeface="Times New Roman"/>
              </a:rPr>
              <a:t>rate </a:t>
            </a:r>
            <a:r>
              <a:rPr sz="2800" b="1" i="1" dirty="0">
                <a:latin typeface="Times New Roman"/>
                <a:cs typeface="Times New Roman"/>
              </a:rPr>
              <a:t>is the inverse </a:t>
            </a:r>
            <a:r>
              <a:rPr sz="2800" b="1" i="1" spc="5" dirty="0">
                <a:latin typeface="Times New Roman"/>
                <a:cs typeface="Times New Roman"/>
              </a:rPr>
              <a:t>of </a:t>
            </a:r>
            <a:r>
              <a:rPr sz="2800" b="1" i="1" dirty="0">
                <a:latin typeface="Times New Roman"/>
                <a:cs typeface="Times New Roman"/>
              </a:rPr>
              <a:t>the output bit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duration or 1/(4μs) or 4 </a:t>
            </a:r>
            <a:r>
              <a:rPr sz="2800" b="1" i="1" spc="-5" dirty="0">
                <a:latin typeface="Times New Roman"/>
                <a:cs typeface="Times New Roman"/>
              </a:rPr>
              <a:t>Mbps. </a:t>
            </a:r>
            <a:r>
              <a:rPr sz="2800" b="1" i="1" dirty="0">
                <a:latin typeface="Times New Roman"/>
                <a:cs typeface="Times New Roman"/>
              </a:rPr>
              <a:t>This can also be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deduced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from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fact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output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times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fast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any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input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rate;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so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output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Mbps</a:t>
            </a:r>
            <a:endParaRPr sz="2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Mbps.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d.</a:t>
            </a:r>
            <a:r>
              <a:rPr sz="2800" b="1" i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always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same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any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input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rate.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So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frame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dirty="0">
                <a:latin typeface="Times New Roman"/>
                <a:cs typeface="Times New Roman"/>
              </a:rPr>
              <a:t> is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1,000,000 frames per </a:t>
            </a:r>
            <a:r>
              <a:rPr sz="2800" b="1" i="1" spc="-5" dirty="0">
                <a:latin typeface="Times New Roman"/>
                <a:cs typeface="Times New Roman"/>
              </a:rPr>
              <a:t>second.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Because we are sending </a:t>
            </a:r>
            <a:r>
              <a:rPr sz="2800" b="1" i="1" dirty="0">
                <a:latin typeface="Times New Roman"/>
                <a:cs typeface="Times New Roman"/>
              </a:rPr>
              <a:t>4 bits in each frame, </a:t>
            </a:r>
            <a:r>
              <a:rPr sz="2800" b="1" i="1" spc="-5" dirty="0">
                <a:latin typeface="Times New Roman"/>
                <a:cs typeface="Times New Roman"/>
              </a:rPr>
              <a:t>we can </a:t>
            </a:r>
            <a:r>
              <a:rPr sz="2800" b="1" i="1" dirty="0">
                <a:latin typeface="Times New Roman"/>
                <a:cs typeface="Times New Roman"/>
              </a:rPr>
              <a:t> verify the </a:t>
            </a:r>
            <a:r>
              <a:rPr sz="2800" b="1" i="1" spc="-5" dirty="0">
                <a:latin typeface="Times New Roman"/>
                <a:cs typeface="Times New Roman"/>
              </a:rPr>
              <a:t>result </a:t>
            </a:r>
            <a:r>
              <a:rPr sz="2800" b="1" i="1" dirty="0">
                <a:latin typeface="Times New Roman"/>
                <a:cs typeface="Times New Roman"/>
              </a:rPr>
              <a:t>of the previous question by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multiplying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frame rate </a:t>
            </a:r>
            <a:r>
              <a:rPr sz="2800" b="1" i="1" spc="10" dirty="0">
                <a:latin typeface="Times New Roman"/>
                <a:cs typeface="Times New Roman"/>
              </a:rPr>
              <a:t>by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number </a:t>
            </a:r>
            <a:r>
              <a:rPr sz="2800" b="1" i="1" spc="5" dirty="0">
                <a:latin typeface="Times New Roman"/>
                <a:cs typeface="Times New Roman"/>
              </a:rPr>
              <a:t>of </a:t>
            </a:r>
            <a:r>
              <a:rPr sz="2800" b="1" i="1" dirty="0">
                <a:latin typeface="Times New Roman"/>
                <a:cs typeface="Times New Roman"/>
              </a:rPr>
              <a:t>bits per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frame.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6.28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95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6.14	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6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6.6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993" y="2863595"/>
            <a:ext cx="8902445" cy="22859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6.29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6.7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6985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Four</a:t>
            </a:r>
            <a:r>
              <a:rPr spc="140" dirty="0"/>
              <a:t> </a:t>
            </a:r>
            <a:r>
              <a:rPr spc="-5" dirty="0"/>
              <a:t>1-kbps</a:t>
            </a:r>
            <a:r>
              <a:rPr spc="140" dirty="0"/>
              <a:t> </a:t>
            </a:r>
            <a:r>
              <a:rPr spc="-5" dirty="0"/>
              <a:t>connections</a:t>
            </a:r>
            <a:r>
              <a:rPr spc="145" dirty="0"/>
              <a:t> </a:t>
            </a:r>
            <a:r>
              <a:rPr spc="-5" dirty="0"/>
              <a:t>are</a:t>
            </a:r>
            <a:r>
              <a:rPr spc="135" dirty="0"/>
              <a:t> </a:t>
            </a:r>
            <a:r>
              <a:rPr spc="-5" dirty="0"/>
              <a:t>multiplexed</a:t>
            </a:r>
            <a:r>
              <a:rPr spc="145" dirty="0"/>
              <a:t> </a:t>
            </a:r>
            <a:r>
              <a:rPr spc="-25" dirty="0"/>
              <a:t>together.</a:t>
            </a:r>
            <a:r>
              <a:rPr spc="14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5" dirty="0"/>
              <a:t>unit </a:t>
            </a:r>
            <a:r>
              <a:rPr spc="-685" dirty="0"/>
              <a:t> </a:t>
            </a:r>
            <a:r>
              <a:rPr spc="-5" dirty="0"/>
              <a:t>is</a:t>
            </a:r>
            <a:r>
              <a:rPr spc="50" dirty="0"/>
              <a:t> </a:t>
            </a:r>
            <a:r>
              <a:rPr dirty="0"/>
              <a:t>1</a:t>
            </a:r>
            <a:r>
              <a:rPr spc="50" dirty="0"/>
              <a:t> </a:t>
            </a:r>
            <a:r>
              <a:rPr spc="-5" dirty="0"/>
              <a:t>bit.</a:t>
            </a:r>
            <a:r>
              <a:rPr spc="45" dirty="0"/>
              <a:t> </a:t>
            </a:r>
            <a:r>
              <a:rPr spc="-5" dirty="0"/>
              <a:t>Find</a:t>
            </a:r>
            <a:r>
              <a:rPr spc="50" dirty="0"/>
              <a:t> </a:t>
            </a:r>
            <a:r>
              <a:rPr dirty="0"/>
              <a:t>(</a:t>
            </a:r>
            <a:r>
              <a:rPr dirty="0">
                <a:solidFill>
                  <a:srgbClr val="FF0000"/>
                </a:solidFill>
              </a:rPr>
              <a:t>a</a:t>
            </a:r>
            <a:r>
              <a:rPr dirty="0"/>
              <a:t>)</a:t>
            </a:r>
            <a:r>
              <a:rPr spc="50" dirty="0"/>
              <a:t> </a:t>
            </a:r>
            <a:r>
              <a:rPr spc="-5" dirty="0"/>
              <a:t>the</a:t>
            </a:r>
            <a:r>
              <a:rPr spc="50" dirty="0"/>
              <a:t> </a:t>
            </a:r>
            <a:r>
              <a:rPr spc="-5" dirty="0"/>
              <a:t>duration</a:t>
            </a:r>
            <a:r>
              <a:rPr spc="55" dirty="0"/>
              <a:t> </a:t>
            </a:r>
            <a:r>
              <a:rPr dirty="0"/>
              <a:t>of</a:t>
            </a:r>
            <a:r>
              <a:rPr spc="55" dirty="0"/>
              <a:t> </a:t>
            </a:r>
            <a:r>
              <a:rPr dirty="0"/>
              <a:t>1</a:t>
            </a:r>
            <a:r>
              <a:rPr spc="50" dirty="0"/>
              <a:t> </a:t>
            </a:r>
            <a:r>
              <a:rPr spc="-5" dirty="0"/>
              <a:t>bit</a:t>
            </a:r>
            <a:r>
              <a:rPr spc="50" dirty="0"/>
              <a:t> </a:t>
            </a:r>
            <a:r>
              <a:rPr spc="-5" dirty="0"/>
              <a:t>before</a:t>
            </a:r>
            <a:r>
              <a:rPr spc="45" dirty="0"/>
              <a:t> </a:t>
            </a:r>
            <a:r>
              <a:rPr spc="-5" dirty="0"/>
              <a:t>multiplexing,</a:t>
            </a:r>
          </a:p>
          <a:p>
            <a:pPr marL="13335" marR="6985">
              <a:lnSpc>
                <a:spcPct val="100000"/>
              </a:lnSpc>
            </a:pPr>
            <a:r>
              <a:rPr dirty="0"/>
              <a:t>(</a:t>
            </a:r>
            <a:r>
              <a:rPr dirty="0">
                <a:solidFill>
                  <a:srgbClr val="FF0000"/>
                </a:solidFill>
              </a:rPr>
              <a:t>b</a:t>
            </a:r>
            <a:r>
              <a:rPr dirty="0"/>
              <a:t>)</a:t>
            </a:r>
            <a:r>
              <a:rPr spc="140" dirty="0"/>
              <a:t> </a:t>
            </a:r>
            <a:r>
              <a:rPr spc="-5" dirty="0"/>
              <a:t>the</a:t>
            </a:r>
            <a:r>
              <a:rPr spc="140" dirty="0"/>
              <a:t> </a:t>
            </a:r>
            <a:r>
              <a:rPr spc="-5" dirty="0"/>
              <a:t>transmission</a:t>
            </a:r>
            <a:r>
              <a:rPr spc="145" dirty="0"/>
              <a:t> </a:t>
            </a:r>
            <a:r>
              <a:rPr spc="-5" dirty="0"/>
              <a:t>rate</a:t>
            </a:r>
            <a:r>
              <a:rPr spc="135" dirty="0"/>
              <a:t> </a:t>
            </a:r>
            <a:r>
              <a:rPr spc="-5" dirty="0"/>
              <a:t>of</a:t>
            </a:r>
            <a:r>
              <a:rPr spc="145" dirty="0"/>
              <a:t> </a:t>
            </a:r>
            <a:r>
              <a:rPr spc="-5" dirty="0"/>
              <a:t>the</a:t>
            </a:r>
            <a:r>
              <a:rPr spc="135" dirty="0"/>
              <a:t> </a:t>
            </a:r>
            <a:r>
              <a:rPr spc="-5" dirty="0"/>
              <a:t>link,</a:t>
            </a:r>
            <a:r>
              <a:rPr spc="135" dirty="0"/>
              <a:t> </a:t>
            </a:r>
            <a:r>
              <a:rPr spc="-5" dirty="0"/>
              <a:t>(</a:t>
            </a:r>
            <a:r>
              <a:rPr spc="-5" dirty="0">
                <a:solidFill>
                  <a:srgbClr val="FF0000"/>
                </a:solidFill>
              </a:rPr>
              <a:t>c</a:t>
            </a:r>
            <a:r>
              <a:rPr spc="-5" dirty="0"/>
              <a:t>)</a:t>
            </a:r>
            <a:r>
              <a:rPr spc="145" dirty="0"/>
              <a:t> </a:t>
            </a:r>
            <a:r>
              <a:rPr spc="-5" dirty="0"/>
              <a:t>the</a:t>
            </a:r>
            <a:r>
              <a:rPr spc="140" dirty="0"/>
              <a:t> </a:t>
            </a:r>
            <a:r>
              <a:rPr spc="-5" dirty="0"/>
              <a:t>duration</a:t>
            </a:r>
            <a:r>
              <a:rPr spc="145" dirty="0"/>
              <a:t> </a:t>
            </a:r>
            <a:r>
              <a:rPr spc="-5" dirty="0"/>
              <a:t>of</a:t>
            </a:r>
            <a:r>
              <a:rPr spc="150" dirty="0"/>
              <a:t> </a:t>
            </a:r>
            <a:r>
              <a:rPr dirty="0"/>
              <a:t>a </a:t>
            </a:r>
            <a:r>
              <a:rPr spc="-685" dirty="0"/>
              <a:t> </a:t>
            </a:r>
            <a:r>
              <a:rPr dirty="0"/>
              <a:t>time</a:t>
            </a:r>
            <a:r>
              <a:rPr spc="-30" dirty="0"/>
              <a:t> </a:t>
            </a:r>
            <a:r>
              <a:rPr dirty="0"/>
              <a:t>slot,</a:t>
            </a:r>
            <a:r>
              <a:rPr spc="-2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(</a:t>
            </a:r>
            <a:r>
              <a:rPr dirty="0">
                <a:solidFill>
                  <a:srgbClr val="FF0000"/>
                </a:solidFill>
              </a:rPr>
              <a:t>d</a:t>
            </a:r>
            <a:r>
              <a:rPr dirty="0"/>
              <a:t>)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duration</a:t>
            </a:r>
            <a:r>
              <a:rPr spc="-3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frame.</a:t>
            </a:r>
          </a:p>
          <a:p>
            <a:pPr marL="13335">
              <a:lnSpc>
                <a:spcPct val="100000"/>
              </a:lnSpc>
              <a:spcBef>
                <a:spcPts val="2495"/>
              </a:spcBef>
            </a:pPr>
            <a:r>
              <a:rPr dirty="0">
                <a:solidFill>
                  <a:srgbClr val="FF0000"/>
                </a:solidFill>
              </a:rPr>
              <a:t>Solution</a:t>
            </a:r>
          </a:p>
          <a:p>
            <a:pPr marL="13335">
              <a:lnSpc>
                <a:spcPct val="100000"/>
              </a:lnSpc>
            </a:pPr>
            <a:r>
              <a:rPr spc="-110" dirty="0"/>
              <a:t>We</a:t>
            </a:r>
            <a:r>
              <a:rPr spc="-25" dirty="0"/>
              <a:t> </a:t>
            </a:r>
            <a:r>
              <a:rPr dirty="0"/>
              <a:t>can</a:t>
            </a:r>
            <a:r>
              <a:rPr spc="-15" dirty="0"/>
              <a:t> </a:t>
            </a:r>
            <a:r>
              <a:rPr dirty="0"/>
              <a:t>answer</a:t>
            </a:r>
            <a:r>
              <a:rPr spc="-3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questions</a:t>
            </a:r>
            <a:r>
              <a:rPr spc="-35" dirty="0"/>
              <a:t> </a:t>
            </a:r>
            <a:r>
              <a:rPr dirty="0"/>
              <a:t>as</a:t>
            </a:r>
            <a:r>
              <a:rPr spc="-20" dirty="0"/>
              <a:t> </a:t>
            </a:r>
            <a:r>
              <a:rPr dirty="0"/>
              <a:t>follows:</a:t>
            </a:r>
          </a:p>
          <a:p>
            <a:pPr marL="470534" marR="6350" indent="-457200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482600" algn="l"/>
                <a:tab pos="483234" algn="l"/>
              </a:tabLst>
            </a:pPr>
            <a:r>
              <a:rPr spc="-5" dirty="0"/>
              <a:t>The</a:t>
            </a:r>
            <a:r>
              <a:rPr spc="95" dirty="0"/>
              <a:t> </a:t>
            </a:r>
            <a:r>
              <a:rPr spc="-5" dirty="0"/>
              <a:t>duration</a:t>
            </a:r>
            <a:r>
              <a:rPr spc="95" dirty="0"/>
              <a:t> </a:t>
            </a:r>
            <a:r>
              <a:rPr dirty="0"/>
              <a:t>of</a:t>
            </a:r>
            <a:r>
              <a:rPr spc="90" dirty="0"/>
              <a:t> </a:t>
            </a:r>
            <a:r>
              <a:rPr dirty="0"/>
              <a:t>1</a:t>
            </a:r>
            <a:r>
              <a:rPr spc="95" dirty="0"/>
              <a:t> </a:t>
            </a:r>
            <a:r>
              <a:rPr spc="-5" dirty="0"/>
              <a:t>bit</a:t>
            </a:r>
            <a:r>
              <a:rPr spc="90" dirty="0"/>
              <a:t> </a:t>
            </a:r>
            <a:r>
              <a:rPr spc="-5" dirty="0"/>
              <a:t>before</a:t>
            </a:r>
            <a:r>
              <a:rPr spc="90" dirty="0"/>
              <a:t> </a:t>
            </a:r>
            <a:r>
              <a:rPr spc="-5" dirty="0"/>
              <a:t>multiplexing</a:t>
            </a:r>
            <a:r>
              <a:rPr spc="100" dirty="0"/>
              <a:t> </a:t>
            </a:r>
            <a:r>
              <a:rPr spc="-5" dirty="0"/>
              <a:t>is</a:t>
            </a:r>
            <a:r>
              <a:rPr spc="90" dirty="0"/>
              <a:t> </a:t>
            </a:r>
            <a:r>
              <a:rPr dirty="0"/>
              <a:t>1</a:t>
            </a:r>
            <a:r>
              <a:rPr spc="95" dirty="0"/>
              <a:t> </a:t>
            </a:r>
            <a:r>
              <a:rPr dirty="0"/>
              <a:t>/</a:t>
            </a:r>
            <a:r>
              <a:rPr spc="90" dirty="0"/>
              <a:t> </a:t>
            </a:r>
            <a:r>
              <a:rPr dirty="0"/>
              <a:t>1</a:t>
            </a:r>
            <a:r>
              <a:rPr spc="95" dirty="0"/>
              <a:t> </a:t>
            </a:r>
            <a:r>
              <a:rPr spc="-5" dirty="0"/>
              <a:t>kbps, </a:t>
            </a:r>
            <a:r>
              <a:rPr spc="-685" dirty="0"/>
              <a:t> </a:t>
            </a:r>
            <a:r>
              <a:rPr dirty="0"/>
              <a:t>or</a:t>
            </a:r>
            <a:r>
              <a:rPr spc="-20" dirty="0"/>
              <a:t> </a:t>
            </a:r>
            <a:r>
              <a:rPr dirty="0"/>
              <a:t>0.001</a:t>
            </a:r>
            <a:r>
              <a:rPr spc="-15" dirty="0"/>
              <a:t> </a:t>
            </a:r>
            <a:r>
              <a:rPr dirty="0"/>
              <a:t>s</a:t>
            </a:r>
            <a:r>
              <a:rPr spc="-5" dirty="0"/>
              <a:t> </a:t>
            </a:r>
            <a:r>
              <a:rPr dirty="0"/>
              <a:t>(1</a:t>
            </a:r>
            <a:r>
              <a:rPr spc="-5" dirty="0"/>
              <a:t> ms).</a:t>
            </a:r>
          </a:p>
          <a:p>
            <a:pPr marL="635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Times New Roman"/>
              <a:buAutoNum type="alphaLcPeriod"/>
            </a:pPr>
            <a:endParaRPr sz="2900"/>
          </a:p>
          <a:p>
            <a:pPr marL="387350" marR="5080" indent="-387350">
              <a:lnSpc>
                <a:spcPct val="100000"/>
              </a:lnSpc>
              <a:buClr>
                <a:srgbClr val="FF0000"/>
              </a:buClr>
              <a:buAutoNum type="alphaLcPeriod"/>
              <a:tabLst>
                <a:tab pos="387350" algn="l"/>
              </a:tabLst>
            </a:pPr>
            <a:r>
              <a:rPr spc="-5" dirty="0"/>
              <a:t>The</a:t>
            </a:r>
            <a:r>
              <a:rPr spc="125" dirty="0"/>
              <a:t> </a:t>
            </a:r>
            <a:r>
              <a:rPr spc="-5" dirty="0"/>
              <a:t>rate</a:t>
            </a:r>
            <a:r>
              <a:rPr spc="130" dirty="0"/>
              <a:t> </a:t>
            </a:r>
            <a:r>
              <a:rPr dirty="0"/>
              <a:t>of</a:t>
            </a:r>
            <a:r>
              <a:rPr spc="130" dirty="0"/>
              <a:t> </a:t>
            </a:r>
            <a:r>
              <a:rPr spc="-5" dirty="0"/>
              <a:t>the</a:t>
            </a:r>
            <a:r>
              <a:rPr spc="120" dirty="0"/>
              <a:t> </a:t>
            </a:r>
            <a:r>
              <a:rPr spc="-5" dirty="0"/>
              <a:t>link</a:t>
            </a:r>
            <a:r>
              <a:rPr spc="135" dirty="0"/>
              <a:t> </a:t>
            </a:r>
            <a:r>
              <a:rPr spc="-5" dirty="0"/>
              <a:t>is</a:t>
            </a:r>
            <a:r>
              <a:rPr spc="125" dirty="0"/>
              <a:t> </a:t>
            </a:r>
            <a:r>
              <a:rPr dirty="0"/>
              <a:t>4</a:t>
            </a:r>
            <a:r>
              <a:rPr spc="130" dirty="0"/>
              <a:t> </a:t>
            </a:r>
            <a:r>
              <a:rPr spc="-5" dirty="0"/>
              <a:t>times</a:t>
            </a:r>
            <a:r>
              <a:rPr spc="125" dirty="0"/>
              <a:t> </a:t>
            </a:r>
            <a:r>
              <a:rPr spc="-5" dirty="0"/>
              <a:t>the</a:t>
            </a:r>
            <a:r>
              <a:rPr spc="130" dirty="0"/>
              <a:t> </a:t>
            </a:r>
            <a:r>
              <a:rPr spc="-5" dirty="0"/>
              <a:t>rate</a:t>
            </a:r>
            <a:r>
              <a:rPr spc="130" dirty="0"/>
              <a:t> </a:t>
            </a:r>
            <a:r>
              <a:rPr spc="-5" dirty="0"/>
              <a:t>of</a:t>
            </a:r>
            <a:r>
              <a:rPr spc="130" dirty="0"/>
              <a:t> </a:t>
            </a:r>
            <a:r>
              <a:rPr dirty="0"/>
              <a:t>a</a:t>
            </a:r>
            <a:r>
              <a:rPr spc="130" dirty="0"/>
              <a:t> </a:t>
            </a:r>
            <a:r>
              <a:rPr spc="-5" dirty="0"/>
              <a:t>connection, </a:t>
            </a:r>
            <a:r>
              <a:rPr spc="-685" dirty="0"/>
              <a:t> </a:t>
            </a:r>
            <a:r>
              <a:rPr dirty="0"/>
              <a:t>or</a:t>
            </a:r>
            <a:r>
              <a:rPr spc="-20" dirty="0"/>
              <a:t> </a:t>
            </a:r>
            <a:r>
              <a:rPr dirty="0"/>
              <a:t>4</a:t>
            </a:r>
            <a:r>
              <a:rPr spc="-5" dirty="0"/>
              <a:t> </a:t>
            </a:r>
            <a:r>
              <a:rPr dirty="0"/>
              <a:t>kbps.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6.30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371347"/>
            <a:ext cx="46932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5" dirty="0">
                <a:solidFill>
                  <a:srgbClr val="FF0000"/>
                </a:solidFill>
                <a:latin typeface="Arial"/>
                <a:cs typeface="Arial"/>
              </a:rPr>
              <a:t>6.7</a:t>
            </a:r>
            <a:r>
              <a:rPr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893824"/>
            <a:ext cx="8529320" cy="471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c.</a:t>
            </a:r>
            <a:r>
              <a:rPr sz="2800" b="1" i="1" spc="6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6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duration</a:t>
            </a:r>
            <a:r>
              <a:rPr sz="2800" b="1" i="1" spc="6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6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spc="6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time</a:t>
            </a:r>
            <a:r>
              <a:rPr sz="2800" b="1" i="1" spc="6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slot</a:t>
            </a:r>
            <a:r>
              <a:rPr sz="2800" b="1" i="1" spc="6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6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one-fourth</a:t>
            </a:r>
            <a:r>
              <a:rPr sz="2800" b="1" i="1" spc="6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6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duration of each bit before multiplexing, or 1/4 ms or </a:t>
            </a:r>
            <a:r>
              <a:rPr sz="2800" b="1" i="1" dirty="0">
                <a:latin typeface="Times New Roman"/>
                <a:cs typeface="Times New Roman"/>
              </a:rPr>
              <a:t> 250 μs. </a:t>
            </a:r>
            <a:r>
              <a:rPr sz="2800" b="1" i="1" spc="-5" dirty="0">
                <a:latin typeface="Times New Roman"/>
                <a:cs typeface="Times New Roman"/>
              </a:rPr>
              <a:t>Note that we can also calculate this from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 rate of the link, </a:t>
            </a:r>
            <a:r>
              <a:rPr sz="2800" b="1" i="1" dirty="0">
                <a:latin typeface="Times New Roman"/>
                <a:cs typeface="Times New Roman"/>
              </a:rPr>
              <a:t>4 </a:t>
            </a:r>
            <a:r>
              <a:rPr sz="2800" b="1" i="1" spc="-5" dirty="0">
                <a:latin typeface="Times New Roman"/>
                <a:cs typeface="Times New Roman"/>
              </a:rPr>
              <a:t>kbps. The bit duration is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inverse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rate,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1/4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kbps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250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μs.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469900" marR="5080" indent="-457200" algn="just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d.</a:t>
            </a:r>
            <a:r>
              <a:rPr sz="2800" b="1" i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duration </a:t>
            </a:r>
            <a:r>
              <a:rPr sz="2800" b="1" i="1" dirty="0">
                <a:latin typeface="Times New Roman"/>
                <a:cs typeface="Times New Roman"/>
              </a:rPr>
              <a:t>of a </a:t>
            </a:r>
            <a:r>
              <a:rPr sz="2800" b="1" i="1" spc="-5" dirty="0">
                <a:latin typeface="Times New Roman"/>
                <a:cs typeface="Times New Roman"/>
              </a:rPr>
              <a:t>frame is </a:t>
            </a:r>
            <a:r>
              <a:rPr sz="2800" b="1" i="1" spc="-10" dirty="0">
                <a:latin typeface="Times New Roman"/>
                <a:cs typeface="Times New Roman"/>
              </a:rPr>
              <a:t>always </a:t>
            </a:r>
            <a:r>
              <a:rPr sz="2800" b="1" i="1" spc="-5" dirty="0">
                <a:latin typeface="Times New Roman"/>
                <a:cs typeface="Times New Roman"/>
              </a:rPr>
              <a:t>the same as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duration</a:t>
            </a:r>
            <a:r>
              <a:rPr sz="2800" b="1" i="1" spc="50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5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5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unit</a:t>
            </a:r>
            <a:r>
              <a:rPr sz="2800" b="1" i="1" spc="509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before</a:t>
            </a:r>
            <a:r>
              <a:rPr sz="2800" b="1" i="1" spc="5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multiplexing,</a:t>
            </a:r>
            <a:r>
              <a:rPr sz="2800" b="1" i="1" spc="5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509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5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ms.</a:t>
            </a:r>
            <a:r>
              <a:rPr sz="2800" b="1" i="1" spc="509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 </a:t>
            </a:r>
            <a:r>
              <a:rPr sz="2800" b="1" i="1" spc="-5" dirty="0">
                <a:latin typeface="Times New Roman"/>
                <a:cs typeface="Times New Roman"/>
              </a:rPr>
              <a:t>also calculate this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another </a:t>
            </a:r>
            <a:r>
              <a:rPr sz="2800" b="1" i="1" spc="-30" dirty="0">
                <a:latin typeface="Times New Roman"/>
                <a:cs typeface="Times New Roman"/>
              </a:rPr>
              <a:t>way. </a:t>
            </a:r>
            <a:r>
              <a:rPr sz="2800" b="1" i="1" spc="-5" dirty="0">
                <a:latin typeface="Times New Roman"/>
                <a:cs typeface="Times New Roman"/>
              </a:rPr>
              <a:t>Each frame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case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four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time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slots.</a:t>
            </a:r>
            <a:r>
              <a:rPr sz="2800" b="1" i="1" dirty="0">
                <a:latin typeface="Times New Roman"/>
                <a:cs typeface="Times New Roman"/>
              </a:rPr>
              <a:t> So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duration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frame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</a:t>
            </a:r>
            <a:r>
              <a:rPr sz="2800" b="1" i="1" spc="-5" dirty="0">
                <a:latin typeface="Times New Roman"/>
                <a:cs typeface="Times New Roman"/>
              </a:rPr>
              <a:t> times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250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μs,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-5" dirty="0">
                <a:latin typeface="Times New Roman"/>
                <a:cs typeface="Times New Roman"/>
              </a:rPr>
              <a:t> ms.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6.31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9267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6.15	</a:t>
            </a:r>
            <a:r>
              <a:rPr sz="2000" i="1" spc="-5" dirty="0">
                <a:latin typeface="Times New Roman"/>
                <a:cs typeface="Times New Roman"/>
              </a:rPr>
              <a:t>Interleaving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1039" y="2482595"/>
            <a:ext cx="8941307" cy="247040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6.32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6.8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062745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2167" y="1284224"/>
            <a:ext cx="8531225" cy="535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Four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multiplexed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using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TDM.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If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 </a:t>
            </a:r>
            <a:r>
              <a:rPr sz="2800" b="1" i="1" dirty="0">
                <a:latin typeface="Times New Roman"/>
                <a:cs typeface="Times New Roman"/>
              </a:rPr>
              <a:t> channel </a:t>
            </a:r>
            <a:r>
              <a:rPr sz="2800" b="1" i="1" spc="-5" dirty="0">
                <a:latin typeface="Times New Roman"/>
                <a:cs typeface="Times New Roman"/>
              </a:rPr>
              <a:t>sends </a:t>
            </a:r>
            <a:r>
              <a:rPr sz="2800" b="1" i="1" dirty="0">
                <a:latin typeface="Times New Roman"/>
                <a:cs typeface="Times New Roman"/>
              </a:rPr>
              <a:t>100 </a:t>
            </a:r>
            <a:r>
              <a:rPr sz="2800" b="1" i="1" spc="-5" dirty="0">
                <a:latin typeface="Times New Roman"/>
                <a:cs typeface="Times New Roman"/>
              </a:rPr>
              <a:t>bytes /s </a:t>
            </a:r>
            <a:r>
              <a:rPr sz="2800" b="1" i="1" dirty="0">
                <a:latin typeface="Times New Roman"/>
                <a:cs typeface="Times New Roman"/>
              </a:rPr>
              <a:t>and </a:t>
            </a:r>
            <a:r>
              <a:rPr sz="2800" b="1" i="1" spc="-5" dirty="0">
                <a:latin typeface="Times New Roman"/>
                <a:cs typeface="Times New Roman"/>
              </a:rPr>
              <a:t>we multiplex </a:t>
            </a:r>
            <a:r>
              <a:rPr sz="2800" b="1" i="1" dirty="0">
                <a:latin typeface="Times New Roman"/>
                <a:cs typeface="Times New Roman"/>
              </a:rPr>
              <a:t>1 </a:t>
            </a:r>
            <a:r>
              <a:rPr sz="2800" b="1" i="1" spc="-5" dirty="0">
                <a:latin typeface="Times New Roman"/>
                <a:cs typeface="Times New Roman"/>
              </a:rPr>
              <a:t>byte per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channel, show the frame traveling </a:t>
            </a:r>
            <a:r>
              <a:rPr sz="2800" b="1" i="1" dirty="0">
                <a:latin typeface="Times New Roman"/>
                <a:cs typeface="Times New Roman"/>
              </a:rPr>
              <a:t>on </a:t>
            </a:r>
            <a:r>
              <a:rPr sz="2800" b="1" i="1" spc="-5" dirty="0">
                <a:latin typeface="Times New Roman"/>
                <a:cs typeface="Times New Roman"/>
              </a:rPr>
              <a:t>the link, the size of 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3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frame,</a:t>
            </a:r>
            <a:r>
              <a:rPr sz="2800" b="1" i="1" spc="3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3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duration</a:t>
            </a:r>
            <a:r>
              <a:rPr sz="2800" b="1" i="1" spc="3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3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3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frame,</a:t>
            </a:r>
            <a:r>
              <a:rPr sz="2800" b="1" i="1" spc="3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3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</a:t>
            </a:r>
            <a:r>
              <a:rPr sz="2800" b="1" i="1" spc="3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rate,</a:t>
            </a:r>
            <a:r>
              <a:rPr sz="2800" b="1" i="1" spc="3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link.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multiplexer</a:t>
            </a:r>
            <a:r>
              <a:rPr sz="2800" b="1" i="1" dirty="0">
                <a:latin typeface="Times New Roman"/>
                <a:cs typeface="Times New Roman"/>
              </a:rPr>
              <a:t> is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Figure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6.16.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carries </a:t>
            </a:r>
            <a:r>
              <a:rPr sz="2800" b="1" i="1" dirty="0">
                <a:latin typeface="Times New Roman"/>
                <a:cs typeface="Times New Roman"/>
              </a:rPr>
              <a:t>1 </a:t>
            </a:r>
            <a:r>
              <a:rPr sz="2800" b="1" i="1" spc="-5" dirty="0">
                <a:latin typeface="Times New Roman"/>
                <a:cs typeface="Times New Roman"/>
              </a:rPr>
              <a:t>byte from </a:t>
            </a:r>
            <a:r>
              <a:rPr sz="2800" b="1" i="1" spc="-10" dirty="0">
                <a:latin typeface="Times New Roman"/>
                <a:cs typeface="Times New Roman"/>
              </a:rPr>
              <a:t>each </a:t>
            </a:r>
            <a:r>
              <a:rPr sz="2800" b="1" i="1" spc="-5" dirty="0">
                <a:latin typeface="Times New Roman"/>
                <a:cs typeface="Times New Roman"/>
              </a:rPr>
              <a:t>channel; the size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each frame,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therefore, is </a:t>
            </a:r>
            <a:r>
              <a:rPr sz="2800" b="1" i="1" dirty="0">
                <a:latin typeface="Times New Roman"/>
                <a:cs typeface="Times New Roman"/>
              </a:rPr>
              <a:t>4 </a:t>
            </a:r>
            <a:r>
              <a:rPr sz="2800" b="1" i="1" spc="-5" dirty="0">
                <a:latin typeface="Times New Roman"/>
                <a:cs typeface="Times New Roman"/>
              </a:rPr>
              <a:t>bytes, or 32 bits. Because each channel 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sending </a:t>
            </a:r>
            <a:r>
              <a:rPr sz="2800" b="1" i="1" dirty="0">
                <a:latin typeface="Times New Roman"/>
                <a:cs typeface="Times New Roman"/>
              </a:rPr>
              <a:t>100 </a:t>
            </a:r>
            <a:r>
              <a:rPr sz="2800" b="1" i="1" spc="-5" dirty="0">
                <a:latin typeface="Times New Roman"/>
                <a:cs typeface="Times New Roman"/>
              </a:rPr>
              <a:t>bytes/s and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frame carries </a:t>
            </a:r>
            <a:r>
              <a:rPr sz="2800" b="1" i="1" dirty="0">
                <a:latin typeface="Times New Roman"/>
                <a:cs typeface="Times New Roman"/>
              </a:rPr>
              <a:t>1 </a:t>
            </a:r>
            <a:r>
              <a:rPr sz="2800" b="1" i="1" spc="-5" dirty="0">
                <a:latin typeface="Times New Roman"/>
                <a:cs typeface="Times New Roman"/>
              </a:rPr>
              <a:t>byte from each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channel, the frame rate must be 100 frames per second.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100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 32,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3200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bps.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6.33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95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6.16	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6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6.8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639" y="3033522"/>
            <a:ext cx="7688580" cy="211607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6.34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371347"/>
            <a:ext cx="23717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6.9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4634496"/>
            <a:ext cx="9144000" cy="2573020"/>
          </a:xfrm>
          <a:custGeom>
            <a:avLst/>
            <a:gdLst/>
            <a:ahLst/>
            <a:cxnLst/>
            <a:rect l="l" t="t" r="r" b="b"/>
            <a:pathLst>
              <a:path w="9144000" h="25730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4500"/>
                </a:lnTo>
                <a:lnTo>
                  <a:pt x="0" y="1715262"/>
                </a:lnTo>
                <a:lnTo>
                  <a:pt x="0" y="2572512"/>
                </a:lnTo>
                <a:lnTo>
                  <a:pt x="9144000" y="2572512"/>
                </a:lnTo>
                <a:lnTo>
                  <a:pt x="9144000" y="1715262"/>
                </a:lnTo>
                <a:lnTo>
                  <a:pt x="9144000" y="1714500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2173" y="1589024"/>
            <a:ext cx="8529320" cy="520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829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7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multiplexer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combines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four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100-kbps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channels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using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  time </a:t>
            </a:r>
            <a:r>
              <a:rPr sz="2800" b="1" i="1" spc="-5" dirty="0">
                <a:latin typeface="Times New Roman"/>
                <a:cs typeface="Times New Roman"/>
              </a:rPr>
              <a:t>slot </a:t>
            </a:r>
            <a:r>
              <a:rPr sz="2800" b="1" i="1" dirty="0">
                <a:latin typeface="Times New Roman"/>
                <a:cs typeface="Times New Roman"/>
              </a:rPr>
              <a:t>of 2 bits. </a:t>
            </a:r>
            <a:r>
              <a:rPr sz="2800" b="1" i="1" spc="-5" dirty="0">
                <a:latin typeface="Times New Roman"/>
                <a:cs typeface="Times New Roman"/>
              </a:rPr>
              <a:t>Show </a:t>
            </a:r>
            <a:r>
              <a:rPr sz="2800" b="1" i="1" dirty="0">
                <a:latin typeface="Times New Roman"/>
                <a:cs typeface="Times New Roman"/>
              </a:rPr>
              <a:t>the output with four arbitrary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inputs. </a:t>
            </a:r>
            <a:r>
              <a:rPr sz="2800" b="1" i="1" spc="-5" dirty="0">
                <a:latin typeface="Times New Roman"/>
                <a:cs typeface="Times New Roman"/>
              </a:rPr>
              <a:t>What </a:t>
            </a:r>
            <a:r>
              <a:rPr sz="2800" b="1" i="1" dirty="0">
                <a:latin typeface="Times New Roman"/>
                <a:cs typeface="Times New Roman"/>
              </a:rPr>
              <a:t>is the frame </a:t>
            </a:r>
            <a:r>
              <a:rPr sz="2800" b="1" i="1" spc="-5" dirty="0">
                <a:latin typeface="Times New Roman"/>
                <a:cs typeface="Times New Roman"/>
              </a:rPr>
              <a:t>rate? What </a:t>
            </a:r>
            <a:r>
              <a:rPr sz="2800" b="1" i="1" dirty="0">
                <a:latin typeface="Times New Roman"/>
                <a:cs typeface="Times New Roman"/>
              </a:rPr>
              <a:t>is the frame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duration?</a:t>
            </a:r>
            <a:r>
              <a:rPr sz="2800" b="1" i="1" spc="-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What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rate?</a:t>
            </a:r>
            <a:r>
              <a:rPr sz="2800" b="1" i="1" spc="-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What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duration?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Figure 6.17 shows the output for four arbitrary inputs.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link carries 50,000 frames per second. The frame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duration</a:t>
            </a:r>
            <a:r>
              <a:rPr sz="2800" b="1" i="1" spc="20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20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therefore</a:t>
            </a:r>
            <a:r>
              <a:rPr sz="2800" b="1" i="1" spc="2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1/50,000</a:t>
            </a:r>
            <a:r>
              <a:rPr sz="2800" b="1" i="1" spc="20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</a:t>
            </a:r>
            <a:r>
              <a:rPr sz="2800" b="1" i="1" spc="2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20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20</a:t>
            </a:r>
            <a:r>
              <a:rPr sz="2800" b="1" i="1" spc="2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μs.</a:t>
            </a:r>
            <a:r>
              <a:rPr sz="2800" b="1" i="1" spc="20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20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</a:t>
            </a:r>
            <a:r>
              <a:rPr sz="2800" b="1" i="1" spc="2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5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50,000</a:t>
            </a:r>
            <a:r>
              <a:rPr sz="2800" b="1" i="1" spc="5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frames</a:t>
            </a:r>
            <a:r>
              <a:rPr sz="2800" b="1" i="1" spc="5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</a:t>
            </a:r>
            <a:r>
              <a:rPr sz="2800" b="1" i="1" spc="5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second,</a:t>
            </a:r>
            <a:r>
              <a:rPr sz="2800" b="1" i="1" spc="5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spc="5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spc="5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</a:t>
            </a:r>
            <a:r>
              <a:rPr sz="2800" b="1" i="1" spc="5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carries</a:t>
            </a:r>
            <a:r>
              <a:rPr sz="2800" b="1" i="1" spc="5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8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bits; the bit rate is 50,000 </a:t>
            </a:r>
            <a:r>
              <a:rPr sz="2800" b="1" i="1" dirty="0">
                <a:latin typeface="Times New Roman"/>
                <a:cs typeface="Times New Roman"/>
              </a:rPr>
              <a:t>× 8 = </a:t>
            </a:r>
            <a:r>
              <a:rPr sz="2800" b="1" i="1" spc="-5" dirty="0">
                <a:latin typeface="Times New Roman"/>
                <a:cs typeface="Times New Roman"/>
              </a:rPr>
              <a:t>400,000 bits </a:t>
            </a:r>
            <a:r>
              <a:rPr sz="2800" b="1" i="1" spc="-10" dirty="0">
                <a:latin typeface="Times New Roman"/>
                <a:cs typeface="Times New Roman"/>
              </a:rPr>
              <a:t>or </a:t>
            </a:r>
            <a:r>
              <a:rPr sz="2800" b="1" i="1" dirty="0">
                <a:latin typeface="Times New Roman"/>
                <a:cs typeface="Times New Roman"/>
              </a:rPr>
              <a:t>400 </a:t>
            </a:r>
            <a:r>
              <a:rPr sz="2800" b="1" i="1" spc="-5" dirty="0">
                <a:latin typeface="Times New Roman"/>
                <a:cs typeface="Times New Roman"/>
              </a:rPr>
              <a:t>kbps. </a:t>
            </a:r>
            <a:r>
              <a:rPr sz="2800" b="1" i="1" dirty="0">
                <a:latin typeface="Times New Roman"/>
                <a:cs typeface="Times New Roman"/>
              </a:rPr>
              <a:t> 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duration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1/400,000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s,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2.5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μs.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6.35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954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6.17	</a:t>
            </a:r>
            <a:r>
              <a:rPr sz="2000" i="1" spc="-5" dirty="0">
                <a:latin typeface="Times New Roman"/>
                <a:cs typeface="Times New Roman"/>
              </a:rPr>
              <a:t>Example</a:t>
            </a:r>
            <a:r>
              <a:rPr sz="2000" i="1" spc="-6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6.9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825" y="3021329"/>
            <a:ext cx="8646414" cy="218922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6.36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849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6.18	</a:t>
            </a:r>
            <a:r>
              <a:rPr sz="2000" i="1" spc="-5" dirty="0">
                <a:latin typeface="Times New Roman"/>
                <a:cs typeface="Times New Roman"/>
              </a:rPr>
              <a:t>Empty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slots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767" y="2865882"/>
            <a:ext cx="8043671" cy="22837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6.37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0849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6.19	</a:t>
            </a:r>
            <a:r>
              <a:rPr sz="2000" i="1" spc="-10" dirty="0">
                <a:latin typeface="Times New Roman"/>
                <a:cs typeface="Times New Roman"/>
              </a:rPr>
              <a:t>Multilevel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multiplexing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9471" y="2820923"/>
            <a:ext cx="7897368" cy="293827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6.38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365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6.20	</a:t>
            </a:r>
            <a:r>
              <a:rPr sz="2000" i="1" spc="-10" dirty="0">
                <a:latin typeface="Times New Roman"/>
                <a:cs typeface="Times New Roman"/>
              </a:rPr>
              <a:t>Multiple-slot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multiplexing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0575" y="2711195"/>
            <a:ext cx="7751064" cy="244068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6.39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098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6.21	</a:t>
            </a:r>
            <a:r>
              <a:rPr sz="2000" i="1" spc="-5" dirty="0">
                <a:latin typeface="Times New Roman"/>
                <a:cs typeface="Times New Roman"/>
              </a:rPr>
              <a:t>Pulse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stuffing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6439" y="2789682"/>
            <a:ext cx="6353555" cy="228371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6.40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005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6.22	</a:t>
            </a:r>
            <a:r>
              <a:rPr sz="2000" i="1" spc="-5" dirty="0">
                <a:latin typeface="Times New Roman"/>
                <a:cs typeface="Times New Roman"/>
              </a:rPr>
              <a:t>Framing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bits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2549" y="2787395"/>
            <a:ext cx="7578090" cy="218770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6.41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371347"/>
            <a:ext cx="25971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6.10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062745"/>
            <a:ext cx="9144000" cy="2573020"/>
          </a:xfrm>
          <a:custGeom>
            <a:avLst/>
            <a:gdLst/>
            <a:ahLst/>
            <a:cxnLst/>
            <a:rect l="l" t="t" r="r" b="b"/>
            <a:pathLst>
              <a:path w="9144000" h="257302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4500"/>
                </a:lnTo>
                <a:lnTo>
                  <a:pt x="0" y="1715262"/>
                </a:lnTo>
                <a:lnTo>
                  <a:pt x="0" y="2572512"/>
                </a:lnTo>
                <a:lnTo>
                  <a:pt x="9144000" y="2572512"/>
                </a:lnTo>
                <a:lnTo>
                  <a:pt x="9144000" y="1715262"/>
                </a:lnTo>
                <a:lnTo>
                  <a:pt x="9144000" y="1714500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549173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82166" y="1360424"/>
            <a:ext cx="8489950" cy="500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have </a:t>
            </a:r>
            <a:r>
              <a:rPr sz="2800" b="1" i="1" dirty="0">
                <a:latin typeface="Times New Roman"/>
                <a:cs typeface="Times New Roman"/>
              </a:rPr>
              <a:t>four </a:t>
            </a:r>
            <a:r>
              <a:rPr sz="2800" b="1" i="1" spc="-5" dirty="0">
                <a:latin typeface="Times New Roman"/>
                <a:cs typeface="Times New Roman"/>
              </a:rPr>
              <a:t>sources, </a:t>
            </a:r>
            <a:r>
              <a:rPr sz="2800" b="1" i="1" dirty="0">
                <a:latin typeface="Times New Roman"/>
                <a:cs typeface="Times New Roman"/>
              </a:rPr>
              <a:t>each creating 250 characters per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second. If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interleaved unit </a:t>
            </a:r>
            <a:r>
              <a:rPr sz="2800" b="1" i="1" dirty="0">
                <a:latin typeface="Times New Roman"/>
                <a:cs typeface="Times New Roman"/>
              </a:rPr>
              <a:t>is a character </a:t>
            </a:r>
            <a:r>
              <a:rPr sz="2800" b="1" i="1" spc="-5" dirty="0">
                <a:latin typeface="Times New Roman"/>
                <a:cs typeface="Times New Roman"/>
              </a:rPr>
              <a:t>and </a:t>
            </a:r>
            <a:r>
              <a:rPr sz="2800" b="1" i="1" dirty="0">
                <a:latin typeface="Times New Roman"/>
                <a:cs typeface="Times New Roman"/>
              </a:rPr>
              <a:t>1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synchronizing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added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frame,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find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10" dirty="0">
                <a:latin typeface="Times New Roman"/>
                <a:cs typeface="Times New Roman"/>
              </a:rPr>
              <a:t>(</a:t>
            </a:r>
            <a:r>
              <a:rPr sz="2800" b="1" i="1" spc="10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sz="2800" b="1" i="1" spc="10" dirty="0">
                <a:latin typeface="Times New Roman"/>
                <a:cs typeface="Times New Roman"/>
              </a:rPr>
              <a:t>)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 of each source, (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sz="2800" b="1" i="1" dirty="0">
                <a:latin typeface="Times New Roman"/>
                <a:cs typeface="Times New Roman"/>
              </a:rPr>
              <a:t>) the duration of </a:t>
            </a:r>
            <a:r>
              <a:rPr sz="2800" b="1" i="1" spc="-5" dirty="0">
                <a:latin typeface="Times New Roman"/>
                <a:cs typeface="Times New Roman"/>
              </a:rPr>
              <a:t>each </a:t>
            </a:r>
            <a:r>
              <a:rPr sz="2800" b="1" i="1" dirty="0">
                <a:latin typeface="Times New Roman"/>
                <a:cs typeface="Times New Roman"/>
              </a:rPr>
              <a:t>character in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each </a:t>
            </a:r>
            <a:r>
              <a:rPr sz="2800" b="1" i="1" spc="-5" dirty="0">
                <a:latin typeface="Times New Roman"/>
                <a:cs typeface="Times New Roman"/>
              </a:rPr>
              <a:t>source, </a:t>
            </a:r>
            <a:r>
              <a:rPr sz="2800" b="1" i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800" b="1" i="1" dirty="0">
                <a:latin typeface="Times New Roman"/>
                <a:cs typeface="Times New Roman"/>
              </a:rPr>
              <a:t>) the frame </a:t>
            </a:r>
            <a:r>
              <a:rPr sz="2800" b="1" i="1" spc="-5" dirty="0">
                <a:latin typeface="Times New Roman"/>
                <a:cs typeface="Times New Roman"/>
              </a:rPr>
              <a:t>rate, </a:t>
            </a:r>
            <a:r>
              <a:rPr sz="2800" b="1" i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d</a:t>
            </a:r>
            <a:r>
              <a:rPr sz="2800" b="1" i="1" dirty="0">
                <a:latin typeface="Times New Roman"/>
                <a:cs typeface="Times New Roman"/>
              </a:rPr>
              <a:t>) the duration of each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frame, </a:t>
            </a:r>
            <a:r>
              <a:rPr sz="2800" b="1" i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sz="2800" b="1" i="1" spc="-5" dirty="0">
                <a:latin typeface="Times New Roman"/>
                <a:cs typeface="Times New Roman"/>
              </a:rPr>
              <a:t>) </a:t>
            </a:r>
            <a:r>
              <a:rPr sz="2800" b="1" i="1" dirty="0">
                <a:latin typeface="Times New Roman"/>
                <a:cs typeface="Times New Roman"/>
              </a:rPr>
              <a:t>the number of bits in each </a:t>
            </a:r>
            <a:r>
              <a:rPr sz="2800" b="1" i="1" spc="-5" dirty="0">
                <a:latin typeface="Times New Roman"/>
                <a:cs typeface="Times New Roman"/>
              </a:rPr>
              <a:t>frame, </a:t>
            </a:r>
            <a:r>
              <a:rPr sz="2800" b="1" i="1" dirty="0">
                <a:latin typeface="Times New Roman"/>
                <a:cs typeface="Times New Roman"/>
              </a:rPr>
              <a:t>and </a:t>
            </a:r>
            <a:r>
              <a:rPr sz="2800" b="1" i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f</a:t>
            </a:r>
            <a:r>
              <a:rPr sz="2800" b="1" i="1" spc="-5" dirty="0">
                <a:latin typeface="Times New Roman"/>
                <a:cs typeface="Times New Roman"/>
              </a:rPr>
              <a:t>)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link.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can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answer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questions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as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follows:</a:t>
            </a:r>
            <a:endParaRPr sz="2800">
              <a:latin typeface="Times New Roman"/>
              <a:cs typeface="Times New Roman"/>
            </a:endParaRPr>
          </a:p>
          <a:p>
            <a:pPr marL="469900" marR="112395" indent="-457200">
              <a:lnSpc>
                <a:spcPct val="100000"/>
              </a:lnSpc>
              <a:tabLst>
                <a:tab pos="456565" algn="l"/>
              </a:tabLst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a.	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data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source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250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8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2000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bps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2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kbps.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6.42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371347"/>
            <a:ext cx="4919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5" dirty="0">
                <a:solidFill>
                  <a:srgbClr val="FF0000"/>
                </a:solidFill>
                <a:latin typeface="Arial"/>
                <a:cs typeface="Arial"/>
              </a:rPr>
              <a:t>6.10</a:t>
            </a:r>
            <a:r>
              <a:rPr i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(continued)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45" y="1589024"/>
            <a:ext cx="8300720" cy="5146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6565" marR="408305" indent="-45656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AutoNum type="alphaLcPeriod" startAt="2"/>
              <a:tabLst>
                <a:tab pos="456565" algn="l"/>
                <a:tab pos="45720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Each </a:t>
            </a:r>
            <a:r>
              <a:rPr sz="2800" b="1" i="1" spc="-5" dirty="0">
                <a:latin typeface="Times New Roman"/>
                <a:cs typeface="Times New Roman"/>
              </a:rPr>
              <a:t>source sends </a:t>
            </a:r>
            <a:r>
              <a:rPr sz="2800" b="1" i="1" dirty="0">
                <a:latin typeface="Times New Roman"/>
                <a:cs typeface="Times New Roman"/>
              </a:rPr>
              <a:t>250 characters per </a:t>
            </a:r>
            <a:r>
              <a:rPr sz="2800" b="1" i="1" spc="-5" dirty="0">
                <a:latin typeface="Times New Roman"/>
                <a:cs typeface="Times New Roman"/>
              </a:rPr>
              <a:t>second; </a:t>
            </a:r>
            <a:r>
              <a:rPr sz="2800" b="1" i="1" dirty="0">
                <a:latin typeface="Times New Roman"/>
                <a:cs typeface="Times New Roman"/>
              </a:rPr>
              <a:t> therefore,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duration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character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1/250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s,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ms.</a:t>
            </a:r>
            <a:endParaRPr sz="2800">
              <a:latin typeface="Times New Roman"/>
              <a:cs typeface="Times New Roman"/>
            </a:endParaRPr>
          </a:p>
          <a:p>
            <a:pPr marL="436245" marR="215265" indent="-436245">
              <a:lnSpc>
                <a:spcPct val="100000"/>
              </a:lnSpc>
              <a:buClr>
                <a:srgbClr val="FF0000"/>
              </a:buClr>
              <a:buAutoNum type="alphaLcPeriod" startAt="2"/>
              <a:tabLst>
                <a:tab pos="436245" algn="l"/>
                <a:tab pos="43688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Each frame </a:t>
            </a:r>
            <a:r>
              <a:rPr sz="2800" b="1" i="1" spc="-5" dirty="0">
                <a:latin typeface="Times New Roman"/>
                <a:cs typeface="Times New Roman"/>
              </a:rPr>
              <a:t>has </a:t>
            </a:r>
            <a:r>
              <a:rPr sz="2800" b="1" i="1" dirty="0">
                <a:latin typeface="Times New Roman"/>
                <a:cs typeface="Times New Roman"/>
              </a:rPr>
              <a:t>one character from each </a:t>
            </a:r>
            <a:r>
              <a:rPr sz="2800" b="1" i="1" spc="-5" dirty="0">
                <a:latin typeface="Times New Roman"/>
                <a:cs typeface="Times New Roman"/>
              </a:rPr>
              <a:t>source, </a:t>
            </a:r>
            <a:r>
              <a:rPr sz="2800" b="1" i="1" dirty="0">
                <a:latin typeface="Times New Roman"/>
                <a:cs typeface="Times New Roman"/>
              </a:rPr>
              <a:t> which means the link </a:t>
            </a:r>
            <a:r>
              <a:rPr sz="2800" b="1" i="1" spc="-5" dirty="0">
                <a:latin typeface="Times New Roman"/>
                <a:cs typeface="Times New Roman"/>
              </a:rPr>
              <a:t>needs </a:t>
            </a:r>
            <a:r>
              <a:rPr sz="2800" b="1" i="1" dirty="0">
                <a:latin typeface="Times New Roman"/>
                <a:cs typeface="Times New Roman"/>
              </a:rPr>
              <a:t>to </a:t>
            </a:r>
            <a:r>
              <a:rPr sz="2800" b="1" i="1" spc="-5" dirty="0">
                <a:latin typeface="Times New Roman"/>
                <a:cs typeface="Times New Roman"/>
              </a:rPr>
              <a:t>send </a:t>
            </a:r>
            <a:r>
              <a:rPr sz="2800" b="1" i="1" dirty="0">
                <a:latin typeface="Times New Roman"/>
                <a:cs typeface="Times New Roman"/>
              </a:rPr>
              <a:t>250 frames per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second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to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keep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transmission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source.</a:t>
            </a:r>
            <a:endParaRPr sz="2800">
              <a:latin typeface="Times New Roman"/>
              <a:cs typeface="Times New Roman"/>
            </a:endParaRPr>
          </a:p>
          <a:p>
            <a:pPr marL="456565" marR="5080" indent="-456565">
              <a:lnSpc>
                <a:spcPct val="100000"/>
              </a:lnSpc>
              <a:buClr>
                <a:srgbClr val="FF0000"/>
              </a:buClr>
              <a:buAutoNum type="alphaLcPeriod" startAt="2"/>
              <a:tabLst>
                <a:tab pos="456565" algn="l"/>
                <a:tab pos="457200" algn="l"/>
              </a:tabLst>
            </a:pPr>
            <a:r>
              <a:rPr sz="2800" b="1" i="1" dirty="0">
                <a:latin typeface="Times New Roman"/>
                <a:cs typeface="Times New Roman"/>
              </a:rPr>
              <a:t>The duration of each frame is 1/250 </a:t>
            </a:r>
            <a:r>
              <a:rPr sz="2800" b="1" i="1" spc="-5" dirty="0">
                <a:latin typeface="Times New Roman"/>
                <a:cs typeface="Times New Roman"/>
              </a:rPr>
              <a:t>s, </a:t>
            </a:r>
            <a:r>
              <a:rPr sz="2800" b="1" i="1" dirty="0">
                <a:latin typeface="Times New Roman"/>
                <a:cs typeface="Times New Roman"/>
              </a:rPr>
              <a:t>or 4 ms. </a:t>
            </a:r>
            <a:r>
              <a:rPr sz="2800" b="1" i="1" spc="-5" dirty="0">
                <a:latin typeface="Times New Roman"/>
                <a:cs typeface="Times New Roman"/>
              </a:rPr>
              <a:t>Note </a:t>
            </a:r>
            <a:r>
              <a:rPr sz="2800" b="1" i="1" dirty="0">
                <a:latin typeface="Times New Roman"/>
                <a:cs typeface="Times New Roman"/>
              </a:rPr>
              <a:t> that the duration of each frame is the </a:t>
            </a:r>
            <a:r>
              <a:rPr sz="2800" b="1" i="1" spc="-5" dirty="0">
                <a:latin typeface="Times New Roman"/>
                <a:cs typeface="Times New Roman"/>
              </a:rPr>
              <a:t>same </a:t>
            </a:r>
            <a:r>
              <a:rPr sz="2800" b="1" i="1" dirty="0">
                <a:latin typeface="Times New Roman"/>
                <a:cs typeface="Times New Roman"/>
              </a:rPr>
              <a:t>as the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duration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character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coming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from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source.</a:t>
            </a:r>
            <a:endParaRPr sz="2800">
              <a:latin typeface="Times New Roman"/>
              <a:cs typeface="Times New Roman"/>
            </a:endParaRPr>
          </a:p>
          <a:p>
            <a:pPr marL="436245" marR="694690" indent="-436245">
              <a:lnSpc>
                <a:spcPct val="100000"/>
              </a:lnSpc>
              <a:buClr>
                <a:srgbClr val="FF0000"/>
              </a:buClr>
              <a:buAutoNum type="alphaLcPeriod" startAt="2"/>
              <a:tabLst>
                <a:tab pos="436245" algn="l"/>
                <a:tab pos="43688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Each </a:t>
            </a:r>
            <a:r>
              <a:rPr sz="2800" b="1" i="1" dirty="0">
                <a:latin typeface="Times New Roman"/>
                <a:cs typeface="Times New Roman"/>
              </a:rPr>
              <a:t>frame carries 4 characters and 1 extra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synchronizing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bit.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means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that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each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frame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 8 +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33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6.43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0373" y="371347"/>
            <a:ext cx="25666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10" dirty="0">
                <a:solidFill>
                  <a:srgbClr val="FF0000"/>
                </a:solidFill>
                <a:latin typeface="Arial"/>
                <a:cs typeface="Arial"/>
              </a:rPr>
              <a:t>Example</a:t>
            </a:r>
            <a:r>
              <a:rPr i="1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i="1" spc="-65" dirty="0">
                <a:solidFill>
                  <a:srgbClr val="FF0000"/>
                </a:solidFill>
                <a:latin typeface="Arial"/>
                <a:cs typeface="Arial"/>
              </a:rPr>
              <a:t>6.11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74839" y="2062733"/>
            <a:ext cx="9144000" cy="4236720"/>
            <a:chOff x="774839" y="2062733"/>
            <a:chExt cx="9144000" cy="4236720"/>
          </a:xfrm>
        </p:grpSpPr>
        <p:sp>
          <p:nvSpPr>
            <p:cNvPr id="9" name="object 9"/>
            <p:cNvSpPr/>
            <p:nvPr/>
          </p:nvSpPr>
          <p:spPr>
            <a:xfrm>
              <a:off x="774839" y="2062746"/>
              <a:ext cx="9144000" cy="1715770"/>
            </a:xfrm>
            <a:custGeom>
              <a:avLst/>
              <a:gdLst/>
              <a:ahLst/>
              <a:cxnLst/>
              <a:rect l="l" t="t" r="r" b="b"/>
              <a:pathLst>
                <a:path w="9144000" h="1715770">
                  <a:moveTo>
                    <a:pt x="9144000" y="0"/>
                  </a:move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5262"/>
                  </a:lnTo>
                  <a:lnTo>
                    <a:pt x="9144000" y="1715262"/>
                  </a:lnTo>
                  <a:lnTo>
                    <a:pt x="9144000" y="858012"/>
                  </a:lnTo>
                  <a:lnTo>
                    <a:pt x="9144000" y="8572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97331" y="3622560"/>
              <a:ext cx="8700135" cy="2677160"/>
            </a:xfrm>
            <a:custGeom>
              <a:avLst/>
              <a:gdLst/>
              <a:ahLst/>
              <a:cxnLst/>
              <a:rect l="l" t="t" r="r" b="b"/>
              <a:pathLst>
                <a:path w="8700135" h="2677160">
                  <a:moveTo>
                    <a:pt x="8699754" y="0"/>
                  </a:moveTo>
                  <a:lnTo>
                    <a:pt x="8686813" y="0"/>
                  </a:lnTo>
                  <a:lnTo>
                    <a:pt x="8686813" y="12954"/>
                  </a:lnTo>
                  <a:lnTo>
                    <a:pt x="8686813" y="155448"/>
                  </a:lnTo>
                  <a:lnTo>
                    <a:pt x="8686813" y="1012698"/>
                  </a:lnTo>
                  <a:lnTo>
                    <a:pt x="8686813" y="1869948"/>
                  </a:lnTo>
                  <a:lnTo>
                    <a:pt x="8686813" y="2663952"/>
                  </a:lnTo>
                  <a:lnTo>
                    <a:pt x="12966" y="2663952"/>
                  </a:lnTo>
                  <a:lnTo>
                    <a:pt x="12966" y="1869948"/>
                  </a:lnTo>
                  <a:lnTo>
                    <a:pt x="12966" y="1012698"/>
                  </a:lnTo>
                  <a:lnTo>
                    <a:pt x="12966" y="155448"/>
                  </a:lnTo>
                  <a:lnTo>
                    <a:pt x="12954" y="12954"/>
                  </a:lnTo>
                  <a:lnTo>
                    <a:pt x="8686813" y="12954"/>
                  </a:lnTo>
                  <a:lnTo>
                    <a:pt x="8686813" y="0"/>
                  </a:lnTo>
                  <a:lnTo>
                    <a:pt x="12" y="0"/>
                  </a:lnTo>
                  <a:lnTo>
                    <a:pt x="12" y="155448"/>
                  </a:lnTo>
                  <a:lnTo>
                    <a:pt x="12" y="1012698"/>
                  </a:lnTo>
                  <a:lnTo>
                    <a:pt x="12" y="1869948"/>
                  </a:lnTo>
                  <a:lnTo>
                    <a:pt x="0" y="2676906"/>
                  </a:lnTo>
                  <a:lnTo>
                    <a:pt x="6108" y="2676906"/>
                  </a:lnTo>
                  <a:lnTo>
                    <a:pt x="12966" y="2676906"/>
                  </a:lnTo>
                  <a:lnTo>
                    <a:pt x="8686813" y="2676906"/>
                  </a:lnTo>
                  <a:lnTo>
                    <a:pt x="8692896" y="2676906"/>
                  </a:lnTo>
                  <a:lnTo>
                    <a:pt x="8699754" y="2676906"/>
                  </a:lnTo>
                  <a:lnTo>
                    <a:pt x="8699754" y="1869948"/>
                  </a:lnTo>
                  <a:lnTo>
                    <a:pt x="8699754" y="1012698"/>
                  </a:lnTo>
                  <a:lnTo>
                    <a:pt x="8699754" y="155448"/>
                  </a:lnTo>
                  <a:lnTo>
                    <a:pt x="8699754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82165" y="1360424"/>
            <a:ext cx="8529320" cy="4875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0645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40" dirty="0">
                <a:latin typeface="Times New Roman"/>
                <a:cs typeface="Times New Roman"/>
              </a:rPr>
              <a:t>Two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channels,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100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kbps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another with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bit rate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200 kbps, are </a:t>
            </a:r>
            <a:r>
              <a:rPr sz="2800" b="1" i="1" dirty="0">
                <a:latin typeface="Times New Roman"/>
                <a:cs typeface="Times New Roman"/>
              </a:rPr>
              <a:t>to be </a:t>
            </a:r>
            <a:r>
              <a:rPr sz="2800" b="1" i="1" spc="-5" dirty="0">
                <a:latin typeface="Times New Roman"/>
                <a:cs typeface="Times New Roman"/>
              </a:rPr>
              <a:t>multiplexed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How this can be achieved? What is the frame rate? What </a:t>
            </a:r>
            <a:r>
              <a:rPr sz="2800" b="1" i="1" dirty="0">
                <a:latin typeface="Times New Roman"/>
                <a:cs typeface="Times New Roman"/>
              </a:rPr>
              <a:t> is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frame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duration?</a:t>
            </a:r>
            <a:r>
              <a:rPr sz="2800" b="1" i="1" spc="-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What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rate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link?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5" dirty="0">
                <a:latin typeface="Times New Roman"/>
                <a:cs typeface="Times New Roman"/>
              </a:rPr>
              <a:t>can allocate one slot </a:t>
            </a:r>
            <a:r>
              <a:rPr sz="2800" b="1" i="1" dirty="0">
                <a:latin typeface="Times New Roman"/>
                <a:cs typeface="Times New Roman"/>
              </a:rPr>
              <a:t>to </a:t>
            </a:r>
            <a:r>
              <a:rPr sz="2800" b="1" i="1" spc="-5" dirty="0">
                <a:latin typeface="Times New Roman"/>
                <a:cs typeface="Times New Roman"/>
              </a:rPr>
              <a:t>the first channel and two slots </a:t>
            </a:r>
            <a:r>
              <a:rPr sz="2800" b="1" i="1" dirty="0">
                <a:latin typeface="Times New Roman"/>
                <a:cs typeface="Times New Roman"/>
              </a:rPr>
              <a:t> to </a:t>
            </a:r>
            <a:r>
              <a:rPr sz="2800" b="1" i="1" spc="-5" dirty="0">
                <a:latin typeface="Times New Roman"/>
                <a:cs typeface="Times New Roman"/>
              </a:rPr>
              <a:t>the second channel. Each frame carries </a:t>
            </a:r>
            <a:r>
              <a:rPr sz="2800" b="1" i="1" dirty="0">
                <a:latin typeface="Times New Roman"/>
                <a:cs typeface="Times New Roman"/>
              </a:rPr>
              <a:t>3 </a:t>
            </a:r>
            <a:r>
              <a:rPr sz="2800" b="1" i="1" spc="-5" dirty="0">
                <a:latin typeface="Times New Roman"/>
                <a:cs typeface="Times New Roman"/>
              </a:rPr>
              <a:t>bits.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spc="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100,000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frames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per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second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because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it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carries</a:t>
            </a:r>
            <a:endParaRPr sz="2800">
              <a:latin typeface="Times New Roman"/>
              <a:cs typeface="Times New Roman"/>
            </a:endParaRPr>
          </a:p>
          <a:p>
            <a:pPr marL="12700" marR="6350" algn="just">
              <a:lnSpc>
                <a:spcPct val="100000"/>
              </a:lnSpc>
            </a:pP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from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first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bit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rate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100,000 </a:t>
            </a:r>
            <a:r>
              <a:rPr sz="2800" b="1" i="1" dirty="0">
                <a:latin typeface="Times New Roman"/>
                <a:cs typeface="Times New Roman"/>
              </a:rPr>
              <a:t> frames/s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 3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bits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per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frame,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300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kbps.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6.44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4404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6.23	</a:t>
            </a:r>
            <a:r>
              <a:rPr sz="2000" i="1" spc="-5" dirty="0">
                <a:latin typeface="Times New Roman"/>
                <a:cs typeface="Times New Roman"/>
              </a:rPr>
              <a:t>Digital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hierarchy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73365" y="2260854"/>
            <a:ext cx="8364855" cy="3727450"/>
            <a:chOff x="1173365" y="2260854"/>
            <a:chExt cx="8364855" cy="37274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3365" y="2260854"/>
              <a:ext cx="8364473" cy="151714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3365" y="2920746"/>
              <a:ext cx="8364473" cy="17145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3365" y="3777996"/>
              <a:ext cx="8364473" cy="17145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3365" y="4635245"/>
              <a:ext cx="8364473" cy="13525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3365" y="5492495"/>
              <a:ext cx="8364473" cy="495300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6.45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1303" y="2428747"/>
            <a:ext cx="3383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73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6.1	</a:t>
            </a:r>
            <a:r>
              <a:rPr sz="2000" i="1" spc="-5" dirty="0">
                <a:latin typeface="Times New Roman"/>
                <a:cs typeface="Times New Roman"/>
              </a:rPr>
              <a:t>DS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line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rates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1119" y="2920745"/>
            <a:ext cx="7741919" cy="17716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6.46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841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6.24	</a:t>
            </a:r>
            <a:r>
              <a:rPr sz="2000" i="1" spc="-65" dirty="0">
                <a:latin typeface="Times New Roman"/>
                <a:cs typeface="Times New Roman"/>
              </a:rPr>
              <a:t>T-1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line for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multiplexing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telephone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lines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8199" y="2033777"/>
            <a:ext cx="8610600" cy="348767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6.47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6785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6.25	</a:t>
            </a:r>
            <a:r>
              <a:rPr sz="2000" i="1" spc="-65" dirty="0">
                <a:latin typeface="Times New Roman"/>
                <a:cs typeface="Times New Roman"/>
              </a:rPr>
              <a:t>T-1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frame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structure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1317" y="1787651"/>
            <a:ext cx="7085076" cy="454685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6.48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3793" y="2047747"/>
            <a:ext cx="2550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73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6.2	</a:t>
            </a:r>
            <a:r>
              <a:rPr sz="2000" i="1" spc="-5" dirty="0">
                <a:latin typeface="Times New Roman"/>
                <a:cs typeface="Times New Roman"/>
              </a:rPr>
              <a:t>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line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rates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4569" y="2560320"/>
            <a:ext cx="5851398" cy="244068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6.49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928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6.26	</a:t>
            </a:r>
            <a:r>
              <a:rPr sz="2000" i="1" spc="-5" dirty="0">
                <a:latin typeface="Times New Roman"/>
                <a:cs typeface="Times New Roman"/>
              </a:rPr>
              <a:t>TDM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slot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comparison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3039" y="2048255"/>
            <a:ext cx="6390132" cy="432054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6.50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57791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7.1	</a:t>
            </a:r>
            <a:r>
              <a:rPr sz="2000" i="1" spc="-10" dirty="0">
                <a:latin typeface="Times New Roman"/>
                <a:cs typeface="Times New Roman"/>
              </a:rPr>
              <a:t>Transmission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medium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 physical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layer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767" y="2933700"/>
            <a:ext cx="8729471" cy="252069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7.2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638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7.2	</a:t>
            </a:r>
            <a:r>
              <a:rPr sz="2000" i="1" spc="-5" dirty="0">
                <a:latin typeface="Times New Roman"/>
                <a:cs typeface="Times New Roman"/>
              </a:rPr>
              <a:t>Classes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transmission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media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2039" y="2449829"/>
            <a:ext cx="7715250" cy="315696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7.3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158875" algn="l"/>
              </a:tabLst>
            </a:pPr>
            <a:r>
              <a:rPr spc="-5" dirty="0"/>
              <a:t>7-1	GUIDED</a:t>
            </a:r>
            <a:r>
              <a:rPr spc="-15" dirty="0"/>
              <a:t> </a:t>
            </a:r>
            <a:r>
              <a:rPr spc="-5" dirty="0"/>
              <a:t>MEDIA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05973" y="1894586"/>
            <a:ext cx="807085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Guided media, which are those that provide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conduit </a:t>
            </a:r>
            <a:r>
              <a:rPr sz="2800" b="1" i="1" dirty="0">
                <a:latin typeface="Times New Roman"/>
                <a:cs typeface="Times New Roman"/>
              </a:rPr>
              <a:t> from </a:t>
            </a:r>
            <a:r>
              <a:rPr sz="2800" b="1" i="1" spc="-5" dirty="0">
                <a:latin typeface="Times New Roman"/>
                <a:cs typeface="Times New Roman"/>
              </a:rPr>
              <a:t>one device to </a:t>
            </a:r>
            <a:r>
              <a:rPr sz="2800" b="1" i="1" spc="-25" dirty="0">
                <a:latin typeface="Times New Roman"/>
                <a:cs typeface="Times New Roman"/>
              </a:rPr>
              <a:t>another, </a:t>
            </a:r>
            <a:r>
              <a:rPr sz="2800" b="1" i="1" spc="-5" dirty="0">
                <a:latin typeface="Times New Roman"/>
                <a:cs typeface="Times New Roman"/>
              </a:rPr>
              <a:t>include twisted-pair cable, </a:t>
            </a:r>
            <a:r>
              <a:rPr sz="2800" b="1" i="1" dirty="0">
                <a:latin typeface="Times New Roman"/>
                <a:cs typeface="Times New Roman"/>
              </a:rPr>
              <a:t> coaxial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cable,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5" dirty="0">
                <a:latin typeface="Times New Roman"/>
                <a:cs typeface="Times New Roman"/>
              </a:rPr>
              <a:t> fiber-optic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spc="-204" dirty="0">
                <a:latin typeface="Times New Roman"/>
                <a:cs typeface="Times New Roman"/>
              </a:rPr>
              <a:t>cable..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7.4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5973" y="4514528"/>
            <a:ext cx="4699000" cy="1659889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65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2178050">
              <a:lnSpc>
                <a:spcPct val="100000"/>
              </a:lnSpc>
              <a:spcBef>
                <a:spcPts val="400"/>
              </a:spcBef>
            </a:pPr>
            <a:r>
              <a:rPr sz="24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Twisted-Pair</a:t>
            </a:r>
            <a:r>
              <a:rPr sz="2400" b="1" spc="-1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Cable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Coaxial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Cable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Fiber-Optic</a:t>
            </a:r>
            <a:r>
              <a:rPr sz="2400" b="1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Cable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407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7.3	</a:t>
            </a:r>
            <a:r>
              <a:rPr sz="2000" i="1" spc="-10" dirty="0">
                <a:latin typeface="Times New Roman"/>
                <a:cs typeface="Times New Roman"/>
              </a:rPr>
              <a:t>Twisted-pair</a:t>
            </a:r>
            <a:r>
              <a:rPr sz="2000" i="1" spc="-4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cable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439" y="3335273"/>
            <a:ext cx="8610600" cy="120472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7.5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655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7.4	</a:t>
            </a:r>
            <a:r>
              <a:rPr sz="2000" i="1" spc="-5" dirty="0">
                <a:latin typeface="Times New Roman"/>
                <a:cs typeface="Times New Roman"/>
              </a:rPr>
              <a:t>UTP</a:t>
            </a:r>
            <a:r>
              <a:rPr sz="2000" i="1" spc="-7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STP</a:t>
            </a:r>
            <a:r>
              <a:rPr sz="2000" i="1" spc="-7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cables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3167" y="2462022"/>
            <a:ext cx="8500871" cy="337337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7.6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73" y="599947"/>
            <a:ext cx="5944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73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7.1	</a:t>
            </a:r>
            <a:r>
              <a:rPr sz="2000" i="1" spc="-5" dirty="0">
                <a:latin typeface="Times New Roman"/>
                <a:cs typeface="Times New Roman"/>
              </a:rPr>
              <a:t>Categories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unshielded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twisted-pair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cables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5681" y="1035558"/>
            <a:ext cx="7741158" cy="589864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7.7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085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7.5	</a:t>
            </a:r>
            <a:r>
              <a:rPr sz="2000" i="1" spc="-5" dirty="0">
                <a:latin typeface="Times New Roman"/>
                <a:cs typeface="Times New Roman"/>
              </a:rPr>
              <a:t>UTP</a:t>
            </a:r>
            <a:r>
              <a:rPr sz="2000" i="1" spc="-10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connector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4267" y="2593848"/>
            <a:ext cx="6481571" cy="270814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7.8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381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7.6	</a:t>
            </a:r>
            <a:r>
              <a:rPr sz="2000" i="1" spc="-5" dirty="0">
                <a:latin typeface="Times New Roman"/>
                <a:cs typeface="Times New Roman"/>
              </a:rPr>
              <a:t>UTP</a:t>
            </a:r>
            <a:r>
              <a:rPr sz="2000" i="1" spc="-9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performance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0239" y="2025395"/>
            <a:ext cx="6124955" cy="447675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7.9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922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7.7	</a:t>
            </a:r>
            <a:r>
              <a:rPr sz="2000" i="1" spc="-5" dirty="0">
                <a:latin typeface="Times New Roman"/>
                <a:cs typeface="Times New Roman"/>
              </a:rPr>
              <a:t>Coaxial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cable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2821" y="2306573"/>
            <a:ext cx="8145018" cy="352882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7.10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3793" y="2200147"/>
            <a:ext cx="4277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73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7.2	</a:t>
            </a:r>
            <a:r>
              <a:rPr sz="2000" i="1" spc="-5" dirty="0">
                <a:latin typeface="Times New Roman"/>
                <a:cs typeface="Times New Roman"/>
              </a:rPr>
              <a:t>Categories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 coaxial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cables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9423" y="2665476"/>
            <a:ext cx="5894070" cy="202691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7.11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221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7.8	</a:t>
            </a:r>
            <a:r>
              <a:rPr sz="2000" i="1" spc="-5" dirty="0">
                <a:latin typeface="Times New Roman"/>
                <a:cs typeface="Times New Roman"/>
              </a:rPr>
              <a:t>BNC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connectors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439" y="3075432"/>
            <a:ext cx="7924800" cy="199796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7.12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325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7.9	</a:t>
            </a:r>
            <a:r>
              <a:rPr sz="2000" i="1" spc="-5" dirty="0">
                <a:latin typeface="Times New Roman"/>
                <a:cs typeface="Times New Roman"/>
              </a:rPr>
              <a:t>Coaxial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cable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performance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4989" y="1976627"/>
            <a:ext cx="6115050" cy="446836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7.13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7515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7.10	</a:t>
            </a:r>
            <a:r>
              <a:rPr sz="2000" i="1" spc="-5" dirty="0">
                <a:latin typeface="Times New Roman"/>
                <a:cs typeface="Times New Roman"/>
              </a:rPr>
              <a:t>Bending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light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ray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897" y="2711195"/>
            <a:ext cx="8070342" cy="227533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7.14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2944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spc="-40" dirty="0">
                <a:solidFill>
                  <a:srgbClr val="3333CC"/>
                </a:solidFill>
              </a:rPr>
              <a:t>7.11	</a:t>
            </a:r>
            <a:r>
              <a:rPr sz="2000" i="1" spc="-5" dirty="0">
                <a:latin typeface="Times New Roman"/>
                <a:cs typeface="Times New Roman"/>
              </a:rPr>
              <a:t>Optical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fiber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2791" y="3336797"/>
            <a:ext cx="8308847" cy="158419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7.15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667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7.12	</a:t>
            </a:r>
            <a:r>
              <a:rPr sz="2000" i="1" spc="-5" dirty="0">
                <a:latin typeface="Times New Roman"/>
                <a:cs typeface="Times New Roman"/>
              </a:rPr>
              <a:t>Propagation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modes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647" y="2482595"/>
            <a:ext cx="7632192" cy="33528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7.16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3870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676147"/>
            <a:ext cx="2334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</a:t>
            </a:r>
            <a:r>
              <a:rPr sz="2400" spc="-45" dirty="0">
                <a:solidFill>
                  <a:srgbClr val="3333CC"/>
                </a:solidFill>
              </a:rPr>
              <a:t>r</a:t>
            </a:r>
            <a:r>
              <a:rPr sz="2400" spc="-5" dirty="0">
                <a:solidFill>
                  <a:srgbClr val="3333CC"/>
                </a:solidFill>
              </a:rPr>
              <a:t>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10" dirty="0">
                <a:solidFill>
                  <a:srgbClr val="3333CC"/>
                </a:solidFill>
              </a:rPr>
              <a:t>7.1</a:t>
            </a:r>
            <a:r>
              <a:rPr sz="2400" spc="-5" dirty="0">
                <a:solidFill>
                  <a:srgbClr val="3333CC"/>
                </a:solidFill>
              </a:rPr>
              <a:t>3	</a:t>
            </a:r>
            <a:r>
              <a:rPr sz="2000" i="1" spc="-5" dirty="0">
                <a:latin typeface="Times New Roman"/>
                <a:cs typeface="Times New Roman"/>
              </a:rPr>
              <a:t>Modes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2542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27239" y="1384553"/>
            <a:ext cx="8763000" cy="5403850"/>
            <a:chOff x="927239" y="1384553"/>
            <a:chExt cx="8763000" cy="54038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48319" y="1384553"/>
              <a:ext cx="6370320" cy="528904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27239" y="6711695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7.17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1046" y="2047747"/>
            <a:ext cx="2515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7310" algn="l"/>
              </a:tabLst>
            </a:pPr>
            <a:r>
              <a:rPr sz="2400" spc="-50" dirty="0">
                <a:solidFill>
                  <a:srgbClr val="3333CC"/>
                </a:solidFill>
              </a:rPr>
              <a:t>Table</a:t>
            </a:r>
            <a:r>
              <a:rPr sz="2400" spc="-5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7.3	</a:t>
            </a:r>
            <a:r>
              <a:rPr sz="2000" i="1" spc="-5" dirty="0">
                <a:latin typeface="Times New Roman"/>
                <a:cs typeface="Times New Roman"/>
              </a:rPr>
              <a:t>Fiber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types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189" y="2636520"/>
            <a:ext cx="8934450" cy="20162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7.18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597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7.14	</a:t>
            </a:r>
            <a:r>
              <a:rPr sz="2000" i="1" spc="-5" dirty="0">
                <a:latin typeface="Times New Roman"/>
                <a:cs typeface="Times New Roman"/>
              </a:rPr>
              <a:t>Fiber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construction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4341" y="2192273"/>
            <a:ext cx="6499097" cy="394792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7.19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632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7.15	</a:t>
            </a:r>
            <a:r>
              <a:rPr sz="2000" i="1" spc="-5" dirty="0">
                <a:latin typeface="Times New Roman"/>
                <a:cs typeface="Times New Roman"/>
              </a:rPr>
              <a:t>Fiber-optic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cable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connectors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439" y="2240279"/>
            <a:ext cx="8593835" cy="389991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7.20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363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7.16	</a:t>
            </a:r>
            <a:r>
              <a:rPr sz="2000" i="1" spc="-5" dirty="0">
                <a:latin typeface="Times New Roman"/>
                <a:cs typeface="Times New Roman"/>
              </a:rPr>
              <a:t>Optical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fiber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performance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8047" y="2025395"/>
            <a:ext cx="5574791" cy="446760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7.21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158875" algn="l"/>
              </a:tabLst>
            </a:pPr>
            <a:r>
              <a:rPr spc="-5" dirty="0"/>
              <a:t>7-2	UNGUIDED</a:t>
            </a:r>
            <a:r>
              <a:rPr spc="10" dirty="0"/>
              <a:t> </a:t>
            </a:r>
            <a:r>
              <a:rPr spc="-5" dirty="0"/>
              <a:t>MEDIA:</a:t>
            </a:r>
            <a:r>
              <a:rPr spc="-50" dirty="0"/>
              <a:t> </a:t>
            </a:r>
            <a:r>
              <a:rPr spc="-5" dirty="0"/>
              <a:t>WIRELESS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58373" y="1756663"/>
            <a:ext cx="6909434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0695" algn="l"/>
                <a:tab pos="2932430" algn="l"/>
                <a:tab pos="4570730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Unguide</a:t>
            </a:r>
            <a:r>
              <a:rPr sz="2800" b="1" i="1" dirty="0">
                <a:latin typeface="Times New Roman"/>
                <a:cs typeface="Times New Roman"/>
              </a:rPr>
              <a:t>d	</a:t>
            </a:r>
            <a:r>
              <a:rPr sz="2800" b="1" i="1" spc="-5" dirty="0">
                <a:latin typeface="Times New Roman"/>
                <a:cs typeface="Times New Roman"/>
              </a:rPr>
              <a:t>medi</a:t>
            </a:r>
            <a:r>
              <a:rPr sz="2800" b="1" i="1" dirty="0">
                <a:latin typeface="Times New Roman"/>
                <a:cs typeface="Times New Roman"/>
              </a:rPr>
              <a:t>a	</a:t>
            </a:r>
            <a:r>
              <a:rPr sz="2800" b="1" i="1" spc="-5" dirty="0">
                <a:latin typeface="Times New Roman"/>
                <a:cs typeface="Times New Roman"/>
              </a:rPr>
              <a:t>transpor</a:t>
            </a:r>
            <a:r>
              <a:rPr sz="2800" b="1" i="1" dirty="0">
                <a:latin typeface="Times New Roman"/>
                <a:cs typeface="Times New Roman"/>
              </a:rPr>
              <a:t>t	</a:t>
            </a:r>
            <a:r>
              <a:rPr sz="2800" b="1" i="1" spc="-5" dirty="0">
                <a:latin typeface="Times New Roman"/>
                <a:cs typeface="Times New Roman"/>
              </a:rPr>
              <a:t>electromagnetic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206273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19">
                <a:moveTo>
                  <a:pt x="9144000" y="858011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58373" y="1756663"/>
            <a:ext cx="8071484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178675">
              <a:lnSpc>
                <a:spcPct val="100000"/>
              </a:lnSpc>
              <a:spcBef>
                <a:spcPts val="100"/>
              </a:spcBef>
              <a:tabLst>
                <a:tab pos="1355725" algn="l"/>
                <a:tab pos="2403475" algn="l"/>
                <a:tab pos="2818130" algn="l"/>
                <a:tab pos="4258310" algn="l"/>
                <a:tab pos="6045200" algn="l"/>
                <a:tab pos="6934200" algn="l"/>
                <a:tab pos="7760970" algn="l"/>
              </a:tabLst>
            </a:pPr>
            <a:r>
              <a:rPr sz="2800" b="1" i="1" spc="-10" dirty="0">
                <a:latin typeface="Times New Roman"/>
                <a:cs typeface="Times New Roman"/>
              </a:rPr>
              <a:t>waves  </a:t>
            </a:r>
            <a:r>
              <a:rPr sz="2800" b="1" i="1" spc="-5" dirty="0">
                <a:latin typeface="Times New Roman"/>
                <a:cs typeface="Times New Roman"/>
              </a:rPr>
              <a:t>withou</a:t>
            </a:r>
            <a:r>
              <a:rPr sz="2800" b="1" i="1" dirty="0">
                <a:latin typeface="Times New Roman"/>
                <a:cs typeface="Times New Roman"/>
              </a:rPr>
              <a:t>t	</a:t>
            </a:r>
            <a:r>
              <a:rPr sz="2800" b="1" i="1" spc="-5" dirty="0">
                <a:latin typeface="Times New Roman"/>
                <a:cs typeface="Times New Roman"/>
              </a:rPr>
              <a:t>usin</a:t>
            </a:r>
            <a:r>
              <a:rPr sz="2800" b="1" i="1" dirty="0">
                <a:latin typeface="Times New Roman"/>
                <a:cs typeface="Times New Roman"/>
              </a:rPr>
              <a:t>g	a	</a:t>
            </a:r>
            <a:r>
              <a:rPr sz="2800" b="1" i="1" spc="-5" dirty="0">
                <a:latin typeface="Times New Roman"/>
                <a:cs typeface="Times New Roman"/>
              </a:rPr>
              <a:t>physica</a:t>
            </a:r>
            <a:r>
              <a:rPr sz="2800" b="1" i="1" dirty="0">
                <a:latin typeface="Times New Roman"/>
                <a:cs typeface="Times New Roman"/>
              </a:rPr>
              <a:t>l	</a:t>
            </a:r>
            <a:r>
              <a:rPr sz="2800" b="1" i="1" spc="-5" dirty="0">
                <a:latin typeface="Times New Roman"/>
                <a:cs typeface="Times New Roman"/>
              </a:rPr>
              <a:t>conducto</a:t>
            </a:r>
            <a:r>
              <a:rPr sz="2800" b="1" i="1" spc="-155" dirty="0">
                <a:latin typeface="Times New Roman"/>
                <a:cs typeface="Times New Roman"/>
              </a:rPr>
              <a:t>r</a:t>
            </a:r>
            <a:r>
              <a:rPr sz="2800" b="1" i="1" dirty="0">
                <a:latin typeface="Times New Roman"/>
                <a:cs typeface="Times New Roman"/>
              </a:rPr>
              <a:t>.	</a:t>
            </a:r>
            <a:r>
              <a:rPr sz="2800" b="1" i="1" spc="-5" dirty="0">
                <a:latin typeface="Times New Roman"/>
                <a:cs typeface="Times New Roman"/>
              </a:rPr>
              <a:t>Thi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typ</a:t>
            </a:r>
            <a:r>
              <a:rPr sz="2800" b="1" i="1" dirty="0">
                <a:latin typeface="Times New Roman"/>
                <a:cs typeface="Times New Roman"/>
              </a:rPr>
              <a:t>e	of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4839" y="291998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4000" y="858012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58373" y="2610104"/>
            <a:ext cx="807021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608580" algn="l"/>
                <a:tab pos="3150235" algn="l"/>
                <a:tab pos="4205605" algn="l"/>
                <a:tab pos="5692775" algn="l"/>
                <a:tab pos="6274435" algn="l"/>
                <a:tab pos="689546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communicatio</a:t>
            </a:r>
            <a:r>
              <a:rPr sz="2800" b="1" i="1" dirty="0">
                <a:latin typeface="Times New Roman"/>
                <a:cs typeface="Times New Roman"/>
              </a:rPr>
              <a:t>n	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ofte</a:t>
            </a:r>
            <a:r>
              <a:rPr sz="2800" b="1" i="1" dirty="0">
                <a:latin typeface="Times New Roman"/>
                <a:cs typeface="Times New Roman"/>
              </a:rPr>
              <a:t>n	</a:t>
            </a:r>
            <a:r>
              <a:rPr sz="2800" b="1" i="1" spc="-5" dirty="0">
                <a:latin typeface="Times New Roman"/>
                <a:cs typeface="Times New Roman"/>
              </a:rPr>
              <a:t>referre</a:t>
            </a:r>
            <a:r>
              <a:rPr sz="2800" b="1" i="1" dirty="0">
                <a:latin typeface="Times New Roman"/>
                <a:cs typeface="Times New Roman"/>
              </a:rPr>
              <a:t>d	to	</a:t>
            </a:r>
            <a:r>
              <a:rPr sz="2800" b="1" i="1" spc="-5" dirty="0">
                <a:latin typeface="Times New Roman"/>
                <a:cs typeface="Times New Roman"/>
              </a:rPr>
              <a:t>a</a:t>
            </a:r>
            <a:r>
              <a:rPr sz="2800" b="1" i="1" dirty="0">
                <a:latin typeface="Times New Roman"/>
                <a:cs typeface="Times New Roman"/>
              </a:rPr>
              <a:t>s	</a:t>
            </a:r>
            <a:r>
              <a:rPr sz="2800" b="1" i="1" spc="-5" dirty="0">
                <a:latin typeface="Times New Roman"/>
                <a:cs typeface="Times New Roman"/>
              </a:rPr>
              <a:t>wireless  communication.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7.22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05973" y="4514528"/>
            <a:ext cx="4699000" cy="1659889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65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2981325">
              <a:lnSpc>
                <a:spcPct val="100000"/>
              </a:lnSpc>
              <a:spcBef>
                <a:spcPts val="400"/>
              </a:spcBef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Radio</a:t>
            </a:r>
            <a:r>
              <a:rPr sz="2400" b="1" spc="-10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30" dirty="0">
                <a:solidFill>
                  <a:srgbClr val="0033CC"/>
                </a:solidFill>
                <a:latin typeface="Times New Roman"/>
                <a:cs typeface="Times New Roman"/>
              </a:rPr>
              <a:t>Waves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Microwaves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Infrared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73475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7.17	</a:t>
            </a:r>
            <a:r>
              <a:rPr sz="2000" i="1" spc="-5" dirty="0">
                <a:latin typeface="Times New Roman"/>
                <a:cs typeface="Times New Roman"/>
              </a:rPr>
              <a:t>Electromagnetic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spectrum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for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wireless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communication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389" y="2939795"/>
            <a:ext cx="8401050" cy="21336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7.23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3879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7.18	</a:t>
            </a:r>
            <a:r>
              <a:rPr sz="2000" i="1" spc="-5" dirty="0">
                <a:latin typeface="Times New Roman"/>
                <a:cs typeface="Times New Roman"/>
              </a:rPr>
              <a:t>Propagation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methods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3167" y="2266950"/>
            <a:ext cx="8500871" cy="356844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7.24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9101" y="1039621"/>
            <a:ext cx="201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7310" algn="l"/>
              </a:tabLst>
            </a:pPr>
            <a:r>
              <a:rPr sz="2400" spc="-225" dirty="0">
                <a:solidFill>
                  <a:srgbClr val="3333CC"/>
                </a:solidFill>
              </a:rPr>
              <a:t>T</a:t>
            </a:r>
            <a:r>
              <a:rPr sz="2400" dirty="0">
                <a:solidFill>
                  <a:srgbClr val="3333CC"/>
                </a:solidFill>
              </a:rPr>
              <a:t>a</a:t>
            </a:r>
            <a:r>
              <a:rPr sz="2400" spc="-10" dirty="0">
                <a:solidFill>
                  <a:srgbClr val="3333CC"/>
                </a:solidFill>
              </a:rPr>
              <a:t>bl</a:t>
            </a:r>
            <a:r>
              <a:rPr sz="2400" dirty="0">
                <a:solidFill>
                  <a:srgbClr val="3333CC"/>
                </a:solidFill>
              </a:rPr>
              <a:t>e</a:t>
            </a:r>
            <a:r>
              <a:rPr sz="2400" spc="-10" dirty="0">
                <a:solidFill>
                  <a:srgbClr val="3333CC"/>
                </a:solidFill>
              </a:rPr>
              <a:t> </a:t>
            </a:r>
            <a:r>
              <a:rPr sz="2400" dirty="0">
                <a:solidFill>
                  <a:srgbClr val="3333CC"/>
                </a:solidFill>
              </a:rPr>
              <a:t>7.4	</a:t>
            </a:r>
            <a:r>
              <a:rPr sz="2000" i="1" spc="-10" dirty="0">
                <a:latin typeface="Times New Roman"/>
                <a:cs typeface="Times New Roman"/>
              </a:rPr>
              <a:t>B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-10" dirty="0">
                <a:latin typeface="Times New Roman"/>
                <a:cs typeface="Times New Roman"/>
              </a:rPr>
              <a:t>n</a:t>
            </a:r>
            <a:r>
              <a:rPr sz="2000" i="1" spc="-5" dirty="0">
                <a:latin typeface="Times New Roman"/>
                <a:cs typeface="Times New Roman"/>
              </a:rPr>
              <a:t>ds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4449" y="1556766"/>
            <a:ext cx="7794498" cy="473583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7.25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6037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7.19	</a:t>
            </a:r>
            <a:r>
              <a:rPr sz="2000" i="1" spc="-15" dirty="0">
                <a:latin typeface="Times New Roman"/>
                <a:cs typeface="Times New Roman"/>
              </a:rPr>
              <a:t>Wireless </a:t>
            </a:r>
            <a:r>
              <a:rPr sz="2000" i="1" spc="-10" dirty="0">
                <a:latin typeface="Times New Roman"/>
                <a:cs typeface="Times New Roman"/>
              </a:rPr>
              <a:t>transmission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waves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7467" y="2392679"/>
            <a:ext cx="8239506" cy="277139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7.26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286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7.20	</a:t>
            </a:r>
            <a:r>
              <a:rPr sz="2000" i="1" spc="-10" dirty="0">
                <a:latin typeface="Times New Roman"/>
                <a:cs typeface="Times New Roman"/>
              </a:rPr>
              <a:t>Omnidirectional antenna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4793" y="2389632"/>
            <a:ext cx="3263646" cy="367436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7.27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73629"/>
            <a:ext cx="1143000" cy="54711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93695"/>
            <a:ext cx="71818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32039" y="2920745"/>
            <a:ext cx="8153400" cy="133350"/>
            <a:chOff x="1232039" y="2920745"/>
            <a:chExt cx="8153400" cy="133350"/>
          </a:xfrm>
        </p:grpSpPr>
        <p:sp>
          <p:nvSpPr>
            <p:cNvPr id="10" name="object 10"/>
            <p:cNvSpPr/>
            <p:nvPr/>
          </p:nvSpPr>
          <p:spPr>
            <a:xfrm>
              <a:off x="1232039" y="29778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2039" y="2920745"/>
              <a:ext cx="1143000" cy="1905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270139" y="3121151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588645" marR="582295" indent="-1905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Radio </a:t>
            </a:r>
            <a:r>
              <a:rPr sz="3200" b="1" spc="-10" dirty="0">
                <a:latin typeface="Arial"/>
                <a:cs typeface="Arial"/>
              </a:rPr>
              <a:t>waves </a:t>
            </a:r>
            <a:r>
              <a:rPr sz="3200" b="1" spc="-5" dirty="0">
                <a:latin typeface="Arial"/>
                <a:cs typeface="Arial"/>
              </a:rPr>
              <a:t>are used for </a:t>
            </a:r>
            <a:r>
              <a:rPr sz="3200" b="1" spc="-10" dirty="0">
                <a:latin typeface="Arial"/>
                <a:cs typeface="Arial"/>
              </a:rPr>
              <a:t>multicast </a:t>
            </a:r>
            <a:r>
              <a:rPr sz="3200" b="1" spc="-5" dirty="0">
                <a:latin typeface="Arial"/>
                <a:cs typeface="Arial"/>
              </a:rPr>
              <a:t> communications,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such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as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radio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and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television,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and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paging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systems.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7.28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8373" y="1133347"/>
            <a:ext cx="41865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5" dirty="0">
                <a:solidFill>
                  <a:srgbClr val="3333CC"/>
                </a:solidFill>
              </a:rPr>
              <a:t>Figure</a:t>
            </a:r>
            <a:r>
              <a:rPr sz="2400" spc="-5" dirty="0">
                <a:solidFill>
                  <a:srgbClr val="3333CC"/>
                </a:solidFill>
              </a:rPr>
              <a:t> 7.21	</a:t>
            </a:r>
            <a:r>
              <a:rPr sz="2000" i="1" spc="-5" dirty="0">
                <a:latin typeface="Times New Roman"/>
                <a:cs typeface="Times New Roman"/>
              </a:rPr>
              <a:t>Unidirectional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antennas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3791" y="2400300"/>
            <a:ext cx="7394447" cy="351129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7239" y="6559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7.29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74839" y="3777234"/>
            <a:ext cx="9144000" cy="1715770"/>
            <a:chOff x="774839" y="3777234"/>
            <a:chExt cx="9144000" cy="1715770"/>
          </a:xfrm>
        </p:grpSpPr>
        <p:sp>
          <p:nvSpPr>
            <p:cNvPr id="12" name="object 12"/>
            <p:cNvSpPr/>
            <p:nvPr/>
          </p:nvSpPr>
          <p:spPr>
            <a:xfrm>
              <a:off x="774839" y="3777246"/>
              <a:ext cx="9144000" cy="1715770"/>
            </a:xfrm>
            <a:custGeom>
              <a:avLst/>
              <a:gdLst/>
              <a:ahLst/>
              <a:cxnLst/>
              <a:rect l="l" t="t" r="r" b="b"/>
              <a:pathLst>
                <a:path w="9144000" h="171577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7250"/>
                  </a:lnTo>
                  <a:lnTo>
                    <a:pt x="495300" y="85725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5262"/>
                  </a:lnTo>
                  <a:lnTo>
                    <a:pt x="9144000" y="1715262"/>
                  </a:lnTo>
                  <a:lnTo>
                    <a:pt x="9144000" y="858012"/>
                  </a:lnTo>
                  <a:lnTo>
                    <a:pt x="9144000" y="8572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08239" y="5449824"/>
              <a:ext cx="8153400" cy="43180"/>
            </a:xfrm>
            <a:custGeom>
              <a:avLst/>
              <a:gdLst/>
              <a:ahLst/>
              <a:cxnLst/>
              <a:rect l="l" t="t" r="r" b="b"/>
              <a:pathLst>
                <a:path w="8153400" h="43179">
                  <a:moveTo>
                    <a:pt x="8153400" y="42672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42672"/>
                  </a:lnTo>
                  <a:lnTo>
                    <a:pt x="8153400" y="42672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308100" y="1174957"/>
            <a:ext cx="8077200" cy="4968668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3450" dirty="0">
              <a:latin typeface="Times New Roman"/>
              <a:cs typeface="Times New Roman"/>
            </a:endParaRPr>
          </a:p>
          <a:p>
            <a:pPr marL="960755" marR="898525" indent="-57150" algn="just"/>
            <a:r>
              <a:rPr sz="3200" b="1" spc="-10" dirty="0">
                <a:latin typeface="Arial"/>
                <a:cs typeface="Arial"/>
              </a:rPr>
              <a:t>Microwaves </a:t>
            </a:r>
            <a:r>
              <a:rPr sz="3200" b="1" spc="-5" dirty="0">
                <a:latin typeface="Arial"/>
                <a:cs typeface="Arial"/>
              </a:rPr>
              <a:t>are used for </a:t>
            </a:r>
            <a:r>
              <a:rPr sz="3200" b="1" spc="-10" dirty="0">
                <a:latin typeface="Arial"/>
                <a:cs typeface="Arial"/>
              </a:rPr>
              <a:t>unicast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communication </a:t>
            </a:r>
            <a:r>
              <a:rPr sz="3200" b="1" spc="-5" dirty="0">
                <a:latin typeface="Arial"/>
                <a:cs typeface="Arial"/>
              </a:rPr>
              <a:t>such as </a:t>
            </a:r>
            <a:r>
              <a:rPr sz="3200" b="1" spc="-10" dirty="0">
                <a:latin typeface="Arial"/>
                <a:cs typeface="Arial"/>
              </a:rPr>
              <a:t>cellular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telephones,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satellite </a:t>
            </a:r>
            <a:r>
              <a:rPr sz="3200" b="1" spc="-5" dirty="0">
                <a:latin typeface="Arial"/>
                <a:cs typeface="Arial"/>
              </a:rPr>
              <a:t>networks,</a:t>
            </a:r>
            <a:r>
              <a:rPr lang="en-IN" sz="3200" b="1" spc="-5" dirty="0">
                <a:latin typeface="Arial"/>
                <a:cs typeface="Arial"/>
              </a:rPr>
              <a:t> and</a:t>
            </a:r>
            <a:r>
              <a:rPr lang="en-IN" sz="3200" b="1" spc="-35" dirty="0">
                <a:latin typeface="Arial"/>
                <a:cs typeface="Arial"/>
              </a:rPr>
              <a:t> </a:t>
            </a:r>
            <a:r>
              <a:rPr lang="en-IN" sz="3200" b="1" spc="-10" dirty="0">
                <a:latin typeface="Arial"/>
                <a:cs typeface="Arial"/>
              </a:rPr>
              <a:t>wireless</a:t>
            </a:r>
            <a:r>
              <a:rPr lang="en-IN" sz="3200" b="1" spc="-20" dirty="0">
                <a:latin typeface="Arial"/>
                <a:cs typeface="Arial"/>
              </a:rPr>
              <a:t> </a:t>
            </a:r>
            <a:r>
              <a:rPr lang="en-IN" sz="3200" b="1" spc="-10" dirty="0">
                <a:latin typeface="Arial"/>
                <a:cs typeface="Arial"/>
              </a:rPr>
              <a:t>LANs.</a:t>
            </a:r>
          </a:p>
          <a:p>
            <a:pPr marL="960755" marR="898525" indent="-57150" algn="just"/>
            <a:r>
              <a:rPr lang="en-US" sz="3200" b="1" spc="-5" dirty="0">
                <a:latin typeface="Arial"/>
                <a:cs typeface="Arial"/>
              </a:rPr>
              <a:t>Infrared</a:t>
            </a:r>
            <a:r>
              <a:rPr lang="en-US" sz="3200" b="1" spc="-20" dirty="0">
                <a:latin typeface="Arial"/>
                <a:cs typeface="Arial"/>
              </a:rPr>
              <a:t> </a:t>
            </a:r>
            <a:r>
              <a:rPr lang="en-US" sz="3200" b="1" spc="-5" dirty="0">
                <a:latin typeface="Arial"/>
                <a:cs typeface="Arial"/>
              </a:rPr>
              <a:t>signals</a:t>
            </a:r>
            <a:r>
              <a:rPr lang="en-US" sz="3200" b="1" spc="-25" dirty="0">
                <a:latin typeface="Arial"/>
                <a:cs typeface="Arial"/>
              </a:rPr>
              <a:t> </a:t>
            </a:r>
            <a:r>
              <a:rPr lang="en-US" sz="3200" b="1" spc="-5" dirty="0">
                <a:latin typeface="Arial"/>
                <a:cs typeface="Arial"/>
              </a:rPr>
              <a:t>can</a:t>
            </a:r>
            <a:r>
              <a:rPr lang="en-US" sz="3200" b="1" spc="-25" dirty="0">
                <a:latin typeface="Arial"/>
                <a:cs typeface="Arial"/>
              </a:rPr>
              <a:t> </a:t>
            </a:r>
            <a:r>
              <a:rPr lang="en-US" sz="3200" b="1" spc="-5" dirty="0">
                <a:latin typeface="Arial"/>
                <a:cs typeface="Arial"/>
              </a:rPr>
              <a:t>be</a:t>
            </a:r>
            <a:r>
              <a:rPr lang="en-US" sz="3200" b="1" spc="-20" dirty="0">
                <a:latin typeface="Arial"/>
                <a:cs typeface="Arial"/>
              </a:rPr>
              <a:t> </a:t>
            </a:r>
            <a:r>
              <a:rPr lang="en-US" sz="3200" b="1" spc="-5" dirty="0">
                <a:latin typeface="Arial"/>
                <a:cs typeface="Arial"/>
              </a:rPr>
              <a:t>used</a:t>
            </a:r>
            <a:r>
              <a:rPr lang="en-US" sz="3200" b="1" spc="-35" dirty="0">
                <a:latin typeface="Arial"/>
                <a:cs typeface="Arial"/>
              </a:rPr>
              <a:t> </a:t>
            </a:r>
            <a:r>
              <a:rPr lang="en-US" sz="3200" b="1" spc="-5" dirty="0">
                <a:latin typeface="Arial"/>
                <a:cs typeface="Arial"/>
              </a:rPr>
              <a:t>for short- </a:t>
            </a:r>
            <a:r>
              <a:rPr lang="en-US" sz="3200" b="1" spc="-875" dirty="0">
                <a:latin typeface="Arial"/>
                <a:cs typeface="Arial"/>
              </a:rPr>
              <a:t> </a:t>
            </a:r>
            <a:r>
              <a:rPr lang="en-US" sz="3200" b="1" spc="-10" dirty="0">
                <a:latin typeface="Arial"/>
                <a:cs typeface="Arial"/>
              </a:rPr>
              <a:t>range communication </a:t>
            </a:r>
            <a:r>
              <a:rPr lang="en-US" sz="3200" b="1" spc="-5" dirty="0">
                <a:latin typeface="Arial"/>
                <a:cs typeface="Arial"/>
              </a:rPr>
              <a:t>in a </a:t>
            </a:r>
            <a:r>
              <a:rPr lang="en-US" sz="3200" b="1" spc="-10" dirty="0">
                <a:latin typeface="Arial"/>
                <a:cs typeface="Arial"/>
              </a:rPr>
              <a:t>closed area </a:t>
            </a:r>
            <a:r>
              <a:rPr lang="en-US" sz="3200" b="1" spc="-875" dirty="0">
                <a:latin typeface="Arial"/>
                <a:cs typeface="Arial"/>
              </a:rPr>
              <a:t> </a:t>
            </a:r>
            <a:r>
              <a:rPr lang="en-US" sz="3200" b="1" spc="-5" dirty="0">
                <a:latin typeface="Arial"/>
                <a:cs typeface="Arial"/>
              </a:rPr>
              <a:t>using</a:t>
            </a:r>
            <a:r>
              <a:rPr lang="en-US" sz="3200" b="1" spc="-25" dirty="0">
                <a:latin typeface="Arial"/>
                <a:cs typeface="Arial"/>
              </a:rPr>
              <a:t> </a:t>
            </a:r>
            <a:r>
              <a:rPr lang="en-US" sz="3200" b="1" spc="-10" dirty="0">
                <a:latin typeface="Arial"/>
                <a:cs typeface="Arial"/>
              </a:rPr>
              <a:t>line-of-sight</a:t>
            </a:r>
            <a:r>
              <a:rPr lang="en-US" sz="3200" b="1" spc="-25" dirty="0">
                <a:latin typeface="Arial"/>
                <a:cs typeface="Arial"/>
              </a:rPr>
              <a:t> </a:t>
            </a:r>
            <a:r>
              <a:rPr lang="en-US" sz="3200" b="1" spc="-10" dirty="0">
                <a:latin typeface="Arial"/>
                <a:cs typeface="Arial"/>
              </a:rPr>
              <a:t>propagation.</a:t>
            </a:r>
            <a:endParaRPr lang="en-US" sz="3200" dirty="0">
              <a:latin typeface="Arial"/>
              <a:cs typeface="Arial"/>
            </a:endParaRPr>
          </a:p>
          <a:p>
            <a:pPr marL="960755" marR="898525" indent="-57150" algn="just">
              <a:lnSpc>
                <a:spcPct val="100000"/>
              </a:lnSpc>
            </a:pPr>
            <a:endParaRPr sz="32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7.30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345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8.1	</a:t>
            </a:r>
            <a:r>
              <a:rPr sz="2000" i="1" spc="-5" dirty="0">
                <a:latin typeface="Times New Roman"/>
                <a:cs typeface="Times New Roman"/>
              </a:rPr>
              <a:t>Switched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6117" y="2253995"/>
            <a:ext cx="6691121" cy="328955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8.2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830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8.2	</a:t>
            </a:r>
            <a:r>
              <a:rPr sz="2000" i="1" spc="-25" dirty="0">
                <a:latin typeface="Times New Roman"/>
                <a:cs typeface="Times New Roman"/>
              </a:rPr>
              <a:t>Taxonomy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switched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networks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941" y="2114550"/>
            <a:ext cx="8327897" cy="341604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8.3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158875" algn="l"/>
              </a:tabLst>
            </a:pPr>
            <a:r>
              <a:rPr spc="-5" dirty="0"/>
              <a:t>8-1	</a:t>
            </a:r>
            <a:r>
              <a:rPr spc="-25" dirty="0"/>
              <a:t>CIRCUIT-SWITCHED</a:t>
            </a:r>
            <a:r>
              <a:rPr spc="10" dirty="0"/>
              <a:t> </a:t>
            </a:r>
            <a:r>
              <a:rPr spc="-5" dirty="0"/>
              <a:t>NETWORKS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05973" y="1907539"/>
            <a:ext cx="8223250" cy="486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circuit-switched network consists </a:t>
            </a:r>
            <a:r>
              <a:rPr sz="2800" b="1" i="1" dirty="0">
                <a:latin typeface="Times New Roman"/>
                <a:cs typeface="Times New Roman"/>
              </a:rPr>
              <a:t>of a </a:t>
            </a:r>
            <a:r>
              <a:rPr sz="2800" b="1" i="1" spc="-5" dirty="0">
                <a:latin typeface="Times New Roman"/>
                <a:cs typeface="Times New Roman"/>
              </a:rPr>
              <a:t>set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10" dirty="0">
                <a:latin typeface="Times New Roman"/>
                <a:cs typeface="Times New Roman"/>
              </a:rPr>
              <a:t>switches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connected by physical links.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connection between two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stations is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dedicated path made </a:t>
            </a:r>
            <a:r>
              <a:rPr sz="2800" b="1" i="1" dirty="0">
                <a:latin typeface="Times New Roman"/>
                <a:cs typeface="Times New Roman"/>
              </a:rPr>
              <a:t>of one or </a:t>
            </a:r>
            <a:r>
              <a:rPr sz="2800" b="1" i="1" spc="-5" dirty="0">
                <a:latin typeface="Times New Roman"/>
                <a:cs typeface="Times New Roman"/>
              </a:rPr>
              <a:t>more </a:t>
            </a:r>
            <a:r>
              <a:rPr sz="2800" b="1" i="1" spc="-204" dirty="0">
                <a:latin typeface="Times New Roman"/>
                <a:cs typeface="Times New Roman"/>
              </a:rPr>
              <a:t>links.. </a:t>
            </a:r>
            <a:r>
              <a:rPr sz="2800" b="1" i="1" spc="-200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However,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connection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only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dedicated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 on each </a:t>
            </a:r>
            <a:r>
              <a:rPr sz="2800" b="1" i="1" spc="-120" dirty="0">
                <a:latin typeface="Times New Roman"/>
                <a:cs typeface="Times New Roman"/>
              </a:rPr>
              <a:t>link..</a:t>
            </a:r>
            <a:r>
              <a:rPr sz="2800" b="1" i="1" spc="-114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 link </a:t>
            </a:r>
            <a:r>
              <a:rPr sz="2800" b="1" i="1" dirty="0">
                <a:latin typeface="Times New Roman"/>
                <a:cs typeface="Times New Roman"/>
              </a:rPr>
              <a:t>is </a:t>
            </a:r>
            <a:r>
              <a:rPr sz="2800" b="1" i="1" spc="-5" dirty="0">
                <a:latin typeface="Times New Roman"/>
                <a:cs typeface="Times New Roman"/>
              </a:rPr>
              <a:t>normally divided </a:t>
            </a:r>
            <a:r>
              <a:rPr sz="2800" b="1" i="1" dirty="0">
                <a:latin typeface="Times New Roman"/>
                <a:cs typeface="Times New Roman"/>
              </a:rPr>
              <a:t> into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 channels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by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using </a:t>
            </a:r>
            <a:r>
              <a:rPr sz="2800" b="1" i="1" spc="-5" dirty="0">
                <a:latin typeface="Times New Roman"/>
                <a:cs typeface="Times New Roman"/>
              </a:rPr>
              <a:t>FDM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or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TDM.</a:t>
            </a:r>
            <a:endParaRPr sz="280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2635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6473190">
              <a:lnSpc>
                <a:spcPct val="100000"/>
              </a:lnSpc>
              <a:spcBef>
                <a:spcPts val="400"/>
              </a:spcBef>
            </a:pP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Three</a:t>
            </a:r>
            <a:r>
              <a:rPr sz="2400" b="1" spc="-114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Phases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Efficiency </a:t>
            </a:r>
            <a:r>
              <a:rPr sz="2400" b="1" spc="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Delay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Circuit-Switched</a:t>
            </a:r>
            <a:r>
              <a:rPr sz="2400" b="1" spc="-5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Technology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in</a:t>
            </a:r>
            <a:r>
              <a:rPr sz="2400" b="1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Telephone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Networks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8.4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235585" marR="230504" algn="ctr">
              <a:lnSpc>
                <a:spcPct val="100000"/>
              </a:lnSpc>
              <a:spcBef>
                <a:spcPts val="275"/>
              </a:spcBef>
              <a:tabLst>
                <a:tab pos="3229610" algn="l"/>
              </a:tabLst>
            </a:pPr>
            <a:r>
              <a:rPr sz="3200" b="1" spc="-5" dirty="0">
                <a:latin typeface="Arial"/>
                <a:cs typeface="Arial"/>
              </a:rPr>
              <a:t>A </a:t>
            </a:r>
            <a:r>
              <a:rPr sz="3200" b="1" spc="-10" dirty="0">
                <a:latin typeface="Arial"/>
                <a:cs typeface="Arial"/>
              </a:rPr>
              <a:t>circuit-switched network </a:t>
            </a:r>
            <a:r>
              <a:rPr sz="3200" b="1" spc="-5" dirty="0">
                <a:latin typeface="Arial"/>
                <a:cs typeface="Arial"/>
              </a:rPr>
              <a:t>is </a:t>
            </a:r>
            <a:r>
              <a:rPr sz="3200" b="1" spc="-10" dirty="0">
                <a:latin typeface="Arial"/>
                <a:cs typeface="Arial"/>
              </a:rPr>
              <a:t>made </a:t>
            </a:r>
            <a:r>
              <a:rPr sz="3200" b="1" spc="-5" dirty="0">
                <a:latin typeface="Arial"/>
                <a:cs typeface="Arial"/>
              </a:rPr>
              <a:t>of a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set of switches </a:t>
            </a:r>
            <a:r>
              <a:rPr sz="3200" b="1" spc="-10" dirty="0">
                <a:latin typeface="Arial"/>
                <a:cs typeface="Arial"/>
              </a:rPr>
              <a:t>connected </a:t>
            </a:r>
            <a:r>
              <a:rPr sz="3200" b="1" spc="-5" dirty="0">
                <a:latin typeface="Arial"/>
                <a:cs typeface="Arial"/>
              </a:rPr>
              <a:t>by physical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links,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which	</a:t>
            </a:r>
            <a:r>
              <a:rPr sz="3200" b="1" spc="-10" dirty="0">
                <a:latin typeface="Arial"/>
                <a:cs typeface="Arial"/>
              </a:rPr>
              <a:t>each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link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is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divided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into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i="1" spc="-5" dirty="0">
                <a:latin typeface="Arial"/>
                <a:cs typeface="Arial"/>
              </a:rPr>
              <a:t>n</a:t>
            </a:r>
            <a:r>
              <a:rPr sz="3200" b="1" i="1" spc="-1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channels.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5187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8.5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963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8.3	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-10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trivial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circuit-switched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069" y="1786127"/>
            <a:ext cx="7532369" cy="450646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8.6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232039" y="25206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872995"/>
            <a:ext cx="1143000" cy="56692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270139" y="2651010"/>
            <a:ext cx="8077200" cy="2841625"/>
          </a:xfrm>
          <a:custGeom>
            <a:avLst/>
            <a:gdLst/>
            <a:ahLst/>
            <a:cxnLst/>
            <a:rect l="l" t="t" r="r" b="b"/>
            <a:pathLst>
              <a:path w="8077200" h="2841625">
                <a:moveTo>
                  <a:pt x="8077200" y="0"/>
                </a:moveTo>
                <a:lnTo>
                  <a:pt x="0" y="0"/>
                </a:lnTo>
                <a:lnTo>
                  <a:pt x="0" y="268986"/>
                </a:lnTo>
                <a:lnTo>
                  <a:pt x="0" y="269748"/>
                </a:lnTo>
                <a:lnTo>
                  <a:pt x="0" y="2841498"/>
                </a:lnTo>
                <a:lnTo>
                  <a:pt x="8077200" y="2841498"/>
                </a:lnTo>
                <a:lnTo>
                  <a:pt x="8077200" y="268986"/>
                </a:lnTo>
                <a:lnTo>
                  <a:pt x="8077200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44123" y="18938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86034" y="3161030"/>
            <a:ext cx="7644130" cy="246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  <a:tabLst>
                <a:tab pos="1205865" algn="l"/>
              </a:tabLst>
            </a:pPr>
            <a:r>
              <a:rPr sz="3200" b="1" spc="-5" dirty="0">
                <a:latin typeface="Arial"/>
                <a:cs typeface="Arial"/>
              </a:rPr>
              <a:t>In </a:t>
            </a:r>
            <a:r>
              <a:rPr sz="3200" b="1" spc="-10" dirty="0">
                <a:latin typeface="Arial"/>
                <a:cs typeface="Arial"/>
              </a:rPr>
              <a:t>circuit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switching,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resources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need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to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be	</a:t>
            </a:r>
            <a:r>
              <a:rPr sz="3200" b="1" spc="-10" dirty="0">
                <a:latin typeface="Arial"/>
                <a:cs typeface="Arial"/>
              </a:rPr>
              <a:t>reserved </a:t>
            </a:r>
            <a:r>
              <a:rPr sz="3200" b="1" spc="-5" dirty="0">
                <a:latin typeface="Arial"/>
                <a:cs typeface="Arial"/>
              </a:rPr>
              <a:t>during the </a:t>
            </a:r>
            <a:r>
              <a:rPr sz="3200" b="1" spc="-10" dirty="0">
                <a:latin typeface="Arial"/>
                <a:cs typeface="Arial"/>
              </a:rPr>
              <a:t>setup phase;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resources remain dedicated </a:t>
            </a:r>
            <a:r>
              <a:rPr sz="3200" b="1" spc="-5" dirty="0">
                <a:latin typeface="Arial"/>
                <a:cs typeface="Arial"/>
              </a:rPr>
              <a:t>for </a:t>
            </a:r>
            <a:r>
              <a:rPr sz="3200" b="1" spc="-10" dirty="0">
                <a:latin typeface="Arial"/>
                <a:cs typeface="Arial"/>
              </a:rPr>
              <a:t>the 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entire duration</a:t>
            </a:r>
            <a:r>
              <a:rPr sz="3200" b="1" spc="-5" dirty="0">
                <a:latin typeface="Arial"/>
                <a:cs typeface="Arial"/>
              </a:rPr>
              <a:t> of data</a:t>
            </a:r>
            <a:r>
              <a:rPr sz="3200" b="1" spc="-10" dirty="0">
                <a:latin typeface="Arial"/>
                <a:cs typeface="Arial"/>
              </a:rPr>
              <a:t> transfer</a:t>
            </a:r>
            <a:r>
              <a:rPr sz="3200" b="1" spc="-5" dirty="0">
                <a:latin typeface="Arial"/>
                <a:cs typeface="Arial"/>
              </a:rPr>
              <a:t> until </a:t>
            </a:r>
            <a:r>
              <a:rPr sz="3200" b="1" spc="-10" dirty="0">
                <a:latin typeface="Arial"/>
                <a:cs typeface="Arial"/>
              </a:rPr>
              <a:t>the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teardown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phase.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8.7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8097" y="368299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8.1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62" y="1589024"/>
            <a:ext cx="8531225" cy="3866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trivial example, let </a:t>
            </a:r>
            <a:r>
              <a:rPr sz="2800" b="1" i="1" dirty="0">
                <a:latin typeface="Times New Roman"/>
                <a:cs typeface="Times New Roman"/>
              </a:rPr>
              <a:t>us </a:t>
            </a:r>
            <a:r>
              <a:rPr sz="2800" b="1" i="1" spc="-5" dirty="0">
                <a:latin typeface="Times New Roman"/>
                <a:cs typeface="Times New Roman"/>
              </a:rPr>
              <a:t>use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circuit-switched network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connect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eight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telephones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small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area.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Communication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through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4-kHz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voice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channels.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 </a:t>
            </a:r>
            <a:r>
              <a:rPr sz="2800" b="1" i="1" spc="-10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assume that each link uses FDM to connect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maximum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 two voice channels. The bandwidth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each link is then </a:t>
            </a:r>
            <a:r>
              <a:rPr sz="2800" b="1" i="1" dirty="0">
                <a:latin typeface="Times New Roman"/>
                <a:cs typeface="Times New Roman"/>
              </a:rPr>
              <a:t> 8</a:t>
            </a:r>
            <a:r>
              <a:rPr sz="2800" b="1" i="1" spc="6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kHz.</a:t>
            </a:r>
            <a:r>
              <a:rPr sz="2800" b="1" i="1" spc="6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Figure</a:t>
            </a:r>
            <a:r>
              <a:rPr sz="2800" b="1" i="1" spc="6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8.4</a:t>
            </a:r>
            <a:r>
              <a:rPr sz="2800" b="1" i="1" spc="6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shows</a:t>
            </a:r>
            <a:r>
              <a:rPr sz="2800" b="1" i="1" spc="6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6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situation.</a:t>
            </a:r>
            <a:r>
              <a:rPr sz="2800" b="1" i="1" spc="655" dirty="0">
                <a:latin typeface="Times New Roman"/>
                <a:cs typeface="Times New Roman"/>
              </a:rPr>
              <a:t> </a:t>
            </a:r>
            <a:r>
              <a:rPr sz="2800" b="1" i="1" spc="-35" dirty="0">
                <a:latin typeface="Times New Roman"/>
                <a:cs typeface="Times New Roman"/>
              </a:rPr>
              <a:t>Telephone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6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connected to telephone </a:t>
            </a:r>
            <a:r>
              <a:rPr sz="2800" b="1" i="1" dirty="0">
                <a:latin typeface="Times New Roman"/>
                <a:cs typeface="Times New Roman"/>
              </a:rPr>
              <a:t>7; 2 </a:t>
            </a:r>
            <a:r>
              <a:rPr sz="2800" b="1" i="1" spc="-5" dirty="0">
                <a:latin typeface="Times New Roman"/>
                <a:cs typeface="Times New Roman"/>
              </a:rPr>
              <a:t>to 5; </a:t>
            </a:r>
            <a:r>
              <a:rPr sz="2800" b="1" i="1" dirty="0">
                <a:latin typeface="Times New Roman"/>
                <a:cs typeface="Times New Roman"/>
              </a:rPr>
              <a:t>3 </a:t>
            </a:r>
            <a:r>
              <a:rPr sz="2800" b="1" i="1" spc="-5" dirty="0">
                <a:latin typeface="Times New Roman"/>
                <a:cs typeface="Times New Roman"/>
              </a:rPr>
              <a:t>to </a:t>
            </a:r>
            <a:r>
              <a:rPr sz="2800" b="1" i="1" dirty="0">
                <a:latin typeface="Times New Roman"/>
                <a:cs typeface="Times New Roman"/>
              </a:rPr>
              <a:t>8; and 4 to 6. </a:t>
            </a:r>
            <a:r>
              <a:rPr sz="2800" b="1" i="1" spc="-5" dirty="0">
                <a:latin typeface="Times New Roman"/>
                <a:cs typeface="Times New Roman"/>
              </a:rPr>
              <a:t>Of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course </a:t>
            </a:r>
            <a:r>
              <a:rPr sz="2800" b="1" i="1" dirty="0">
                <a:latin typeface="Times New Roman"/>
                <a:cs typeface="Times New Roman"/>
              </a:rPr>
              <a:t>the </a:t>
            </a:r>
            <a:r>
              <a:rPr sz="2800" b="1" i="1" spc="-5" dirty="0">
                <a:latin typeface="Times New Roman"/>
                <a:cs typeface="Times New Roman"/>
              </a:rPr>
              <a:t>situation may change when new connections </a:t>
            </a:r>
            <a:r>
              <a:rPr sz="2800" b="1" i="1" dirty="0">
                <a:latin typeface="Times New Roman"/>
                <a:cs typeface="Times New Roman"/>
              </a:rPr>
              <a:t> are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made.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switch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controls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connections.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8.8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309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8.4	</a:t>
            </a:r>
            <a:r>
              <a:rPr sz="2000" i="1" spc="-5" dirty="0">
                <a:latin typeface="Times New Roman"/>
                <a:cs typeface="Times New Roman"/>
              </a:rPr>
              <a:t>Circuit-switched network used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 Example 8.1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825" y="2330195"/>
            <a:ext cx="8417814" cy="316458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53573" y="6860953"/>
            <a:ext cx="403860" cy="309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2000" b="1" spc="-5" dirty="0">
                <a:solidFill>
                  <a:srgbClr val="1B1B1B"/>
                </a:solidFill>
                <a:latin typeface="Arial"/>
                <a:cs typeface="Arial"/>
              </a:rPr>
              <a:t>8.9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8097" y="368299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8.2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173" y="1512824"/>
            <a:ext cx="8529320" cy="429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As another example, consider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circuit-switched network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that connects computers </a:t>
            </a: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two remote </a:t>
            </a:r>
            <a:r>
              <a:rPr sz="2800" b="1" i="1" spc="-10" dirty="0">
                <a:latin typeface="Times New Roman"/>
                <a:cs typeface="Times New Roman"/>
              </a:rPr>
              <a:t>offices </a:t>
            </a:r>
            <a:r>
              <a:rPr sz="2800" b="1" i="1" spc="-5" dirty="0">
                <a:latin typeface="Times New Roman"/>
                <a:cs typeface="Times New Roman"/>
              </a:rPr>
              <a:t>of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private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20" dirty="0">
                <a:latin typeface="Times New Roman"/>
                <a:cs typeface="Times New Roman"/>
              </a:rPr>
              <a:t>company.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offices</a:t>
            </a:r>
            <a:r>
              <a:rPr sz="2800" b="1" i="1" spc="-5" dirty="0">
                <a:latin typeface="Times New Roman"/>
                <a:cs typeface="Times New Roman"/>
              </a:rPr>
              <a:t> are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connected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using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90" dirty="0">
                <a:latin typeface="Times New Roman"/>
                <a:cs typeface="Times New Roman"/>
              </a:rPr>
              <a:t>T-1</a:t>
            </a:r>
            <a:r>
              <a:rPr sz="2800" b="1" i="1" spc="5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line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leased from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communication </a:t>
            </a:r>
            <a:r>
              <a:rPr sz="2800" b="1" i="1" spc="-10" dirty="0">
                <a:latin typeface="Times New Roman"/>
                <a:cs typeface="Times New Roman"/>
              </a:rPr>
              <a:t>service </a:t>
            </a:r>
            <a:r>
              <a:rPr sz="2800" b="1" i="1" spc="-25" dirty="0">
                <a:latin typeface="Times New Roman"/>
                <a:cs typeface="Times New Roman"/>
              </a:rPr>
              <a:t>provider. </a:t>
            </a:r>
            <a:r>
              <a:rPr sz="2800" b="1" i="1" spc="-5" dirty="0">
                <a:latin typeface="Times New Roman"/>
                <a:cs typeface="Times New Roman"/>
              </a:rPr>
              <a:t>There are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two</a:t>
            </a:r>
            <a:r>
              <a:rPr sz="2800" b="1" i="1" dirty="0">
                <a:latin typeface="Times New Roman"/>
                <a:cs typeface="Times New Roman"/>
              </a:rPr>
              <a:t> 4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8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(4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inputs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and</a:t>
            </a:r>
            <a:r>
              <a:rPr sz="2800" b="1" i="1" dirty="0">
                <a:latin typeface="Times New Roman"/>
                <a:cs typeface="Times New Roman"/>
              </a:rPr>
              <a:t> 8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outputs)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switches</a:t>
            </a:r>
            <a:r>
              <a:rPr sz="2800" b="1" i="1" dirty="0">
                <a:latin typeface="Times New Roman"/>
                <a:cs typeface="Times New Roman"/>
              </a:rPr>
              <a:t> in</a:t>
            </a:r>
            <a:r>
              <a:rPr sz="2800" b="1" i="1" spc="7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network.</a:t>
            </a:r>
            <a:r>
              <a:rPr sz="2800" b="1" i="1" spc="5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For</a:t>
            </a:r>
            <a:r>
              <a:rPr sz="2800" b="1" i="1" spc="5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spc="5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switch,</a:t>
            </a:r>
            <a:r>
              <a:rPr sz="2800" b="1" i="1" spc="56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four</a:t>
            </a:r>
            <a:r>
              <a:rPr sz="2800" b="1" i="1" spc="5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output</a:t>
            </a:r>
            <a:r>
              <a:rPr sz="2800" b="1" i="1" spc="5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ports</a:t>
            </a:r>
            <a:r>
              <a:rPr sz="2800" b="1" i="1" spc="5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are</a:t>
            </a:r>
            <a:r>
              <a:rPr sz="2800" b="1" i="1" spc="5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folded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input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ports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allow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communication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between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computers </a:t>
            </a:r>
            <a:r>
              <a:rPr sz="2800" b="1" i="1" dirty="0">
                <a:latin typeface="Times New Roman"/>
                <a:cs typeface="Times New Roman"/>
              </a:rPr>
              <a:t>in the </a:t>
            </a:r>
            <a:r>
              <a:rPr sz="2800" b="1" i="1" spc="-5" dirty="0">
                <a:latin typeface="Times New Roman"/>
                <a:cs typeface="Times New Roman"/>
              </a:rPr>
              <a:t>same </a:t>
            </a:r>
            <a:r>
              <a:rPr sz="2800" b="1" i="1" spc="-10" dirty="0">
                <a:latin typeface="Times New Roman"/>
                <a:cs typeface="Times New Roman"/>
              </a:rPr>
              <a:t>office.</a:t>
            </a:r>
            <a:r>
              <a:rPr sz="2800" b="1" i="1" spc="-5" dirty="0">
                <a:latin typeface="Times New Roman"/>
                <a:cs typeface="Times New Roman"/>
              </a:rPr>
              <a:t> Four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other</a:t>
            </a:r>
            <a:r>
              <a:rPr sz="2800" b="1" i="1" dirty="0">
                <a:latin typeface="Times New Roman"/>
                <a:cs typeface="Times New Roman"/>
              </a:rPr>
              <a:t> output </a:t>
            </a:r>
            <a:r>
              <a:rPr sz="2800" b="1" i="1" spc="-5" dirty="0">
                <a:latin typeface="Times New Roman"/>
                <a:cs typeface="Times New Roman"/>
              </a:rPr>
              <a:t>ports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allow communication between the two </a:t>
            </a:r>
            <a:r>
              <a:rPr sz="2800" b="1" i="1" spc="-10" dirty="0">
                <a:latin typeface="Times New Roman"/>
                <a:cs typeface="Times New Roman"/>
              </a:rPr>
              <a:t>offices. </a:t>
            </a:r>
            <a:r>
              <a:rPr sz="2800" b="1" i="1" spc="-5" dirty="0">
                <a:latin typeface="Times New Roman"/>
                <a:cs typeface="Times New Roman"/>
              </a:rPr>
              <a:t>Figure 8.5 </a:t>
            </a:r>
            <a:r>
              <a:rPr sz="2800" b="1" i="1" dirty="0">
                <a:latin typeface="Times New Roman"/>
                <a:cs typeface="Times New Roman"/>
              </a:rPr>
              <a:t> shows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situation.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8.10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309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8.5	</a:t>
            </a:r>
            <a:r>
              <a:rPr sz="2000" i="1" spc="-5" dirty="0">
                <a:latin typeface="Times New Roman"/>
                <a:cs typeface="Times New Roman"/>
              </a:rPr>
              <a:t>Circuit-switched network used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 Example 8.2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825" y="2425445"/>
            <a:ext cx="8417814" cy="340994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8.11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197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8.6	</a:t>
            </a:r>
            <a:r>
              <a:rPr sz="2000" i="1" spc="-5" dirty="0">
                <a:latin typeface="Times New Roman"/>
                <a:cs typeface="Times New Roman"/>
              </a:rPr>
              <a:t>Delay in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 circuit-switched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567" y="1941576"/>
            <a:ext cx="8729471" cy="435102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8.12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73629"/>
            <a:ext cx="1143000" cy="54711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93695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32039" y="2920745"/>
            <a:ext cx="8153400" cy="133350"/>
            <a:chOff x="1232039" y="2920745"/>
            <a:chExt cx="8153400" cy="133350"/>
          </a:xfrm>
        </p:grpSpPr>
        <p:sp>
          <p:nvSpPr>
            <p:cNvPr id="10" name="object 10"/>
            <p:cNvSpPr/>
            <p:nvPr/>
          </p:nvSpPr>
          <p:spPr>
            <a:xfrm>
              <a:off x="1232039" y="29778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32039" y="2920745"/>
              <a:ext cx="1143000" cy="1905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488315" marR="484505" algn="ctr">
              <a:lnSpc>
                <a:spcPct val="100000"/>
              </a:lnSpc>
              <a:spcBef>
                <a:spcPts val="275"/>
              </a:spcBef>
            </a:pPr>
            <a:r>
              <a:rPr sz="3200" b="1" spc="-10" dirty="0">
                <a:latin typeface="Arial"/>
                <a:cs typeface="Arial"/>
              </a:rPr>
              <a:t>Switching </a:t>
            </a:r>
            <a:r>
              <a:rPr sz="3200" b="1" spc="-5" dirty="0">
                <a:latin typeface="Arial"/>
                <a:cs typeface="Arial"/>
              </a:rPr>
              <a:t>at the </a:t>
            </a:r>
            <a:r>
              <a:rPr sz="3200" b="1" spc="-10" dirty="0">
                <a:latin typeface="Arial"/>
                <a:cs typeface="Arial"/>
              </a:rPr>
              <a:t>physical layer </a:t>
            </a:r>
            <a:r>
              <a:rPr sz="3200" b="1" spc="-5" dirty="0">
                <a:latin typeface="Arial"/>
                <a:cs typeface="Arial"/>
              </a:rPr>
              <a:t>in </a:t>
            </a:r>
            <a:r>
              <a:rPr sz="3200" b="1" spc="-10" dirty="0">
                <a:latin typeface="Arial"/>
                <a:cs typeface="Arial"/>
              </a:rPr>
              <a:t>the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traditional telephone network </a:t>
            </a:r>
            <a:r>
              <a:rPr sz="3200" b="1" spc="-10" dirty="0">
                <a:latin typeface="Arial"/>
                <a:cs typeface="Arial"/>
              </a:rPr>
              <a:t>uses </a:t>
            </a:r>
            <a:r>
              <a:rPr sz="3200" b="1" spc="-5" dirty="0">
                <a:latin typeface="Arial"/>
                <a:cs typeface="Arial"/>
              </a:rPr>
              <a:t> the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circuit-switching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approach.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8.13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158875" algn="l"/>
              </a:tabLst>
            </a:pPr>
            <a:r>
              <a:rPr spc="-5" dirty="0"/>
              <a:t>8-2	</a:t>
            </a:r>
            <a:r>
              <a:rPr spc="-65" dirty="0"/>
              <a:t>DATAGRAM</a:t>
            </a:r>
            <a:r>
              <a:rPr spc="5" dirty="0"/>
              <a:t> </a:t>
            </a:r>
            <a:r>
              <a:rPr spc="-5" dirty="0"/>
              <a:t>NETWORKS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05973" y="1907539"/>
            <a:ext cx="8224520" cy="486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In </a:t>
            </a:r>
            <a:r>
              <a:rPr sz="2800" b="1" i="1" spc="-5" dirty="0">
                <a:latin typeface="Times New Roman"/>
                <a:cs typeface="Times New Roman"/>
              </a:rPr>
              <a:t>data communications, we need to send messages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from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one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end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system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25" dirty="0">
                <a:latin typeface="Times New Roman"/>
                <a:cs typeface="Times New Roman"/>
              </a:rPr>
              <a:t>another.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message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going to pass </a:t>
            </a:r>
            <a:r>
              <a:rPr sz="2800" b="1" i="1" dirty="0">
                <a:latin typeface="Times New Roman"/>
                <a:cs typeface="Times New Roman"/>
              </a:rPr>
              <a:t>through a </a:t>
            </a:r>
            <a:r>
              <a:rPr sz="2800" b="1" i="1" spc="-5" dirty="0">
                <a:latin typeface="Times New Roman"/>
                <a:cs typeface="Times New Roman"/>
              </a:rPr>
              <a:t>packet-switched network, </a:t>
            </a:r>
            <a:r>
              <a:rPr sz="2800" b="1" i="1" dirty="0">
                <a:latin typeface="Times New Roman"/>
                <a:cs typeface="Times New Roman"/>
              </a:rPr>
              <a:t>it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needs </a:t>
            </a:r>
            <a:r>
              <a:rPr sz="2800" b="1" i="1" dirty="0">
                <a:latin typeface="Times New Roman"/>
                <a:cs typeface="Times New Roman"/>
              </a:rPr>
              <a:t>to </a:t>
            </a:r>
            <a:r>
              <a:rPr sz="2800" b="1" i="1" spc="-5" dirty="0">
                <a:latin typeface="Times New Roman"/>
                <a:cs typeface="Times New Roman"/>
              </a:rPr>
              <a:t>be divided into packets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fixed or variable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20" dirty="0">
                <a:latin typeface="Times New Roman"/>
                <a:cs typeface="Times New Roman"/>
              </a:rPr>
              <a:t>size..</a:t>
            </a:r>
            <a:r>
              <a:rPr sz="2800" b="1" i="1" spc="-114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size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packet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determined</a:t>
            </a:r>
            <a:r>
              <a:rPr sz="2800" b="1" i="1" dirty="0">
                <a:latin typeface="Times New Roman"/>
                <a:cs typeface="Times New Roman"/>
              </a:rPr>
              <a:t> by</a:t>
            </a:r>
            <a:r>
              <a:rPr sz="2800" b="1" i="1" spc="7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network</a:t>
            </a:r>
            <a:r>
              <a:rPr sz="2800" b="1" i="1" spc="-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and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governing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protocol.</a:t>
            </a:r>
            <a:endParaRPr sz="280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2635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6365875">
              <a:lnSpc>
                <a:spcPct val="100000"/>
              </a:lnSpc>
              <a:spcBef>
                <a:spcPts val="400"/>
              </a:spcBef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Routing</a:t>
            </a:r>
            <a:r>
              <a:rPr sz="2400" b="1" spc="-1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0" dirty="0">
                <a:solidFill>
                  <a:srgbClr val="0033CC"/>
                </a:solidFill>
                <a:latin typeface="Times New Roman"/>
                <a:cs typeface="Times New Roman"/>
              </a:rPr>
              <a:t>Table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Efficiency </a:t>
            </a:r>
            <a:r>
              <a:rPr sz="2400" b="1" spc="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Delay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Datagram</a:t>
            </a:r>
            <a:r>
              <a:rPr sz="24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Networks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in</a:t>
            </a:r>
            <a:r>
              <a:rPr sz="24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the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Internet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8.14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576580" marR="571500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In a </a:t>
            </a:r>
            <a:r>
              <a:rPr sz="3200" b="1" spc="-10" dirty="0">
                <a:latin typeface="Arial"/>
                <a:cs typeface="Arial"/>
              </a:rPr>
              <a:t>packet-switched network, there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 no </a:t>
            </a:r>
            <a:r>
              <a:rPr sz="3200" b="1" spc="-10" dirty="0">
                <a:latin typeface="Arial"/>
                <a:cs typeface="Arial"/>
              </a:rPr>
              <a:t>resource </a:t>
            </a:r>
            <a:r>
              <a:rPr sz="3200" b="1" spc="-5" dirty="0">
                <a:latin typeface="Arial"/>
                <a:cs typeface="Arial"/>
              </a:rPr>
              <a:t>reservation;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resources </a:t>
            </a:r>
            <a:r>
              <a:rPr sz="3200" b="1" spc="-5" dirty="0">
                <a:latin typeface="Arial"/>
                <a:cs typeface="Arial"/>
              </a:rPr>
              <a:t>are </a:t>
            </a:r>
            <a:r>
              <a:rPr sz="3200" b="1" spc="-10" dirty="0">
                <a:latin typeface="Arial"/>
                <a:cs typeface="Arial"/>
              </a:rPr>
              <a:t>allocated </a:t>
            </a:r>
            <a:r>
              <a:rPr sz="3200" b="1" spc="-5" dirty="0">
                <a:latin typeface="Arial"/>
                <a:cs typeface="Arial"/>
              </a:rPr>
              <a:t>on </a:t>
            </a:r>
            <a:r>
              <a:rPr sz="3200" b="1" spc="-10" dirty="0">
                <a:latin typeface="Arial"/>
                <a:cs typeface="Arial"/>
              </a:rPr>
              <a:t>demand.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8.15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565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8.7	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-9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datagram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network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with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four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switches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(routers)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4399" y="2370582"/>
            <a:ext cx="8473440" cy="300761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8.16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347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8.8	</a:t>
            </a:r>
            <a:r>
              <a:rPr sz="2000" i="1" spc="-5" dirty="0">
                <a:latin typeface="Times New Roman"/>
                <a:cs typeface="Times New Roman"/>
              </a:rPr>
              <a:t>Routing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table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datagram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2745" y="1846326"/>
            <a:ext cx="2733294" cy="444627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8.17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314325" marR="309880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13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switch</a:t>
            </a:r>
            <a:r>
              <a:rPr sz="3200" b="1" spc="-5" dirty="0">
                <a:latin typeface="Arial"/>
                <a:cs typeface="Arial"/>
              </a:rPr>
              <a:t> in a </a:t>
            </a:r>
            <a:r>
              <a:rPr sz="3200" b="1" spc="-10" dirty="0">
                <a:latin typeface="Arial"/>
                <a:cs typeface="Arial"/>
              </a:rPr>
              <a:t>datagram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network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uses </a:t>
            </a:r>
            <a:r>
              <a:rPr sz="3200" b="1" spc="-5" dirty="0">
                <a:latin typeface="Arial"/>
                <a:cs typeface="Arial"/>
              </a:rPr>
              <a:t>a </a:t>
            </a:r>
            <a:r>
              <a:rPr sz="3200" b="1" spc="-869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routing table that is based on the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destination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address.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47304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8.18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139700" marR="136525" algn="ctr">
              <a:lnSpc>
                <a:spcPct val="100000"/>
              </a:lnSpc>
              <a:spcBef>
                <a:spcPts val="275"/>
              </a:spcBef>
            </a:pP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destination address </a:t>
            </a:r>
            <a:r>
              <a:rPr sz="3200" b="1" spc="-5" dirty="0">
                <a:latin typeface="Arial"/>
                <a:cs typeface="Arial"/>
              </a:rPr>
              <a:t>in the </a:t>
            </a:r>
            <a:r>
              <a:rPr sz="3200" b="1" spc="-10" dirty="0">
                <a:latin typeface="Arial"/>
                <a:cs typeface="Arial"/>
              </a:rPr>
              <a:t>header of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packet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in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a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datagram network</a:t>
            </a:r>
            <a:endParaRPr sz="3200">
              <a:latin typeface="Arial"/>
              <a:cs typeface="Arial"/>
            </a:endParaRPr>
          </a:p>
          <a:p>
            <a:pPr marL="667385" marR="661035" algn="ctr">
              <a:lnSpc>
                <a:spcPct val="100000"/>
              </a:lnSpc>
            </a:pPr>
            <a:r>
              <a:rPr sz="3200" b="1" spc="-10" dirty="0">
                <a:latin typeface="Arial"/>
                <a:cs typeface="Arial"/>
              </a:rPr>
              <a:t>remains </a:t>
            </a:r>
            <a:r>
              <a:rPr sz="3200" b="1" spc="-5" dirty="0">
                <a:latin typeface="Arial"/>
                <a:cs typeface="Arial"/>
              </a:rPr>
              <a:t>the </a:t>
            </a:r>
            <a:r>
              <a:rPr sz="3200" b="1" spc="-10" dirty="0">
                <a:latin typeface="Arial"/>
                <a:cs typeface="Arial"/>
              </a:rPr>
              <a:t>same </a:t>
            </a:r>
            <a:r>
              <a:rPr sz="3200" b="1" spc="-5" dirty="0">
                <a:latin typeface="Arial"/>
                <a:cs typeface="Arial"/>
              </a:rPr>
              <a:t>during the </a:t>
            </a:r>
            <a:r>
              <a:rPr sz="3200" b="1" spc="-10" dirty="0">
                <a:latin typeface="Arial"/>
                <a:cs typeface="Arial"/>
              </a:rPr>
              <a:t>entire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journey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packet.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5187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8.19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535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76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8.9	</a:t>
            </a:r>
            <a:r>
              <a:rPr sz="2000" i="1" spc="-5" dirty="0">
                <a:latin typeface="Times New Roman"/>
                <a:cs typeface="Times New Roman"/>
              </a:rPr>
              <a:t>Delay in a datagram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9189" y="2392679"/>
            <a:ext cx="8172450" cy="336651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8.20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330195"/>
            <a:ext cx="1143000" cy="56692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44123" y="23510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32039" y="29778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70139" y="3108198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623570" marR="617855" algn="ctr">
              <a:lnSpc>
                <a:spcPct val="100000"/>
              </a:lnSpc>
              <a:spcBef>
                <a:spcPts val="275"/>
              </a:spcBef>
            </a:pPr>
            <a:r>
              <a:rPr sz="3200" b="1" spc="-10" dirty="0">
                <a:latin typeface="Arial"/>
                <a:cs typeface="Arial"/>
              </a:rPr>
              <a:t>Switching </a:t>
            </a:r>
            <a:r>
              <a:rPr sz="3200" b="1" spc="-5" dirty="0">
                <a:latin typeface="Arial"/>
                <a:cs typeface="Arial"/>
              </a:rPr>
              <a:t>in the </a:t>
            </a:r>
            <a:r>
              <a:rPr sz="3200" b="1" spc="-10" dirty="0">
                <a:latin typeface="Arial"/>
                <a:cs typeface="Arial"/>
              </a:rPr>
              <a:t>Internet </a:t>
            </a:r>
            <a:r>
              <a:rPr sz="3200" b="1" spc="-5" dirty="0">
                <a:latin typeface="Arial"/>
                <a:cs typeface="Arial"/>
              </a:rPr>
              <a:t>is done </a:t>
            </a:r>
            <a:r>
              <a:rPr sz="3200" b="1" spc="-10" dirty="0">
                <a:latin typeface="Arial"/>
                <a:cs typeface="Arial"/>
              </a:rPr>
              <a:t>by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using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datagram </a:t>
            </a:r>
            <a:r>
              <a:rPr sz="3200" b="1" spc="-5" dirty="0">
                <a:latin typeface="Arial"/>
                <a:cs typeface="Arial"/>
              </a:rPr>
              <a:t>approach</a:t>
            </a:r>
            <a:endParaRPr sz="3200">
              <a:latin typeface="Arial"/>
              <a:cs typeface="Arial"/>
            </a:endParaRPr>
          </a:p>
          <a:p>
            <a:pPr marL="1920875" marR="1915160"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to </a:t>
            </a:r>
            <a:r>
              <a:rPr sz="3200" b="1" spc="-10" dirty="0">
                <a:latin typeface="Arial"/>
                <a:cs typeface="Arial"/>
              </a:rPr>
              <a:t>packet switching at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network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35" dirty="0">
                <a:latin typeface="Arial"/>
                <a:cs typeface="Arial"/>
              </a:rPr>
              <a:t>layer.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34325" y="5187696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8.21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152525" algn="l"/>
              </a:tabLst>
            </a:pPr>
            <a:r>
              <a:rPr spc="-5" dirty="0"/>
              <a:t>8-3	</a:t>
            </a:r>
            <a:r>
              <a:rPr spc="-15" dirty="0"/>
              <a:t>VIRTUAL-CIRCUIT</a:t>
            </a:r>
            <a:r>
              <a:rPr spc="-45" dirty="0"/>
              <a:t> </a:t>
            </a:r>
            <a:r>
              <a:rPr spc="-5" dirty="0"/>
              <a:t>NETWORKS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05973" y="2045461"/>
            <a:ext cx="8221980" cy="4390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465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virtual-circuit network is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cross between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circuit-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switched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network</a:t>
            </a:r>
            <a:r>
              <a:rPr sz="2800" b="1" i="1" dirty="0">
                <a:latin typeface="Times New Roman"/>
                <a:cs typeface="Times New Roman"/>
              </a:rPr>
              <a:t> and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datagram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network.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It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has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some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characteristics</a:t>
            </a:r>
            <a:r>
              <a:rPr sz="2800" b="1" i="1" spc="-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both.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2560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12700" marR="6471285">
              <a:lnSpc>
                <a:spcPct val="100000"/>
              </a:lnSpc>
              <a:spcBef>
                <a:spcPts val="400"/>
              </a:spcBef>
            </a:pP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Addressing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Three</a:t>
            </a:r>
            <a:r>
              <a:rPr sz="2400" b="1" spc="-1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Phases </a:t>
            </a:r>
            <a:r>
              <a:rPr sz="2400" b="1" spc="-58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Efficiency </a:t>
            </a:r>
            <a:r>
              <a:rPr sz="2400" b="1" spc="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Delay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Circuit-Switched</a:t>
            </a:r>
            <a:r>
              <a:rPr sz="2400" b="1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Technology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in</a:t>
            </a:r>
            <a:r>
              <a:rPr sz="2400" b="1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70" dirty="0">
                <a:solidFill>
                  <a:srgbClr val="0033CC"/>
                </a:solidFill>
                <a:latin typeface="Times New Roman"/>
                <a:cs typeface="Times New Roman"/>
              </a:rPr>
              <a:t>WANs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6348984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9143999" y="858012"/>
                </a:moveTo>
                <a:lnTo>
                  <a:pt x="9143999" y="0"/>
                </a:lnTo>
                <a:lnTo>
                  <a:pt x="0" y="0"/>
                </a:lnTo>
                <a:lnTo>
                  <a:pt x="0" y="858012"/>
                </a:lnTo>
                <a:lnTo>
                  <a:pt x="9143999" y="8580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8.22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043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8.10	</a:t>
            </a:r>
            <a:r>
              <a:rPr sz="2000" i="1" spc="-15" dirty="0">
                <a:latin typeface="Times New Roman"/>
                <a:cs typeface="Times New Roman"/>
              </a:rPr>
              <a:t>Virtual-circuit</a:t>
            </a:r>
            <a:r>
              <a:rPr sz="2000" i="1" spc="-5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9273" y="2162555"/>
            <a:ext cx="8262366" cy="382524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8.23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139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353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40" dirty="0">
                <a:solidFill>
                  <a:srgbClr val="3333CC"/>
                </a:solidFill>
              </a:rPr>
              <a:t>8.11	</a:t>
            </a:r>
            <a:r>
              <a:rPr sz="2000" i="1" spc="-15" dirty="0">
                <a:latin typeface="Times New Roman"/>
                <a:cs typeface="Times New Roman"/>
              </a:rPr>
              <a:t>Virtual-circuit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identifier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439" y="2787395"/>
            <a:ext cx="7496556" cy="202311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8.24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362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8.12	</a:t>
            </a:r>
            <a:r>
              <a:rPr sz="2000" i="1" spc="-5" dirty="0">
                <a:latin typeface="Times New Roman"/>
                <a:cs typeface="Times New Roman"/>
              </a:rPr>
              <a:t>Switch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and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tables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virtual-circuit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27239" y="1546097"/>
            <a:ext cx="8763000" cy="5165725"/>
            <a:chOff x="927239" y="1546097"/>
            <a:chExt cx="8763000" cy="51657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4439" y="1546097"/>
              <a:ext cx="7404354" cy="505129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27239" y="6635495"/>
              <a:ext cx="8763000" cy="76200"/>
            </a:xfrm>
            <a:custGeom>
              <a:avLst/>
              <a:gdLst/>
              <a:ahLst/>
              <a:cxnLst/>
              <a:rect l="l" t="t" r="r" b="b"/>
              <a:pathLst>
                <a:path w="8763000" h="76200">
                  <a:moveTo>
                    <a:pt x="8763000" y="76200"/>
                  </a:moveTo>
                  <a:lnTo>
                    <a:pt x="87630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763000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8.25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81921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8.13	</a:t>
            </a:r>
            <a:r>
              <a:rPr sz="2000" i="1" spc="-5" dirty="0">
                <a:latin typeface="Times New Roman"/>
                <a:cs typeface="Times New Roman"/>
              </a:rPr>
              <a:t>Source-to-destination data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transfer</a:t>
            </a:r>
            <a:r>
              <a:rPr sz="2000" i="1" spc="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virtual-circuit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3519" y="1560575"/>
            <a:ext cx="7513319" cy="503682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8.26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946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8.14	</a:t>
            </a:r>
            <a:r>
              <a:rPr sz="2000" i="1" spc="-5" dirty="0">
                <a:latin typeface="Times New Roman"/>
                <a:cs typeface="Times New Roman"/>
              </a:rPr>
              <a:t>Setup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request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virtual-circuit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439" y="1997201"/>
            <a:ext cx="7696200" cy="391439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8.27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948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8.15	</a:t>
            </a:r>
            <a:r>
              <a:rPr sz="2000" i="1" spc="-5" dirty="0">
                <a:latin typeface="Times New Roman"/>
                <a:cs typeface="Times New Roman"/>
              </a:rPr>
              <a:t>Setup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acknowledgment in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virtual-circuit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1673" y="2125979"/>
            <a:ext cx="8033766" cy="393801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8.28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232039" y="25206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1872995"/>
            <a:ext cx="1143000" cy="56692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1270139" y="2651010"/>
            <a:ext cx="8077200" cy="2841625"/>
          </a:xfrm>
          <a:custGeom>
            <a:avLst/>
            <a:gdLst/>
            <a:ahLst/>
            <a:cxnLst/>
            <a:rect l="l" t="t" r="r" b="b"/>
            <a:pathLst>
              <a:path w="8077200" h="2841625">
                <a:moveTo>
                  <a:pt x="8077200" y="0"/>
                </a:moveTo>
                <a:lnTo>
                  <a:pt x="0" y="0"/>
                </a:lnTo>
                <a:lnTo>
                  <a:pt x="0" y="268986"/>
                </a:lnTo>
                <a:lnTo>
                  <a:pt x="0" y="269748"/>
                </a:lnTo>
                <a:lnTo>
                  <a:pt x="0" y="2841498"/>
                </a:lnTo>
                <a:lnTo>
                  <a:pt x="8077200" y="2841498"/>
                </a:lnTo>
                <a:lnTo>
                  <a:pt x="8077200" y="268986"/>
                </a:lnTo>
                <a:lnTo>
                  <a:pt x="8077200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44123" y="18938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3099" y="2673350"/>
            <a:ext cx="7350759" cy="2951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4175" marR="5080" indent="-372110">
              <a:lnSpc>
                <a:spcPct val="100000"/>
              </a:lnSpc>
              <a:spcBef>
                <a:spcPts val="95"/>
              </a:spcBef>
              <a:tabLst>
                <a:tab pos="3582670" algn="l"/>
              </a:tabLst>
            </a:pPr>
            <a:r>
              <a:rPr sz="3200" b="1" spc="-5" dirty="0">
                <a:latin typeface="Arial"/>
                <a:cs typeface="Arial"/>
              </a:rPr>
              <a:t>In </a:t>
            </a:r>
            <a:r>
              <a:rPr sz="3200" b="1" spc="-10" dirty="0">
                <a:latin typeface="Arial"/>
                <a:cs typeface="Arial"/>
              </a:rPr>
              <a:t>virtual-circuit </a:t>
            </a:r>
            <a:r>
              <a:rPr sz="3200" b="1" spc="-5" dirty="0">
                <a:latin typeface="Arial"/>
                <a:cs typeface="Arial"/>
              </a:rPr>
              <a:t>switching, all </a:t>
            </a:r>
            <a:r>
              <a:rPr sz="3200" b="1" spc="-10" dirty="0">
                <a:latin typeface="Arial"/>
                <a:cs typeface="Arial"/>
              </a:rPr>
              <a:t>packets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belonging </a:t>
            </a:r>
            <a:r>
              <a:rPr sz="3200" b="1" spc="-5" dirty="0">
                <a:latin typeface="Arial"/>
                <a:cs typeface="Arial"/>
              </a:rPr>
              <a:t>to the </a:t>
            </a:r>
            <a:r>
              <a:rPr sz="3200" b="1" spc="-10" dirty="0">
                <a:latin typeface="Arial"/>
                <a:cs typeface="Arial"/>
              </a:rPr>
              <a:t>same source and </a:t>
            </a:r>
            <a:r>
              <a:rPr sz="3200" b="1" spc="-5" dirty="0">
                <a:latin typeface="Arial"/>
                <a:cs typeface="Arial"/>
              </a:rPr>
              <a:t> destination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travel</a:t>
            </a:r>
            <a:r>
              <a:rPr sz="3200" b="1" spc="2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same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path;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but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packets	</a:t>
            </a:r>
            <a:r>
              <a:rPr sz="3200" b="1" spc="-10" dirty="0">
                <a:latin typeface="Arial"/>
                <a:cs typeface="Arial"/>
              </a:rPr>
              <a:t>may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arrive</a:t>
            </a:r>
            <a:r>
              <a:rPr sz="3200" b="1" spc="-5" dirty="0">
                <a:latin typeface="Arial"/>
                <a:cs typeface="Arial"/>
              </a:rPr>
              <a:t> at </a:t>
            </a:r>
            <a:r>
              <a:rPr sz="3200" b="1" spc="-10" dirty="0">
                <a:latin typeface="Arial"/>
                <a:cs typeface="Arial"/>
              </a:rPr>
              <a:t>the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200" b="1" spc="-10" dirty="0">
                <a:latin typeface="Arial"/>
                <a:cs typeface="Arial"/>
              </a:rPr>
              <a:t>destination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with </a:t>
            </a:r>
            <a:r>
              <a:rPr sz="3200" b="1" spc="-10" dirty="0">
                <a:latin typeface="Arial"/>
                <a:cs typeface="Arial"/>
              </a:rPr>
              <a:t>different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delays</a:t>
            </a:r>
            <a:endParaRPr sz="3200">
              <a:latin typeface="Arial"/>
              <a:cs typeface="Arial"/>
            </a:endParaRPr>
          </a:p>
          <a:p>
            <a:pPr marL="635" algn="ctr">
              <a:lnSpc>
                <a:spcPct val="100000"/>
              </a:lnSpc>
            </a:pPr>
            <a:r>
              <a:rPr sz="3200" b="1" spc="-5" dirty="0">
                <a:latin typeface="Arial"/>
                <a:cs typeface="Arial"/>
              </a:rPr>
              <a:t>if</a:t>
            </a:r>
            <a:r>
              <a:rPr sz="3200" b="1" spc="-10" dirty="0">
                <a:latin typeface="Arial"/>
                <a:cs typeface="Arial"/>
              </a:rPr>
              <a:t> resource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allocation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on</a:t>
            </a:r>
            <a:r>
              <a:rPr sz="3200" b="1" spc="-10" dirty="0">
                <a:latin typeface="Arial"/>
                <a:cs typeface="Arial"/>
              </a:rPr>
              <a:t> demand.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74839" y="5491734"/>
            <a:ext cx="9144000" cy="858519"/>
            <a:chOff x="774839" y="5491734"/>
            <a:chExt cx="9144000" cy="858519"/>
          </a:xfrm>
        </p:grpSpPr>
        <p:sp>
          <p:nvSpPr>
            <p:cNvPr id="13" name="object 13"/>
            <p:cNvSpPr/>
            <p:nvPr/>
          </p:nvSpPr>
          <p:spPr>
            <a:xfrm>
              <a:off x="774839" y="549173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3999" y="858012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3999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34325" y="57210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70139" y="5491734"/>
              <a:ext cx="8077200" cy="176530"/>
            </a:xfrm>
            <a:custGeom>
              <a:avLst/>
              <a:gdLst/>
              <a:ahLst/>
              <a:cxnLst/>
              <a:rect l="l" t="t" r="r" b="b"/>
              <a:pathLst>
                <a:path w="8077200" h="176529">
                  <a:moveTo>
                    <a:pt x="8077200" y="17602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176022"/>
                  </a:lnTo>
                  <a:lnTo>
                    <a:pt x="8077200" y="17602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8.29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137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8.16	</a:t>
            </a:r>
            <a:r>
              <a:rPr sz="2000" i="1" spc="-5" dirty="0">
                <a:latin typeface="Times New Roman"/>
                <a:cs typeface="Times New Roman"/>
              </a:rPr>
              <a:t>Delay in a virtual-circuit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network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767" y="1822704"/>
            <a:ext cx="8729471" cy="431749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8.30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232039" y="2673095"/>
            <a:ext cx="8153400" cy="76200"/>
          </a:xfrm>
          <a:custGeom>
            <a:avLst/>
            <a:gdLst/>
            <a:ahLst/>
            <a:cxnLst/>
            <a:rect l="l" t="t" r="r" b="b"/>
            <a:pathLst>
              <a:path w="8153400" h="76200">
                <a:moveTo>
                  <a:pt x="8153400" y="76200"/>
                </a:moveTo>
                <a:lnTo>
                  <a:pt x="8153400" y="0"/>
                </a:lnTo>
                <a:lnTo>
                  <a:pt x="0" y="0"/>
                </a:lnTo>
                <a:lnTo>
                  <a:pt x="0" y="76200"/>
                </a:lnTo>
                <a:lnTo>
                  <a:pt x="8153400" y="7620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2039" y="2025395"/>
            <a:ext cx="1143000" cy="56692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44123" y="20462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74839" y="3777234"/>
            <a:ext cx="9144000" cy="1715770"/>
            <a:chOff x="774839" y="3777234"/>
            <a:chExt cx="9144000" cy="1715770"/>
          </a:xfrm>
        </p:grpSpPr>
        <p:sp>
          <p:nvSpPr>
            <p:cNvPr id="11" name="object 11"/>
            <p:cNvSpPr/>
            <p:nvPr/>
          </p:nvSpPr>
          <p:spPr>
            <a:xfrm>
              <a:off x="774839" y="3777246"/>
              <a:ext cx="9144000" cy="1715770"/>
            </a:xfrm>
            <a:custGeom>
              <a:avLst/>
              <a:gdLst/>
              <a:ahLst/>
              <a:cxnLst/>
              <a:rect l="l" t="t" r="r" b="b"/>
              <a:pathLst>
                <a:path w="9144000" h="1715770">
                  <a:moveTo>
                    <a:pt x="9144000" y="0"/>
                  </a:moveTo>
                  <a:lnTo>
                    <a:pt x="8572500" y="0"/>
                  </a:lnTo>
                  <a:lnTo>
                    <a:pt x="8572500" y="857250"/>
                  </a:lnTo>
                  <a:lnTo>
                    <a:pt x="495300" y="857250"/>
                  </a:lnTo>
                  <a:lnTo>
                    <a:pt x="4953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0" y="858012"/>
                  </a:lnTo>
                  <a:lnTo>
                    <a:pt x="0" y="1715262"/>
                  </a:lnTo>
                  <a:lnTo>
                    <a:pt x="9144000" y="1715262"/>
                  </a:lnTo>
                  <a:lnTo>
                    <a:pt x="9144000" y="858012"/>
                  </a:lnTo>
                  <a:lnTo>
                    <a:pt x="9144000" y="8572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34325" y="49590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70139" y="4634484"/>
              <a:ext cx="8077200" cy="210820"/>
            </a:xfrm>
            <a:custGeom>
              <a:avLst/>
              <a:gdLst/>
              <a:ahLst/>
              <a:cxnLst/>
              <a:rect l="l" t="t" r="r" b="b"/>
              <a:pathLst>
                <a:path w="8077200" h="210820">
                  <a:moveTo>
                    <a:pt x="8077200" y="210312"/>
                  </a:moveTo>
                  <a:lnTo>
                    <a:pt x="8077200" y="0"/>
                  </a:lnTo>
                  <a:lnTo>
                    <a:pt x="0" y="0"/>
                  </a:lnTo>
                  <a:lnTo>
                    <a:pt x="0" y="210312"/>
                  </a:lnTo>
                  <a:lnTo>
                    <a:pt x="8077200" y="210312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70139" y="2803398"/>
            <a:ext cx="8077200" cy="1831339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925" rIns="0" bIns="0" rtlCol="0">
            <a:spAutoFit/>
          </a:bodyPr>
          <a:lstStyle/>
          <a:p>
            <a:pPr marL="668655" marR="663575" algn="ctr">
              <a:lnSpc>
                <a:spcPct val="100000"/>
              </a:lnSpc>
              <a:spcBef>
                <a:spcPts val="275"/>
              </a:spcBef>
            </a:pPr>
            <a:r>
              <a:rPr sz="3200" b="1" spc="-10" dirty="0">
                <a:latin typeface="Arial"/>
                <a:cs typeface="Arial"/>
              </a:rPr>
              <a:t>Switching </a:t>
            </a:r>
            <a:r>
              <a:rPr sz="3200" b="1" spc="-5" dirty="0">
                <a:latin typeface="Arial"/>
                <a:cs typeface="Arial"/>
              </a:rPr>
              <a:t>at the data link </a:t>
            </a:r>
            <a:r>
              <a:rPr sz="3200" b="1" spc="-10" dirty="0">
                <a:latin typeface="Arial"/>
                <a:cs typeface="Arial"/>
              </a:rPr>
              <a:t>layer </a:t>
            </a:r>
            <a:r>
              <a:rPr sz="3200" b="1" spc="-5" dirty="0">
                <a:latin typeface="Arial"/>
                <a:cs typeface="Arial"/>
              </a:rPr>
              <a:t>in a </a:t>
            </a:r>
            <a:r>
              <a:rPr sz="3200" b="1" spc="-87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switched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65" dirty="0">
                <a:latin typeface="Arial"/>
                <a:cs typeface="Arial"/>
              </a:rPr>
              <a:t>WAN</a:t>
            </a:r>
            <a:r>
              <a:rPr sz="3200" b="1" spc="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is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normally 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implemented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by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5" dirty="0">
                <a:latin typeface="Arial"/>
                <a:cs typeface="Arial"/>
              </a:rPr>
              <a:t>using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ts val="2625"/>
              </a:lnSpc>
            </a:pPr>
            <a:r>
              <a:rPr sz="3200" b="1" spc="-10" dirty="0">
                <a:latin typeface="Arial"/>
                <a:cs typeface="Arial"/>
              </a:rPr>
              <a:t>virtual-circuit</a:t>
            </a:r>
            <a:r>
              <a:rPr sz="3200" b="1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techniques.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8.31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839" y="348995"/>
            <a:ext cx="9144000" cy="857250"/>
            <a:chOff x="774839" y="348995"/>
            <a:chExt cx="9144000" cy="857250"/>
          </a:xfrm>
        </p:grpSpPr>
        <p:sp>
          <p:nvSpPr>
            <p:cNvPr id="3" name="object 3"/>
            <p:cNvSpPr/>
            <p:nvPr/>
          </p:nvSpPr>
          <p:spPr>
            <a:xfrm>
              <a:off x="774839" y="348995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8572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9144000" y="8572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4827" y="349007"/>
              <a:ext cx="9144000" cy="857250"/>
            </a:xfrm>
            <a:custGeom>
              <a:avLst/>
              <a:gdLst/>
              <a:ahLst/>
              <a:cxnLst/>
              <a:rect l="l" t="t" r="r" b="b"/>
              <a:pathLst>
                <a:path w="9144000" h="857250">
                  <a:moveTo>
                    <a:pt x="9144000" y="6858"/>
                  </a:moveTo>
                  <a:lnTo>
                    <a:pt x="9140685" y="3124"/>
                  </a:lnTo>
                  <a:lnTo>
                    <a:pt x="9143873" y="3124"/>
                  </a:lnTo>
                  <a:lnTo>
                    <a:pt x="9143873" y="0"/>
                  </a:lnTo>
                  <a:lnTo>
                    <a:pt x="9137917" y="0"/>
                  </a:lnTo>
                  <a:lnTo>
                    <a:pt x="9137523" y="0"/>
                  </a:lnTo>
                  <a:lnTo>
                    <a:pt x="6858" y="0"/>
                  </a:lnTo>
                  <a:lnTo>
                    <a:pt x="0" y="0"/>
                  </a:lnTo>
                  <a:lnTo>
                    <a:pt x="0" y="6858"/>
                  </a:lnTo>
                  <a:lnTo>
                    <a:pt x="0" y="857250"/>
                  </a:lnTo>
                  <a:lnTo>
                    <a:pt x="6858" y="857250"/>
                  </a:lnTo>
                  <a:lnTo>
                    <a:pt x="6858" y="6858"/>
                  </a:lnTo>
                  <a:lnTo>
                    <a:pt x="9137917" y="6858"/>
                  </a:lnTo>
                  <a:lnTo>
                    <a:pt x="9137917" y="857250"/>
                  </a:lnTo>
                  <a:lnTo>
                    <a:pt x="9144000" y="857250"/>
                  </a:lnTo>
                  <a:lnTo>
                    <a:pt x="9144000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5"/>
              </a:spcBef>
              <a:tabLst>
                <a:tab pos="1158875" algn="l"/>
              </a:tabLst>
            </a:pPr>
            <a:r>
              <a:rPr spc="-5" dirty="0"/>
              <a:t>8</a:t>
            </a:r>
            <a:r>
              <a:rPr spc="-10" dirty="0"/>
              <a:t>-</a:t>
            </a:r>
            <a:r>
              <a:rPr spc="-5" dirty="0"/>
              <a:t>4</a:t>
            </a:r>
            <a:r>
              <a:rPr dirty="0"/>
              <a:t>	</a:t>
            </a:r>
            <a:r>
              <a:rPr spc="-5" dirty="0"/>
              <a:t>STRUCTURE</a:t>
            </a:r>
            <a:r>
              <a:rPr spc="15" dirty="0"/>
              <a:t> </a:t>
            </a:r>
            <a:r>
              <a:rPr spc="-5" dirty="0"/>
              <a:t>OF</a:t>
            </a:r>
            <a:r>
              <a:rPr spc="-300" dirty="0"/>
              <a:t> </a:t>
            </a:r>
            <a:r>
              <a:rPr spc="-5" dirty="0"/>
              <a:t>A</a:t>
            </a:r>
            <a:r>
              <a:rPr spc="-180" dirty="0"/>
              <a:t> </a:t>
            </a:r>
            <a:r>
              <a:rPr spc="-5" dirty="0"/>
              <a:t>SWITCH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74839" y="1206246"/>
            <a:ext cx="9144000" cy="857250"/>
            <a:chOff x="774839" y="1206246"/>
            <a:chExt cx="9144000" cy="857250"/>
          </a:xfrm>
        </p:grpSpPr>
        <p:sp>
          <p:nvSpPr>
            <p:cNvPr id="7" name="object 7"/>
            <p:cNvSpPr/>
            <p:nvPr/>
          </p:nvSpPr>
          <p:spPr>
            <a:xfrm>
              <a:off x="774839" y="1720596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0" y="342900"/>
                  </a:moveTo>
                  <a:lnTo>
                    <a:pt x="9144000" y="342900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4839" y="1206246"/>
              <a:ext cx="9144000" cy="514350"/>
            </a:xfrm>
            <a:custGeom>
              <a:avLst/>
              <a:gdLst/>
              <a:ahLst/>
              <a:cxnLst/>
              <a:rect l="l" t="t" r="r" b="b"/>
              <a:pathLst>
                <a:path w="9144000" h="514350">
                  <a:moveTo>
                    <a:pt x="9144000" y="514350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9144000" y="514350"/>
                  </a:lnTo>
                  <a:close/>
                </a:path>
              </a:pathLst>
            </a:custGeom>
            <a:solidFill>
              <a:srgbClr val="33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4839" y="1206246"/>
              <a:ext cx="9144000" cy="521334"/>
            </a:xfrm>
            <a:custGeom>
              <a:avLst/>
              <a:gdLst/>
              <a:ahLst/>
              <a:cxnLst/>
              <a:rect l="l" t="t" r="r" b="b"/>
              <a:pathLst>
                <a:path w="9144000" h="521335">
                  <a:moveTo>
                    <a:pt x="6858" y="508254"/>
                  </a:moveTo>
                  <a:lnTo>
                    <a:pt x="6858" y="0"/>
                  </a:lnTo>
                  <a:lnTo>
                    <a:pt x="0" y="0"/>
                  </a:lnTo>
                  <a:lnTo>
                    <a:pt x="0" y="508254"/>
                  </a:lnTo>
                  <a:lnTo>
                    <a:pt x="6858" y="508254"/>
                  </a:lnTo>
                  <a:close/>
                </a:path>
                <a:path w="9144000" h="521335">
                  <a:moveTo>
                    <a:pt x="9143987" y="508253"/>
                  </a:moveTo>
                  <a:lnTo>
                    <a:pt x="0" y="508254"/>
                  </a:lnTo>
                  <a:lnTo>
                    <a:pt x="6858" y="514350"/>
                  </a:lnTo>
                  <a:lnTo>
                    <a:pt x="6858" y="521208"/>
                  </a:lnTo>
                  <a:lnTo>
                    <a:pt x="9137904" y="521207"/>
                  </a:lnTo>
                  <a:lnTo>
                    <a:pt x="9137904" y="514349"/>
                  </a:lnTo>
                  <a:lnTo>
                    <a:pt x="9143987" y="508253"/>
                  </a:lnTo>
                  <a:close/>
                </a:path>
                <a:path w="9144000" h="521335">
                  <a:moveTo>
                    <a:pt x="6858" y="521208"/>
                  </a:moveTo>
                  <a:lnTo>
                    <a:pt x="6858" y="514350"/>
                  </a:lnTo>
                  <a:lnTo>
                    <a:pt x="0" y="508254"/>
                  </a:lnTo>
                  <a:lnTo>
                    <a:pt x="0" y="521208"/>
                  </a:lnTo>
                  <a:lnTo>
                    <a:pt x="6858" y="521208"/>
                  </a:lnTo>
                  <a:close/>
                </a:path>
                <a:path w="9144000" h="521335">
                  <a:moveTo>
                    <a:pt x="9144000" y="521207"/>
                  </a:moveTo>
                  <a:lnTo>
                    <a:pt x="9144000" y="0"/>
                  </a:lnTo>
                  <a:lnTo>
                    <a:pt x="9137904" y="0"/>
                  </a:lnTo>
                  <a:lnTo>
                    <a:pt x="9137904" y="508253"/>
                  </a:lnTo>
                  <a:lnTo>
                    <a:pt x="9143987" y="508253"/>
                  </a:lnTo>
                  <a:lnTo>
                    <a:pt x="9143987" y="521207"/>
                  </a:lnTo>
                  <a:close/>
                </a:path>
                <a:path w="9144000" h="521335">
                  <a:moveTo>
                    <a:pt x="9143987" y="521207"/>
                  </a:moveTo>
                  <a:lnTo>
                    <a:pt x="9143987" y="508253"/>
                  </a:lnTo>
                  <a:lnTo>
                    <a:pt x="9137904" y="514349"/>
                  </a:lnTo>
                  <a:lnTo>
                    <a:pt x="9137904" y="521207"/>
                  </a:lnTo>
                  <a:lnTo>
                    <a:pt x="9143987" y="5212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58373" y="1758187"/>
            <a:ext cx="590486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32155" algn="l"/>
                <a:tab pos="1499870" algn="l"/>
                <a:tab pos="2995295" algn="l"/>
                <a:tab pos="3565525" algn="l"/>
              </a:tabLst>
            </a:pPr>
            <a:r>
              <a:rPr sz="2800" b="1" i="1" spc="-110" dirty="0">
                <a:latin typeface="Times New Roman"/>
                <a:cs typeface="Times New Roman"/>
              </a:rPr>
              <a:t>We	</a:t>
            </a:r>
            <a:r>
              <a:rPr sz="2800" b="1" i="1" dirty="0">
                <a:latin typeface="Times New Roman"/>
                <a:cs typeface="Times New Roman"/>
              </a:rPr>
              <a:t>use	</a:t>
            </a:r>
            <a:r>
              <a:rPr sz="2800" b="1" i="1" spc="-5" dirty="0">
                <a:latin typeface="Times New Roman"/>
                <a:cs typeface="Times New Roman"/>
              </a:rPr>
              <a:t>switches	</a:t>
            </a:r>
            <a:r>
              <a:rPr sz="2800" b="1" i="1" dirty="0">
                <a:latin typeface="Times New Roman"/>
                <a:cs typeface="Times New Roman"/>
              </a:rPr>
              <a:t>in	</a:t>
            </a:r>
            <a:r>
              <a:rPr sz="2800" b="1" i="1" spc="-5" dirty="0">
                <a:latin typeface="Times New Roman"/>
                <a:cs typeface="Times New Roman"/>
              </a:rPr>
              <a:t>circuit-switched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11523" y="1758187"/>
            <a:ext cx="19177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3883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an</a:t>
            </a:r>
            <a:r>
              <a:rPr sz="2800" b="1" i="1" dirty="0">
                <a:latin typeface="Times New Roman"/>
                <a:cs typeface="Times New Roman"/>
              </a:rPr>
              <a:t>d	</a:t>
            </a:r>
            <a:r>
              <a:rPr sz="2800" b="1" i="1" spc="-5" dirty="0">
                <a:latin typeface="Times New Roman"/>
                <a:cs typeface="Times New Roman"/>
              </a:rPr>
              <a:t>packe</a:t>
            </a:r>
            <a:r>
              <a:rPr sz="2800" b="1" i="1" dirty="0">
                <a:latin typeface="Times New Roman"/>
                <a:cs typeface="Times New Roman"/>
              </a:rPr>
              <a:t>t-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2062745"/>
            <a:ext cx="9144000" cy="1715770"/>
          </a:xfrm>
          <a:custGeom>
            <a:avLst/>
            <a:gdLst/>
            <a:ahLst/>
            <a:cxnLst/>
            <a:rect l="l" t="t" r="r" b="b"/>
            <a:pathLst>
              <a:path w="9144000" h="1715770">
                <a:moveTo>
                  <a:pt x="9144000" y="0"/>
                </a:moveTo>
                <a:lnTo>
                  <a:pt x="0" y="0"/>
                </a:lnTo>
                <a:lnTo>
                  <a:pt x="0" y="857250"/>
                </a:lnTo>
                <a:lnTo>
                  <a:pt x="0" y="858012"/>
                </a:lnTo>
                <a:lnTo>
                  <a:pt x="0" y="1715262"/>
                </a:lnTo>
                <a:lnTo>
                  <a:pt x="9144000" y="1715262"/>
                </a:lnTo>
                <a:lnTo>
                  <a:pt x="9144000" y="858012"/>
                </a:lnTo>
                <a:lnTo>
                  <a:pt x="9144000" y="85725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8373" y="2184907"/>
            <a:ext cx="807212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switched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networks.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section,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discuss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structures</a:t>
            </a:r>
            <a:r>
              <a:rPr sz="2800" b="1" i="1" dirty="0">
                <a:latin typeface="Times New Roman"/>
                <a:cs typeface="Times New Roman"/>
              </a:rPr>
              <a:t> of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the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switches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used</a:t>
            </a:r>
            <a:r>
              <a:rPr sz="2800" b="1" i="1" dirty="0">
                <a:latin typeface="Times New Roman"/>
                <a:cs typeface="Times New Roman"/>
              </a:rPr>
              <a:t> in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type</a:t>
            </a:r>
            <a:r>
              <a:rPr sz="2800" b="1" i="1" spc="70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network.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8.32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005973" y="4743128"/>
            <a:ext cx="4699635" cy="129413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indent="27940">
              <a:lnSpc>
                <a:spcPct val="106000"/>
              </a:lnSpc>
              <a:spcBef>
                <a:spcPts val="365"/>
              </a:spcBef>
            </a:pPr>
            <a:r>
              <a:rPr sz="2800" b="1" i="1" u="heavy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heavy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Times New Roman"/>
                <a:cs typeface="Times New Roman"/>
              </a:rPr>
              <a:t>section: </a:t>
            </a:r>
            <a:r>
              <a:rPr sz="2800" b="1" i="1" spc="-6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Structure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of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Circuit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Switches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Structure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of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Packet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0033CC"/>
                </a:solidFill>
                <a:latin typeface="Times New Roman"/>
                <a:cs typeface="Times New Roman"/>
              </a:rPr>
              <a:t>Switches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6951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8.17	</a:t>
            </a:r>
            <a:r>
              <a:rPr sz="2000" i="1" spc="-5" dirty="0">
                <a:latin typeface="Times New Roman"/>
                <a:cs typeface="Times New Roman"/>
              </a:rPr>
              <a:t>Crossbar switch with three inputs and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four outputs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6493" y="1821179"/>
            <a:ext cx="7797545" cy="447141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7116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8.33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481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8.18	</a:t>
            </a:r>
            <a:r>
              <a:rPr sz="2000" i="1" spc="-5" dirty="0">
                <a:latin typeface="Times New Roman"/>
                <a:cs typeface="Times New Roman"/>
              </a:rPr>
              <a:t>Multistage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switch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3345" y="2368295"/>
            <a:ext cx="8600693" cy="33908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8.34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32039" y="2101595"/>
            <a:ext cx="8153400" cy="647700"/>
            <a:chOff x="1232039" y="2101595"/>
            <a:chExt cx="8153400" cy="647700"/>
          </a:xfrm>
        </p:grpSpPr>
        <p:sp>
          <p:nvSpPr>
            <p:cNvPr id="8" name="object 8"/>
            <p:cNvSpPr/>
            <p:nvPr/>
          </p:nvSpPr>
          <p:spPr>
            <a:xfrm>
              <a:off x="1232039" y="2673095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2039" y="2101595"/>
              <a:ext cx="1143000" cy="56692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44123" y="21224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3777246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457200" y="0"/>
                </a:moveTo>
                <a:lnTo>
                  <a:pt x="0" y="0"/>
                </a:lnTo>
                <a:lnTo>
                  <a:pt x="0" y="858012"/>
                </a:lnTo>
                <a:lnTo>
                  <a:pt x="457200" y="858012"/>
                </a:lnTo>
                <a:lnTo>
                  <a:pt x="457200" y="0"/>
                </a:lnTo>
                <a:close/>
              </a:path>
              <a:path w="9144000" h="858520">
                <a:moveTo>
                  <a:pt x="9144000" y="0"/>
                </a:moveTo>
                <a:lnTo>
                  <a:pt x="8534400" y="0"/>
                </a:lnTo>
                <a:lnTo>
                  <a:pt x="8534400" y="858012"/>
                </a:lnTo>
                <a:lnTo>
                  <a:pt x="9144000" y="85801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32039" y="2787395"/>
            <a:ext cx="8077200" cy="1847214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1750" rIns="0" bIns="0" rtlCol="0">
            <a:spAutoFit/>
          </a:bodyPr>
          <a:lstStyle/>
          <a:p>
            <a:pPr marL="1265555" marR="1259205" algn="ctr">
              <a:lnSpc>
                <a:spcPct val="100000"/>
              </a:lnSpc>
              <a:spcBef>
                <a:spcPts val="250"/>
              </a:spcBef>
            </a:pPr>
            <a:r>
              <a:rPr sz="3200" b="1" spc="-5" dirty="0">
                <a:latin typeface="Times New Roman"/>
                <a:cs typeface="Times New Roman"/>
              </a:rPr>
              <a:t>In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a</a:t>
            </a:r>
            <a:r>
              <a:rPr sz="3200" b="1" spc="-10" dirty="0">
                <a:latin typeface="Times New Roman"/>
                <a:cs typeface="Times New Roman"/>
              </a:rPr>
              <a:t> three-stage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switch,</a:t>
            </a:r>
            <a:r>
              <a:rPr sz="3200" b="1" spc="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the</a:t>
            </a:r>
            <a:r>
              <a:rPr sz="3200" b="1" spc="-10" dirty="0">
                <a:latin typeface="Times New Roman"/>
                <a:cs typeface="Times New Roman"/>
              </a:rPr>
              <a:t> total </a:t>
            </a:r>
            <a:r>
              <a:rPr sz="3200" b="1" spc="-78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number</a:t>
            </a:r>
            <a:r>
              <a:rPr sz="3200" b="1" spc="-7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of</a:t>
            </a:r>
            <a:r>
              <a:rPr sz="3200" b="1" spc="-10" dirty="0">
                <a:latin typeface="Times New Roman"/>
                <a:cs typeface="Times New Roman"/>
              </a:rPr>
              <a:t> crosspoints</a:t>
            </a:r>
            <a:r>
              <a:rPr sz="3200" b="1" spc="2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is</a:t>
            </a: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2kN</a:t>
            </a:r>
            <a:r>
              <a:rPr sz="3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+</a:t>
            </a:r>
            <a:r>
              <a:rPr sz="32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k(N/n)</a:t>
            </a:r>
            <a:r>
              <a:rPr sz="3150" b="1" spc="-7" baseline="25132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sz="3150" baseline="25132">
              <a:latin typeface="Times New Roman"/>
              <a:cs typeface="Times New Roman"/>
            </a:endParaRPr>
          </a:p>
          <a:p>
            <a:pPr algn="ctr">
              <a:lnSpc>
                <a:spcPts val="2775"/>
              </a:lnSpc>
            </a:pPr>
            <a:r>
              <a:rPr sz="3200" b="1" spc="-5" dirty="0">
                <a:latin typeface="Times New Roman"/>
                <a:cs typeface="Times New Roman"/>
              </a:rPr>
              <a:t>which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is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much </a:t>
            </a:r>
            <a:r>
              <a:rPr sz="3200" b="1" spc="-10" dirty="0">
                <a:latin typeface="Times New Roman"/>
                <a:cs typeface="Times New Roman"/>
              </a:rPr>
              <a:t>smaller</a:t>
            </a:r>
            <a:r>
              <a:rPr sz="3200" b="1" spc="-5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than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the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number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of</a:t>
            </a:r>
            <a:endParaRPr sz="32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4839" y="4634484"/>
            <a:ext cx="9144000" cy="858519"/>
            <a:chOff x="774839" y="4634484"/>
            <a:chExt cx="9144000" cy="858519"/>
          </a:xfrm>
        </p:grpSpPr>
        <p:sp>
          <p:nvSpPr>
            <p:cNvPr id="14" name="object 14"/>
            <p:cNvSpPr/>
            <p:nvPr/>
          </p:nvSpPr>
          <p:spPr>
            <a:xfrm>
              <a:off x="774839" y="463448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34325" y="5340096"/>
              <a:ext cx="8153400" cy="76200"/>
            </a:xfrm>
            <a:custGeom>
              <a:avLst/>
              <a:gdLst/>
              <a:ahLst/>
              <a:cxnLst/>
              <a:rect l="l" t="t" r="r" b="b"/>
              <a:pathLst>
                <a:path w="8153400" h="76200">
                  <a:moveTo>
                    <a:pt x="8153400" y="76200"/>
                  </a:moveTo>
                  <a:lnTo>
                    <a:pt x="8153400" y="0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8153400" y="76200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32039" y="4634484"/>
            <a:ext cx="8077200" cy="68199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135255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1065"/>
              </a:spcBef>
            </a:pPr>
            <a:r>
              <a:rPr sz="3200" b="1" spc="-10" dirty="0">
                <a:latin typeface="Times New Roman"/>
                <a:cs typeface="Times New Roman"/>
              </a:rPr>
              <a:t>crosspoints</a:t>
            </a:r>
            <a:r>
              <a:rPr sz="3200" b="1" spc="2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in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a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single-stage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switch</a:t>
            </a:r>
            <a:r>
              <a:rPr sz="3200" b="1" spc="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(N</a:t>
            </a:r>
            <a:r>
              <a:rPr sz="3150" b="1" baseline="25132" dirty="0">
                <a:latin typeface="Times New Roman"/>
                <a:cs typeface="Times New Roman"/>
              </a:rPr>
              <a:t>2</a:t>
            </a:r>
            <a:r>
              <a:rPr sz="3200" b="1" dirty="0">
                <a:latin typeface="Times New Roman"/>
                <a:cs typeface="Times New Roman"/>
              </a:rPr>
              <a:t>).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8.35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8097" y="368299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8.3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74839" y="2062733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19">
                <a:moveTo>
                  <a:pt x="9144000" y="858011"/>
                </a:moveTo>
                <a:lnTo>
                  <a:pt x="9144000" y="0"/>
                </a:lnTo>
                <a:lnTo>
                  <a:pt x="0" y="0"/>
                </a:lnTo>
                <a:lnTo>
                  <a:pt x="0" y="858012"/>
                </a:lnTo>
                <a:lnTo>
                  <a:pt x="9144000" y="8580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44073" y="1665224"/>
            <a:ext cx="8606155" cy="4657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685800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Design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three-stage, </a:t>
            </a:r>
            <a:r>
              <a:rPr sz="2800" b="1" i="1" dirty="0">
                <a:latin typeface="Times New Roman"/>
                <a:cs typeface="Times New Roman"/>
              </a:rPr>
              <a:t>200 × 200 switch (N = 200) </a:t>
            </a:r>
            <a:r>
              <a:rPr sz="2800" b="1" i="1" spc="-5" dirty="0">
                <a:latin typeface="Times New Roman"/>
                <a:cs typeface="Times New Roman"/>
              </a:rPr>
              <a:t>with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4 and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 = 20.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50800" marR="431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In the first stage we have N/n </a:t>
            </a:r>
            <a:r>
              <a:rPr sz="2800" b="1" i="1" dirty="0">
                <a:latin typeface="Times New Roman"/>
                <a:cs typeface="Times New Roman"/>
              </a:rPr>
              <a:t>or </a:t>
            </a:r>
            <a:r>
              <a:rPr sz="2800" b="1" i="1" spc="-5" dirty="0">
                <a:latin typeface="Times New Roman"/>
                <a:cs typeface="Times New Roman"/>
              </a:rPr>
              <a:t>10 crossbars, each of size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20 </a:t>
            </a:r>
            <a:r>
              <a:rPr sz="2800" b="1" i="1" dirty="0">
                <a:latin typeface="Times New Roman"/>
                <a:cs typeface="Times New Roman"/>
              </a:rPr>
              <a:t>× 4. In </a:t>
            </a:r>
            <a:r>
              <a:rPr sz="2800" b="1" i="1" spc="-5" dirty="0">
                <a:latin typeface="Times New Roman"/>
                <a:cs typeface="Times New Roman"/>
              </a:rPr>
              <a:t>the second stage, we have </a:t>
            </a:r>
            <a:r>
              <a:rPr sz="2800" b="1" i="1" dirty="0">
                <a:latin typeface="Times New Roman"/>
                <a:cs typeface="Times New Roman"/>
              </a:rPr>
              <a:t>4 </a:t>
            </a:r>
            <a:r>
              <a:rPr sz="2800" b="1" i="1" spc="-5" dirty="0">
                <a:latin typeface="Times New Roman"/>
                <a:cs typeface="Times New Roman"/>
              </a:rPr>
              <a:t>crossbars, each of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size</a:t>
            </a:r>
            <a:r>
              <a:rPr sz="2800" b="1" i="1" spc="5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</a:t>
            </a:r>
            <a:r>
              <a:rPr sz="2800" b="1" i="1" spc="53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</a:t>
            </a:r>
            <a:r>
              <a:rPr sz="2800" b="1" i="1" spc="5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10.</a:t>
            </a:r>
            <a:r>
              <a:rPr sz="2800" b="1" i="1" spc="5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In</a:t>
            </a:r>
            <a:r>
              <a:rPr sz="2800" b="1" i="1" spc="5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5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third</a:t>
            </a:r>
            <a:r>
              <a:rPr sz="2800" b="1" i="1" spc="5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stage,</a:t>
            </a:r>
            <a:r>
              <a:rPr sz="2800" b="1" i="1" spc="5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we</a:t>
            </a:r>
            <a:r>
              <a:rPr sz="2800" b="1" i="1" spc="5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have</a:t>
            </a:r>
            <a:r>
              <a:rPr sz="2800" b="1" i="1" spc="5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</a:t>
            </a:r>
            <a:r>
              <a:rPr sz="2800" b="1" i="1" spc="52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crossbars,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</a:t>
            </a:r>
            <a:r>
              <a:rPr sz="2800" b="1" i="1" spc="44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size</a:t>
            </a:r>
            <a:r>
              <a:rPr sz="2800" b="1" i="1" spc="4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4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</a:t>
            </a:r>
            <a:r>
              <a:rPr sz="2800" b="1" i="1" spc="4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20.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total</a:t>
            </a:r>
            <a:r>
              <a:rPr sz="2800" b="1" i="1" spc="45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number</a:t>
            </a:r>
            <a:r>
              <a:rPr sz="2800" b="1" i="1" spc="4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</a:t>
            </a:r>
            <a:r>
              <a:rPr sz="2800" b="1" i="1" spc="4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crosspoints</a:t>
            </a:r>
            <a:r>
              <a:rPr sz="2800" b="1" i="1" spc="45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 </a:t>
            </a:r>
            <a:r>
              <a:rPr sz="2800" b="1" i="1" spc="-68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2kN + k(N/n)</a:t>
            </a:r>
            <a:r>
              <a:rPr sz="2775" b="1" i="1" baseline="25525" dirty="0">
                <a:latin typeface="Times New Roman"/>
                <a:cs typeface="Times New Roman"/>
              </a:rPr>
              <a:t>2</a:t>
            </a:r>
            <a:r>
              <a:rPr sz="2800" b="1" i="1" dirty="0">
                <a:latin typeface="Times New Roman"/>
                <a:cs typeface="Times New Roman"/>
              </a:rPr>
              <a:t>, </a:t>
            </a:r>
            <a:r>
              <a:rPr sz="2800" b="1" i="1" spc="-5" dirty="0">
                <a:latin typeface="Times New Roman"/>
                <a:cs typeface="Times New Roman"/>
              </a:rPr>
              <a:t>or </a:t>
            </a:r>
            <a:r>
              <a:rPr sz="2800" b="1" i="1" spc="-5" dirty="0">
                <a:solidFill>
                  <a:srgbClr val="FF0000"/>
                </a:solidFill>
                <a:latin typeface="Times New Roman"/>
                <a:cs typeface="Times New Roman"/>
              </a:rPr>
              <a:t>2000 </a:t>
            </a:r>
            <a:r>
              <a:rPr sz="2800" b="1" i="1" spc="-5" dirty="0">
                <a:latin typeface="Times New Roman"/>
                <a:cs typeface="Times New Roman"/>
              </a:rPr>
              <a:t>crosspoints. This is </a:t>
            </a:r>
            <a:r>
              <a:rPr sz="2800" b="1" i="1" dirty="0">
                <a:latin typeface="Times New Roman"/>
                <a:cs typeface="Times New Roman"/>
              </a:rPr>
              <a:t>5 </a:t>
            </a:r>
            <a:r>
              <a:rPr sz="2800" b="1" i="1" spc="-5" dirty="0">
                <a:latin typeface="Times New Roman"/>
                <a:cs typeface="Times New Roman"/>
              </a:rPr>
              <a:t>percent of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 number </a:t>
            </a:r>
            <a:r>
              <a:rPr sz="2800" b="1" i="1" dirty="0">
                <a:latin typeface="Times New Roman"/>
                <a:cs typeface="Times New Roman"/>
              </a:rPr>
              <a:t>of </a:t>
            </a:r>
            <a:r>
              <a:rPr sz="2800" b="1" i="1" spc="-5" dirty="0">
                <a:latin typeface="Times New Roman"/>
                <a:cs typeface="Times New Roman"/>
              </a:rPr>
              <a:t>crosspoints in </a:t>
            </a:r>
            <a:r>
              <a:rPr sz="2800" b="1" i="1" dirty="0">
                <a:latin typeface="Times New Roman"/>
                <a:cs typeface="Times New Roman"/>
              </a:rPr>
              <a:t>a </a:t>
            </a:r>
            <a:r>
              <a:rPr sz="2800" b="1" i="1" spc="-5" dirty="0">
                <a:latin typeface="Times New Roman"/>
                <a:cs typeface="Times New Roman"/>
              </a:rPr>
              <a:t>single-stage switch (200 </a:t>
            </a:r>
            <a:r>
              <a:rPr sz="2800" b="1" i="1" dirty="0">
                <a:latin typeface="Times New Roman"/>
                <a:cs typeface="Times New Roman"/>
              </a:rPr>
              <a:t>× 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200</a:t>
            </a:r>
            <a:r>
              <a:rPr sz="2800" b="1" i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40,000).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8.36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39" y="348995"/>
            <a:ext cx="8594090" cy="1053465"/>
            <a:chOff x="851039" y="348995"/>
            <a:chExt cx="8594090" cy="1053465"/>
          </a:xfrm>
        </p:grpSpPr>
        <p:sp>
          <p:nvSpPr>
            <p:cNvPr id="3" name="object 3"/>
            <p:cNvSpPr/>
            <p:nvPr/>
          </p:nvSpPr>
          <p:spPr>
            <a:xfrm>
              <a:off x="1265567" y="1206245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5"/>
              <a:ext cx="368045" cy="14782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5"/>
              <a:ext cx="560832" cy="228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86547" y="1206245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32039" y="2025395"/>
            <a:ext cx="8011159" cy="650240"/>
            <a:chOff x="1232039" y="2025395"/>
            <a:chExt cx="8011159" cy="650240"/>
          </a:xfrm>
        </p:grpSpPr>
        <p:sp>
          <p:nvSpPr>
            <p:cNvPr id="8" name="object 8"/>
            <p:cNvSpPr/>
            <p:nvPr/>
          </p:nvSpPr>
          <p:spPr>
            <a:xfrm>
              <a:off x="1308239" y="2596895"/>
              <a:ext cx="7934959" cy="78740"/>
            </a:xfrm>
            <a:custGeom>
              <a:avLst/>
              <a:gdLst/>
              <a:ahLst/>
              <a:cxnLst/>
              <a:rect l="l" t="t" r="r" b="b"/>
              <a:pathLst>
                <a:path w="7934959" h="78739">
                  <a:moveTo>
                    <a:pt x="7934706" y="78485"/>
                  </a:moveTo>
                  <a:lnTo>
                    <a:pt x="7934706" y="2285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7934706" y="78485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2039" y="2025395"/>
              <a:ext cx="1143000" cy="56692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44123" y="2046224"/>
            <a:ext cx="71755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0000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3777246"/>
            <a:ext cx="9144000" cy="858519"/>
          </a:xfrm>
          <a:custGeom>
            <a:avLst/>
            <a:gdLst/>
            <a:ahLst/>
            <a:cxnLst/>
            <a:rect l="l" t="t" r="r" b="b"/>
            <a:pathLst>
              <a:path w="9144000" h="858520">
                <a:moveTo>
                  <a:pt x="685800" y="0"/>
                </a:moveTo>
                <a:lnTo>
                  <a:pt x="0" y="0"/>
                </a:lnTo>
                <a:lnTo>
                  <a:pt x="0" y="858012"/>
                </a:lnTo>
                <a:lnTo>
                  <a:pt x="685800" y="858012"/>
                </a:lnTo>
                <a:lnTo>
                  <a:pt x="685800" y="0"/>
                </a:lnTo>
                <a:close/>
              </a:path>
              <a:path w="9144000" h="858520">
                <a:moveTo>
                  <a:pt x="9144000" y="0"/>
                </a:moveTo>
                <a:lnTo>
                  <a:pt x="8382000" y="0"/>
                </a:lnTo>
                <a:lnTo>
                  <a:pt x="8382000" y="858012"/>
                </a:lnTo>
                <a:lnTo>
                  <a:pt x="9144000" y="85801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60639" y="2794254"/>
            <a:ext cx="7696200" cy="184023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048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240"/>
              </a:spcBef>
            </a:pPr>
            <a:r>
              <a:rPr sz="3200" b="1" spc="-5" dirty="0">
                <a:latin typeface="Times New Roman"/>
                <a:cs typeface="Times New Roman"/>
              </a:rPr>
              <a:t>According</a:t>
            </a:r>
            <a:r>
              <a:rPr sz="3200" b="1" spc="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to</a:t>
            </a:r>
            <a:r>
              <a:rPr sz="3200" b="1" spc="1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the</a:t>
            </a:r>
            <a:r>
              <a:rPr sz="3200" b="1" spc="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Clos</a:t>
            </a:r>
            <a:r>
              <a:rPr sz="3200" b="1" spc="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criterion:</a:t>
            </a:r>
            <a:endParaRPr sz="3200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5"/>
              </a:spcBef>
            </a:pPr>
            <a:r>
              <a:rPr sz="3200" b="1" i="1" spc="-5" dirty="0">
                <a:latin typeface="Times New Roman"/>
                <a:cs typeface="Times New Roman"/>
              </a:rPr>
              <a:t>n</a:t>
            </a:r>
            <a:r>
              <a:rPr sz="3200" b="1" i="1" spc="-2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=</a:t>
            </a:r>
            <a:r>
              <a:rPr sz="3200" b="1" spc="-2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(N/2)</a:t>
            </a:r>
            <a:r>
              <a:rPr sz="3150" b="1" baseline="25132" dirty="0">
                <a:latin typeface="Times New Roman"/>
                <a:cs typeface="Times New Roman"/>
              </a:rPr>
              <a:t>1/2</a:t>
            </a:r>
            <a:endParaRPr sz="3150" baseline="25132"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</a:pPr>
            <a:r>
              <a:rPr sz="3200" b="1" i="1" spc="-5" dirty="0">
                <a:latin typeface="Times New Roman"/>
                <a:cs typeface="Times New Roman"/>
              </a:rPr>
              <a:t>k</a:t>
            </a:r>
            <a:r>
              <a:rPr sz="3200" b="1" i="1" spc="-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&gt;</a:t>
            </a:r>
            <a:r>
              <a:rPr sz="3200" b="1" spc="-1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2</a:t>
            </a:r>
            <a:r>
              <a:rPr sz="3200" b="1" i="1" spc="-5" dirty="0">
                <a:latin typeface="Times New Roman"/>
                <a:cs typeface="Times New Roman"/>
              </a:rPr>
              <a:t>n</a:t>
            </a:r>
            <a:r>
              <a:rPr sz="3200" b="1" i="1" spc="-20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–</a:t>
            </a:r>
            <a:r>
              <a:rPr sz="3200" b="1" spc="-1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  <a:p>
            <a:pPr marL="191770">
              <a:lnSpc>
                <a:spcPts val="2725"/>
              </a:lnSpc>
            </a:pPr>
            <a:r>
              <a:rPr sz="3200" b="1" spc="-10" dirty="0">
                <a:latin typeface="Times New Roman"/>
                <a:cs typeface="Times New Roman"/>
              </a:rPr>
              <a:t>Crosspoints</a:t>
            </a:r>
            <a:r>
              <a:rPr sz="3200" b="1" spc="5" dirty="0">
                <a:latin typeface="Times New Roman"/>
                <a:cs typeface="Times New Roman"/>
              </a:rPr>
              <a:t> </a:t>
            </a:r>
            <a:r>
              <a:rPr sz="3200" b="1" spc="-5" dirty="0">
                <a:latin typeface="Times New Roman"/>
                <a:cs typeface="Times New Roman"/>
              </a:rPr>
              <a:t>≥</a:t>
            </a:r>
            <a:r>
              <a:rPr sz="3200" b="1" dirty="0"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4N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[(2N)</a:t>
            </a:r>
            <a:r>
              <a:rPr sz="2775" b="1" baseline="25525" dirty="0">
                <a:solidFill>
                  <a:srgbClr val="FF0000"/>
                </a:solidFill>
                <a:latin typeface="Times New Roman"/>
                <a:cs typeface="Times New Roman"/>
              </a:rPr>
              <a:t>1/2</a:t>
            </a:r>
            <a:r>
              <a:rPr sz="2775" b="1" spc="352" baseline="255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–</a:t>
            </a:r>
            <a:r>
              <a:rPr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imes New Roman"/>
                <a:cs typeface="Times New Roman"/>
              </a:rPr>
              <a:t>1]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4839" y="4634484"/>
            <a:ext cx="9144000" cy="858519"/>
            <a:chOff x="774839" y="4634484"/>
            <a:chExt cx="9144000" cy="858519"/>
          </a:xfrm>
        </p:grpSpPr>
        <p:sp>
          <p:nvSpPr>
            <p:cNvPr id="14" name="object 14"/>
            <p:cNvSpPr/>
            <p:nvPr/>
          </p:nvSpPr>
          <p:spPr>
            <a:xfrm>
              <a:off x="774839" y="4634484"/>
              <a:ext cx="9144000" cy="858519"/>
            </a:xfrm>
            <a:custGeom>
              <a:avLst/>
              <a:gdLst/>
              <a:ahLst/>
              <a:cxnLst/>
              <a:rect l="l" t="t" r="r" b="b"/>
              <a:pathLst>
                <a:path w="9144000" h="858520">
                  <a:moveTo>
                    <a:pt x="9144000" y="858012"/>
                  </a:moveTo>
                  <a:lnTo>
                    <a:pt x="9144000" y="0"/>
                  </a:lnTo>
                  <a:lnTo>
                    <a:pt x="0" y="0"/>
                  </a:lnTo>
                  <a:lnTo>
                    <a:pt x="0" y="858012"/>
                  </a:lnTo>
                  <a:lnTo>
                    <a:pt x="9144000" y="8580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84439" y="4882896"/>
              <a:ext cx="7934959" cy="78740"/>
            </a:xfrm>
            <a:custGeom>
              <a:avLst/>
              <a:gdLst/>
              <a:ahLst/>
              <a:cxnLst/>
              <a:rect l="l" t="t" r="r" b="b"/>
              <a:pathLst>
                <a:path w="7934959" h="78739">
                  <a:moveTo>
                    <a:pt x="7934706" y="78485"/>
                  </a:moveTo>
                  <a:lnTo>
                    <a:pt x="7934706" y="2285"/>
                  </a:lnTo>
                  <a:lnTo>
                    <a:pt x="0" y="0"/>
                  </a:lnTo>
                  <a:lnTo>
                    <a:pt x="0" y="76200"/>
                  </a:lnTo>
                  <a:lnTo>
                    <a:pt x="7934706" y="78485"/>
                  </a:lnTo>
                  <a:close/>
                </a:path>
              </a:pathLst>
            </a:custGeom>
            <a:solidFill>
              <a:srgbClr val="00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60639" y="4634484"/>
              <a:ext cx="7696200" cy="201295"/>
            </a:xfrm>
            <a:custGeom>
              <a:avLst/>
              <a:gdLst/>
              <a:ahLst/>
              <a:cxnLst/>
              <a:rect l="l" t="t" r="r" b="b"/>
              <a:pathLst>
                <a:path w="7696200" h="201295">
                  <a:moveTo>
                    <a:pt x="7696200" y="201167"/>
                  </a:moveTo>
                  <a:lnTo>
                    <a:pt x="7696200" y="0"/>
                  </a:lnTo>
                  <a:lnTo>
                    <a:pt x="0" y="0"/>
                  </a:lnTo>
                  <a:lnTo>
                    <a:pt x="0" y="201168"/>
                  </a:lnTo>
                  <a:lnTo>
                    <a:pt x="7696200" y="201167"/>
                  </a:lnTo>
                  <a:close/>
                </a:path>
              </a:pathLst>
            </a:custGeom>
            <a:solidFill>
              <a:srgbClr val="99FF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8.37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8097" y="368299"/>
            <a:ext cx="212534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Example</a:t>
            </a:r>
            <a:r>
              <a:rPr i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i="1" spc="-5" dirty="0">
                <a:solidFill>
                  <a:srgbClr val="FF0000"/>
                </a:solidFill>
                <a:latin typeface="Times New Roman"/>
                <a:cs typeface="Times New Roman"/>
              </a:rPr>
              <a:t>8.4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039" y="1206246"/>
            <a:ext cx="1153160" cy="196215"/>
            <a:chOff x="851039" y="1206246"/>
            <a:chExt cx="1153160" cy="196215"/>
          </a:xfrm>
        </p:grpSpPr>
        <p:sp>
          <p:nvSpPr>
            <p:cNvPr id="4" name="object 4"/>
            <p:cNvSpPr/>
            <p:nvPr/>
          </p:nvSpPr>
          <p:spPr>
            <a:xfrm>
              <a:off x="1265567" y="1206246"/>
              <a:ext cx="422275" cy="147955"/>
            </a:xfrm>
            <a:custGeom>
              <a:avLst/>
              <a:gdLst/>
              <a:ahLst/>
              <a:cxnLst/>
              <a:rect l="l" t="t" r="r" b="b"/>
              <a:pathLst>
                <a:path w="422275" h="147955">
                  <a:moveTo>
                    <a:pt x="422147" y="147827"/>
                  </a:moveTo>
                  <a:lnTo>
                    <a:pt x="422147" y="0"/>
                  </a:lnTo>
                  <a:lnTo>
                    <a:pt x="0" y="0"/>
                  </a:lnTo>
                  <a:lnTo>
                    <a:pt x="0" y="147827"/>
                  </a:lnTo>
                  <a:lnTo>
                    <a:pt x="422147" y="147827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5899" y="1206246"/>
              <a:ext cx="368045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039" y="1206246"/>
              <a:ext cx="560832" cy="2285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86547" y="1206246"/>
              <a:ext cx="31750" cy="196215"/>
            </a:xfrm>
            <a:custGeom>
              <a:avLst/>
              <a:gdLst/>
              <a:ahLst/>
              <a:cxnLst/>
              <a:rect l="l" t="t" r="r" b="b"/>
              <a:pathLst>
                <a:path w="31750" h="196215">
                  <a:moveTo>
                    <a:pt x="31241" y="195833"/>
                  </a:moveTo>
                  <a:lnTo>
                    <a:pt x="31241" y="0"/>
                  </a:lnTo>
                  <a:lnTo>
                    <a:pt x="0" y="0"/>
                  </a:lnTo>
                  <a:lnTo>
                    <a:pt x="0" y="195833"/>
                  </a:lnTo>
                  <a:lnTo>
                    <a:pt x="31241" y="1958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44073" y="1512824"/>
            <a:ext cx="8604885" cy="511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" marR="44450" algn="just">
              <a:lnSpc>
                <a:spcPct val="100000"/>
              </a:lnSpc>
              <a:spcBef>
                <a:spcPts val="10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Redesign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previous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three-stage,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200</a:t>
            </a:r>
            <a:r>
              <a:rPr sz="2800" b="1" i="1" dirty="0">
                <a:latin typeface="Times New Roman"/>
                <a:cs typeface="Times New Roman"/>
              </a:rPr>
              <a:t> ×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200</a:t>
            </a:r>
            <a:r>
              <a:rPr sz="2800" b="1" i="1" spc="69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switch,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using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Clos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criteria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with</a:t>
            </a:r>
            <a:r>
              <a:rPr sz="2800" b="1" i="1" dirty="0">
                <a:latin typeface="Times New Roman"/>
                <a:cs typeface="Times New Roman"/>
              </a:rPr>
              <a:t> a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minimum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number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of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crosspoints.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6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let</a:t>
            </a:r>
            <a:r>
              <a:rPr sz="2800" b="1" i="1" spc="8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8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(200/2)</a:t>
            </a:r>
            <a:r>
              <a:rPr sz="2775" b="1" i="1" baseline="25525" dirty="0">
                <a:latin typeface="Times New Roman"/>
                <a:cs typeface="Times New Roman"/>
              </a:rPr>
              <a:t>1/2</a:t>
            </a:r>
            <a:r>
              <a:rPr sz="2800" b="1" i="1" dirty="0">
                <a:latin typeface="Times New Roman"/>
                <a:cs typeface="Times New Roman"/>
              </a:rPr>
              <a:t>,</a:t>
            </a:r>
            <a:r>
              <a:rPr sz="2800" b="1" i="1" spc="8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or</a:t>
            </a:r>
            <a:r>
              <a:rPr sz="2800" b="1" i="1" spc="6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8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10.</a:t>
            </a:r>
            <a:r>
              <a:rPr sz="2800" b="1" i="1" spc="75" dirty="0">
                <a:latin typeface="Times New Roman"/>
                <a:cs typeface="Times New Roman"/>
              </a:rPr>
              <a:t> </a:t>
            </a:r>
            <a:r>
              <a:rPr sz="2800" b="1" i="1" spc="-110" dirty="0">
                <a:latin typeface="Times New Roman"/>
                <a:cs typeface="Times New Roman"/>
              </a:rPr>
              <a:t>We</a:t>
            </a:r>
            <a:r>
              <a:rPr sz="2800" b="1" i="1" spc="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calculate</a:t>
            </a:r>
            <a:r>
              <a:rPr sz="2800" b="1" i="1" spc="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i="1" spc="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r>
              <a:rPr sz="2800" b="1" i="1" spc="7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2n</a:t>
            </a:r>
            <a:r>
              <a:rPr sz="2800" b="1" i="1" spc="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−</a:t>
            </a:r>
            <a:r>
              <a:rPr sz="2800" b="1" i="1" spc="8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</a:t>
            </a:r>
            <a:r>
              <a:rPr sz="2800" b="1" i="1" spc="6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</a:t>
            </a:r>
            <a:endParaRPr sz="2800">
              <a:latin typeface="Times New Roman"/>
              <a:cs typeface="Times New Roman"/>
            </a:endParaRPr>
          </a:p>
          <a:p>
            <a:pPr marL="50800" marR="43180" algn="just">
              <a:lnSpc>
                <a:spcPct val="100000"/>
              </a:lnSpc>
            </a:pPr>
            <a:r>
              <a:rPr sz="2800" b="1" i="1" spc="-5" dirty="0">
                <a:latin typeface="Times New Roman"/>
                <a:cs typeface="Times New Roman"/>
              </a:rPr>
              <a:t>19. In the first stage, we have 200/10, or 20, crossbars,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each with </a:t>
            </a:r>
            <a:r>
              <a:rPr sz="2800" b="1" i="1" dirty="0">
                <a:latin typeface="Times New Roman"/>
                <a:cs typeface="Times New Roman"/>
              </a:rPr>
              <a:t>10 × 19 </a:t>
            </a:r>
            <a:r>
              <a:rPr sz="2800" b="1" i="1" spc="-5" dirty="0">
                <a:latin typeface="Times New Roman"/>
                <a:cs typeface="Times New Roman"/>
              </a:rPr>
              <a:t>crosspoints. </a:t>
            </a:r>
            <a:r>
              <a:rPr sz="2800" b="1" i="1" dirty="0">
                <a:latin typeface="Times New Roman"/>
                <a:cs typeface="Times New Roman"/>
              </a:rPr>
              <a:t>In the </a:t>
            </a:r>
            <a:r>
              <a:rPr sz="2800" b="1" i="1" spc="-5" dirty="0">
                <a:latin typeface="Times New Roman"/>
                <a:cs typeface="Times New Roman"/>
              </a:rPr>
              <a:t>second stage, we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have 19 crossbars, each with 10 </a:t>
            </a:r>
            <a:r>
              <a:rPr sz="2800" b="1" i="1" dirty="0">
                <a:latin typeface="Times New Roman"/>
                <a:cs typeface="Times New Roman"/>
              </a:rPr>
              <a:t>× 10 </a:t>
            </a:r>
            <a:r>
              <a:rPr sz="2800" b="1" i="1" spc="-5" dirty="0">
                <a:latin typeface="Times New Roman"/>
                <a:cs typeface="Times New Roman"/>
              </a:rPr>
              <a:t>crosspoints. In the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third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stage,</a:t>
            </a:r>
            <a:r>
              <a:rPr sz="2800" b="1" i="1" dirty="0">
                <a:latin typeface="Times New Roman"/>
                <a:cs typeface="Times New Roman"/>
              </a:rPr>
              <a:t> we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have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20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crossbars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10" dirty="0">
                <a:latin typeface="Times New Roman"/>
                <a:cs typeface="Times New Roman"/>
              </a:rPr>
              <a:t>each</a:t>
            </a:r>
            <a:r>
              <a:rPr sz="2800" b="1" i="1" spc="-5" dirty="0">
                <a:latin typeface="Times New Roman"/>
                <a:cs typeface="Times New Roman"/>
              </a:rPr>
              <a:t> with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19</a:t>
            </a:r>
            <a:r>
              <a:rPr sz="2800" b="1" i="1" dirty="0">
                <a:latin typeface="Times New Roman"/>
                <a:cs typeface="Times New Roman"/>
              </a:rPr>
              <a:t> ×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10 </a:t>
            </a:r>
            <a:r>
              <a:rPr sz="2800" b="1" i="1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crosspoints.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The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total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number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of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crosspoints</a:t>
            </a:r>
            <a:r>
              <a:rPr sz="2800" b="1" i="1" spc="47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is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20(10</a:t>
            </a:r>
            <a:r>
              <a:rPr sz="2800" b="1" i="1" spc="4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 </a:t>
            </a:r>
            <a:r>
              <a:rPr sz="2800" b="1" i="1" spc="-69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19)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+ 19(10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× 10)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+ 20(19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×10)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= </a:t>
            </a:r>
            <a:r>
              <a:rPr sz="2800" b="1" i="1" dirty="0">
                <a:solidFill>
                  <a:srgbClr val="FF0000"/>
                </a:solidFill>
                <a:latin typeface="Times New Roman"/>
                <a:cs typeface="Times New Roman"/>
              </a:rPr>
              <a:t>9500</a:t>
            </a:r>
            <a:r>
              <a:rPr sz="2800" b="1" i="1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8.38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9389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8.19	</a:t>
            </a:r>
            <a:r>
              <a:rPr sz="2000" i="1" spc="-10" dirty="0">
                <a:latin typeface="Times New Roman"/>
                <a:cs typeface="Times New Roman"/>
              </a:rPr>
              <a:t>Time-slot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Times New Roman"/>
                <a:cs typeface="Times New Roman"/>
              </a:rPr>
              <a:t>interchange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439" y="2353055"/>
            <a:ext cx="7706106" cy="310133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8.39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092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8.20	</a:t>
            </a:r>
            <a:r>
              <a:rPr sz="2000" i="1" spc="-10" dirty="0">
                <a:latin typeface="Times New Roman"/>
                <a:cs typeface="Times New Roman"/>
              </a:rPr>
              <a:t>Time-space-time</a:t>
            </a:r>
            <a:r>
              <a:rPr sz="2000" i="1" spc="-3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switch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697" y="1676400"/>
            <a:ext cx="8298942" cy="469239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8.40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392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8.21	</a:t>
            </a:r>
            <a:r>
              <a:rPr sz="2000" i="1" spc="-5" dirty="0">
                <a:latin typeface="Times New Roman"/>
                <a:cs typeface="Times New Roman"/>
              </a:rPr>
              <a:t>Packet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switch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components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975" y="1998726"/>
            <a:ext cx="8208264" cy="368426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8.41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2708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8.22	</a:t>
            </a:r>
            <a:r>
              <a:rPr sz="2000" i="1" spc="-5" dirty="0">
                <a:latin typeface="Times New Roman"/>
                <a:cs typeface="Times New Roman"/>
              </a:rPr>
              <a:t>Input</a:t>
            </a:r>
            <a:r>
              <a:rPr sz="2000" i="1" spc="-6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port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4825" y="3006851"/>
            <a:ext cx="7503414" cy="168554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8.42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2863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8.23	</a:t>
            </a:r>
            <a:r>
              <a:rPr sz="2000" i="1" spc="-5" dirty="0">
                <a:latin typeface="Times New Roman"/>
                <a:cs typeface="Times New Roman"/>
              </a:rPr>
              <a:t>Output</a:t>
            </a:r>
            <a:r>
              <a:rPr sz="2000" i="1" spc="-5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port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615" y="2854451"/>
            <a:ext cx="7659623" cy="1685544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8.43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3289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30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8.24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-12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banyan switch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9917" y="1720595"/>
            <a:ext cx="6462521" cy="4181856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8.44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5816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8.25	</a:t>
            </a:r>
            <a:r>
              <a:rPr sz="2000" i="1" spc="-5" dirty="0">
                <a:latin typeface="Times New Roman"/>
                <a:cs typeface="Times New Roman"/>
              </a:rPr>
              <a:t>Examples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of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routing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in a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banyan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switch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639" y="2417826"/>
            <a:ext cx="8510778" cy="334137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8.45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27239" y="4632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58373" y="752347"/>
            <a:ext cx="40627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30045" algn="l"/>
              </a:tabLst>
            </a:pPr>
            <a:r>
              <a:rPr sz="2400" spc="-10" dirty="0">
                <a:solidFill>
                  <a:srgbClr val="3333CC"/>
                </a:solidFill>
              </a:rPr>
              <a:t>Figure</a:t>
            </a:r>
            <a:r>
              <a:rPr sz="2400" spc="-15" dirty="0">
                <a:solidFill>
                  <a:srgbClr val="3333CC"/>
                </a:solidFill>
              </a:rPr>
              <a:t> </a:t>
            </a:r>
            <a:r>
              <a:rPr sz="2400" spc="-5" dirty="0">
                <a:solidFill>
                  <a:srgbClr val="3333CC"/>
                </a:solidFill>
              </a:rPr>
              <a:t>8.26	</a:t>
            </a:r>
            <a:r>
              <a:rPr sz="2000" i="1" spc="-5" dirty="0">
                <a:latin typeface="Times New Roman"/>
                <a:cs typeface="Times New Roman"/>
              </a:rPr>
              <a:t>Batcher-banyan</a:t>
            </a:r>
            <a:r>
              <a:rPr sz="2000" i="1" spc="-30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switch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27239" y="1330452"/>
            <a:ext cx="8763000" cy="19050"/>
          </a:xfrm>
          <a:custGeom>
            <a:avLst/>
            <a:gdLst/>
            <a:ahLst/>
            <a:cxnLst/>
            <a:rect l="l" t="t" r="r" b="b"/>
            <a:pathLst>
              <a:path w="8763000" h="19050">
                <a:moveTo>
                  <a:pt x="8763000" y="19049"/>
                </a:moveTo>
                <a:lnTo>
                  <a:pt x="8763000" y="0"/>
                </a:lnTo>
                <a:lnTo>
                  <a:pt x="0" y="0"/>
                </a:lnTo>
                <a:lnTo>
                  <a:pt x="0" y="19050"/>
                </a:lnTo>
                <a:lnTo>
                  <a:pt x="8763000" y="1904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2989" y="2306573"/>
            <a:ext cx="8172450" cy="314782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27239" y="6635495"/>
            <a:ext cx="8763000" cy="76200"/>
          </a:xfrm>
          <a:custGeom>
            <a:avLst/>
            <a:gdLst/>
            <a:ahLst/>
            <a:cxnLst/>
            <a:rect l="l" t="t" r="r" b="b"/>
            <a:pathLst>
              <a:path w="8763000" h="76200">
                <a:moveTo>
                  <a:pt x="8763000" y="76200"/>
                </a:moveTo>
                <a:lnTo>
                  <a:pt x="8763000" y="0"/>
                </a:lnTo>
                <a:lnTo>
                  <a:pt x="0" y="0"/>
                </a:lnTo>
                <a:lnTo>
                  <a:pt x="0" y="76200"/>
                </a:lnTo>
                <a:lnTo>
                  <a:pt x="8763000" y="76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pc="-5" dirty="0"/>
              <a:t>8.46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9601</Words>
  <Application>Microsoft Office PowerPoint</Application>
  <PresentationFormat>Custom</PresentationFormat>
  <Paragraphs>979</Paragraphs>
  <Slides>290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290</vt:i4>
      </vt:variant>
    </vt:vector>
  </HeadingPairs>
  <TitlesOfParts>
    <vt:vector size="294" baseType="lpstr">
      <vt:lpstr>Arial</vt:lpstr>
      <vt:lpstr>Calibri</vt:lpstr>
      <vt:lpstr>Times New Roman</vt:lpstr>
      <vt:lpstr>Office Theme</vt:lpstr>
      <vt:lpstr>3-1 ANALOG AND DIGITAL</vt:lpstr>
      <vt:lpstr>Figure 3.1 Comparison of analog and digital signals</vt:lpstr>
      <vt:lpstr>Figure 3.2 A sine wave</vt:lpstr>
      <vt:lpstr>Example 3.1</vt:lpstr>
      <vt:lpstr>Figure 3.3 Two signals with the same phase and frequency,  but different amplitudes</vt:lpstr>
      <vt:lpstr>Example 3.2</vt:lpstr>
      <vt:lpstr>Figure 3.4 Two signals with the same amplitude and phase,  but different frequencies</vt:lpstr>
      <vt:lpstr>Table 3.1 Units of period and frequency</vt:lpstr>
      <vt:lpstr>PowerPoint Presentation</vt:lpstr>
      <vt:lpstr>Example 3.4</vt:lpstr>
      <vt:lpstr>Example 3.5</vt:lpstr>
      <vt:lpstr>PowerPoint Presentation</vt:lpstr>
      <vt:lpstr>Figure 3.5 Three sine waves with the same amplitude and frequency,  but different phases</vt:lpstr>
      <vt:lpstr>Example 3.6</vt:lpstr>
      <vt:lpstr>Figure 3.6 Wavelength and period</vt:lpstr>
      <vt:lpstr>Figure 3.7 The time-domain and frequency-domain plots of a sine wave</vt:lpstr>
      <vt:lpstr>Note</vt:lpstr>
      <vt:lpstr>Example 3.7</vt:lpstr>
      <vt:lpstr>Figure 3.8 The time domain and frequency domain of three sine waves</vt:lpstr>
      <vt:lpstr>PowerPoint Presentation</vt:lpstr>
      <vt:lpstr>Example 3.8</vt:lpstr>
      <vt:lpstr>Figure 3.9 A composite periodic signal</vt:lpstr>
      <vt:lpstr>Figure 3.10 Decomposition of a composite periodic signal in the time and  frequency domains</vt:lpstr>
      <vt:lpstr>Example 3.9</vt:lpstr>
      <vt:lpstr>Figure 3.11 The time and frequency domains of a nonperiodic signal</vt:lpstr>
      <vt:lpstr>Note</vt:lpstr>
      <vt:lpstr>Figure 3.12 The bandwidth of periodic and nonperiodic composite signals</vt:lpstr>
      <vt:lpstr>Example 3.10</vt:lpstr>
      <vt:lpstr>Figure 3.13 The bandwidth for Example 3.10</vt:lpstr>
      <vt:lpstr>Example 3.11</vt:lpstr>
      <vt:lpstr>Figure 3.14 The bandwidth for Example 3.11</vt:lpstr>
      <vt:lpstr>Example 3.12</vt:lpstr>
      <vt:lpstr>Figure 3.15 The bandwidth for Example 3.12</vt:lpstr>
      <vt:lpstr>Example 3.13</vt:lpstr>
      <vt:lpstr>Example 3.14</vt:lpstr>
      <vt:lpstr>Example 3.15</vt:lpstr>
      <vt:lpstr>3-3 DIGITAL SIGNALS</vt:lpstr>
      <vt:lpstr>Figure 3.16 Two digital signals: one with two signal levels and the other  with four signal levels</vt:lpstr>
      <vt:lpstr>Example 3.16</vt:lpstr>
      <vt:lpstr>Example 3.17</vt:lpstr>
      <vt:lpstr>Example 3.18</vt:lpstr>
      <vt:lpstr>Example 3.19</vt:lpstr>
      <vt:lpstr>Example 3.20</vt:lpstr>
      <vt:lpstr>Figure 3.17  The time and frequency domains of periodic and nonperiodic  digital signals</vt:lpstr>
      <vt:lpstr>Figure 3.18 Baseband transmission</vt:lpstr>
      <vt:lpstr>Figure 3.19 Bandwidths of two low-pass channels</vt:lpstr>
      <vt:lpstr>Figure 3.20 Baseband transmission using a dedicated medium</vt:lpstr>
      <vt:lpstr>Note</vt:lpstr>
      <vt:lpstr>Example 3.21</vt:lpstr>
      <vt:lpstr>Figure 3.21 Rough approximation of a digital signal using the first harmonic  for worst case</vt:lpstr>
      <vt:lpstr>Figure 3.22 Simulating a digital signal with first three harmonics</vt:lpstr>
      <vt:lpstr>PowerPoint Presentation</vt:lpstr>
      <vt:lpstr>Table 3.2 Bandwidth requirements</vt:lpstr>
      <vt:lpstr>Example 3.22</vt:lpstr>
      <vt:lpstr>Example 3.22</vt:lpstr>
      <vt:lpstr>Figure 3.23 Bandwidth of a bandpass channel</vt:lpstr>
      <vt:lpstr>Note</vt:lpstr>
      <vt:lpstr>Figure 3.24 Modulation of a digital signal for transmission on a bandpass  channel</vt:lpstr>
      <vt:lpstr>Example 3.24</vt:lpstr>
      <vt:lpstr>Example 3.25</vt:lpstr>
      <vt:lpstr>3-4 TRANSMISSION IMPAIRMENT</vt:lpstr>
      <vt:lpstr>Figure 3.25 Causes of impairment</vt:lpstr>
      <vt:lpstr>Figure 3.26 Attenuation</vt:lpstr>
      <vt:lpstr>Figure 3.27 Decibels for Example 3.28</vt:lpstr>
      <vt:lpstr>Figure 3.28 Distortion</vt:lpstr>
      <vt:lpstr>Figure 3.29 Noise</vt:lpstr>
      <vt:lpstr>Figure 3.30 Two cases of SNR: a high SNR and a low SNR</vt:lpstr>
      <vt:lpstr>3-5 DATA RATE LIMITS</vt:lpstr>
      <vt:lpstr>Example 3.33</vt:lpstr>
      <vt:lpstr>Figure 3.31 Filling the link with bits for case 1</vt:lpstr>
      <vt:lpstr>Example 3.48</vt:lpstr>
      <vt:lpstr>Figure 3.32 Filling the link with bits in case 2</vt:lpstr>
      <vt:lpstr>Figure 3.33 Concept of bandwidth-delay product</vt:lpstr>
      <vt:lpstr>4-1 DIGITAL-TO-DIGITAL CONVERSION</vt:lpstr>
      <vt:lpstr>Figure 4.1 Line coding and decoding</vt:lpstr>
      <vt:lpstr>Figure 4.2 Signal element versus data element</vt:lpstr>
      <vt:lpstr>Note</vt:lpstr>
      <vt:lpstr>Figure 4.3 Effect of lack of synchronization</vt:lpstr>
      <vt:lpstr>Example 4.3</vt:lpstr>
      <vt:lpstr>Figure 4.4 Line coding schemes</vt:lpstr>
      <vt:lpstr>Figure 4.5 Unipolar NRZ scheme</vt:lpstr>
      <vt:lpstr>Figure 4.6 Polar NRZ-L and NRZ-I schemes</vt:lpstr>
      <vt:lpstr>PowerPoint Presentation</vt:lpstr>
      <vt:lpstr>Example 4.4</vt:lpstr>
      <vt:lpstr>Figure 4.7 Polar RZ scheme</vt:lpstr>
      <vt:lpstr>Figure 4.8 Polar biphase: Manchester and differential Manchester schemes</vt:lpstr>
      <vt:lpstr>PowerPoint Presentation</vt:lpstr>
      <vt:lpstr>Figure 4.9 Bipolar schemes: AMI and pseudoternary</vt:lpstr>
      <vt:lpstr>Note</vt:lpstr>
      <vt:lpstr>Figure 4.10 Multilevel: 2B1Q scheme</vt:lpstr>
      <vt:lpstr>Figure 4.11 Multilevel: 8B6T scheme</vt:lpstr>
      <vt:lpstr>Figure 4.12 Multilevel: 4D-PAM5 scheme</vt:lpstr>
      <vt:lpstr>Figure 4.13 Multitransition: MLT-3 scheme</vt:lpstr>
      <vt:lpstr>Table 4.1 Summary of line coding schemes</vt:lpstr>
      <vt:lpstr>Note</vt:lpstr>
      <vt:lpstr>Figure 4.14 Block coding concept</vt:lpstr>
      <vt:lpstr>Figure 4.15 Using block coding 4B/5B with NRZ-I line coding scheme</vt:lpstr>
      <vt:lpstr>Table 4.2 4B/5B mapping codes</vt:lpstr>
      <vt:lpstr>Figure 4.16 Substitution in 4B/5B block coding</vt:lpstr>
      <vt:lpstr>Example 4.5</vt:lpstr>
      <vt:lpstr>Figure 4.17 8B/10B block encoding</vt:lpstr>
      <vt:lpstr>Figure 4.18 AMI used with scrambling</vt:lpstr>
      <vt:lpstr>Figure 4.19 Two cases of B8ZS scrambling technique</vt:lpstr>
      <vt:lpstr>Note</vt:lpstr>
      <vt:lpstr>Figure 4.20 Different situations in HDB3 scrambling technique</vt:lpstr>
      <vt:lpstr>Note</vt:lpstr>
      <vt:lpstr>4-2 ANALOG-TO-DIGITAL CONVERSION</vt:lpstr>
      <vt:lpstr>Figure 4.21 Components of PCM encoder</vt:lpstr>
      <vt:lpstr>Figure 4.22 Three different sampling methods for PCM</vt:lpstr>
      <vt:lpstr>Note</vt:lpstr>
      <vt:lpstr>Figure 4.23 Nyquist sampling rate for low-pass and bandpass signals</vt:lpstr>
      <vt:lpstr>Example 4.6</vt:lpstr>
      <vt:lpstr>Figure 4.24 Recovery of a sampled sine wave for different sampling rates</vt:lpstr>
      <vt:lpstr>Example 4.7</vt:lpstr>
      <vt:lpstr>Figure 4.25 Sampling of a clock with only one hand</vt:lpstr>
      <vt:lpstr>Example 4.8</vt:lpstr>
      <vt:lpstr>Example 4.10</vt:lpstr>
      <vt:lpstr>Example 4.11</vt:lpstr>
      <vt:lpstr>Figure 4.26 Quantization and encoding of a sampled signal</vt:lpstr>
      <vt:lpstr>Example 4.12</vt:lpstr>
      <vt:lpstr>Example 4.13</vt:lpstr>
      <vt:lpstr>Example 4.14</vt:lpstr>
      <vt:lpstr>Figure 4.27 Components of a PCM decoder</vt:lpstr>
      <vt:lpstr>Example 4.15</vt:lpstr>
      <vt:lpstr>Figure 4.28 The process of delta modulation</vt:lpstr>
      <vt:lpstr>Figure 4.29 Delta modulation components</vt:lpstr>
      <vt:lpstr>Figure 4.30 Delta demodulation components</vt:lpstr>
      <vt:lpstr>4-3 TRANSMISSION MODES</vt:lpstr>
      <vt:lpstr>Figure 4.31 Data transmission and modes</vt:lpstr>
      <vt:lpstr>Figure 4.32 Parallel transmission</vt:lpstr>
      <vt:lpstr>Figure 4.33 Serial transmission</vt:lpstr>
      <vt:lpstr>PowerPoint Presentation</vt:lpstr>
      <vt:lpstr>Figure 4.34 Asynchronous transmission</vt:lpstr>
      <vt:lpstr>Figure 4.35 Synchronous transmission</vt:lpstr>
      <vt:lpstr>5-1 DIGITAL-TO-ANALOG CONVERSION</vt:lpstr>
      <vt:lpstr>Figure 5.1 Digital-to-analog conversion</vt:lpstr>
      <vt:lpstr>Figure 5.2 Types of digital-to-analog conversion</vt:lpstr>
      <vt:lpstr>Note</vt:lpstr>
      <vt:lpstr>Example 5.1</vt:lpstr>
      <vt:lpstr>Example 5.2</vt:lpstr>
      <vt:lpstr>Figure 5.3 Binary amplitude shift keying</vt:lpstr>
      <vt:lpstr>Figure 5.4 Implementation of binary ASK</vt:lpstr>
      <vt:lpstr>Example 5.3</vt:lpstr>
      <vt:lpstr>Example 5.4</vt:lpstr>
      <vt:lpstr>Figure 5.5 Bandwidth of full-duplex ASK used in Example 5.4</vt:lpstr>
      <vt:lpstr>Figure 5.6 Binary frequency shift keying</vt:lpstr>
      <vt:lpstr>Example 5.5</vt:lpstr>
      <vt:lpstr>Figure 5.7 Bandwidth of MFSK used in Example 5.6</vt:lpstr>
      <vt:lpstr>Example 5.6</vt:lpstr>
      <vt:lpstr>Figure 5.8 Bandwidth of MFSK used in Example 5.6</vt:lpstr>
      <vt:lpstr>Figure 5.9 Binary phase shift keying</vt:lpstr>
      <vt:lpstr>Figure 5.10 Implementation of BASK</vt:lpstr>
      <vt:lpstr>Figure 5.11 QPSK and its implementation</vt:lpstr>
      <vt:lpstr>Example 5.7</vt:lpstr>
      <vt:lpstr>Figure 5.12 Concept of a constellation diagram</vt:lpstr>
      <vt:lpstr>Example 5.8</vt:lpstr>
      <vt:lpstr>Figure 5.13 Three constellation diagrams</vt:lpstr>
      <vt:lpstr>Note</vt:lpstr>
      <vt:lpstr>Figure 5.14 Constellation diagrams for some QAMs</vt:lpstr>
      <vt:lpstr>5-2 ANALOG AND DIGITAL</vt:lpstr>
      <vt:lpstr>Figure 5.15 Types of analog-to-analog modulation</vt:lpstr>
      <vt:lpstr>Figure 5.16 Amplitude modulation</vt:lpstr>
      <vt:lpstr>Note</vt:lpstr>
      <vt:lpstr>Figure 5.17 AM band allocation</vt:lpstr>
      <vt:lpstr>Note</vt:lpstr>
      <vt:lpstr>Figure 5.18 Frequency modulation</vt:lpstr>
      <vt:lpstr>Figure 5.19 FM band allocation</vt:lpstr>
      <vt:lpstr>Figure 5.20 Phase modulation</vt:lpstr>
      <vt:lpstr>Note</vt:lpstr>
      <vt:lpstr>Note</vt:lpstr>
      <vt:lpstr>6-1 MULTIPLEXING</vt:lpstr>
      <vt:lpstr>Figure 6.1 Dividing a link into channels</vt:lpstr>
      <vt:lpstr>Figure 6.2 Categories of multiplexing</vt:lpstr>
      <vt:lpstr>Figure 6.3 Frequency-division multiplexing</vt:lpstr>
      <vt:lpstr>Figure 6.4 FDM process</vt:lpstr>
      <vt:lpstr>Figure 6.5 FDM demultiplexing example</vt:lpstr>
      <vt:lpstr>Example 6.1</vt:lpstr>
      <vt:lpstr>Figure 6.6 Example 6.1</vt:lpstr>
      <vt:lpstr>Example 6.2</vt:lpstr>
      <vt:lpstr>Figure 6.7 Example 6.2</vt:lpstr>
      <vt:lpstr>Example 6.3</vt:lpstr>
      <vt:lpstr>Figure 6.8 Example 6.3</vt:lpstr>
      <vt:lpstr>Figure 6.9 Analog hierarchy</vt:lpstr>
      <vt:lpstr>Example 6.4</vt:lpstr>
      <vt:lpstr>Figure 6.10 Wavelength-division multiplexing</vt:lpstr>
      <vt:lpstr>PowerPoint Presentation</vt:lpstr>
      <vt:lpstr>Figure 6.11 Prisms in wavelength-division multiplexing and demultiplexing</vt:lpstr>
      <vt:lpstr>Figure 6.12 TDM</vt:lpstr>
      <vt:lpstr>Figure 6.13 Synchronous time-division multiplexing</vt:lpstr>
      <vt:lpstr>Note</vt:lpstr>
      <vt:lpstr>Example 6.5</vt:lpstr>
      <vt:lpstr>Example 6.5 (continued)</vt:lpstr>
      <vt:lpstr>Example 6.6</vt:lpstr>
      <vt:lpstr>Example 6.6 (continued)</vt:lpstr>
      <vt:lpstr>Figure 6.14 Example 6.6</vt:lpstr>
      <vt:lpstr>Example 6.7</vt:lpstr>
      <vt:lpstr>Example 6.7 (continued)</vt:lpstr>
      <vt:lpstr>Figure 6.15 Interleaving</vt:lpstr>
      <vt:lpstr>Example 6.8</vt:lpstr>
      <vt:lpstr>Figure 6.16 Example 6.8</vt:lpstr>
      <vt:lpstr>Example 6.9</vt:lpstr>
      <vt:lpstr>Figure 6.17 Example 6.9</vt:lpstr>
      <vt:lpstr>Figure 6.18 Empty slots</vt:lpstr>
      <vt:lpstr>Figure 6.19 Multilevel multiplexing</vt:lpstr>
      <vt:lpstr>Figure 6.20 Multiple-slot multiplexing</vt:lpstr>
      <vt:lpstr>Figure 6.21 Pulse stuffing</vt:lpstr>
      <vt:lpstr>Figure 6.22 Framing bits</vt:lpstr>
      <vt:lpstr>Example 6.10</vt:lpstr>
      <vt:lpstr>Example 6.10 (continued)</vt:lpstr>
      <vt:lpstr>Example 6.11</vt:lpstr>
      <vt:lpstr>Figure 6.23 Digital hierarchy</vt:lpstr>
      <vt:lpstr>Table 6.1 DS and T line rates</vt:lpstr>
      <vt:lpstr>Figure 6.24 T-1 line for multiplexing telephone lines</vt:lpstr>
      <vt:lpstr>Figure 6.25 T-1 frame structure</vt:lpstr>
      <vt:lpstr>Table 6.2 E line rates</vt:lpstr>
      <vt:lpstr>Figure 6.26 TDM slot comparison</vt:lpstr>
      <vt:lpstr>Figure 7.1 Transmission medium and physical layer</vt:lpstr>
      <vt:lpstr>Figure 7.2 Classes of transmission media</vt:lpstr>
      <vt:lpstr>7-1 GUIDED MEDIA</vt:lpstr>
      <vt:lpstr>Figure 7.3 Twisted-pair cable</vt:lpstr>
      <vt:lpstr>Figure 7.4 UTP and STP cables</vt:lpstr>
      <vt:lpstr>Table 7.1 Categories of unshielded twisted-pair cables</vt:lpstr>
      <vt:lpstr>Figure 7.5 UTP connector</vt:lpstr>
      <vt:lpstr>Figure 7.6 UTP performance</vt:lpstr>
      <vt:lpstr>Figure 7.7 Coaxial cable</vt:lpstr>
      <vt:lpstr>Table 7.2 Categories of coaxial cables</vt:lpstr>
      <vt:lpstr>Figure 7.8 BNC connectors</vt:lpstr>
      <vt:lpstr>Figure 7.9 Coaxial cable performance</vt:lpstr>
      <vt:lpstr>Figure 7.10 Bending of light ray</vt:lpstr>
      <vt:lpstr>Figure 7.11 Optical fiber</vt:lpstr>
      <vt:lpstr>Figure 7.12 Propagation modes</vt:lpstr>
      <vt:lpstr>Figure 7.13 Modes</vt:lpstr>
      <vt:lpstr>Table 7.3 Fiber types</vt:lpstr>
      <vt:lpstr>Figure 7.14 Fiber construction</vt:lpstr>
      <vt:lpstr>Figure 7.15 Fiber-optic cable connectors</vt:lpstr>
      <vt:lpstr>Figure 7.16 Optical fiber performance</vt:lpstr>
      <vt:lpstr>7-2 UNGUIDED MEDIA: WIRELESS</vt:lpstr>
      <vt:lpstr>Figure 7.17 Electromagnetic spectrum for wireless communication</vt:lpstr>
      <vt:lpstr>Figure 7.18 Propagation methods</vt:lpstr>
      <vt:lpstr>Table 7.4 Bands</vt:lpstr>
      <vt:lpstr>Figure 7.19 Wireless transmission waves</vt:lpstr>
      <vt:lpstr>Figure 7.20 Omnidirectional antenna</vt:lpstr>
      <vt:lpstr>Note</vt:lpstr>
      <vt:lpstr>Figure 7.21 Unidirectional antennas</vt:lpstr>
      <vt:lpstr>PowerPoint Presentation</vt:lpstr>
      <vt:lpstr>Figure 8.1 Switched network</vt:lpstr>
      <vt:lpstr>Figure 8.2 Taxonomy of switched networks</vt:lpstr>
      <vt:lpstr>8-1 CIRCUIT-SWITCHED NETWORKS</vt:lpstr>
      <vt:lpstr>Note</vt:lpstr>
      <vt:lpstr>Figure 8.3 A trivial circuit-switched network</vt:lpstr>
      <vt:lpstr>Note</vt:lpstr>
      <vt:lpstr>Example 8.1</vt:lpstr>
      <vt:lpstr>Figure 8.4 Circuit-switched network used in Example 8.1</vt:lpstr>
      <vt:lpstr>Example 8.2</vt:lpstr>
      <vt:lpstr>Figure 8.5 Circuit-switched network used in Example 8.2</vt:lpstr>
      <vt:lpstr>Figure 8.6 Delay in a circuit-switched network</vt:lpstr>
      <vt:lpstr>Note</vt:lpstr>
      <vt:lpstr>8-2 DATAGRAM NETWORKS</vt:lpstr>
      <vt:lpstr>Note</vt:lpstr>
      <vt:lpstr>Figure 8.7 A datagram network with four switches (routers)</vt:lpstr>
      <vt:lpstr>Figure 8.8 Routing table in a datagram network</vt:lpstr>
      <vt:lpstr>Note</vt:lpstr>
      <vt:lpstr>Note</vt:lpstr>
      <vt:lpstr>Figure 8.9 Delay in a datagram network</vt:lpstr>
      <vt:lpstr>Note</vt:lpstr>
      <vt:lpstr>8-3 VIRTUAL-CIRCUIT NETWORKS</vt:lpstr>
      <vt:lpstr>Figure 8.10 Virtual-circuit network</vt:lpstr>
      <vt:lpstr>Figure 8.11 Virtual-circuit identifier</vt:lpstr>
      <vt:lpstr>Figure 8.12 Switch and tables in a virtual-circuit network</vt:lpstr>
      <vt:lpstr>Figure 8.13 Source-to-destination data transfer in a virtual-circuit network</vt:lpstr>
      <vt:lpstr>Figure 8.14 Setup request in a virtual-circuit network</vt:lpstr>
      <vt:lpstr>Figure 8.15 Setup acknowledgment in a virtual-circuit network</vt:lpstr>
      <vt:lpstr>Note</vt:lpstr>
      <vt:lpstr>Figure 8.16 Delay in a virtual-circuit network</vt:lpstr>
      <vt:lpstr>Note</vt:lpstr>
      <vt:lpstr>8-4 STRUCTURE OF A SWITCH</vt:lpstr>
      <vt:lpstr>Figure 8.17 Crossbar switch with three inputs and four outputs</vt:lpstr>
      <vt:lpstr>Figure 8.18 Multistage switch</vt:lpstr>
      <vt:lpstr>Note</vt:lpstr>
      <vt:lpstr>Example 8.3</vt:lpstr>
      <vt:lpstr>Note</vt:lpstr>
      <vt:lpstr>Example 8.4</vt:lpstr>
      <vt:lpstr>Figure 8.19 Time-slot interchange</vt:lpstr>
      <vt:lpstr>Figure 8.20 Time-space-time switch</vt:lpstr>
      <vt:lpstr>Figure 8.21 Packet switch components</vt:lpstr>
      <vt:lpstr>Figure 8.22 Input port</vt:lpstr>
      <vt:lpstr>Figure 8.23 Output port</vt:lpstr>
      <vt:lpstr>Figure 8.24 A banyan switch</vt:lpstr>
      <vt:lpstr>Figure 8.25 Examples of routing in a banyan switch</vt:lpstr>
      <vt:lpstr>Figure 8.26 Batcher-banyan switch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3-1 ANALOG AND DIGITAL</dc:title>
  <cp:lastModifiedBy>16010422078_FY_Natu Revati Saurabh</cp:lastModifiedBy>
  <cp:revision>2</cp:revision>
  <cp:lastPrinted>2023-10-28T17:40:30Z</cp:lastPrinted>
  <dcterms:created xsi:type="dcterms:W3CDTF">2023-10-28T15:29:29Z</dcterms:created>
  <dcterms:modified xsi:type="dcterms:W3CDTF">2023-10-28T17:41:15Z</dcterms:modified>
</cp:coreProperties>
</file>