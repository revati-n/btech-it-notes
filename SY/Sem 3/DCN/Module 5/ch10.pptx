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0" r:id="rId3"/>
    <p:sldId id="262" r:id="rId4"/>
    <p:sldId id="264" r:id="rId5"/>
    <p:sldId id="267" r:id="rId6"/>
    <p:sldId id="268" r:id="rId7"/>
    <p:sldId id="270" r:id="rId8"/>
    <p:sldId id="271" r:id="rId9"/>
    <p:sldId id="272" r:id="rId10"/>
    <p:sldId id="274" r:id="rId11"/>
    <p:sldId id="276" r:id="rId12"/>
    <p:sldId id="277" r:id="rId13"/>
    <p:sldId id="278" r:id="rId14"/>
    <p:sldId id="279" r:id="rId15"/>
    <p:sldId id="281" r:id="rId16"/>
    <p:sldId id="283" r:id="rId17"/>
    <p:sldId id="284" r:id="rId18"/>
    <p:sldId id="286" r:id="rId19"/>
    <p:sldId id="287" r:id="rId20"/>
    <p:sldId id="288" r:id="rId21"/>
    <p:sldId id="289" r:id="rId22"/>
    <p:sldId id="291" r:id="rId23"/>
    <p:sldId id="294" r:id="rId24"/>
    <p:sldId id="295" r:id="rId25"/>
    <p:sldId id="297" r:id="rId26"/>
    <p:sldId id="298" r:id="rId27"/>
    <p:sldId id="299" r:id="rId28"/>
    <p:sldId id="300" r:id="rId29"/>
    <p:sldId id="301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4" r:id="rId51"/>
    <p:sldId id="325" r:id="rId52"/>
    <p:sldId id="327" r:id="rId53"/>
    <p:sldId id="328" r:id="rId54"/>
    <p:sldId id="330" r:id="rId55"/>
    <p:sldId id="331" r:id="rId56"/>
    <p:sldId id="333" r:id="rId57"/>
    <p:sldId id="334" r:id="rId58"/>
    <p:sldId id="335" r:id="rId59"/>
    <p:sldId id="336" r:id="rId60"/>
    <p:sldId id="337" r:id="rId61"/>
    <p:sldId id="338" r:id="rId62"/>
    <p:sldId id="339" r:id="rId63"/>
    <p:sldId id="341" r:id="rId64"/>
    <p:sldId id="342" r:id="rId65"/>
    <p:sldId id="343" r:id="rId66"/>
    <p:sldId id="344" r:id="rId67"/>
    <p:sldId id="345" r:id="rId68"/>
    <p:sldId id="346" r:id="rId69"/>
    <p:sldId id="347" r:id="rId70"/>
    <p:sldId id="348" r:id="rId71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7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8442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199"/>
                </a:moveTo>
                <a:lnTo>
                  <a:pt x="8763000" y="0"/>
                </a:lnTo>
                <a:lnTo>
                  <a:pt x="0" y="0"/>
                </a:lnTo>
                <a:lnTo>
                  <a:pt x="0" y="76199"/>
                </a:lnTo>
                <a:lnTo>
                  <a:pt x="8763000" y="761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7239" y="1711451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50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774445"/>
            <a:ext cx="91325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0636" y="1512824"/>
            <a:ext cx="8532126" cy="2174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7373" y="6860953"/>
            <a:ext cx="685800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89556" y="1217674"/>
            <a:ext cx="8077200" cy="252920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896110" marR="188912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Data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corrupted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during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transmission.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00" dirty="0">
              <a:latin typeface="Arial"/>
              <a:cs typeface="Arial"/>
            </a:endParaRPr>
          </a:p>
          <a:p>
            <a:pPr marL="814069" marR="806450" indent="-4445" algn="ctr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latin typeface="Arial"/>
                <a:cs typeface="Arial"/>
              </a:rPr>
              <a:t>Some applications require that 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errors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detected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corrected.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73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10.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1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BA30FA9F-B0D0-111B-6AE6-DD91DFE74910}"/>
              </a:ext>
            </a:extLst>
          </p:cNvPr>
          <p:cNvSpPr txBox="1"/>
          <p:nvPr/>
        </p:nvSpPr>
        <p:spPr>
          <a:xfrm>
            <a:off x="1292570" y="4086225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313940" marR="132715" indent="-2174875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single-bit </a:t>
            </a:r>
            <a:r>
              <a:rPr sz="3200" b="1" spc="-35" dirty="0">
                <a:latin typeface="Arial"/>
                <a:cs typeface="Arial"/>
              </a:rPr>
              <a:t>error,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only 1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bit 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unit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has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changed.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256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	</a:t>
            </a:r>
            <a:r>
              <a:rPr sz="2000" i="1" spc="-10" dirty="0">
                <a:latin typeface="Times New Roman"/>
                <a:cs typeface="Times New Roman"/>
              </a:rPr>
              <a:t>Single-bit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139" y="2936748"/>
            <a:ext cx="8153400" cy="168325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10.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010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10.2	</a:t>
            </a:r>
            <a:r>
              <a:rPr sz="2000" i="1" spc="-5" dirty="0">
                <a:latin typeface="Times New Roman"/>
                <a:cs typeface="Times New Roman"/>
              </a:rPr>
              <a:t>Burst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length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767" y="3171825"/>
            <a:ext cx="7168133" cy="34587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73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10.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3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54ED757B-2079-923F-1A32-C6E68D966CA8}"/>
              </a:ext>
            </a:extLst>
          </p:cNvPr>
          <p:cNvSpPr txBox="1"/>
          <p:nvPr/>
        </p:nvSpPr>
        <p:spPr>
          <a:xfrm>
            <a:off x="1308100" y="1814766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130935" marR="272415" indent="-852805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burst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error</a:t>
            </a:r>
            <a:r>
              <a:rPr sz="3200" b="1" spc="-10" dirty="0">
                <a:latin typeface="Arial"/>
                <a:cs typeface="Arial"/>
              </a:rPr>
              <a:t> means </a:t>
            </a:r>
            <a:r>
              <a:rPr sz="3200" b="1" spc="-5" dirty="0">
                <a:latin typeface="Arial"/>
                <a:cs typeface="Arial"/>
              </a:rPr>
              <a:t>that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2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more</a:t>
            </a:r>
            <a:r>
              <a:rPr sz="3200" b="1" spc="-10" dirty="0">
                <a:latin typeface="Arial"/>
                <a:cs typeface="Arial"/>
              </a:rPr>
              <a:t> bits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unit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have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changed.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151" y="2606024"/>
            <a:ext cx="5570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10.3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structure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decoder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151" y="3095625"/>
            <a:ext cx="8785097" cy="3543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73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10.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2437A348-530E-B066-B1B6-36F245239E6B}"/>
              </a:ext>
            </a:extLst>
          </p:cNvPr>
          <p:cNvSpPr txBox="1"/>
          <p:nvPr/>
        </p:nvSpPr>
        <p:spPr>
          <a:xfrm>
            <a:off x="1308099" y="926394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32434" marR="338455" indent="-88900">
              <a:lnSpc>
                <a:spcPct val="100000"/>
              </a:lnSpc>
              <a:spcBef>
                <a:spcPts val="275"/>
              </a:spcBef>
            </a:pPr>
            <a:r>
              <a:rPr sz="3200" b="1" spc="-125" dirty="0">
                <a:latin typeface="Arial"/>
                <a:cs typeface="Arial"/>
              </a:rPr>
              <a:t>To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detect </a:t>
            </a:r>
            <a:r>
              <a:rPr sz="3200" b="1" spc="-5" dirty="0">
                <a:latin typeface="Arial"/>
                <a:cs typeface="Arial"/>
              </a:rPr>
              <a:t>or </a:t>
            </a:r>
            <a:r>
              <a:rPr sz="3200" b="1" spc="-10" dirty="0">
                <a:latin typeface="Arial"/>
                <a:cs typeface="Arial"/>
              </a:rPr>
              <a:t>correct errors,</a:t>
            </a:r>
            <a:r>
              <a:rPr sz="3200" b="1" spc="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need </a:t>
            </a:r>
            <a:r>
              <a:rPr sz="3200" b="1" spc="-10" dirty="0">
                <a:latin typeface="Arial"/>
                <a:cs typeface="Arial"/>
              </a:rPr>
              <a:t>to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send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extra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(redundant)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bits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100" y="2878235"/>
            <a:ext cx="5726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10.4	</a:t>
            </a:r>
            <a:r>
              <a:rPr sz="2000" i="1" spc="-5" dirty="0">
                <a:latin typeface="Times New Roman"/>
                <a:cs typeface="Times New Roman"/>
              </a:rPr>
              <a:t>XORing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two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single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bits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two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words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015" y="3726021"/>
            <a:ext cx="8675369" cy="21221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749C1EC5-0C23-54F2-6085-A572854F1A38}"/>
              </a:ext>
            </a:extLst>
          </p:cNvPr>
          <p:cNvSpPr txBox="1"/>
          <p:nvPr/>
        </p:nvSpPr>
        <p:spPr>
          <a:xfrm>
            <a:off x="1308100" y="1354456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97790" marR="90805" indent="107950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spc="-10" dirty="0">
                <a:latin typeface="Arial"/>
                <a:cs typeface="Arial"/>
              </a:rPr>
              <a:t>modulo-N arithmetic, </a:t>
            </a:r>
            <a:r>
              <a:rPr sz="3200" b="1" spc="-5" dirty="0">
                <a:latin typeface="Arial"/>
                <a:cs typeface="Arial"/>
              </a:rPr>
              <a:t>we use only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5" dirty="0">
                <a:latin typeface="Arial"/>
                <a:cs typeface="Arial"/>
              </a:rPr>
              <a:t> integers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range </a:t>
            </a:r>
            <a:r>
              <a:rPr sz="3200" b="1" spc="-5" dirty="0">
                <a:latin typeface="Arial"/>
                <a:cs typeface="Arial"/>
              </a:rPr>
              <a:t>0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−1,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inclusive.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4839" y="474025"/>
            <a:ext cx="91325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62710" algn="l"/>
              </a:tabLst>
            </a:pPr>
            <a:r>
              <a:rPr spc="-5" dirty="0"/>
              <a:t>10-2	BLOCK</a:t>
            </a:r>
            <a:r>
              <a:rPr spc="-25" dirty="0"/>
              <a:t> </a:t>
            </a:r>
            <a:r>
              <a:rPr spc="-5" dirty="0"/>
              <a:t>CODING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20273" y="995219"/>
            <a:ext cx="807085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block coding, we divide our message into blocks, </a:t>
            </a:r>
            <a:r>
              <a:rPr sz="2800" b="1" i="1" dirty="0">
                <a:latin typeface="Times New Roman"/>
                <a:cs typeface="Times New Roman"/>
              </a:rPr>
              <a:t> each of k </a:t>
            </a:r>
            <a:r>
              <a:rPr sz="2800" b="1" i="1" spc="-5" dirty="0">
                <a:latin typeface="Times New Roman"/>
                <a:cs typeface="Times New Roman"/>
              </a:rPr>
              <a:t>bits, called </a:t>
            </a:r>
            <a:r>
              <a:rPr sz="2800" b="1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datawords</a:t>
            </a:r>
            <a:r>
              <a:rPr sz="2800" b="1" i="1" spc="-70" dirty="0">
                <a:latin typeface="Times New Roman"/>
                <a:cs typeface="Times New Roman"/>
              </a:rPr>
              <a:t>..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dirty="0">
                <a:latin typeface="Times New Roman"/>
                <a:cs typeface="Times New Roman"/>
              </a:rPr>
              <a:t>add r </a:t>
            </a:r>
            <a:r>
              <a:rPr sz="2800" b="1" i="1" spc="-5" dirty="0">
                <a:latin typeface="Times New Roman"/>
                <a:cs typeface="Times New Roman"/>
              </a:rPr>
              <a:t>redundant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 to each block to make the length </a:t>
            </a:r>
            <a:r>
              <a:rPr sz="2800" b="1" i="1" dirty="0">
                <a:latin typeface="Times New Roman"/>
                <a:cs typeface="Times New Roman"/>
              </a:rPr>
              <a:t>n = k + </a:t>
            </a:r>
            <a:r>
              <a:rPr sz="2800" b="1" i="1" spc="-459" dirty="0">
                <a:latin typeface="Times New Roman"/>
                <a:cs typeface="Times New Roman"/>
              </a:rPr>
              <a:t>r....</a:t>
            </a:r>
            <a:r>
              <a:rPr sz="2800" b="1" i="1" spc="-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resulting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n-bit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blocks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called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130" dirty="0">
                <a:solidFill>
                  <a:srgbClr val="FF0000"/>
                </a:solidFill>
                <a:latin typeface="Times New Roman"/>
                <a:cs typeface="Times New Roman"/>
              </a:rPr>
              <a:t>codewords</a:t>
            </a:r>
            <a:r>
              <a:rPr sz="2800" b="1" i="1" spc="-130" dirty="0">
                <a:latin typeface="Times New Roman"/>
                <a:cs typeface="Times New Roman"/>
              </a:rPr>
              <a:t>..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30384AF1-CEB1-9C21-773D-F1FD03DC36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1517" y="2939293"/>
            <a:ext cx="7084314" cy="2625090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7D4E81AF-3390-E10A-B5B1-316F816E8E44}"/>
              </a:ext>
            </a:extLst>
          </p:cNvPr>
          <p:cNvSpPr txBox="1">
            <a:spLocks/>
          </p:cNvSpPr>
          <p:nvPr/>
        </p:nvSpPr>
        <p:spPr>
          <a:xfrm>
            <a:off x="1128238" y="5772368"/>
            <a:ext cx="6066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  <a:tabLst>
                <a:tab pos="1630045" algn="l"/>
              </a:tabLst>
            </a:pPr>
            <a:r>
              <a:rPr lang="en-US" sz="2400" kern="0" spc="-15" dirty="0">
                <a:solidFill>
                  <a:srgbClr val="3333CC"/>
                </a:solidFill>
              </a:rPr>
              <a:t>Figure</a:t>
            </a:r>
            <a:r>
              <a:rPr lang="en-US" sz="2400" kern="0" spc="-5" dirty="0">
                <a:solidFill>
                  <a:srgbClr val="3333CC"/>
                </a:solidFill>
              </a:rPr>
              <a:t> 10.5	</a:t>
            </a:r>
            <a:r>
              <a:rPr lang="en-US" sz="2000" i="1" kern="0" spc="-5" dirty="0" err="1"/>
              <a:t>Datawords</a:t>
            </a:r>
            <a:r>
              <a:rPr lang="en-US" sz="2000" i="1" kern="0" spc="-5" dirty="0"/>
              <a:t> and</a:t>
            </a:r>
            <a:r>
              <a:rPr lang="en-US" sz="2000" i="1" kern="0" dirty="0"/>
              <a:t> </a:t>
            </a:r>
            <a:r>
              <a:rPr lang="en-US" sz="2000" i="1" kern="0" spc="-5" dirty="0"/>
              <a:t>codewords in block</a:t>
            </a:r>
            <a:r>
              <a:rPr lang="en-US" sz="2000" i="1" kern="0" dirty="0"/>
              <a:t> </a:t>
            </a:r>
            <a:r>
              <a:rPr lang="en-US" sz="2000" i="1" kern="0" spc="-5" dirty="0"/>
              <a:t>coding</a:t>
            </a:r>
            <a:endParaRPr lang="en-US" sz="2000" kern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5973" y="1512824"/>
            <a:ext cx="865568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461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 4B/5B block coding discussed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Chapter </a:t>
            </a:r>
            <a:r>
              <a:rPr sz="2800" b="1" i="1" dirty="0">
                <a:latin typeface="Times New Roman"/>
                <a:cs typeface="Times New Roman"/>
              </a:rPr>
              <a:t>4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good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spc="5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5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type</a:t>
            </a:r>
            <a:r>
              <a:rPr sz="2800" b="1" i="1" spc="5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coding.</a:t>
            </a:r>
            <a:r>
              <a:rPr sz="2800" b="1" i="1" spc="5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5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5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coding</a:t>
            </a:r>
            <a:r>
              <a:rPr sz="2800" b="1" i="1" spc="5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scheme,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 = 4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dirty="0">
                <a:latin typeface="Times New Roman"/>
                <a:cs typeface="Times New Roman"/>
              </a:rPr>
              <a:t>n = 5. </a:t>
            </a:r>
            <a:r>
              <a:rPr sz="2800" b="1" i="1" spc="-5" dirty="0">
                <a:latin typeface="Times New Roman"/>
                <a:cs typeface="Times New Roman"/>
              </a:rPr>
              <a:t>As we </a:t>
            </a:r>
            <a:r>
              <a:rPr sz="2800" b="1" i="1" spc="-30" dirty="0">
                <a:latin typeface="Times New Roman"/>
                <a:cs typeface="Times New Roman"/>
              </a:rPr>
              <a:t>saw, </a:t>
            </a:r>
            <a:r>
              <a:rPr sz="2800" b="1" i="1" spc="-5" dirty="0">
                <a:latin typeface="Times New Roman"/>
                <a:cs typeface="Times New Roman"/>
              </a:rPr>
              <a:t>we have </a:t>
            </a:r>
            <a:r>
              <a:rPr sz="2800" b="1" i="1" dirty="0">
                <a:latin typeface="Times New Roman"/>
                <a:cs typeface="Times New Roman"/>
              </a:rPr>
              <a:t>2</a:t>
            </a:r>
            <a:r>
              <a:rPr sz="2775" b="1" i="1" baseline="25525" dirty="0">
                <a:latin typeface="Times New Roman"/>
                <a:cs typeface="Times New Roman"/>
              </a:rPr>
              <a:t>k</a:t>
            </a:r>
            <a:r>
              <a:rPr sz="2775" b="1" i="1" spc="690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16 </a:t>
            </a:r>
            <a:r>
              <a:rPr sz="2800" b="1" i="1" spc="-5" dirty="0">
                <a:latin typeface="Times New Roman"/>
                <a:cs typeface="Times New Roman"/>
              </a:rPr>
              <a:t>datawords </a:t>
            </a:r>
            <a:r>
              <a:rPr sz="2800" b="1" i="1" dirty="0">
                <a:latin typeface="Times New Roman"/>
                <a:cs typeface="Times New Roman"/>
              </a:rPr>
              <a:t> and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</a:t>
            </a:r>
            <a:r>
              <a:rPr sz="2775" b="1" i="1" baseline="25525" dirty="0">
                <a:latin typeface="Times New Roman"/>
                <a:cs typeface="Times New Roman"/>
              </a:rPr>
              <a:t>n</a:t>
            </a:r>
            <a:r>
              <a:rPr sz="2775" b="1" i="1" spc="7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32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codewords.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saw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dirty="0">
                <a:latin typeface="Times New Roman"/>
                <a:cs typeface="Times New Roman"/>
              </a:rPr>
              <a:t> 16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out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32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codewords are used for message transfer and the rest 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either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5" dirty="0">
                <a:latin typeface="Times New Roman"/>
                <a:cs typeface="Times New Roman"/>
              </a:rPr>
              <a:t> other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purposes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unused.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998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10.6	</a:t>
            </a:r>
            <a:r>
              <a:rPr sz="2000" i="1" spc="-5" dirty="0">
                <a:latin typeface="Times New Roman"/>
                <a:cs typeface="Times New Roman"/>
              </a:rPr>
              <a:t>Process 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detection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 block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815" y="2222754"/>
            <a:ext cx="8802623" cy="353644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1405" y="881379"/>
            <a:ext cx="8530590" cy="64761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715" indent="-45720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Let us assume that </a:t>
            </a:r>
            <a:r>
              <a:rPr sz="2800" b="1" i="1" dirty="0">
                <a:latin typeface="Times New Roman"/>
                <a:cs typeface="Times New Roman"/>
              </a:rPr>
              <a:t>k = 2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dirty="0">
                <a:latin typeface="Times New Roman"/>
                <a:cs typeface="Times New Roman"/>
              </a:rPr>
              <a:t>n = </a:t>
            </a:r>
            <a:r>
              <a:rPr sz="2800" b="1" i="1" spc="-5" dirty="0">
                <a:latin typeface="Times New Roman"/>
                <a:cs typeface="Times New Roman"/>
              </a:rPr>
              <a:t>3. </a:t>
            </a:r>
            <a:r>
              <a:rPr sz="2800" b="1" i="1" spc="-55" dirty="0">
                <a:latin typeface="Times New Roman"/>
                <a:cs typeface="Times New Roman"/>
              </a:rPr>
              <a:t>Table </a:t>
            </a:r>
            <a:r>
              <a:rPr sz="2800" b="1" i="1" spc="-5" dirty="0">
                <a:latin typeface="Times New Roman"/>
                <a:cs typeface="Times New Roman"/>
              </a:rPr>
              <a:t>10.1 shows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list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datawords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codewords.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30" dirty="0">
                <a:latin typeface="Times New Roman"/>
                <a:cs typeface="Times New Roman"/>
              </a:rPr>
              <a:t>Later,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will</a:t>
            </a:r>
            <a:r>
              <a:rPr sz="2800" b="1" i="1" spc="6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derive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codeword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from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 err="1">
                <a:latin typeface="Times New Roman"/>
                <a:cs typeface="Times New Roman"/>
              </a:rPr>
              <a:t>dataword</a:t>
            </a:r>
            <a:r>
              <a:rPr lang="en-IN" sz="2800" b="1" i="1" dirty="0">
                <a:latin typeface="Times New Roman"/>
                <a:cs typeface="Times New Roman"/>
              </a:rPr>
              <a:t>. </a:t>
            </a:r>
            <a:endParaRPr sz="2700" dirty="0">
              <a:latin typeface="Times New Roman"/>
              <a:cs typeface="Times New Roman"/>
            </a:endParaRPr>
          </a:p>
          <a:p>
            <a:pPr marL="12700" marR="424815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Assume the </a:t>
            </a:r>
            <a:r>
              <a:rPr sz="2800" b="1" i="1" spc="-5" dirty="0">
                <a:latin typeface="Times New Roman"/>
                <a:cs typeface="Times New Roman"/>
              </a:rPr>
              <a:t>sender encodes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dataword </a:t>
            </a:r>
            <a:r>
              <a:rPr sz="2800" b="1" i="1" dirty="0">
                <a:latin typeface="Times New Roman"/>
                <a:cs typeface="Times New Roman"/>
              </a:rPr>
              <a:t>01 as </a:t>
            </a:r>
            <a:r>
              <a:rPr sz="2800" b="1" i="1" spc="-55" dirty="0">
                <a:latin typeface="Times New Roman"/>
                <a:cs typeface="Times New Roman"/>
              </a:rPr>
              <a:t>011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sends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receiver.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Consider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following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cases</a:t>
            </a:r>
            <a:r>
              <a:rPr lang="en-IN" sz="2800" b="1" i="1" dirty="0">
                <a:latin typeface="Times New Roman"/>
                <a:cs typeface="Times New Roman"/>
              </a:rPr>
              <a:t>:</a:t>
            </a:r>
            <a:endParaRPr sz="29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1.</a:t>
            </a:r>
            <a:r>
              <a:rPr sz="2800" b="1" i="1" spc="3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</a:t>
            </a:r>
            <a:r>
              <a:rPr sz="2800" b="1" i="1" spc="3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receives</a:t>
            </a:r>
            <a:r>
              <a:rPr sz="2800" b="1" i="1" spc="330" dirty="0">
                <a:latin typeface="Times New Roman"/>
                <a:cs typeface="Times New Roman"/>
              </a:rPr>
              <a:t> </a:t>
            </a:r>
            <a:r>
              <a:rPr sz="2800" b="1" i="1" spc="-45" dirty="0">
                <a:latin typeface="Times New Roman"/>
                <a:cs typeface="Times New Roman"/>
              </a:rPr>
              <a:t>011.</a:t>
            </a:r>
            <a:r>
              <a:rPr sz="2800" b="1" i="1" spc="3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spc="3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3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valid</a:t>
            </a:r>
            <a:r>
              <a:rPr sz="2800" b="1" i="1" spc="3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codeword.</a:t>
            </a:r>
            <a:r>
              <a:rPr sz="2800" b="1" i="1" spc="34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extracts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dataword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01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from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it.</a:t>
            </a:r>
            <a:endParaRPr lang="en-IN" sz="2800" b="1" i="1" dirty="0">
              <a:latin typeface="Times New Roman"/>
              <a:cs typeface="Times New Roman"/>
            </a:endParaRPr>
          </a:p>
          <a:p>
            <a:pPr marL="469900" marR="5080" indent="-457200"/>
            <a:r>
              <a:rPr lang="en-US"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2. </a:t>
            </a:r>
            <a:r>
              <a:rPr lang="en-US" sz="2800" b="1" i="1" spc="-5" dirty="0">
                <a:latin typeface="Times New Roman"/>
                <a:cs typeface="Times New Roman"/>
              </a:rPr>
              <a:t>The codeword is corrupted during transmission, and </a:t>
            </a:r>
            <a:r>
              <a:rPr lang="en-US" sz="2800" b="1" i="1" dirty="0">
                <a:latin typeface="Times New Roman"/>
                <a:cs typeface="Times New Roman"/>
              </a:rPr>
              <a:t> </a:t>
            </a:r>
            <a:r>
              <a:rPr lang="en-US" sz="2800" b="1" i="1" spc="-105" dirty="0">
                <a:latin typeface="Times New Roman"/>
                <a:cs typeface="Times New Roman"/>
              </a:rPr>
              <a:t>111</a:t>
            </a:r>
            <a:r>
              <a:rPr lang="en-US" sz="2800" b="1" i="1" spc="-100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is </a:t>
            </a:r>
            <a:r>
              <a:rPr lang="en-US" sz="2800" b="1" i="1" spc="-10" dirty="0">
                <a:latin typeface="Times New Roman"/>
                <a:cs typeface="Times New Roman"/>
              </a:rPr>
              <a:t>received. </a:t>
            </a:r>
            <a:r>
              <a:rPr lang="en-US" sz="2800" b="1" i="1" dirty="0">
                <a:latin typeface="Times New Roman"/>
                <a:cs typeface="Times New Roman"/>
              </a:rPr>
              <a:t>This is </a:t>
            </a:r>
            <a:r>
              <a:rPr lang="en-US" sz="2800" b="1" i="1" spc="-5" dirty="0">
                <a:latin typeface="Times New Roman"/>
                <a:cs typeface="Times New Roman"/>
              </a:rPr>
              <a:t>not </a:t>
            </a:r>
            <a:r>
              <a:rPr lang="en-US" sz="2800" b="1" i="1" dirty="0">
                <a:latin typeface="Times New Roman"/>
                <a:cs typeface="Times New Roman"/>
              </a:rPr>
              <a:t>a </a:t>
            </a:r>
            <a:r>
              <a:rPr lang="en-US" sz="2800" b="1" i="1" spc="-5" dirty="0">
                <a:latin typeface="Times New Roman"/>
                <a:cs typeface="Times New Roman"/>
              </a:rPr>
              <a:t>valid codeword and is </a:t>
            </a:r>
            <a:r>
              <a:rPr lang="en-US" sz="2800" b="1" i="1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discarded.</a:t>
            </a:r>
          </a:p>
          <a:p>
            <a:pPr marL="469900" marR="5080" indent="-457200"/>
            <a:r>
              <a:rPr lang="en-US" sz="2800" b="1" i="1" spc="-5" dirty="0">
                <a:latin typeface="Times New Roman"/>
                <a:cs typeface="Times New Roman"/>
              </a:rPr>
              <a:t>The codeword is corrupted during transmission, and </a:t>
            </a:r>
            <a:r>
              <a:rPr lang="en-US" sz="2800" b="1" i="1" dirty="0">
                <a:latin typeface="Times New Roman"/>
                <a:cs typeface="Times New Roman"/>
              </a:rPr>
              <a:t> 000 </a:t>
            </a:r>
            <a:r>
              <a:rPr lang="en-US" sz="2800" b="1" i="1" spc="-5" dirty="0">
                <a:latin typeface="Times New Roman"/>
                <a:cs typeface="Times New Roman"/>
              </a:rPr>
              <a:t>is received. This is </a:t>
            </a:r>
            <a:r>
              <a:rPr lang="en-US" sz="2800" b="1" i="1" dirty="0">
                <a:latin typeface="Times New Roman"/>
                <a:cs typeface="Times New Roman"/>
              </a:rPr>
              <a:t>a </a:t>
            </a:r>
            <a:r>
              <a:rPr lang="en-US" sz="2800" b="1" i="1" spc="-5" dirty="0">
                <a:latin typeface="Times New Roman"/>
                <a:cs typeface="Times New Roman"/>
              </a:rPr>
              <a:t>valid codeword. The </a:t>
            </a:r>
            <a:r>
              <a:rPr lang="en-US" sz="2800" b="1" i="1" spc="-10" dirty="0">
                <a:latin typeface="Times New Roman"/>
                <a:cs typeface="Times New Roman"/>
              </a:rPr>
              <a:t>receiver </a:t>
            </a:r>
            <a:r>
              <a:rPr lang="en-US" sz="2800" b="1" i="1" spc="-5" dirty="0">
                <a:latin typeface="Times New Roman"/>
                <a:cs typeface="Times New Roman"/>
              </a:rPr>
              <a:t> incorrectly</a:t>
            </a:r>
            <a:r>
              <a:rPr lang="en-US" sz="2800" b="1" i="1" spc="64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extracts</a:t>
            </a:r>
            <a:r>
              <a:rPr lang="en-US" sz="2800" b="1" i="1" spc="650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the</a:t>
            </a:r>
            <a:r>
              <a:rPr lang="en-US" sz="2800" b="1" i="1" spc="650" dirty="0">
                <a:latin typeface="Times New Roman"/>
                <a:cs typeface="Times New Roman"/>
              </a:rPr>
              <a:t> </a:t>
            </a:r>
            <a:r>
              <a:rPr lang="en-US" sz="2800" b="1" i="1" spc="-5" dirty="0" err="1">
                <a:latin typeface="Times New Roman"/>
                <a:cs typeface="Times New Roman"/>
              </a:rPr>
              <a:t>dataword</a:t>
            </a:r>
            <a:r>
              <a:rPr lang="en-US" sz="2800" b="1" i="1" spc="650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00.</a:t>
            </a:r>
            <a:r>
              <a:rPr lang="en-US" sz="2800" b="1" i="1" spc="655" dirty="0">
                <a:latin typeface="Times New Roman"/>
                <a:cs typeface="Times New Roman"/>
              </a:rPr>
              <a:t> </a:t>
            </a:r>
            <a:r>
              <a:rPr lang="en-US" sz="2800" b="1" i="1" spc="-40" dirty="0">
                <a:latin typeface="Times New Roman"/>
                <a:cs typeface="Times New Roman"/>
              </a:rPr>
              <a:t>Two</a:t>
            </a:r>
            <a:r>
              <a:rPr lang="en-US" sz="2800" b="1" i="1" spc="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corrupted </a:t>
            </a:r>
            <a:r>
              <a:rPr lang="en-US" sz="2800" b="1" i="1" spc="-690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bits</a:t>
            </a:r>
            <a:r>
              <a:rPr lang="en-US" sz="2800" b="1" i="1" spc="-20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have</a:t>
            </a:r>
            <a:r>
              <a:rPr lang="en-US" sz="2800" b="1" i="1" spc="-1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made</a:t>
            </a:r>
            <a:r>
              <a:rPr lang="en-US" sz="2800" b="1" i="1" spc="-20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the</a:t>
            </a:r>
            <a:r>
              <a:rPr lang="en-US" sz="2800" b="1" i="1" spc="-1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error</a:t>
            </a:r>
            <a:r>
              <a:rPr lang="en-US" sz="2800" b="1" i="1" spc="-2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undetectable.</a:t>
            </a:r>
            <a:endParaRPr lang="en-US" sz="28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3173" y="657225"/>
            <a:ext cx="5851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10.1	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0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 detection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(Example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10.2)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1048385"/>
            <a:ext cx="8533638" cy="35326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B957803-4D69-67D3-A813-1BFEB4D3F87B}"/>
              </a:ext>
            </a:extLst>
          </p:cNvPr>
          <p:cNvSpPr txBox="1"/>
          <p:nvPr/>
        </p:nvSpPr>
        <p:spPr>
          <a:xfrm>
            <a:off x="1121684" y="4238625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20370" marR="413384" indent="-635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An </a:t>
            </a:r>
            <a:r>
              <a:rPr sz="3200" b="1" spc="-10" dirty="0">
                <a:latin typeface="Arial"/>
                <a:cs typeface="Arial"/>
              </a:rPr>
              <a:t>error-detecting </a:t>
            </a:r>
            <a:r>
              <a:rPr sz="3200" b="1" spc="-5" dirty="0">
                <a:latin typeface="Arial"/>
                <a:cs typeface="Arial"/>
              </a:rPr>
              <a:t>code can </a:t>
            </a:r>
            <a:r>
              <a:rPr sz="3200" b="1" spc="-10" dirty="0">
                <a:latin typeface="Arial"/>
                <a:cs typeface="Arial"/>
              </a:rPr>
              <a:t>detect </a:t>
            </a:r>
            <a:r>
              <a:rPr sz="3200" b="1" spc="-5" dirty="0">
                <a:latin typeface="Arial"/>
                <a:cs typeface="Arial"/>
              </a:rPr>
              <a:t> only the types </a:t>
            </a:r>
            <a:r>
              <a:rPr sz="3200" b="1" dirty="0">
                <a:latin typeface="Arial"/>
                <a:cs typeface="Arial"/>
              </a:rPr>
              <a:t>of </a:t>
            </a:r>
            <a:r>
              <a:rPr sz="3200" b="1" spc="-10" dirty="0">
                <a:latin typeface="Arial"/>
                <a:cs typeface="Arial"/>
              </a:rPr>
              <a:t>errors </a:t>
            </a:r>
            <a:r>
              <a:rPr sz="3200" b="1" spc="-5" dirty="0">
                <a:latin typeface="Arial"/>
                <a:cs typeface="Arial"/>
              </a:rPr>
              <a:t>for which it is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designed; </a:t>
            </a:r>
            <a:r>
              <a:rPr sz="3200" b="1" spc="-5" dirty="0">
                <a:latin typeface="Arial"/>
                <a:cs typeface="Arial"/>
              </a:rPr>
              <a:t>other types of </a:t>
            </a:r>
            <a:r>
              <a:rPr sz="3200" b="1" spc="-10" dirty="0">
                <a:latin typeface="Arial"/>
                <a:cs typeface="Arial"/>
              </a:rPr>
              <a:t>errors may 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remain undetected.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148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10.7	</a:t>
            </a:r>
            <a:r>
              <a:rPr sz="2000" i="1" spc="-5" dirty="0">
                <a:latin typeface="Times New Roman"/>
                <a:cs typeface="Times New Roman"/>
              </a:rPr>
              <a:t>Structure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decoder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correction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2330195"/>
            <a:ext cx="8785859" cy="35433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2" y="1512824"/>
            <a:ext cx="8531860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Let us add more redundant bits to Example 10.2 to see if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receiver can correct an error without knowing what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was actually sent.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add </a:t>
            </a:r>
            <a:r>
              <a:rPr sz="2800" b="1" i="1" dirty="0">
                <a:latin typeface="Times New Roman"/>
                <a:cs typeface="Times New Roman"/>
              </a:rPr>
              <a:t>3 </a:t>
            </a:r>
            <a:r>
              <a:rPr sz="2800" b="1" i="1" spc="-5" dirty="0">
                <a:latin typeface="Times New Roman"/>
                <a:cs typeface="Times New Roman"/>
              </a:rPr>
              <a:t>redundant bits to the 2-bit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dataword to make 5-bit codewords. </a:t>
            </a:r>
            <a:r>
              <a:rPr sz="2800" b="1" i="1" spc="-55" dirty="0">
                <a:latin typeface="Times New Roman"/>
                <a:cs typeface="Times New Roman"/>
              </a:rPr>
              <a:t>Table </a:t>
            </a:r>
            <a:r>
              <a:rPr sz="2800" b="1" i="1" spc="-5" dirty="0">
                <a:latin typeface="Times New Roman"/>
                <a:cs typeface="Times New Roman"/>
              </a:rPr>
              <a:t>10.2 shows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datawords</a:t>
            </a:r>
            <a:r>
              <a:rPr sz="2800" b="1" i="1" spc="6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spc="6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codewords.</a:t>
            </a:r>
            <a:r>
              <a:rPr sz="2800" b="1" i="1" spc="6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Assume</a:t>
            </a:r>
            <a:r>
              <a:rPr sz="2800" b="1" i="1" spc="6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6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dataword</a:t>
            </a:r>
            <a:r>
              <a:rPr sz="2800" b="1" i="1" spc="6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6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01.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sender creates the codeword </a:t>
            </a:r>
            <a:r>
              <a:rPr sz="2800" b="1" i="1" spc="-30" dirty="0">
                <a:latin typeface="Times New Roman"/>
                <a:cs typeface="Times New Roman"/>
              </a:rPr>
              <a:t>01011. </a:t>
            </a:r>
            <a:r>
              <a:rPr sz="2800" b="1" i="1" spc="-5" dirty="0">
                <a:latin typeface="Times New Roman"/>
                <a:cs typeface="Times New Roman"/>
              </a:rPr>
              <a:t>The codeword 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corrupted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during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01001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received.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First,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10" dirty="0">
                <a:latin typeface="Times New Roman"/>
                <a:cs typeface="Times New Roman"/>
              </a:rPr>
              <a:t>receiver </a:t>
            </a:r>
            <a:r>
              <a:rPr sz="2800" b="1" i="1" spc="-5" dirty="0">
                <a:latin typeface="Times New Roman"/>
                <a:cs typeface="Times New Roman"/>
              </a:rPr>
              <a:t>finds that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10" dirty="0">
                <a:latin typeface="Times New Roman"/>
                <a:cs typeface="Times New Roman"/>
              </a:rPr>
              <a:t>received </a:t>
            </a:r>
            <a:r>
              <a:rPr sz="2800" b="1" i="1" spc="-5" dirty="0">
                <a:latin typeface="Times New Roman"/>
                <a:cs typeface="Times New Roman"/>
              </a:rPr>
              <a:t>codeword is not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table.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occurred.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receiver, </a:t>
            </a:r>
            <a:r>
              <a:rPr sz="2800" b="1" i="1" spc="-5" dirty="0">
                <a:latin typeface="Times New Roman"/>
                <a:cs typeface="Times New Roman"/>
              </a:rPr>
              <a:t>assuming that there is only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bit corrupted, uses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following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strategy</a:t>
            </a:r>
            <a:r>
              <a:rPr sz="2800" b="1" i="1" spc="-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guess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correct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dataword.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839200" cy="857250"/>
            <a:chOff x="851039" y="348995"/>
            <a:chExt cx="8839200" cy="857250"/>
          </a:xfrm>
        </p:grpSpPr>
        <p:sp>
          <p:nvSpPr>
            <p:cNvPr id="3" name="object 3"/>
            <p:cNvSpPr/>
            <p:nvPr/>
          </p:nvSpPr>
          <p:spPr>
            <a:xfrm>
              <a:off x="1142123" y="457211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457200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879347"/>
              <a:ext cx="422275" cy="231775"/>
            </a:xfrm>
            <a:custGeom>
              <a:avLst/>
              <a:gdLst/>
              <a:ahLst/>
              <a:cxnLst/>
              <a:rect l="l" t="t" r="r" b="b"/>
              <a:pathLst>
                <a:path w="422275" h="231775">
                  <a:moveTo>
                    <a:pt x="0" y="231647"/>
                  </a:moveTo>
                  <a:lnTo>
                    <a:pt x="422147" y="231647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23164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806195"/>
              <a:ext cx="8593836" cy="400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348995"/>
              <a:ext cx="31750" cy="762000"/>
            </a:xfrm>
            <a:custGeom>
              <a:avLst/>
              <a:gdLst/>
              <a:ahLst/>
              <a:cxnLst/>
              <a:rect l="l" t="t" r="r" b="b"/>
              <a:pathLst>
                <a:path w="31750" h="762000">
                  <a:moveTo>
                    <a:pt x="0" y="761999"/>
                  </a:moveTo>
                  <a:lnTo>
                    <a:pt x="31241" y="76199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76199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3439" y="1110995"/>
              <a:ext cx="8686800" cy="95250"/>
            </a:xfrm>
            <a:custGeom>
              <a:avLst/>
              <a:gdLst/>
              <a:ahLst/>
              <a:cxnLst/>
              <a:rect l="l" t="t" r="r" b="b"/>
              <a:pathLst>
                <a:path w="8686800" h="95250">
                  <a:moveTo>
                    <a:pt x="8686800" y="952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8686800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10.3</a:t>
            </a:r>
            <a:r>
              <a:rPr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875075" y="1206246"/>
            <a:ext cx="8815705" cy="857250"/>
            <a:chOff x="875075" y="1206246"/>
            <a:chExt cx="8815705" cy="8572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03439" y="1206246"/>
              <a:ext cx="8686800" cy="857250"/>
            </a:xfrm>
            <a:custGeom>
              <a:avLst/>
              <a:gdLst/>
              <a:ahLst/>
              <a:cxnLst/>
              <a:rect l="l" t="t" r="r" b="b"/>
              <a:pathLst>
                <a:path w="8686800" h="857250">
                  <a:moveTo>
                    <a:pt x="8686800" y="8572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86868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2173" y="1131824"/>
            <a:ext cx="2927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15" name="object 15"/>
          <p:cNvSpPr txBox="1"/>
          <p:nvPr/>
        </p:nvSpPr>
        <p:spPr>
          <a:xfrm>
            <a:off x="1612525" y="1131824"/>
            <a:ext cx="79984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4210" algn="l"/>
                <a:tab pos="2651125" algn="l"/>
                <a:tab pos="4117975" algn="l"/>
                <a:tab pos="5782310" algn="l"/>
                <a:tab pos="6677025" algn="l"/>
                <a:tab pos="7392034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Compari</a:t>
            </a:r>
            <a:r>
              <a:rPr sz="2800" b="1" i="1" spc="-10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g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r</a:t>
            </a:r>
            <a:r>
              <a:rPr sz="2800" b="1" i="1" spc="-5" dirty="0">
                <a:latin typeface="Times New Roman"/>
                <a:cs typeface="Times New Roman"/>
              </a:rPr>
              <a:t>eceive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codewor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wit</a:t>
            </a:r>
            <a:r>
              <a:rPr sz="2800" b="1" i="1" dirty="0">
                <a:latin typeface="Times New Roman"/>
                <a:cs typeface="Times New Roman"/>
              </a:rPr>
              <a:t>h	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spc="-20" dirty="0">
                <a:latin typeface="Times New Roman"/>
                <a:cs typeface="Times New Roman"/>
              </a:rPr>
              <a:t>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firs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2173" y="1558543"/>
            <a:ext cx="852995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715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codeword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table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(01001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versus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00000),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 decides that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first codeword is not the one </a:t>
            </a:r>
            <a:r>
              <a:rPr sz="2800" b="1" i="1" dirty="0">
                <a:latin typeface="Times New Roman"/>
                <a:cs typeface="Times New Roman"/>
              </a:rPr>
              <a:t> that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was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sent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because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two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different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12115" marR="5080" indent="-412115" algn="just">
              <a:lnSpc>
                <a:spcPct val="100000"/>
              </a:lnSpc>
              <a:buClr>
                <a:srgbClr val="FF0000"/>
              </a:buClr>
              <a:buAutoNum type="arabicPeriod" startAt="2"/>
              <a:tabLst>
                <a:tab pos="41211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By the same reasoning, the original codeword cannot </a:t>
            </a:r>
            <a:r>
              <a:rPr sz="2800" b="1" i="1" dirty="0">
                <a:latin typeface="Times New Roman"/>
                <a:cs typeface="Times New Roman"/>
              </a:rPr>
              <a:t> be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third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fourth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table.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Times New Roman"/>
              <a:buAutoNum type="arabicPeriod" startAt="2"/>
            </a:pPr>
            <a:endParaRPr sz="2900">
              <a:latin typeface="Times New Roman"/>
              <a:cs typeface="Times New Roman"/>
            </a:endParaRPr>
          </a:p>
          <a:p>
            <a:pPr marL="410845" marR="5080" indent="-410845" algn="just">
              <a:lnSpc>
                <a:spcPct val="100000"/>
              </a:lnSpc>
              <a:buClr>
                <a:srgbClr val="FF0000"/>
              </a:buClr>
              <a:buAutoNum type="arabicPeriod" startAt="2"/>
              <a:tabLst>
                <a:tab pos="41084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The original codeword must be the second one in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table because this is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only </a:t>
            </a:r>
            <a:r>
              <a:rPr sz="2800" b="1" i="1" dirty="0">
                <a:latin typeface="Times New Roman"/>
                <a:cs typeface="Times New Roman"/>
              </a:rPr>
              <a:t>one </a:t>
            </a:r>
            <a:r>
              <a:rPr sz="2800" b="1" i="1" spc="-5" dirty="0">
                <a:latin typeface="Times New Roman"/>
                <a:cs typeface="Times New Roman"/>
              </a:rPr>
              <a:t>that </a:t>
            </a:r>
            <a:r>
              <a:rPr sz="2800" b="1" i="1" spc="-10" dirty="0">
                <a:latin typeface="Times New Roman"/>
                <a:cs typeface="Times New Roman"/>
              </a:rPr>
              <a:t>differs </a:t>
            </a:r>
            <a:r>
              <a:rPr sz="2800" b="1" i="1" spc="-5" dirty="0">
                <a:latin typeface="Times New Roman"/>
                <a:cs typeface="Times New Roman"/>
              </a:rPr>
              <a:t>from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</a:t>
            </a:r>
            <a:r>
              <a:rPr sz="2800" b="1" i="1" dirty="0">
                <a:latin typeface="Times New Roman"/>
                <a:cs typeface="Times New Roman"/>
              </a:rPr>
              <a:t> 1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replaces </a:t>
            </a:r>
            <a:r>
              <a:rPr sz="2800" b="1" i="1" spc="-5" dirty="0">
                <a:latin typeface="Times New Roman"/>
                <a:cs typeface="Times New Roman"/>
              </a:rPr>
              <a:t> 01001 with </a:t>
            </a:r>
            <a:r>
              <a:rPr sz="2800" b="1" i="1" spc="-35" dirty="0">
                <a:latin typeface="Times New Roman"/>
                <a:cs typeface="Times New Roman"/>
              </a:rPr>
              <a:t>01011 </a:t>
            </a:r>
            <a:r>
              <a:rPr sz="2800" b="1" i="1" spc="-5" dirty="0">
                <a:latin typeface="Times New Roman"/>
                <a:cs typeface="Times New Roman"/>
              </a:rPr>
              <a:t>and consults the table to find the </a:t>
            </a:r>
            <a:r>
              <a:rPr sz="2800" b="1" i="1" dirty="0">
                <a:latin typeface="Times New Roman"/>
                <a:cs typeface="Times New Roman"/>
              </a:rPr>
              <a:t> dataword</a:t>
            </a:r>
            <a:r>
              <a:rPr sz="2800" b="1" i="1" spc="6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01.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869235"/>
            <a:ext cx="5979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10.2	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0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 error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correction (Example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10.3)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1279798"/>
            <a:ext cx="8410193" cy="314782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14069AE5-13FB-1850-AC6F-F87A43765D1A}"/>
              </a:ext>
            </a:extLst>
          </p:cNvPr>
          <p:cNvSpPr txBox="1"/>
          <p:nvPr/>
        </p:nvSpPr>
        <p:spPr>
          <a:xfrm>
            <a:off x="1169796" y="4619625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43560" marR="53467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Hamming </a:t>
            </a:r>
            <a:r>
              <a:rPr sz="3200" b="1" spc="-5" dirty="0">
                <a:latin typeface="Arial"/>
                <a:cs typeface="Arial"/>
              </a:rPr>
              <a:t>distance between </a:t>
            </a:r>
            <a:r>
              <a:rPr sz="3200" b="1" spc="-10" dirty="0">
                <a:latin typeface="Arial"/>
                <a:cs typeface="Arial"/>
              </a:rPr>
              <a:t>two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words is the number of </a:t>
            </a:r>
            <a:r>
              <a:rPr sz="3200" b="1" spc="-10" dirty="0">
                <a:latin typeface="Arial"/>
                <a:cs typeface="Arial"/>
              </a:rPr>
              <a:t>differences </a:t>
            </a:r>
            <a:r>
              <a:rPr sz="3200" b="1" spc="-5" dirty="0">
                <a:latin typeface="Arial"/>
                <a:cs typeface="Arial"/>
              </a:rPr>
              <a:t> between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corresponding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bits.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9955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22935" algn="l"/>
                <a:tab pos="1096645" algn="l"/>
                <a:tab pos="1826895" algn="l"/>
                <a:tab pos="2418715" algn="l"/>
                <a:tab pos="4037329" algn="l"/>
                <a:tab pos="5378450" algn="l"/>
                <a:tab pos="6701155" algn="l"/>
                <a:tab pos="7352665" algn="l"/>
                <a:tab pos="8220709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Le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u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fin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10" dirty="0">
                <a:latin typeface="Times New Roman"/>
                <a:cs typeface="Times New Roman"/>
              </a:rPr>
              <a:t>H</a:t>
            </a:r>
            <a:r>
              <a:rPr sz="2800" b="1" i="1" spc="-5" dirty="0">
                <a:latin typeface="Times New Roman"/>
                <a:cs typeface="Times New Roman"/>
              </a:rPr>
              <a:t>ammin</a:t>
            </a:r>
            <a:r>
              <a:rPr sz="2800" b="1" i="1" dirty="0">
                <a:latin typeface="Times New Roman"/>
                <a:cs typeface="Times New Roman"/>
              </a:rPr>
              <a:t>g	</a:t>
            </a:r>
            <a:r>
              <a:rPr sz="2800" b="1" i="1" spc="-5" dirty="0">
                <a:latin typeface="Times New Roman"/>
                <a:cs typeface="Times New Roman"/>
              </a:rPr>
              <a:t>distanc</a:t>
            </a:r>
            <a:r>
              <a:rPr sz="2800" b="1" i="1" dirty="0">
                <a:latin typeface="Times New Roman"/>
                <a:cs typeface="Times New Roman"/>
              </a:rPr>
              <a:t>e	b</a:t>
            </a:r>
            <a:r>
              <a:rPr sz="2800" b="1" i="1" spc="-5" dirty="0">
                <a:latin typeface="Times New Roman"/>
                <a:cs typeface="Times New Roman"/>
              </a:rPr>
              <a:t>etwee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tw</a:t>
            </a:r>
            <a:r>
              <a:rPr sz="2800" b="1" i="1" dirty="0">
                <a:latin typeface="Times New Roman"/>
                <a:cs typeface="Times New Roman"/>
              </a:rPr>
              <a:t>o	</a:t>
            </a:r>
            <a:r>
              <a:rPr sz="2800" b="1" i="1" spc="-5" dirty="0">
                <a:latin typeface="Times New Roman"/>
                <a:cs typeface="Times New Roman"/>
              </a:rPr>
              <a:t>pair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of  </a:t>
            </a:r>
            <a:r>
              <a:rPr sz="2800" b="1" i="1" dirty="0">
                <a:latin typeface="Times New Roman"/>
                <a:cs typeface="Times New Roman"/>
              </a:rPr>
              <a:t>words.</a:t>
            </a:r>
            <a:endParaRPr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10540" algn="l"/>
                <a:tab pos="1314450" algn="l"/>
                <a:tab pos="3027045" algn="l"/>
                <a:tab pos="4460875" algn="l"/>
                <a:tab pos="5610860" algn="l"/>
                <a:tab pos="6475095" algn="l"/>
                <a:tab pos="6942455" algn="l"/>
                <a:tab pos="7352030" algn="l"/>
              </a:tabLst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.	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dirty="0">
                <a:latin typeface="Times New Roman"/>
                <a:cs typeface="Times New Roman"/>
              </a:rPr>
              <a:t>he	</a:t>
            </a:r>
            <a:r>
              <a:rPr sz="2800" b="1" i="1" spc="-5" dirty="0">
                <a:latin typeface="Times New Roman"/>
                <a:cs typeface="Times New Roman"/>
              </a:rPr>
              <a:t>H</a:t>
            </a:r>
            <a:r>
              <a:rPr sz="2800" b="1" i="1" spc="-10" dirty="0">
                <a:latin typeface="Times New Roman"/>
                <a:cs typeface="Times New Roman"/>
              </a:rPr>
              <a:t>am</a:t>
            </a:r>
            <a:r>
              <a:rPr sz="2800" b="1" i="1" spc="-5" dirty="0">
                <a:latin typeface="Times New Roman"/>
                <a:cs typeface="Times New Roman"/>
              </a:rPr>
              <a:t>m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g	</a:t>
            </a:r>
            <a:r>
              <a:rPr sz="2800" b="1" i="1" spc="-5" dirty="0">
                <a:latin typeface="Times New Roman"/>
                <a:cs typeface="Times New Roman"/>
              </a:rPr>
              <a:t>distan</a:t>
            </a:r>
            <a:r>
              <a:rPr sz="2800" b="1" i="1" spc="-10" dirty="0">
                <a:latin typeface="Times New Roman"/>
                <a:cs typeface="Times New Roman"/>
              </a:rPr>
              <a:t>c</a:t>
            </a:r>
            <a:r>
              <a:rPr sz="2800" b="1" i="1" dirty="0">
                <a:latin typeface="Times New Roman"/>
                <a:cs typeface="Times New Roman"/>
              </a:rPr>
              <a:t>e	d</a:t>
            </a:r>
            <a:r>
              <a:rPr sz="2800" b="1" i="1" spc="-5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000,	0</a:t>
            </a:r>
            <a:r>
              <a:rPr sz="2800" b="1" i="1" spc="-160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1)	is	2	</a:t>
            </a:r>
            <a:r>
              <a:rPr sz="2800" b="1" i="1" spc="-5" dirty="0">
                <a:latin typeface="Times New Roman"/>
                <a:cs typeface="Times New Roman"/>
              </a:rPr>
              <a:t>becau</a:t>
            </a:r>
            <a:r>
              <a:rPr sz="2800" b="1" i="1" spc="-10" dirty="0">
                <a:latin typeface="Times New Roman"/>
                <a:cs typeface="Times New Roman"/>
              </a:rPr>
              <a:t>s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36670" y="2993825"/>
            <a:ext cx="3020060" cy="455930"/>
            <a:chOff x="3907790" y="3549396"/>
            <a:chExt cx="3020060" cy="4559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7359" y="3658023"/>
              <a:ext cx="2827724" cy="1199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07790" y="3549408"/>
              <a:ext cx="3020060" cy="228600"/>
            </a:xfrm>
            <a:custGeom>
              <a:avLst/>
              <a:gdLst/>
              <a:ahLst/>
              <a:cxnLst/>
              <a:rect l="l" t="t" r="r" b="b"/>
              <a:pathLst>
                <a:path w="3020059" h="228600">
                  <a:moveTo>
                    <a:pt x="2974340" y="45720"/>
                  </a:moveTo>
                  <a:lnTo>
                    <a:pt x="296291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228600"/>
                  </a:lnTo>
                  <a:lnTo>
                    <a:pt x="57150" y="228600"/>
                  </a:lnTo>
                  <a:lnTo>
                    <a:pt x="57150" y="57150"/>
                  </a:lnTo>
                  <a:lnTo>
                    <a:pt x="2962910" y="57150"/>
                  </a:lnTo>
                  <a:lnTo>
                    <a:pt x="2962910" y="228600"/>
                  </a:lnTo>
                  <a:lnTo>
                    <a:pt x="2974340" y="228600"/>
                  </a:lnTo>
                  <a:lnTo>
                    <a:pt x="2974340" y="45720"/>
                  </a:lnTo>
                  <a:close/>
                </a:path>
                <a:path w="3020059" h="228600">
                  <a:moveTo>
                    <a:pt x="3020060" y="0"/>
                  </a:moveTo>
                  <a:lnTo>
                    <a:pt x="298577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34290" y="228600"/>
                  </a:lnTo>
                  <a:lnTo>
                    <a:pt x="34290" y="34290"/>
                  </a:lnTo>
                  <a:lnTo>
                    <a:pt x="2985770" y="34290"/>
                  </a:lnTo>
                  <a:lnTo>
                    <a:pt x="2985770" y="228600"/>
                  </a:lnTo>
                  <a:lnTo>
                    <a:pt x="3020060" y="228600"/>
                  </a:lnTo>
                  <a:lnTo>
                    <a:pt x="302006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7359" y="3777996"/>
              <a:ext cx="2827724" cy="1430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907790" y="3778008"/>
              <a:ext cx="3020060" cy="227329"/>
            </a:xfrm>
            <a:custGeom>
              <a:avLst/>
              <a:gdLst/>
              <a:ahLst/>
              <a:cxnLst/>
              <a:rect l="l" t="t" r="r" b="b"/>
              <a:pathLst>
                <a:path w="3020059" h="227329">
                  <a:moveTo>
                    <a:pt x="2974340" y="0"/>
                  </a:moveTo>
                  <a:lnTo>
                    <a:pt x="2962910" y="0"/>
                  </a:lnTo>
                  <a:lnTo>
                    <a:pt x="2962910" y="169926"/>
                  </a:lnTo>
                  <a:lnTo>
                    <a:pt x="57150" y="169926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181356"/>
                  </a:lnTo>
                  <a:lnTo>
                    <a:pt x="57150" y="181356"/>
                  </a:lnTo>
                  <a:lnTo>
                    <a:pt x="2962910" y="181356"/>
                  </a:lnTo>
                  <a:lnTo>
                    <a:pt x="2974340" y="181356"/>
                  </a:lnTo>
                  <a:lnTo>
                    <a:pt x="2974340" y="0"/>
                  </a:lnTo>
                  <a:close/>
                </a:path>
                <a:path w="3020059" h="227329">
                  <a:moveTo>
                    <a:pt x="3020060" y="0"/>
                  </a:moveTo>
                  <a:lnTo>
                    <a:pt x="2985770" y="0"/>
                  </a:lnTo>
                  <a:lnTo>
                    <a:pt x="2985770" y="192786"/>
                  </a:lnTo>
                  <a:lnTo>
                    <a:pt x="34290" y="192786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227076"/>
                  </a:lnTo>
                  <a:lnTo>
                    <a:pt x="34290" y="227076"/>
                  </a:lnTo>
                  <a:lnTo>
                    <a:pt x="2985770" y="227076"/>
                  </a:lnTo>
                  <a:lnTo>
                    <a:pt x="3020060" y="227076"/>
                  </a:lnTo>
                  <a:lnTo>
                    <a:pt x="302006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13111" y="3501063"/>
            <a:ext cx="80664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2.</a:t>
            </a:r>
            <a:r>
              <a:rPr sz="28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Hamming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distance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d(10101,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80" dirty="0">
                <a:latin typeface="Times New Roman"/>
                <a:cs typeface="Times New Roman"/>
              </a:rPr>
              <a:t>11110)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because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76681" y="4131321"/>
            <a:ext cx="3926840" cy="422909"/>
            <a:chOff x="3384550" y="5319521"/>
            <a:chExt cx="3926840" cy="422909"/>
          </a:xfrm>
        </p:grpSpPr>
        <p:sp>
          <p:nvSpPr>
            <p:cNvPr id="16" name="object 16"/>
            <p:cNvSpPr/>
            <p:nvPr/>
          </p:nvSpPr>
          <p:spPr>
            <a:xfrm>
              <a:off x="3384550" y="5319534"/>
              <a:ext cx="3926840" cy="173355"/>
            </a:xfrm>
            <a:custGeom>
              <a:avLst/>
              <a:gdLst/>
              <a:ahLst/>
              <a:cxnLst/>
              <a:rect l="l" t="t" r="r" b="b"/>
              <a:pathLst>
                <a:path w="3926840" h="173354">
                  <a:moveTo>
                    <a:pt x="57150" y="45720"/>
                  </a:moveTo>
                  <a:lnTo>
                    <a:pt x="45720" y="45720"/>
                  </a:lnTo>
                  <a:lnTo>
                    <a:pt x="45720" y="172974"/>
                  </a:lnTo>
                  <a:lnTo>
                    <a:pt x="57150" y="172974"/>
                  </a:lnTo>
                  <a:lnTo>
                    <a:pt x="57150" y="45720"/>
                  </a:lnTo>
                  <a:close/>
                </a:path>
                <a:path w="3926840" h="173354">
                  <a:moveTo>
                    <a:pt x="3926840" y="0"/>
                  </a:moveTo>
                  <a:lnTo>
                    <a:pt x="389255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72974"/>
                  </a:lnTo>
                  <a:lnTo>
                    <a:pt x="34290" y="172974"/>
                  </a:lnTo>
                  <a:lnTo>
                    <a:pt x="34290" y="34290"/>
                  </a:lnTo>
                  <a:lnTo>
                    <a:pt x="3892550" y="34290"/>
                  </a:lnTo>
                  <a:lnTo>
                    <a:pt x="3892550" y="172974"/>
                  </a:lnTo>
                  <a:lnTo>
                    <a:pt x="3926840" y="172974"/>
                  </a:lnTo>
                  <a:lnTo>
                    <a:pt x="392684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48697" y="5376671"/>
              <a:ext cx="3805428" cy="308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84550" y="5365254"/>
              <a:ext cx="3926840" cy="377190"/>
            </a:xfrm>
            <a:custGeom>
              <a:avLst/>
              <a:gdLst/>
              <a:ahLst/>
              <a:cxnLst/>
              <a:rect l="l" t="t" r="r" b="b"/>
              <a:pathLst>
                <a:path w="3926840" h="377189">
                  <a:moveTo>
                    <a:pt x="3881120" y="0"/>
                  </a:moveTo>
                  <a:lnTo>
                    <a:pt x="3869690" y="0"/>
                  </a:lnTo>
                  <a:lnTo>
                    <a:pt x="57150" y="0"/>
                  </a:lnTo>
                  <a:lnTo>
                    <a:pt x="57150" y="11430"/>
                  </a:lnTo>
                  <a:lnTo>
                    <a:pt x="3869690" y="11430"/>
                  </a:lnTo>
                  <a:lnTo>
                    <a:pt x="3869690" y="127254"/>
                  </a:lnTo>
                  <a:lnTo>
                    <a:pt x="3869690" y="320040"/>
                  </a:lnTo>
                  <a:lnTo>
                    <a:pt x="57150" y="320040"/>
                  </a:lnTo>
                  <a:lnTo>
                    <a:pt x="57150" y="127254"/>
                  </a:lnTo>
                  <a:lnTo>
                    <a:pt x="45720" y="127254"/>
                  </a:lnTo>
                  <a:lnTo>
                    <a:pt x="45720" y="331470"/>
                  </a:lnTo>
                  <a:lnTo>
                    <a:pt x="57150" y="331470"/>
                  </a:lnTo>
                  <a:lnTo>
                    <a:pt x="3869690" y="331470"/>
                  </a:lnTo>
                  <a:lnTo>
                    <a:pt x="3881120" y="331470"/>
                  </a:lnTo>
                  <a:lnTo>
                    <a:pt x="3881120" y="127254"/>
                  </a:lnTo>
                  <a:lnTo>
                    <a:pt x="3881120" y="0"/>
                  </a:lnTo>
                  <a:close/>
                </a:path>
                <a:path w="3926840" h="377189">
                  <a:moveTo>
                    <a:pt x="3926840" y="127254"/>
                  </a:moveTo>
                  <a:lnTo>
                    <a:pt x="3892550" y="127254"/>
                  </a:lnTo>
                  <a:lnTo>
                    <a:pt x="3892550" y="342900"/>
                  </a:lnTo>
                  <a:lnTo>
                    <a:pt x="34290" y="342900"/>
                  </a:lnTo>
                  <a:lnTo>
                    <a:pt x="34290" y="127254"/>
                  </a:lnTo>
                  <a:lnTo>
                    <a:pt x="0" y="127254"/>
                  </a:lnTo>
                  <a:lnTo>
                    <a:pt x="0" y="377190"/>
                  </a:lnTo>
                  <a:lnTo>
                    <a:pt x="34290" y="377190"/>
                  </a:lnTo>
                  <a:lnTo>
                    <a:pt x="3892550" y="377190"/>
                  </a:lnTo>
                  <a:lnTo>
                    <a:pt x="3926840" y="377190"/>
                  </a:lnTo>
                  <a:lnTo>
                    <a:pt x="3926840" y="1272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AA30E87D-F2D8-F99F-6648-CD527ABA9837}"/>
              </a:ext>
            </a:extLst>
          </p:cNvPr>
          <p:cNvSpPr txBox="1"/>
          <p:nvPr/>
        </p:nvSpPr>
        <p:spPr>
          <a:xfrm>
            <a:off x="1265567" y="4718175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71780" marR="26479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minimum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Hamming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distance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smallest</a:t>
            </a:r>
            <a:r>
              <a:rPr sz="3200" b="1" spc="5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Hamming</a:t>
            </a:r>
            <a:r>
              <a:rPr sz="3200" b="1" spc="6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distance</a:t>
            </a:r>
            <a:r>
              <a:rPr sz="3200" b="1" spc="5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between </a:t>
            </a:r>
            <a:r>
              <a:rPr sz="3200" b="1" spc="-5" dirty="0">
                <a:latin typeface="Arial"/>
                <a:cs typeface="Arial"/>
              </a:rPr>
              <a:t> all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possible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pairs 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set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words.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>
              <a:lnSpc>
                <a:spcPct val="100000"/>
              </a:lnSpc>
              <a:spcBef>
                <a:spcPts val="100"/>
              </a:spcBef>
              <a:tabLst>
                <a:tab pos="937894" algn="l"/>
                <a:tab pos="1605280" algn="l"/>
                <a:tab pos="3240405" algn="l"/>
                <a:tab pos="4935855" algn="l"/>
                <a:tab pos="6353175" algn="l"/>
                <a:tab pos="6863715" algn="l"/>
                <a:tab pos="7530465" algn="l"/>
              </a:tabLst>
            </a:pPr>
            <a:r>
              <a:rPr spc="-5" dirty="0"/>
              <a:t>Fin</a:t>
            </a:r>
            <a:r>
              <a:rPr dirty="0"/>
              <a:t>d	</a:t>
            </a:r>
            <a:r>
              <a:rPr spc="-5" dirty="0"/>
              <a:t>th</a:t>
            </a:r>
            <a:r>
              <a:rPr dirty="0"/>
              <a:t>e	</a:t>
            </a:r>
            <a:r>
              <a:rPr spc="-10" dirty="0"/>
              <a:t>m</a:t>
            </a:r>
            <a:r>
              <a:rPr spc="-5" dirty="0"/>
              <a:t>inimu</a:t>
            </a:r>
            <a:r>
              <a:rPr dirty="0"/>
              <a:t>m	</a:t>
            </a:r>
            <a:r>
              <a:rPr spc="-5" dirty="0"/>
              <a:t>Hammin</a:t>
            </a:r>
            <a:r>
              <a:rPr dirty="0"/>
              <a:t>g	</a:t>
            </a:r>
            <a:r>
              <a:rPr spc="-5" dirty="0"/>
              <a:t>distanc</a:t>
            </a:r>
            <a:r>
              <a:rPr dirty="0"/>
              <a:t>e	of	</a:t>
            </a:r>
            <a:r>
              <a:rPr spc="-5" dirty="0"/>
              <a:t>th</a:t>
            </a:r>
            <a:r>
              <a:rPr dirty="0"/>
              <a:t>e	</a:t>
            </a:r>
            <a:r>
              <a:rPr spc="-5" dirty="0"/>
              <a:t>coding  </a:t>
            </a:r>
            <a:r>
              <a:rPr dirty="0"/>
              <a:t>scheme</a:t>
            </a:r>
            <a:r>
              <a:rPr spc="-3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spc="-55" dirty="0"/>
              <a:t>Table</a:t>
            </a:r>
            <a:r>
              <a:rPr spc="-20" dirty="0"/>
              <a:t> </a:t>
            </a:r>
            <a:r>
              <a:rPr dirty="0"/>
              <a:t>10.1.</a:t>
            </a:r>
          </a:p>
          <a:p>
            <a:pPr marL="13970">
              <a:lnSpc>
                <a:spcPct val="100000"/>
              </a:lnSpc>
              <a:spcBef>
                <a:spcPts val="1680"/>
              </a:spcBef>
            </a:pPr>
            <a:r>
              <a:rPr dirty="0">
                <a:solidFill>
                  <a:srgbClr val="FF0000"/>
                </a:solidFill>
              </a:rPr>
              <a:t>Solution</a:t>
            </a:r>
          </a:p>
          <a:p>
            <a:pPr marL="13970">
              <a:lnSpc>
                <a:spcPct val="100000"/>
              </a:lnSpc>
            </a:pPr>
            <a:r>
              <a:rPr spc="-110" dirty="0"/>
              <a:t>We</a:t>
            </a:r>
            <a:r>
              <a:rPr spc="-30" dirty="0"/>
              <a:t> </a:t>
            </a:r>
            <a:r>
              <a:rPr dirty="0"/>
              <a:t>first</a:t>
            </a:r>
            <a:r>
              <a:rPr spc="-25" dirty="0"/>
              <a:t> </a:t>
            </a:r>
            <a:r>
              <a:rPr dirty="0"/>
              <a:t>find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Hamming</a:t>
            </a:r>
            <a:r>
              <a:rPr spc="-25" dirty="0"/>
              <a:t> </a:t>
            </a:r>
            <a:r>
              <a:rPr dirty="0"/>
              <a:t>distances.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010919" y="3633978"/>
            <a:ext cx="8671560" cy="734695"/>
            <a:chOff x="1010919" y="3633978"/>
            <a:chExt cx="8671560" cy="73469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1257" y="3694176"/>
              <a:ext cx="8554212" cy="838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10920" y="3633990"/>
              <a:ext cx="8671560" cy="144145"/>
            </a:xfrm>
            <a:custGeom>
              <a:avLst/>
              <a:gdLst/>
              <a:ahLst/>
              <a:cxnLst/>
              <a:rect l="l" t="t" r="r" b="b"/>
              <a:pathLst>
                <a:path w="8671560" h="144145">
                  <a:moveTo>
                    <a:pt x="8625840" y="45720"/>
                  </a:moveTo>
                  <a:lnTo>
                    <a:pt x="861441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144018"/>
                  </a:lnTo>
                  <a:lnTo>
                    <a:pt x="57150" y="144018"/>
                  </a:lnTo>
                  <a:lnTo>
                    <a:pt x="57150" y="57150"/>
                  </a:lnTo>
                  <a:lnTo>
                    <a:pt x="8614410" y="57150"/>
                  </a:lnTo>
                  <a:lnTo>
                    <a:pt x="8614410" y="144018"/>
                  </a:lnTo>
                  <a:lnTo>
                    <a:pt x="8625840" y="144018"/>
                  </a:lnTo>
                  <a:lnTo>
                    <a:pt x="8625840" y="45720"/>
                  </a:lnTo>
                  <a:close/>
                </a:path>
                <a:path w="8671560" h="144145">
                  <a:moveTo>
                    <a:pt x="8671560" y="0"/>
                  </a:moveTo>
                  <a:lnTo>
                    <a:pt x="863727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44018"/>
                  </a:lnTo>
                  <a:lnTo>
                    <a:pt x="34290" y="144018"/>
                  </a:lnTo>
                  <a:lnTo>
                    <a:pt x="34290" y="34290"/>
                  </a:lnTo>
                  <a:lnTo>
                    <a:pt x="8637270" y="34290"/>
                  </a:lnTo>
                  <a:lnTo>
                    <a:pt x="8637270" y="144018"/>
                  </a:lnTo>
                  <a:lnTo>
                    <a:pt x="8671560" y="144018"/>
                  </a:lnTo>
                  <a:lnTo>
                    <a:pt x="867156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1257" y="3777996"/>
              <a:ext cx="8554212" cy="5334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10920" y="3778008"/>
              <a:ext cx="8671560" cy="590550"/>
            </a:xfrm>
            <a:custGeom>
              <a:avLst/>
              <a:gdLst/>
              <a:ahLst/>
              <a:cxnLst/>
              <a:rect l="l" t="t" r="r" b="b"/>
              <a:pathLst>
                <a:path w="8671560" h="590550">
                  <a:moveTo>
                    <a:pt x="8625840" y="0"/>
                  </a:moveTo>
                  <a:lnTo>
                    <a:pt x="8614410" y="0"/>
                  </a:lnTo>
                  <a:lnTo>
                    <a:pt x="8614410" y="533400"/>
                  </a:lnTo>
                  <a:lnTo>
                    <a:pt x="57150" y="53340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544830"/>
                  </a:lnTo>
                  <a:lnTo>
                    <a:pt x="57150" y="544830"/>
                  </a:lnTo>
                  <a:lnTo>
                    <a:pt x="8614410" y="544830"/>
                  </a:lnTo>
                  <a:lnTo>
                    <a:pt x="8625840" y="544830"/>
                  </a:lnTo>
                  <a:lnTo>
                    <a:pt x="8625840" y="0"/>
                  </a:lnTo>
                  <a:close/>
                </a:path>
                <a:path w="8671560" h="590550">
                  <a:moveTo>
                    <a:pt x="8671560" y="0"/>
                  </a:moveTo>
                  <a:lnTo>
                    <a:pt x="8637270" y="0"/>
                  </a:lnTo>
                  <a:lnTo>
                    <a:pt x="8637270" y="556260"/>
                  </a:lnTo>
                  <a:lnTo>
                    <a:pt x="34290" y="55626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590550"/>
                  </a:lnTo>
                  <a:lnTo>
                    <a:pt x="34290" y="590550"/>
                  </a:lnTo>
                  <a:lnTo>
                    <a:pt x="8637270" y="590550"/>
                  </a:lnTo>
                  <a:lnTo>
                    <a:pt x="8671560" y="590550"/>
                  </a:lnTo>
                  <a:lnTo>
                    <a:pt x="867156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56773" y="4637023"/>
            <a:ext cx="37052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775" b="1" i="1" baseline="-21021" dirty="0">
                <a:latin typeface="Times New Roman"/>
                <a:cs typeface="Times New Roman"/>
              </a:rPr>
              <a:t>min</a:t>
            </a:r>
            <a:r>
              <a:rPr sz="2775" b="1" i="1" spc="322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case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080394" y="1126211"/>
            <a:ext cx="8532126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>
              <a:lnSpc>
                <a:spcPct val="100000"/>
              </a:lnSpc>
              <a:spcBef>
                <a:spcPts val="100"/>
              </a:spcBef>
              <a:tabLst>
                <a:tab pos="937894" algn="l"/>
                <a:tab pos="1605280" algn="l"/>
                <a:tab pos="3240405" algn="l"/>
                <a:tab pos="4935855" algn="l"/>
                <a:tab pos="6353175" algn="l"/>
                <a:tab pos="6863715" algn="l"/>
                <a:tab pos="7530465" algn="l"/>
              </a:tabLst>
            </a:pPr>
            <a:r>
              <a:rPr spc="-5" dirty="0"/>
              <a:t>Fin</a:t>
            </a:r>
            <a:r>
              <a:rPr dirty="0"/>
              <a:t>d	</a:t>
            </a:r>
            <a:r>
              <a:rPr spc="-5" dirty="0"/>
              <a:t>th</a:t>
            </a:r>
            <a:r>
              <a:rPr dirty="0"/>
              <a:t>e	</a:t>
            </a:r>
            <a:r>
              <a:rPr spc="-10" dirty="0"/>
              <a:t>m</a:t>
            </a:r>
            <a:r>
              <a:rPr spc="-5" dirty="0"/>
              <a:t>inimu</a:t>
            </a:r>
            <a:r>
              <a:rPr dirty="0"/>
              <a:t>m	</a:t>
            </a:r>
            <a:r>
              <a:rPr spc="-5" dirty="0"/>
              <a:t>Hammin</a:t>
            </a:r>
            <a:r>
              <a:rPr dirty="0"/>
              <a:t>g	</a:t>
            </a:r>
            <a:r>
              <a:rPr spc="-5" dirty="0"/>
              <a:t>distanc</a:t>
            </a:r>
            <a:r>
              <a:rPr dirty="0"/>
              <a:t>e	of	</a:t>
            </a:r>
            <a:r>
              <a:rPr spc="-5" dirty="0"/>
              <a:t>th</a:t>
            </a:r>
            <a:r>
              <a:rPr dirty="0"/>
              <a:t>e	</a:t>
            </a:r>
            <a:r>
              <a:rPr spc="-5" dirty="0"/>
              <a:t>coding  </a:t>
            </a:r>
            <a:r>
              <a:rPr dirty="0"/>
              <a:t>scheme</a:t>
            </a:r>
            <a:r>
              <a:rPr spc="-3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spc="-55" dirty="0"/>
              <a:t>Table</a:t>
            </a:r>
            <a:r>
              <a:rPr spc="-20" dirty="0"/>
              <a:t> </a:t>
            </a:r>
            <a:r>
              <a:rPr dirty="0"/>
              <a:t>10.2.</a:t>
            </a:r>
            <a:endParaRPr sz="3000" dirty="0"/>
          </a:p>
          <a:p>
            <a:pPr marL="13970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Solution</a:t>
            </a:r>
          </a:p>
          <a:p>
            <a:pPr marL="13970">
              <a:lnSpc>
                <a:spcPct val="100000"/>
              </a:lnSpc>
            </a:pPr>
            <a:r>
              <a:rPr spc="-110" dirty="0"/>
              <a:t>We</a:t>
            </a:r>
            <a:r>
              <a:rPr spc="-25" dirty="0"/>
              <a:t> </a:t>
            </a:r>
            <a:r>
              <a:rPr dirty="0"/>
              <a:t>first</a:t>
            </a:r>
            <a:r>
              <a:rPr spc="-25" dirty="0"/>
              <a:t> </a:t>
            </a:r>
            <a:r>
              <a:rPr dirty="0"/>
              <a:t>find</a:t>
            </a:r>
            <a:r>
              <a:rPr spc="-2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Hamming</a:t>
            </a:r>
            <a:r>
              <a:rPr spc="-25" dirty="0"/>
              <a:t> </a:t>
            </a:r>
            <a:r>
              <a:rPr dirty="0"/>
              <a:t>distances.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1411871" y="2940335"/>
            <a:ext cx="8059420" cy="762000"/>
            <a:chOff x="1316989" y="4063746"/>
            <a:chExt cx="8059420" cy="7620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3771" y="4120896"/>
              <a:ext cx="7945373" cy="5143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16990" y="4063758"/>
              <a:ext cx="8059420" cy="571500"/>
            </a:xfrm>
            <a:custGeom>
              <a:avLst/>
              <a:gdLst/>
              <a:ahLst/>
              <a:cxnLst/>
              <a:rect l="l" t="t" r="r" b="b"/>
              <a:pathLst>
                <a:path w="8059420" h="571500">
                  <a:moveTo>
                    <a:pt x="8013700" y="45720"/>
                  </a:moveTo>
                  <a:lnTo>
                    <a:pt x="800227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571500"/>
                  </a:lnTo>
                  <a:lnTo>
                    <a:pt x="57150" y="571500"/>
                  </a:lnTo>
                  <a:lnTo>
                    <a:pt x="57150" y="57150"/>
                  </a:lnTo>
                  <a:lnTo>
                    <a:pt x="8002270" y="57150"/>
                  </a:lnTo>
                  <a:lnTo>
                    <a:pt x="8002270" y="571500"/>
                  </a:lnTo>
                  <a:lnTo>
                    <a:pt x="8013700" y="571500"/>
                  </a:lnTo>
                  <a:lnTo>
                    <a:pt x="8013700" y="45720"/>
                  </a:lnTo>
                  <a:close/>
                </a:path>
                <a:path w="8059420" h="571500">
                  <a:moveTo>
                    <a:pt x="8059420" y="0"/>
                  </a:moveTo>
                  <a:lnTo>
                    <a:pt x="802513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571500"/>
                  </a:lnTo>
                  <a:lnTo>
                    <a:pt x="34290" y="571500"/>
                  </a:lnTo>
                  <a:lnTo>
                    <a:pt x="34290" y="34290"/>
                  </a:lnTo>
                  <a:lnTo>
                    <a:pt x="8025130" y="34290"/>
                  </a:lnTo>
                  <a:lnTo>
                    <a:pt x="8025130" y="571500"/>
                  </a:lnTo>
                  <a:lnTo>
                    <a:pt x="8059420" y="571500"/>
                  </a:lnTo>
                  <a:lnTo>
                    <a:pt x="80594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3771" y="4635246"/>
              <a:ext cx="7945373" cy="1333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16990" y="4635258"/>
              <a:ext cx="8059420" cy="190500"/>
            </a:xfrm>
            <a:custGeom>
              <a:avLst/>
              <a:gdLst/>
              <a:ahLst/>
              <a:cxnLst/>
              <a:rect l="l" t="t" r="r" b="b"/>
              <a:pathLst>
                <a:path w="8059420" h="190500">
                  <a:moveTo>
                    <a:pt x="8013700" y="0"/>
                  </a:moveTo>
                  <a:lnTo>
                    <a:pt x="8002270" y="0"/>
                  </a:lnTo>
                  <a:lnTo>
                    <a:pt x="8002270" y="133350"/>
                  </a:lnTo>
                  <a:lnTo>
                    <a:pt x="57150" y="13335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144780"/>
                  </a:lnTo>
                  <a:lnTo>
                    <a:pt x="57150" y="144780"/>
                  </a:lnTo>
                  <a:lnTo>
                    <a:pt x="8002270" y="144780"/>
                  </a:lnTo>
                  <a:lnTo>
                    <a:pt x="8013700" y="144780"/>
                  </a:lnTo>
                  <a:lnTo>
                    <a:pt x="8013700" y="0"/>
                  </a:lnTo>
                  <a:close/>
                </a:path>
                <a:path w="8059420" h="190500">
                  <a:moveTo>
                    <a:pt x="8059420" y="0"/>
                  </a:moveTo>
                  <a:lnTo>
                    <a:pt x="8025130" y="0"/>
                  </a:lnTo>
                  <a:lnTo>
                    <a:pt x="8025130" y="156210"/>
                  </a:lnTo>
                  <a:lnTo>
                    <a:pt x="34290" y="15621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90500"/>
                  </a:lnTo>
                  <a:lnTo>
                    <a:pt x="34290" y="190500"/>
                  </a:lnTo>
                  <a:lnTo>
                    <a:pt x="8025130" y="190500"/>
                  </a:lnTo>
                  <a:lnTo>
                    <a:pt x="8059420" y="190500"/>
                  </a:lnTo>
                  <a:lnTo>
                    <a:pt x="80594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73338" y="3924569"/>
            <a:ext cx="37058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775" b="1" i="1" baseline="-21021" dirty="0">
                <a:latin typeface="Times New Roman"/>
                <a:cs typeface="Times New Roman"/>
              </a:rPr>
              <a:t>min</a:t>
            </a:r>
            <a:r>
              <a:rPr sz="2775" b="1" i="1" spc="322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case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54FEDF5F-622D-5421-E6C7-EBFFD6D2FBE4}"/>
              </a:ext>
            </a:extLst>
          </p:cNvPr>
          <p:cNvSpPr txBox="1"/>
          <p:nvPr/>
        </p:nvSpPr>
        <p:spPr>
          <a:xfrm>
            <a:off x="1265567" y="4598376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94030" marR="486409" algn="ctr">
              <a:lnSpc>
                <a:spcPct val="100000"/>
              </a:lnSpc>
              <a:spcBef>
                <a:spcPts val="275"/>
              </a:spcBef>
            </a:pPr>
            <a:r>
              <a:rPr sz="3200" b="1" spc="-125" dirty="0">
                <a:latin typeface="Arial"/>
                <a:cs typeface="Arial"/>
              </a:rPr>
              <a:t>To</a:t>
            </a:r>
            <a:r>
              <a:rPr sz="3200" b="1" spc="-10" dirty="0">
                <a:latin typeface="Arial"/>
                <a:cs typeface="Arial"/>
              </a:rPr>
              <a:t> guarantee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detection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up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errors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all </a:t>
            </a:r>
            <a:r>
              <a:rPr sz="3200" b="1" spc="-10" dirty="0">
                <a:latin typeface="Arial"/>
                <a:cs typeface="Arial"/>
              </a:rPr>
              <a:t>cases,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minimum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Hamming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distance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block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code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must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15" dirty="0">
                <a:latin typeface="Arial"/>
                <a:cs typeface="Arial"/>
              </a:rPr>
              <a:t>d</a:t>
            </a:r>
            <a:r>
              <a:rPr sz="3150" b="1" spc="22" baseline="-14550" dirty="0">
                <a:latin typeface="Arial"/>
                <a:cs typeface="Arial"/>
              </a:rPr>
              <a:t>min</a:t>
            </a:r>
            <a:r>
              <a:rPr sz="3150" b="1" spc="412" baseline="-1455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 +</a:t>
            </a:r>
            <a:r>
              <a:rPr sz="3200" b="1" spc="-10" dirty="0">
                <a:latin typeface="Arial"/>
                <a:cs typeface="Arial"/>
              </a:rPr>
              <a:t> 1.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3" y="1512824"/>
            <a:ext cx="8530590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Hamming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distance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our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first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scheme </a:t>
            </a:r>
            <a:r>
              <a:rPr sz="2800" b="1" i="1" spc="-50" dirty="0">
                <a:latin typeface="Times New Roman"/>
                <a:cs typeface="Times New Roman"/>
              </a:rPr>
              <a:t>(Table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10.1) is 2. This code guarantees detection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single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error.</a:t>
            </a:r>
            <a:r>
              <a:rPr sz="2800" b="1" i="1" spc="1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1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example,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if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third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</a:t>
            </a:r>
            <a:endParaRPr sz="28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(101) </a:t>
            </a:r>
            <a:r>
              <a:rPr sz="2800" b="1" i="1" spc="-5" dirty="0">
                <a:latin typeface="Times New Roman"/>
                <a:cs typeface="Times New Roman"/>
              </a:rPr>
              <a:t>is sent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one error occurs, the </a:t>
            </a:r>
            <a:r>
              <a:rPr sz="2800" b="1" i="1" spc="-10" dirty="0">
                <a:latin typeface="Times New Roman"/>
                <a:cs typeface="Times New Roman"/>
              </a:rPr>
              <a:t>received codeword </a:t>
            </a:r>
            <a:r>
              <a:rPr sz="2800" b="1" i="1" spc="-5" dirty="0">
                <a:latin typeface="Times New Roman"/>
                <a:cs typeface="Times New Roman"/>
              </a:rPr>
              <a:t> does not match any valid codeword. If two errors </a:t>
            </a:r>
            <a:r>
              <a:rPr sz="2800" b="1" i="1" spc="-30" dirty="0">
                <a:latin typeface="Times New Roman"/>
                <a:cs typeface="Times New Roman"/>
              </a:rPr>
              <a:t>occur, </a:t>
            </a:r>
            <a:r>
              <a:rPr sz="2800" b="1" i="1" spc="-25" dirty="0">
                <a:latin typeface="Times New Roman"/>
                <a:cs typeface="Times New Roman"/>
              </a:rPr>
              <a:t> however,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received</a:t>
            </a:r>
            <a:r>
              <a:rPr sz="2800" b="1" i="1" spc="-5" dirty="0">
                <a:latin typeface="Times New Roman"/>
                <a:cs typeface="Times New Roman"/>
              </a:rPr>
              <a:t> codeword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match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valid </a:t>
            </a:r>
            <a:r>
              <a:rPr sz="2800" b="1" i="1" dirty="0">
                <a:latin typeface="Times New Roman"/>
                <a:cs typeface="Times New Roman"/>
              </a:rPr>
              <a:t> codeword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detected.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18673" y="1512824"/>
            <a:ext cx="8655685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85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Our second block code scheme </a:t>
            </a:r>
            <a:r>
              <a:rPr sz="2800" b="1" i="1" spc="-50" dirty="0">
                <a:latin typeface="Times New Roman"/>
                <a:cs typeface="Times New Roman"/>
              </a:rPr>
              <a:t>(Table </a:t>
            </a:r>
            <a:r>
              <a:rPr sz="2800" b="1" i="1" spc="-5" dirty="0">
                <a:latin typeface="Times New Roman"/>
                <a:cs typeface="Times New Roman"/>
              </a:rPr>
              <a:t>10.2) has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775" b="1" i="1" baseline="-21021" dirty="0">
                <a:latin typeface="Times New Roman"/>
                <a:cs typeface="Times New Roman"/>
              </a:rPr>
              <a:t>min</a:t>
            </a:r>
            <a:r>
              <a:rPr sz="2775" b="1" i="1" spc="7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3. </a:t>
            </a:r>
            <a:r>
              <a:rPr sz="2800" b="1" i="1" dirty="0">
                <a:latin typeface="Times New Roman"/>
                <a:cs typeface="Times New Roman"/>
              </a:rPr>
              <a:t> This </a:t>
            </a:r>
            <a:r>
              <a:rPr sz="2800" b="1" i="1" spc="-5" dirty="0">
                <a:latin typeface="Times New Roman"/>
                <a:cs typeface="Times New Roman"/>
              </a:rPr>
              <a:t>code can detect up to two errors. Again, we see that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when any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the valid codewords is sent, two errors create </a:t>
            </a:r>
            <a:r>
              <a:rPr sz="2800" b="1" i="1" dirty="0">
                <a:latin typeface="Times New Roman"/>
                <a:cs typeface="Times New Roman"/>
              </a:rPr>
              <a:t> a </a:t>
            </a:r>
            <a:r>
              <a:rPr sz="2800" b="1" i="1" spc="-10" dirty="0">
                <a:latin typeface="Times New Roman"/>
                <a:cs typeface="Times New Roman"/>
              </a:rPr>
              <a:t>codeword </a:t>
            </a:r>
            <a:r>
              <a:rPr sz="2800" b="1" i="1" spc="-5" dirty="0">
                <a:latin typeface="Times New Roman"/>
                <a:cs typeface="Times New Roman"/>
              </a:rPr>
              <a:t>which is not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the table of valid </a:t>
            </a:r>
            <a:r>
              <a:rPr sz="2800" b="1" i="1" spc="-10" dirty="0">
                <a:latin typeface="Times New Roman"/>
                <a:cs typeface="Times New Roman"/>
              </a:rPr>
              <a:t>codewords. </a:t>
            </a:r>
            <a:r>
              <a:rPr sz="2800" b="1" i="1" spc="-5" dirty="0">
                <a:latin typeface="Times New Roman"/>
                <a:cs typeface="Times New Roman"/>
              </a:rPr>
              <a:t> 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cannot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fooled.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76200" marR="67310" algn="just">
              <a:lnSpc>
                <a:spcPct val="100000"/>
              </a:lnSpc>
            </a:pPr>
            <a:r>
              <a:rPr sz="2800" b="1" i="1" spc="-25" dirty="0">
                <a:latin typeface="Times New Roman"/>
                <a:cs typeface="Times New Roman"/>
              </a:rPr>
              <a:t>However,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some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combinations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change</a:t>
            </a:r>
            <a:r>
              <a:rPr sz="2800" b="1" i="1" dirty="0">
                <a:latin typeface="Times New Roman"/>
                <a:cs typeface="Times New Roman"/>
              </a:rPr>
              <a:t> a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valid codeword to another valid codeword. The </a:t>
            </a:r>
            <a:r>
              <a:rPr sz="2800" b="1" i="1" spc="-10" dirty="0">
                <a:latin typeface="Times New Roman"/>
                <a:cs typeface="Times New Roman"/>
              </a:rPr>
              <a:t>receiver </a:t>
            </a:r>
            <a:r>
              <a:rPr sz="2800" b="1" i="1" spc="-5" dirty="0">
                <a:latin typeface="Times New Roman"/>
                <a:cs typeface="Times New Roman"/>
              </a:rPr>
              <a:t> accepts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undetected.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2973" y="1133347"/>
            <a:ext cx="718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55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10.8	</a:t>
            </a:r>
            <a:r>
              <a:rPr sz="2000" i="1" spc="-5" dirty="0">
                <a:latin typeface="Times New Roman"/>
                <a:cs typeface="Times New Roman"/>
              </a:rPr>
              <a:t>Geometric concept for finding </a:t>
            </a:r>
            <a:r>
              <a:rPr sz="2000" i="1" spc="10" dirty="0">
                <a:latin typeface="Times New Roman"/>
                <a:cs typeface="Times New Roman"/>
              </a:rPr>
              <a:t>d</a:t>
            </a:r>
            <a:r>
              <a:rPr sz="1950" i="1" spc="15" baseline="-12820" dirty="0">
                <a:latin typeface="Times New Roman"/>
                <a:cs typeface="Times New Roman"/>
              </a:rPr>
              <a:t>min</a:t>
            </a:r>
            <a:r>
              <a:rPr sz="1950" i="1" spc="262" baseline="-128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detection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2321051"/>
            <a:ext cx="8510778" cy="374294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2973" y="1133347"/>
            <a:ext cx="73158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55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10.9	</a:t>
            </a:r>
            <a:r>
              <a:rPr sz="2000" i="1" spc="-5" dirty="0">
                <a:latin typeface="Times New Roman"/>
                <a:cs typeface="Times New Roman"/>
              </a:rPr>
              <a:t>Geometric concept for finding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10" dirty="0">
                <a:latin typeface="Times New Roman"/>
                <a:cs typeface="Times New Roman"/>
              </a:rPr>
              <a:t>d</a:t>
            </a:r>
            <a:r>
              <a:rPr sz="1950" i="1" spc="15" baseline="-10683" dirty="0">
                <a:latin typeface="Times New Roman"/>
                <a:cs typeface="Times New Roman"/>
              </a:rPr>
              <a:t>min</a:t>
            </a:r>
            <a:r>
              <a:rPr sz="1950" i="1" spc="262" baseline="-10683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correction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717" y="1952625"/>
            <a:ext cx="8610600" cy="31066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E00D1B41-06D5-FEE7-CE2B-530E70DEF45E}"/>
              </a:ext>
            </a:extLst>
          </p:cNvPr>
          <p:cNvSpPr txBox="1"/>
          <p:nvPr/>
        </p:nvSpPr>
        <p:spPr>
          <a:xfrm>
            <a:off x="1308100" y="5286241"/>
            <a:ext cx="8077200" cy="1143262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65735" marR="160020" algn="ctr">
              <a:lnSpc>
                <a:spcPct val="100000"/>
              </a:lnSpc>
              <a:spcBef>
                <a:spcPts val="275"/>
              </a:spcBef>
            </a:pPr>
            <a:r>
              <a:rPr sz="2400" b="1" spc="-125" dirty="0">
                <a:latin typeface="Arial"/>
                <a:cs typeface="Arial"/>
              </a:rPr>
              <a:t>To</a:t>
            </a:r>
            <a:r>
              <a:rPr sz="2400" b="1" spc="-10" dirty="0">
                <a:latin typeface="Arial"/>
                <a:cs typeface="Arial"/>
              </a:rPr>
              <a:t> guarantee correction </a:t>
            </a:r>
            <a:r>
              <a:rPr sz="2400" b="1" spc="-5" dirty="0">
                <a:latin typeface="Arial"/>
                <a:cs typeface="Arial"/>
              </a:rPr>
              <a:t>of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up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to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t</a:t>
            </a:r>
            <a:r>
              <a:rPr sz="2400" b="1" i="1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errors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in all </a:t>
            </a:r>
            <a:r>
              <a:rPr sz="2400" b="1" spc="-10" dirty="0">
                <a:latin typeface="Arial"/>
                <a:cs typeface="Arial"/>
              </a:rPr>
              <a:t>cases, </a:t>
            </a:r>
            <a:r>
              <a:rPr sz="2400" b="1" spc="-5" dirty="0">
                <a:latin typeface="Arial"/>
                <a:cs typeface="Arial"/>
              </a:rPr>
              <a:t>the minimum Hamming 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distance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in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 block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code</a:t>
            </a:r>
            <a:endParaRPr sz="2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must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be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15" dirty="0">
                <a:latin typeface="Arial"/>
                <a:cs typeface="Arial"/>
              </a:rPr>
              <a:t>d</a:t>
            </a:r>
            <a:r>
              <a:rPr sz="2400" b="1" spc="22" baseline="-14550" dirty="0">
                <a:latin typeface="Arial"/>
                <a:cs typeface="Arial"/>
              </a:rPr>
              <a:t>min</a:t>
            </a:r>
            <a:r>
              <a:rPr sz="2400" b="1" spc="405" baseline="-145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=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2</a:t>
            </a:r>
            <a:r>
              <a:rPr sz="2400" b="1" i="1" spc="-5" dirty="0">
                <a:latin typeface="Arial"/>
                <a:cs typeface="Arial"/>
              </a:rPr>
              <a:t>t</a:t>
            </a:r>
            <a:r>
              <a:rPr sz="2400" b="1" i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+</a:t>
            </a:r>
            <a:r>
              <a:rPr sz="2400" b="1" spc="-10" dirty="0">
                <a:latin typeface="Arial"/>
                <a:cs typeface="Arial"/>
              </a:rPr>
              <a:t> 1.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2020" y="1206246"/>
            <a:ext cx="8849360" cy="39036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 marR="198755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code scheme has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Hamming distance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775" b="1" i="1" baseline="-10510" dirty="0">
                <a:latin typeface="Times New Roman"/>
                <a:cs typeface="Times New Roman"/>
              </a:rPr>
              <a:t>min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4. What is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detection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correction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capability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scheme?</a:t>
            </a:r>
            <a:endParaRPr lang="en-IN" sz="2800" b="1" i="1" spc="-5" dirty="0">
              <a:latin typeface="Times New Roman"/>
              <a:cs typeface="Times New Roman"/>
            </a:endParaRPr>
          </a:p>
          <a:p>
            <a:pPr marL="139065" marR="198755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 dirty="0">
              <a:latin typeface="Times New Roman"/>
              <a:cs typeface="Times New Roman"/>
            </a:endParaRPr>
          </a:p>
          <a:p>
            <a:pPr marL="63500" marR="431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5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</a:t>
            </a:r>
            <a:r>
              <a:rPr sz="2800" b="1" i="1" spc="5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guarantees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detection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up</a:t>
            </a:r>
            <a:r>
              <a:rPr sz="2800" b="1" i="1" spc="5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three</a:t>
            </a:r>
            <a:r>
              <a:rPr sz="2800" b="1" i="1" spc="5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errors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(s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25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3),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but</a:t>
            </a:r>
            <a:r>
              <a:rPr sz="2800" b="1" i="1" spc="25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2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correct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up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one</a:t>
            </a:r>
            <a:r>
              <a:rPr sz="2800" b="1" i="1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</a:t>
            </a:r>
            <a:r>
              <a:rPr sz="2800" b="1" i="1" spc="1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25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other</a:t>
            </a:r>
            <a:r>
              <a:rPr sz="2800" b="1" i="1" spc="25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words,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if this code is used for error correction, part of its capability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wasted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correction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need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dirty="0">
                <a:latin typeface="Times New Roman"/>
                <a:cs typeface="Times New Roman"/>
              </a:rPr>
              <a:t> an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odd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minimum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distance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(3,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7,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. .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.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).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7EA0FAB0-9C32-4E9D-DA06-ECDA220EBC1E}"/>
              </a:ext>
            </a:extLst>
          </p:cNvPr>
          <p:cNvSpPr txBox="1"/>
          <p:nvPr/>
        </p:nvSpPr>
        <p:spPr>
          <a:xfrm>
            <a:off x="1265567" y="5273040"/>
            <a:ext cx="8077200" cy="71237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29235" marR="224154" algn="ctr">
              <a:lnSpc>
                <a:spcPct val="100000"/>
              </a:lnSpc>
              <a:spcBef>
                <a:spcPts val="275"/>
              </a:spcBef>
            </a:pPr>
            <a:r>
              <a:rPr sz="2200" b="1" spc="-5" dirty="0">
                <a:latin typeface="Arial"/>
                <a:cs typeface="Arial"/>
              </a:rPr>
              <a:t>In a linear block code, the </a:t>
            </a:r>
            <a:r>
              <a:rPr sz="2200" b="1" spc="-10" dirty="0">
                <a:latin typeface="Arial"/>
                <a:cs typeface="Arial"/>
              </a:rPr>
              <a:t>exclusive OR </a:t>
            </a:r>
            <a:r>
              <a:rPr sz="2200" b="1" spc="-87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(XOR) of any two valid codewords 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creates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another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valid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codeword.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3249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Let</a:t>
            </a:r>
            <a:r>
              <a:rPr sz="2800" b="1" i="1" spc="2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</a:t>
            </a:r>
            <a:r>
              <a:rPr sz="2800" b="1" i="1" spc="2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see</a:t>
            </a:r>
            <a:r>
              <a:rPr sz="2800" b="1" i="1" spc="2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if</a:t>
            </a:r>
            <a:r>
              <a:rPr sz="2800" b="1" i="1" spc="2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spc="2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codes</a:t>
            </a:r>
            <a:r>
              <a:rPr sz="2800" b="1" i="1" spc="2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2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defined</a:t>
            </a:r>
            <a:r>
              <a:rPr sz="2800" b="1" i="1" spc="2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275" dirty="0">
                <a:latin typeface="Times New Roman"/>
                <a:cs typeface="Times New Roman"/>
              </a:rPr>
              <a:t> </a:t>
            </a:r>
            <a:r>
              <a:rPr sz="2800" b="1" i="1" spc="-55" dirty="0">
                <a:latin typeface="Times New Roman"/>
                <a:cs typeface="Times New Roman"/>
              </a:rPr>
              <a:t>Table</a:t>
            </a:r>
            <a:r>
              <a:rPr sz="2800" b="1" i="1" spc="2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10.1</a:t>
            </a:r>
            <a:r>
              <a:rPr sz="2800" b="1" i="1" spc="2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5" dirty="0">
                <a:latin typeface="Times New Roman"/>
                <a:cs typeface="Times New Roman"/>
              </a:rPr>
              <a:t>Table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10.2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belong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class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linear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block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codes.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55930" marR="5080" indent="-443865" algn="just">
              <a:lnSpc>
                <a:spcPct val="100000"/>
              </a:lnSpc>
              <a:buClr>
                <a:srgbClr val="FF0000"/>
              </a:buClr>
              <a:buFont typeface="Times New Roman"/>
              <a:buAutoNum type="arabicPeriod"/>
              <a:tabLst>
                <a:tab pos="492759" algn="l"/>
              </a:tabLst>
            </a:pPr>
            <a:r>
              <a:rPr dirty="0"/>
              <a:t>	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scheme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5" dirty="0">
                <a:latin typeface="Times New Roman"/>
                <a:cs typeface="Times New Roman"/>
              </a:rPr>
              <a:t>Table</a:t>
            </a:r>
            <a:r>
              <a:rPr sz="2800" b="1" i="1" spc="-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10.1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linear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block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because the result of XORing any codeword with any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other codeword 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valid codeword. For example,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XORing of the second and third codewords creates the </a:t>
            </a:r>
            <a:r>
              <a:rPr sz="2800" b="1" i="1" dirty="0">
                <a:latin typeface="Times New Roman"/>
                <a:cs typeface="Times New Roman"/>
              </a:rPr>
              <a:t> fourth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Times New Roman"/>
              <a:buAutoNum type="arabicPeriod"/>
            </a:pPr>
            <a:endParaRPr sz="2900">
              <a:latin typeface="Times New Roman"/>
              <a:cs typeface="Times New Roman"/>
            </a:endParaRPr>
          </a:p>
          <a:p>
            <a:pPr marL="411480" marR="8255" indent="-411480" algn="just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1148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The scheme in </a:t>
            </a:r>
            <a:r>
              <a:rPr sz="2800" b="1" i="1" spc="-55" dirty="0">
                <a:latin typeface="Times New Roman"/>
                <a:cs typeface="Times New Roman"/>
              </a:rPr>
              <a:t>Table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10.2 is also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linear block code.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create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four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XORing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other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10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10.11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6756" y="1512824"/>
            <a:ext cx="8580120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 our first code </a:t>
            </a:r>
            <a:r>
              <a:rPr sz="2800" b="1" i="1" spc="-50" dirty="0">
                <a:latin typeface="Times New Roman"/>
                <a:cs typeface="Times New Roman"/>
              </a:rPr>
              <a:t>(Table </a:t>
            </a:r>
            <a:r>
              <a:rPr sz="2800" b="1" i="1" spc="-5" dirty="0">
                <a:latin typeface="Times New Roman"/>
                <a:cs typeface="Times New Roman"/>
              </a:rPr>
              <a:t>10.1), the numbers of 1s in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nonzero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2.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Hamming distance is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775" b="1" i="1" baseline="-15015" dirty="0">
                <a:latin typeface="Times New Roman"/>
                <a:cs typeface="Times New Roman"/>
              </a:rPr>
              <a:t>min </a:t>
            </a:r>
            <a:r>
              <a:rPr sz="2800" b="1" i="1" dirty="0">
                <a:latin typeface="Times New Roman"/>
                <a:cs typeface="Times New Roman"/>
              </a:rPr>
              <a:t>= 2. </a:t>
            </a:r>
            <a:r>
              <a:rPr sz="2800" b="1" i="1" spc="-5" dirty="0">
                <a:latin typeface="Times New Roman"/>
                <a:cs typeface="Times New Roman"/>
              </a:rPr>
              <a:t>In our second code </a:t>
            </a:r>
            <a:r>
              <a:rPr sz="2800" b="1" i="1" spc="-50" dirty="0">
                <a:latin typeface="Times New Roman"/>
                <a:cs typeface="Times New Roman"/>
              </a:rPr>
              <a:t>(Table </a:t>
            </a:r>
            <a:r>
              <a:rPr sz="2800" b="1" i="1" spc="-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10.2),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numbers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1s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the nonzero </a:t>
            </a:r>
            <a:r>
              <a:rPr sz="2800" b="1" i="1" spc="-10" dirty="0">
                <a:latin typeface="Times New Roman"/>
                <a:cs typeface="Times New Roman"/>
              </a:rPr>
              <a:t>codewords </a:t>
            </a:r>
            <a:r>
              <a:rPr sz="2800" b="1" i="1" spc="-5" dirty="0">
                <a:latin typeface="Times New Roman"/>
                <a:cs typeface="Times New Roman"/>
              </a:rPr>
              <a:t>are </a:t>
            </a:r>
            <a:r>
              <a:rPr sz="2800" b="1" i="1" spc="5" dirty="0">
                <a:latin typeface="Times New Roman"/>
                <a:cs typeface="Times New Roman"/>
              </a:rPr>
              <a:t>3, 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4.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So in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d</a:t>
            </a:r>
            <a:r>
              <a:rPr sz="2775" b="1" i="1" spc="7" baseline="-21021" dirty="0">
                <a:latin typeface="Times New Roman"/>
                <a:cs typeface="Times New Roman"/>
              </a:rPr>
              <a:t>min</a:t>
            </a:r>
            <a:r>
              <a:rPr sz="2775" b="1" i="1" spc="337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D2C968E0-1074-C069-A3B2-210FABB9A733}"/>
              </a:ext>
            </a:extLst>
          </p:cNvPr>
          <p:cNvSpPr txBox="1"/>
          <p:nvPr/>
        </p:nvSpPr>
        <p:spPr>
          <a:xfrm>
            <a:off x="1292378" y="3969936"/>
            <a:ext cx="8077200" cy="958596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24255" marR="1019175" algn="ctr">
              <a:lnSpc>
                <a:spcPct val="100000"/>
              </a:lnSpc>
              <a:spcBef>
                <a:spcPts val="275"/>
              </a:spcBef>
            </a:pPr>
            <a:r>
              <a:rPr sz="2000" b="1" spc="-5" dirty="0">
                <a:latin typeface="Arial"/>
                <a:cs typeface="Arial"/>
              </a:rPr>
              <a:t>A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simple parity-check </a:t>
            </a:r>
            <a:r>
              <a:rPr sz="2000" b="1" spc="-5" dirty="0">
                <a:latin typeface="Arial"/>
                <a:cs typeface="Arial"/>
              </a:rPr>
              <a:t>code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 </a:t>
            </a:r>
            <a:r>
              <a:rPr sz="2000" b="1" spc="-8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single-bit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error-detecting</a:t>
            </a:r>
            <a:r>
              <a:rPr lang="en-IN" sz="2000" b="1" spc="-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code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in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which</a:t>
            </a:r>
            <a:endParaRPr sz="2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b="1" i="1" spc="-5" dirty="0">
                <a:latin typeface="Arial"/>
                <a:cs typeface="Arial"/>
              </a:rPr>
              <a:t>n</a:t>
            </a:r>
            <a:r>
              <a:rPr sz="2000" b="1" i="1" spc="-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i="1" spc="-5" dirty="0">
                <a:latin typeface="Arial"/>
                <a:cs typeface="Arial"/>
              </a:rPr>
              <a:t>k</a:t>
            </a:r>
            <a:r>
              <a:rPr sz="2000" b="1" i="1" spc="-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+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with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i="1" spc="15" dirty="0">
                <a:latin typeface="Arial"/>
                <a:cs typeface="Arial"/>
              </a:rPr>
              <a:t>d</a:t>
            </a:r>
            <a:r>
              <a:rPr sz="2000" b="1" spc="22" baseline="-14550" dirty="0">
                <a:latin typeface="Arial"/>
                <a:cs typeface="Arial"/>
              </a:rPr>
              <a:t>min</a:t>
            </a:r>
            <a:r>
              <a:rPr sz="2000" b="1" spc="412" baseline="-145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2.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4573" y="1285747"/>
            <a:ext cx="4907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10.3	</a:t>
            </a:r>
            <a:r>
              <a:rPr sz="2000" i="1" spc="-5" dirty="0">
                <a:latin typeface="Times New Roman"/>
                <a:cs typeface="Times New Roman"/>
              </a:rPr>
              <a:t>Simple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parity-check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C(5,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4)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117" y="1655064"/>
            <a:ext cx="8519921" cy="414756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038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10.10	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decoder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simple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parity-check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341" y="1824227"/>
            <a:ext cx="8099297" cy="43731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44058" y="1512824"/>
            <a:ext cx="858837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2540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Let us look at some transmission scenarios. Assume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sender sends the dataword </a:t>
            </a:r>
            <a:r>
              <a:rPr sz="2800" b="1" i="1" spc="-35" dirty="0">
                <a:latin typeface="Times New Roman"/>
                <a:cs typeface="Times New Roman"/>
              </a:rPr>
              <a:t>1011. </a:t>
            </a:r>
            <a:r>
              <a:rPr sz="2800" b="1" i="1" spc="-5" dirty="0">
                <a:latin typeface="Times New Roman"/>
                <a:cs typeface="Times New Roman"/>
              </a:rPr>
              <a:t>The codeword created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from this dataword is </a:t>
            </a:r>
            <a:r>
              <a:rPr sz="2800" b="1" i="1" spc="-55" dirty="0">
                <a:latin typeface="Times New Roman"/>
                <a:cs typeface="Times New Roman"/>
              </a:rPr>
              <a:t>10111, </a:t>
            </a:r>
            <a:r>
              <a:rPr sz="2800" b="1" i="1" spc="-5" dirty="0">
                <a:latin typeface="Times New Roman"/>
                <a:cs typeface="Times New Roman"/>
              </a:rPr>
              <a:t>which is sent to the </a:t>
            </a:r>
            <a:r>
              <a:rPr sz="2800" b="1" i="1" spc="-25" dirty="0">
                <a:latin typeface="Times New Roman"/>
                <a:cs typeface="Times New Roman"/>
              </a:rPr>
              <a:t>receiver. 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examine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five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cases: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94665" marR="302260" indent="-494665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94665" algn="l"/>
                <a:tab pos="4953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No </a:t>
            </a:r>
            <a:r>
              <a:rPr sz="2800" b="1" i="1" dirty="0">
                <a:latin typeface="Times New Roman"/>
                <a:cs typeface="Times New Roman"/>
              </a:rPr>
              <a:t>error occurs; the </a:t>
            </a:r>
            <a:r>
              <a:rPr sz="2800" b="1" i="1" spc="-5" dirty="0">
                <a:latin typeface="Times New Roman"/>
                <a:cs typeface="Times New Roman"/>
              </a:rPr>
              <a:t>received codeword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5" dirty="0">
                <a:latin typeface="Times New Roman"/>
                <a:cs typeface="Times New Roman"/>
              </a:rPr>
              <a:t>10111.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syndrome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0.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dataword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1011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created.</a:t>
            </a:r>
            <a:endParaRPr sz="2800">
              <a:latin typeface="Times New Roman"/>
              <a:cs typeface="Times New Roman"/>
            </a:endParaRPr>
          </a:p>
          <a:p>
            <a:pPr marL="494030" marR="485775" indent="-443865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94665" algn="l"/>
                <a:tab pos="4953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One </a:t>
            </a:r>
            <a:r>
              <a:rPr sz="2800" b="1" i="1" dirty="0">
                <a:latin typeface="Times New Roman"/>
                <a:cs typeface="Times New Roman"/>
              </a:rPr>
              <a:t>single-bit error </a:t>
            </a:r>
            <a:r>
              <a:rPr sz="2800" b="1" i="1" spc="-5" dirty="0">
                <a:latin typeface="Times New Roman"/>
                <a:cs typeface="Times New Roman"/>
              </a:rPr>
              <a:t>changes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775" b="1" i="1" baseline="-12012" dirty="0">
                <a:latin typeface="Times New Roman"/>
                <a:cs typeface="Times New Roman"/>
              </a:rPr>
              <a:t>1 </a:t>
            </a:r>
            <a:r>
              <a:rPr sz="2800" b="1" i="1" dirty="0">
                <a:latin typeface="Times New Roman"/>
                <a:cs typeface="Times New Roman"/>
              </a:rPr>
              <a:t>. </a:t>
            </a:r>
            <a:r>
              <a:rPr sz="2800" b="1" i="1" spc="-5" dirty="0">
                <a:latin typeface="Times New Roman"/>
                <a:cs typeface="Times New Roman"/>
              </a:rPr>
              <a:t>The received </a:t>
            </a:r>
            <a:r>
              <a:rPr sz="2800" b="1" i="1" dirty="0">
                <a:latin typeface="Times New Roman"/>
                <a:cs typeface="Times New Roman"/>
              </a:rPr>
              <a:t> codeword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5" dirty="0">
                <a:latin typeface="Times New Roman"/>
                <a:cs typeface="Times New Roman"/>
              </a:rPr>
              <a:t> 10011.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5" dirty="0">
                <a:latin typeface="Times New Roman"/>
                <a:cs typeface="Times New Roman"/>
              </a:rPr>
              <a:t> syndrome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1.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dataword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created.</a:t>
            </a:r>
            <a:endParaRPr sz="2800">
              <a:latin typeface="Times New Roman"/>
              <a:cs typeface="Times New Roman"/>
            </a:endParaRPr>
          </a:p>
          <a:p>
            <a:pPr marL="406400" marR="43180" indent="-40640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064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One single-bit </a:t>
            </a:r>
            <a:r>
              <a:rPr sz="2800" b="1" i="1" dirty="0">
                <a:latin typeface="Times New Roman"/>
                <a:cs typeface="Times New Roman"/>
              </a:rPr>
              <a:t>error changes </a:t>
            </a:r>
            <a:r>
              <a:rPr sz="2800" b="1" i="1" spc="5" dirty="0">
                <a:latin typeface="Times New Roman"/>
                <a:cs typeface="Times New Roman"/>
              </a:rPr>
              <a:t>r</a:t>
            </a:r>
            <a:r>
              <a:rPr sz="2775" b="1" i="1" spc="7" baseline="-12012" dirty="0">
                <a:latin typeface="Times New Roman"/>
                <a:cs typeface="Times New Roman"/>
              </a:rPr>
              <a:t>0 </a:t>
            </a:r>
            <a:r>
              <a:rPr sz="2800" b="1" i="1" dirty="0">
                <a:latin typeface="Times New Roman"/>
                <a:cs typeface="Times New Roman"/>
              </a:rPr>
              <a:t>. </a:t>
            </a:r>
            <a:r>
              <a:rPr sz="2800" b="1" i="1" spc="-5" dirty="0">
                <a:latin typeface="Times New Roman"/>
                <a:cs typeface="Times New Roman"/>
              </a:rPr>
              <a:t>The received codeword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10110.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syndrome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1.</a:t>
            </a:r>
            <a:r>
              <a:rPr sz="2800" b="1" i="1" spc="-5" dirty="0">
                <a:latin typeface="Times New Roman"/>
                <a:cs typeface="Times New Roman"/>
              </a:rPr>
              <a:t> No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dataword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5" dirty="0">
                <a:latin typeface="Times New Roman"/>
                <a:cs typeface="Times New Roman"/>
              </a:rPr>
              <a:t> created.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6755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9705" algn="l"/>
              </a:tabLst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10.12	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6773" y="1512824"/>
            <a:ext cx="854837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196850" indent="-3556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AutoNum type="arabicPeriod" startAt="4"/>
              <a:tabLst>
                <a:tab pos="379730" algn="l"/>
                <a:tab pos="354076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An error changes 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775" b="1" i="1" spc="-7" baseline="-12012" dirty="0">
                <a:latin typeface="Times New Roman"/>
                <a:cs typeface="Times New Roman"/>
              </a:rPr>
              <a:t>0</a:t>
            </a:r>
            <a:r>
              <a:rPr sz="2775" b="1" i="1" baseline="-12012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 a second error changes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775" b="1" i="1" spc="-7" baseline="-12012" dirty="0">
                <a:latin typeface="Times New Roman"/>
                <a:cs typeface="Times New Roman"/>
              </a:rPr>
              <a:t>3 </a:t>
            </a:r>
            <a:r>
              <a:rPr sz="2800" b="1" i="1" dirty="0">
                <a:latin typeface="Times New Roman"/>
                <a:cs typeface="Times New Roman"/>
              </a:rPr>
              <a:t>.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received </a:t>
            </a:r>
            <a:r>
              <a:rPr sz="2800" b="1" i="1" dirty="0">
                <a:latin typeface="Times New Roman"/>
                <a:cs typeface="Times New Roman"/>
              </a:rPr>
              <a:t>codeword is </a:t>
            </a:r>
            <a:r>
              <a:rPr sz="2800" b="1" i="1" spc="-30" dirty="0">
                <a:latin typeface="Times New Roman"/>
                <a:cs typeface="Times New Roman"/>
              </a:rPr>
              <a:t>00110.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syndrome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5" dirty="0">
                <a:latin typeface="Times New Roman"/>
                <a:cs typeface="Times New Roman"/>
              </a:rPr>
              <a:t>0. 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dataword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0011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created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receiver.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Note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here </a:t>
            </a:r>
            <a:r>
              <a:rPr sz="2800" b="1" i="1" spc="-5" dirty="0">
                <a:latin typeface="Times New Roman"/>
                <a:cs typeface="Times New Roman"/>
              </a:rPr>
              <a:t>the dataword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	wrongly </a:t>
            </a:r>
            <a:r>
              <a:rPr sz="2800" b="1" i="1" spc="-5" dirty="0">
                <a:latin typeface="Times New Roman"/>
                <a:cs typeface="Times New Roman"/>
              </a:rPr>
              <a:t>created due to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syndrome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value.</a:t>
            </a:r>
            <a:endParaRPr sz="2800">
              <a:latin typeface="Times New Roman"/>
              <a:cs typeface="Times New Roman"/>
            </a:endParaRPr>
          </a:p>
          <a:p>
            <a:pPr marL="393065" marR="572770" indent="-355600">
              <a:lnSpc>
                <a:spcPct val="100000"/>
              </a:lnSpc>
              <a:buClr>
                <a:srgbClr val="FF0000"/>
              </a:buClr>
              <a:buAutoNum type="arabicPeriod" startAt="4"/>
              <a:tabLst>
                <a:tab pos="3937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Three </a:t>
            </a:r>
            <a:r>
              <a:rPr sz="2800" b="1" i="1" dirty="0">
                <a:latin typeface="Times New Roman"/>
                <a:cs typeface="Times New Roman"/>
              </a:rPr>
              <a:t>bits—a</a:t>
            </a:r>
            <a:r>
              <a:rPr sz="2775" b="1" i="1" baseline="-12012" dirty="0">
                <a:latin typeface="Times New Roman"/>
                <a:cs typeface="Times New Roman"/>
              </a:rPr>
              <a:t>3</a:t>
            </a:r>
            <a:r>
              <a:rPr sz="2800" b="1" i="1" dirty="0">
                <a:latin typeface="Times New Roman"/>
                <a:cs typeface="Times New Roman"/>
              </a:rPr>
              <a:t>, a</a:t>
            </a:r>
            <a:r>
              <a:rPr sz="2775" b="1" i="1" baseline="-12012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, and a</a:t>
            </a:r>
            <a:r>
              <a:rPr sz="2775" b="1" i="1" baseline="-12012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—are </a:t>
            </a:r>
            <a:r>
              <a:rPr sz="2800" b="1" i="1" spc="-5" dirty="0">
                <a:latin typeface="Times New Roman"/>
                <a:cs typeface="Times New Roman"/>
              </a:rPr>
              <a:t>changed </a:t>
            </a:r>
            <a:r>
              <a:rPr sz="2800" b="1" i="1" dirty="0">
                <a:latin typeface="Times New Roman"/>
                <a:cs typeface="Times New Roman"/>
              </a:rPr>
              <a:t>by errors.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codeword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30" dirty="0">
                <a:latin typeface="Times New Roman"/>
                <a:cs typeface="Times New Roman"/>
              </a:rPr>
              <a:t>01011.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syndrome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1.</a:t>
            </a:r>
            <a:endParaRPr sz="2800">
              <a:latin typeface="Times New Roman"/>
              <a:cs typeface="Times New Roman"/>
            </a:endParaRPr>
          </a:p>
          <a:p>
            <a:pPr marL="393065" marR="304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dataword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created.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simple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parity check, guaranteed to detect one </a:t>
            </a:r>
            <a:r>
              <a:rPr sz="2800" b="1" i="1" spc="-5" dirty="0">
                <a:latin typeface="Times New Roman"/>
                <a:cs typeface="Times New Roman"/>
              </a:rPr>
              <a:t>single </a:t>
            </a:r>
            <a:r>
              <a:rPr sz="2800" b="1" i="1" spc="-30" dirty="0">
                <a:latin typeface="Times New Roman"/>
                <a:cs typeface="Times New Roman"/>
              </a:rPr>
              <a:t>error, </a:t>
            </a:r>
            <a:r>
              <a:rPr sz="2800" b="1" i="1" dirty="0">
                <a:latin typeface="Times New Roman"/>
                <a:cs typeface="Times New Roman"/>
              </a:rPr>
              <a:t>can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also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find</a:t>
            </a:r>
            <a:r>
              <a:rPr sz="2800" b="1" i="1" spc="-5" dirty="0">
                <a:latin typeface="Times New Roman"/>
                <a:cs typeface="Times New Roman"/>
              </a:rPr>
              <a:t> any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odd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number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65567" y="1455419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626235" marR="354965" indent="-1266825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simple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parity-check</a:t>
            </a:r>
            <a:r>
              <a:rPr sz="3200" b="1" spc="-5" dirty="0">
                <a:latin typeface="Arial"/>
                <a:cs typeface="Arial"/>
              </a:rPr>
              <a:t> code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</a:t>
            </a:r>
            <a:r>
              <a:rPr sz="3200" b="1" spc="-10" dirty="0">
                <a:latin typeface="Arial"/>
                <a:cs typeface="Arial"/>
              </a:rPr>
              <a:t> detect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odd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number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errors.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619B30D3-2146-C3CF-5E6B-C0CAC2D07021}"/>
              </a:ext>
            </a:extLst>
          </p:cNvPr>
          <p:cNvSpPr txBox="1"/>
          <p:nvPr/>
        </p:nvSpPr>
        <p:spPr>
          <a:xfrm>
            <a:off x="1265567" y="2842974"/>
            <a:ext cx="8077200" cy="252920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52755" marR="44640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All Hamming </a:t>
            </a:r>
            <a:r>
              <a:rPr sz="3200" b="1" spc="-10" dirty="0">
                <a:latin typeface="Arial"/>
                <a:cs typeface="Arial"/>
              </a:rPr>
              <a:t>codes </a:t>
            </a:r>
            <a:r>
              <a:rPr sz="3200" b="1" spc="-5" dirty="0">
                <a:latin typeface="Arial"/>
                <a:cs typeface="Arial"/>
              </a:rPr>
              <a:t>discussed in </a:t>
            </a:r>
            <a:r>
              <a:rPr sz="3200" b="1" spc="-10" dirty="0">
                <a:latin typeface="Arial"/>
                <a:cs typeface="Arial"/>
              </a:rPr>
              <a:t>this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book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have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10" dirty="0">
                <a:latin typeface="Arial"/>
                <a:cs typeface="Arial"/>
              </a:rPr>
              <a:t>d</a:t>
            </a:r>
            <a:r>
              <a:rPr sz="3150" b="1" spc="15" baseline="-14550" dirty="0">
                <a:latin typeface="Arial"/>
                <a:cs typeface="Arial"/>
              </a:rPr>
              <a:t>min</a:t>
            </a:r>
            <a:r>
              <a:rPr sz="3150" b="1" spc="419" baseline="-1455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3.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00" dirty="0">
              <a:latin typeface="Arial"/>
              <a:cs typeface="Arial"/>
            </a:endParaRPr>
          </a:p>
          <a:p>
            <a:pPr marL="534035" marR="525780" algn="ctr">
              <a:lnSpc>
                <a:spcPct val="100000"/>
              </a:lnSpc>
              <a:spcBef>
                <a:spcPts val="5"/>
              </a:spcBef>
            </a:pP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relationship </a:t>
            </a:r>
            <a:r>
              <a:rPr sz="3200" b="1" spc="-5" dirty="0">
                <a:latin typeface="Arial"/>
                <a:cs typeface="Arial"/>
              </a:rPr>
              <a:t>between </a:t>
            </a:r>
            <a:r>
              <a:rPr sz="3200" b="1" i="1" spc="-5" dirty="0">
                <a:latin typeface="Arial"/>
                <a:cs typeface="Arial"/>
              </a:rPr>
              <a:t>m </a:t>
            </a:r>
            <a:r>
              <a:rPr sz="3200" b="1" spc="-5" dirty="0">
                <a:latin typeface="Arial"/>
                <a:cs typeface="Arial"/>
              </a:rPr>
              <a:t>and </a:t>
            </a:r>
            <a:r>
              <a:rPr sz="3200" b="1" i="1" spc="-5" dirty="0">
                <a:latin typeface="Arial"/>
                <a:cs typeface="Arial"/>
              </a:rPr>
              <a:t>n </a:t>
            </a: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these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codes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n</a:t>
            </a:r>
            <a:r>
              <a:rPr sz="3200" b="1" i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 2</a:t>
            </a:r>
            <a:r>
              <a:rPr sz="3200" b="1" i="1" spc="-5" dirty="0">
                <a:latin typeface="Arial"/>
                <a:cs typeface="Arial"/>
              </a:rPr>
              <a:t>m</a:t>
            </a:r>
            <a:r>
              <a:rPr sz="3200" b="1" i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− 1.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489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dirty="0">
                <a:solidFill>
                  <a:srgbClr val="3333CC"/>
                </a:solidFill>
              </a:rPr>
              <a:t> </a:t>
            </a:r>
            <a:r>
              <a:rPr sz="2400" spc="-35" dirty="0">
                <a:solidFill>
                  <a:srgbClr val="3333CC"/>
                </a:solidFill>
              </a:rPr>
              <a:t>10.11	</a:t>
            </a:r>
            <a:r>
              <a:rPr sz="2000" i="1" spc="-10" dirty="0">
                <a:latin typeface="Times New Roman"/>
                <a:cs typeface="Times New Roman"/>
              </a:rPr>
              <a:t>Two-dimensional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parity-check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6643" y="2558795"/>
            <a:ext cx="4387596" cy="31051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489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dirty="0">
                <a:solidFill>
                  <a:srgbClr val="3333CC"/>
                </a:solidFill>
              </a:rPr>
              <a:t> </a:t>
            </a:r>
            <a:r>
              <a:rPr sz="2400" spc="-35" dirty="0">
                <a:solidFill>
                  <a:srgbClr val="3333CC"/>
                </a:solidFill>
              </a:rPr>
              <a:t>10.11	</a:t>
            </a:r>
            <a:r>
              <a:rPr sz="2000" i="1" spc="-10" dirty="0">
                <a:latin typeface="Times New Roman"/>
                <a:cs typeface="Times New Roman"/>
              </a:rPr>
              <a:t>Two-dimensional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parity-check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639" y="2596895"/>
            <a:ext cx="8547354" cy="284225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489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dirty="0">
                <a:solidFill>
                  <a:srgbClr val="3333CC"/>
                </a:solidFill>
              </a:rPr>
              <a:t> </a:t>
            </a:r>
            <a:r>
              <a:rPr sz="2400" spc="-35" dirty="0">
                <a:solidFill>
                  <a:srgbClr val="3333CC"/>
                </a:solidFill>
              </a:rPr>
              <a:t>10.11	</a:t>
            </a:r>
            <a:r>
              <a:rPr sz="2000" i="1" spc="-10" dirty="0">
                <a:latin typeface="Times New Roman"/>
                <a:cs typeface="Times New Roman"/>
              </a:rPr>
              <a:t>Two-dimensional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parity-check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247" y="2538222"/>
            <a:ext cx="8546592" cy="28399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32</a:t>
            </a:fld>
            <a:endParaRPr spc="-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0773" y="1209547"/>
            <a:ext cx="3885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10.4	</a:t>
            </a:r>
            <a:r>
              <a:rPr sz="2000" i="1" spc="-5" dirty="0">
                <a:latin typeface="Times New Roman"/>
                <a:cs typeface="Times New Roman"/>
              </a:rPr>
              <a:t>Hamming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C(7,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4)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969" y="1659635"/>
            <a:ext cx="8637269" cy="40995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8336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10.12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structure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the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decoder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Hamming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919" y="1655826"/>
            <a:ext cx="8656319" cy="454990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2173" y="2504947"/>
            <a:ext cx="7191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10.5	</a:t>
            </a:r>
            <a:r>
              <a:rPr sz="2000" i="1" spc="-5" dirty="0">
                <a:latin typeface="Times New Roman"/>
                <a:cs typeface="Times New Roman"/>
              </a:rPr>
              <a:t>Logical decision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made by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correction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logic analyzer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849" y="3035045"/>
            <a:ext cx="8916606" cy="9715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6773" y="1512824"/>
            <a:ext cx="846836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210185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Let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trace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path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three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datawords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from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sender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destination:</a:t>
            </a:r>
            <a:endParaRPr sz="2800">
              <a:latin typeface="Times New Roman"/>
              <a:cs typeface="Times New Roman"/>
            </a:endParaRPr>
          </a:p>
          <a:p>
            <a:pPr marL="393700" marR="400685" indent="-393700" algn="just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3937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The dataword 0100 becomes the codeword </a:t>
            </a:r>
            <a:r>
              <a:rPr sz="2800" b="1" i="1" spc="-20" dirty="0">
                <a:latin typeface="Times New Roman"/>
                <a:cs typeface="Times New Roman"/>
              </a:rPr>
              <a:t>0100011.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codeword </a:t>
            </a:r>
            <a:r>
              <a:rPr sz="2800" b="1" i="1" spc="-25" dirty="0">
                <a:latin typeface="Times New Roman"/>
                <a:cs typeface="Times New Roman"/>
              </a:rPr>
              <a:t>0100011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received. The syndrome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000,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final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dataword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0100.</a:t>
            </a:r>
            <a:endParaRPr sz="2800">
              <a:latin typeface="Times New Roman"/>
              <a:cs typeface="Times New Roman"/>
            </a:endParaRPr>
          </a:p>
          <a:p>
            <a:pPr marL="393065" marR="30480" indent="-35560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393700" algn="l"/>
                <a:tab pos="449453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dataword </a:t>
            </a:r>
            <a:r>
              <a:rPr sz="2800" b="1" i="1" spc="-80" dirty="0">
                <a:latin typeface="Times New Roman"/>
                <a:cs typeface="Times New Roman"/>
              </a:rPr>
              <a:t>0111 </a:t>
            </a:r>
            <a:r>
              <a:rPr sz="2800" b="1" i="1" spc="-5" dirty="0">
                <a:latin typeface="Times New Roman"/>
                <a:cs typeface="Times New Roman"/>
              </a:rPr>
              <a:t>becomes the codeword </a:t>
            </a:r>
            <a:r>
              <a:rPr sz="2800" b="1" i="1" spc="-40" dirty="0">
                <a:latin typeface="Times New Roman"/>
                <a:cs typeface="Times New Roman"/>
              </a:rPr>
              <a:t>0111001. 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syndrome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011.</a:t>
            </a:r>
            <a:r>
              <a:rPr sz="2800" b="1" i="1" spc="-11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After	flipping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spc="10" dirty="0">
                <a:latin typeface="Times New Roman"/>
                <a:cs typeface="Times New Roman"/>
              </a:rPr>
              <a:t>b</a:t>
            </a:r>
            <a:r>
              <a:rPr sz="2775" b="1" i="1" spc="15" baseline="-12012" dirty="0">
                <a:latin typeface="Times New Roman"/>
                <a:cs typeface="Times New Roman"/>
              </a:rPr>
              <a:t>2</a:t>
            </a:r>
            <a:r>
              <a:rPr sz="2775" b="1" i="1" spc="322" baseline="-12012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(changing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0),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final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dataword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65" dirty="0">
                <a:latin typeface="Times New Roman"/>
                <a:cs typeface="Times New Roman"/>
              </a:rPr>
              <a:t>0111.</a:t>
            </a:r>
            <a:endParaRPr sz="2800">
              <a:latin typeface="Times New Roman"/>
              <a:cs typeface="Times New Roman"/>
            </a:endParaRPr>
          </a:p>
          <a:p>
            <a:pPr marL="393065" marR="213360" indent="-35560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3937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The dataword </a:t>
            </a:r>
            <a:r>
              <a:rPr sz="2800" b="1" i="1" spc="-40" dirty="0">
                <a:latin typeface="Times New Roman"/>
                <a:cs typeface="Times New Roman"/>
              </a:rPr>
              <a:t>1101 </a:t>
            </a:r>
            <a:r>
              <a:rPr sz="2800" b="1" i="1" dirty="0">
                <a:latin typeface="Times New Roman"/>
                <a:cs typeface="Times New Roman"/>
              </a:rPr>
              <a:t>becomes the codeword </a:t>
            </a:r>
            <a:r>
              <a:rPr sz="2800" b="1" i="1" spc="-20" dirty="0">
                <a:latin typeface="Times New Roman"/>
                <a:cs typeface="Times New Roman"/>
              </a:rPr>
              <a:t>1101000. 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syndrome </a:t>
            </a:r>
            <a:r>
              <a:rPr sz="2800" b="1" i="1" dirty="0">
                <a:latin typeface="Times New Roman"/>
                <a:cs typeface="Times New Roman"/>
              </a:rPr>
              <a:t>is 101. </a:t>
            </a:r>
            <a:r>
              <a:rPr sz="2800" b="1" i="1" spc="-5" dirty="0">
                <a:latin typeface="Times New Roman"/>
                <a:cs typeface="Times New Roman"/>
              </a:rPr>
              <a:t>After </a:t>
            </a:r>
            <a:r>
              <a:rPr sz="2800" b="1" i="1" dirty="0">
                <a:latin typeface="Times New Roman"/>
                <a:cs typeface="Times New Roman"/>
              </a:rPr>
              <a:t>flipping b</a:t>
            </a:r>
            <a:r>
              <a:rPr sz="2775" b="1" i="1" baseline="-12012" dirty="0">
                <a:latin typeface="Times New Roman"/>
                <a:cs typeface="Times New Roman"/>
              </a:rPr>
              <a:t>0</a:t>
            </a:r>
            <a:r>
              <a:rPr sz="2800" b="1" i="1" dirty="0">
                <a:latin typeface="Times New Roman"/>
                <a:cs typeface="Times New Roman"/>
              </a:rPr>
              <a:t>, </a:t>
            </a:r>
            <a:r>
              <a:rPr sz="2800" b="1" i="1" spc="-5" dirty="0">
                <a:latin typeface="Times New Roman"/>
                <a:cs typeface="Times New Roman"/>
              </a:rPr>
              <a:t>we get </a:t>
            </a:r>
            <a:r>
              <a:rPr sz="2800" b="1" i="1" dirty="0">
                <a:latin typeface="Times New Roman"/>
                <a:cs typeface="Times New Roman"/>
              </a:rPr>
              <a:t>0000,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wrong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dataword.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code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cannot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correct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two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919996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512824"/>
            <a:ext cx="8528050" cy="4000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</a:t>
            </a:r>
            <a:r>
              <a:rPr sz="2800" b="1" i="1" spc="1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dataword</a:t>
            </a:r>
            <a:r>
              <a:rPr sz="2800" b="1" i="1" spc="1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at</a:t>
            </a:r>
            <a:r>
              <a:rPr sz="2800" b="1" i="1" spc="1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least</a:t>
            </a:r>
            <a:r>
              <a:rPr sz="2800" b="1" i="1" spc="1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7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bits.</a:t>
            </a:r>
            <a:r>
              <a:rPr sz="2800" b="1" i="1" spc="1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Calculate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values</a:t>
            </a:r>
            <a:r>
              <a:rPr sz="2800" b="1" i="1" spc="1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 that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satisfy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requirement.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20066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need </a:t>
            </a:r>
            <a:r>
              <a:rPr sz="2800" b="1" i="1" dirty="0">
                <a:latin typeface="Times New Roman"/>
                <a:cs typeface="Times New Roman"/>
              </a:rPr>
              <a:t>to make k = n − m </a:t>
            </a:r>
            <a:r>
              <a:rPr sz="2800" b="1" i="1" spc="-5" dirty="0">
                <a:latin typeface="Times New Roman"/>
                <a:cs typeface="Times New Roman"/>
              </a:rPr>
              <a:t>greater </a:t>
            </a:r>
            <a:r>
              <a:rPr sz="2800" b="1" i="1" dirty="0">
                <a:latin typeface="Times New Roman"/>
                <a:cs typeface="Times New Roman"/>
              </a:rPr>
              <a:t>than </a:t>
            </a:r>
            <a:r>
              <a:rPr sz="2800" b="1" i="1" spc="-5" dirty="0">
                <a:latin typeface="Times New Roman"/>
                <a:cs typeface="Times New Roman"/>
              </a:rPr>
              <a:t>or </a:t>
            </a:r>
            <a:r>
              <a:rPr sz="2800" b="1" i="1" dirty="0">
                <a:latin typeface="Times New Roman"/>
                <a:cs typeface="Times New Roman"/>
              </a:rPr>
              <a:t>equal to </a:t>
            </a:r>
            <a:r>
              <a:rPr sz="2800" b="1" i="1" spc="-5" dirty="0">
                <a:latin typeface="Times New Roman"/>
                <a:cs typeface="Times New Roman"/>
              </a:rPr>
              <a:t>7, or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2m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− 1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 m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≥ 7.</a:t>
            </a:r>
            <a:endParaRPr sz="2800">
              <a:latin typeface="Times New Roman"/>
              <a:cs typeface="Times New Roman"/>
            </a:endParaRPr>
          </a:p>
          <a:p>
            <a:pPr marL="367665" marR="406400" indent="-35560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3683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result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 =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23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 k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7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4,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which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acceptable.</a:t>
            </a:r>
            <a:endParaRPr sz="2800">
              <a:latin typeface="Times New Roman"/>
              <a:cs typeface="Times New Roman"/>
            </a:endParaRPr>
          </a:p>
          <a:p>
            <a:pPr marL="367665" marR="334645" indent="-35560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36893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set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24 −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 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15 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 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15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5" dirty="0">
                <a:latin typeface="Times New Roman"/>
                <a:cs typeface="Times New Roman"/>
              </a:rPr>
              <a:t>11,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which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satisfies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condition.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code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51934" y="5683377"/>
            <a:ext cx="1676400" cy="576580"/>
          </a:xfrm>
          <a:prstGeom prst="rect">
            <a:avLst/>
          </a:prstGeom>
          <a:solidFill>
            <a:srgbClr val="FFFF00"/>
          </a:solidFill>
          <a:ln w="34290">
            <a:solidFill>
              <a:srgbClr val="3333CC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2800" b="1" i="1" dirty="0">
                <a:latin typeface="Times New Roman"/>
                <a:cs typeface="Times New Roman"/>
              </a:rPr>
              <a:t>C(15,</a:t>
            </a:r>
            <a:r>
              <a:rPr sz="2800" b="1" i="1" spc="-55" dirty="0">
                <a:latin typeface="Times New Roman"/>
                <a:cs typeface="Times New Roman"/>
              </a:rPr>
              <a:t> 11)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41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10.13	</a:t>
            </a:r>
            <a:r>
              <a:rPr sz="2000" i="1" spc="-5" dirty="0">
                <a:latin typeface="Times New Roman"/>
                <a:cs typeface="Times New Roman"/>
              </a:rPr>
              <a:t>Burst error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correction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using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Hamming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27239" y="1415796"/>
            <a:ext cx="8763000" cy="5295900"/>
            <a:chOff x="927239" y="1415796"/>
            <a:chExt cx="8763000" cy="5295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8645" y="1415796"/>
              <a:ext cx="7724393" cy="51854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7239" y="6635496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62710" algn="l"/>
              </a:tabLst>
            </a:pPr>
            <a:r>
              <a:rPr spc="-5" dirty="0"/>
              <a:t>10-4	CYCLIC</a:t>
            </a:r>
            <a:r>
              <a:rPr spc="-10" dirty="0"/>
              <a:t> </a:t>
            </a:r>
            <a:r>
              <a:rPr spc="-5" dirty="0"/>
              <a:t>CODES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74839" y="46344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73" y="1847342"/>
            <a:ext cx="8071484" cy="4725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Cyclic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codes </a:t>
            </a:r>
            <a:r>
              <a:rPr sz="2800" b="1" i="1" spc="-5" dirty="0">
                <a:latin typeface="Times New Roman"/>
                <a:cs typeface="Times New Roman"/>
              </a:rPr>
              <a:t>are special linear block codes with one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extra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property.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cyclic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code,</a:t>
            </a:r>
            <a:r>
              <a:rPr sz="2800" b="1" i="1" dirty="0">
                <a:latin typeface="Times New Roman"/>
                <a:cs typeface="Times New Roman"/>
              </a:rPr>
              <a:t> if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cyclically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shifted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(rotated),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result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another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codeword.</a:t>
            </a:r>
            <a:endParaRPr sz="2800">
              <a:latin typeface="Times New Roman"/>
              <a:cs typeface="Times New Roman"/>
            </a:endParaRPr>
          </a:p>
          <a:p>
            <a:pPr marL="12700" marR="3376929" indent="27940">
              <a:lnSpc>
                <a:spcPct val="104000"/>
              </a:lnSpc>
              <a:spcBef>
                <a:spcPts val="2390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sz="2800" b="1" i="1" spc="-6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Cyclic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Redundancy</a:t>
            </a:r>
            <a:r>
              <a:rPr sz="2400" b="1" spc="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Check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Hardware Implementation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Polynomials</a:t>
            </a:r>
            <a:endParaRPr sz="2400">
              <a:latin typeface="Times New Roman"/>
              <a:cs typeface="Times New Roman"/>
            </a:endParaRPr>
          </a:p>
          <a:p>
            <a:pPr marL="12700" marR="4437380">
              <a:lnSpc>
                <a:spcPct val="100000"/>
              </a:lnSpc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Cyclic Code Analysis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Advantages of Cyclic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Codes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Other</a:t>
            </a:r>
            <a:r>
              <a:rPr sz="24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Cyclic</a:t>
            </a:r>
            <a:r>
              <a:rPr sz="24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Codes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39</a:t>
            </a:fld>
            <a:endParaRPr spc="-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6973" y="1057147"/>
            <a:ext cx="4072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1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10.6	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CRC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C(7,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4)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023" y="1551431"/>
            <a:ext cx="8738616" cy="42839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40</a:t>
            </a:fld>
            <a:endParaRPr spc="-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542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10.14	</a:t>
            </a:r>
            <a:r>
              <a:rPr sz="2000" i="1" spc="-5" dirty="0">
                <a:latin typeface="Times New Roman"/>
                <a:cs typeface="Times New Roman"/>
              </a:rPr>
              <a:t>CRC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decoder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1906523"/>
            <a:ext cx="8355330" cy="438607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4412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10.15	</a:t>
            </a:r>
            <a:r>
              <a:rPr sz="2000" i="1" spc="-5" dirty="0">
                <a:latin typeface="Times New Roman"/>
                <a:cs typeface="Times New Roman"/>
              </a:rPr>
              <a:t>Division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CRC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4099" y="1349502"/>
            <a:ext cx="4853940" cy="501929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42</a:t>
            </a:fld>
            <a:endParaRPr spc="-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6202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10.16	</a:t>
            </a:r>
            <a:r>
              <a:rPr sz="2000" i="1" spc="-5" dirty="0">
                <a:latin typeface="Times New Roman"/>
                <a:cs typeface="Times New Roman"/>
              </a:rPr>
              <a:t>Division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 the CRC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decoder for two cases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615" y="1900427"/>
            <a:ext cx="7659623" cy="45445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43</a:t>
            </a:fld>
            <a:endParaRPr spc="-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937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10.17	</a:t>
            </a:r>
            <a:r>
              <a:rPr sz="2000" i="1" spc="-5" dirty="0">
                <a:latin typeface="Times New Roman"/>
                <a:cs typeface="Times New Roman"/>
              </a:rPr>
              <a:t>Hardwired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design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 divisor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CRC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239" y="2253995"/>
            <a:ext cx="7467600" cy="287197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44</a:t>
            </a:fld>
            <a:endParaRPr spc="-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5845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10.18	</a:t>
            </a:r>
            <a:r>
              <a:rPr sz="2000" i="1" spc="-10" dirty="0">
                <a:latin typeface="Times New Roman"/>
                <a:cs typeface="Times New Roman"/>
              </a:rPr>
              <a:t>Simulation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division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 CRC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2491" y="1443227"/>
            <a:ext cx="6069329" cy="507796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45</a:t>
            </a:fld>
            <a:endParaRPr spc="-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6534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10.19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CRC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 design using shift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registers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639" y="3304032"/>
            <a:ext cx="7414259" cy="56921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46</a:t>
            </a:fld>
            <a:endParaRPr spc="-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828547"/>
            <a:ext cx="7472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2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10.20	</a:t>
            </a:r>
            <a:r>
              <a:rPr sz="2000" i="1" spc="-5" dirty="0">
                <a:latin typeface="Times New Roman"/>
                <a:cs typeface="Times New Roman"/>
              </a:rPr>
              <a:t>General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design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decoder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CRC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06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621" y="1720595"/>
            <a:ext cx="6544818" cy="454990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47</a:t>
            </a:fld>
            <a:endParaRPr spc="-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8373" y="1133347"/>
            <a:ext cx="16440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spc="-5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10.21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04699" y="1133347"/>
            <a:ext cx="4284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400" i="1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polynomial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to represent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 binary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word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039" y="2910077"/>
            <a:ext cx="8849106" cy="23919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48</a:t>
            </a:fld>
            <a:endParaRPr spc="-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59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10.22	</a:t>
            </a:r>
            <a:r>
              <a:rPr sz="2000" i="1" spc="-5" dirty="0">
                <a:latin typeface="Times New Roman"/>
                <a:cs typeface="Times New Roman"/>
              </a:rPr>
              <a:t>CRC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division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using polynomials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115" y="1872995"/>
            <a:ext cx="6097523" cy="429767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49</a:t>
            </a:fld>
            <a:endParaRPr spc="-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31455" y="3476625"/>
            <a:ext cx="7756525" cy="29668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1239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cyclic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code,</a:t>
            </a:r>
            <a:endParaRPr sz="3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If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s</a:t>
            </a:r>
            <a:r>
              <a:rPr sz="3200" b="1" spc="-5" dirty="0">
                <a:latin typeface="Arial"/>
                <a:cs typeface="Arial"/>
              </a:rPr>
              <a:t>(x) ≠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0, one or more bits is </a:t>
            </a:r>
            <a:r>
              <a:rPr sz="3200" b="1" spc="-10" dirty="0">
                <a:latin typeface="Arial"/>
                <a:cs typeface="Arial"/>
              </a:rPr>
              <a:t>corrupted.</a:t>
            </a:r>
            <a:endParaRPr sz="3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If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s</a:t>
            </a:r>
            <a:r>
              <a:rPr sz="3200" b="1" spc="-5" dirty="0">
                <a:latin typeface="Arial"/>
                <a:cs typeface="Arial"/>
              </a:rPr>
              <a:t>(x)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0,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either</a:t>
            </a:r>
            <a:endParaRPr sz="3300" dirty="0">
              <a:latin typeface="Arial"/>
              <a:cs typeface="Arial"/>
            </a:endParaRPr>
          </a:p>
          <a:p>
            <a:pPr marL="800100" indent="-45085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800735" algn="l"/>
              </a:tabLst>
            </a:pPr>
            <a:r>
              <a:rPr sz="3200" b="1" spc="-5" dirty="0">
                <a:latin typeface="Arial"/>
                <a:cs typeface="Arial"/>
              </a:rPr>
              <a:t>No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bit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corrupted.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or</a:t>
            </a:r>
            <a:endParaRPr sz="3200" dirty="0">
              <a:latin typeface="Arial"/>
              <a:cs typeface="Arial"/>
            </a:endParaRPr>
          </a:p>
          <a:p>
            <a:pPr marL="800100" marR="681990" indent="-45085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823594" algn="l"/>
              </a:tabLst>
            </a:pPr>
            <a:r>
              <a:rPr sz="3200" b="1" spc="-10" dirty="0">
                <a:latin typeface="Arial"/>
                <a:cs typeface="Arial"/>
              </a:rPr>
              <a:t>Some </a:t>
            </a:r>
            <a:r>
              <a:rPr sz="3200" b="1" spc="-5" dirty="0">
                <a:latin typeface="Arial"/>
                <a:cs typeface="Arial"/>
              </a:rPr>
              <a:t>bits are </a:t>
            </a:r>
            <a:r>
              <a:rPr sz="3200" b="1" spc="-10" dirty="0">
                <a:latin typeface="Arial"/>
                <a:cs typeface="Arial"/>
              </a:rPr>
              <a:t>corrupted, </a:t>
            </a:r>
            <a:r>
              <a:rPr sz="3200" b="1" spc="-5" dirty="0">
                <a:latin typeface="Arial"/>
                <a:cs typeface="Arial"/>
              </a:rPr>
              <a:t>but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decoder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failed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detect them.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50</a:t>
            </a:fld>
            <a:endParaRPr spc="-5" dirty="0"/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2DC2F382-2451-F9C2-9D71-38BBE2D99E3A}"/>
              </a:ext>
            </a:extLst>
          </p:cNvPr>
          <p:cNvSpPr txBox="1"/>
          <p:nvPr/>
        </p:nvSpPr>
        <p:spPr>
          <a:xfrm>
            <a:off x="1265567" y="1613914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73685" marR="26987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divisor </a:t>
            </a:r>
            <a:r>
              <a:rPr sz="3200" b="1" spc="-5" dirty="0">
                <a:latin typeface="Arial"/>
                <a:cs typeface="Arial"/>
              </a:rPr>
              <a:t>in a </a:t>
            </a:r>
            <a:r>
              <a:rPr sz="3200" b="1" spc="-10" dirty="0">
                <a:latin typeface="Arial"/>
                <a:cs typeface="Arial"/>
              </a:rPr>
              <a:t>cyclic </a:t>
            </a:r>
            <a:r>
              <a:rPr sz="3200" b="1" spc="-5" dirty="0">
                <a:latin typeface="Arial"/>
                <a:cs typeface="Arial"/>
              </a:rPr>
              <a:t>code is </a:t>
            </a:r>
            <a:r>
              <a:rPr sz="3200" b="1" spc="-10" dirty="0">
                <a:latin typeface="Arial"/>
                <a:cs typeface="Arial"/>
              </a:rPr>
              <a:t>normally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called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generator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polynomial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or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simply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generator.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70139" y="1548220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634365" marR="391160" indent="-236220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cyclic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code,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those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e</a:t>
            </a:r>
            <a:r>
              <a:rPr sz="3200" b="1" spc="-5" dirty="0">
                <a:latin typeface="Arial"/>
                <a:cs typeface="Arial"/>
              </a:rPr>
              <a:t>(x)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errors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that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divisible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by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g</a:t>
            </a:r>
            <a:r>
              <a:rPr sz="3200" b="1" spc="-5" dirty="0">
                <a:latin typeface="Arial"/>
                <a:cs typeface="Arial"/>
              </a:rPr>
              <a:t>(x)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not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caught.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51</a:t>
            </a:fld>
            <a:endParaRPr spc="-5" dirty="0"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9B91988B-1881-B51C-406F-E91B2B622AB0}"/>
              </a:ext>
            </a:extLst>
          </p:cNvPr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06375" marR="20129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If the </a:t>
            </a:r>
            <a:r>
              <a:rPr sz="3200" b="1" spc="-10" dirty="0">
                <a:latin typeface="Arial"/>
                <a:cs typeface="Arial"/>
              </a:rPr>
              <a:t>generator </a:t>
            </a:r>
            <a:r>
              <a:rPr sz="3200" b="1" spc="-5" dirty="0">
                <a:latin typeface="Arial"/>
                <a:cs typeface="Arial"/>
              </a:rPr>
              <a:t>has more than one </a:t>
            </a:r>
            <a:r>
              <a:rPr sz="3200" b="1" spc="-10" dirty="0">
                <a:latin typeface="Arial"/>
                <a:cs typeface="Arial"/>
              </a:rPr>
              <a:t>term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coefficient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5" dirty="0">
                <a:latin typeface="Arial"/>
                <a:cs typeface="Arial"/>
              </a:rPr>
              <a:t>x</a:t>
            </a:r>
            <a:r>
              <a:rPr sz="3150" b="1" spc="7" baseline="25132" dirty="0">
                <a:latin typeface="Arial"/>
                <a:cs typeface="Arial"/>
              </a:rPr>
              <a:t>0</a:t>
            </a:r>
            <a:r>
              <a:rPr sz="3150" b="1" spc="457" baseline="25132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1,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all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single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errors</a:t>
            </a:r>
            <a:r>
              <a:rPr sz="3200" b="1" spc="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caught.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919996"/>
            <a:ext cx="9144000" cy="3430270"/>
          </a:xfrm>
          <a:custGeom>
            <a:avLst/>
            <a:gdLst/>
            <a:ahLst/>
            <a:cxnLst/>
            <a:rect l="l" t="t" r="r" b="b"/>
            <a:pathLst>
              <a:path w="9144000" h="34302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3429762"/>
                </a:lnTo>
                <a:lnTo>
                  <a:pt x="9144000" y="342976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18673" y="1448054"/>
            <a:ext cx="8502015" cy="494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715645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Which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following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g(x)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values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guarantees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single-bit </a:t>
            </a:r>
            <a:r>
              <a:rPr sz="2800" b="1" i="1" dirty="0">
                <a:latin typeface="Times New Roman"/>
                <a:cs typeface="Times New Roman"/>
              </a:rPr>
              <a:t>error is caught? </a:t>
            </a:r>
            <a:r>
              <a:rPr sz="2800" b="1" i="1" spc="-5" dirty="0">
                <a:latin typeface="Times New Roman"/>
                <a:cs typeface="Times New Roman"/>
              </a:rPr>
              <a:t>For each </a:t>
            </a:r>
            <a:r>
              <a:rPr sz="2800" b="1" i="1" dirty="0">
                <a:latin typeface="Times New Roman"/>
                <a:cs typeface="Times New Roman"/>
              </a:rPr>
              <a:t>case, </a:t>
            </a:r>
            <a:r>
              <a:rPr sz="2800" b="1" i="1" spc="-5" dirty="0">
                <a:latin typeface="Times New Roman"/>
                <a:cs typeface="Times New Roman"/>
              </a:rPr>
              <a:t>what </a:t>
            </a:r>
            <a:r>
              <a:rPr sz="2800" b="1" i="1" dirty="0">
                <a:latin typeface="Times New Roman"/>
                <a:cs typeface="Times New Roman"/>
              </a:rPr>
              <a:t>is the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cannot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caught?</a:t>
            </a:r>
            <a:endParaRPr sz="2800">
              <a:latin typeface="Times New Roman"/>
              <a:cs typeface="Times New Roman"/>
            </a:endParaRPr>
          </a:p>
          <a:p>
            <a:pPr marL="76200" algn="just">
              <a:lnSpc>
                <a:spcPct val="100000"/>
              </a:lnSpc>
              <a:tabLst>
                <a:tab pos="3597910" algn="l"/>
              </a:tabLst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sz="2800" b="1" i="1" spc="6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     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775" b="1" baseline="25525" dirty="0">
                <a:latin typeface="Times New Roman"/>
                <a:cs typeface="Times New Roman"/>
              </a:rPr>
              <a:t>3	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sz="2800" b="1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80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431165" marR="43180" indent="-35560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4318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No </a:t>
            </a:r>
            <a:r>
              <a:rPr sz="2800" b="1" i="1" spc="5" dirty="0">
                <a:latin typeface="Times New Roman"/>
                <a:cs typeface="Times New Roman"/>
              </a:rPr>
              <a:t>x</a:t>
            </a:r>
            <a:r>
              <a:rPr sz="2775" b="1" i="1" spc="7" baseline="25525" dirty="0">
                <a:latin typeface="Times New Roman"/>
                <a:cs typeface="Times New Roman"/>
              </a:rPr>
              <a:t>i </a:t>
            </a:r>
            <a:r>
              <a:rPr sz="2800" b="1" i="1" dirty="0">
                <a:latin typeface="Times New Roman"/>
                <a:cs typeface="Times New Roman"/>
              </a:rPr>
              <a:t>can be divisible by x + 1. Any </a:t>
            </a:r>
            <a:r>
              <a:rPr sz="2800" b="1" i="1" spc="-5" dirty="0">
                <a:latin typeface="Times New Roman"/>
                <a:cs typeface="Times New Roman"/>
              </a:rPr>
              <a:t>single-bit </a:t>
            </a:r>
            <a:r>
              <a:rPr sz="2800" b="1" i="1" dirty="0">
                <a:latin typeface="Times New Roman"/>
                <a:cs typeface="Times New Roman"/>
              </a:rPr>
              <a:t>error can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caught.</a:t>
            </a:r>
            <a:endParaRPr sz="2800">
              <a:latin typeface="Times New Roman"/>
              <a:cs typeface="Times New Roman"/>
            </a:endParaRPr>
          </a:p>
          <a:p>
            <a:pPr marL="328930" marR="262255" indent="-253365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4318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equal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greater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20" dirty="0">
                <a:latin typeface="Times New Roman"/>
                <a:cs typeface="Times New Roman"/>
              </a:rPr>
              <a:t>x</a:t>
            </a:r>
            <a:r>
              <a:rPr sz="2775" b="1" i="1" spc="30" baseline="25525" dirty="0">
                <a:latin typeface="Times New Roman"/>
                <a:cs typeface="Times New Roman"/>
              </a:rPr>
              <a:t>i</a:t>
            </a:r>
            <a:r>
              <a:rPr sz="2775" b="1" i="1" spc="-30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divisible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g(x).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single-bit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positions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caught.</a:t>
            </a:r>
            <a:endParaRPr sz="2800">
              <a:latin typeface="Times New Roman"/>
              <a:cs typeface="Times New Roman"/>
            </a:endParaRPr>
          </a:p>
          <a:p>
            <a:pPr marL="431165" marR="401955" indent="-35560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397510" algn="l"/>
                <a:tab pos="433133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All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values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make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775" b="1" i="1" baseline="25525" dirty="0">
                <a:latin typeface="Times New Roman"/>
                <a:cs typeface="Times New Roman"/>
              </a:rPr>
              <a:t>i</a:t>
            </a:r>
            <a:r>
              <a:rPr sz="2775" b="1" i="1" spc="337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divisible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g(x).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 single-bit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 </a:t>
            </a:r>
            <a:r>
              <a:rPr sz="2800" b="1" i="1" spc="-5" dirty="0">
                <a:latin typeface="Times New Roman"/>
                <a:cs typeface="Times New Roman"/>
              </a:rPr>
              <a:t>caught. </a:t>
            </a:r>
            <a:r>
              <a:rPr sz="2800" b="1" i="1" dirty="0">
                <a:latin typeface="Times New Roman"/>
                <a:cs typeface="Times New Roman"/>
              </a:rPr>
              <a:t>This	g(x)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useless.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52</a:t>
            </a:fld>
            <a:endParaRPr spc="-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8648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10.23	</a:t>
            </a:r>
            <a:r>
              <a:rPr sz="2000" i="1" spc="-5" dirty="0">
                <a:latin typeface="Times New Roman"/>
                <a:cs typeface="Times New Roman"/>
              </a:rPr>
              <a:t>Representation of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two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isolated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single-bit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errors using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polynomials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2539" y="1952625"/>
            <a:ext cx="7148321" cy="16832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53</a:t>
            </a:fld>
            <a:endParaRPr spc="-5" dirty="0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2D33CFC4-F043-74AB-AE47-362FF367E59C}"/>
              </a:ext>
            </a:extLst>
          </p:cNvPr>
          <p:cNvSpPr txBox="1"/>
          <p:nvPr/>
        </p:nvSpPr>
        <p:spPr>
          <a:xfrm>
            <a:off x="1308099" y="4080581"/>
            <a:ext cx="8077200" cy="1907539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831850" marR="823594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If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generator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cannot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divide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x</a:t>
            </a:r>
            <a:r>
              <a:rPr sz="3150" b="1" baseline="25132" dirty="0">
                <a:latin typeface="Arial"/>
                <a:cs typeface="Arial"/>
              </a:rPr>
              <a:t>t</a:t>
            </a:r>
            <a:r>
              <a:rPr sz="3150" b="1" spc="434" baseline="25132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+ 1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(t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between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0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–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1),</a:t>
            </a:r>
            <a:endParaRPr sz="3200">
              <a:latin typeface="Arial"/>
              <a:cs typeface="Arial"/>
            </a:endParaRPr>
          </a:p>
          <a:p>
            <a:pPr marL="1143635" marR="113728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then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all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isolated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double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errors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detected.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433575"/>
            <a:ext cx="85280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Find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status</a:t>
            </a:r>
            <a:r>
              <a:rPr sz="2800" b="1" i="1" spc="1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following</a:t>
            </a:r>
            <a:r>
              <a:rPr sz="2800" b="1" i="1" spc="1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generators</a:t>
            </a:r>
            <a:r>
              <a:rPr sz="2800" b="1" i="1" spc="1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related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spc="1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isolated,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single-bit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54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1031373" y="2116632"/>
            <a:ext cx="8013065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43180">
              <a:lnSpc>
                <a:spcPct val="140000"/>
              </a:lnSpc>
              <a:spcBef>
                <a:spcPts val="100"/>
              </a:spcBef>
              <a:tabLst>
                <a:tab pos="1687830" algn="l"/>
                <a:tab pos="3432810" algn="l"/>
                <a:tab pos="5834380" algn="l"/>
              </a:tabLst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 + 1	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b.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775" b="1" i="1" baseline="25525" dirty="0">
                <a:latin typeface="Times New Roman"/>
                <a:cs typeface="Times New Roman"/>
              </a:rPr>
              <a:t>4</a:t>
            </a:r>
            <a:r>
              <a:rPr sz="2775" b="1" i="1" spc="345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	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775" b="1" i="1" baseline="25525" dirty="0">
                <a:latin typeface="Times New Roman"/>
                <a:cs typeface="Times New Roman"/>
              </a:rPr>
              <a:t>7</a:t>
            </a:r>
            <a:r>
              <a:rPr sz="2775" b="1" i="1" spc="352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775" b="1" i="1" baseline="25525" dirty="0">
                <a:latin typeface="Times New Roman"/>
                <a:cs typeface="Times New Roman"/>
              </a:rPr>
              <a:t>6</a:t>
            </a:r>
            <a:r>
              <a:rPr sz="2775" b="1" i="1" spc="352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	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800" b="1" i="1" dirty="0">
                <a:latin typeface="Times New Roman"/>
                <a:cs typeface="Times New Roman"/>
              </a:rPr>
              <a:t>.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x</a:t>
            </a:r>
            <a:r>
              <a:rPr sz="2775" b="1" i="1" spc="7" baseline="25525" dirty="0">
                <a:latin typeface="Times New Roman"/>
                <a:cs typeface="Times New Roman"/>
              </a:rPr>
              <a:t>15</a:t>
            </a:r>
            <a:r>
              <a:rPr sz="2775" b="1" i="1" spc="322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x</a:t>
            </a:r>
            <a:r>
              <a:rPr sz="2775" b="1" i="1" spc="7" baseline="25525" dirty="0">
                <a:latin typeface="Times New Roman"/>
                <a:cs typeface="Times New Roman"/>
              </a:rPr>
              <a:t>14</a:t>
            </a:r>
            <a:r>
              <a:rPr sz="2775" b="1" i="1" spc="322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6757" y="3311128"/>
            <a:ext cx="8151495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371475" indent="-3556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AutoNum type="alphaLcPeriod"/>
              <a:tabLst>
                <a:tab pos="3937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very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poor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choice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15" dirty="0">
                <a:latin typeface="Times New Roman"/>
                <a:cs typeface="Times New Roman"/>
              </a:rPr>
              <a:t>generator.</a:t>
            </a:r>
            <a:r>
              <a:rPr sz="2800" b="1" i="1" spc="-1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two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next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other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cannot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detected.</a:t>
            </a:r>
            <a:endParaRPr sz="2800">
              <a:latin typeface="Times New Roman"/>
              <a:cs typeface="Times New Roman"/>
            </a:endParaRPr>
          </a:p>
          <a:p>
            <a:pPr marL="393700" marR="30480" indent="-39370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3937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generator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cannot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detect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two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four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positions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apart.</a:t>
            </a:r>
            <a:endParaRPr sz="2800">
              <a:latin typeface="Times New Roman"/>
              <a:cs typeface="Times New Roman"/>
            </a:endParaRPr>
          </a:p>
          <a:p>
            <a:pPr marL="372110" indent="-334645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37274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good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choice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purpose.</a:t>
            </a:r>
            <a:endParaRPr sz="2800">
              <a:latin typeface="Times New Roman"/>
              <a:cs typeface="Times New Roman"/>
            </a:endParaRPr>
          </a:p>
          <a:p>
            <a:pPr marL="393700" marR="225425" indent="-39370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3937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polynomial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cannot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divide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775" b="1" i="1" spc="-7" baseline="25525" dirty="0">
                <a:latin typeface="Times New Roman"/>
                <a:cs typeface="Times New Roman"/>
              </a:rPr>
              <a:t>t</a:t>
            </a:r>
            <a:r>
              <a:rPr sz="2775" b="1" i="1" spc="330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less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32,768. A codeword with two isolated errors </a:t>
            </a:r>
            <a:r>
              <a:rPr sz="2800" b="1" i="1" spc="-5" dirty="0">
                <a:latin typeface="Times New Roman"/>
                <a:cs typeface="Times New Roman"/>
              </a:rPr>
              <a:t>up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32,768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apart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detected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by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0" dirty="0">
                <a:latin typeface="Times New Roman"/>
                <a:cs typeface="Times New Roman"/>
              </a:rPr>
              <a:t> generator.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20273" y="1038225"/>
            <a:ext cx="8077200" cy="89704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51815" marR="545465" algn="ctr">
              <a:lnSpc>
                <a:spcPct val="100000"/>
              </a:lnSpc>
              <a:spcBef>
                <a:spcPts val="275"/>
              </a:spcBef>
            </a:pPr>
            <a:r>
              <a:rPr sz="2800" b="1" spc="-5" dirty="0">
                <a:latin typeface="Arial"/>
                <a:cs typeface="Arial"/>
              </a:rPr>
              <a:t>A </a:t>
            </a:r>
            <a:r>
              <a:rPr sz="2800" b="1" spc="-10" dirty="0">
                <a:latin typeface="Arial"/>
                <a:cs typeface="Arial"/>
              </a:rPr>
              <a:t>generator </a:t>
            </a:r>
            <a:r>
              <a:rPr sz="2800" b="1" spc="-5" dirty="0">
                <a:latin typeface="Arial"/>
                <a:cs typeface="Arial"/>
              </a:rPr>
              <a:t>that </a:t>
            </a:r>
            <a:r>
              <a:rPr sz="2800" b="1" spc="-10" dirty="0">
                <a:latin typeface="Arial"/>
                <a:cs typeface="Arial"/>
              </a:rPr>
              <a:t>contains </a:t>
            </a:r>
            <a:r>
              <a:rPr sz="2800" b="1" spc="-5" dirty="0">
                <a:latin typeface="Arial"/>
                <a:cs typeface="Arial"/>
              </a:rPr>
              <a:t>a </a:t>
            </a:r>
            <a:r>
              <a:rPr sz="2800" b="1" spc="-10" dirty="0">
                <a:latin typeface="Arial"/>
                <a:cs typeface="Arial"/>
              </a:rPr>
              <a:t>factor of </a:t>
            </a:r>
            <a:r>
              <a:rPr sz="2800" b="1" spc="-87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x </a:t>
            </a:r>
            <a:r>
              <a:rPr sz="2800" b="1" spc="-5" dirty="0">
                <a:latin typeface="Arial"/>
                <a:cs typeface="Arial"/>
              </a:rPr>
              <a:t>+ 1 can detect all odd-numbered 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errors.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55</a:t>
            </a:fld>
            <a:endParaRPr spc="-5" dirty="0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F0BBE453-151F-677F-DA93-C4A1A5D68CAB}"/>
              </a:ext>
            </a:extLst>
          </p:cNvPr>
          <p:cNvSpPr txBox="1"/>
          <p:nvPr/>
        </p:nvSpPr>
        <p:spPr>
          <a:xfrm>
            <a:off x="1410785" y="2307590"/>
            <a:ext cx="7496175" cy="29476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613410" marR="746125" indent="-563245">
              <a:lnSpc>
                <a:spcPts val="3810"/>
              </a:lnSpc>
              <a:spcBef>
                <a:spcPts val="250"/>
              </a:spcBef>
            </a:pPr>
            <a:r>
              <a:rPr sz="3200" spc="-5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3200" spc="-7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3200" b="1" spc="-10" dirty="0">
                <a:latin typeface="Arial"/>
                <a:cs typeface="Arial"/>
              </a:rPr>
              <a:t>Al</a:t>
            </a:r>
            <a:r>
              <a:rPr sz="3200" b="1" spc="-5" dirty="0">
                <a:latin typeface="Arial"/>
                <a:cs typeface="Arial"/>
              </a:rPr>
              <a:t>l </a:t>
            </a:r>
            <a:r>
              <a:rPr sz="3200" b="1" spc="-10" dirty="0">
                <a:latin typeface="Arial"/>
                <a:cs typeface="Arial"/>
              </a:rPr>
              <a:t>burs</a:t>
            </a:r>
            <a:r>
              <a:rPr sz="3200" b="1" spc="-5" dirty="0">
                <a:latin typeface="Arial"/>
                <a:cs typeface="Arial"/>
              </a:rPr>
              <a:t>t </a:t>
            </a:r>
            <a:r>
              <a:rPr sz="3200" b="1" spc="-10" dirty="0">
                <a:latin typeface="Arial"/>
                <a:cs typeface="Arial"/>
              </a:rPr>
              <a:t>error</a:t>
            </a:r>
            <a:r>
              <a:rPr sz="3200" b="1" spc="-5" dirty="0">
                <a:latin typeface="Arial"/>
                <a:cs typeface="Arial"/>
              </a:rPr>
              <a:t>s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wit</a:t>
            </a:r>
            <a:r>
              <a:rPr sz="3200" b="1" spc="-5" dirty="0">
                <a:latin typeface="Arial"/>
                <a:cs typeface="Arial"/>
              </a:rPr>
              <a:t>h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L</a:t>
            </a:r>
            <a:r>
              <a:rPr sz="3200" b="1" i="1" spc="-65" dirty="0">
                <a:latin typeface="Arial"/>
                <a:cs typeface="Arial"/>
              </a:rPr>
              <a:t> </a:t>
            </a:r>
            <a:r>
              <a:rPr sz="3200" spc="-5" dirty="0">
                <a:latin typeface="Arial MT"/>
                <a:cs typeface="Arial MT"/>
              </a:rPr>
              <a:t>≤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will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  </a:t>
            </a:r>
            <a:r>
              <a:rPr sz="3200" b="1" spc="-10" dirty="0">
                <a:latin typeface="Arial"/>
                <a:cs typeface="Arial"/>
              </a:rPr>
              <a:t>detected.</a:t>
            </a:r>
            <a:endParaRPr sz="3200" dirty="0">
              <a:latin typeface="Arial"/>
              <a:cs typeface="Arial"/>
            </a:endParaRPr>
          </a:p>
          <a:p>
            <a:pPr marL="501015" marR="43180" indent="-450850">
              <a:lnSpc>
                <a:spcPts val="3810"/>
              </a:lnSpc>
              <a:spcBef>
                <a:spcPts val="60"/>
              </a:spcBef>
            </a:pPr>
            <a:r>
              <a:rPr sz="3200" spc="-5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3200" spc="-7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3200" b="1" spc="-10" dirty="0">
                <a:latin typeface="Arial"/>
                <a:cs typeface="Arial"/>
              </a:rPr>
              <a:t>Al</a:t>
            </a:r>
            <a:r>
              <a:rPr sz="3200" b="1" spc="-5" dirty="0">
                <a:latin typeface="Arial"/>
                <a:cs typeface="Arial"/>
              </a:rPr>
              <a:t>l </a:t>
            </a:r>
            <a:r>
              <a:rPr sz="3200" b="1" spc="-10" dirty="0">
                <a:latin typeface="Arial"/>
                <a:cs typeface="Arial"/>
              </a:rPr>
              <a:t>burs</a:t>
            </a:r>
            <a:r>
              <a:rPr sz="3200" b="1" spc="-5" dirty="0">
                <a:latin typeface="Arial"/>
                <a:cs typeface="Arial"/>
              </a:rPr>
              <a:t>t </a:t>
            </a:r>
            <a:r>
              <a:rPr sz="3200" b="1" spc="-10" dirty="0">
                <a:latin typeface="Arial"/>
                <a:cs typeface="Arial"/>
              </a:rPr>
              <a:t>error</a:t>
            </a:r>
            <a:r>
              <a:rPr sz="3200" b="1" spc="-5" dirty="0">
                <a:latin typeface="Arial"/>
                <a:cs typeface="Arial"/>
              </a:rPr>
              <a:t>s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wit</a:t>
            </a:r>
            <a:r>
              <a:rPr sz="3200" b="1" spc="-5" dirty="0">
                <a:latin typeface="Arial"/>
                <a:cs typeface="Arial"/>
              </a:rPr>
              <a:t>h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L</a:t>
            </a:r>
            <a:r>
              <a:rPr sz="3200" b="1" i="1" spc="-6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r</a:t>
            </a:r>
            <a:r>
              <a:rPr sz="3200" b="1" i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+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1 will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  detected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probability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1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–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(1/2)</a:t>
            </a:r>
            <a:r>
              <a:rPr sz="3150" b="1" i="1" spc="-7" baseline="25132" dirty="0">
                <a:latin typeface="Arial"/>
                <a:cs typeface="Arial"/>
              </a:rPr>
              <a:t>r</a:t>
            </a:r>
            <a:r>
              <a:rPr sz="3150" b="1" spc="-7" baseline="25132" dirty="0">
                <a:latin typeface="Arial"/>
                <a:cs typeface="Arial"/>
              </a:rPr>
              <a:t>–1</a:t>
            </a:r>
            <a:r>
              <a:rPr sz="3200" b="1" spc="-5" dirty="0">
                <a:latin typeface="Arial"/>
                <a:cs typeface="Arial"/>
              </a:rPr>
              <a:t>.</a:t>
            </a:r>
            <a:endParaRPr sz="3200" dirty="0">
              <a:latin typeface="Arial"/>
              <a:cs typeface="Arial"/>
            </a:endParaRPr>
          </a:p>
          <a:p>
            <a:pPr marL="613410" marR="43180" indent="-563245">
              <a:lnSpc>
                <a:spcPts val="3810"/>
              </a:lnSpc>
              <a:spcBef>
                <a:spcPts val="35"/>
              </a:spcBef>
            </a:pPr>
            <a:r>
              <a:rPr sz="3200" spc="-5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3200" spc="-7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3200" b="1" spc="-10" dirty="0">
                <a:latin typeface="Arial"/>
                <a:cs typeface="Arial"/>
              </a:rPr>
              <a:t>Al</a:t>
            </a:r>
            <a:r>
              <a:rPr sz="3200" b="1" spc="-5" dirty="0">
                <a:latin typeface="Arial"/>
                <a:cs typeface="Arial"/>
              </a:rPr>
              <a:t>l bur</a:t>
            </a:r>
            <a:r>
              <a:rPr sz="3200" b="1" spc="-10" dirty="0">
                <a:latin typeface="Arial"/>
                <a:cs typeface="Arial"/>
              </a:rPr>
              <a:t>s</a:t>
            </a:r>
            <a:r>
              <a:rPr sz="3200" b="1" spc="-5" dirty="0">
                <a:latin typeface="Arial"/>
                <a:cs typeface="Arial"/>
              </a:rPr>
              <a:t>t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error</a:t>
            </a:r>
            <a:r>
              <a:rPr sz="3200" b="1" spc="-5" dirty="0">
                <a:latin typeface="Arial"/>
                <a:cs typeface="Arial"/>
              </a:rPr>
              <a:t>s</a:t>
            </a:r>
            <a:r>
              <a:rPr sz="3200" b="1" dirty="0">
                <a:latin typeface="Arial"/>
                <a:cs typeface="Arial"/>
              </a:rPr>
              <a:t> w</a:t>
            </a:r>
            <a:r>
              <a:rPr sz="3200" b="1" spc="-10" dirty="0">
                <a:latin typeface="Arial"/>
                <a:cs typeface="Arial"/>
              </a:rPr>
              <a:t>it</a:t>
            </a:r>
            <a:r>
              <a:rPr sz="3200" b="1" spc="-5" dirty="0">
                <a:latin typeface="Arial"/>
                <a:cs typeface="Arial"/>
              </a:rPr>
              <a:t>h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L</a:t>
            </a:r>
            <a:r>
              <a:rPr sz="3200" b="1" i="1" spc="-6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&gt;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r</a:t>
            </a:r>
            <a:r>
              <a:rPr sz="3200" b="1" i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+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1 w</a:t>
            </a:r>
            <a:r>
              <a:rPr sz="3200" b="1" spc="-10" dirty="0">
                <a:latin typeface="Arial"/>
                <a:cs typeface="Arial"/>
              </a:rPr>
              <a:t>il</a:t>
            </a:r>
            <a:r>
              <a:rPr sz="3200" b="1" spc="-5" dirty="0">
                <a:latin typeface="Arial"/>
                <a:cs typeface="Arial"/>
              </a:rPr>
              <a:t>l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  detected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probability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1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–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(1/2)</a:t>
            </a:r>
            <a:r>
              <a:rPr sz="3150" b="1" i="1" spc="-15" baseline="25132" dirty="0">
                <a:latin typeface="Arial"/>
                <a:cs typeface="Arial"/>
              </a:rPr>
              <a:t>r</a:t>
            </a:r>
            <a:r>
              <a:rPr sz="3200" b="1" spc="-10" dirty="0">
                <a:latin typeface="Arial"/>
                <a:cs typeface="Arial"/>
              </a:rPr>
              <a:t>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3777246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3273" y="1512824"/>
            <a:ext cx="8615680" cy="4123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5588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suitability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following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generators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relation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burst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different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lengths.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tabLst>
                <a:tab pos="2112010" algn="l"/>
                <a:tab pos="5390515" algn="l"/>
              </a:tabLst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775" b="1" i="1" baseline="25525" dirty="0">
                <a:latin typeface="Times New Roman"/>
                <a:cs typeface="Times New Roman"/>
              </a:rPr>
              <a:t>6</a:t>
            </a:r>
            <a:r>
              <a:rPr sz="2775" b="1" i="1" spc="352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+ 1	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x</a:t>
            </a:r>
            <a:r>
              <a:rPr sz="2775" b="1" i="1" spc="7" baseline="25525" dirty="0">
                <a:latin typeface="Times New Roman"/>
                <a:cs typeface="Times New Roman"/>
              </a:rPr>
              <a:t>18</a:t>
            </a:r>
            <a:r>
              <a:rPr sz="2775" b="1" i="1" spc="367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x</a:t>
            </a:r>
            <a:r>
              <a:rPr sz="2775" b="1" i="1" baseline="25525" dirty="0">
                <a:latin typeface="Times New Roman"/>
                <a:cs typeface="Times New Roman"/>
              </a:rPr>
              <a:t>7</a:t>
            </a:r>
            <a:r>
              <a:rPr sz="2775" b="1" i="1" spc="352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x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+ 1	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sz="28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x</a:t>
            </a:r>
            <a:r>
              <a:rPr sz="2775" b="1" i="1" spc="7" baseline="25525" dirty="0">
                <a:latin typeface="Times New Roman"/>
                <a:cs typeface="Times New Roman"/>
              </a:rPr>
              <a:t>32</a:t>
            </a:r>
            <a:r>
              <a:rPr sz="2775" b="1" i="1" spc="352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x</a:t>
            </a:r>
            <a:r>
              <a:rPr sz="2775" b="1" i="1" spc="7" baseline="25525" dirty="0">
                <a:latin typeface="Times New Roman"/>
                <a:cs typeface="Times New Roman"/>
              </a:rPr>
              <a:t>23</a:t>
            </a:r>
            <a:r>
              <a:rPr sz="2775" b="1" i="1" spc="352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775" b="1" i="1" baseline="25525" dirty="0">
                <a:latin typeface="Times New Roman"/>
                <a:cs typeface="Times New Roman"/>
              </a:rPr>
              <a:t>7</a:t>
            </a:r>
            <a:r>
              <a:rPr sz="2775" b="1" i="1" spc="337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82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456565" marR="73660" indent="-3556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 </a:t>
            </a:r>
            <a:r>
              <a:rPr sz="2800" b="1" i="1" dirty="0">
                <a:latin typeface="Times New Roman"/>
                <a:cs typeface="Times New Roman"/>
              </a:rPr>
              <a:t>This generator can detect all burst errors with a length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less than or equal to 6 bits; 3 out of 100 burst errors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length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7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will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slip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by;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16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burst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length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8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more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will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slip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by.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56</a:t>
            </a:fld>
            <a:endParaRPr spc="-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5739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10.17</a:t>
            </a:r>
            <a:r>
              <a:rPr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45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44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2173" y="1665224"/>
            <a:ext cx="8386445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5080" indent="-3556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28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generator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detect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all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burst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length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less than or equal to 18 bits; 8 out of 1 million burst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 </a:t>
            </a:r>
            <a:r>
              <a:rPr sz="2800" b="1" i="1" spc="-5" dirty="0">
                <a:latin typeface="Times New Roman"/>
                <a:cs typeface="Times New Roman"/>
              </a:rPr>
              <a:t>with length </a:t>
            </a:r>
            <a:r>
              <a:rPr sz="2800" b="1" i="1" dirty="0">
                <a:latin typeface="Times New Roman"/>
                <a:cs typeface="Times New Roman"/>
              </a:rPr>
              <a:t>19 will </a:t>
            </a:r>
            <a:r>
              <a:rPr sz="2800" b="1" i="1" spc="-5" dirty="0">
                <a:latin typeface="Times New Roman"/>
                <a:cs typeface="Times New Roman"/>
              </a:rPr>
              <a:t>slip by; </a:t>
            </a:r>
            <a:r>
              <a:rPr sz="2800" b="1" i="1" dirty="0">
                <a:latin typeface="Times New Roman"/>
                <a:cs typeface="Times New Roman"/>
              </a:rPr>
              <a:t>4 out of 1 million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burst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length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more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will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slip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by.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367665" marR="25400" indent="-355600">
              <a:lnSpc>
                <a:spcPct val="100000"/>
              </a:lnSpc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sz="28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generator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detect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all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burst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length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less than or equal to 32 bits; 5 out of 10 billion burst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 with length 33 will slip by; 3 out of 10 billion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burst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length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34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more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will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slip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by.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57</a:t>
            </a:fld>
            <a:endParaRPr spc="-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8239" y="1568196"/>
            <a:ext cx="1143000" cy="4952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20323" y="1589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215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74839" y="2346198"/>
            <a:ext cx="9144000" cy="3991610"/>
            <a:chOff x="774839" y="2346198"/>
            <a:chExt cx="9144000" cy="3991610"/>
          </a:xfrm>
        </p:grpSpPr>
        <p:sp>
          <p:nvSpPr>
            <p:cNvPr id="11" name="object 11"/>
            <p:cNvSpPr/>
            <p:nvPr/>
          </p:nvSpPr>
          <p:spPr>
            <a:xfrm>
              <a:off x="1270139" y="2346210"/>
              <a:ext cx="8077200" cy="1431925"/>
            </a:xfrm>
            <a:custGeom>
              <a:avLst/>
              <a:gdLst/>
              <a:ahLst/>
              <a:cxnLst/>
              <a:rect l="l" t="t" r="r" b="b"/>
              <a:pathLst>
                <a:path w="8077200" h="1431925">
                  <a:moveTo>
                    <a:pt x="8077200" y="0"/>
                  </a:moveTo>
                  <a:lnTo>
                    <a:pt x="0" y="0"/>
                  </a:lnTo>
                  <a:lnTo>
                    <a:pt x="0" y="573786"/>
                  </a:lnTo>
                  <a:lnTo>
                    <a:pt x="0" y="574548"/>
                  </a:lnTo>
                  <a:lnTo>
                    <a:pt x="0" y="1431798"/>
                  </a:lnTo>
                  <a:lnTo>
                    <a:pt x="8077200" y="1431798"/>
                  </a:lnTo>
                  <a:lnTo>
                    <a:pt x="8077200" y="574548"/>
                  </a:lnTo>
                  <a:lnTo>
                    <a:pt x="8077200" y="573786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0139" y="3777234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4839" y="46344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4634496"/>
              <a:ext cx="8077200" cy="1703070"/>
            </a:xfrm>
            <a:custGeom>
              <a:avLst/>
              <a:gdLst/>
              <a:ahLst/>
              <a:cxnLst/>
              <a:rect l="l" t="t" r="r" b="b"/>
              <a:pathLst>
                <a:path w="8077200" h="170307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03070"/>
                  </a:lnTo>
                  <a:lnTo>
                    <a:pt x="8077200" y="1703070"/>
                  </a:lnTo>
                  <a:lnTo>
                    <a:pt x="8077200" y="858012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23459" y="2368550"/>
            <a:ext cx="7529830" cy="392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8001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good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polynomial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generator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needs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to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have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following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characteristics:</a:t>
            </a:r>
            <a:endParaRPr sz="3200">
              <a:latin typeface="Arial"/>
              <a:cs typeface="Arial"/>
            </a:endParaRPr>
          </a:p>
          <a:p>
            <a:pPr marL="488315" indent="-45085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88950" algn="l"/>
              </a:tabLst>
            </a:pPr>
            <a:r>
              <a:rPr sz="3200" b="1" spc="-5" dirty="0">
                <a:latin typeface="Arial"/>
                <a:cs typeface="Arial"/>
              </a:rPr>
              <a:t>It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should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have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least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two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terms.</a:t>
            </a:r>
            <a:endParaRPr sz="3200">
              <a:latin typeface="Arial"/>
              <a:cs typeface="Arial"/>
            </a:endParaRPr>
          </a:p>
          <a:p>
            <a:pPr marL="488315" marR="30480" indent="-45085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88950" algn="l"/>
              </a:tabLst>
            </a:pP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coefficient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term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10" dirty="0">
                <a:latin typeface="Arial"/>
                <a:cs typeface="Arial"/>
              </a:rPr>
              <a:t>x</a:t>
            </a:r>
            <a:r>
              <a:rPr sz="3150" b="1" spc="15" baseline="25132" dirty="0">
                <a:latin typeface="Arial"/>
                <a:cs typeface="Arial"/>
              </a:rPr>
              <a:t>0</a:t>
            </a:r>
            <a:r>
              <a:rPr sz="3150" b="1" spc="442" baseline="25132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should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1.</a:t>
            </a:r>
            <a:endParaRPr sz="3200">
              <a:latin typeface="Arial"/>
              <a:cs typeface="Arial"/>
            </a:endParaRPr>
          </a:p>
          <a:p>
            <a:pPr marL="488315" indent="-45085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88950" algn="l"/>
              </a:tabLst>
            </a:pPr>
            <a:r>
              <a:rPr sz="3200" b="1" spc="-5" dirty="0">
                <a:latin typeface="Arial"/>
                <a:cs typeface="Arial"/>
              </a:rPr>
              <a:t>It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should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not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divide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x</a:t>
            </a:r>
            <a:r>
              <a:rPr sz="3150" b="1" i="1" baseline="25132" dirty="0">
                <a:latin typeface="Arial"/>
                <a:cs typeface="Arial"/>
              </a:rPr>
              <a:t>t</a:t>
            </a:r>
            <a:r>
              <a:rPr sz="3150" b="1" i="1" spc="442" baseline="25132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+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1,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for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t</a:t>
            </a:r>
            <a:endParaRPr sz="3200">
              <a:latin typeface="Arial"/>
              <a:cs typeface="Arial"/>
            </a:endParaRPr>
          </a:p>
          <a:p>
            <a:pPr marL="488315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between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2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n</a:t>
            </a:r>
            <a:r>
              <a:rPr sz="3200" b="1" i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− 1.</a:t>
            </a:r>
            <a:endParaRPr sz="3200">
              <a:latin typeface="Arial"/>
              <a:cs typeface="Arial"/>
            </a:endParaRPr>
          </a:p>
          <a:p>
            <a:pPr marL="488315" indent="-450850">
              <a:lnSpc>
                <a:spcPct val="100000"/>
              </a:lnSpc>
              <a:buClr>
                <a:srgbClr val="FF0000"/>
              </a:buClr>
              <a:buAutoNum type="arabicPeriod" startAt="4"/>
              <a:tabLst>
                <a:tab pos="488950" algn="l"/>
              </a:tabLst>
            </a:pPr>
            <a:r>
              <a:rPr sz="3200" b="1" spc="-5" dirty="0">
                <a:latin typeface="Arial"/>
                <a:cs typeface="Arial"/>
              </a:rPr>
              <a:t>It</a:t>
            </a:r>
            <a:r>
              <a:rPr sz="3200" b="1" spc="-10" dirty="0">
                <a:latin typeface="Arial"/>
                <a:cs typeface="Arial"/>
              </a:rPr>
              <a:t> should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have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factor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x</a:t>
            </a:r>
            <a:r>
              <a:rPr sz="3200" b="1" i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+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1.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8239" y="2063495"/>
            <a:ext cx="1143000" cy="71628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234325" y="64068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58</a:t>
            </a:fld>
            <a:endParaRPr spc="-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973" y="1666747"/>
            <a:ext cx="3794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10.7	</a:t>
            </a:r>
            <a:r>
              <a:rPr sz="2000" i="1" spc="-5" dirty="0">
                <a:latin typeface="Times New Roman"/>
                <a:cs typeface="Times New Roman"/>
              </a:rPr>
              <a:t>Standard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polynomials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801" y="2052827"/>
            <a:ext cx="8990838" cy="279196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59</a:t>
            </a:fld>
            <a:endParaRPr spc="-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62710" algn="l"/>
              </a:tabLst>
            </a:pPr>
            <a:r>
              <a:rPr spc="-5" dirty="0"/>
              <a:t>10-5	CHECKSUM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5970" y="1894586"/>
            <a:ext cx="8071484" cy="427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last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error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detection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method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discuss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here</a:t>
            </a:r>
            <a:r>
              <a:rPr sz="2800" b="1" i="1" dirty="0">
                <a:latin typeface="Times New Roman"/>
                <a:cs typeface="Times New Roman"/>
              </a:rPr>
              <a:t> is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called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used</a:t>
            </a:r>
            <a:r>
              <a:rPr sz="2800" b="1" i="1" dirty="0">
                <a:latin typeface="Times New Roman"/>
                <a:cs typeface="Times New Roman"/>
              </a:rPr>
              <a:t> in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Internet by several protocols although </a:t>
            </a:r>
            <a:r>
              <a:rPr sz="2800" b="1" i="1" dirty="0">
                <a:latin typeface="Times New Roman"/>
                <a:cs typeface="Times New Roman"/>
              </a:rPr>
              <a:t>not </a:t>
            </a:r>
            <a:r>
              <a:rPr sz="2800" b="1" i="1" spc="-5" dirty="0">
                <a:latin typeface="Times New Roman"/>
                <a:cs typeface="Times New Roman"/>
              </a:rPr>
              <a:t>at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data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link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layer.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However,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briefly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discuss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here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complete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our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discussion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error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checking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Idea</a:t>
            </a:r>
            <a:endParaRPr sz="2400">
              <a:latin typeface="Times New Roman"/>
              <a:cs typeface="Times New Roman"/>
            </a:endParaRPr>
          </a:p>
          <a:p>
            <a:pPr marL="12700" marR="5537835">
              <a:lnSpc>
                <a:spcPct val="100000"/>
              </a:lnSpc>
            </a:pP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One’s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Complement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Internet</a:t>
            </a:r>
            <a:r>
              <a:rPr sz="24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Checksum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60</a:t>
            </a:fld>
            <a:endParaRPr spc="-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2" y="1512824"/>
            <a:ext cx="852932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Suppose our data 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list of five 4-bit numbers that we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want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send to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destination. In addition to sending these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numbers,</a:t>
            </a:r>
            <a:r>
              <a:rPr sz="2800" b="1" i="1" spc="1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1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</a:t>
            </a:r>
            <a:r>
              <a:rPr sz="2800" b="1" i="1" spc="1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sum</a:t>
            </a:r>
            <a:r>
              <a:rPr sz="2800" b="1" i="1" spc="1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1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numbers.</a:t>
            </a:r>
            <a:r>
              <a:rPr sz="2800" b="1" i="1" spc="1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1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example,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if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set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numbers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(7,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spc="-55" dirty="0">
                <a:latin typeface="Times New Roman"/>
                <a:cs typeface="Times New Roman"/>
              </a:rPr>
              <a:t>11,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12,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0,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6),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(7,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spc="-55" dirty="0">
                <a:latin typeface="Times New Roman"/>
                <a:cs typeface="Times New Roman"/>
              </a:rPr>
              <a:t>11,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12,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0,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6,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36</a:t>
            </a:r>
            <a:r>
              <a:rPr sz="2800" b="1" i="1" spc="-5" dirty="0">
                <a:latin typeface="Times New Roman"/>
                <a:cs typeface="Times New Roman"/>
              </a:rPr>
              <a:t>),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where</a:t>
            </a:r>
            <a:r>
              <a:rPr sz="2800" b="1" i="1" spc="4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36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sum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original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numbers.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receiver</a:t>
            </a:r>
            <a:r>
              <a:rPr sz="2800" b="1" i="1" spc="-5" dirty="0">
                <a:latin typeface="Times New Roman"/>
                <a:cs typeface="Times New Roman"/>
              </a:rPr>
              <a:t> adds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five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numbers</a:t>
            </a:r>
            <a:r>
              <a:rPr sz="2800" b="1" i="1" dirty="0">
                <a:latin typeface="Times New Roman"/>
                <a:cs typeface="Times New Roman"/>
              </a:rPr>
              <a:t> and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compares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result with the sum.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b="1" i="1" spc="-5" dirty="0">
                <a:latin typeface="Times New Roman"/>
                <a:cs typeface="Times New Roman"/>
              </a:rPr>
              <a:t>the two are the same, the receiver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assumes </a:t>
            </a:r>
            <a:r>
              <a:rPr sz="2800" b="1" i="1" dirty="0">
                <a:latin typeface="Times New Roman"/>
                <a:cs typeface="Times New Roman"/>
              </a:rPr>
              <a:t>no </a:t>
            </a:r>
            <a:r>
              <a:rPr sz="2800" b="1" i="1" spc="-30" dirty="0">
                <a:latin typeface="Times New Roman"/>
                <a:cs typeface="Times New Roman"/>
              </a:rPr>
              <a:t>error, </a:t>
            </a:r>
            <a:r>
              <a:rPr sz="2800" b="1" i="1" spc="-5" dirty="0">
                <a:latin typeface="Times New Roman"/>
                <a:cs typeface="Times New Roman"/>
              </a:rPr>
              <a:t>accepts the five numbers, and discards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sum. Otherwise, there is an error somewhere and the </a:t>
            </a:r>
            <a:r>
              <a:rPr sz="2800" b="1" i="1" dirty="0">
                <a:latin typeface="Times New Roman"/>
                <a:cs typeface="Times New Roman"/>
              </a:rPr>
              <a:t> data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not</a:t>
            </a:r>
            <a:r>
              <a:rPr sz="2800" b="1" i="1" spc="-5" dirty="0">
                <a:latin typeface="Times New Roman"/>
                <a:cs typeface="Times New Roman"/>
              </a:rPr>
              <a:t> accepted.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61</a:t>
            </a:fld>
            <a:endParaRPr spc="-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10.19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96284" y="918201"/>
            <a:ext cx="852932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can make the job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the receiver easier if we send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negative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(complement)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3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sum,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called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checksum</a:t>
            </a:r>
            <a:r>
              <a:rPr sz="2800" b="1" i="1" spc="-5" dirty="0">
                <a:latin typeface="Times New Roman"/>
                <a:cs typeface="Times New Roman"/>
              </a:rPr>
              <a:t>.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case,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(7,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5" dirty="0">
                <a:latin typeface="Times New Roman"/>
                <a:cs typeface="Times New Roman"/>
              </a:rPr>
              <a:t>11,</a:t>
            </a:r>
            <a:r>
              <a:rPr sz="2800" b="1" i="1" spc="3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12,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0,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6,</a:t>
            </a:r>
            <a:r>
              <a:rPr sz="2800" b="1" i="1" spc="3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−36</a:t>
            </a:r>
            <a:r>
              <a:rPr sz="2800" b="1" i="1" spc="-5" dirty="0">
                <a:latin typeface="Times New Roman"/>
                <a:cs typeface="Times New Roman"/>
              </a:rPr>
              <a:t>).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62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1113111" y="2596008"/>
            <a:ext cx="169481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checksum).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5311" y="2169288"/>
            <a:ext cx="85280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064" marR="5080" indent="-1905000">
              <a:lnSpc>
                <a:spcPct val="100000"/>
              </a:lnSpc>
              <a:spcBef>
                <a:spcPts val="100"/>
              </a:spcBef>
              <a:tabLst>
                <a:tab pos="852805" algn="l"/>
                <a:tab pos="1692275" algn="l"/>
                <a:tab pos="2373630" algn="l"/>
                <a:tab pos="2411095" algn="l"/>
                <a:tab pos="3100705" algn="l"/>
                <a:tab pos="3134995" algn="l"/>
                <a:tab pos="4165600" algn="l"/>
                <a:tab pos="4723765" algn="l"/>
                <a:tab pos="6231890" algn="l"/>
                <a:tab pos="806005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can	</a:t>
            </a:r>
            <a:r>
              <a:rPr sz="2800" b="1" i="1" spc="-5" dirty="0">
                <a:latin typeface="Times New Roman"/>
                <a:cs typeface="Times New Roman"/>
              </a:rPr>
              <a:t>ad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al</a:t>
            </a:r>
            <a:r>
              <a:rPr sz="2800" b="1" i="1" dirty="0">
                <a:latin typeface="Times New Roman"/>
                <a:cs typeface="Times New Roman"/>
              </a:rPr>
              <a:t>l	t</a:t>
            </a:r>
            <a:r>
              <a:rPr sz="2800" b="1" i="1" spc="-5" dirty="0">
                <a:latin typeface="Times New Roman"/>
                <a:cs typeface="Times New Roman"/>
              </a:rPr>
              <a:t>h</a:t>
            </a:r>
            <a:r>
              <a:rPr sz="2800" b="1" i="1" dirty="0">
                <a:latin typeface="Times New Roman"/>
                <a:cs typeface="Times New Roman"/>
              </a:rPr>
              <a:t>e		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u</a:t>
            </a:r>
            <a:r>
              <a:rPr sz="2800" b="1" i="1" spc="-5" dirty="0">
                <a:latin typeface="Times New Roman"/>
                <a:cs typeface="Times New Roman"/>
              </a:rPr>
              <a:t>mb</a:t>
            </a:r>
            <a:r>
              <a:rPr sz="2800" b="1" i="1" spc="-10" dirty="0">
                <a:latin typeface="Times New Roman"/>
                <a:cs typeface="Times New Roman"/>
              </a:rPr>
              <a:t>er</a:t>
            </a:r>
            <a:r>
              <a:rPr sz="2800" b="1" i="1" dirty="0">
                <a:latin typeface="Times New Roman"/>
                <a:cs typeface="Times New Roman"/>
              </a:rPr>
              <a:t>s	r</a:t>
            </a:r>
            <a:r>
              <a:rPr sz="2800" b="1" i="1" spc="-10" dirty="0">
                <a:latin typeface="Times New Roman"/>
                <a:cs typeface="Times New Roman"/>
              </a:rPr>
              <a:t>ece</a:t>
            </a:r>
            <a:r>
              <a:rPr sz="2800" b="1" i="1" spc="-5" dirty="0">
                <a:latin typeface="Times New Roman"/>
                <a:cs typeface="Times New Roman"/>
              </a:rPr>
              <a:t>iv</a:t>
            </a:r>
            <a:r>
              <a:rPr sz="2800" b="1" i="1" spc="-10" dirty="0">
                <a:latin typeface="Times New Roman"/>
                <a:cs typeface="Times New Roman"/>
              </a:rPr>
              <a:t>e</a:t>
            </a:r>
            <a:r>
              <a:rPr sz="2800" b="1" i="1" dirty="0">
                <a:latin typeface="Times New Roman"/>
                <a:cs typeface="Times New Roman"/>
              </a:rPr>
              <a:t>d	(i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10" dirty="0">
                <a:latin typeface="Times New Roman"/>
                <a:cs typeface="Times New Roman"/>
              </a:rPr>
              <a:t>c</a:t>
            </a:r>
            <a:r>
              <a:rPr sz="2800" b="1" i="1" dirty="0">
                <a:latin typeface="Times New Roman"/>
                <a:cs typeface="Times New Roman"/>
              </a:rPr>
              <a:t>lu</a:t>
            </a:r>
            <a:r>
              <a:rPr sz="2800" b="1" i="1" spc="-5" dirty="0">
                <a:latin typeface="Times New Roman"/>
                <a:cs typeface="Times New Roman"/>
              </a:rPr>
              <a:t>di</a:t>
            </a:r>
            <a:r>
              <a:rPr sz="2800" b="1" i="1" dirty="0">
                <a:latin typeface="Times New Roman"/>
                <a:cs typeface="Times New Roman"/>
              </a:rPr>
              <a:t>ng	the  If		</a:t>
            </a:r>
            <a:r>
              <a:rPr sz="2800" b="1" i="1" spc="-5" dirty="0">
                <a:latin typeface="Times New Roman"/>
                <a:cs typeface="Times New Roman"/>
              </a:rPr>
              <a:t>the	result	is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1286" y="2596008"/>
            <a:ext cx="3902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948055" algn="l"/>
                <a:tab pos="2408555" algn="l"/>
                <a:tab pos="302133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0</a:t>
            </a:r>
            <a:r>
              <a:rPr sz="2800" b="1" i="1" dirty="0">
                <a:latin typeface="Times New Roman"/>
                <a:cs typeface="Times New Roman"/>
              </a:rPr>
              <a:t>,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assume</a:t>
            </a:r>
            <a:r>
              <a:rPr sz="2800" b="1" i="1" dirty="0">
                <a:latin typeface="Times New Roman"/>
                <a:cs typeface="Times New Roman"/>
              </a:rPr>
              <a:t>s	no	</a:t>
            </a:r>
            <a:r>
              <a:rPr sz="2800" b="1" i="1" spc="-10" dirty="0">
                <a:latin typeface="Times New Roman"/>
                <a:cs typeface="Times New Roman"/>
              </a:rPr>
              <a:t>e</a:t>
            </a:r>
            <a:r>
              <a:rPr sz="2800" b="1" i="1" spc="-5" dirty="0">
                <a:latin typeface="Times New Roman"/>
                <a:cs typeface="Times New Roman"/>
              </a:rPr>
              <a:t>rror;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9544" y="3018170"/>
            <a:ext cx="40525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otherwise,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30" dirty="0">
                <a:latin typeface="Times New Roman"/>
                <a:cs typeface="Times New Roman"/>
              </a:rPr>
              <a:t>error.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2C4F7FD8-FE05-79A3-C11C-0D4D65D6FAF2}"/>
              </a:ext>
            </a:extLst>
          </p:cNvPr>
          <p:cNvSpPr txBox="1"/>
          <p:nvPr/>
        </p:nvSpPr>
        <p:spPr>
          <a:xfrm>
            <a:off x="1032611" y="3479672"/>
            <a:ext cx="81470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  <a:tab pos="1768475" algn="l"/>
                <a:tab pos="2428240" algn="l"/>
                <a:tab pos="4055745" algn="l"/>
                <a:tab pos="4775835" algn="l"/>
                <a:tab pos="6186170" algn="l"/>
                <a:tab pos="6808470" algn="l"/>
                <a:tab pos="737108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Ho</a:t>
            </a:r>
            <a:r>
              <a:rPr sz="2800" b="1" i="1" dirty="0">
                <a:latin typeface="Times New Roman"/>
                <a:cs typeface="Times New Roman"/>
              </a:rPr>
              <a:t>w	</a:t>
            </a:r>
            <a:r>
              <a:rPr sz="2800" b="1" i="1" spc="-5" dirty="0">
                <a:latin typeface="Times New Roman"/>
                <a:cs typeface="Times New Roman"/>
              </a:rPr>
              <a:t>ca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represen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numbe</a:t>
            </a:r>
            <a:r>
              <a:rPr sz="2800" b="1" i="1" dirty="0">
                <a:latin typeface="Times New Roman"/>
                <a:cs typeface="Times New Roman"/>
              </a:rPr>
              <a:t>r	21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one</a:t>
            </a:r>
            <a:r>
              <a:rPr sz="2800" b="1" i="1" spc="-215" dirty="0">
                <a:solidFill>
                  <a:srgbClr val="FF0000"/>
                </a:solidFill>
                <a:latin typeface="Times New Roman"/>
                <a:cs typeface="Times New Roman"/>
              </a:rPr>
              <a:t>’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 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complement</a:t>
            </a:r>
            <a:r>
              <a:rPr sz="2800" b="1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arithmetic</a:t>
            </a:r>
            <a:r>
              <a:rPr sz="28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using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only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four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bits?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CE240444-D150-7F2F-128E-9BA491DD1C68}"/>
              </a:ext>
            </a:extLst>
          </p:cNvPr>
          <p:cNvSpPr txBox="1"/>
          <p:nvPr/>
        </p:nvSpPr>
        <p:spPr>
          <a:xfrm>
            <a:off x="1029154" y="4359147"/>
            <a:ext cx="852868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 number 21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binary is 10101 (it needs five bits).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 </a:t>
            </a:r>
            <a:r>
              <a:rPr sz="2800" b="1" i="1" spc="-5" dirty="0">
                <a:latin typeface="Times New Roman"/>
                <a:cs typeface="Times New Roman"/>
              </a:rPr>
              <a:t>wrap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leftmost bit and add </a:t>
            </a:r>
            <a:r>
              <a:rPr sz="2800" b="1" i="1" dirty="0">
                <a:latin typeface="Times New Roman"/>
                <a:cs typeface="Times New Roman"/>
              </a:rPr>
              <a:t>it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dirty="0">
                <a:latin typeface="Times New Roman"/>
                <a:cs typeface="Times New Roman"/>
              </a:rPr>
              <a:t>the four </a:t>
            </a:r>
            <a:r>
              <a:rPr sz="2800" b="1" i="1" spc="-5" dirty="0">
                <a:latin typeface="Times New Roman"/>
                <a:cs typeface="Times New Roman"/>
              </a:rPr>
              <a:t>rightmost </a:t>
            </a:r>
            <a:r>
              <a:rPr sz="2800" b="1" i="1" dirty="0">
                <a:latin typeface="Times New Roman"/>
                <a:cs typeface="Times New Roman"/>
              </a:rPr>
              <a:t> bits.</a:t>
            </a:r>
            <a:r>
              <a:rPr sz="2800" b="1" i="1" spc="-80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have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(0101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+ 1)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0110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r>
              <a:rPr sz="2800" b="1" i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10.21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66770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2980" algn="l"/>
                <a:tab pos="1796414" algn="l"/>
                <a:tab pos="2470785" algn="l"/>
                <a:tab pos="4112260" algn="l"/>
                <a:tab pos="4845050" algn="l"/>
                <a:tab pos="626999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Ho</a:t>
            </a:r>
            <a:r>
              <a:rPr sz="2800" b="1" i="1" dirty="0">
                <a:latin typeface="Times New Roman"/>
                <a:cs typeface="Times New Roman"/>
              </a:rPr>
              <a:t>w	</a:t>
            </a:r>
            <a:r>
              <a:rPr sz="2800" b="1" i="1" spc="-10" dirty="0">
                <a:latin typeface="Times New Roman"/>
                <a:cs typeface="Times New Roman"/>
              </a:rPr>
              <a:t>c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represen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numbe</a:t>
            </a:r>
            <a:r>
              <a:rPr sz="2800" b="1" i="1" dirty="0">
                <a:latin typeface="Times New Roman"/>
                <a:cs typeface="Times New Roman"/>
              </a:rPr>
              <a:t>r	−6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13639" y="1512824"/>
            <a:ext cx="13671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864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5" dirty="0">
                <a:latin typeface="Times New Roman"/>
                <a:cs typeface="Times New Roman"/>
              </a:rPr>
              <a:t>e</a:t>
            </a:r>
            <a:r>
              <a:rPr sz="2800" b="1" i="1" spc="-204" dirty="0">
                <a:latin typeface="Times New Roman"/>
                <a:cs typeface="Times New Roman"/>
              </a:rPr>
              <a:t>’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9199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82173" y="1939543"/>
            <a:ext cx="8529320" cy="2449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complement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arithmetic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only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four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45" dirty="0">
                <a:latin typeface="Times New Roman"/>
                <a:cs typeface="Times New Roman"/>
              </a:rPr>
              <a:t>one’s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complement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arithmetic,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negative</a:t>
            </a:r>
            <a:r>
              <a:rPr sz="2800" b="1" i="1" dirty="0">
                <a:latin typeface="Times New Roman"/>
                <a:cs typeface="Times New Roman"/>
              </a:rPr>
              <a:t> or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complement </a:t>
            </a:r>
            <a:r>
              <a:rPr sz="2800" b="1" i="1" dirty="0">
                <a:latin typeface="Times New Roman"/>
                <a:cs typeface="Times New Roman"/>
              </a:rPr>
              <a:t>of a </a:t>
            </a:r>
            <a:r>
              <a:rPr sz="2800" b="1" i="1" spc="-5" dirty="0">
                <a:latin typeface="Times New Roman"/>
                <a:cs typeface="Times New Roman"/>
              </a:rPr>
              <a:t>number is </a:t>
            </a:r>
            <a:r>
              <a:rPr sz="2800" b="1" i="1" dirty="0">
                <a:latin typeface="Times New Roman"/>
                <a:cs typeface="Times New Roman"/>
              </a:rPr>
              <a:t>found by </a:t>
            </a:r>
            <a:r>
              <a:rPr sz="2800" b="1" i="1" spc="-5" dirty="0">
                <a:latin typeface="Times New Roman"/>
                <a:cs typeface="Times New Roman"/>
              </a:rPr>
              <a:t>inverting all bits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Positive</a:t>
            </a:r>
            <a:r>
              <a:rPr sz="2800" b="1" i="1" spc="1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0110;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negative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1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1001.</a:t>
            </a:r>
            <a:r>
              <a:rPr sz="2800" b="1" i="1" spc="1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1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consider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46344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82173" y="4362703"/>
            <a:ext cx="55111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5125" algn="l"/>
                <a:tab pos="3287395" algn="l"/>
                <a:tab pos="4099560" algn="l"/>
                <a:tab pos="4615815" algn="l"/>
                <a:tab pos="516128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unsigne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number</a:t>
            </a:r>
            <a:r>
              <a:rPr sz="2800" b="1" i="1" dirty="0">
                <a:latin typeface="Times New Roman"/>
                <a:cs typeface="Times New Roman"/>
              </a:rPr>
              <a:t>s,	this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9	In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2173" y="4362703"/>
            <a:ext cx="85280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63260">
              <a:lnSpc>
                <a:spcPct val="100000"/>
              </a:lnSpc>
              <a:spcBef>
                <a:spcPts val="100"/>
              </a:spcBef>
              <a:tabLst>
                <a:tab pos="2082164" algn="l"/>
                <a:tab pos="2672715" algn="l"/>
                <a:tab pos="3145155" algn="l"/>
                <a:tab pos="3676015" algn="l"/>
                <a:tab pos="4237355" algn="l"/>
                <a:tab pos="5735320" algn="l"/>
                <a:tab pos="6602095" algn="l"/>
                <a:tab pos="6824345" algn="l"/>
                <a:tab pos="7172325" algn="l"/>
                <a:tab pos="806005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othe</a:t>
            </a:r>
            <a:r>
              <a:rPr sz="2800" b="1" i="1" dirty="0">
                <a:latin typeface="Times New Roman"/>
                <a:cs typeface="Times New Roman"/>
              </a:rPr>
              <a:t>r		</a:t>
            </a:r>
            <a:r>
              <a:rPr sz="2800" b="1" i="1" spc="-5" dirty="0">
                <a:latin typeface="Times New Roman"/>
                <a:cs typeface="Times New Roman"/>
              </a:rPr>
              <a:t>word</a:t>
            </a:r>
            <a:r>
              <a:rPr sz="2800" b="1" i="1" dirty="0">
                <a:latin typeface="Times New Roman"/>
                <a:cs typeface="Times New Roman"/>
              </a:rPr>
              <a:t>s,	</a:t>
            </a:r>
            <a:r>
              <a:rPr sz="2800" b="1" i="1" spc="-5" dirty="0">
                <a:latin typeface="Times New Roman"/>
                <a:cs typeface="Times New Roman"/>
              </a:rPr>
              <a:t>the  complemen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dirty="0">
                <a:latin typeface="Times New Roman"/>
                <a:cs typeface="Times New Roman"/>
              </a:rPr>
              <a:t>f	6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9</a:t>
            </a:r>
            <a:r>
              <a:rPr sz="2800" b="1" i="1" dirty="0">
                <a:latin typeface="Times New Roman"/>
                <a:cs typeface="Times New Roman"/>
              </a:rPr>
              <a:t>.	</a:t>
            </a:r>
            <a:r>
              <a:rPr sz="2800" b="1" i="1" spc="-5" dirty="0">
                <a:latin typeface="Times New Roman"/>
                <a:cs typeface="Times New Roman"/>
              </a:rPr>
              <a:t>Anothe</a:t>
            </a:r>
            <a:r>
              <a:rPr sz="2800" b="1" i="1" dirty="0">
                <a:latin typeface="Times New Roman"/>
                <a:cs typeface="Times New Roman"/>
              </a:rPr>
              <a:t>r	</a:t>
            </a:r>
            <a:r>
              <a:rPr sz="2800" b="1" i="1" spc="-5" dirty="0">
                <a:latin typeface="Times New Roman"/>
                <a:cs typeface="Times New Roman"/>
              </a:rPr>
              <a:t>wa</a:t>
            </a:r>
            <a:r>
              <a:rPr sz="2800" b="1" i="1" dirty="0">
                <a:latin typeface="Times New Roman"/>
                <a:cs typeface="Times New Roman"/>
              </a:rPr>
              <a:t>y	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dirty="0">
                <a:latin typeface="Times New Roman"/>
                <a:cs typeface="Times New Roman"/>
              </a:rPr>
              <a:t>o	f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d	t</a:t>
            </a:r>
            <a:r>
              <a:rPr sz="2800" b="1" i="1" spc="-5" dirty="0">
                <a:latin typeface="Times New Roman"/>
                <a:cs typeface="Times New Roman"/>
              </a:rPr>
              <a:t>he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56773" y="5216144"/>
            <a:ext cx="85788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complement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</a:t>
            </a:r>
            <a:r>
              <a:rPr sz="2800" b="1" i="1" spc="1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160" dirty="0">
                <a:latin typeface="Times New Roman"/>
                <a:cs typeface="Times New Roman"/>
              </a:rPr>
              <a:t> </a:t>
            </a:r>
            <a:r>
              <a:rPr sz="2800" b="1" i="1" spc="-45" dirty="0">
                <a:latin typeface="Times New Roman"/>
                <a:cs typeface="Times New Roman"/>
              </a:rPr>
              <a:t>one’s</a:t>
            </a:r>
            <a:r>
              <a:rPr sz="2800" b="1" i="1" spc="1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complement</a:t>
            </a:r>
            <a:r>
              <a:rPr sz="2800" b="1" i="1" spc="1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arithmetic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subtract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number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from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2</a:t>
            </a:r>
            <a:r>
              <a:rPr sz="2775" b="1" i="1" spc="7" baseline="25525" dirty="0">
                <a:latin typeface="Times New Roman"/>
                <a:cs typeface="Times New Roman"/>
              </a:rPr>
              <a:t>n</a:t>
            </a:r>
            <a:r>
              <a:rPr sz="2775" b="1" i="1" spc="345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− 1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(16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5" dirty="0">
                <a:latin typeface="Times New Roman"/>
                <a:cs typeface="Times New Roman"/>
              </a:rPr>
              <a:t> case).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63</a:t>
            </a:fld>
            <a:endParaRPr spc="-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10.22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45"/>
            <a:ext cx="9144000" cy="4287520"/>
          </a:xfrm>
          <a:custGeom>
            <a:avLst/>
            <a:gdLst/>
            <a:ahLst/>
            <a:cxnLst/>
            <a:rect l="l" t="t" r="r" b="b"/>
            <a:pathLst>
              <a:path w="9144000" h="42875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4287012"/>
                </a:lnTo>
                <a:lnTo>
                  <a:pt x="9144000" y="4287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50278" y="1038225"/>
            <a:ext cx="837755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Let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redo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Exercise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10.19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45" dirty="0">
                <a:latin typeface="Times New Roman"/>
                <a:cs typeface="Times New Roman"/>
              </a:rPr>
              <a:t>one’s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complement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arithmetic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 </a:t>
            </a:r>
            <a:r>
              <a:rPr sz="2800" b="1" i="1" dirty="0">
                <a:latin typeface="Times New Roman"/>
                <a:cs typeface="Times New Roman"/>
              </a:rPr>
              <a:t>10 </a:t>
            </a:r>
            <a:r>
              <a:rPr sz="2800" b="1" i="1" spc="-5" dirty="0">
                <a:latin typeface="Times New Roman"/>
                <a:cs typeface="Times New Roman"/>
              </a:rPr>
              <a:t>24 shows the process at the sender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at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receiver.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sender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initializes</a:t>
            </a:r>
            <a:r>
              <a:rPr sz="2800" b="1" i="1" spc="2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adds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items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</a:t>
            </a:r>
            <a:r>
              <a:rPr sz="2800" b="1" i="1" dirty="0">
                <a:latin typeface="Times New Roman"/>
                <a:cs typeface="Times New Roman"/>
              </a:rPr>
              <a:t> (the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considered as one data item and is shown in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color)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5" dirty="0">
                <a:latin typeface="Times New Roman"/>
                <a:cs typeface="Times New Roman"/>
              </a:rPr>
              <a:t>result is </a:t>
            </a:r>
            <a:r>
              <a:rPr sz="2800" b="1" i="1" dirty="0">
                <a:latin typeface="Times New Roman"/>
                <a:cs typeface="Times New Roman"/>
              </a:rPr>
              <a:t>36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However, </a:t>
            </a:r>
            <a:r>
              <a:rPr sz="2800" b="1" i="1" dirty="0">
                <a:latin typeface="Times New Roman"/>
                <a:cs typeface="Times New Roman"/>
              </a:rPr>
              <a:t>36 cannot </a:t>
            </a:r>
            <a:r>
              <a:rPr sz="2800" b="1" i="1" spc="-5" dirty="0">
                <a:latin typeface="Times New Roman"/>
                <a:cs typeface="Times New Roman"/>
              </a:rPr>
              <a:t>be expressed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 </a:t>
            </a:r>
            <a:r>
              <a:rPr sz="2800" b="1" i="1" dirty="0">
                <a:latin typeface="Times New Roman"/>
                <a:cs typeface="Times New Roman"/>
              </a:rPr>
              <a:t>4 </a:t>
            </a:r>
            <a:r>
              <a:rPr sz="2800" b="1" i="1" spc="-5" dirty="0">
                <a:latin typeface="Times New Roman"/>
                <a:cs typeface="Times New Roman"/>
              </a:rPr>
              <a:t>bits. The extra two bits are wrapped and added </a:t>
            </a:r>
            <a:r>
              <a:rPr sz="2800" b="1" i="1" spc="-10" dirty="0">
                <a:latin typeface="Times New Roman"/>
                <a:cs typeface="Times New Roman"/>
              </a:rPr>
              <a:t>with 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sum to create the wrapped sum value </a:t>
            </a:r>
            <a:r>
              <a:rPr sz="2800" b="1" i="1" dirty="0">
                <a:latin typeface="Times New Roman"/>
                <a:cs typeface="Times New Roman"/>
              </a:rPr>
              <a:t>6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the figure,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 have shown the details in </a:t>
            </a:r>
            <a:r>
              <a:rPr sz="2800" b="1" i="1" spc="-20" dirty="0">
                <a:latin typeface="Times New Roman"/>
                <a:cs typeface="Times New Roman"/>
              </a:rPr>
              <a:t>binary. </a:t>
            </a:r>
            <a:r>
              <a:rPr sz="2800" b="1" i="1" spc="-5" dirty="0">
                <a:latin typeface="Times New Roman"/>
                <a:cs typeface="Times New Roman"/>
              </a:rPr>
              <a:t>The sum is then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complemented,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resulting</a:t>
            </a:r>
            <a:r>
              <a:rPr sz="2800" b="1" i="1" dirty="0">
                <a:latin typeface="Times New Roman"/>
                <a:cs typeface="Times New Roman"/>
              </a:rPr>
              <a:t> 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value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9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(15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</a:t>
            </a:r>
            <a:endParaRPr sz="2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9). The sender now sends six data items to the receiver </a:t>
            </a:r>
            <a:r>
              <a:rPr sz="2800" b="1" i="1" dirty="0">
                <a:latin typeface="Times New Roman"/>
                <a:cs typeface="Times New Roman"/>
              </a:rPr>
              <a:t> including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checksum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9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64</a:t>
            </a:fld>
            <a:endParaRPr spc="-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5739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10.22</a:t>
            </a:r>
            <a:r>
              <a:rPr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9" y="1512824"/>
            <a:ext cx="8378190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 receiver follows the same procedure </a:t>
            </a:r>
            <a:r>
              <a:rPr sz="2800" b="1" i="1" dirty="0">
                <a:latin typeface="Times New Roman"/>
                <a:cs typeface="Times New Roman"/>
              </a:rPr>
              <a:t>as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spc="-25" dirty="0">
                <a:latin typeface="Times New Roman"/>
                <a:cs typeface="Times New Roman"/>
              </a:rPr>
              <a:t>sender. </a:t>
            </a:r>
            <a:r>
              <a:rPr sz="2800" b="1" i="1" spc="-5" dirty="0">
                <a:latin typeface="Times New Roman"/>
                <a:cs typeface="Times New Roman"/>
              </a:rPr>
              <a:t>It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adds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items</a:t>
            </a:r>
            <a:r>
              <a:rPr sz="2800" b="1" i="1" spc="2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(including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checksum);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result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45. The sum is wrapped and becomes 15. The wrapped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sum </a:t>
            </a:r>
            <a:r>
              <a:rPr sz="2800" b="1" i="1" spc="-5" dirty="0">
                <a:latin typeface="Times New Roman"/>
                <a:cs typeface="Times New Roman"/>
              </a:rPr>
              <a:t>is complemented and becomes 0. Since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value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0,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dirty="0">
                <a:latin typeface="Times New Roman"/>
                <a:cs typeface="Times New Roman"/>
              </a:rPr>
              <a:t> is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corrupted. The </a:t>
            </a:r>
            <a:r>
              <a:rPr sz="2800" b="1" i="1" spc="-10" dirty="0">
                <a:latin typeface="Times New Roman"/>
                <a:cs typeface="Times New Roman"/>
              </a:rPr>
              <a:t>receiver </a:t>
            </a:r>
            <a:r>
              <a:rPr sz="2800" b="1" i="1" spc="-5" dirty="0">
                <a:latin typeface="Times New Roman"/>
                <a:cs typeface="Times New Roman"/>
              </a:rPr>
              <a:t>drops the checksum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10" dirty="0">
                <a:latin typeface="Times New Roman"/>
                <a:cs typeface="Times New Roman"/>
              </a:rPr>
              <a:t>keeps </a:t>
            </a:r>
            <a:r>
              <a:rPr sz="2800" b="1" i="1" spc="-5" dirty="0">
                <a:latin typeface="Times New Roman"/>
                <a:cs typeface="Times New Roman"/>
              </a:rPr>
              <a:t> the other data items.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b="1" i="1" spc="-5" dirty="0">
                <a:latin typeface="Times New Roman"/>
                <a:cs typeface="Times New Roman"/>
              </a:rPr>
              <a:t>the checksum is not zero, the </a:t>
            </a:r>
            <a:r>
              <a:rPr sz="2800" b="1" i="1" dirty="0">
                <a:latin typeface="Times New Roman"/>
                <a:cs typeface="Times New Roman"/>
              </a:rPr>
              <a:t> entire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packet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dropped.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65</a:t>
            </a:fld>
            <a:endParaRPr spc="-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336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10.24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10.22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943" y="1415796"/>
            <a:ext cx="7184897" cy="466953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66</a:t>
            </a:fld>
            <a:endParaRPr spc="-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8239" y="1535430"/>
            <a:ext cx="1143000" cy="5280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20323" y="1555495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32039" y="2063495"/>
            <a:ext cx="8153400" cy="3747135"/>
            <a:chOff x="1232039" y="2063495"/>
            <a:chExt cx="8153400" cy="3747135"/>
          </a:xfrm>
        </p:grpSpPr>
        <p:sp>
          <p:nvSpPr>
            <p:cNvPr id="10" name="object 10"/>
            <p:cNvSpPr/>
            <p:nvPr/>
          </p:nvSpPr>
          <p:spPr>
            <a:xfrm>
              <a:off x="1232039" y="2139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70139" y="2241803"/>
              <a:ext cx="8077200" cy="679450"/>
            </a:xfrm>
            <a:custGeom>
              <a:avLst/>
              <a:gdLst/>
              <a:ahLst/>
              <a:cxnLst/>
              <a:rect l="l" t="t" r="r" b="b"/>
              <a:pathLst>
                <a:path w="8077200" h="679450">
                  <a:moveTo>
                    <a:pt x="8077200" y="678941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678942"/>
                  </a:lnTo>
                  <a:lnTo>
                    <a:pt x="8077200" y="678941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8239" y="2063495"/>
              <a:ext cx="1143000" cy="381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70139" y="2919996"/>
              <a:ext cx="8077200" cy="2890520"/>
            </a:xfrm>
            <a:custGeom>
              <a:avLst/>
              <a:gdLst/>
              <a:ahLst/>
              <a:cxnLst/>
              <a:rect l="l" t="t" r="r" b="b"/>
              <a:pathLst>
                <a:path w="8077200" h="289052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2890266"/>
                  </a:lnTo>
                  <a:lnTo>
                    <a:pt x="8077200" y="2890266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48873" y="2263394"/>
            <a:ext cx="7897495" cy="3501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latin typeface="Arial"/>
                <a:cs typeface="Arial"/>
              </a:rPr>
              <a:t>Sender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site:</a:t>
            </a:r>
            <a:endParaRPr sz="3200">
              <a:latin typeface="Arial"/>
              <a:cs typeface="Arial"/>
            </a:endParaRPr>
          </a:p>
          <a:p>
            <a:pPr marL="407034" indent="-394970"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AutoNum type="arabicPeriod"/>
              <a:tabLst>
                <a:tab pos="407670" algn="l"/>
              </a:tabLst>
            </a:pPr>
            <a:r>
              <a:rPr sz="2800" b="1" spc="-5" dirty="0">
                <a:latin typeface="Arial"/>
                <a:cs typeface="Arial"/>
              </a:rPr>
              <a:t>The </a:t>
            </a:r>
            <a:r>
              <a:rPr sz="2800" b="1" dirty="0">
                <a:latin typeface="Arial"/>
                <a:cs typeface="Arial"/>
              </a:rPr>
              <a:t>message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5" dirty="0">
                <a:latin typeface="Arial"/>
                <a:cs typeface="Arial"/>
              </a:rPr>
              <a:t> divided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into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16-bit </a:t>
            </a:r>
            <a:r>
              <a:rPr sz="2800" b="1" spc="-5" dirty="0">
                <a:latin typeface="Arial"/>
                <a:cs typeface="Arial"/>
              </a:rPr>
              <a:t>words.</a:t>
            </a:r>
            <a:endParaRPr sz="2800">
              <a:latin typeface="Arial"/>
              <a:cs typeface="Arial"/>
            </a:endParaRPr>
          </a:p>
          <a:p>
            <a:pPr marL="407034" indent="-39497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07670" algn="l"/>
              </a:tabLst>
            </a:pP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5" dirty="0">
                <a:latin typeface="Arial"/>
                <a:cs typeface="Arial"/>
              </a:rPr>
              <a:t> value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5" dirty="0">
                <a:latin typeface="Arial"/>
                <a:cs typeface="Arial"/>
              </a:rPr>
              <a:t> checksum </a:t>
            </a:r>
            <a:r>
              <a:rPr sz="2800" b="1" dirty="0">
                <a:latin typeface="Arial"/>
                <a:cs typeface="Arial"/>
              </a:rPr>
              <a:t>word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5" dirty="0">
                <a:latin typeface="Arial"/>
                <a:cs typeface="Arial"/>
              </a:rPr>
              <a:t> set </a:t>
            </a:r>
            <a:r>
              <a:rPr sz="2800" b="1" dirty="0">
                <a:latin typeface="Arial"/>
                <a:cs typeface="Arial"/>
              </a:rPr>
              <a:t>to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0.</a:t>
            </a:r>
            <a:endParaRPr sz="2800">
              <a:latin typeface="Arial"/>
              <a:cs typeface="Arial"/>
            </a:endParaRPr>
          </a:p>
          <a:p>
            <a:pPr marL="393700" marR="596900" indent="-39370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393700" algn="l"/>
              </a:tabLst>
            </a:pPr>
            <a:r>
              <a:rPr sz="2800" b="1" spc="-5" dirty="0">
                <a:latin typeface="Arial"/>
                <a:cs typeface="Arial"/>
              </a:rPr>
              <a:t>All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words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including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the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checksum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are 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added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using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one’s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complement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addition.</a:t>
            </a:r>
            <a:endParaRPr sz="2800">
              <a:latin typeface="Arial"/>
              <a:cs typeface="Arial"/>
            </a:endParaRPr>
          </a:p>
          <a:p>
            <a:pPr marL="407670" marR="5080" indent="-40767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07670" algn="l"/>
              </a:tabLst>
            </a:pPr>
            <a:r>
              <a:rPr sz="2800" b="1" spc="-5" dirty="0">
                <a:latin typeface="Arial"/>
                <a:cs typeface="Arial"/>
              </a:rPr>
              <a:t>The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sum</a:t>
            </a:r>
            <a:r>
              <a:rPr sz="2800" b="1" dirty="0">
                <a:latin typeface="Arial"/>
                <a:cs typeface="Arial"/>
              </a:rPr>
              <a:t> is</a:t>
            </a:r>
            <a:r>
              <a:rPr sz="2800" b="1" spc="-5" dirty="0">
                <a:latin typeface="Arial"/>
                <a:cs typeface="Arial"/>
              </a:rPr>
              <a:t> complemented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and</a:t>
            </a:r>
            <a:r>
              <a:rPr sz="2800" b="1" dirty="0">
                <a:latin typeface="Arial"/>
                <a:cs typeface="Arial"/>
              </a:rPr>
              <a:t> becomes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the </a:t>
            </a:r>
            <a:r>
              <a:rPr sz="2800" b="1" spc="-76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checksum.</a:t>
            </a:r>
            <a:endParaRPr sz="2800">
              <a:latin typeface="Arial"/>
              <a:cs typeface="Arial"/>
            </a:endParaRPr>
          </a:p>
          <a:p>
            <a:pPr marL="407034" indent="-39497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07670" algn="l"/>
              </a:tabLst>
            </a:pPr>
            <a:r>
              <a:rPr sz="2800" b="1" spc="-5" dirty="0">
                <a:latin typeface="Arial"/>
                <a:cs typeface="Arial"/>
              </a:rPr>
              <a:t>The </a:t>
            </a:r>
            <a:r>
              <a:rPr sz="2800" b="1" dirty="0">
                <a:latin typeface="Arial"/>
                <a:cs typeface="Arial"/>
              </a:rPr>
              <a:t>checksum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sent </a:t>
            </a:r>
            <a:r>
              <a:rPr sz="2800" b="1" spc="-5" dirty="0">
                <a:latin typeface="Arial"/>
                <a:cs typeface="Arial"/>
              </a:rPr>
              <a:t>with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5" dirty="0">
                <a:latin typeface="Arial"/>
                <a:cs typeface="Arial"/>
              </a:rPr>
              <a:t> data.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34325" y="5873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67</a:t>
            </a:fld>
            <a:endParaRPr spc="-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8239" y="1535430"/>
            <a:ext cx="1143000" cy="5280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20323" y="1555495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32039" y="2063495"/>
            <a:ext cx="8153400" cy="152400"/>
            <a:chOff x="1232039" y="2063495"/>
            <a:chExt cx="8153400" cy="152400"/>
          </a:xfrm>
        </p:grpSpPr>
        <p:sp>
          <p:nvSpPr>
            <p:cNvPr id="10" name="object 10"/>
            <p:cNvSpPr/>
            <p:nvPr/>
          </p:nvSpPr>
          <p:spPr>
            <a:xfrm>
              <a:off x="1232039" y="2139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8239" y="2063495"/>
              <a:ext cx="1143000" cy="3810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270139" y="2270010"/>
            <a:ext cx="8077200" cy="3996054"/>
          </a:xfrm>
          <a:custGeom>
            <a:avLst/>
            <a:gdLst/>
            <a:ahLst/>
            <a:cxnLst/>
            <a:rect l="l" t="t" r="r" b="b"/>
            <a:pathLst>
              <a:path w="8077200" h="3996054">
                <a:moveTo>
                  <a:pt x="8077200" y="0"/>
                </a:moveTo>
                <a:lnTo>
                  <a:pt x="0" y="0"/>
                </a:lnTo>
                <a:lnTo>
                  <a:pt x="0" y="649986"/>
                </a:lnTo>
                <a:lnTo>
                  <a:pt x="0" y="650748"/>
                </a:lnTo>
                <a:lnTo>
                  <a:pt x="0" y="3995928"/>
                </a:lnTo>
                <a:lnTo>
                  <a:pt x="8077200" y="3995928"/>
                </a:lnTo>
                <a:lnTo>
                  <a:pt x="8077200" y="649986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48873" y="2292350"/>
            <a:ext cx="7897495" cy="3928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latin typeface="Arial"/>
                <a:cs typeface="Arial"/>
              </a:rPr>
              <a:t>Receiver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site:</a:t>
            </a:r>
            <a:endParaRPr sz="3200">
              <a:latin typeface="Arial"/>
              <a:cs typeface="Arial"/>
            </a:endParaRPr>
          </a:p>
          <a:p>
            <a:pPr marL="406400" marR="1069975" indent="-394335"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AutoNum type="arabicPeriod"/>
              <a:tabLst>
                <a:tab pos="407670" algn="l"/>
              </a:tabLst>
            </a:pPr>
            <a:r>
              <a:rPr sz="2800" b="1" spc="-5" dirty="0">
                <a:latin typeface="Arial"/>
                <a:cs typeface="Arial"/>
              </a:rPr>
              <a:t>The </a:t>
            </a:r>
            <a:r>
              <a:rPr sz="2800" b="1" dirty="0">
                <a:latin typeface="Arial"/>
                <a:cs typeface="Arial"/>
              </a:rPr>
              <a:t>message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(including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checksum)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 </a:t>
            </a:r>
            <a:r>
              <a:rPr sz="2800" b="1" spc="-7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divided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into</a:t>
            </a:r>
            <a:r>
              <a:rPr sz="2800" b="1" spc="-5" dirty="0">
                <a:latin typeface="Arial"/>
                <a:cs typeface="Arial"/>
              </a:rPr>
              <a:t> 16-bit </a:t>
            </a:r>
            <a:r>
              <a:rPr sz="2800" b="1" dirty="0">
                <a:latin typeface="Arial"/>
                <a:cs typeface="Arial"/>
              </a:rPr>
              <a:t>words.</a:t>
            </a:r>
            <a:endParaRPr sz="2800">
              <a:latin typeface="Arial"/>
              <a:cs typeface="Arial"/>
            </a:endParaRPr>
          </a:p>
          <a:p>
            <a:pPr marL="393700" marR="2051685" indent="-393700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393700" algn="l"/>
              </a:tabLst>
            </a:pPr>
            <a:r>
              <a:rPr sz="2800" b="1" spc="-5" dirty="0">
                <a:latin typeface="Arial"/>
                <a:cs typeface="Arial"/>
              </a:rPr>
              <a:t>All words </a:t>
            </a:r>
            <a:r>
              <a:rPr sz="2800" b="1" dirty="0">
                <a:latin typeface="Arial"/>
                <a:cs typeface="Arial"/>
              </a:rPr>
              <a:t>are </a:t>
            </a:r>
            <a:r>
              <a:rPr sz="2800" b="1" spc="-5" dirty="0">
                <a:latin typeface="Arial"/>
                <a:cs typeface="Arial"/>
              </a:rPr>
              <a:t>added using </a:t>
            </a:r>
            <a:r>
              <a:rPr sz="2800" b="1" spc="-25" dirty="0">
                <a:latin typeface="Arial"/>
                <a:cs typeface="Arial"/>
              </a:rPr>
              <a:t>one’s </a:t>
            </a:r>
            <a:r>
              <a:rPr sz="2800" b="1" spc="-76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complement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addition.</a:t>
            </a:r>
            <a:endParaRPr sz="2800">
              <a:latin typeface="Arial"/>
              <a:cs typeface="Arial"/>
            </a:endParaRPr>
          </a:p>
          <a:p>
            <a:pPr marL="406400" marR="5080" indent="-394335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07670" algn="l"/>
              </a:tabLst>
            </a:pPr>
            <a:r>
              <a:rPr sz="2800" b="1" spc="-5" dirty="0">
                <a:latin typeface="Arial"/>
                <a:cs typeface="Arial"/>
              </a:rPr>
              <a:t>The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sum</a:t>
            </a:r>
            <a:r>
              <a:rPr sz="2800" b="1" dirty="0">
                <a:latin typeface="Arial"/>
                <a:cs typeface="Arial"/>
              </a:rPr>
              <a:t> is</a:t>
            </a:r>
            <a:r>
              <a:rPr sz="2800" b="1" spc="-5" dirty="0">
                <a:latin typeface="Arial"/>
                <a:cs typeface="Arial"/>
              </a:rPr>
              <a:t> complemented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and</a:t>
            </a:r>
            <a:r>
              <a:rPr sz="2800" b="1" dirty="0">
                <a:latin typeface="Arial"/>
                <a:cs typeface="Arial"/>
              </a:rPr>
              <a:t> becomes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the </a:t>
            </a:r>
            <a:r>
              <a:rPr sz="2800" b="1" spc="-7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new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checksum.</a:t>
            </a:r>
            <a:endParaRPr sz="2800">
              <a:latin typeface="Arial"/>
              <a:cs typeface="Arial"/>
            </a:endParaRPr>
          </a:p>
          <a:p>
            <a:pPr marL="406400" marR="299085" indent="-394335">
              <a:lnSpc>
                <a:spcPct val="100000"/>
              </a:lnSpc>
              <a:buClr>
                <a:srgbClr val="FF0000"/>
              </a:buClr>
              <a:buAutoNum type="arabicPeriod"/>
              <a:tabLst>
                <a:tab pos="407670" algn="l"/>
              </a:tabLst>
            </a:pPr>
            <a:r>
              <a:rPr sz="2800" b="1" dirty="0">
                <a:latin typeface="Arial"/>
                <a:cs typeface="Arial"/>
              </a:rPr>
              <a:t>If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the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value</a:t>
            </a:r>
            <a:r>
              <a:rPr sz="2800" b="1" spc="-5" dirty="0">
                <a:latin typeface="Arial"/>
                <a:cs typeface="Arial"/>
              </a:rPr>
              <a:t> of checksum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0,</a:t>
            </a:r>
            <a:r>
              <a:rPr sz="2800" b="1" spc="-5" dirty="0">
                <a:latin typeface="Arial"/>
                <a:cs typeface="Arial"/>
              </a:rPr>
              <a:t> the</a:t>
            </a:r>
            <a:r>
              <a:rPr sz="2800" b="1" dirty="0">
                <a:latin typeface="Arial"/>
                <a:cs typeface="Arial"/>
              </a:rPr>
              <a:t> message </a:t>
            </a:r>
            <a:r>
              <a:rPr sz="2800" b="1" spc="-7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accepted;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otherwise,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rejected.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34325" y="6330708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0"/>
                </a:moveTo>
                <a:lnTo>
                  <a:pt x="0" y="0"/>
                </a:lnTo>
                <a:lnTo>
                  <a:pt x="0" y="18288"/>
                </a:lnTo>
                <a:lnTo>
                  <a:pt x="0" y="19050"/>
                </a:lnTo>
                <a:lnTo>
                  <a:pt x="0" y="76187"/>
                </a:lnTo>
                <a:lnTo>
                  <a:pt x="8153400" y="76187"/>
                </a:lnTo>
                <a:lnTo>
                  <a:pt x="8153400" y="19050"/>
                </a:lnTo>
                <a:lnTo>
                  <a:pt x="8153400" y="18288"/>
                </a:lnTo>
                <a:lnTo>
                  <a:pt x="8153400" y="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68</a:t>
            </a:fld>
            <a:endParaRPr spc="-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33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10.23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45"/>
            <a:ext cx="9144000" cy="5144770"/>
          </a:xfrm>
          <a:custGeom>
            <a:avLst/>
            <a:gdLst/>
            <a:ahLst/>
            <a:cxnLst/>
            <a:rect l="l" t="t" r="r" b="b"/>
            <a:pathLst>
              <a:path w="9144000" h="5144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5144262"/>
                </a:lnTo>
                <a:lnTo>
                  <a:pt x="9144000" y="514426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284224"/>
            <a:ext cx="8531225" cy="557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Let us calculate the checksum for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text of </a:t>
            </a:r>
            <a:r>
              <a:rPr sz="2800" b="1" i="1" dirty="0">
                <a:latin typeface="Times New Roman"/>
                <a:cs typeface="Times New Roman"/>
              </a:rPr>
              <a:t>8 </a:t>
            </a:r>
            <a:r>
              <a:rPr sz="2800" b="1" i="1" spc="-5" dirty="0">
                <a:latin typeface="Times New Roman"/>
                <a:cs typeface="Times New Roman"/>
              </a:rPr>
              <a:t>characters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(“Forouzan”).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text needs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be divided </a:t>
            </a:r>
            <a:r>
              <a:rPr sz="2800" b="1" i="1" dirty="0">
                <a:latin typeface="Times New Roman"/>
                <a:cs typeface="Times New Roman"/>
              </a:rPr>
              <a:t>into </a:t>
            </a:r>
            <a:r>
              <a:rPr sz="2800" b="1" i="1" spc="-5" dirty="0">
                <a:latin typeface="Times New Roman"/>
                <a:cs typeface="Times New Roman"/>
              </a:rPr>
              <a:t>2-byte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(16-bit) words.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use ASCII (see Appendix A) to change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byte to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2-digit hexadecimal </a:t>
            </a:r>
            <a:r>
              <a:rPr sz="2800" b="1" i="1" spc="-30" dirty="0">
                <a:latin typeface="Times New Roman"/>
                <a:cs typeface="Times New Roman"/>
              </a:rPr>
              <a:t>number. </a:t>
            </a:r>
            <a:r>
              <a:rPr sz="2800" b="1" i="1" spc="-5" dirty="0">
                <a:latin typeface="Times New Roman"/>
                <a:cs typeface="Times New Roman"/>
              </a:rPr>
              <a:t>For example, </a:t>
            </a:r>
            <a:r>
              <a:rPr sz="2800" b="1" i="1" dirty="0">
                <a:latin typeface="Times New Roman"/>
                <a:cs typeface="Times New Roman"/>
              </a:rPr>
              <a:t> F </a:t>
            </a:r>
            <a:r>
              <a:rPr sz="2800" b="1" i="1" spc="-5" dirty="0">
                <a:latin typeface="Times New Roman"/>
                <a:cs typeface="Times New Roman"/>
              </a:rPr>
              <a:t>is represented as 0x46 and </a:t>
            </a:r>
            <a:r>
              <a:rPr sz="2800" b="1" i="1" dirty="0">
                <a:latin typeface="Times New Roman"/>
                <a:cs typeface="Times New Roman"/>
              </a:rPr>
              <a:t>o </a:t>
            </a:r>
            <a:r>
              <a:rPr sz="2800" b="1" i="1" spc="-5" dirty="0">
                <a:latin typeface="Times New Roman"/>
                <a:cs typeface="Times New Roman"/>
              </a:rPr>
              <a:t>is represented as </a:t>
            </a:r>
            <a:r>
              <a:rPr sz="2800" b="1" i="1" spc="-80" dirty="0">
                <a:latin typeface="Times New Roman"/>
                <a:cs typeface="Times New Roman"/>
              </a:rPr>
              <a:t>0x6F. </a:t>
            </a:r>
            <a:r>
              <a:rPr sz="2800" b="1" i="1" spc="-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 10.25 shows </a:t>
            </a:r>
            <a:r>
              <a:rPr sz="2800" b="1" i="1" dirty="0">
                <a:latin typeface="Times New Roman"/>
                <a:cs typeface="Times New Roman"/>
              </a:rPr>
              <a:t>how the </a:t>
            </a:r>
            <a:r>
              <a:rPr sz="2800" b="1" i="1" spc="-5" dirty="0">
                <a:latin typeface="Times New Roman"/>
                <a:cs typeface="Times New Roman"/>
              </a:rPr>
              <a:t>checksum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calculated </a:t>
            </a:r>
            <a:r>
              <a:rPr sz="2800" b="1" i="1" dirty="0">
                <a:latin typeface="Times New Roman"/>
                <a:cs typeface="Times New Roman"/>
              </a:rPr>
              <a:t>at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sender and receiver sites. In part </a:t>
            </a:r>
            <a:r>
              <a:rPr sz="2800" b="1" i="1" dirty="0">
                <a:latin typeface="Times New Roman"/>
                <a:cs typeface="Times New Roman"/>
              </a:rPr>
              <a:t>a of </a:t>
            </a:r>
            <a:r>
              <a:rPr sz="2800" b="1" i="1" spc="-5" dirty="0">
                <a:latin typeface="Times New Roman"/>
                <a:cs typeface="Times New Roman"/>
              </a:rPr>
              <a:t>the figure, the value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partial </a:t>
            </a:r>
            <a:r>
              <a:rPr sz="2800" b="1" i="1" dirty="0">
                <a:latin typeface="Times New Roman"/>
                <a:cs typeface="Times New Roman"/>
              </a:rPr>
              <a:t>sum </a:t>
            </a:r>
            <a:r>
              <a:rPr sz="2800" b="1" i="1" spc="-5" dirty="0">
                <a:latin typeface="Times New Roman"/>
                <a:cs typeface="Times New Roman"/>
              </a:rPr>
              <a:t>for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first column is 0x36.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keep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rightmost digit (6) and insert the leftmost digit (3) as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carry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the second column.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process is repeated for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column. Note that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b="1" i="1" spc="-5" dirty="0">
                <a:latin typeface="Times New Roman"/>
                <a:cs typeface="Times New Roman"/>
              </a:rPr>
              <a:t>there is any corruption,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checksum recalculated by the </a:t>
            </a:r>
            <a:r>
              <a:rPr sz="2800" b="1" i="1" spc="-10" dirty="0">
                <a:latin typeface="Times New Roman"/>
                <a:cs typeface="Times New Roman"/>
              </a:rPr>
              <a:t>receiver </a:t>
            </a:r>
            <a:r>
              <a:rPr sz="2800" b="1" i="1" spc="-5" dirty="0">
                <a:latin typeface="Times New Roman"/>
                <a:cs typeface="Times New Roman"/>
              </a:rPr>
              <a:t>is not all 0s. </a:t>
            </a:r>
            <a:r>
              <a:rPr sz="2800" b="1" i="1" spc="-215" dirty="0">
                <a:latin typeface="Times New Roman"/>
                <a:cs typeface="Times New Roman"/>
              </a:rPr>
              <a:t>We </a:t>
            </a:r>
            <a:r>
              <a:rPr sz="2800" b="1" i="1" spc="-2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leave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</a:t>
            </a:r>
            <a:r>
              <a:rPr sz="2800" b="1" i="1" spc="-5" dirty="0">
                <a:latin typeface="Times New Roman"/>
                <a:cs typeface="Times New Roman"/>
              </a:rPr>
              <a:t> exercise.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69</a:t>
            </a:fld>
            <a:endParaRPr spc="-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361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10.25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10.23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839" y="2025395"/>
            <a:ext cx="8236457" cy="418337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10.</a:t>
            </a:r>
            <a:fld id="{81D60167-4931-47E6-BA6A-407CBD079E47}" type="slidenum">
              <a:rPr spc="-5" dirty="0"/>
              <a:t>70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3869</Words>
  <Application>Microsoft Office PowerPoint</Application>
  <PresentationFormat>Custom</PresentationFormat>
  <Paragraphs>299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MS Gothic</vt:lpstr>
      <vt:lpstr>Arial</vt:lpstr>
      <vt:lpstr>Arial MT</vt:lpstr>
      <vt:lpstr>Calibri</vt:lpstr>
      <vt:lpstr>Times New Roman</vt:lpstr>
      <vt:lpstr>Office Theme</vt:lpstr>
      <vt:lpstr>PowerPoint Presentation</vt:lpstr>
      <vt:lpstr>Figure 10.1 Single-bit error</vt:lpstr>
      <vt:lpstr>Figure 10.2 Burst error of length 8</vt:lpstr>
      <vt:lpstr>Figure 10.3 The structure of encoder and decoder</vt:lpstr>
      <vt:lpstr>Figure 10.4 XORing of two single bits or two words</vt:lpstr>
      <vt:lpstr>10-2 BLOCK CODING</vt:lpstr>
      <vt:lpstr>Example 10.1</vt:lpstr>
      <vt:lpstr>Figure 10.6 Process of error detection in block coding</vt:lpstr>
      <vt:lpstr>Example 10.2</vt:lpstr>
      <vt:lpstr>Table 10.1 A code for error detection (Example 10.2)</vt:lpstr>
      <vt:lpstr>Figure 10.7 Structure of encoder and decoder in error correction</vt:lpstr>
      <vt:lpstr>Example 10.3</vt:lpstr>
      <vt:lpstr>Example 10.3 (continued)</vt:lpstr>
      <vt:lpstr>Table 10.2 A code for error correction (Example 10.3)</vt:lpstr>
      <vt:lpstr>Example 10.4</vt:lpstr>
      <vt:lpstr>Example 10.5</vt:lpstr>
      <vt:lpstr>Example 10.6</vt:lpstr>
      <vt:lpstr>Example 10.7</vt:lpstr>
      <vt:lpstr>Example 10.8</vt:lpstr>
      <vt:lpstr>Figure 10.8 Geometric concept for finding dmin in error detection</vt:lpstr>
      <vt:lpstr>Figure 10.9 Geometric concept for finding dmin in error correction</vt:lpstr>
      <vt:lpstr>Example 10.9</vt:lpstr>
      <vt:lpstr>Example 10.10</vt:lpstr>
      <vt:lpstr>Example 10.11</vt:lpstr>
      <vt:lpstr>Table 10.3 Simple parity-check code C(5, 4)</vt:lpstr>
      <vt:lpstr>Figure 10.10 Encoder and decoder for simple parity-check code</vt:lpstr>
      <vt:lpstr>Example 10.12</vt:lpstr>
      <vt:lpstr>Example 10.12 (continued)</vt:lpstr>
      <vt:lpstr>PowerPoint Presentation</vt:lpstr>
      <vt:lpstr>Figure 10.11 Two-dimensional parity-check code</vt:lpstr>
      <vt:lpstr>Figure 10.11 Two-dimensional parity-check code</vt:lpstr>
      <vt:lpstr>Figure 10.11 Two-dimensional parity-check code</vt:lpstr>
      <vt:lpstr>Table 10.4 Hamming code C(7, 4)</vt:lpstr>
      <vt:lpstr>Figure 10.12 The structure of the encoder and decoder for a Hamming code</vt:lpstr>
      <vt:lpstr>Table 10.5 Logical decision made by the correction logic analyzer</vt:lpstr>
      <vt:lpstr>Example 10.13</vt:lpstr>
      <vt:lpstr>Example 10.14</vt:lpstr>
      <vt:lpstr>Figure 10.13 Burst error correction using Hamming code</vt:lpstr>
      <vt:lpstr>10-4 CYCLIC CODES</vt:lpstr>
      <vt:lpstr>Table 10.6 A CRC code with C(7, 4)</vt:lpstr>
      <vt:lpstr>Figure 10.14 CRC encoder and decoder</vt:lpstr>
      <vt:lpstr>Figure 10.15 Division in CRC encoder</vt:lpstr>
      <vt:lpstr>Figure 10.16 Division in the CRC decoder for two cases</vt:lpstr>
      <vt:lpstr>Figure 10.17 Hardwired design of the divisor in CRC</vt:lpstr>
      <vt:lpstr>Figure 10.18 Simulation of division in CRC encoder</vt:lpstr>
      <vt:lpstr>Figure 10.19 The CRC encoder design using shift registers</vt:lpstr>
      <vt:lpstr>Figure 10.20 General design of encoder and decoder of a CRC code</vt:lpstr>
      <vt:lpstr>A polynomial to represent a binary word</vt:lpstr>
      <vt:lpstr>Figure 10.22 CRC division using polynomials</vt:lpstr>
      <vt:lpstr>PowerPoint Presentation</vt:lpstr>
      <vt:lpstr>PowerPoint Presentation</vt:lpstr>
      <vt:lpstr>Example 10.15</vt:lpstr>
      <vt:lpstr>Figure 10.23 Representation of two isolated single-bit errors using polynomials</vt:lpstr>
      <vt:lpstr>Example 10.16</vt:lpstr>
      <vt:lpstr>PowerPoint Presentation</vt:lpstr>
      <vt:lpstr>Example 10.17</vt:lpstr>
      <vt:lpstr>Example 10.17 (continued)</vt:lpstr>
      <vt:lpstr>Note</vt:lpstr>
      <vt:lpstr>Table 10.7 Standard polynomials</vt:lpstr>
      <vt:lpstr>10-5 CHECKSUM</vt:lpstr>
      <vt:lpstr>Example 10.18</vt:lpstr>
      <vt:lpstr>Example 10.19</vt:lpstr>
      <vt:lpstr>Example 10.21</vt:lpstr>
      <vt:lpstr>Example 10.22</vt:lpstr>
      <vt:lpstr>Example 10.22 (continued)</vt:lpstr>
      <vt:lpstr>Figure 10.24 Example 10.22</vt:lpstr>
      <vt:lpstr>Note</vt:lpstr>
      <vt:lpstr>Note</vt:lpstr>
      <vt:lpstr>Example 10.23</vt:lpstr>
      <vt:lpstr>Figure 10.25 Example 10.23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ch10.ppt [Compatibility Mode]</dc:title>
  <dc:creator>Noi</dc:creator>
  <cp:lastModifiedBy>16010422078_FY_Natu Revati Saurabh</cp:lastModifiedBy>
  <cp:revision>5</cp:revision>
  <dcterms:created xsi:type="dcterms:W3CDTF">2023-10-26T17:03:41Z</dcterms:created>
  <dcterms:modified xsi:type="dcterms:W3CDTF">2023-10-26T17:43:50Z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2023-10-26T00:00:00Z</vt:filetime>
  </property>
</Properties>
</file>