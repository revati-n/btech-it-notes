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  <p:sldMasterId id="2147483672" r:id="rId3"/>
  </p:sldMasterIdLst>
  <p:sldIdLst>
    <p:sldId id="262" r:id="rId4"/>
    <p:sldId id="268" r:id="rId5"/>
    <p:sldId id="274" r:id="rId6"/>
    <p:sldId id="280" r:id="rId7"/>
    <p:sldId id="286" r:id="rId8"/>
    <p:sldId id="292" r:id="rId9"/>
    <p:sldId id="295" r:id="rId10"/>
    <p:sldId id="298" r:id="rId11"/>
    <p:sldId id="301" r:id="rId12"/>
    <p:sldId id="310" r:id="rId13"/>
    <p:sldId id="313" r:id="rId14"/>
    <p:sldId id="316" r:id="rId15"/>
    <p:sldId id="325" r:id="rId16"/>
    <p:sldId id="328" r:id="rId17"/>
    <p:sldId id="331" r:id="rId18"/>
    <p:sldId id="334" r:id="rId19"/>
    <p:sldId id="343" r:id="rId20"/>
    <p:sldId id="355" r:id="rId21"/>
    <p:sldId id="358" r:id="rId22"/>
    <p:sldId id="361" r:id="rId23"/>
    <p:sldId id="364" r:id="rId24"/>
    <p:sldId id="367" r:id="rId25"/>
    <p:sldId id="373" r:id="rId26"/>
    <p:sldId id="376" r:id="rId27"/>
    <p:sldId id="385" r:id="rId28"/>
    <p:sldId id="388" r:id="rId29"/>
    <p:sldId id="391" r:id="rId30"/>
    <p:sldId id="394" r:id="rId31"/>
    <p:sldId id="406" r:id="rId32"/>
    <p:sldId id="409" r:id="rId33"/>
    <p:sldId id="412" r:id="rId34"/>
    <p:sldId id="415" r:id="rId35"/>
    <p:sldId id="418" r:id="rId36"/>
    <p:sldId id="424" r:id="rId37"/>
    <p:sldId id="427" r:id="rId38"/>
    <p:sldId id="430" r:id="rId39"/>
    <p:sldId id="433" r:id="rId40"/>
    <p:sldId id="454" r:id="rId41"/>
    <p:sldId id="457" r:id="rId42"/>
    <p:sldId id="460" r:id="rId43"/>
    <p:sldId id="463" r:id="rId44"/>
    <p:sldId id="466" r:id="rId45"/>
    <p:sldId id="469" r:id="rId46"/>
    <p:sldId id="472" r:id="rId47"/>
    <p:sldId id="475" r:id="rId48"/>
    <p:sldId id="478" r:id="rId49"/>
    <p:sldId id="481" r:id="rId50"/>
    <p:sldId id="484" r:id="rId51"/>
    <p:sldId id="487" r:id="rId52"/>
    <p:sldId id="490" r:id="rId53"/>
    <p:sldId id="493" r:id="rId54"/>
    <p:sldId id="496" r:id="rId55"/>
    <p:sldId id="499" r:id="rId56"/>
    <p:sldId id="502" r:id="rId57"/>
    <p:sldId id="505" r:id="rId58"/>
    <p:sldId id="508" r:id="rId59"/>
    <p:sldId id="511" r:id="rId60"/>
    <p:sldId id="514" r:id="rId61"/>
    <p:sldId id="517" r:id="rId62"/>
    <p:sldId id="523" r:id="rId63"/>
    <p:sldId id="526" r:id="rId64"/>
    <p:sldId id="529" r:id="rId65"/>
    <p:sldId id="532" r:id="rId66"/>
    <p:sldId id="535" r:id="rId67"/>
    <p:sldId id="538" r:id="rId68"/>
    <p:sldId id="541" r:id="rId69"/>
    <p:sldId id="544" r:id="rId70"/>
    <p:sldId id="547" r:id="rId71"/>
    <p:sldId id="550" r:id="rId72"/>
    <p:sldId id="553" r:id="rId73"/>
    <p:sldId id="556" r:id="rId74"/>
    <p:sldId id="559" r:id="rId75"/>
    <p:sldId id="562" r:id="rId76"/>
    <p:sldId id="565" r:id="rId77"/>
    <p:sldId id="571" r:id="rId78"/>
    <p:sldId id="574" r:id="rId79"/>
    <p:sldId id="577" r:id="rId80"/>
    <p:sldId id="580" r:id="rId81"/>
    <p:sldId id="583" r:id="rId82"/>
    <p:sldId id="586" r:id="rId83"/>
    <p:sldId id="589" r:id="rId84"/>
    <p:sldId id="592" r:id="rId85"/>
    <p:sldId id="595" r:id="rId86"/>
    <p:sldId id="598" r:id="rId87"/>
    <p:sldId id="601" r:id="rId88"/>
    <p:sldId id="604" r:id="rId89"/>
    <p:sldId id="607" r:id="rId90"/>
    <p:sldId id="610" r:id="rId91"/>
    <p:sldId id="613" r:id="rId92"/>
    <p:sldId id="616" r:id="rId93"/>
    <p:sldId id="619" r:id="rId94"/>
    <p:sldId id="622" r:id="rId95"/>
    <p:sldId id="625" r:id="rId96"/>
    <p:sldId id="628" r:id="rId97"/>
    <p:sldId id="631" r:id="rId98"/>
    <p:sldId id="634" r:id="rId99"/>
    <p:sldId id="637" r:id="rId100"/>
    <p:sldId id="640" r:id="rId101"/>
    <p:sldId id="643" r:id="rId102"/>
    <p:sldId id="646" r:id="rId103"/>
    <p:sldId id="649" r:id="rId104"/>
    <p:sldId id="655" r:id="rId105"/>
    <p:sldId id="658" r:id="rId106"/>
    <p:sldId id="661" r:id="rId107"/>
    <p:sldId id="664" r:id="rId108"/>
    <p:sldId id="667" r:id="rId109"/>
    <p:sldId id="670" r:id="rId110"/>
    <p:sldId id="673" r:id="rId111"/>
    <p:sldId id="679" r:id="rId112"/>
    <p:sldId id="682" r:id="rId113"/>
    <p:sldId id="685" r:id="rId114"/>
    <p:sldId id="688" r:id="rId115"/>
    <p:sldId id="694" r:id="rId116"/>
    <p:sldId id="697" r:id="rId117"/>
    <p:sldId id="703" r:id="rId118"/>
    <p:sldId id="706" r:id="rId119"/>
    <p:sldId id="709" r:id="rId120"/>
    <p:sldId id="712" r:id="rId121"/>
    <p:sldId id="718" r:id="rId122"/>
    <p:sldId id="721" r:id="rId123"/>
    <p:sldId id="724" r:id="rId124"/>
    <p:sldId id="727" r:id="rId125"/>
  </p:sldIdLst>
  <p:sldSz cx="10693400" cy="7562850"/>
  <p:notesSz cx="9601200" cy="7315200"/>
  <p:custDataLst>
    <p:tags r:id="rId1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>
        <p:scale>
          <a:sx n="72" d="100"/>
          <a:sy n="72" d="100"/>
        </p:scale>
        <p:origin x="13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28" Type="http://schemas.openxmlformats.org/officeDocument/2006/relationships/viewProps" Target="viewProps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slide" Target="slides/slide115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slide" Target="slides/slide121.xml"/><Relationship Id="rId129" Type="http://schemas.openxmlformats.org/officeDocument/2006/relationships/theme" Target="theme/theme1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0" Type="http://schemas.openxmlformats.org/officeDocument/2006/relationships/tableStyles" Target="tableStyles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tags" Target="tags/tag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CF221E6-C11B-43E8-97A2-4B0D0D0C9302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DEFE170-5570-4E27-8936-51768650CE65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821E06D-729E-4574-B7A5-8347B62F0F0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32625CB-4D5D-4BD8-B308-759EAD94715C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6AAE2F5D-F44C-4691-8868-6F736E4185C8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A90363E-A75D-4F96-A26A-BBAE0B6C9504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A578C89F-401D-4478-AD4D-51A7B2CD9BF3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DB50168-8BF5-4AC0-91F5-E271636FE05F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03990CE-2E7E-4170-BCAB-117942D5F28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3D243BE-7B9A-4350-BF58-6A030EF796B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56A6E9A-F092-47B2-B1C5-33E15D59D7D8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39146" y="447547"/>
            <a:ext cx="821510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‹#›</a:t>
            </a:fld>
            <a:endParaRPr spc="-25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2123" y="457211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22148"/>
                </a:lnTo>
                <a:lnTo>
                  <a:pt x="0" y="474726"/>
                </a:lnTo>
                <a:lnTo>
                  <a:pt x="438150" y="474726"/>
                </a:lnTo>
                <a:lnTo>
                  <a:pt x="438150" y="422148"/>
                </a:lnTo>
                <a:lnTo>
                  <a:pt x="438150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647" y="457200"/>
            <a:ext cx="328422" cy="4747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65567" y="879347"/>
            <a:ext cx="422275" cy="327025"/>
          </a:xfrm>
          <a:custGeom>
            <a:avLst/>
            <a:gdLst/>
            <a:ahLst/>
            <a:cxnLst/>
            <a:rect l="l" t="t" r="r" b="b"/>
            <a:pathLst>
              <a:path w="422275" h="327025">
                <a:moveTo>
                  <a:pt x="422147" y="326897"/>
                </a:moveTo>
                <a:lnTo>
                  <a:pt x="422147" y="0"/>
                </a:lnTo>
                <a:lnTo>
                  <a:pt x="0" y="0"/>
                </a:lnTo>
                <a:lnTo>
                  <a:pt x="0" y="326897"/>
                </a:lnTo>
                <a:lnTo>
                  <a:pt x="422147" y="32689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/>
          <a:stretch>
            <a:fillRect/>
          </a:stretch>
        </p:blipFill>
        <p:spPr>
          <a:xfrm>
            <a:off x="851039" y="806195"/>
            <a:ext cx="8593836" cy="40005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6547" y="348995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241" y="857249"/>
                </a:moveTo>
                <a:lnTo>
                  <a:pt x="31241" y="0"/>
                </a:lnTo>
                <a:lnTo>
                  <a:pt x="0" y="0"/>
                </a:lnTo>
                <a:lnTo>
                  <a:pt x="0" y="857249"/>
                </a:lnTo>
                <a:lnTo>
                  <a:pt x="31241" y="857249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‹#›</a:t>
            </a:fld>
            <a:endParaRPr spc="-25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‹#›</a:t>
            </a:fld>
            <a:endParaRPr spc="-25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‹#›</a:t>
            </a:fld>
            <a:endParaRPr spc="-25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‹#›</a:t>
            </a:fld>
            <a:endParaRPr spc="-25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2123" y="457211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22148"/>
                </a:lnTo>
                <a:lnTo>
                  <a:pt x="0" y="474726"/>
                </a:lnTo>
                <a:lnTo>
                  <a:pt x="438150" y="474726"/>
                </a:lnTo>
                <a:lnTo>
                  <a:pt x="438150" y="422148"/>
                </a:lnTo>
                <a:lnTo>
                  <a:pt x="438150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647" y="457200"/>
            <a:ext cx="328422" cy="4747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65567" y="879347"/>
            <a:ext cx="422275" cy="327025"/>
          </a:xfrm>
          <a:custGeom>
            <a:avLst/>
            <a:gdLst/>
            <a:ahLst/>
            <a:cxnLst/>
            <a:rect l="l" t="t" r="r" b="b"/>
            <a:pathLst>
              <a:path w="422275" h="327025">
                <a:moveTo>
                  <a:pt x="422147" y="326897"/>
                </a:moveTo>
                <a:lnTo>
                  <a:pt x="422147" y="0"/>
                </a:lnTo>
                <a:lnTo>
                  <a:pt x="0" y="0"/>
                </a:lnTo>
                <a:lnTo>
                  <a:pt x="0" y="326897"/>
                </a:lnTo>
                <a:lnTo>
                  <a:pt x="422147" y="32689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/>
          <a:stretch>
            <a:fillRect/>
          </a:stretch>
        </p:blipFill>
        <p:spPr>
          <a:xfrm>
            <a:off x="851039" y="806195"/>
            <a:ext cx="8593836" cy="40005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6547" y="348995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241" y="857249"/>
                </a:moveTo>
                <a:lnTo>
                  <a:pt x="31241" y="0"/>
                </a:lnTo>
                <a:lnTo>
                  <a:pt x="0" y="0"/>
                </a:lnTo>
                <a:lnTo>
                  <a:pt x="0" y="857249"/>
                </a:lnTo>
                <a:lnTo>
                  <a:pt x="31241" y="857249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0402" y="774445"/>
            <a:ext cx="913259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1917" y="1512824"/>
            <a:ext cx="8529565" cy="3439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7373" y="6860953"/>
            <a:ext cx="672465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‹#›</a:t>
            </a:fld>
            <a:endParaRPr spc="-2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3" r:id="rId3"/>
    <p:sldLayoutId id="2147483664" r:id="rId4"/>
    <p:sldLayoutId id="2147483665" r:id="rId5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0402" y="774445"/>
            <a:ext cx="913259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9041" y="1512824"/>
            <a:ext cx="8655316" cy="507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3573" y="6860953"/>
            <a:ext cx="685800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0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2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0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0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0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0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0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0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2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0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0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0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0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0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2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0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0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0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0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0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0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5966" y="497453"/>
            <a:ext cx="91325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40485" algn="l"/>
              </a:tabLst>
            </a:pPr>
            <a:r>
              <a:rPr spc="-50" dirty="0"/>
              <a:t>11-1	</a:t>
            </a:r>
            <a:r>
              <a:rPr spc="-5" dirty="0"/>
              <a:t>FRAMING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70236" y="1236872"/>
            <a:ext cx="8640960" cy="2908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The data link layer needs to pack bits into </a:t>
            </a:r>
            <a:r>
              <a:rPr sz="2400" b="1" i="1" spc="-95" dirty="0">
                <a:solidFill>
                  <a:srgbClr val="FF0000"/>
                </a:solidFill>
                <a:latin typeface="Times New Roman"/>
                <a:cs typeface="Times New Roman"/>
              </a:rPr>
              <a:t>frames</a:t>
            </a:r>
            <a:r>
              <a:rPr sz="2400" b="1" i="1" spc="-95" dirty="0">
                <a:latin typeface="Times New Roman"/>
                <a:cs typeface="Times New Roman"/>
              </a:rPr>
              <a:t>,, </a:t>
            </a:r>
            <a:r>
              <a:rPr sz="2400" b="1" i="1" spc="-5" dirty="0">
                <a:latin typeface="Times New Roman"/>
                <a:cs typeface="Times New Roman"/>
              </a:rPr>
              <a:t>so 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that each frame is distinguishable from </a:t>
            </a:r>
            <a:r>
              <a:rPr sz="2400" b="1" i="1" spc="-210" dirty="0">
                <a:latin typeface="Times New Roman"/>
                <a:cs typeface="Times New Roman"/>
              </a:rPr>
              <a:t>another....</a:t>
            </a:r>
            <a:r>
              <a:rPr sz="2400" b="1" i="1" spc="-204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Our </a:t>
            </a:r>
            <a:r>
              <a:rPr sz="2400" b="1" i="1" spc="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postal system practices </a:t>
            </a:r>
            <a:r>
              <a:rPr sz="2400" b="1" i="1" dirty="0">
                <a:latin typeface="Times New Roman"/>
                <a:cs typeface="Times New Roman"/>
              </a:rPr>
              <a:t>a type </a:t>
            </a:r>
            <a:r>
              <a:rPr sz="2400" b="1" i="1" spc="-5" dirty="0">
                <a:latin typeface="Times New Roman"/>
                <a:cs typeface="Times New Roman"/>
              </a:rPr>
              <a:t>of framing. The simple 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act of inserting </a:t>
            </a:r>
            <a:r>
              <a:rPr sz="2400" b="1" i="1" dirty="0">
                <a:latin typeface="Times New Roman"/>
                <a:cs typeface="Times New Roman"/>
              </a:rPr>
              <a:t>a </a:t>
            </a:r>
            <a:r>
              <a:rPr sz="2400" b="1" i="1" spc="-5" dirty="0">
                <a:latin typeface="Times New Roman"/>
                <a:cs typeface="Times New Roman"/>
              </a:rPr>
              <a:t>letter </a:t>
            </a:r>
            <a:r>
              <a:rPr sz="2400" b="1" i="1" dirty="0">
                <a:latin typeface="Times New Roman"/>
                <a:cs typeface="Times New Roman"/>
              </a:rPr>
              <a:t>into </a:t>
            </a:r>
            <a:r>
              <a:rPr sz="2400" b="1" i="1" spc="-5" dirty="0">
                <a:latin typeface="Times New Roman"/>
                <a:cs typeface="Times New Roman"/>
              </a:rPr>
              <a:t>an envelope separates </a:t>
            </a:r>
            <a:r>
              <a:rPr sz="2400" b="1" i="1" dirty="0">
                <a:latin typeface="Times New Roman"/>
                <a:cs typeface="Times New Roman"/>
              </a:rPr>
              <a:t>one </a:t>
            </a:r>
            <a:r>
              <a:rPr sz="2400" b="1" i="1" spc="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piece </a:t>
            </a:r>
            <a:r>
              <a:rPr sz="2400" b="1" i="1" dirty="0">
                <a:latin typeface="Times New Roman"/>
                <a:cs typeface="Times New Roman"/>
              </a:rPr>
              <a:t>of </a:t>
            </a:r>
            <a:r>
              <a:rPr sz="2400" b="1" i="1" spc="-5" dirty="0">
                <a:latin typeface="Times New Roman"/>
                <a:cs typeface="Times New Roman"/>
              </a:rPr>
              <a:t>information from another; the envelope </a:t>
            </a:r>
            <a:r>
              <a:rPr sz="2400" b="1" i="1" spc="-10" dirty="0">
                <a:latin typeface="Times New Roman"/>
                <a:cs typeface="Times New Roman"/>
              </a:rPr>
              <a:t>serves </a:t>
            </a:r>
            <a:r>
              <a:rPr sz="2400" b="1" i="1" spc="-68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as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the</a:t>
            </a:r>
            <a:r>
              <a:rPr sz="2400" b="1" i="1" spc="-5" dirty="0">
                <a:latin typeface="Times New Roman"/>
                <a:cs typeface="Times New Roman"/>
              </a:rPr>
              <a:t> </a:t>
            </a:r>
            <a:r>
              <a:rPr sz="2400" b="1" i="1" spc="-145" dirty="0">
                <a:latin typeface="Times New Roman"/>
                <a:cs typeface="Times New Roman"/>
              </a:rPr>
              <a:t>delimiter..</a:t>
            </a:r>
            <a:endParaRPr lang="en-IN" sz="2400" b="1" i="1" spc="-145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4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4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400" b="1" i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4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400" dirty="0">
              <a:latin typeface="Times New Roman"/>
              <a:cs typeface="Times New Roman"/>
            </a:endParaRPr>
          </a:p>
          <a:p>
            <a:pPr marL="12700" marR="5108575">
              <a:lnSpc>
                <a:spcPct val="100000"/>
              </a:lnSpc>
              <a:spcBef>
                <a:spcPts val="400"/>
              </a:spcBef>
            </a:pPr>
            <a:r>
              <a:rPr sz="20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Fixed-Size Framing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Variable-Size</a:t>
            </a:r>
            <a:r>
              <a:rPr sz="2000" b="1" spc="-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Framing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7373" y="6860953"/>
            <a:ext cx="53149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30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sz="2000" b="1" spc="-30">
                <a:solidFill>
                  <a:srgbClr val="1B1B1B"/>
                </a:solidFill>
                <a:latin typeface="Arial"/>
                <a:cs typeface="Arial"/>
              </a:rPr>
              <a:t>1</a:t>
            </a:fld>
            <a:endParaRPr sz="2000">
              <a:latin typeface="Arial"/>
              <a:cs typeface="Arial"/>
            </a:endParaRPr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715A120C-7077-407D-9AF4-1E77184319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58268" y="5077569"/>
            <a:ext cx="7158228" cy="993647"/>
          </a:xfrm>
          <a:prstGeom prst="rect">
            <a:avLst/>
          </a:prstGeom>
        </p:spPr>
      </p:pic>
      <p:sp>
        <p:nvSpPr>
          <p:cNvPr id="14" name="object 2">
            <a:extLst>
              <a:ext uri="{FF2B5EF4-FFF2-40B4-BE49-F238E27FC236}">
                <a16:creationId xmlns:a16="http://schemas.microsoft.com/office/drawing/2014/main" id="{F232D056-D615-4248-EBDF-075238A02A09}"/>
              </a:ext>
            </a:extLst>
          </p:cNvPr>
          <p:cNvSpPr txBox="1">
            <a:spLocks/>
          </p:cNvSpPr>
          <p:nvPr/>
        </p:nvSpPr>
        <p:spPr>
          <a:xfrm>
            <a:off x="882204" y="4357489"/>
            <a:ext cx="5862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  <a:tabLst>
                <a:tab pos="1613535" algn="l"/>
              </a:tabLst>
            </a:pPr>
            <a:r>
              <a:rPr lang="en-IN" sz="2400" kern="0" spc="-15" dirty="0">
                <a:solidFill>
                  <a:srgbClr val="3333CC"/>
                </a:solidFill>
              </a:rPr>
              <a:t>Figure</a:t>
            </a:r>
            <a:r>
              <a:rPr lang="en-IN" sz="2400" kern="0" spc="-5" dirty="0">
                <a:solidFill>
                  <a:srgbClr val="3333CC"/>
                </a:solidFill>
              </a:rPr>
              <a:t> </a:t>
            </a:r>
            <a:r>
              <a:rPr lang="en-IN" sz="2400" kern="0" spc="-40" dirty="0">
                <a:solidFill>
                  <a:srgbClr val="3333CC"/>
                </a:solidFill>
              </a:rPr>
              <a:t>11.1	</a:t>
            </a:r>
            <a:r>
              <a:rPr lang="en-IN" sz="2000" i="1" kern="0" spc="-5" dirty="0"/>
              <a:t>A</a:t>
            </a:r>
            <a:r>
              <a:rPr lang="en-IN" sz="2000" i="1" kern="0" spc="-105" dirty="0"/>
              <a:t> </a:t>
            </a:r>
            <a:r>
              <a:rPr lang="en-IN" sz="2000" i="1" kern="0" spc="-5" dirty="0"/>
              <a:t>frame in a</a:t>
            </a:r>
            <a:r>
              <a:rPr lang="en-IN" sz="2000" i="1" kern="0" spc="5" dirty="0"/>
              <a:t> </a:t>
            </a:r>
            <a:r>
              <a:rPr lang="en-IN" sz="2000" i="1" kern="0" spc="-5" dirty="0"/>
              <a:t>character-oriented</a:t>
            </a:r>
            <a:r>
              <a:rPr lang="en-IN" sz="2000" i="1" kern="0" spc="-20" dirty="0"/>
              <a:t> </a:t>
            </a:r>
            <a:r>
              <a:rPr lang="en-IN" sz="2000" i="1" kern="0" spc="-5" dirty="0"/>
              <a:t>protocol</a:t>
            </a:r>
            <a:endParaRPr lang="en-IN" sz="2000" kern="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584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 spc="-5">
                <a:solidFill>
                  <a:srgbClr val="3333CC"/>
                </a:solidFill>
              </a:rPr>
              <a:t> </a:t>
            </a:r>
            <a:r>
              <a:rPr sz="2400" spc="-40">
                <a:solidFill>
                  <a:srgbClr val="3333CC"/>
                </a:solidFill>
              </a:rPr>
              <a:t>11.2	</a:t>
            </a:r>
            <a:r>
              <a:rPr sz="2000" i="1" spc="-5">
                <a:latin typeface="Times New Roman"/>
                <a:cs typeface="Times New Roman"/>
              </a:rPr>
              <a:t>Byte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10">
                <a:latin typeface="Times New Roman"/>
                <a:cs typeface="Times New Roman"/>
              </a:rPr>
              <a:t>stuffing</a:t>
            </a:r>
            <a:r>
              <a:rPr sz="2000" i="1" spc="-3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and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unstuffing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84439" y="1924050"/>
            <a:ext cx="7331202" cy="406374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7373" y="6860953"/>
            <a:ext cx="53149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30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sz="2000" b="1" spc="-30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1065" y="1819714"/>
            <a:ext cx="5129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spc="-40" dirty="0">
                <a:solidFill>
                  <a:srgbClr val="3333CC"/>
                </a:solidFill>
              </a:rPr>
              <a:t>11.3	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-10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frame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bit-oriented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protocol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35831" y="2282728"/>
            <a:ext cx="6800850" cy="126034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7373" y="6860953"/>
            <a:ext cx="53149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30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sz="2000" b="1" spc="-30">
                <a:solidFill>
                  <a:srgbClr val="1B1B1B"/>
                </a:solidFill>
                <a:latin typeface="Arial"/>
                <a:cs typeface="Arial"/>
              </a:rPr>
              <a:t>3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59CA5BD6-E4C3-6307-1C22-25B868B7084D}"/>
              </a:ext>
            </a:extLst>
          </p:cNvPr>
          <p:cNvSpPr txBox="1"/>
          <p:nvPr/>
        </p:nvSpPr>
        <p:spPr>
          <a:xfrm>
            <a:off x="1270139" y="450994"/>
            <a:ext cx="8077200" cy="1143262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41935" marR="235585">
              <a:lnSpc>
                <a:spcPct val="100000"/>
              </a:lnSpc>
              <a:spcBef>
                <a:spcPts val="275"/>
              </a:spcBef>
            </a:pPr>
            <a:r>
              <a:rPr sz="2400" b="1" spc="-5" dirty="0">
                <a:latin typeface="Arial"/>
                <a:cs typeface="Arial"/>
              </a:rPr>
              <a:t>Byte </a:t>
            </a:r>
            <a:r>
              <a:rPr sz="2400" b="1" spc="-10" dirty="0">
                <a:latin typeface="Arial"/>
                <a:cs typeface="Arial"/>
              </a:rPr>
              <a:t>stuffing </a:t>
            </a:r>
            <a:r>
              <a:rPr sz="2400" b="1" spc="-5" dirty="0">
                <a:latin typeface="Arial"/>
                <a:cs typeface="Arial"/>
              </a:rPr>
              <a:t>is the process of </a:t>
            </a:r>
            <a:r>
              <a:rPr sz="2400" b="1" spc="-10" dirty="0">
                <a:latin typeface="Arial"/>
                <a:cs typeface="Arial"/>
              </a:rPr>
              <a:t>adding </a:t>
            </a:r>
            <a:r>
              <a:rPr sz="2400" b="1" spc="-5" dirty="0">
                <a:latin typeface="Arial"/>
                <a:cs typeface="Arial"/>
              </a:rPr>
              <a:t>1 </a:t>
            </a:r>
            <a:r>
              <a:rPr sz="2400" b="1" spc="-87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extra byte whenever there is a flag </a:t>
            </a:r>
            <a:r>
              <a:rPr sz="2400" b="1" spc="-10" dirty="0">
                <a:latin typeface="Arial"/>
                <a:cs typeface="Arial"/>
              </a:rPr>
              <a:t>or 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escape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character </a:t>
            </a:r>
            <a:r>
              <a:rPr sz="2400" b="1" spc="-5" dirty="0">
                <a:latin typeface="Arial"/>
                <a:cs typeface="Arial"/>
              </a:rPr>
              <a:t>in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the</a:t>
            </a:r>
            <a:r>
              <a:rPr sz="2400" b="1" spc="-10" dirty="0">
                <a:latin typeface="Arial"/>
                <a:cs typeface="Arial"/>
              </a:rPr>
              <a:t> text.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F047FB80-72BF-A421-0F44-6752A8B52DC9}"/>
              </a:ext>
            </a:extLst>
          </p:cNvPr>
          <p:cNvSpPr txBox="1"/>
          <p:nvPr/>
        </p:nvSpPr>
        <p:spPr>
          <a:xfrm>
            <a:off x="1335841" y="3810510"/>
            <a:ext cx="8077200" cy="1512594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62560" marR="154305" algn="ctr">
              <a:lnSpc>
                <a:spcPct val="100000"/>
              </a:lnSpc>
              <a:spcBef>
                <a:spcPts val="275"/>
              </a:spcBef>
            </a:pPr>
            <a:r>
              <a:rPr sz="2400" b="1" spc="-5">
                <a:latin typeface="Arial"/>
                <a:cs typeface="Arial"/>
              </a:rPr>
              <a:t>Bit stuffing is the process of </a:t>
            </a:r>
            <a:r>
              <a:rPr sz="2400" b="1" spc="-10">
                <a:latin typeface="Arial"/>
                <a:cs typeface="Arial"/>
              </a:rPr>
              <a:t>adding </a:t>
            </a:r>
            <a:r>
              <a:rPr sz="2400" b="1" spc="-5">
                <a:latin typeface="Arial"/>
                <a:cs typeface="Arial"/>
              </a:rPr>
              <a:t>one </a:t>
            </a:r>
            <a:r>
              <a:rPr sz="2400" b="1" spc="-875">
                <a:latin typeface="Arial"/>
                <a:cs typeface="Arial"/>
              </a:rPr>
              <a:t> </a:t>
            </a:r>
            <a:r>
              <a:rPr sz="2400" b="1" spc="-5">
                <a:latin typeface="Arial"/>
                <a:cs typeface="Arial"/>
              </a:rPr>
              <a:t>extra 0 </a:t>
            </a:r>
            <a:r>
              <a:rPr sz="2400" b="1" spc="-10">
                <a:latin typeface="Arial"/>
                <a:cs typeface="Arial"/>
              </a:rPr>
              <a:t>whenever </a:t>
            </a:r>
            <a:r>
              <a:rPr sz="2400" b="1" spc="-5">
                <a:latin typeface="Arial"/>
                <a:cs typeface="Arial"/>
              </a:rPr>
              <a:t>five </a:t>
            </a:r>
            <a:r>
              <a:rPr sz="2400" b="1" spc="-10">
                <a:latin typeface="Arial"/>
                <a:cs typeface="Arial"/>
              </a:rPr>
              <a:t>consecutive 1s </a:t>
            </a:r>
            <a:r>
              <a:rPr sz="2400" b="1" spc="-5">
                <a:latin typeface="Arial"/>
                <a:cs typeface="Arial"/>
              </a:rPr>
              <a:t> follow a 0 in the data, so that the </a:t>
            </a:r>
            <a:r>
              <a:rPr sz="2400" b="1">
                <a:latin typeface="Arial"/>
                <a:cs typeface="Arial"/>
              </a:rPr>
              <a:t> </a:t>
            </a:r>
            <a:r>
              <a:rPr sz="2400" b="1" spc="-10">
                <a:latin typeface="Arial"/>
                <a:cs typeface="Arial"/>
              </a:rPr>
              <a:t>receiver</a:t>
            </a:r>
            <a:r>
              <a:rPr sz="2400" b="1" spc="-5">
                <a:latin typeface="Arial"/>
                <a:cs typeface="Arial"/>
              </a:rPr>
              <a:t> does</a:t>
            </a:r>
            <a:r>
              <a:rPr sz="2400" b="1" spc="-20">
                <a:latin typeface="Arial"/>
                <a:cs typeface="Arial"/>
              </a:rPr>
              <a:t> </a:t>
            </a:r>
            <a:r>
              <a:rPr sz="2400" b="1" spc="-5">
                <a:latin typeface="Arial"/>
                <a:cs typeface="Arial"/>
              </a:rPr>
              <a:t>not</a:t>
            </a:r>
            <a:r>
              <a:rPr sz="2400" b="1" spc="-15">
                <a:latin typeface="Arial"/>
                <a:cs typeface="Arial"/>
              </a:rPr>
              <a:t> </a:t>
            </a:r>
            <a:r>
              <a:rPr sz="2400" b="1" spc="-10">
                <a:latin typeface="Arial"/>
                <a:cs typeface="Arial"/>
              </a:rPr>
              <a:t>mistake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b="1" spc="-5">
                <a:latin typeface="Arial"/>
                <a:cs typeface="Arial"/>
              </a:rPr>
              <a:t>the</a:t>
            </a:r>
            <a:r>
              <a:rPr sz="2400" b="1" spc="-20">
                <a:latin typeface="Arial"/>
                <a:cs typeface="Arial"/>
              </a:rPr>
              <a:t> </a:t>
            </a:r>
            <a:r>
              <a:rPr sz="2400" b="1" spc="-5">
                <a:latin typeface="Arial"/>
                <a:cs typeface="Arial"/>
              </a:rPr>
              <a:t>pattern</a:t>
            </a:r>
            <a:r>
              <a:rPr sz="2400" b="1" spc="-15">
                <a:latin typeface="Arial"/>
                <a:cs typeface="Arial"/>
              </a:rPr>
              <a:t> </a:t>
            </a:r>
            <a:r>
              <a:rPr sz="2400" b="1" spc="-110">
                <a:latin typeface="Arial"/>
                <a:cs typeface="Arial"/>
              </a:rPr>
              <a:t>0111110</a:t>
            </a:r>
            <a:r>
              <a:rPr sz="2400" b="1" spc="-25">
                <a:latin typeface="Arial"/>
                <a:cs typeface="Arial"/>
              </a:rPr>
              <a:t> </a:t>
            </a:r>
            <a:r>
              <a:rPr sz="2400" b="1" spc="-5">
                <a:latin typeface="Arial"/>
                <a:cs typeface="Arial"/>
              </a:rPr>
              <a:t>for</a:t>
            </a:r>
            <a:r>
              <a:rPr sz="2400" b="1" spc="-10">
                <a:latin typeface="Arial"/>
                <a:cs typeface="Arial"/>
              </a:rPr>
              <a:t> </a:t>
            </a:r>
            <a:r>
              <a:rPr sz="2400" b="1" spc="-5">
                <a:latin typeface="Arial"/>
                <a:cs typeface="Arial"/>
              </a:rPr>
              <a:t>a</a:t>
            </a:r>
            <a:r>
              <a:rPr sz="2400" b="1" spc="-10">
                <a:latin typeface="Arial"/>
                <a:cs typeface="Arial"/>
              </a:rPr>
              <a:t> flag.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429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 spc="-5">
                <a:solidFill>
                  <a:srgbClr val="3333CC"/>
                </a:solidFill>
              </a:rPr>
              <a:t> </a:t>
            </a:r>
            <a:r>
              <a:rPr sz="2400" spc="-40">
                <a:solidFill>
                  <a:srgbClr val="3333CC"/>
                </a:solidFill>
              </a:rPr>
              <a:t>11.4	</a:t>
            </a:r>
            <a:r>
              <a:rPr sz="2000" i="1" spc="-5">
                <a:latin typeface="Times New Roman"/>
                <a:cs typeface="Times New Roman"/>
              </a:rPr>
              <a:t>Bit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10">
                <a:latin typeface="Times New Roman"/>
                <a:cs typeface="Times New Roman"/>
              </a:rPr>
              <a:t>stuffing</a:t>
            </a:r>
            <a:r>
              <a:rPr sz="2000" i="1" spc="-3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and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unstuffing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856117" y="2046732"/>
            <a:ext cx="5776721" cy="409346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7373" y="6860953"/>
            <a:ext cx="53149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30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sz="2000" b="1" spc="-30">
                <a:solidFill>
                  <a:srgbClr val="1B1B1B"/>
                </a:solidFill>
                <a:latin typeface="Arial"/>
                <a:cs typeface="Arial"/>
              </a:rPr>
              <a:t>4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59689" y="1549114"/>
            <a:ext cx="83439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69545" marR="163195" algn="ctr">
              <a:lnSpc>
                <a:spcPct val="100000"/>
              </a:lnSpc>
              <a:spcBef>
                <a:spcPts val="275"/>
              </a:spcBef>
              <a:tabLst>
                <a:tab pos="3324860" algn="l"/>
              </a:tabLst>
            </a:pPr>
            <a:r>
              <a:rPr sz="3200" b="1" spc="-5" dirty="0">
                <a:latin typeface="Arial"/>
                <a:cs typeface="Arial"/>
              </a:rPr>
              <a:t>Flow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control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refers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 a set of procedures </a:t>
            </a:r>
            <a:r>
              <a:rPr sz="3200" b="1" spc="-869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used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restrict	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amount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data</a:t>
            </a:r>
            <a:endParaRPr sz="3200" dirty="0">
              <a:latin typeface="Arial"/>
              <a:cs typeface="Arial"/>
            </a:endParaRPr>
          </a:p>
          <a:p>
            <a:pPr marL="1050290" marR="1045844" algn="ctr">
              <a:lnSpc>
                <a:spcPct val="100000"/>
              </a:lnSpc>
              <a:tabLst>
                <a:tab pos="6049010" algn="l"/>
              </a:tabLst>
            </a:pPr>
            <a:r>
              <a:rPr sz="3200" b="1" spc="-10" dirty="0">
                <a:latin typeface="Arial"/>
                <a:cs typeface="Arial"/>
              </a:rPr>
              <a:t>tha</a:t>
            </a:r>
            <a:r>
              <a:rPr sz="3200" b="1" spc="-5" dirty="0">
                <a:latin typeface="Arial"/>
                <a:cs typeface="Arial"/>
              </a:rPr>
              <a:t>t</a:t>
            </a:r>
            <a:r>
              <a:rPr sz="3200" b="1" spc="-10" dirty="0">
                <a:latin typeface="Arial"/>
                <a:cs typeface="Arial"/>
              </a:rPr>
              <a:t> th</a:t>
            </a:r>
            <a:r>
              <a:rPr sz="3200" b="1" spc="-5" dirty="0">
                <a:latin typeface="Arial"/>
                <a:cs typeface="Arial"/>
              </a:rPr>
              <a:t>e</a:t>
            </a:r>
            <a:r>
              <a:rPr sz="3200" b="1" spc="-10" dirty="0">
                <a:latin typeface="Arial"/>
                <a:cs typeface="Arial"/>
              </a:rPr>
              <a:t> sende</a:t>
            </a:r>
            <a:r>
              <a:rPr sz="3200" b="1" spc="-5" dirty="0">
                <a:latin typeface="Arial"/>
                <a:cs typeface="Arial"/>
              </a:rPr>
              <a:t>r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ca</a:t>
            </a:r>
            <a:r>
              <a:rPr sz="3200" b="1" spc="-5" dirty="0">
                <a:latin typeface="Arial"/>
                <a:cs typeface="Arial"/>
              </a:rPr>
              <a:t>n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sen</a:t>
            </a:r>
            <a:r>
              <a:rPr sz="3200" b="1" spc="-5" dirty="0">
                <a:latin typeface="Arial"/>
                <a:cs typeface="Arial"/>
              </a:rPr>
              <a:t>d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b="1" spc="-10" dirty="0">
                <a:latin typeface="Arial"/>
                <a:cs typeface="Arial"/>
              </a:rPr>
              <a:t>before  </a:t>
            </a:r>
            <a:r>
              <a:rPr sz="3200" b="1" spc="-5" dirty="0">
                <a:latin typeface="Arial"/>
                <a:cs typeface="Arial"/>
              </a:rPr>
              <a:t>waiting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for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acknowledgment.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5</a:t>
            </a:fld>
            <a:endParaRPr spc="-25"/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706D1668-90EA-3217-E6A5-BE038375DE62}"/>
              </a:ext>
            </a:extLst>
          </p:cNvPr>
          <p:cNvSpPr txBox="1"/>
          <p:nvPr/>
        </p:nvSpPr>
        <p:spPr>
          <a:xfrm>
            <a:off x="1449838" y="3931007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589280" marR="558165" indent="-24130" algn="just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Error </a:t>
            </a:r>
            <a:r>
              <a:rPr sz="3200" b="1" spc="-10" dirty="0">
                <a:latin typeface="Arial"/>
                <a:cs typeface="Arial"/>
              </a:rPr>
              <a:t>control </a:t>
            </a:r>
            <a:r>
              <a:rPr sz="3200" b="1" spc="-5" dirty="0">
                <a:latin typeface="Arial"/>
                <a:cs typeface="Arial"/>
              </a:rPr>
              <a:t>in the data link layer </a:t>
            </a:r>
            <a:r>
              <a:rPr sz="3200" b="1" spc="-10" dirty="0">
                <a:latin typeface="Arial"/>
                <a:cs typeface="Arial"/>
              </a:rPr>
              <a:t>is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based on automatic repeat request,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which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retransmission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data.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40485" algn="l"/>
              </a:tabLst>
            </a:pPr>
            <a:r>
              <a:rPr spc="-50"/>
              <a:t>11-3	</a:t>
            </a:r>
            <a:r>
              <a:rPr spc="-10"/>
              <a:t>PROTOCOLS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5143500"/>
            <a:chOff x="774839" y="1206246"/>
            <a:chExt cx="9144000" cy="514350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4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4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4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4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4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839" y="2062746"/>
              <a:ext cx="9144000" cy="4287520"/>
            </a:xfrm>
            <a:custGeom>
              <a:avLst/>
              <a:gdLst/>
              <a:ahLst/>
              <a:cxnLst/>
              <a:rect l="l" t="t" r="r" b="b"/>
              <a:pathLst>
                <a:path w="9144000" h="4287520">
                  <a:moveTo>
                    <a:pt x="9144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4287012"/>
                  </a:lnTo>
                  <a:lnTo>
                    <a:pt x="9144000" y="4287012"/>
                  </a:lnTo>
                  <a:lnTo>
                    <a:pt x="9144000" y="8572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58373" y="1770380"/>
            <a:ext cx="8071484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Now </a:t>
            </a:r>
            <a:r>
              <a:rPr sz="2800" b="1" i="1" spc="-10" dirty="0">
                <a:latin typeface="Times New Roman"/>
                <a:cs typeface="Times New Roman"/>
              </a:rPr>
              <a:t>let </a:t>
            </a:r>
            <a:r>
              <a:rPr sz="2800" b="1" i="1" dirty="0">
                <a:latin typeface="Times New Roman"/>
                <a:cs typeface="Times New Roman"/>
              </a:rPr>
              <a:t>us </a:t>
            </a:r>
            <a:r>
              <a:rPr sz="2800" b="1" i="1" spc="-10" dirty="0">
                <a:latin typeface="Times New Roman"/>
                <a:cs typeface="Times New Roman"/>
              </a:rPr>
              <a:t>see </a:t>
            </a:r>
            <a:r>
              <a:rPr sz="2800" b="1" i="1" spc="-5" dirty="0">
                <a:latin typeface="Times New Roman"/>
                <a:cs typeface="Times New Roman"/>
              </a:rPr>
              <a:t>how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data link layer </a:t>
            </a:r>
            <a:r>
              <a:rPr sz="2800" b="1" i="1" spc="-10" dirty="0">
                <a:latin typeface="Times New Roman"/>
                <a:cs typeface="Times New Roman"/>
              </a:rPr>
              <a:t>can </a:t>
            </a:r>
            <a:r>
              <a:rPr sz="2800" b="1" i="1" spc="-5" dirty="0">
                <a:latin typeface="Times New Roman"/>
                <a:cs typeface="Times New Roman"/>
              </a:rPr>
              <a:t>combine </a:t>
            </a:r>
            <a:r>
              <a:rPr sz="2800" b="1" i="1" dirty="0">
                <a:latin typeface="Times New Roman"/>
                <a:cs typeface="Times New Roman"/>
              </a:rPr>
              <a:t> framing, </a:t>
            </a:r>
            <a:r>
              <a:rPr sz="2800" b="1" i="1" spc="-5" dirty="0">
                <a:latin typeface="Times New Roman"/>
                <a:cs typeface="Times New Roman"/>
              </a:rPr>
              <a:t>flow control, and error control to achieve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delivery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from</a:t>
            </a:r>
            <a:r>
              <a:rPr sz="2800" b="1" i="1" dirty="0">
                <a:latin typeface="Times New Roman"/>
                <a:cs typeface="Times New Roman"/>
              </a:rPr>
              <a:t> one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node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00" dirty="0">
                <a:latin typeface="Times New Roman"/>
                <a:cs typeface="Times New Roman"/>
              </a:rPr>
              <a:t>another..</a:t>
            </a:r>
            <a:r>
              <a:rPr sz="2800" b="1" i="1" spc="-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protocols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normally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implemented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software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by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using </a:t>
            </a:r>
            <a:r>
              <a:rPr sz="2800" b="1" i="1" dirty="0">
                <a:latin typeface="Times New Roman"/>
                <a:cs typeface="Times New Roman"/>
              </a:rPr>
              <a:t>one of </a:t>
            </a:r>
            <a:r>
              <a:rPr sz="2800" b="1" i="1" spc="-5" dirty="0">
                <a:latin typeface="Times New Roman"/>
                <a:cs typeface="Times New Roman"/>
              </a:rPr>
              <a:t>the common programming </a:t>
            </a:r>
            <a:r>
              <a:rPr sz="2800" b="1" i="1" spc="-65" dirty="0">
                <a:latin typeface="Times New Roman"/>
                <a:cs typeface="Times New Roman"/>
              </a:rPr>
              <a:t>languages.. </a:t>
            </a:r>
            <a:r>
              <a:rPr sz="2800" b="1" i="1" spc="-260" dirty="0">
                <a:latin typeface="Times New Roman"/>
                <a:cs typeface="Times New Roman"/>
              </a:rPr>
              <a:t>To </a:t>
            </a:r>
            <a:r>
              <a:rPr sz="2800" b="1" i="1" spc="-25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make</a:t>
            </a:r>
            <a:r>
              <a:rPr sz="2800" b="1" i="1" spc="3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our</a:t>
            </a:r>
            <a:r>
              <a:rPr sz="2800" b="1" i="1" spc="3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discussions</a:t>
            </a:r>
            <a:r>
              <a:rPr sz="2800" b="1" i="1" spc="3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language-free,</a:t>
            </a:r>
            <a:r>
              <a:rPr sz="2800" b="1" i="1" spc="3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3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have</a:t>
            </a:r>
            <a:r>
              <a:rPr sz="2800" b="1" i="1" spc="3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written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pseudocode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version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protocol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that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concentrates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mostly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procedure</a:t>
            </a:r>
            <a:r>
              <a:rPr sz="2800" b="1" i="1" dirty="0">
                <a:latin typeface="Times New Roman"/>
                <a:cs typeface="Times New Roman"/>
              </a:rPr>
              <a:t> instead</a:t>
            </a:r>
            <a:r>
              <a:rPr sz="2800" b="1" i="1" spc="70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delving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into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details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language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204" dirty="0">
                <a:latin typeface="Times New Roman"/>
                <a:cs typeface="Times New Roman"/>
              </a:rPr>
              <a:t>rules..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6</a:t>
            </a:fld>
            <a:endParaRPr spc="-25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6332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 spc="-5">
                <a:solidFill>
                  <a:srgbClr val="3333CC"/>
                </a:solidFill>
              </a:rPr>
              <a:t> </a:t>
            </a:r>
            <a:r>
              <a:rPr sz="2400" spc="-40">
                <a:solidFill>
                  <a:srgbClr val="3333CC"/>
                </a:solidFill>
              </a:rPr>
              <a:t>11.5	</a:t>
            </a:r>
            <a:r>
              <a:rPr sz="2000" i="1" spc="-25">
                <a:latin typeface="Times New Roman"/>
                <a:cs typeface="Times New Roman"/>
              </a:rPr>
              <a:t>Taxonomy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of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protocols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discussed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this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chapter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497" y="2105405"/>
            <a:ext cx="8527542" cy="380619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7</a:t>
            </a:fld>
            <a:endParaRPr spc="-25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40485" algn="l"/>
              </a:tabLst>
            </a:pPr>
            <a:r>
              <a:rPr spc="-50"/>
              <a:t>11-4	</a:t>
            </a:r>
            <a:r>
              <a:rPr spc="-5"/>
              <a:t>NOISELESS</a:t>
            </a:r>
            <a:r>
              <a:rPr spc="-10"/>
              <a:t> </a:t>
            </a:r>
            <a:r>
              <a:rPr spc="-5"/>
              <a:t>CHANNELS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4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4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4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4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4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58354" y="1970786"/>
            <a:ext cx="807085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Let us first assume we have an ideal channel in which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no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lost,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duplicated,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or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corrupted.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215">
                <a:latin typeface="Times New Roman"/>
                <a:cs typeface="Times New Roman"/>
              </a:rPr>
              <a:t>We </a:t>
            </a:r>
            <a:r>
              <a:rPr sz="2800" b="1" i="1" spc="-2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introduce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two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protocols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for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this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type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160">
                <a:latin typeface="Times New Roman"/>
                <a:cs typeface="Times New Roman"/>
              </a:rPr>
              <a:t>channel..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8</a:t>
            </a:fld>
            <a:endParaRPr spc="-25"/>
          </a:p>
        </p:txBody>
      </p:sp>
      <p:sp>
        <p:nvSpPr>
          <p:cNvPr id="11" name="object 11"/>
          <p:cNvSpPr txBox="1"/>
          <p:nvPr/>
        </p:nvSpPr>
        <p:spPr>
          <a:xfrm>
            <a:off x="1005973" y="4514528"/>
            <a:ext cx="4699000" cy="129413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65"/>
              </a:spcBef>
            </a:pPr>
            <a:r>
              <a:rPr sz="2800" b="1" i="1" u="heavy" spc="-4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4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Simplest</a:t>
            </a:r>
            <a:r>
              <a:rPr sz="2400" b="1" spc="-45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>
                <a:solidFill>
                  <a:srgbClr val="0033CC"/>
                </a:solidFill>
                <a:latin typeface="Times New Roman"/>
                <a:cs typeface="Times New Roman"/>
              </a:rPr>
              <a:t>Protocol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5">
                <a:solidFill>
                  <a:srgbClr val="0033CC"/>
                </a:solidFill>
                <a:latin typeface="Times New Roman"/>
                <a:cs typeface="Times New Roman"/>
              </a:rPr>
              <a:t>Stop-and-Wait</a:t>
            </a:r>
            <a:r>
              <a:rPr sz="2400" b="1" spc="-25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>
                <a:solidFill>
                  <a:srgbClr val="0033CC"/>
                </a:solidFill>
                <a:latin typeface="Times New Roman"/>
                <a:cs typeface="Times New Roman"/>
              </a:rPr>
              <a:t>Protocol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729" y="752347"/>
            <a:ext cx="8326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 spc="-5">
                <a:solidFill>
                  <a:srgbClr val="3333CC"/>
                </a:solidFill>
              </a:rPr>
              <a:t> </a:t>
            </a:r>
            <a:r>
              <a:rPr sz="2400" spc="-40">
                <a:solidFill>
                  <a:srgbClr val="3333CC"/>
                </a:solidFill>
              </a:rPr>
              <a:t>11.6	</a:t>
            </a:r>
            <a:r>
              <a:rPr sz="2000" i="1" spc="-5">
                <a:latin typeface="Times New Roman"/>
                <a:cs typeface="Times New Roman"/>
              </a:rPr>
              <a:t>The</a:t>
            </a:r>
            <a:r>
              <a:rPr sz="2000" i="1" spc="2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design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of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the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simplest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protocol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with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no</a:t>
            </a:r>
            <a:r>
              <a:rPr sz="2000" i="1" spc="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flow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or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error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control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98917" y="1597152"/>
            <a:ext cx="7605521" cy="477164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9</a:t>
            </a:fld>
            <a:endParaRPr spc="-25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7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71525" algn="l"/>
                <a:tab pos="1162685" algn="l"/>
                <a:tab pos="1575435" algn="l"/>
                <a:tab pos="1908175" algn="l"/>
                <a:tab pos="2093595" algn="l"/>
                <a:tab pos="2289175" algn="l"/>
                <a:tab pos="2751455" algn="l"/>
                <a:tab pos="2941320" algn="l"/>
                <a:tab pos="3213735" algn="l"/>
                <a:tab pos="3321685" algn="l"/>
                <a:tab pos="3461385" algn="l"/>
                <a:tab pos="4049395" algn="l"/>
                <a:tab pos="4649470" algn="l"/>
                <a:tab pos="4827905" algn="l"/>
                <a:tab pos="5268595" algn="l"/>
                <a:tab pos="5310505" algn="l"/>
                <a:tab pos="5542280" algn="l"/>
                <a:tab pos="6109335" algn="l"/>
                <a:tab pos="7009130" algn="l"/>
                <a:tab pos="7301865" algn="l"/>
                <a:tab pos="7703820" algn="l"/>
                <a:tab pos="8060055" algn="l"/>
                <a:tab pos="8336915" algn="l"/>
              </a:tabLst>
            </a:pPr>
            <a:r>
              <a:rPr spc="-5"/>
              <a:t>Figur</a:t>
            </a:r>
            <a:r>
              <a:t>e	</a:t>
            </a:r>
            <a:r>
              <a:rPr spc="-160"/>
              <a:t>1</a:t>
            </a:r>
            <a:r>
              <a:rPr spc="-5"/>
              <a:t>1.</a:t>
            </a:r>
            <a:r>
              <a:t>7	</a:t>
            </a:r>
            <a:r>
              <a:rPr spc="-5"/>
              <a:t>show</a:t>
            </a:r>
            <a:r>
              <a:t>s	an		</a:t>
            </a:r>
            <a:r>
              <a:rPr spc="-10"/>
              <a:t>e</a:t>
            </a:r>
            <a:r>
              <a:rPr spc="-5"/>
              <a:t>xampl</a:t>
            </a:r>
            <a:r>
              <a:t>e	</a:t>
            </a:r>
            <a:r>
              <a:rPr spc="-5"/>
              <a:t>o</a:t>
            </a:r>
            <a:r>
              <a:t>f	</a:t>
            </a:r>
            <a:r>
              <a:rPr spc="-5"/>
              <a:t>communicatio</a:t>
            </a:r>
            <a:r>
              <a:t>n	</a:t>
            </a:r>
            <a:r>
              <a:rPr spc="-5"/>
              <a:t>using  thi</a:t>
            </a:r>
            <a:r>
              <a:t>s	p</a:t>
            </a:r>
            <a:r>
              <a:rPr spc="-5"/>
              <a:t>rotocol</a:t>
            </a:r>
            <a:r>
              <a:t>.		</a:t>
            </a:r>
            <a:r>
              <a:rPr spc="-5"/>
              <a:t>I</a:t>
            </a:r>
            <a:r>
              <a:t>t	</a:t>
            </a:r>
            <a:r>
              <a:rPr spc="-10"/>
              <a:t>i</a:t>
            </a:r>
            <a:r>
              <a:t>s	</a:t>
            </a:r>
            <a:r>
              <a:rPr spc="-10"/>
              <a:t>ve</a:t>
            </a:r>
            <a:r>
              <a:rPr spc="-5"/>
              <a:t>r</a:t>
            </a:r>
            <a:r>
              <a:t>y	</a:t>
            </a:r>
            <a:r>
              <a:rPr spc="-5"/>
              <a:t>simpl</a:t>
            </a:r>
            <a:r>
              <a:rPr spc="-10"/>
              <a:t>e</a:t>
            </a:r>
            <a:r>
              <a:t>.		The	</a:t>
            </a:r>
            <a:r>
              <a:rPr spc="-5"/>
              <a:t>s</a:t>
            </a:r>
            <a:r>
              <a:t>end</a:t>
            </a:r>
            <a:r>
              <a:rPr spc="-15"/>
              <a:t>e</a:t>
            </a:r>
            <a:r>
              <a:t>r	</a:t>
            </a:r>
            <a:r>
              <a:rPr spc="-5"/>
              <a:t>s</a:t>
            </a:r>
            <a:r>
              <a:t>ends	a  </a:t>
            </a:r>
            <a:r>
              <a:rPr spc="-5"/>
              <a:t>sequenc</a:t>
            </a:r>
            <a:r>
              <a:t>e	</a:t>
            </a:r>
            <a:r>
              <a:rPr spc="-5"/>
              <a:t>o</a:t>
            </a:r>
            <a:r>
              <a:t>f		</a:t>
            </a:r>
            <a:r>
              <a:rPr spc="-5"/>
              <a:t>frame</a:t>
            </a:r>
            <a:r>
              <a:t>s		</a:t>
            </a:r>
            <a:r>
              <a:rPr spc="-5"/>
              <a:t>withou</a:t>
            </a:r>
            <a:r>
              <a:t>t	</a:t>
            </a:r>
            <a:r>
              <a:rPr spc="-5"/>
              <a:t>eve</a:t>
            </a:r>
            <a:r>
              <a:t>n	</a:t>
            </a:r>
            <a:r>
              <a:rPr spc="-5"/>
              <a:t>thinkin</a:t>
            </a:r>
            <a:r>
              <a:t>g	</a:t>
            </a:r>
            <a:r>
              <a:rPr spc="-5"/>
              <a:t>abou</a:t>
            </a:r>
            <a:r>
              <a:t>t	t</a:t>
            </a:r>
            <a:r>
              <a:rPr spc="-5"/>
              <a:t>he  </a:t>
            </a:r>
            <a:r>
              <a:rPr spc="-25"/>
              <a:t>receiver.</a:t>
            </a:r>
            <a:r>
              <a:rPr spc="325"/>
              <a:t> </a:t>
            </a:r>
            <a:r>
              <a:rPr spc="-130"/>
              <a:t>To</a:t>
            </a:r>
            <a:r>
              <a:rPr spc="335"/>
              <a:t> </a:t>
            </a:r>
            <a:r>
              <a:rPr spc="-5"/>
              <a:t>send</a:t>
            </a:r>
            <a:r>
              <a:rPr spc="325"/>
              <a:t> </a:t>
            </a:r>
            <a:r>
              <a:rPr spc="-5"/>
              <a:t>three</a:t>
            </a:r>
            <a:r>
              <a:rPr spc="325"/>
              <a:t> </a:t>
            </a:r>
            <a:r>
              <a:rPr spc="-5"/>
              <a:t>frames,</a:t>
            </a:r>
            <a:r>
              <a:rPr spc="325"/>
              <a:t> </a:t>
            </a:r>
            <a:r>
              <a:rPr spc="-5"/>
              <a:t>three</a:t>
            </a:r>
            <a:r>
              <a:rPr spc="335"/>
              <a:t> </a:t>
            </a:r>
            <a:r>
              <a:rPr spc="-5"/>
              <a:t>events</a:t>
            </a:r>
            <a:r>
              <a:rPr spc="325"/>
              <a:t> </a:t>
            </a:r>
            <a:r>
              <a:rPr spc="-10"/>
              <a:t>occur</a:t>
            </a:r>
            <a:r>
              <a:rPr spc="330"/>
              <a:t> </a:t>
            </a:r>
            <a:r>
              <a:t>at</a:t>
            </a:r>
            <a:r>
              <a:rPr spc="325"/>
              <a:t> </a:t>
            </a:r>
            <a:r>
              <a:rPr spc="-5"/>
              <a:t>the </a:t>
            </a:r>
            <a:r>
              <a:rPr spc="-685"/>
              <a:t> </a:t>
            </a:r>
            <a:r>
              <a:rPr spc="-5"/>
              <a:t>sender</a:t>
            </a:r>
            <a:r>
              <a:rPr spc="150"/>
              <a:t> </a:t>
            </a:r>
            <a:r>
              <a:rPr spc="-5"/>
              <a:t>site</a:t>
            </a:r>
            <a:r>
              <a:rPr spc="160"/>
              <a:t> </a:t>
            </a:r>
            <a:r>
              <a:rPr spc="-5"/>
              <a:t>and</a:t>
            </a:r>
            <a:r>
              <a:rPr spc="165"/>
              <a:t> </a:t>
            </a:r>
            <a:r>
              <a:rPr spc="-5"/>
              <a:t>three</a:t>
            </a:r>
            <a:r>
              <a:rPr spc="155"/>
              <a:t> </a:t>
            </a:r>
            <a:r>
              <a:rPr spc="-5"/>
              <a:t>events</a:t>
            </a:r>
            <a:r>
              <a:rPr spc="155"/>
              <a:t> </a:t>
            </a:r>
            <a:r>
              <a:t>at</a:t>
            </a:r>
            <a:r>
              <a:rPr spc="155"/>
              <a:t> </a:t>
            </a:r>
            <a:r>
              <a:rPr spc="-5"/>
              <a:t>the</a:t>
            </a:r>
            <a:r>
              <a:rPr spc="160"/>
              <a:t> </a:t>
            </a:r>
            <a:r>
              <a:rPr spc="-5"/>
              <a:t>receiver</a:t>
            </a:r>
            <a:r>
              <a:rPr spc="155"/>
              <a:t> </a:t>
            </a:r>
            <a:r>
              <a:rPr spc="-5"/>
              <a:t>site.</a:t>
            </a:r>
            <a:r>
              <a:rPr spc="165"/>
              <a:t> </a:t>
            </a:r>
            <a:r>
              <a:rPr spc="-5"/>
              <a:t>Note</a:t>
            </a:r>
            <a:r>
              <a:rPr spc="160"/>
              <a:t> </a:t>
            </a:r>
            <a:r>
              <a:rPr spc="-5"/>
              <a:t>that </a:t>
            </a:r>
            <a:r>
              <a:rPr spc="-685"/>
              <a:t> </a:t>
            </a:r>
            <a:r>
              <a:t>the</a:t>
            </a:r>
            <a:r>
              <a:rPr spc="310"/>
              <a:t> </a:t>
            </a:r>
            <a:r>
              <a:rPr spc="-5"/>
              <a:t>data</a:t>
            </a:r>
            <a:r>
              <a:rPr spc="320"/>
              <a:t> </a:t>
            </a:r>
            <a:r>
              <a:rPr spc="-5"/>
              <a:t>frames</a:t>
            </a:r>
            <a:r>
              <a:rPr spc="320"/>
              <a:t> </a:t>
            </a:r>
            <a:r>
              <a:rPr spc="-5"/>
              <a:t>are</a:t>
            </a:r>
            <a:r>
              <a:rPr spc="310"/>
              <a:t> </a:t>
            </a:r>
            <a:r>
              <a:rPr spc="-5"/>
              <a:t>shown</a:t>
            </a:r>
            <a:r>
              <a:rPr spc="320"/>
              <a:t> </a:t>
            </a:r>
            <a:r>
              <a:rPr spc="-5"/>
              <a:t>by</a:t>
            </a:r>
            <a:r>
              <a:rPr spc="315"/>
              <a:t> </a:t>
            </a:r>
            <a:r>
              <a:rPr spc="-5"/>
              <a:t>tilted</a:t>
            </a:r>
            <a:r>
              <a:rPr spc="315"/>
              <a:t> </a:t>
            </a:r>
            <a:r>
              <a:rPr spc="-5"/>
              <a:t>boxes;</a:t>
            </a:r>
            <a:r>
              <a:rPr spc="315"/>
              <a:t> </a:t>
            </a:r>
            <a:r>
              <a:t>the</a:t>
            </a:r>
            <a:r>
              <a:rPr spc="310"/>
              <a:t> </a:t>
            </a:r>
            <a:r>
              <a:rPr spc="-5"/>
              <a:t>height</a:t>
            </a:r>
            <a:r>
              <a:rPr spc="325"/>
              <a:t> </a:t>
            </a:r>
            <a:r>
              <a:t>of </a:t>
            </a:r>
            <a:r>
              <a:rPr spc="-685"/>
              <a:t> </a:t>
            </a:r>
            <a:r>
              <a:t>the box defines the transmission time </a:t>
            </a:r>
            <a:r>
              <a:rPr spc="-5"/>
              <a:t>difference </a:t>
            </a:r>
            <a:r>
              <a:t>between </a:t>
            </a:r>
            <a:r>
              <a:rPr spc="5"/>
              <a:t> </a:t>
            </a:r>
            <a:r>
              <a:t>the</a:t>
            </a:r>
            <a:r>
              <a:rPr spc="-20"/>
              <a:t> </a:t>
            </a:r>
            <a:r>
              <a:t>first</a:t>
            </a:r>
            <a:r>
              <a:rPr spc="-25"/>
              <a:t> </a:t>
            </a:r>
            <a:r>
              <a:t>bit</a:t>
            </a:r>
            <a:r>
              <a:rPr spc="-15"/>
              <a:t> </a:t>
            </a:r>
            <a:r>
              <a:t>and</a:t>
            </a:r>
            <a:r>
              <a:rPr spc="-10"/>
              <a:t> </a:t>
            </a:r>
            <a:r>
              <a:t>the</a:t>
            </a:r>
            <a:r>
              <a:rPr spc="-10"/>
              <a:t> </a:t>
            </a:r>
            <a:r>
              <a:t>last</a:t>
            </a:r>
            <a:r>
              <a:rPr spc="-30"/>
              <a:t> </a:t>
            </a:r>
            <a:r>
              <a:t>bit</a:t>
            </a:r>
            <a:r>
              <a:rPr spc="-10"/>
              <a:t> </a:t>
            </a:r>
            <a:r>
              <a:t>in</a:t>
            </a:r>
            <a:r>
              <a:rPr spc="-10"/>
              <a:t> </a:t>
            </a:r>
            <a:r>
              <a:t>the</a:t>
            </a:r>
            <a:r>
              <a:rPr spc="-10"/>
              <a:t> </a:t>
            </a:r>
            <a:r>
              <a:t>frame.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10</a:t>
            </a:fld>
            <a:endParaRPr spc="-25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959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 spc="-5">
                <a:solidFill>
                  <a:srgbClr val="3333CC"/>
                </a:solidFill>
              </a:rPr>
              <a:t> </a:t>
            </a:r>
            <a:r>
              <a:rPr sz="2400" spc="-40">
                <a:solidFill>
                  <a:srgbClr val="3333CC"/>
                </a:solidFill>
              </a:rPr>
              <a:t>11.7	</a:t>
            </a:r>
            <a:r>
              <a:rPr sz="2000" i="1" spc="-5">
                <a:latin typeface="Times New Roman"/>
                <a:cs typeface="Times New Roman"/>
              </a:rPr>
              <a:t>Flow diagram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Example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30">
                <a:latin typeface="Times New Roman"/>
                <a:cs typeface="Times New Roman"/>
              </a:rPr>
              <a:t>11.1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410091" y="2173223"/>
            <a:ext cx="5146547" cy="312877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11</a:t>
            </a:fld>
            <a:endParaRPr spc="-25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153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 spc="-5">
                <a:solidFill>
                  <a:srgbClr val="3333CC"/>
                </a:solidFill>
              </a:rPr>
              <a:t> </a:t>
            </a:r>
            <a:r>
              <a:rPr sz="2400" spc="-40">
                <a:solidFill>
                  <a:srgbClr val="3333CC"/>
                </a:solidFill>
              </a:rPr>
              <a:t>11.8	</a:t>
            </a:r>
            <a:r>
              <a:rPr sz="2000" i="1" spc="-5">
                <a:latin typeface="Times New Roman"/>
                <a:cs typeface="Times New Roman"/>
              </a:rPr>
              <a:t>Design of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15">
                <a:latin typeface="Times New Roman"/>
                <a:cs typeface="Times New Roman"/>
              </a:rPr>
              <a:t>Stop-and-Wait</a:t>
            </a:r>
            <a:r>
              <a:rPr sz="2000" i="1" spc="-5">
                <a:latin typeface="Times New Roman"/>
                <a:cs typeface="Times New Roman"/>
              </a:rPr>
              <a:t> 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822589" y="1476755"/>
            <a:ext cx="7029450" cy="49682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12</a:t>
            </a:fld>
            <a:endParaRPr spc="-25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7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2868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Figure </a:t>
            </a:r>
            <a:r>
              <a:rPr sz="2800" b="1" i="1" spc="-45">
                <a:latin typeface="Times New Roman"/>
                <a:cs typeface="Times New Roman"/>
              </a:rPr>
              <a:t>11.9 </a:t>
            </a:r>
            <a:r>
              <a:rPr sz="2800" b="1" i="1" spc="-5">
                <a:latin typeface="Times New Roman"/>
                <a:cs typeface="Times New Roman"/>
              </a:rPr>
              <a:t>shows </a:t>
            </a:r>
            <a:r>
              <a:rPr sz="2800" b="1" i="1">
                <a:latin typeface="Times New Roman"/>
                <a:cs typeface="Times New Roman"/>
              </a:rPr>
              <a:t>an </a:t>
            </a:r>
            <a:r>
              <a:rPr sz="2800" b="1" i="1" spc="-5">
                <a:latin typeface="Times New Roman"/>
                <a:cs typeface="Times New Roman"/>
              </a:rPr>
              <a:t>example of communication using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this protocol. It is still very simple.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sender sends one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 and waits for feedback from the </a:t>
            </a:r>
            <a:r>
              <a:rPr sz="2800" b="1" i="1" spc="-25">
                <a:latin typeface="Times New Roman"/>
                <a:cs typeface="Times New Roman"/>
              </a:rPr>
              <a:t>receiver. </a:t>
            </a:r>
            <a:r>
              <a:rPr sz="2800" b="1" i="1" spc="-5">
                <a:latin typeface="Times New Roman"/>
                <a:cs typeface="Times New Roman"/>
              </a:rPr>
              <a:t>When the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10">
                <a:latin typeface="Times New Roman"/>
                <a:cs typeface="Times New Roman"/>
              </a:rPr>
              <a:t>ACK </a:t>
            </a:r>
            <a:r>
              <a:rPr sz="2800" b="1" i="1" spc="-5">
                <a:latin typeface="Times New Roman"/>
                <a:cs typeface="Times New Roman"/>
              </a:rPr>
              <a:t>arrives, the sender sends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next frame. Note that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sending two frames in the protocol involves the sender </a:t>
            </a:r>
            <a:r>
              <a:rPr sz="2800" b="1" i="1">
                <a:latin typeface="Times New Roman"/>
                <a:cs typeface="Times New Roman"/>
              </a:rPr>
              <a:t>in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four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events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and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receiver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in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two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events.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13</a:t>
            </a:fld>
            <a:endParaRPr spc="-25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959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 spc="-5">
                <a:solidFill>
                  <a:srgbClr val="3333CC"/>
                </a:solidFill>
              </a:rPr>
              <a:t> </a:t>
            </a:r>
            <a:r>
              <a:rPr sz="2400" spc="-40">
                <a:solidFill>
                  <a:srgbClr val="3333CC"/>
                </a:solidFill>
              </a:rPr>
              <a:t>11.9	</a:t>
            </a:r>
            <a:r>
              <a:rPr sz="2000" i="1" spc="-5">
                <a:latin typeface="Times New Roman"/>
                <a:cs typeface="Times New Roman"/>
              </a:rPr>
              <a:t>Flow diagram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Example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30">
                <a:latin typeface="Times New Roman"/>
                <a:cs typeface="Times New Roman"/>
              </a:rPr>
              <a:t>11.2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091575" y="2063495"/>
            <a:ext cx="5236464" cy="39243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14</a:t>
            </a:fld>
            <a:endParaRPr spc="-25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40485" algn="l"/>
              </a:tabLst>
            </a:pPr>
            <a:r>
              <a:rPr spc="-50"/>
              <a:t>11-5	</a:t>
            </a:r>
            <a:r>
              <a:rPr spc="-5"/>
              <a:t>NOISY</a:t>
            </a:r>
            <a:r>
              <a:rPr spc="-135"/>
              <a:t> </a:t>
            </a:r>
            <a:r>
              <a:rPr spc="-5"/>
              <a:t>CHANNELS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4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4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4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4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4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05969" y="1970786"/>
            <a:ext cx="8070850" cy="420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Although the </a:t>
            </a:r>
            <a:r>
              <a:rPr sz="2800" b="1" i="1" spc="-20">
                <a:latin typeface="Times New Roman"/>
                <a:cs typeface="Times New Roman"/>
              </a:rPr>
              <a:t>Stop-and-Wait </a:t>
            </a:r>
            <a:r>
              <a:rPr sz="2800" b="1" i="1" spc="-5">
                <a:latin typeface="Times New Roman"/>
                <a:cs typeface="Times New Roman"/>
              </a:rPr>
              <a:t>Protocol gives us an </a:t>
            </a:r>
            <a:r>
              <a:rPr sz="2800" b="1" i="1" spc="-10">
                <a:latin typeface="Times New Roman"/>
                <a:cs typeface="Times New Roman"/>
              </a:rPr>
              <a:t>idea 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5">
                <a:latin typeface="Times New Roman"/>
                <a:cs typeface="Times New Roman"/>
              </a:rPr>
              <a:t>how </a:t>
            </a:r>
            <a:r>
              <a:rPr sz="2800" b="1" i="1">
                <a:latin typeface="Times New Roman"/>
                <a:cs typeface="Times New Roman"/>
              </a:rPr>
              <a:t>to </a:t>
            </a:r>
            <a:r>
              <a:rPr sz="2800" b="1" i="1" spc="-5">
                <a:latin typeface="Times New Roman"/>
                <a:cs typeface="Times New Roman"/>
              </a:rPr>
              <a:t>add flow control </a:t>
            </a:r>
            <a:r>
              <a:rPr sz="2800" b="1" i="1">
                <a:latin typeface="Times New Roman"/>
                <a:cs typeface="Times New Roman"/>
              </a:rPr>
              <a:t>to </a:t>
            </a:r>
            <a:r>
              <a:rPr sz="2800" b="1" i="1" spc="-5">
                <a:latin typeface="Times New Roman"/>
                <a:cs typeface="Times New Roman"/>
              </a:rPr>
              <a:t>its </a:t>
            </a:r>
            <a:r>
              <a:rPr sz="2800" b="1" i="1" spc="-20">
                <a:latin typeface="Times New Roman"/>
                <a:cs typeface="Times New Roman"/>
              </a:rPr>
              <a:t>predecessor, </a:t>
            </a:r>
            <a:r>
              <a:rPr sz="2800" b="1" i="1" spc="-5">
                <a:latin typeface="Times New Roman"/>
                <a:cs typeface="Times New Roman"/>
              </a:rPr>
              <a:t>noiseless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channels are </a:t>
            </a:r>
            <a:r>
              <a:rPr sz="2800" b="1" i="1" spc="-60">
                <a:latin typeface="Times New Roman"/>
                <a:cs typeface="Times New Roman"/>
              </a:rPr>
              <a:t>nonexistent..</a:t>
            </a:r>
            <a:r>
              <a:rPr sz="2800" b="1" i="1" spc="580">
                <a:latin typeface="Times New Roman"/>
                <a:cs typeface="Times New Roman"/>
              </a:rPr>
              <a:t> </a:t>
            </a:r>
            <a:r>
              <a:rPr sz="2800" b="1" i="1" spc="-110">
                <a:latin typeface="Times New Roman"/>
                <a:cs typeface="Times New Roman"/>
              </a:rPr>
              <a:t>We</a:t>
            </a:r>
            <a:r>
              <a:rPr sz="2800" b="1" i="1" spc="48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discuss three protocols </a:t>
            </a:r>
            <a:r>
              <a:rPr sz="2800" b="1" i="1">
                <a:latin typeface="Times New Roman"/>
                <a:cs typeface="Times New Roman"/>
              </a:rPr>
              <a:t> in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this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section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that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use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error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control.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</a:pPr>
            <a:r>
              <a:rPr sz="2800" b="1" i="1" u="heavy" spc="-4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1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2379980">
              <a:lnSpc>
                <a:spcPct val="100000"/>
              </a:lnSpc>
              <a:spcBef>
                <a:spcPts val="400"/>
              </a:spcBef>
            </a:pPr>
            <a:r>
              <a:rPr sz="2400" b="1" spc="-15">
                <a:solidFill>
                  <a:srgbClr val="0033CC"/>
                </a:solidFill>
                <a:latin typeface="Times New Roman"/>
                <a:cs typeface="Times New Roman"/>
              </a:rPr>
              <a:t>Stop-and-Wait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Automatic Repeat </a:t>
            </a:r>
            <a:r>
              <a:rPr sz="2400" b="1" spc="-10">
                <a:solidFill>
                  <a:srgbClr val="0033CC"/>
                </a:solidFill>
                <a:latin typeface="Times New Roman"/>
                <a:cs typeface="Times New Roman"/>
              </a:rPr>
              <a:t>Request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 Go-Back-N </a:t>
            </a: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Automatic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Repeat Request </a:t>
            </a: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 Selective</a:t>
            </a:r>
            <a:r>
              <a:rPr sz="2400" b="1" spc="-45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Repeat</a:t>
            </a:r>
            <a:r>
              <a:rPr sz="2400" b="1" spc="-15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Automatic</a:t>
            </a:r>
            <a:r>
              <a:rPr sz="2400" b="1" spc="-1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Repeat</a:t>
            </a:r>
            <a:r>
              <a:rPr sz="2400" b="1" spc="-2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Request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15</a:t>
            </a:fld>
            <a:endParaRPr spc="-25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93660" y="973113"/>
            <a:ext cx="8077200" cy="1130438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22225" rIns="0" bIns="0" rtlCol="0">
            <a:spAutoFit/>
          </a:bodyPr>
          <a:lstStyle/>
          <a:p>
            <a:pPr marL="106045" marR="98425">
              <a:lnSpc>
                <a:spcPct val="100000"/>
              </a:lnSpc>
              <a:spcBef>
                <a:spcPts val="175"/>
              </a:spcBef>
            </a:pPr>
            <a:r>
              <a:rPr sz="2400" b="1" spc="-5" dirty="0">
                <a:latin typeface="Arial"/>
                <a:cs typeface="Arial"/>
              </a:rPr>
              <a:t>Error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correction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in</a:t>
            </a:r>
            <a:r>
              <a:rPr sz="2400" b="1" spc="-15" dirty="0">
                <a:latin typeface="Arial"/>
                <a:cs typeface="Arial"/>
              </a:rPr>
              <a:t> Stop-and-Wait</a:t>
            </a:r>
            <a:r>
              <a:rPr sz="2400" b="1" spc="-14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ARQ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is </a:t>
            </a:r>
            <a:r>
              <a:rPr sz="2400" b="1" spc="-87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done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by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keeping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copy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of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the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sent 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frame </a:t>
            </a:r>
            <a:r>
              <a:rPr sz="2400" b="1" spc="-5" dirty="0">
                <a:latin typeface="Arial"/>
                <a:cs typeface="Arial"/>
              </a:rPr>
              <a:t>and </a:t>
            </a:r>
            <a:r>
              <a:rPr sz="2400" b="1" spc="-10" dirty="0">
                <a:latin typeface="Arial"/>
                <a:cs typeface="Arial"/>
              </a:rPr>
              <a:t>retransmitting </a:t>
            </a:r>
            <a:r>
              <a:rPr sz="2400" b="1" spc="-5" dirty="0">
                <a:latin typeface="Arial"/>
                <a:cs typeface="Arial"/>
              </a:rPr>
              <a:t>of the </a:t>
            </a:r>
            <a:r>
              <a:rPr sz="2400" b="1" spc="-10" dirty="0">
                <a:latin typeface="Arial"/>
                <a:cs typeface="Arial"/>
              </a:rPr>
              <a:t>frame </a:t>
            </a:r>
            <a:r>
              <a:rPr sz="2400" b="1" spc="-5" dirty="0">
                <a:latin typeface="Arial"/>
                <a:cs typeface="Arial"/>
              </a:rPr>
              <a:t> when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timer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expires.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16</a:t>
            </a:fld>
            <a:endParaRPr spc="-25"/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DDE38211-D27E-4A7C-6F3D-B107DB85BE73}"/>
              </a:ext>
            </a:extLst>
          </p:cNvPr>
          <p:cNvSpPr txBox="1"/>
          <p:nvPr/>
        </p:nvSpPr>
        <p:spPr>
          <a:xfrm>
            <a:off x="1113605" y="2455103"/>
            <a:ext cx="8077200" cy="1143262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51765" marR="146050">
              <a:lnSpc>
                <a:spcPct val="100000"/>
              </a:lnSpc>
              <a:spcBef>
                <a:spcPts val="275"/>
              </a:spcBef>
            </a:pPr>
            <a:r>
              <a:rPr sz="2400" b="1" spc="-5" dirty="0">
                <a:latin typeface="Arial"/>
                <a:cs typeface="Arial"/>
              </a:rPr>
              <a:t>In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5" dirty="0">
                <a:latin typeface="Arial"/>
                <a:cs typeface="Arial"/>
              </a:rPr>
              <a:t>Stop-and-Wait</a:t>
            </a:r>
            <a:r>
              <a:rPr sz="2400" b="1" spc="-15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ARQ,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we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use</a:t>
            </a:r>
            <a:r>
              <a:rPr sz="2400" b="1" spc="-10" dirty="0">
                <a:latin typeface="Arial"/>
                <a:cs typeface="Arial"/>
              </a:rPr>
              <a:t> sequence </a:t>
            </a:r>
            <a:r>
              <a:rPr sz="2400" b="1" spc="-8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numbers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to</a:t>
            </a:r>
            <a:r>
              <a:rPr sz="2400" b="1" spc="-10" dirty="0">
                <a:latin typeface="Arial"/>
                <a:cs typeface="Arial"/>
              </a:rPr>
              <a:t> number </a:t>
            </a:r>
            <a:r>
              <a:rPr sz="2400" b="1" spc="-5" dirty="0">
                <a:latin typeface="Arial"/>
                <a:cs typeface="Arial"/>
              </a:rPr>
              <a:t>the</a:t>
            </a:r>
            <a:r>
              <a:rPr sz="2400" b="1" spc="-10" dirty="0">
                <a:latin typeface="Arial"/>
                <a:cs typeface="Arial"/>
              </a:rPr>
              <a:t> frames.</a:t>
            </a:r>
            <a:r>
              <a:rPr lang="en-IN"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The </a:t>
            </a:r>
            <a:r>
              <a:rPr sz="2400" b="1" spc="-10" dirty="0">
                <a:latin typeface="Arial"/>
                <a:cs typeface="Arial"/>
              </a:rPr>
              <a:t>sequence numbers </a:t>
            </a:r>
            <a:r>
              <a:rPr sz="2400" b="1" spc="-5" dirty="0">
                <a:latin typeface="Arial"/>
                <a:cs typeface="Arial"/>
              </a:rPr>
              <a:t>are </a:t>
            </a:r>
            <a:r>
              <a:rPr sz="2400" b="1" spc="-10" dirty="0">
                <a:latin typeface="Arial"/>
                <a:cs typeface="Arial"/>
              </a:rPr>
              <a:t>based on </a:t>
            </a:r>
            <a:r>
              <a:rPr sz="2400" b="1" spc="-87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modulo-2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arithmetic.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2310E4B4-EF02-E022-4D5B-3BA07EA8626C}"/>
              </a:ext>
            </a:extLst>
          </p:cNvPr>
          <p:cNvSpPr txBox="1"/>
          <p:nvPr/>
        </p:nvSpPr>
        <p:spPr>
          <a:xfrm>
            <a:off x="1161362" y="3984405"/>
            <a:ext cx="8077200" cy="1143262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375285" marR="368300" indent="-635" algn="ctr">
              <a:lnSpc>
                <a:spcPct val="100000"/>
              </a:lnSpc>
              <a:spcBef>
                <a:spcPts val="275"/>
              </a:spcBef>
            </a:pPr>
            <a:r>
              <a:rPr sz="2400" b="1" spc="-5" dirty="0">
                <a:latin typeface="Arial"/>
                <a:cs typeface="Arial"/>
              </a:rPr>
              <a:t>In </a:t>
            </a:r>
            <a:r>
              <a:rPr sz="2400" b="1" spc="-15" dirty="0">
                <a:latin typeface="Arial"/>
                <a:cs typeface="Arial"/>
              </a:rPr>
              <a:t>Stop-and-Wait </a:t>
            </a:r>
            <a:r>
              <a:rPr sz="2400" b="1" spc="-5" dirty="0">
                <a:latin typeface="Arial"/>
                <a:cs typeface="Arial"/>
              </a:rPr>
              <a:t>ARQ, the 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acknowledgment </a:t>
            </a:r>
            <a:r>
              <a:rPr sz="2400" b="1" spc="-5" dirty="0">
                <a:latin typeface="Arial"/>
                <a:cs typeface="Arial"/>
              </a:rPr>
              <a:t>number </a:t>
            </a:r>
            <a:r>
              <a:rPr sz="2400" b="1" spc="-10" dirty="0">
                <a:latin typeface="Arial"/>
                <a:cs typeface="Arial"/>
              </a:rPr>
              <a:t>always </a:t>
            </a:r>
            <a:r>
              <a:rPr sz="2400" b="1" spc="-5" dirty="0">
                <a:latin typeface="Arial"/>
                <a:cs typeface="Arial"/>
              </a:rPr>
              <a:t> announces in modulo-2 </a:t>
            </a:r>
            <a:r>
              <a:rPr sz="2400" b="1" spc="-10" dirty="0">
                <a:latin typeface="Arial"/>
                <a:cs typeface="Arial"/>
              </a:rPr>
              <a:t>arithmetic the </a:t>
            </a:r>
            <a:r>
              <a:rPr sz="2400" b="1" spc="-8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sequence number </a:t>
            </a:r>
            <a:r>
              <a:rPr sz="2400" b="1" spc="-5" dirty="0">
                <a:latin typeface="Arial"/>
                <a:cs typeface="Arial"/>
              </a:rPr>
              <a:t>of the next </a:t>
            </a:r>
            <a:r>
              <a:rPr sz="2400" b="1" spc="-10" dirty="0">
                <a:latin typeface="Arial"/>
                <a:cs typeface="Arial"/>
              </a:rPr>
              <a:t>frame 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expected.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270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11.10	</a:t>
            </a:r>
            <a:r>
              <a:rPr sz="2000" i="1" spc="-5">
                <a:latin typeface="Times New Roman"/>
                <a:cs typeface="Times New Roman"/>
              </a:rPr>
              <a:t>Design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of the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15">
                <a:latin typeface="Times New Roman"/>
                <a:cs typeface="Times New Roman"/>
              </a:rPr>
              <a:t>Stop-and-Wait</a:t>
            </a:r>
            <a:r>
              <a:rPr sz="2000" i="1" spc="-10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ARQ</a:t>
            </a:r>
            <a:r>
              <a:rPr sz="2000" i="1" spc="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178443" y="1538477"/>
            <a:ext cx="6217424" cy="49827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17</a:t>
            </a:fld>
            <a:endParaRPr spc="-25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7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376920" cy="3439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Figure </a:t>
            </a:r>
            <a:r>
              <a:rPr sz="2800" b="1" i="1" spc="-65">
                <a:latin typeface="Times New Roman"/>
                <a:cs typeface="Times New Roman"/>
              </a:rPr>
              <a:t>11.11 </a:t>
            </a:r>
            <a:r>
              <a:rPr sz="2800" b="1" i="1" spc="-5">
                <a:latin typeface="Times New Roman"/>
                <a:cs typeface="Times New Roman"/>
              </a:rPr>
              <a:t>shows an example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20">
                <a:solidFill>
                  <a:srgbClr val="FF0000"/>
                </a:solidFill>
                <a:latin typeface="Times New Roman"/>
                <a:cs typeface="Times New Roman"/>
              </a:rPr>
              <a:t>Stop-and-Wait </a:t>
            </a: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ARQ</a:t>
            </a:r>
            <a:r>
              <a:rPr sz="2800" b="1" i="1" spc="-5">
                <a:latin typeface="Times New Roman"/>
                <a:cs typeface="Times New Roman"/>
              </a:rPr>
              <a:t>.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 </a:t>
            </a:r>
            <a:r>
              <a:rPr sz="2800" b="1" i="1">
                <a:latin typeface="Times New Roman"/>
                <a:cs typeface="Times New Roman"/>
              </a:rPr>
              <a:t>0 </a:t>
            </a:r>
            <a:r>
              <a:rPr sz="2800" b="1" i="1" spc="-5">
                <a:latin typeface="Times New Roman"/>
                <a:cs typeface="Times New Roman"/>
              </a:rPr>
              <a:t>is sent and acknowledged. Frame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-5">
                <a:latin typeface="Times New Roman"/>
                <a:cs typeface="Times New Roman"/>
              </a:rPr>
              <a:t>is lost </a:t>
            </a:r>
            <a:r>
              <a:rPr sz="2800" b="1" i="1">
                <a:latin typeface="Times New Roman"/>
                <a:cs typeface="Times New Roman"/>
              </a:rPr>
              <a:t>and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resent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after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time-out.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resent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</a:t>
            </a:r>
            <a:r>
              <a:rPr sz="2800" b="1" i="1">
                <a:latin typeface="Times New Roman"/>
                <a:cs typeface="Times New Roman"/>
              </a:rPr>
              <a:t> 1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acknowledged </a:t>
            </a:r>
            <a:r>
              <a:rPr sz="2800" b="1" i="1">
                <a:latin typeface="Times New Roman"/>
                <a:cs typeface="Times New Roman"/>
              </a:rPr>
              <a:t>and the </a:t>
            </a:r>
            <a:r>
              <a:rPr sz="2800" b="1" i="1" spc="-5">
                <a:latin typeface="Times New Roman"/>
                <a:cs typeface="Times New Roman"/>
              </a:rPr>
              <a:t>timer stops. Frame </a:t>
            </a:r>
            <a:r>
              <a:rPr sz="2800" b="1" i="1">
                <a:latin typeface="Times New Roman"/>
                <a:cs typeface="Times New Roman"/>
              </a:rPr>
              <a:t>0 is </a:t>
            </a:r>
            <a:r>
              <a:rPr sz="2800" b="1" i="1" spc="-5">
                <a:latin typeface="Times New Roman"/>
                <a:cs typeface="Times New Roman"/>
              </a:rPr>
              <a:t>sent </a:t>
            </a:r>
            <a:r>
              <a:rPr sz="2800" b="1" i="1">
                <a:latin typeface="Times New Roman"/>
                <a:cs typeface="Times New Roman"/>
              </a:rPr>
              <a:t>and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acknowledged,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but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acknowledgment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lost.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sender</a:t>
            </a:r>
            <a:r>
              <a:rPr sz="2800" b="1" i="1" spc="26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has</a:t>
            </a:r>
            <a:r>
              <a:rPr sz="2800" b="1" i="1" spc="26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no</a:t>
            </a:r>
            <a:r>
              <a:rPr sz="2800" b="1" i="1" spc="26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idea</a:t>
            </a:r>
            <a:r>
              <a:rPr sz="2800" b="1" i="1" spc="26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if</a:t>
            </a:r>
            <a:r>
              <a:rPr sz="2800" b="1" i="1" spc="26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25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</a:t>
            </a:r>
            <a:r>
              <a:rPr sz="2800" b="1" i="1" spc="25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or</a:t>
            </a:r>
            <a:r>
              <a:rPr sz="2800" b="1" i="1" spc="26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26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acknowledgment </a:t>
            </a:r>
            <a:r>
              <a:rPr sz="2800" b="1" i="1" spc="-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 lost, </a:t>
            </a:r>
            <a:r>
              <a:rPr sz="2800" b="1" i="1">
                <a:latin typeface="Times New Roman"/>
                <a:cs typeface="Times New Roman"/>
              </a:rPr>
              <a:t>so </a:t>
            </a:r>
            <a:r>
              <a:rPr sz="2800" b="1" i="1" spc="-5">
                <a:latin typeface="Times New Roman"/>
                <a:cs typeface="Times New Roman"/>
              </a:rPr>
              <a:t>after the time-out, it resends frame 0, which is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18</a:t>
            </a:fld>
            <a:endParaRPr spc="-25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095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48789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60">
                <a:solidFill>
                  <a:srgbClr val="3333CC"/>
                </a:solidFill>
              </a:rPr>
              <a:t>11.11	</a:t>
            </a:r>
            <a:r>
              <a:rPr sz="2000" i="1" spc="-5">
                <a:latin typeface="Times New Roman"/>
                <a:cs typeface="Times New Roman"/>
              </a:rPr>
              <a:t>Flow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diagram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Example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30">
                <a:latin typeface="Times New Roman"/>
                <a:cs typeface="Times New Roman"/>
              </a:rPr>
              <a:t>11.3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27239" y="1457705"/>
            <a:ext cx="8763000" cy="5330190"/>
            <a:chOff x="927239" y="1457705"/>
            <a:chExt cx="8763000" cy="5330190"/>
          </a:xfrm>
        </p:grpSpPr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118245" y="1457705"/>
              <a:ext cx="5900623" cy="521589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7239" y="6711696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19</a:t>
            </a:fld>
            <a:endParaRPr spc="-25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7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46344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19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2156" y="1512824"/>
            <a:ext cx="852868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Assume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that,</a:t>
            </a:r>
            <a:r>
              <a:rPr sz="2800" b="1" i="1">
                <a:latin typeface="Times New Roman"/>
                <a:cs typeface="Times New Roman"/>
              </a:rPr>
              <a:t> in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a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20">
                <a:latin typeface="Times New Roman"/>
                <a:cs typeface="Times New Roman"/>
              </a:rPr>
              <a:t>Stop-and-Wait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ARQ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system,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bandwidth of the line is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-5">
                <a:latin typeface="Times New Roman"/>
                <a:cs typeface="Times New Roman"/>
              </a:rPr>
              <a:t>Mbps, </a:t>
            </a:r>
            <a:r>
              <a:rPr sz="2800" b="1" i="1">
                <a:latin typeface="Times New Roman"/>
                <a:cs typeface="Times New Roman"/>
              </a:rPr>
              <a:t>and 1 </a:t>
            </a:r>
            <a:r>
              <a:rPr sz="2800" b="1" i="1" spc="-5">
                <a:latin typeface="Times New Roman"/>
                <a:cs typeface="Times New Roman"/>
              </a:rPr>
              <a:t>bit takes 20 ms to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make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round trip. What is the bandwidth-delay product? </a:t>
            </a:r>
            <a:r>
              <a:rPr sz="2800" b="1" i="1">
                <a:latin typeface="Times New Roman"/>
                <a:cs typeface="Times New Roman"/>
              </a:rPr>
              <a:t> If the </a:t>
            </a:r>
            <a:r>
              <a:rPr sz="2800" b="1" i="1" spc="-5">
                <a:latin typeface="Times New Roman"/>
                <a:cs typeface="Times New Roman"/>
              </a:rPr>
              <a:t>system data frames are 1000 bits </a:t>
            </a:r>
            <a:r>
              <a:rPr sz="2800" b="1" i="1">
                <a:latin typeface="Times New Roman"/>
                <a:cs typeface="Times New Roman"/>
              </a:rPr>
              <a:t>in </a:t>
            </a:r>
            <a:r>
              <a:rPr sz="2800" b="1" i="1" spc="-5">
                <a:latin typeface="Times New Roman"/>
                <a:cs typeface="Times New Roman"/>
              </a:rPr>
              <a:t>length, what is </a:t>
            </a:r>
            <a:r>
              <a:rPr sz="2800" b="1" i="1">
                <a:latin typeface="Times New Roman"/>
                <a:cs typeface="Times New Roman"/>
              </a:rPr>
              <a:t> the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utilization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percentage</a:t>
            </a:r>
            <a:r>
              <a:rPr sz="2800" b="1" i="1" spc="-4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link?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800" b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>
                <a:latin typeface="Times New Roman"/>
                <a:cs typeface="Times New Roman"/>
              </a:rPr>
              <a:t>The</a:t>
            </a:r>
            <a:r>
              <a:rPr sz="2800" b="1" spc="-30">
                <a:latin typeface="Times New Roman"/>
                <a:cs typeface="Times New Roman"/>
              </a:rPr>
              <a:t> </a:t>
            </a:r>
            <a:r>
              <a:rPr sz="2800" b="1">
                <a:latin typeface="Times New Roman"/>
                <a:cs typeface="Times New Roman"/>
              </a:rPr>
              <a:t>bandwidth-delay</a:t>
            </a:r>
            <a:r>
              <a:rPr sz="2800" b="1" spc="-20">
                <a:latin typeface="Times New Roman"/>
                <a:cs typeface="Times New Roman"/>
              </a:rPr>
              <a:t> </a:t>
            </a:r>
            <a:r>
              <a:rPr sz="2800" b="1" spc="-10">
                <a:latin typeface="Times New Roman"/>
                <a:cs typeface="Times New Roman"/>
              </a:rPr>
              <a:t>product</a:t>
            </a:r>
            <a:r>
              <a:rPr sz="2800" b="1" spc="-25">
                <a:latin typeface="Times New Roman"/>
                <a:cs typeface="Times New Roman"/>
              </a:rPr>
              <a:t> </a:t>
            </a:r>
            <a:r>
              <a:rPr sz="2800" b="1">
                <a:latin typeface="Times New Roman"/>
                <a:cs typeface="Times New Roman"/>
              </a:rPr>
              <a:t>is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22550" y="5068823"/>
            <a:ext cx="4282440" cy="519430"/>
            <a:chOff x="2622550" y="5068823"/>
            <a:chExt cx="4282440" cy="519430"/>
          </a:xfrm>
        </p:grpSpPr>
        <p:pic>
          <p:nvPicPr>
            <p:cNvPr id="11" name="object 11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680601" y="5129783"/>
              <a:ext cx="4166615" cy="40081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22550" y="5068836"/>
              <a:ext cx="4282440" cy="519430"/>
            </a:xfrm>
            <a:custGeom>
              <a:avLst/>
              <a:gdLst/>
              <a:ahLst/>
              <a:cxnLst/>
              <a:rect l="l" t="t" r="r" b="b"/>
              <a:pathLst>
                <a:path w="4282440" h="519429">
                  <a:moveTo>
                    <a:pt x="4236720" y="45720"/>
                  </a:moveTo>
                  <a:lnTo>
                    <a:pt x="4225290" y="45720"/>
                  </a:lnTo>
                  <a:lnTo>
                    <a:pt x="4225290" y="57150"/>
                  </a:lnTo>
                  <a:lnTo>
                    <a:pt x="4225290" y="423672"/>
                  </a:lnTo>
                  <a:lnTo>
                    <a:pt x="4225290" y="461772"/>
                  </a:lnTo>
                  <a:lnTo>
                    <a:pt x="57150" y="461772"/>
                  </a:lnTo>
                  <a:lnTo>
                    <a:pt x="57150" y="423672"/>
                  </a:lnTo>
                  <a:lnTo>
                    <a:pt x="57150" y="57150"/>
                  </a:lnTo>
                  <a:lnTo>
                    <a:pt x="4225290" y="57150"/>
                  </a:lnTo>
                  <a:lnTo>
                    <a:pt x="422529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423672"/>
                  </a:lnTo>
                  <a:lnTo>
                    <a:pt x="45720" y="473202"/>
                  </a:lnTo>
                  <a:lnTo>
                    <a:pt x="57150" y="473202"/>
                  </a:lnTo>
                  <a:lnTo>
                    <a:pt x="4225290" y="473202"/>
                  </a:lnTo>
                  <a:lnTo>
                    <a:pt x="4236720" y="473202"/>
                  </a:lnTo>
                  <a:lnTo>
                    <a:pt x="4236720" y="423672"/>
                  </a:lnTo>
                  <a:lnTo>
                    <a:pt x="4236720" y="45720"/>
                  </a:lnTo>
                  <a:close/>
                </a:path>
                <a:path w="4282440" h="519429">
                  <a:moveTo>
                    <a:pt x="4282440" y="0"/>
                  </a:moveTo>
                  <a:lnTo>
                    <a:pt x="4248150" y="0"/>
                  </a:lnTo>
                  <a:lnTo>
                    <a:pt x="4248150" y="34290"/>
                  </a:lnTo>
                  <a:lnTo>
                    <a:pt x="4248150" y="423672"/>
                  </a:lnTo>
                  <a:lnTo>
                    <a:pt x="4248150" y="484632"/>
                  </a:lnTo>
                  <a:lnTo>
                    <a:pt x="34290" y="484632"/>
                  </a:lnTo>
                  <a:lnTo>
                    <a:pt x="34290" y="423672"/>
                  </a:lnTo>
                  <a:lnTo>
                    <a:pt x="34290" y="34290"/>
                  </a:lnTo>
                  <a:lnTo>
                    <a:pt x="4248150" y="34290"/>
                  </a:lnTo>
                  <a:lnTo>
                    <a:pt x="424815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423672"/>
                  </a:lnTo>
                  <a:lnTo>
                    <a:pt x="0" y="518922"/>
                  </a:lnTo>
                  <a:lnTo>
                    <a:pt x="34290" y="518922"/>
                  </a:lnTo>
                  <a:lnTo>
                    <a:pt x="4248150" y="518922"/>
                  </a:lnTo>
                  <a:lnTo>
                    <a:pt x="4282440" y="518922"/>
                  </a:lnTo>
                  <a:lnTo>
                    <a:pt x="4282440" y="423672"/>
                  </a:lnTo>
                  <a:lnTo>
                    <a:pt x="428244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20</a:t>
            </a:fld>
            <a:endParaRPr spc="-25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472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11.4</a:t>
            </a:r>
            <a:r>
              <a:rPr i="1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62" y="1512824"/>
            <a:ext cx="8529320" cy="301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The system can send 20,000 bits during the time it takes </a:t>
            </a:r>
            <a:r>
              <a:rPr sz="2800" b="1" i="1">
                <a:latin typeface="Times New Roman"/>
                <a:cs typeface="Times New Roman"/>
              </a:rPr>
              <a:t> for </a:t>
            </a:r>
            <a:r>
              <a:rPr sz="2800" b="1" i="1" spc="-5">
                <a:latin typeface="Times New Roman"/>
                <a:cs typeface="Times New Roman"/>
              </a:rPr>
              <a:t>the data to </a:t>
            </a:r>
            <a:r>
              <a:rPr sz="2800" b="1" i="1">
                <a:latin typeface="Times New Roman"/>
                <a:cs typeface="Times New Roman"/>
              </a:rPr>
              <a:t>go </a:t>
            </a:r>
            <a:r>
              <a:rPr sz="2800" b="1" i="1" spc="-5">
                <a:latin typeface="Times New Roman"/>
                <a:cs typeface="Times New Roman"/>
              </a:rPr>
              <a:t>from the sender to the receiver and then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back again. </a:t>
            </a:r>
            <a:r>
              <a:rPr sz="2800" b="1" i="1" spc="-25">
                <a:latin typeface="Times New Roman"/>
                <a:cs typeface="Times New Roman"/>
              </a:rPr>
              <a:t>However, </a:t>
            </a:r>
            <a:r>
              <a:rPr sz="2800" b="1" i="1" spc="-5">
                <a:latin typeface="Times New Roman"/>
                <a:cs typeface="Times New Roman"/>
              </a:rPr>
              <a:t>the system sends only 1000 bits. </a:t>
            </a:r>
            <a:r>
              <a:rPr sz="2800" b="1" i="1" spc="-110">
                <a:latin typeface="Times New Roman"/>
                <a:cs typeface="Times New Roman"/>
              </a:rPr>
              <a:t>We </a:t>
            </a:r>
            <a:r>
              <a:rPr sz="2800" b="1" i="1" spc="-10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can </a:t>
            </a:r>
            <a:r>
              <a:rPr sz="2800" b="1" i="1" spc="-5">
                <a:latin typeface="Times New Roman"/>
                <a:cs typeface="Times New Roman"/>
              </a:rPr>
              <a:t>say that the link utilization is only 1000/20,000, or </a:t>
            </a: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5 </a:t>
            </a:r>
            <a:r>
              <a:rPr sz="2800" b="1" i="1" spc="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percent. For this reason, for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link with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high bandwidth </a:t>
            </a:r>
            <a:r>
              <a:rPr sz="2800" b="1" i="1">
                <a:latin typeface="Times New Roman"/>
                <a:cs typeface="Times New Roman"/>
              </a:rPr>
              <a:t> or </a:t>
            </a:r>
            <a:r>
              <a:rPr sz="2800" b="1" i="1" spc="-5">
                <a:latin typeface="Times New Roman"/>
                <a:cs typeface="Times New Roman"/>
              </a:rPr>
              <a:t>long </a:t>
            </a:r>
            <a:r>
              <a:rPr sz="2800" b="1" i="1" spc="-25">
                <a:latin typeface="Times New Roman"/>
                <a:cs typeface="Times New Roman"/>
              </a:rPr>
              <a:t>delay, </a:t>
            </a:r>
            <a:r>
              <a:rPr sz="2800" b="1" i="1">
                <a:latin typeface="Times New Roman"/>
                <a:cs typeface="Times New Roman"/>
              </a:rPr>
              <a:t>the use of </a:t>
            </a:r>
            <a:r>
              <a:rPr sz="2800" b="1" i="1" spc="-20">
                <a:latin typeface="Times New Roman"/>
                <a:cs typeface="Times New Roman"/>
              </a:rPr>
              <a:t>Stop-and-Wait </a:t>
            </a:r>
            <a:r>
              <a:rPr sz="2800" b="1" i="1" spc="-5">
                <a:latin typeface="Times New Roman"/>
                <a:cs typeface="Times New Roman"/>
              </a:rPr>
              <a:t>ARQ wastes the </a:t>
            </a:r>
            <a:r>
              <a:rPr sz="2800" b="1" i="1">
                <a:latin typeface="Times New Roman"/>
                <a:cs typeface="Times New Roman"/>
              </a:rPr>
              <a:t> capacity</a:t>
            </a:r>
            <a:r>
              <a:rPr sz="2800" b="1" i="1" spc="-3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link.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21</a:t>
            </a:fld>
            <a:endParaRPr spc="-25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7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4839" y="1206246"/>
            <a:ext cx="9144000" cy="2571750"/>
            <a:chOff x="774839" y="1206246"/>
            <a:chExt cx="9144000" cy="2571750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33350"/>
            </a:xfrm>
            <a:custGeom>
              <a:avLst/>
              <a:gdLst/>
              <a:ahLst/>
              <a:cxnLst/>
              <a:rect l="l" t="t" r="r" b="b"/>
              <a:pathLst>
                <a:path w="422275" h="133350">
                  <a:moveTo>
                    <a:pt x="0" y="133349"/>
                  </a:moveTo>
                  <a:lnTo>
                    <a:pt x="422147" y="133349"/>
                  </a:lnTo>
                  <a:lnTo>
                    <a:pt x="422147" y="0"/>
                  </a:lnTo>
                  <a:lnTo>
                    <a:pt x="0" y="0"/>
                  </a:lnTo>
                  <a:lnTo>
                    <a:pt x="0" y="13334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31750" h="133350">
                  <a:moveTo>
                    <a:pt x="0" y="133349"/>
                  </a:moveTo>
                  <a:lnTo>
                    <a:pt x="31241" y="133349"/>
                  </a:lnTo>
                  <a:lnTo>
                    <a:pt x="31241" y="0"/>
                  </a:lnTo>
                  <a:lnTo>
                    <a:pt x="0" y="0"/>
                  </a:lnTo>
                  <a:lnTo>
                    <a:pt x="0" y="13334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339608"/>
              <a:ext cx="9144000" cy="2438400"/>
            </a:xfrm>
            <a:custGeom>
              <a:avLst/>
              <a:gdLst/>
              <a:ahLst/>
              <a:cxnLst/>
              <a:rect l="l" t="t" r="r" b="b"/>
              <a:pathLst>
                <a:path w="9144000" h="2438400">
                  <a:moveTo>
                    <a:pt x="9144000" y="723138"/>
                  </a:moveTo>
                  <a:lnTo>
                    <a:pt x="8458200" y="723138"/>
                  </a:lnTo>
                  <a:lnTo>
                    <a:pt x="8458200" y="0"/>
                  </a:lnTo>
                  <a:lnTo>
                    <a:pt x="228600" y="0"/>
                  </a:lnTo>
                  <a:lnTo>
                    <a:pt x="228600" y="723138"/>
                  </a:lnTo>
                  <a:lnTo>
                    <a:pt x="0" y="723138"/>
                  </a:lnTo>
                  <a:lnTo>
                    <a:pt x="0" y="1580388"/>
                  </a:lnTo>
                  <a:lnTo>
                    <a:pt x="0" y="1581150"/>
                  </a:lnTo>
                  <a:lnTo>
                    <a:pt x="0" y="2438400"/>
                  </a:lnTo>
                  <a:lnTo>
                    <a:pt x="9144000" y="2438400"/>
                  </a:lnTo>
                  <a:lnTo>
                    <a:pt x="9144000" y="1581150"/>
                  </a:lnTo>
                  <a:lnTo>
                    <a:pt x="9144000" y="1580388"/>
                  </a:lnTo>
                  <a:lnTo>
                    <a:pt x="9144000" y="723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82357" y="1206234"/>
            <a:ext cx="8528685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1009">
              <a:lnSpc>
                <a:spcPct val="100000"/>
              </a:lnSpc>
              <a:spcBef>
                <a:spcPts val="100"/>
              </a:spcBef>
              <a:tabLst>
                <a:tab pos="1035685" algn="l"/>
                <a:tab pos="1504950" algn="l"/>
                <a:tab pos="2192020" algn="l"/>
                <a:tab pos="3907154" algn="l"/>
                <a:tab pos="5739130" algn="l"/>
                <a:tab pos="6268720" algn="l"/>
                <a:tab pos="6955790" algn="l"/>
                <a:tab pos="7762240" algn="l"/>
              </a:tabLst>
            </a:pPr>
            <a:r>
              <a:rPr sz="2400" b="1" i="1" spc="-5" dirty="0">
                <a:latin typeface="Times New Roman"/>
                <a:cs typeface="Times New Roman"/>
              </a:rPr>
              <a:t>Wha</a:t>
            </a:r>
            <a:r>
              <a:rPr sz="2400" b="1" i="1" dirty="0">
                <a:latin typeface="Times New Roman"/>
                <a:cs typeface="Times New Roman"/>
              </a:rPr>
              <a:t>t	</a:t>
            </a:r>
            <a:r>
              <a:rPr sz="2400" b="1" i="1" spc="-5" dirty="0">
                <a:latin typeface="Times New Roman"/>
                <a:cs typeface="Times New Roman"/>
              </a:rPr>
              <a:t>i</a:t>
            </a:r>
            <a:r>
              <a:rPr sz="2400" b="1" i="1" dirty="0">
                <a:latin typeface="Times New Roman"/>
                <a:cs typeface="Times New Roman"/>
              </a:rPr>
              <a:t>s	</a:t>
            </a:r>
            <a:r>
              <a:rPr sz="2400" b="1" i="1" spc="-5" dirty="0">
                <a:latin typeface="Times New Roman"/>
                <a:cs typeface="Times New Roman"/>
              </a:rPr>
              <a:t>th</a:t>
            </a:r>
            <a:r>
              <a:rPr sz="2400" b="1" i="1" dirty="0">
                <a:latin typeface="Times New Roman"/>
                <a:cs typeface="Times New Roman"/>
              </a:rPr>
              <a:t>e	u</a:t>
            </a:r>
            <a:r>
              <a:rPr sz="2400" b="1" i="1" spc="-5" dirty="0">
                <a:latin typeface="Times New Roman"/>
                <a:cs typeface="Times New Roman"/>
              </a:rPr>
              <a:t>tilizatio</a:t>
            </a:r>
            <a:r>
              <a:rPr sz="2400" b="1" i="1" dirty="0">
                <a:latin typeface="Times New Roman"/>
                <a:cs typeface="Times New Roman"/>
              </a:rPr>
              <a:t>n	p</a:t>
            </a:r>
            <a:r>
              <a:rPr sz="2400" b="1" i="1" spc="-5" dirty="0">
                <a:latin typeface="Times New Roman"/>
                <a:cs typeface="Times New Roman"/>
              </a:rPr>
              <a:t>ercentag</a:t>
            </a:r>
            <a:r>
              <a:rPr sz="2400" b="1" i="1" dirty="0">
                <a:latin typeface="Times New Roman"/>
                <a:cs typeface="Times New Roman"/>
              </a:rPr>
              <a:t>e	</a:t>
            </a:r>
            <a:r>
              <a:rPr sz="2400" b="1" i="1" spc="-5" dirty="0">
                <a:latin typeface="Times New Roman"/>
                <a:cs typeface="Times New Roman"/>
              </a:rPr>
              <a:t>o</a:t>
            </a:r>
            <a:r>
              <a:rPr sz="2400" b="1" i="1" dirty="0">
                <a:latin typeface="Times New Roman"/>
                <a:cs typeface="Times New Roman"/>
              </a:rPr>
              <a:t>f	t</a:t>
            </a:r>
            <a:r>
              <a:rPr sz="2400" b="1" i="1" spc="-5" dirty="0">
                <a:latin typeface="Times New Roman"/>
                <a:cs typeface="Times New Roman"/>
              </a:rPr>
              <a:t>h</a:t>
            </a:r>
            <a:r>
              <a:rPr sz="2400" b="1" i="1" dirty="0">
                <a:latin typeface="Times New Roman"/>
                <a:cs typeface="Times New Roman"/>
              </a:rPr>
              <a:t>e	</a:t>
            </a:r>
            <a:r>
              <a:rPr sz="2400" b="1" i="1" spc="-5" dirty="0">
                <a:latin typeface="Times New Roman"/>
                <a:cs typeface="Times New Roman"/>
              </a:rPr>
              <a:t>lin</a:t>
            </a:r>
            <a:r>
              <a:rPr sz="2400" b="1" i="1" dirty="0">
                <a:latin typeface="Times New Roman"/>
                <a:cs typeface="Times New Roman"/>
              </a:rPr>
              <a:t>k	</a:t>
            </a:r>
            <a:r>
              <a:rPr sz="2400" b="1" i="1" spc="-5" dirty="0">
                <a:latin typeface="Times New Roman"/>
                <a:cs typeface="Times New Roman"/>
              </a:rPr>
              <a:t>in  Example</a:t>
            </a:r>
            <a:r>
              <a:rPr sz="2400" b="1" i="1" spc="25" dirty="0">
                <a:latin typeface="Times New Roman"/>
                <a:cs typeface="Times New Roman"/>
              </a:rPr>
              <a:t> </a:t>
            </a:r>
            <a:r>
              <a:rPr sz="2400" b="1" i="1" spc="-80" dirty="0">
                <a:latin typeface="Times New Roman"/>
                <a:cs typeface="Times New Roman"/>
              </a:rPr>
              <a:t>11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4</a:t>
            </a:r>
            <a:r>
              <a:rPr sz="2400" b="1" i="1" spc="3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if</a:t>
            </a:r>
            <a:r>
              <a:rPr sz="2400" b="1" i="1" spc="2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we</a:t>
            </a:r>
            <a:r>
              <a:rPr sz="2400" b="1" i="1" spc="3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have</a:t>
            </a:r>
            <a:r>
              <a:rPr sz="2400" b="1" i="1" spc="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i="1" spc="3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protocol</a:t>
            </a:r>
            <a:r>
              <a:rPr sz="2400" b="1" i="1" spc="3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that</a:t>
            </a:r>
            <a:r>
              <a:rPr sz="2400" b="1" i="1" spc="2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can</a:t>
            </a:r>
            <a:r>
              <a:rPr sz="2400" b="1" i="1" spc="3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send</a:t>
            </a:r>
            <a:r>
              <a:rPr sz="2400" b="1" i="1" spc="3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up</a:t>
            </a:r>
            <a:r>
              <a:rPr sz="2400" b="1" i="1" spc="2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to</a:t>
            </a:r>
            <a:endParaRPr sz="2400" dirty="0">
              <a:latin typeface="Times New Roman"/>
              <a:cs typeface="Times New Roman"/>
            </a:endParaRPr>
          </a:p>
          <a:p>
            <a:pPr marL="12700" marR="463550">
              <a:lnSpc>
                <a:spcPct val="100000"/>
              </a:lnSpc>
              <a:tabLst>
                <a:tab pos="561340" algn="l"/>
                <a:tab pos="1760855" algn="l"/>
                <a:tab pos="2880360" algn="l"/>
                <a:tab pos="4317365" algn="l"/>
                <a:tab pos="5064125" algn="l"/>
                <a:tab pos="6580505" algn="l"/>
                <a:tab pos="7601584" algn="l"/>
              </a:tabLst>
            </a:pPr>
            <a:r>
              <a:rPr sz="2400" b="1" i="1" spc="-5" dirty="0">
                <a:latin typeface="Times New Roman"/>
                <a:cs typeface="Times New Roman"/>
              </a:rPr>
              <a:t>1</a:t>
            </a:r>
            <a:r>
              <a:rPr sz="2400" b="1" i="1" dirty="0">
                <a:latin typeface="Times New Roman"/>
                <a:cs typeface="Times New Roman"/>
              </a:rPr>
              <a:t>5	</a:t>
            </a:r>
            <a:r>
              <a:rPr sz="2400" b="1" i="1" spc="-5" dirty="0">
                <a:latin typeface="Times New Roman"/>
                <a:cs typeface="Times New Roman"/>
              </a:rPr>
              <a:t>frame</a:t>
            </a:r>
            <a:r>
              <a:rPr sz="2400" b="1" i="1" dirty="0">
                <a:latin typeface="Times New Roman"/>
                <a:cs typeface="Times New Roman"/>
              </a:rPr>
              <a:t>s	</a:t>
            </a:r>
            <a:r>
              <a:rPr sz="2400" b="1" i="1" spc="-5" dirty="0">
                <a:latin typeface="Times New Roman"/>
                <a:cs typeface="Times New Roman"/>
              </a:rPr>
              <a:t>befor</a:t>
            </a:r>
            <a:r>
              <a:rPr sz="2400" b="1" i="1" dirty="0">
                <a:latin typeface="Times New Roman"/>
                <a:cs typeface="Times New Roman"/>
              </a:rPr>
              <a:t>e	</a:t>
            </a:r>
            <a:r>
              <a:rPr sz="2400" b="1" i="1" spc="-5" dirty="0">
                <a:latin typeface="Times New Roman"/>
                <a:cs typeface="Times New Roman"/>
              </a:rPr>
              <a:t>stoppin</a:t>
            </a:r>
            <a:r>
              <a:rPr sz="2400" b="1" i="1" dirty="0">
                <a:latin typeface="Times New Roman"/>
                <a:cs typeface="Times New Roman"/>
              </a:rPr>
              <a:t>g	a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i="1" dirty="0">
                <a:latin typeface="Times New Roman"/>
                <a:cs typeface="Times New Roman"/>
              </a:rPr>
              <a:t>d	</a:t>
            </a:r>
            <a:r>
              <a:rPr sz="2400" b="1" i="1" spc="-5" dirty="0">
                <a:latin typeface="Times New Roman"/>
                <a:cs typeface="Times New Roman"/>
              </a:rPr>
              <a:t>worryin</a:t>
            </a:r>
            <a:r>
              <a:rPr sz="2400" b="1" i="1" dirty="0">
                <a:latin typeface="Times New Roman"/>
                <a:cs typeface="Times New Roman"/>
              </a:rPr>
              <a:t>g	</a:t>
            </a:r>
            <a:r>
              <a:rPr sz="2400" b="1" i="1" spc="-5" dirty="0">
                <a:latin typeface="Times New Roman"/>
                <a:cs typeface="Times New Roman"/>
              </a:rPr>
              <a:t>abou</a:t>
            </a:r>
            <a:r>
              <a:rPr sz="2400" b="1" i="1" dirty="0">
                <a:latin typeface="Times New Roman"/>
                <a:cs typeface="Times New Roman"/>
              </a:rPr>
              <a:t>t	t</a:t>
            </a:r>
            <a:r>
              <a:rPr sz="2400" b="1" i="1" spc="-5" dirty="0">
                <a:latin typeface="Times New Roman"/>
                <a:cs typeface="Times New Roman"/>
              </a:rPr>
              <a:t>he  acknowledgments?</a:t>
            </a:r>
            <a:endParaRPr lang="en-IN" sz="2400" b="1" i="1" spc="-5" dirty="0">
              <a:latin typeface="Times New Roman"/>
              <a:cs typeface="Times New Roman"/>
            </a:endParaRPr>
          </a:p>
          <a:p>
            <a:pPr marL="12700" marR="463550">
              <a:lnSpc>
                <a:spcPct val="100000"/>
              </a:lnSpc>
              <a:tabLst>
                <a:tab pos="561340" algn="l"/>
                <a:tab pos="1760855" algn="l"/>
                <a:tab pos="2880360" algn="l"/>
                <a:tab pos="4317365" algn="l"/>
                <a:tab pos="5064125" algn="l"/>
                <a:tab pos="6580505" algn="l"/>
                <a:tab pos="7601584" algn="l"/>
              </a:tabLst>
            </a:pP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b="1" i="1" spc="-5" dirty="0">
                <a:latin typeface="Times New Roman"/>
                <a:cs typeface="Times New Roman"/>
              </a:rPr>
              <a:t>The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bandwidth-delay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product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is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still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20,000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bits.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The 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system can send </a:t>
            </a:r>
            <a:r>
              <a:rPr sz="2400" b="1" i="1" dirty="0">
                <a:latin typeface="Times New Roman"/>
                <a:cs typeface="Times New Roman"/>
              </a:rPr>
              <a:t>up </a:t>
            </a:r>
            <a:r>
              <a:rPr sz="2400" b="1" i="1" spc="-5" dirty="0">
                <a:latin typeface="Times New Roman"/>
                <a:cs typeface="Times New Roman"/>
              </a:rPr>
              <a:t>to </a:t>
            </a:r>
            <a:r>
              <a:rPr sz="2400" b="1" i="1" dirty="0">
                <a:latin typeface="Times New Roman"/>
                <a:cs typeface="Times New Roman"/>
              </a:rPr>
              <a:t>15 </a:t>
            </a:r>
            <a:r>
              <a:rPr sz="2400" b="1" i="1" spc="-5" dirty="0">
                <a:latin typeface="Times New Roman"/>
                <a:cs typeface="Times New Roman"/>
              </a:rPr>
              <a:t>frames or 15,000 bits during </a:t>
            </a:r>
            <a:r>
              <a:rPr sz="2400" b="1" i="1" dirty="0">
                <a:latin typeface="Times New Roman"/>
                <a:cs typeface="Times New Roman"/>
              </a:rPr>
              <a:t>a </a:t>
            </a:r>
            <a:r>
              <a:rPr sz="2400" b="1" i="1" spc="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round trip. This means the utilization is 15,000/20,000, or 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75 </a:t>
            </a:r>
            <a:r>
              <a:rPr sz="2400" b="1" i="1" spc="-5" dirty="0">
                <a:latin typeface="Times New Roman"/>
                <a:cs typeface="Times New Roman"/>
              </a:rPr>
              <a:t>percent. Of course, if there are damaged frames, the 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utilization</a:t>
            </a:r>
            <a:r>
              <a:rPr sz="2400" b="1" i="1" spc="37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percentage</a:t>
            </a:r>
            <a:r>
              <a:rPr sz="2400" b="1" i="1" spc="37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is</a:t>
            </a:r>
            <a:r>
              <a:rPr sz="2400" b="1" i="1" spc="38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much</a:t>
            </a:r>
            <a:r>
              <a:rPr sz="2400" b="1" i="1" spc="38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less</a:t>
            </a:r>
            <a:r>
              <a:rPr sz="2400" b="1" i="1" spc="38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because</a:t>
            </a:r>
            <a:r>
              <a:rPr sz="2400" b="1" i="1" spc="37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frames</a:t>
            </a:r>
            <a:r>
              <a:rPr sz="2400" b="1" i="1" spc="38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have </a:t>
            </a:r>
            <a:r>
              <a:rPr sz="2400" b="1" i="1" spc="-69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to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be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resent.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22</a:t>
            </a:fld>
            <a:endParaRPr spc="-25"/>
          </a:p>
        </p:txBody>
      </p:sp>
      <p:sp>
        <p:nvSpPr>
          <p:cNvPr id="11" name="object 15">
            <a:extLst>
              <a:ext uri="{FF2B5EF4-FFF2-40B4-BE49-F238E27FC236}">
                <a16:creationId xmlns:a16="http://schemas.microsoft.com/office/drawing/2014/main" id="{71B80864-E56D-4EE8-1604-81CEA75A5683}"/>
              </a:ext>
            </a:extLst>
          </p:cNvPr>
          <p:cNvSpPr txBox="1"/>
          <p:nvPr/>
        </p:nvSpPr>
        <p:spPr>
          <a:xfrm>
            <a:off x="1234462" y="5058399"/>
            <a:ext cx="8077200" cy="1143262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4139" marR="97790">
              <a:lnSpc>
                <a:spcPct val="100000"/>
              </a:lnSpc>
              <a:spcBef>
                <a:spcPts val="275"/>
              </a:spcBef>
            </a:pPr>
            <a:r>
              <a:rPr sz="2400" b="1" spc="-5" dirty="0">
                <a:latin typeface="Arial"/>
                <a:cs typeface="Arial"/>
              </a:rPr>
              <a:t>In the Go-Back-N </a:t>
            </a:r>
            <a:r>
              <a:rPr sz="2400" b="1" spc="-10" dirty="0">
                <a:latin typeface="Arial"/>
                <a:cs typeface="Arial"/>
              </a:rPr>
              <a:t>Protocol, </a:t>
            </a:r>
            <a:r>
              <a:rPr sz="2400" b="1" spc="-5" dirty="0">
                <a:latin typeface="Arial"/>
                <a:cs typeface="Arial"/>
              </a:rPr>
              <a:t>the </a:t>
            </a:r>
            <a:r>
              <a:rPr sz="2400" b="1" spc="-10" dirty="0">
                <a:latin typeface="Arial"/>
                <a:cs typeface="Arial"/>
              </a:rPr>
              <a:t>sequence </a:t>
            </a:r>
            <a:r>
              <a:rPr sz="2400" b="1" spc="-87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numbers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are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modulo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2</a:t>
            </a:r>
            <a:r>
              <a:rPr sz="2400" b="1" i="1" spc="15" baseline="25132" dirty="0">
                <a:latin typeface="Arial"/>
                <a:cs typeface="Arial"/>
              </a:rPr>
              <a:t>m</a:t>
            </a:r>
            <a:r>
              <a:rPr sz="2400" b="1" spc="10" dirty="0">
                <a:latin typeface="Arial"/>
                <a:cs typeface="Arial"/>
              </a:rPr>
              <a:t>,</a:t>
            </a:r>
            <a:r>
              <a:rPr lang="en-IN" sz="2400" b="1" spc="1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where </a:t>
            </a:r>
            <a:r>
              <a:rPr sz="2400" b="1" spc="-5" dirty="0">
                <a:latin typeface="Arial"/>
                <a:cs typeface="Arial"/>
              </a:rPr>
              <a:t>m is the size of the </a:t>
            </a:r>
            <a:r>
              <a:rPr sz="2400" b="1" spc="-10" dirty="0">
                <a:latin typeface="Arial"/>
                <a:cs typeface="Arial"/>
              </a:rPr>
              <a:t>sequence </a:t>
            </a:r>
            <a:r>
              <a:rPr sz="2400" b="1" spc="-87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number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field in bits.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382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11.12	</a:t>
            </a:r>
            <a:r>
              <a:rPr sz="2000" i="1" spc="-5">
                <a:latin typeface="Times New Roman"/>
                <a:cs typeface="Times New Roman"/>
              </a:rPr>
              <a:t>Send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window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Go-Back-N</a:t>
            </a:r>
            <a:r>
              <a:rPr sz="2000" i="1" spc="-6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00391" y="1578102"/>
            <a:ext cx="8537447" cy="456209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23</a:t>
            </a:fld>
            <a:endParaRPr spc="-25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61943" y="907979"/>
            <a:ext cx="8128000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5260" marR="169545" algn="ctr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latin typeface="Arial"/>
                <a:cs typeface="Arial"/>
              </a:rPr>
              <a:t>The send window is an </a:t>
            </a:r>
            <a:r>
              <a:rPr sz="2400" b="1" spc="-10" dirty="0">
                <a:latin typeface="Arial"/>
                <a:cs typeface="Arial"/>
              </a:rPr>
              <a:t>abstract concept </a:t>
            </a:r>
            <a:r>
              <a:rPr sz="2400" b="1" spc="-87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defining an imaginary box </a:t>
            </a:r>
            <a:r>
              <a:rPr sz="2400" b="1" dirty="0">
                <a:latin typeface="Arial"/>
                <a:cs typeface="Arial"/>
              </a:rPr>
              <a:t>of </a:t>
            </a:r>
            <a:r>
              <a:rPr sz="2400" b="1" spc="-5" dirty="0">
                <a:latin typeface="Arial"/>
                <a:cs typeface="Arial"/>
              </a:rPr>
              <a:t>size </a:t>
            </a:r>
            <a:r>
              <a:rPr sz="2400" b="1" spc="10" dirty="0">
                <a:latin typeface="Arial"/>
                <a:cs typeface="Arial"/>
              </a:rPr>
              <a:t>2</a:t>
            </a:r>
            <a:r>
              <a:rPr sz="2400" b="1" i="1" spc="15" baseline="25132" dirty="0">
                <a:latin typeface="Arial"/>
                <a:cs typeface="Arial"/>
              </a:rPr>
              <a:t>m</a:t>
            </a:r>
            <a:r>
              <a:rPr sz="2400" b="1" i="1" spc="22" baseline="25132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− 1 </a:t>
            </a:r>
            <a:r>
              <a:rPr sz="2400" b="1" spc="-87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with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three</a:t>
            </a:r>
            <a:r>
              <a:rPr sz="2400" b="1" spc="-10" dirty="0">
                <a:latin typeface="Arial"/>
                <a:cs typeface="Arial"/>
              </a:rPr>
              <a:t> variables: </a:t>
            </a:r>
            <a:r>
              <a:rPr sz="2400" b="1" spc="5" dirty="0">
                <a:latin typeface="Arial"/>
                <a:cs typeface="Arial"/>
              </a:rPr>
              <a:t>S</a:t>
            </a:r>
            <a:r>
              <a:rPr sz="2400" b="1" spc="7" baseline="-14550" dirty="0">
                <a:latin typeface="Arial"/>
                <a:cs typeface="Arial"/>
              </a:rPr>
              <a:t>f</a:t>
            </a:r>
            <a:r>
              <a:rPr sz="2400" b="1" spc="5" dirty="0">
                <a:latin typeface="Arial"/>
                <a:cs typeface="Arial"/>
              </a:rPr>
              <a:t>,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5" dirty="0">
                <a:latin typeface="Arial"/>
                <a:cs typeface="Arial"/>
              </a:rPr>
              <a:t>S</a:t>
            </a:r>
            <a:r>
              <a:rPr sz="2400" b="1" spc="7" baseline="-14550" dirty="0">
                <a:latin typeface="Arial"/>
                <a:cs typeface="Arial"/>
              </a:rPr>
              <a:t>n</a:t>
            </a:r>
            <a:r>
              <a:rPr sz="2400" b="1" spc="5" dirty="0">
                <a:latin typeface="Arial"/>
                <a:cs typeface="Arial"/>
              </a:rPr>
              <a:t>,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and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5" dirty="0" err="1">
                <a:latin typeface="Arial"/>
                <a:cs typeface="Arial"/>
              </a:rPr>
              <a:t>S</a:t>
            </a:r>
            <a:r>
              <a:rPr sz="2400" b="1" spc="7" baseline="-13227" dirty="0" err="1">
                <a:latin typeface="Arial"/>
                <a:cs typeface="Arial"/>
              </a:rPr>
              <a:t>size</a:t>
            </a:r>
            <a:r>
              <a:rPr sz="2400" b="1" spc="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24</a:t>
            </a:fld>
            <a:endParaRPr spc="-25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EB24B7-66D2-B7AF-9A4E-98BD63AD332D}"/>
              </a:ext>
            </a:extLst>
          </p:cNvPr>
          <p:cNvSpPr txBox="1"/>
          <p:nvPr/>
        </p:nvSpPr>
        <p:spPr>
          <a:xfrm>
            <a:off x="777373" y="2028157"/>
            <a:ext cx="85344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07110" marR="1000125">
              <a:lnSpc>
                <a:spcPct val="100000"/>
              </a:lnSpc>
              <a:spcBef>
                <a:spcPts val="275"/>
              </a:spcBef>
            </a:pPr>
            <a:r>
              <a:rPr lang="en-US" sz="2000" b="1" spc="-5" dirty="0">
                <a:latin typeface="Arial"/>
                <a:cs typeface="Arial"/>
              </a:rPr>
              <a:t>The</a:t>
            </a:r>
            <a:r>
              <a:rPr lang="en-US" sz="2000" b="1" spc="-30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send</a:t>
            </a:r>
            <a:r>
              <a:rPr lang="en-US" sz="2000" b="1" spc="-30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window</a:t>
            </a:r>
            <a:r>
              <a:rPr lang="en-US" sz="2000" b="1" spc="-2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can</a:t>
            </a:r>
            <a:r>
              <a:rPr lang="en-US" sz="2000" b="1" spc="-30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slide</a:t>
            </a:r>
            <a:r>
              <a:rPr lang="en-US" sz="2000" b="1" spc="-30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one </a:t>
            </a:r>
            <a:r>
              <a:rPr lang="en-US" sz="2000" b="1" spc="-87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or more slots when a valid 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1" spc="-10" dirty="0">
                <a:latin typeface="Arial"/>
                <a:cs typeface="Arial"/>
              </a:rPr>
              <a:t>acknowledgment arrives.</a:t>
            </a:r>
            <a:endParaRPr lang="en-US" sz="2000" dirty="0">
              <a:latin typeface="Arial"/>
              <a:cs typeface="Arial"/>
            </a:endParaRPr>
          </a:p>
        </p:txBody>
      </p:sp>
      <p:pic>
        <p:nvPicPr>
          <p:cNvPr id="23" name="object 4">
            <a:extLst>
              <a:ext uri="{FF2B5EF4-FFF2-40B4-BE49-F238E27FC236}">
                <a16:creationId xmlns:a16="http://schemas.microsoft.com/office/drawing/2014/main" id="{2BB46836-2297-1E5E-E457-4CB9B162C16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265567" y="3338615"/>
            <a:ext cx="7760969" cy="3412997"/>
          </a:xfrm>
          <a:prstGeom prst="rect">
            <a:avLst/>
          </a:prstGeom>
        </p:spPr>
      </p:pic>
      <p:sp>
        <p:nvSpPr>
          <p:cNvPr id="24" name="object 2">
            <a:extLst>
              <a:ext uri="{FF2B5EF4-FFF2-40B4-BE49-F238E27FC236}">
                <a16:creationId xmlns:a16="http://schemas.microsoft.com/office/drawing/2014/main" id="{26C4E3A1-CEAF-55AF-051B-C7FC558A22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5559" y="2736043"/>
            <a:ext cx="5663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dirty="0">
                <a:solidFill>
                  <a:srgbClr val="3333CC"/>
                </a:solidFill>
              </a:rPr>
              <a:t> </a:t>
            </a:r>
            <a:r>
              <a:rPr sz="2400" spc="-35" dirty="0">
                <a:solidFill>
                  <a:srgbClr val="3333CC"/>
                </a:solidFill>
              </a:rPr>
              <a:t>11.13	</a:t>
            </a:r>
            <a:r>
              <a:rPr sz="2000" i="1" spc="-5" dirty="0">
                <a:latin typeface="Times New Roman"/>
                <a:cs typeface="Times New Roman"/>
              </a:rPr>
              <a:t>Receive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window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Go-Back-N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ARQ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/>
          <a:stretch>
            <a:fillRect/>
          </a:stretch>
        </p:blipFill>
        <p:spPr>
          <a:xfrm>
            <a:off x="1232039" y="1720595"/>
            <a:ext cx="1143000" cy="3429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17414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4839" y="2062733"/>
            <a:ext cx="9144000" cy="3430270"/>
            <a:chOff x="774839" y="2062733"/>
            <a:chExt cx="9144000" cy="3430270"/>
          </a:xfrm>
        </p:grpSpPr>
        <p:sp>
          <p:nvSpPr>
            <p:cNvPr id="10" name="object 10"/>
            <p:cNvSpPr/>
            <p:nvPr/>
          </p:nvSpPr>
          <p:spPr>
            <a:xfrm>
              <a:off x="774839" y="206273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4000" y="85801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2039" y="23682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70139" y="2498597"/>
              <a:ext cx="8077200" cy="422275"/>
            </a:xfrm>
            <a:custGeom>
              <a:avLst/>
              <a:gdLst/>
              <a:ahLst/>
              <a:cxnLst/>
              <a:rect l="l" t="t" r="r" b="b"/>
              <a:pathLst>
                <a:path w="8077200" h="422275">
                  <a:moveTo>
                    <a:pt x="8077200" y="422148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422148"/>
                  </a:lnTo>
                  <a:lnTo>
                    <a:pt x="8077200" y="422148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232039" y="2063495"/>
              <a:ext cx="1143000" cy="22402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4839" y="291999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19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0139" y="2919983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19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4839" y="377724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19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70139" y="3777246"/>
              <a:ext cx="8077200" cy="1715770"/>
            </a:xfrm>
            <a:custGeom>
              <a:avLst/>
              <a:gdLst/>
              <a:ahLst/>
              <a:cxnLst/>
              <a:rect l="l" t="t" r="r" b="b"/>
              <a:pathLst>
                <a:path w="8077200" h="1715770">
                  <a:moveTo>
                    <a:pt x="80772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5262"/>
                  </a:lnTo>
                  <a:lnTo>
                    <a:pt x="8077200" y="1715262"/>
                  </a:lnTo>
                  <a:lnTo>
                    <a:pt x="8077200" y="858012"/>
                  </a:lnTo>
                  <a:lnTo>
                    <a:pt x="8077200" y="85725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15395" y="2520950"/>
            <a:ext cx="7186295" cy="2951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43180" indent="635" algn="ctr">
              <a:lnSpc>
                <a:spcPct val="100000"/>
              </a:lnSpc>
              <a:spcBef>
                <a:spcPts val="95"/>
              </a:spcBef>
              <a:tabLst>
                <a:tab pos="6562725" algn="l"/>
              </a:tabLst>
            </a:pPr>
            <a:r>
              <a:rPr sz="3200" b="1" spc="-5">
                <a:latin typeface="Arial"/>
                <a:cs typeface="Arial"/>
              </a:rPr>
              <a:t>The </a:t>
            </a:r>
            <a:r>
              <a:rPr sz="3200" b="1" spc="-10">
                <a:latin typeface="Arial"/>
                <a:cs typeface="Arial"/>
              </a:rPr>
              <a:t>receive window </a:t>
            </a:r>
            <a:r>
              <a:rPr sz="3200" b="1" spc="-5">
                <a:latin typeface="Arial"/>
                <a:cs typeface="Arial"/>
              </a:rPr>
              <a:t>is an </a:t>
            </a:r>
            <a:r>
              <a:rPr sz="3200" b="1" spc="-10">
                <a:latin typeface="Arial"/>
                <a:cs typeface="Arial"/>
              </a:rPr>
              <a:t>abstract </a:t>
            </a:r>
            <a:r>
              <a:rPr sz="3200" b="1" spc="-5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concept</a:t>
            </a:r>
            <a:r>
              <a:rPr sz="3200" b="1" spc="2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defining</a:t>
            </a:r>
            <a:r>
              <a:rPr sz="3200" b="1" spc="3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an</a:t>
            </a:r>
            <a:r>
              <a:rPr sz="3200" b="1" spc="4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imaginary</a:t>
            </a:r>
            <a:r>
              <a:rPr sz="3200" b="1" spc="5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box </a:t>
            </a:r>
            <a:r>
              <a:rPr sz="3200" b="1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of</a:t>
            </a:r>
            <a:r>
              <a:rPr sz="3200" b="1" spc="-2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size</a:t>
            </a:r>
            <a:r>
              <a:rPr sz="3200" b="1" spc="-1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1 with</a:t>
            </a:r>
            <a:r>
              <a:rPr sz="3200" b="1" spc="-1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one</a:t>
            </a:r>
            <a:r>
              <a:rPr sz="3200" b="1" spc="-20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singl</a:t>
            </a:r>
            <a:r>
              <a:rPr sz="3200" b="1" spc="-5">
                <a:latin typeface="Arial"/>
                <a:cs typeface="Arial"/>
              </a:rPr>
              <a:t>e</a:t>
            </a:r>
            <a:r>
              <a:rPr sz="3200" b="1" spc="-20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variabl</a:t>
            </a:r>
            <a:r>
              <a:rPr sz="3200" b="1" spc="-5">
                <a:latin typeface="Arial"/>
                <a:cs typeface="Arial"/>
              </a:rPr>
              <a:t>e</a:t>
            </a:r>
            <a:r>
              <a:rPr sz="3200" b="1">
                <a:latin typeface="Arial"/>
                <a:cs typeface="Arial"/>
              </a:rPr>
              <a:t>	R</a:t>
            </a:r>
            <a:r>
              <a:rPr sz="3150" b="1" spc="22" baseline="-13227">
                <a:latin typeface="Arial"/>
                <a:cs typeface="Arial"/>
              </a:rPr>
              <a:t>n</a:t>
            </a:r>
            <a:r>
              <a:rPr sz="3200" b="1" spc="-5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3200" b="1" spc="-5">
                <a:latin typeface="Arial"/>
                <a:cs typeface="Arial"/>
              </a:rPr>
              <a:t>The</a:t>
            </a:r>
            <a:r>
              <a:rPr sz="3200" b="1" spc="-3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window</a:t>
            </a:r>
            <a:r>
              <a:rPr sz="3200" b="1" spc="-3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slides</a:t>
            </a:r>
            <a:endParaRPr sz="3200">
              <a:latin typeface="Arial"/>
              <a:cs typeface="Arial"/>
            </a:endParaRPr>
          </a:p>
          <a:p>
            <a:pPr marL="345440" marR="337185" algn="ctr">
              <a:lnSpc>
                <a:spcPct val="100000"/>
              </a:lnSpc>
            </a:pPr>
            <a:r>
              <a:rPr sz="3200" b="1" spc="-5">
                <a:latin typeface="Arial"/>
                <a:cs typeface="Arial"/>
              </a:rPr>
              <a:t>when a correct </a:t>
            </a:r>
            <a:r>
              <a:rPr sz="3200" b="1" spc="-10">
                <a:latin typeface="Arial"/>
                <a:cs typeface="Arial"/>
              </a:rPr>
              <a:t>frame </a:t>
            </a:r>
            <a:r>
              <a:rPr sz="3200" b="1" spc="-5">
                <a:latin typeface="Arial"/>
                <a:cs typeface="Arial"/>
              </a:rPr>
              <a:t>has arrived; </a:t>
            </a:r>
            <a:r>
              <a:rPr sz="3200" b="1" spc="-875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sliding</a:t>
            </a:r>
            <a:r>
              <a:rPr sz="3200" b="1" spc="-20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occurs</a:t>
            </a:r>
            <a:r>
              <a:rPr sz="3200" b="1" spc="-1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one</a:t>
            </a:r>
            <a:r>
              <a:rPr sz="3200" b="1" spc="-1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slot</a:t>
            </a:r>
            <a:r>
              <a:rPr sz="3200" b="1" spc="-1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at</a:t>
            </a:r>
            <a:r>
              <a:rPr sz="3200" b="1" spc="-1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a</a:t>
            </a:r>
            <a:r>
              <a:rPr sz="3200" b="1" spc="-20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time.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34325" y="5568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70139" y="5491734"/>
            <a:ext cx="8077200" cy="24130"/>
          </a:xfrm>
          <a:custGeom>
            <a:avLst/>
            <a:gdLst/>
            <a:ahLst/>
            <a:cxnLst/>
            <a:rect l="l" t="t" r="r" b="b"/>
            <a:pathLst>
              <a:path w="8077200" h="24129">
                <a:moveTo>
                  <a:pt x="8077200" y="23622"/>
                </a:moveTo>
                <a:lnTo>
                  <a:pt x="8077200" y="0"/>
                </a:lnTo>
                <a:lnTo>
                  <a:pt x="0" y="0"/>
                </a:lnTo>
                <a:lnTo>
                  <a:pt x="0" y="23622"/>
                </a:lnTo>
                <a:lnTo>
                  <a:pt x="8077200" y="23622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25</a:t>
            </a:fld>
            <a:endParaRPr spc="-25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018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4625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11.14	</a:t>
            </a:r>
            <a:r>
              <a:rPr sz="2000" i="1" spc="-5">
                <a:latin typeface="Times New Roman"/>
                <a:cs typeface="Times New Roman"/>
              </a:rPr>
              <a:t>Design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of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Go-Back-N</a:t>
            </a:r>
            <a:r>
              <a:rPr sz="2000" i="1" spc="-7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121293" y="1263396"/>
            <a:ext cx="6199555" cy="524255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26</a:t>
            </a:fld>
            <a:endParaRPr spc="-25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28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11.15	</a:t>
            </a:r>
            <a:r>
              <a:rPr sz="2000" i="1" spc="-15">
                <a:latin typeface="Times New Roman"/>
                <a:cs typeface="Times New Roman"/>
              </a:rPr>
              <a:t>Window </a:t>
            </a:r>
            <a:r>
              <a:rPr sz="2000" i="1" spc="-5">
                <a:latin typeface="Times New Roman"/>
                <a:cs typeface="Times New Roman"/>
              </a:rPr>
              <a:t>size</a:t>
            </a:r>
            <a:r>
              <a:rPr sz="2000" i="1" spc="-2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Go-Back-N</a:t>
            </a:r>
            <a:r>
              <a:rPr sz="2000" i="1" spc="-6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46567" y="1491996"/>
            <a:ext cx="7357871" cy="513892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27</a:t>
            </a:fld>
            <a:endParaRPr spc="-25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232039" y="2596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/>
          <a:stretch>
            <a:fillRect/>
          </a:stretch>
        </p:blipFill>
        <p:spPr>
          <a:xfrm>
            <a:off x="1232039" y="1949195"/>
            <a:ext cx="1143000" cy="5669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44123" y="1970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0139" y="2727198"/>
            <a:ext cx="8077200" cy="1907539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57810" marR="251460" algn="ctr">
              <a:lnSpc>
                <a:spcPct val="100000"/>
              </a:lnSpc>
              <a:spcBef>
                <a:spcPts val="275"/>
              </a:spcBef>
            </a:pPr>
            <a:r>
              <a:rPr sz="3200" b="1" spc="-5">
                <a:latin typeface="Arial"/>
                <a:cs typeface="Arial"/>
              </a:rPr>
              <a:t>In</a:t>
            </a:r>
            <a:r>
              <a:rPr sz="3200" b="1" spc="-2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Go-Back-N</a:t>
            </a:r>
            <a:r>
              <a:rPr sz="3200" b="1" spc="-13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ARQ,</a:t>
            </a:r>
            <a:r>
              <a:rPr sz="3200" b="1" spc="-1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the</a:t>
            </a:r>
            <a:r>
              <a:rPr sz="3200" b="1" spc="-2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size</a:t>
            </a:r>
            <a:r>
              <a:rPr sz="3200" b="1" spc="-15">
                <a:latin typeface="Arial"/>
                <a:cs typeface="Arial"/>
              </a:rPr>
              <a:t> </a:t>
            </a:r>
            <a:r>
              <a:rPr sz="3200" b="1">
                <a:latin typeface="Arial"/>
                <a:cs typeface="Arial"/>
              </a:rPr>
              <a:t>of</a:t>
            </a:r>
            <a:r>
              <a:rPr sz="3200" b="1" spc="-2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the</a:t>
            </a:r>
            <a:r>
              <a:rPr sz="3200" b="1" spc="-1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send </a:t>
            </a:r>
            <a:r>
              <a:rPr sz="3200" b="1" spc="-875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window</a:t>
            </a:r>
            <a:r>
              <a:rPr sz="3200" b="1" spc="-3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must</a:t>
            </a:r>
            <a:r>
              <a:rPr sz="3200" b="1" spc="-1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be</a:t>
            </a:r>
            <a:r>
              <a:rPr sz="3200" b="1" spc="-1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less</a:t>
            </a:r>
            <a:r>
              <a:rPr sz="3200" b="1" spc="-1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than</a:t>
            </a:r>
            <a:r>
              <a:rPr sz="3200" b="1" spc="-10">
                <a:latin typeface="Arial"/>
                <a:cs typeface="Arial"/>
              </a:rPr>
              <a:t> </a:t>
            </a:r>
            <a:r>
              <a:rPr sz="3200" b="1" spc="10">
                <a:latin typeface="Arial"/>
                <a:cs typeface="Arial"/>
              </a:rPr>
              <a:t>2</a:t>
            </a:r>
            <a:r>
              <a:rPr sz="3150" b="1" i="1" spc="15" baseline="25132">
                <a:latin typeface="Arial"/>
                <a:cs typeface="Arial"/>
              </a:rPr>
              <a:t>m</a:t>
            </a:r>
            <a:r>
              <a:rPr sz="3200" b="1" spc="10"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  <a:p>
            <a:pPr marL="1049655" marR="1043940" algn="ctr">
              <a:lnSpc>
                <a:spcPct val="100000"/>
              </a:lnSpc>
            </a:pPr>
            <a:r>
              <a:rPr sz="3200" b="1" spc="-5">
                <a:latin typeface="Arial"/>
                <a:cs typeface="Arial"/>
              </a:rPr>
              <a:t>the size of the </a:t>
            </a:r>
            <a:r>
              <a:rPr sz="3200" b="1" spc="-10">
                <a:latin typeface="Arial"/>
                <a:cs typeface="Arial"/>
              </a:rPr>
              <a:t>receiver </a:t>
            </a:r>
            <a:r>
              <a:rPr sz="3200" b="1" spc="-5">
                <a:latin typeface="Arial"/>
                <a:cs typeface="Arial"/>
              </a:rPr>
              <a:t>window </a:t>
            </a:r>
            <a:r>
              <a:rPr sz="3200" b="1" spc="-87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is</a:t>
            </a:r>
            <a:r>
              <a:rPr sz="3200" b="1" spc="-1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always</a:t>
            </a:r>
            <a:r>
              <a:rPr sz="3200" b="1" spc="-15">
                <a:latin typeface="Arial"/>
                <a:cs typeface="Arial"/>
              </a:rPr>
              <a:t> 1.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4634484"/>
            <a:ext cx="9144000" cy="858519"/>
            <a:chOff x="774839" y="4634484"/>
            <a:chExt cx="9144000" cy="858519"/>
          </a:xfrm>
        </p:grpSpPr>
        <p:sp>
          <p:nvSpPr>
            <p:cNvPr id="12" name="object 12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34325" y="48066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70139" y="4634484"/>
              <a:ext cx="8077200" cy="134620"/>
            </a:xfrm>
            <a:custGeom>
              <a:avLst/>
              <a:gdLst/>
              <a:ahLst/>
              <a:cxnLst/>
              <a:rect l="l" t="t" r="r" b="b"/>
              <a:pathLst>
                <a:path w="8077200" h="134620">
                  <a:moveTo>
                    <a:pt x="8077200" y="1341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134112"/>
                  </a:lnTo>
                  <a:lnTo>
                    <a:pt x="8077200" y="1341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28</a:t>
            </a:fld>
            <a:endParaRPr spc="-25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857250"/>
            <a:chOff x="851039" y="348995"/>
            <a:chExt cx="8594090" cy="857250"/>
          </a:xfrm>
        </p:grpSpPr>
        <p:sp>
          <p:nvSpPr>
            <p:cNvPr id="3" name="object 3"/>
            <p:cNvSpPr/>
            <p:nvPr/>
          </p:nvSpPr>
          <p:spPr>
            <a:xfrm>
              <a:off x="1142123" y="457211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524647" y="457200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879347"/>
              <a:ext cx="422275" cy="231775"/>
            </a:xfrm>
            <a:custGeom>
              <a:avLst/>
              <a:gdLst/>
              <a:ahLst/>
              <a:cxnLst/>
              <a:rect l="l" t="t" r="r" b="b"/>
              <a:pathLst>
                <a:path w="422275" h="231775">
                  <a:moveTo>
                    <a:pt x="0" y="231647"/>
                  </a:moveTo>
                  <a:lnTo>
                    <a:pt x="422147" y="231647"/>
                  </a:lnTo>
                  <a:lnTo>
                    <a:pt x="422147" y="0"/>
                  </a:lnTo>
                  <a:lnTo>
                    <a:pt x="0" y="0"/>
                  </a:lnTo>
                  <a:lnTo>
                    <a:pt x="0" y="23164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806195"/>
              <a:ext cx="8593836" cy="4000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348995"/>
              <a:ext cx="31750" cy="762000"/>
            </a:xfrm>
            <a:custGeom>
              <a:avLst/>
              <a:gdLst/>
              <a:ahLst/>
              <a:cxnLst/>
              <a:rect l="l" t="t" r="r" b="b"/>
              <a:pathLst>
                <a:path w="31750" h="762000">
                  <a:moveTo>
                    <a:pt x="0" y="761999"/>
                  </a:moveTo>
                  <a:lnTo>
                    <a:pt x="31241" y="761999"/>
                  </a:lnTo>
                  <a:lnTo>
                    <a:pt x="31241" y="0"/>
                  </a:lnTo>
                  <a:lnTo>
                    <a:pt x="0" y="0"/>
                  </a:lnTo>
                  <a:lnTo>
                    <a:pt x="0" y="76199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7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11.6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75075" y="1110996"/>
            <a:ext cx="8815705" cy="952500"/>
            <a:chOff x="875075" y="1110996"/>
            <a:chExt cx="8815705" cy="952500"/>
          </a:xfrm>
        </p:grpSpPr>
        <p:sp>
          <p:nvSpPr>
            <p:cNvPr id="10" name="object 10"/>
            <p:cNvSpPr/>
            <p:nvPr/>
          </p:nvSpPr>
          <p:spPr>
            <a:xfrm>
              <a:off x="1003439" y="1110996"/>
              <a:ext cx="8686800" cy="95250"/>
            </a:xfrm>
            <a:custGeom>
              <a:avLst/>
              <a:gdLst/>
              <a:ahLst/>
              <a:cxnLst/>
              <a:rect l="l" t="t" r="r" b="b"/>
              <a:pathLst>
                <a:path w="8686800" h="95250">
                  <a:moveTo>
                    <a:pt x="8686800" y="95250"/>
                  </a:moveTo>
                  <a:lnTo>
                    <a:pt x="8686800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8686800" y="95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635899" y="1206246"/>
              <a:ext cx="361962" cy="1478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875075" y="1206246"/>
              <a:ext cx="536796" cy="2285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03439" y="1206246"/>
              <a:ext cx="8686800" cy="857250"/>
            </a:xfrm>
            <a:custGeom>
              <a:avLst/>
              <a:gdLst/>
              <a:ahLst/>
              <a:cxnLst/>
              <a:rect l="l" t="t" r="r" b="b"/>
              <a:pathLst>
                <a:path w="8686800" h="857250">
                  <a:moveTo>
                    <a:pt x="8686800" y="857250"/>
                  </a:moveTo>
                  <a:lnTo>
                    <a:pt x="86868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86868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82156" y="1131824"/>
            <a:ext cx="8529320" cy="557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Figure </a:t>
            </a:r>
            <a:r>
              <a:rPr sz="2800" b="1" i="1" spc="-35">
                <a:latin typeface="Times New Roman"/>
                <a:cs typeface="Times New Roman"/>
              </a:rPr>
              <a:t>11.16 </a:t>
            </a:r>
            <a:r>
              <a:rPr sz="2800" b="1" i="1" spc="-5">
                <a:latin typeface="Times New Roman"/>
                <a:cs typeface="Times New Roman"/>
              </a:rPr>
              <a:t>shows an example of Go-Back-N. </a:t>
            </a:r>
            <a:r>
              <a:rPr sz="2800" b="1" i="1">
                <a:latin typeface="Times New Roman"/>
                <a:cs typeface="Times New Roman"/>
              </a:rPr>
              <a:t>This is an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example </a:t>
            </a:r>
            <a:r>
              <a:rPr sz="2800" b="1" i="1">
                <a:latin typeface="Times New Roman"/>
                <a:cs typeface="Times New Roman"/>
              </a:rPr>
              <a:t>of a </a:t>
            </a:r>
            <a:r>
              <a:rPr sz="2800" b="1" i="1" spc="-5">
                <a:latin typeface="Times New Roman"/>
                <a:cs typeface="Times New Roman"/>
              </a:rPr>
              <a:t>case where the forward channel is reliable, </a:t>
            </a:r>
            <a:r>
              <a:rPr sz="2800" b="1" i="1">
                <a:latin typeface="Times New Roman"/>
                <a:cs typeface="Times New Roman"/>
              </a:rPr>
              <a:t> but </a:t>
            </a:r>
            <a:r>
              <a:rPr sz="2800" b="1" i="1" spc="-5">
                <a:latin typeface="Times New Roman"/>
                <a:cs typeface="Times New Roman"/>
              </a:rPr>
              <a:t>the reverse is not. No data frames are lost, but some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delayed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one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lost.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example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also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shows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how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cumulative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acknowledgments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can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help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if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acknowledgments are delayed or lost. After initialization,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seven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sender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events.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Request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events</a:t>
            </a:r>
            <a:r>
              <a:rPr sz="2800" b="1" i="1" spc="69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triggered </a:t>
            </a:r>
            <a:r>
              <a:rPr sz="2800" b="1" i="1">
                <a:latin typeface="Times New Roman"/>
                <a:cs typeface="Times New Roman"/>
              </a:rPr>
              <a:t>by </a:t>
            </a:r>
            <a:r>
              <a:rPr sz="2800" b="1" i="1" spc="-5">
                <a:latin typeface="Times New Roman"/>
                <a:cs typeface="Times New Roman"/>
              </a:rPr>
              <a:t>data from the network layer; arrival events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triggered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by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acknowledgments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from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physical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35">
                <a:latin typeface="Times New Roman"/>
                <a:cs typeface="Times New Roman"/>
              </a:rPr>
              <a:t>layer.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>
                <a:latin typeface="Times New Roman"/>
                <a:cs typeface="Times New Roman"/>
              </a:rPr>
              <a:t> no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time-out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event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here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because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all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outstanding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acknowledged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before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timer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expires. Note that although ACK </a:t>
            </a:r>
            <a:r>
              <a:rPr sz="2800" b="1" i="1">
                <a:latin typeface="Times New Roman"/>
                <a:cs typeface="Times New Roman"/>
              </a:rPr>
              <a:t>2 </a:t>
            </a:r>
            <a:r>
              <a:rPr sz="2800" b="1" i="1" spc="-5">
                <a:latin typeface="Times New Roman"/>
                <a:cs typeface="Times New Roman"/>
              </a:rPr>
              <a:t>is lost, ACK </a:t>
            </a:r>
            <a:r>
              <a:rPr sz="2800" b="1" i="1">
                <a:latin typeface="Times New Roman"/>
                <a:cs typeface="Times New Roman"/>
              </a:rPr>
              <a:t>3 </a:t>
            </a:r>
            <a:r>
              <a:rPr sz="2800" b="1" i="1" spc="-5">
                <a:latin typeface="Times New Roman"/>
                <a:cs typeface="Times New Roman"/>
              </a:rPr>
              <a:t>serves as </a:t>
            </a:r>
            <a:r>
              <a:rPr sz="2800" b="1" i="1" spc="-69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both</a:t>
            </a:r>
            <a:r>
              <a:rPr sz="2800" b="1" i="1" spc="-1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2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and</a:t>
            </a:r>
            <a:r>
              <a:rPr sz="2800" b="1" i="1" spc="-1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3.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29</a:t>
            </a:fld>
            <a:endParaRPr spc="-25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78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5113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11.16	</a:t>
            </a:r>
            <a:r>
              <a:rPr sz="2000" i="1" spc="-5">
                <a:latin typeface="Times New Roman"/>
                <a:cs typeface="Times New Roman"/>
              </a:rPr>
              <a:t>Flow diagram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Example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30">
                <a:latin typeface="Times New Roman"/>
                <a:cs typeface="Times New Roman"/>
              </a:rPr>
              <a:t>11.6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488071" y="1339595"/>
            <a:ext cx="7211568" cy="521360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30</a:t>
            </a:fld>
            <a:endParaRPr spc="-25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7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11.7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4839" y="1206246"/>
            <a:ext cx="9144000" cy="5143500"/>
            <a:chOff x="774839" y="1206246"/>
            <a:chExt cx="9144000" cy="5143500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33350"/>
            </a:xfrm>
            <a:custGeom>
              <a:avLst/>
              <a:gdLst/>
              <a:ahLst/>
              <a:cxnLst/>
              <a:rect l="l" t="t" r="r" b="b"/>
              <a:pathLst>
                <a:path w="422275" h="133350">
                  <a:moveTo>
                    <a:pt x="0" y="133349"/>
                  </a:moveTo>
                  <a:lnTo>
                    <a:pt x="422147" y="133349"/>
                  </a:lnTo>
                  <a:lnTo>
                    <a:pt x="422147" y="0"/>
                  </a:lnTo>
                  <a:lnTo>
                    <a:pt x="0" y="0"/>
                  </a:lnTo>
                  <a:lnTo>
                    <a:pt x="0" y="13334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31750" h="133350">
                  <a:moveTo>
                    <a:pt x="0" y="133349"/>
                  </a:moveTo>
                  <a:lnTo>
                    <a:pt x="31241" y="133349"/>
                  </a:lnTo>
                  <a:lnTo>
                    <a:pt x="31241" y="0"/>
                  </a:lnTo>
                  <a:lnTo>
                    <a:pt x="0" y="0"/>
                  </a:lnTo>
                  <a:lnTo>
                    <a:pt x="0" y="13334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339608"/>
              <a:ext cx="9144000" cy="5010150"/>
            </a:xfrm>
            <a:custGeom>
              <a:avLst/>
              <a:gdLst/>
              <a:ahLst/>
              <a:cxnLst/>
              <a:rect l="l" t="t" r="r" b="b"/>
              <a:pathLst>
                <a:path w="9144000" h="5010150">
                  <a:moveTo>
                    <a:pt x="9144000" y="723138"/>
                  </a:moveTo>
                  <a:lnTo>
                    <a:pt x="8915400" y="723138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723138"/>
                  </a:lnTo>
                  <a:lnTo>
                    <a:pt x="0" y="723138"/>
                  </a:lnTo>
                  <a:lnTo>
                    <a:pt x="0" y="1580388"/>
                  </a:lnTo>
                  <a:lnTo>
                    <a:pt x="0" y="5010150"/>
                  </a:lnTo>
                  <a:lnTo>
                    <a:pt x="9144000" y="5010150"/>
                  </a:lnTo>
                  <a:lnTo>
                    <a:pt x="9144000" y="1580388"/>
                  </a:lnTo>
                  <a:lnTo>
                    <a:pt x="9144000" y="723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82173" y="1360424"/>
            <a:ext cx="8529320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Figure </a:t>
            </a:r>
            <a:r>
              <a:rPr sz="2800" b="1" i="1" spc="-35">
                <a:latin typeface="Times New Roman"/>
                <a:cs typeface="Times New Roman"/>
              </a:rPr>
              <a:t>11.17 </a:t>
            </a:r>
            <a:r>
              <a:rPr sz="2800" b="1" i="1" spc="-5">
                <a:latin typeface="Times New Roman"/>
                <a:cs typeface="Times New Roman"/>
              </a:rPr>
              <a:t>shows what happens when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frame is lost.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Frames </a:t>
            </a:r>
            <a:r>
              <a:rPr sz="2800" b="1" i="1">
                <a:latin typeface="Times New Roman"/>
                <a:cs typeface="Times New Roman"/>
              </a:rPr>
              <a:t>0, </a:t>
            </a:r>
            <a:r>
              <a:rPr sz="2800" b="1" i="1" spc="-5">
                <a:latin typeface="Times New Roman"/>
                <a:cs typeface="Times New Roman"/>
              </a:rPr>
              <a:t>1, </a:t>
            </a:r>
            <a:r>
              <a:rPr sz="2800" b="1" i="1">
                <a:latin typeface="Times New Roman"/>
                <a:cs typeface="Times New Roman"/>
              </a:rPr>
              <a:t>2, </a:t>
            </a:r>
            <a:r>
              <a:rPr sz="2800" b="1" i="1" spc="-5">
                <a:latin typeface="Times New Roman"/>
                <a:cs typeface="Times New Roman"/>
              </a:rPr>
              <a:t>and </a:t>
            </a:r>
            <a:r>
              <a:rPr sz="2800" b="1" i="1">
                <a:latin typeface="Times New Roman"/>
                <a:cs typeface="Times New Roman"/>
              </a:rPr>
              <a:t>3 </a:t>
            </a:r>
            <a:r>
              <a:rPr sz="2800" b="1" i="1" spc="-5">
                <a:latin typeface="Times New Roman"/>
                <a:cs typeface="Times New Roman"/>
              </a:rPr>
              <a:t>are sent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30">
                <a:latin typeface="Times New Roman"/>
                <a:cs typeface="Times New Roman"/>
              </a:rPr>
              <a:t>However, </a:t>
            </a:r>
            <a:r>
              <a:rPr sz="2800" b="1" i="1" spc="-5">
                <a:latin typeface="Times New Roman"/>
                <a:cs typeface="Times New Roman"/>
              </a:rPr>
              <a:t>frame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-5">
                <a:latin typeface="Times New Roman"/>
                <a:cs typeface="Times New Roman"/>
              </a:rPr>
              <a:t>is lost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receiver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receives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frames</a:t>
            </a:r>
            <a:r>
              <a:rPr sz="2800" b="1" i="1">
                <a:latin typeface="Times New Roman"/>
                <a:cs typeface="Times New Roman"/>
              </a:rPr>
              <a:t> 2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3,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but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they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discarded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because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they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10">
                <a:latin typeface="Times New Roman"/>
                <a:cs typeface="Times New Roman"/>
              </a:rPr>
              <a:t>received</a:t>
            </a:r>
            <a:r>
              <a:rPr sz="2800" b="1" i="1" spc="-5">
                <a:latin typeface="Times New Roman"/>
                <a:cs typeface="Times New Roman"/>
              </a:rPr>
              <a:t> out</a:t>
            </a:r>
            <a:r>
              <a:rPr sz="2800" b="1" i="1">
                <a:latin typeface="Times New Roman"/>
                <a:cs typeface="Times New Roman"/>
              </a:rPr>
              <a:t> of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order</a:t>
            </a:r>
            <a:r>
              <a:rPr sz="2800" b="1" i="1">
                <a:latin typeface="Times New Roman"/>
                <a:cs typeface="Times New Roman"/>
              </a:rPr>
              <a:t> The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sender</a:t>
            </a:r>
            <a:r>
              <a:rPr sz="2800" b="1" i="1" spc="12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receives</a:t>
            </a:r>
            <a:r>
              <a:rPr sz="2800" b="1" i="1" spc="13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no</a:t>
            </a:r>
            <a:r>
              <a:rPr sz="2800" b="1" i="1" spc="1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acknowledgment</a:t>
            </a:r>
            <a:r>
              <a:rPr sz="2800" b="1" i="1" spc="1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about</a:t>
            </a:r>
            <a:r>
              <a:rPr sz="2800" b="1" i="1" spc="12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frames</a:t>
            </a:r>
            <a:r>
              <a:rPr sz="2800" b="1" i="1" spc="1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1,</a:t>
            </a:r>
            <a:r>
              <a:rPr sz="2800" b="1" i="1" spc="1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2,</a:t>
            </a:r>
            <a:r>
              <a:rPr sz="2800" b="1" i="1" spc="12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or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>
                <a:latin typeface="Times New Roman"/>
                <a:cs typeface="Times New Roman"/>
              </a:rPr>
              <a:t>3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Its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timer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finally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expires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sender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sends</a:t>
            </a:r>
            <a:r>
              <a:rPr sz="2800" b="1" i="1" spc="69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all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outstanding frames (1, 2, and 3) because it does not know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what is wrong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Note that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resending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5">
                <a:latin typeface="Times New Roman"/>
                <a:cs typeface="Times New Roman"/>
              </a:rPr>
              <a:t>frames </a:t>
            </a:r>
            <a:r>
              <a:rPr sz="2800" b="1" i="1">
                <a:latin typeface="Times New Roman"/>
                <a:cs typeface="Times New Roman"/>
              </a:rPr>
              <a:t>1, </a:t>
            </a:r>
            <a:r>
              <a:rPr sz="2800" b="1" i="1" spc="-5">
                <a:latin typeface="Times New Roman"/>
                <a:cs typeface="Times New Roman"/>
              </a:rPr>
              <a:t>2, </a:t>
            </a:r>
            <a:r>
              <a:rPr sz="2800" b="1" i="1">
                <a:latin typeface="Times New Roman"/>
                <a:cs typeface="Times New Roman"/>
              </a:rPr>
              <a:t>and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3 is </a:t>
            </a:r>
            <a:r>
              <a:rPr sz="2800" b="1" i="1" spc="-5">
                <a:latin typeface="Times New Roman"/>
                <a:cs typeface="Times New Roman"/>
              </a:rPr>
              <a:t>the response to one single event. When the sender is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responding </a:t>
            </a:r>
            <a:r>
              <a:rPr sz="2800" b="1" i="1">
                <a:latin typeface="Times New Roman"/>
                <a:cs typeface="Times New Roman"/>
              </a:rPr>
              <a:t>to this </a:t>
            </a:r>
            <a:r>
              <a:rPr sz="2800" b="1" i="1" spc="-5">
                <a:latin typeface="Times New Roman"/>
                <a:cs typeface="Times New Roman"/>
              </a:rPr>
              <a:t>event, </a:t>
            </a:r>
            <a:r>
              <a:rPr sz="2800" b="1" i="1">
                <a:latin typeface="Times New Roman"/>
                <a:cs typeface="Times New Roman"/>
              </a:rPr>
              <a:t>it cannot </a:t>
            </a:r>
            <a:r>
              <a:rPr sz="2800" b="1" i="1" spc="-5">
                <a:latin typeface="Times New Roman"/>
                <a:cs typeface="Times New Roman"/>
              </a:rPr>
              <a:t>accept the triggering of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other events. This means that when ACK </a:t>
            </a:r>
            <a:r>
              <a:rPr sz="2800" b="1" i="1">
                <a:latin typeface="Times New Roman"/>
                <a:cs typeface="Times New Roman"/>
              </a:rPr>
              <a:t>2 </a:t>
            </a:r>
            <a:r>
              <a:rPr sz="2800" b="1" i="1" spc="-5">
                <a:latin typeface="Times New Roman"/>
                <a:cs typeface="Times New Roman"/>
              </a:rPr>
              <a:t>arrives, the </a:t>
            </a:r>
            <a:r>
              <a:rPr sz="2800" b="1" i="1">
                <a:latin typeface="Times New Roman"/>
                <a:cs typeface="Times New Roman"/>
              </a:rPr>
              <a:t> sender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is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still</a:t>
            </a:r>
            <a:r>
              <a:rPr sz="2800" b="1" i="1" spc="-3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busy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with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sending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19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31</a:t>
            </a:fld>
            <a:endParaRPr spc="-25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472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11.7</a:t>
            </a:r>
            <a:r>
              <a:rPr i="1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28685" cy="3439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The physical layer must wait until this event </a:t>
            </a:r>
            <a:r>
              <a:rPr sz="2800" b="1" i="1">
                <a:latin typeface="Times New Roman"/>
                <a:cs typeface="Times New Roman"/>
              </a:rPr>
              <a:t>is </a:t>
            </a:r>
            <a:r>
              <a:rPr sz="2800" b="1" i="1" spc="-5">
                <a:latin typeface="Times New Roman"/>
                <a:cs typeface="Times New Roman"/>
              </a:rPr>
              <a:t>completed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and the data link layer goes back to its sleeping state. </a:t>
            </a:r>
            <a:r>
              <a:rPr sz="2800" b="1" i="1" spc="-215">
                <a:latin typeface="Times New Roman"/>
                <a:cs typeface="Times New Roman"/>
              </a:rPr>
              <a:t>We </a:t>
            </a:r>
            <a:r>
              <a:rPr sz="2800" b="1" i="1" spc="-2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have shown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vertical line to indicate the </a:t>
            </a:r>
            <a:r>
              <a:rPr sz="2800" b="1" i="1" spc="-25">
                <a:latin typeface="Times New Roman"/>
                <a:cs typeface="Times New Roman"/>
              </a:rPr>
              <a:t>delay. </a:t>
            </a:r>
            <a:r>
              <a:rPr sz="2800" b="1" i="1" spc="-5">
                <a:latin typeface="Times New Roman"/>
                <a:cs typeface="Times New Roman"/>
              </a:rPr>
              <a:t>It is the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same story with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 </a:t>
            </a:r>
            <a:r>
              <a:rPr sz="2800" b="1" i="1">
                <a:latin typeface="Times New Roman"/>
                <a:cs typeface="Times New Roman"/>
              </a:rPr>
              <a:t>3; </a:t>
            </a:r>
            <a:r>
              <a:rPr sz="2800" b="1" i="1" spc="-5">
                <a:latin typeface="Times New Roman"/>
                <a:cs typeface="Times New Roman"/>
              </a:rPr>
              <a:t>but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when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10">
                <a:latin typeface="Times New Roman"/>
                <a:cs typeface="Times New Roman"/>
              </a:rPr>
              <a:t>ACK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3 </a:t>
            </a:r>
            <a:r>
              <a:rPr sz="2800" b="1" i="1" spc="-5">
                <a:latin typeface="Times New Roman"/>
                <a:cs typeface="Times New Roman"/>
              </a:rPr>
              <a:t>arrives, </a:t>
            </a:r>
            <a:r>
              <a:rPr sz="2800" b="1" i="1" spc="-10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 sender is busy responding to ACK </a:t>
            </a:r>
            <a:r>
              <a:rPr sz="2800" b="1" i="1">
                <a:latin typeface="Times New Roman"/>
                <a:cs typeface="Times New Roman"/>
              </a:rPr>
              <a:t>2. </a:t>
            </a:r>
            <a:r>
              <a:rPr sz="2800" b="1" i="1" spc="-5">
                <a:latin typeface="Times New Roman"/>
                <a:cs typeface="Times New Roman"/>
              </a:rPr>
              <a:t>It happens again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when </a:t>
            </a:r>
            <a:r>
              <a:rPr sz="2800" b="1" i="1" spc="-10">
                <a:latin typeface="Times New Roman"/>
                <a:cs typeface="Times New Roman"/>
              </a:rPr>
              <a:t>ACK </a:t>
            </a:r>
            <a:r>
              <a:rPr sz="2800" b="1" i="1">
                <a:latin typeface="Times New Roman"/>
                <a:cs typeface="Times New Roman"/>
              </a:rPr>
              <a:t>4 </a:t>
            </a:r>
            <a:r>
              <a:rPr sz="2800" b="1" i="1" spc="-5">
                <a:latin typeface="Times New Roman"/>
                <a:cs typeface="Times New Roman"/>
              </a:rPr>
              <a:t>arrives. Note that before the second timer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expires, all outstanding frames have been sent and the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timer</a:t>
            </a:r>
            <a:r>
              <a:rPr sz="2800" b="1" i="1" spc="-3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is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stopped.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32</a:t>
            </a:fld>
            <a:endParaRPr spc="-25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0256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5113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11.17	</a:t>
            </a:r>
            <a:r>
              <a:rPr sz="2000" i="1" spc="-5">
                <a:latin typeface="Times New Roman"/>
                <a:cs typeface="Times New Roman"/>
              </a:rPr>
              <a:t>Flow diagram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Example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30">
                <a:latin typeface="Times New Roman"/>
                <a:cs typeface="Times New Roman"/>
              </a:rPr>
              <a:t>11.7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375039" y="1110996"/>
            <a:ext cx="5716523" cy="54864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33</a:t>
            </a:fld>
            <a:endParaRPr spc="-25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9052" y="1864930"/>
            <a:ext cx="5878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dirty="0">
                <a:solidFill>
                  <a:srgbClr val="3333CC"/>
                </a:solidFill>
              </a:rPr>
              <a:t> </a:t>
            </a:r>
            <a:r>
              <a:rPr sz="2400" spc="-35" dirty="0">
                <a:solidFill>
                  <a:srgbClr val="3333CC"/>
                </a:solidFill>
              </a:rPr>
              <a:t>11.18	</a:t>
            </a:r>
            <a:r>
              <a:rPr sz="2000" i="1" spc="-5" dirty="0">
                <a:latin typeface="Times New Roman"/>
                <a:cs typeface="Times New Roman"/>
              </a:rPr>
              <a:t>Send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window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 Selective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Repeat</a:t>
            </a:r>
            <a:r>
              <a:rPr sz="2000" i="1" spc="-8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ARQ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91069" y="2838450"/>
            <a:ext cx="8446769" cy="223494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34</a:t>
            </a:fld>
            <a:endParaRPr spc="-25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908D73A1-999D-D6EE-8926-58F11A5A5E0C}"/>
              </a:ext>
            </a:extLst>
          </p:cNvPr>
          <p:cNvSpPr txBox="1"/>
          <p:nvPr/>
        </p:nvSpPr>
        <p:spPr>
          <a:xfrm>
            <a:off x="927239" y="565214"/>
            <a:ext cx="8077200" cy="77393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12725" marR="205740" indent="-2540" algn="ctr">
              <a:lnSpc>
                <a:spcPct val="100000"/>
              </a:lnSpc>
              <a:spcBef>
                <a:spcPts val="275"/>
              </a:spcBef>
            </a:pPr>
            <a:r>
              <a:rPr sz="2400" b="1" spc="-15" dirty="0">
                <a:latin typeface="Arial"/>
                <a:cs typeface="Arial"/>
              </a:rPr>
              <a:t>Stop-and-Wait </a:t>
            </a:r>
            <a:r>
              <a:rPr sz="2400" b="1" spc="-5" dirty="0">
                <a:latin typeface="Arial"/>
                <a:cs typeface="Arial"/>
              </a:rPr>
              <a:t>ARQ is a </a:t>
            </a:r>
            <a:r>
              <a:rPr sz="2400" b="1" spc="-10" dirty="0">
                <a:latin typeface="Arial"/>
                <a:cs typeface="Arial"/>
              </a:rPr>
              <a:t>special </a:t>
            </a:r>
            <a:r>
              <a:rPr sz="2400" b="1" spc="-5" dirty="0">
                <a:latin typeface="Arial"/>
                <a:cs typeface="Arial"/>
              </a:rPr>
              <a:t>case </a:t>
            </a:r>
            <a:r>
              <a:rPr sz="2400" b="1" spc="-10" dirty="0">
                <a:latin typeface="Arial"/>
                <a:cs typeface="Arial"/>
              </a:rPr>
              <a:t>of </a:t>
            </a:r>
            <a:r>
              <a:rPr sz="2400" b="1" spc="-5" dirty="0">
                <a:latin typeface="Arial"/>
                <a:cs typeface="Arial"/>
              </a:rPr>
              <a:t> Go-Back-N</a:t>
            </a:r>
            <a:r>
              <a:rPr sz="2400" b="1" spc="-14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ARQ in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which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size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of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the </a:t>
            </a:r>
            <a:r>
              <a:rPr sz="2400" b="1" spc="-87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send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window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is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1.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160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11.19	</a:t>
            </a:r>
            <a:r>
              <a:rPr sz="2000" i="1" spc="-5">
                <a:latin typeface="Times New Roman"/>
                <a:cs typeface="Times New Roman"/>
              </a:rPr>
              <a:t>Receive window</a:t>
            </a:r>
            <a:r>
              <a:rPr sz="2000" i="1" spc="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 Selective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Repeat</a:t>
            </a:r>
            <a:r>
              <a:rPr sz="2000" i="1" spc="-7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84439" y="2649473"/>
            <a:ext cx="7486650" cy="211912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35</a:t>
            </a:fld>
            <a:endParaRPr spc="-25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78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5122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11.20	</a:t>
            </a:r>
            <a:r>
              <a:rPr sz="2000" i="1" spc="-5">
                <a:latin typeface="Times New Roman"/>
                <a:cs typeface="Times New Roman"/>
              </a:rPr>
              <a:t>Design of Selective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Repeat</a:t>
            </a:r>
            <a:r>
              <a:rPr sz="2000" i="1" spc="-8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349893" y="1371600"/>
            <a:ext cx="6200254" cy="522579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36</a:t>
            </a:fld>
            <a:endParaRPr spc="-25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431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11.21	</a:t>
            </a:r>
            <a:r>
              <a:rPr sz="2000" i="1" spc="-5">
                <a:latin typeface="Times New Roman"/>
                <a:cs typeface="Times New Roman"/>
              </a:rPr>
              <a:t>Selective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Repeat</a:t>
            </a:r>
            <a:r>
              <a:rPr sz="2000" i="1" spc="-8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ARQ,</a:t>
            </a:r>
            <a:r>
              <a:rPr sz="2000" i="1" spc="2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window</a:t>
            </a:r>
            <a:r>
              <a:rPr sz="2000" i="1" spc="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size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00391" y="1733550"/>
            <a:ext cx="8537447" cy="463524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37</a:t>
            </a:fld>
            <a:endParaRPr spc="-25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3605" y="3343342"/>
            <a:ext cx="6051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dirty="0">
                <a:solidFill>
                  <a:srgbClr val="3333CC"/>
                </a:solidFill>
              </a:rPr>
              <a:t> </a:t>
            </a:r>
            <a:r>
              <a:rPr sz="2400" spc="-35" dirty="0">
                <a:solidFill>
                  <a:srgbClr val="3333CC"/>
                </a:solidFill>
              </a:rPr>
              <a:t>11.22	</a:t>
            </a:r>
            <a:r>
              <a:rPr sz="2000" i="1" spc="-5" dirty="0">
                <a:latin typeface="Times New Roman"/>
                <a:cs typeface="Times New Roman"/>
              </a:rPr>
              <a:t>Delivery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data in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Selective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Repeat</a:t>
            </a:r>
            <a:r>
              <a:rPr sz="2000" i="1" spc="-7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ARQ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14252" y="4213473"/>
            <a:ext cx="7870697" cy="18440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38</a:t>
            </a:fld>
            <a:endParaRPr spc="-25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257E621E-482E-27C2-3E3F-8531407F6726}"/>
              </a:ext>
            </a:extLst>
          </p:cNvPr>
          <p:cNvSpPr txBox="1"/>
          <p:nvPr/>
        </p:nvSpPr>
        <p:spPr>
          <a:xfrm>
            <a:off x="1113605" y="1085962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24154" marR="22161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Selective Repeat</a:t>
            </a:r>
            <a:r>
              <a:rPr sz="3200" b="1" spc="-1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ARQ,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size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0" dirty="0">
                <a:latin typeface="Arial"/>
                <a:cs typeface="Arial"/>
              </a:rPr>
              <a:t> the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sender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receiver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window</a:t>
            </a:r>
            <a:endParaRPr sz="3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must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at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most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one-half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10" dirty="0">
                <a:latin typeface="Arial"/>
                <a:cs typeface="Arial"/>
              </a:rPr>
              <a:t>2</a:t>
            </a:r>
            <a:r>
              <a:rPr sz="3150" b="1" spc="15" baseline="25132" dirty="0">
                <a:latin typeface="Arial"/>
                <a:cs typeface="Arial"/>
              </a:rPr>
              <a:t>m</a:t>
            </a:r>
            <a:r>
              <a:rPr sz="3200" b="1" spc="10" dirty="0">
                <a:latin typeface="Arial"/>
                <a:cs typeface="Arial"/>
              </a:rPr>
              <a:t>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7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55" y="1512824"/>
            <a:ext cx="8528685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This example </a:t>
            </a:r>
            <a:r>
              <a:rPr sz="2800" b="1" i="1">
                <a:latin typeface="Times New Roman"/>
                <a:cs typeface="Times New Roman"/>
              </a:rPr>
              <a:t>is </a:t>
            </a:r>
            <a:r>
              <a:rPr sz="2800" b="1" i="1" spc="-5">
                <a:latin typeface="Times New Roman"/>
                <a:cs typeface="Times New Roman"/>
              </a:rPr>
              <a:t>similar to Example </a:t>
            </a:r>
            <a:r>
              <a:rPr sz="2800" b="1" i="1" spc="-45">
                <a:latin typeface="Times New Roman"/>
                <a:cs typeface="Times New Roman"/>
              </a:rPr>
              <a:t>11.3 </a:t>
            </a:r>
            <a:r>
              <a:rPr sz="2800" b="1" i="1">
                <a:latin typeface="Times New Roman"/>
                <a:cs typeface="Times New Roman"/>
              </a:rPr>
              <a:t>in </a:t>
            </a:r>
            <a:r>
              <a:rPr sz="2800" b="1" i="1" spc="-5">
                <a:latin typeface="Times New Roman"/>
                <a:cs typeface="Times New Roman"/>
              </a:rPr>
              <a:t>which frame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lost.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110">
                <a:latin typeface="Times New Roman"/>
                <a:cs typeface="Times New Roman"/>
              </a:rPr>
              <a:t>We</a:t>
            </a:r>
            <a:r>
              <a:rPr sz="2800" b="1" i="1" spc="-10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show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how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Selective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Repeat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behaves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in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this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case.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Figure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35">
                <a:latin typeface="Times New Roman"/>
                <a:cs typeface="Times New Roman"/>
              </a:rPr>
              <a:t>11.23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shows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situation.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One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10">
                <a:latin typeface="Times New Roman"/>
                <a:cs typeface="Times New Roman"/>
              </a:rPr>
              <a:t>main 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 spc="-10">
                <a:latin typeface="Times New Roman"/>
                <a:cs typeface="Times New Roman"/>
              </a:rPr>
              <a:t>difference </a:t>
            </a:r>
            <a:r>
              <a:rPr sz="2800" b="1" i="1">
                <a:latin typeface="Times New Roman"/>
                <a:cs typeface="Times New Roman"/>
              </a:rPr>
              <a:t>is </a:t>
            </a:r>
            <a:r>
              <a:rPr sz="2800" b="1" i="1" spc="-5">
                <a:latin typeface="Times New Roman"/>
                <a:cs typeface="Times New Roman"/>
              </a:rPr>
              <a:t>the number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5">
                <a:latin typeface="Times New Roman"/>
                <a:cs typeface="Times New Roman"/>
              </a:rPr>
              <a:t>timers. Here, each frame sent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or resent needs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30">
                <a:latin typeface="Times New Roman"/>
                <a:cs typeface="Times New Roman"/>
              </a:rPr>
              <a:t>timer, </a:t>
            </a:r>
            <a:r>
              <a:rPr sz="2800" b="1" i="1" spc="-5">
                <a:latin typeface="Times New Roman"/>
                <a:cs typeface="Times New Roman"/>
              </a:rPr>
              <a:t>which means that the timers need </a:t>
            </a:r>
            <a:r>
              <a:rPr sz="2800" b="1" i="1">
                <a:latin typeface="Times New Roman"/>
                <a:cs typeface="Times New Roman"/>
              </a:rPr>
              <a:t> to </a:t>
            </a:r>
            <a:r>
              <a:rPr sz="2800" b="1" i="1" spc="-5">
                <a:latin typeface="Times New Roman"/>
                <a:cs typeface="Times New Roman"/>
              </a:rPr>
              <a:t>be numbered (0, </a:t>
            </a:r>
            <a:r>
              <a:rPr sz="2800" b="1" i="1">
                <a:latin typeface="Times New Roman"/>
                <a:cs typeface="Times New Roman"/>
              </a:rPr>
              <a:t>1, 2, </a:t>
            </a:r>
            <a:r>
              <a:rPr sz="2800" b="1" i="1" spc="-5">
                <a:latin typeface="Times New Roman"/>
                <a:cs typeface="Times New Roman"/>
              </a:rPr>
              <a:t>and 3).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timer for frame </a:t>
            </a:r>
            <a:r>
              <a:rPr sz="2800" b="1" i="1">
                <a:latin typeface="Times New Roman"/>
                <a:cs typeface="Times New Roman"/>
              </a:rPr>
              <a:t>0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starts at the first request, but stops when the ACK for this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 arrives. The timer for frame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-5">
                <a:latin typeface="Times New Roman"/>
                <a:cs typeface="Times New Roman"/>
              </a:rPr>
              <a:t>starts </a:t>
            </a:r>
            <a:r>
              <a:rPr sz="2800" b="1" i="1">
                <a:latin typeface="Times New Roman"/>
                <a:cs typeface="Times New Roman"/>
              </a:rPr>
              <a:t>at the </a:t>
            </a:r>
            <a:r>
              <a:rPr sz="2800" b="1" i="1" spc="-5">
                <a:latin typeface="Times New Roman"/>
                <a:cs typeface="Times New Roman"/>
              </a:rPr>
              <a:t>second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request, restarts when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NAK arrives, and finally stops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when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last </a:t>
            </a:r>
            <a:r>
              <a:rPr sz="2800" b="1" i="1" spc="-10">
                <a:latin typeface="Times New Roman"/>
                <a:cs typeface="Times New Roman"/>
              </a:rPr>
              <a:t>ACK</a:t>
            </a:r>
            <a:r>
              <a:rPr sz="2800" b="1" i="1" spc="-5">
                <a:latin typeface="Times New Roman"/>
                <a:cs typeface="Times New Roman"/>
              </a:rPr>
              <a:t> arrives. The other two </a:t>
            </a:r>
            <a:r>
              <a:rPr sz="2800" b="1" i="1" spc="-10">
                <a:latin typeface="Times New Roman"/>
                <a:cs typeface="Times New Roman"/>
              </a:rPr>
              <a:t>timers</a:t>
            </a:r>
            <a:r>
              <a:rPr sz="2800" b="1" i="1" spc="-5">
                <a:latin typeface="Times New Roman"/>
                <a:cs typeface="Times New Roman"/>
              </a:rPr>
              <a:t> start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when the corresponding frames are sent and stop at the </a:t>
            </a:r>
            <a:r>
              <a:rPr sz="2800" b="1" i="1">
                <a:latin typeface="Times New Roman"/>
                <a:cs typeface="Times New Roman"/>
              </a:rPr>
              <a:t> last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arrival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event.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39</a:t>
            </a:fld>
            <a:endParaRPr spc="-25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472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11.8</a:t>
            </a:r>
            <a:r>
              <a:rPr i="1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56" y="1512824"/>
            <a:ext cx="8528685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At the receiver site we need to distinguish between the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acceptance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of</a:t>
            </a:r>
            <a:r>
              <a:rPr sz="2800" b="1" i="1">
                <a:latin typeface="Times New Roman"/>
                <a:cs typeface="Times New Roman"/>
              </a:rPr>
              <a:t> a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its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delivery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to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network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30">
                <a:latin typeface="Times New Roman"/>
                <a:cs typeface="Times New Roman"/>
              </a:rPr>
              <a:t>layer. </a:t>
            </a:r>
            <a:r>
              <a:rPr sz="2800" b="1" i="1" spc="-5">
                <a:latin typeface="Times New Roman"/>
                <a:cs typeface="Times New Roman"/>
              </a:rPr>
              <a:t>At the second arrival, frame </a:t>
            </a:r>
            <a:r>
              <a:rPr sz="2800" b="1" i="1">
                <a:latin typeface="Times New Roman"/>
                <a:cs typeface="Times New Roman"/>
              </a:rPr>
              <a:t>2 </a:t>
            </a:r>
            <a:r>
              <a:rPr sz="2800" b="1" i="1" spc="-5">
                <a:latin typeface="Times New Roman"/>
                <a:cs typeface="Times New Roman"/>
              </a:rPr>
              <a:t>arrives and is stored </a:t>
            </a:r>
            <a:r>
              <a:rPr sz="2800" b="1" i="1">
                <a:latin typeface="Times New Roman"/>
                <a:cs typeface="Times New Roman"/>
              </a:rPr>
              <a:t> and </a:t>
            </a:r>
            <a:r>
              <a:rPr sz="2800" b="1" i="1" spc="-5">
                <a:latin typeface="Times New Roman"/>
                <a:cs typeface="Times New Roman"/>
              </a:rPr>
              <a:t>marked, but it cannot be delivered because frame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-5">
                <a:latin typeface="Times New Roman"/>
                <a:cs typeface="Times New Roman"/>
              </a:rPr>
              <a:t>is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missing.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next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arrival,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</a:t>
            </a:r>
            <a:r>
              <a:rPr sz="2800" b="1" i="1">
                <a:latin typeface="Times New Roman"/>
                <a:cs typeface="Times New Roman"/>
              </a:rPr>
              <a:t> 3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arrives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and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marked and stored, but still </a:t>
            </a:r>
            <a:r>
              <a:rPr sz="2800" b="1" i="1">
                <a:latin typeface="Times New Roman"/>
                <a:cs typeface="Times New Roman"/>
              </a:rPr>
              <a:t>none of </a:t>
            </a:r>
            <a:r>
              <a:rPr sz="2800" b="1" i="1" spc="-5">
                <a:latin typeface="Times New Roman"/>
                <a:cs typeface="Times New Roman"/>
              </a:rPr>
              <a:t>the frames can be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delivered. Only at the last arrival, when finally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copy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-5">
                <a:latin typeface="Times New Roman"/>
                <a:cs typeface="Times New Roman"/>
              </a:rPr>
              <a:t>arrives, can frames </a:t>
            </a:r>
            <a:r>
              <a:rPr sz="2800" b="1" i="1">
                <a:latin typeface="Times New Roman"/>
                <a:cs typeface="Times New Roman"/>
              </a:rPr>
              <a:t>1, </a:t>
            </a:r>
            <a:r>
              <a:rPr sz="2800" b="1" i="1" spc="-5">
                <a:latin typeface="Times New Roman"/>
                <a:cs typeface="Times New Roman"/>
              </a:rPr>
              <a:t>2, </a:t>
            </a:r>
            <a:r>
              <a:rPr sz="2800" b="1" i="1">
                <a:latin typeface="Times New Roman"/>
                <a:cs typeface="Times New Roman"/>
              </a:rPr>
              <a:t>and 3 </a:t>
            </a:r>
            <a:r>
              <a:rPr sz="2800" b="1" i="1" spc="-5">
                <a:latin typeface="Times New Roman"/>
                <a:cs typeface="Times New Roman"/>
              </a:rPr>
              <a:t>be delivered </a:t>
            </a:r>
            <a:r>
              <a:rPr sz="2800" b="1" i="1">
                <a:latin typeface="Times New Roman"/>
                <a:cs typeface="Times New Roman"/>
              </a:rPr>
              <a:t>to </a:t>
            </a:r>
            <a:r>
              <a:rPr sz="2800" b="1" i="1" spc="-5">
                <a:latin typeface="Times New Roman"/>
                <a:cs typeface="Times New Roman"/>
              </a:rPr>
              <a:t>the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network </a:t>
            </a:r>
            <a:r>
              <a:rPr sz="2800" b="1" i="1" spc="-30">
                <a:latin typeface="Times New Roman"/>
                <a:cs typeface="Times New Roman"/>
              </a:rPr>
              <a:t>layer. </a:t>
            </a:r>
            <a:r>
              <a:rPr sz="2800" b="1" i="1" spc="-5">
                <a:latin typeface="Times New Roman"/>
                <a:cs typeface="Times New Roman"/>
              </a:rPr>
              <a:t>There are two conditions for the delivery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frames to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network layer: First,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set of consecutive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frames must have arrived. Second, the set starts from the </a:t>
            </a:r>
            <a:r>
              <a:rPr sz="2800" b="1" i="1">
                <a:latin typeface="Times New Roman"/>
                <a:cs typeface="Times New Roman"/>
              </a:rPr>
              <a:t> beginning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15">
                <a:latin typeface="Times New Roman"/>
                <a:cs typeface="Times New Roman"/>
              </a:rPr>
              <a:t> window.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40</a:t>
            </a:fld>
            <a:endParaRPr spc="-25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472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11.8</a:t>
            </a:r>
            <a:r>
              <a:rPr i="1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436624"/>
            <a:ext cx="8528685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Another important point is that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NAK is sent after the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second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arrival,</a:t>
            </a:r>
            <a:r>
              <a:rPr sz="2800" b="1" i="1">
                <a:latin typeface="Times New Roman"/>
                <a:cs typeface="Times New Roman"/>
              </a:rPr>
              <a:t> but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not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after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third,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although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both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situations look the same. The reason is that the protocol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does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not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want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to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crowd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network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with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unnecessary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NAKs and unnecessary resent frames. The second NAK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would still be NAK1 to inform the sender to resend </a:t>
            </a:r>
            <a:r>
              <a:rPr sz="2800" b="1" i="1">
                <a:latin typeface="Times New Roman"/>
                <a:cs typeface="Times New Roman"/>
              </a:rPr>
              <a:t>frame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-5">
                <a:latin typeface="Times New Roman"/>
                <a:cs typeface="Times New Roman"/>
              </a:rPr>
              <a:t>again; this has already been done. The first NAK sent is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remembered (using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nakSent variable) and is </a:t>
            </a:r>
            <a:r>
              <a:rPr sz="2800" b="1" i="1">
                <a:latin typeface="Times New Roman"/>
                <a:cs typeface="Times New Roman"/>
              </a:rPr>
              <a:t>not sent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again until the frame slides.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NAK is sent once for each </a:t>
            </a:r>
            <a:r>
              <a:rPr sz="2800" b="1" i="1">
                <a:latin typeface="Times New Roman"/>
                <a:cs typeface="Times New Roman"/>
              </a:rPr>
              <a:t> window</a:t>
            </a:r>
            <a:r>
              <a:rPr sz="2800" b="1" i="1" spc="-4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position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and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defines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first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slot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in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15">
                <a:latin typeface="Times New Roman"/>
                <a:cs typeface="Times New Roman"/>
              </a:rPr>
              <a:t> window.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41</a:t>
            </a:fld>
            <a:endParaRPr spc="-25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472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11.8</a:t>
            </a:r>
            <a:r>
              <a:rPr i="1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9759" y="1436624"/>
            <a:ext cx="875728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The next point is about the ACKs. Notice that only two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10">
                <a:latin typeface="Times New Roman"/>
                <a:cs typeface="Times New Roman"/>
              </a:rPr>
              <a:t>ACKs </a:t>
            </a:r>
            <a:r>
              <a:rPr sz="2800" b="1" i="1" spc="-5">
                <a:latin typeface="Times New Roman"/>
                <a:cs typeface="Times New Roman"/>
              </a:rPr>
              <a:t>are sent here. The first one acknowledges only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first frame; the second one acknowledges three frames. </a:t>
            </a:r>
            <a:r>
              <a:rPr sz="2800" b="1" i="1">
                <a:latin typeface="Times New Roman"/>
                <a:cs typeface="Times New Roman"/>
              </a:rPr>
              <a:t>In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Selective Repeat, </a:t>
            </a:r>
            <a:r>
              <a:rPr sz="2800" b="1" i="1" spc="-10">
                <a:latin typeface="Times New Roman"/>
                <a:cs typeface="Times New Roman"/>
              </a:rPr>
              <a:t>ACKs </a:t>
            </a:r>
            <a:r>
              <a:rPr sz="2800" b="1" i="1" spc="-5">
                <a:latin typeface="Times New Roman"/>
                <a:cs typeface="Times New Roman"/>
              </a:rPr>
              <a:t>are sent when data are delivered to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 network </a:t>
            </a:r>
            <a:r>
              <a:rPr sz="2800" b="1" i="1" spc="-30">
                <a:latin typeface="Times New Roman"/>
                <a:cs typeface="Times New Roman"/>
              </a:rPr>
              <a:t>layer. </a:t>
            </a:r>
            <a:r>
              <a:rPr sz="2800" b="1" i="1">
                <a:latin typeface="Times New Roman"/>
                <a:cs typeface="Times New Roman"/>
              </a:rPr>
              <a:t>If </a:t>
            </a:r>
            <a:r>
              <a:rPr sz="2800" b="1" i="1" spc="-5">
                <a:latin typeface="Times New Roman"/>
                <a:cs typeface="Times New Roman"/>
              </a:rPr>
              <a:t>the data belonging to </a:t>
            </a:r>
            <a:r>
              <a:rPr sz="2800" b="1" i="1">
                <a:latin typeface="Times New Roman"/>
                <a:cs typeface="Times New Roman"/>
              </a:rPr>
              <a:t>n </a:t>
            </a:r>
            <a:r>
              <a:rPr sz="2800" b="1" i="1" spc="-5">
                <a:latin typeface="Times New Roman"/>
                <a:cs typeface="Times New Roman"/>
              </a:rPr>
              <a:t>frames are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delivered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in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one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shot,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only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one</a:t>
            </a:r>
            <a:r>
              <a:rPr sz="2800" b="1" i="1" spc="-1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is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sent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for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all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-5">
                <a:latin typeface="Times New Roman"/>
                <a:cs typeface="Times New Roman"/>
              </a:rPr>
              <a:t> them.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42</a:t>
            </a:fld>
            <a:endParaRPr spc="-25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113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11.23	</a:t>
            </a:r>
            <a:r>
              <a:rPr sz="2000" i="1" spc="-5">
                <a:latin typeface="Times New Roman"/>
                <a:cs typeface="Times New Roman"/>
              </a:rPr>
              <a:t>Flow diagram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Example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30">
                <a:latin typeface="Times New Roman"/>
                <a:cs typeface="Times New Roman"/>
              </a:rPr>
              <a:t>11.8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63915" y="1568195"/>
            <a:ext cx="6856476" cy="478383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43</a:t>
            </a:fld>
            <a:endParaRPr spc="-25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358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11.24	</a:t>
            </a:r>
            <a:r>
              <a:rPr sz="2000" i="1" spc="-5">
                <a:latin typeface="Times New Roman"/>
                <a:cs typeface="Times New Roman"/>
              </a:rPr>
              <a:t>Design of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piggybacking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Go-Back-N</a:t>
            </a:r>
            <a:r>
              <a:rPr sz="2000" i="1" spc="-6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40293" y="1514855"/>
            <a:ext cx="6201130" cy="49301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44</a:t>
            </a:fld>
            <a:endParaRPr spc="-25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40485" algn="l"/>
              </a:tabLst>
            </a:pPr>
            <a:r>
              <a:rPr spc="-50"/>
              <a:t>11-6	</a:t>
            </a:r>
            <a:r>
              <a:rPr spc="-5"/>
              <a:t>HDLC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4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4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4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4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4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05973" y="1847342"/>
            <a:ext cx="8223250" cy="4326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High-level Data Link Control (HDLC) </a:t>
            </a:r>
            <a:r>
              <a:rPr sz="2800" b="1" i="1" spc="-5">
                <a:latin typeface="Times New Roman"/>
                <a:cs typeface="Times New Roman"/>
              </a:rPr>
              <a:t>is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bit-oriented </a:t>
            </a:r>
            <a:r>
              <a:rPr sz="2800" b="1" i="1" spc="-68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protocol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for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communication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over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point-to-point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and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multipoint </a:t>
            </a:r>
            <a:r>
              <a:rPr sz="2800" b="1" i="1" spc="-105">
                <a:latin typeface="Times New Roman"/>
                <a:cs typeface="Times New Roman"/>
              </a:rPr>
              <a:t>links.. </a:t>
            </a:r>
            <a:r>
              <a:rPr sz="2800" b="1" i="1" spc="-5">
                <a:latin typeface="Times New Roman"/>
                <a:cs typeface="Times New Roman"/>
              </a:rPr>
              <a:t>It implements the </a:t>
            </a:r>
            <a:r>
              <a:rPr sz="2800" b="1" i="1" spc="-10">
                <a:latin typeface="Times New Roman"/>
                <a:cs typeface="Times New Roman"/>
              </a:rPr>
              <a:t>ARQ </a:t>
            </a:r>
            <a:r>
              <a:rPr sz="2800" b="1" i="1" spc="-5">
                <a:latin typeface="Times New Roman"/>
                <a:cs typeface="Times New Roman"/>
              </a:rPr>
              <a:t>mechanisms </a:t>
            </a:r>
            <a:r>
              <a:rPr sz="2800" b="1" i="1">
                <a:latin typeface="Times New Roman"/>
                <a:cs typeface="Times New Roman"/>
              </a:rPr>
              <a:t> we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discussed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in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this</a:t>
            </a:r>
            <a:r>
              <a:rPr sz="2800" b="1" i="1" spc="-20">
                <a:latin typeface="Times New Roman"/>
                <a:cs typeface="Times New Roman"/>
              </a:rPr>
              <a:t> chapter.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00">
              <a:latin typeface="Times New Roman"/>
              <a:cs typeface="Times New Roman"/>
            </a:endParaRPr>
          </a:p>
          <a:p>
            <a:pPr marL="12700" marR="3529329" indent="27940" algn="just">
              <a:lnSpc>
                <a:spcPct val="106000"/>
              </a:lnSpc>
              <a:spcBef>
                <a:spcPts val="5"/>
              </a:spcBef>
            </a:pPr>
            <a:r>
              <a:rPr sz="2800" b="1" i="1" u="heavy" spc="-4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4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 </a:t>
            </a:r>
            <a:r>
              <a:rPr sz="2800" b="1" i="1" spc="-69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Configurations and </a:t>
            </a:r>
            <a:r>
              <a:rPr sz="2400" b="1" spc="-30">
                <a:solidFill>
                  <a:srgbClr val="0033CC"/>
                </a:solidFill>
                <a:latin typeface="Times New Roman"/>
                <a:cs typeface="Times New Roman"/>
              </a:rPr>
              <a:t>Transfer </a:t>
            </a:r>
            <a:r>
              <a:rPr sz="2400" b="1" spc="-10">
                <a:solidFill>
                  <a:srgbClr val="0033CC"/>
                </a:solidFill>
                <a:latin typeface="Times New Roman"/>
                <a:cs typeface="Times New Roman"/>
              </a:rPr>
              <a:t>Modes </a:t>
            </a:r>
            <a:r>
              <a:rPr sz="2400" b="1" spc="-585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Frames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400" b="1" spc="-10">
                <a:solidFill>
                  <a:srgbClr val="0033CC"/>
                </a:solidFill>
                <a:latin typeface="Times New Roman"/>
                <a:cs typeface="Times New Roman"/>
              </a:rPr>
              <a:t>Control</a:t>
            </a:r>
            <a:r>
              <a:rPr sz="2400" b="1" spc="-5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Field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45</a:t>
            </a:fld>
            <a:endParaRPr spc="-25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190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11.25	</a:t>
            </a:r>
            <a:r>
              <a:rPr sz="2000" i="1" spc="-5">
                <a:latin typeface="Times New Roman"/>
                <a:cs typeface="Times New Roman"/>
              </a:rPr>
              <a:t>Normal</a:t>
            </a:r>
            <a:r>
              <a:rPr sz="2000" i="1" spc="-3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response</a:t>
            </a:r>
            <a:r>
              <a:rPr sz="2000" i="1" spc="-2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mode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97165" y="1843277"/>
            <a:ext cx="8364473" cy="43731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46</a:t>
            </a:fld>
            <a:endParaRPr spc="-25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924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11.26	</a:t>
            </a:r>
            <a:r>
              <a:rPr sz="2000" i="1" spc="-5">
                <a:latin typeface="Times New Roman"/>
                <a:cs typeface="Times New Roman"/>
              </a:rPr>
              <a:t>Asynchronous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balanced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mode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991247" y="3168395"/>
            <a:ext cx="8775192" cy="147827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47</a:t>
            </a:fld>
            <a:endParaRPr spc="-25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268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11.27	</a:t>
            </a:r>
            <a:r>
              <a:rPr sz="2000" i="1" spc="-5">
                <a:latin typeface="Times New Roman"/>
                <a:cs typeface="Times New Roman"/>
              </a:rPr>
              <a:t>HDLC</a:t>
            </a:r>
            <a:r>
              <a:rPr sz="2000" i="1" spc="-3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frames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911999" y="2101595"/>
            <a:ext cx="8702040" cy="384352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48</a:t>
            </a:fld>
            <a:endParaRPr spc="-25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864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11.28	</a:t>
            </a:r>
            <a:r>
              <a:rPr sz="2000" i="1" spc="-5">
                <a:latin typeface="Times New Roman"/>
                <a:cs typeface="Times New Roman"/>
              </a:rPr>
              <a:t>Control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field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format for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the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10">
                <a:latin typeface="Times New Roman"/>
                <a:cs typeface="Times New Roman"/>
              </a:rPr>
              <a:t>different </a:t>
            </a:r>
            <a:r>
              <a:rPr sz="2000" i="1" spc="-5">
                <a:latin typeface="Times New Roman"/>
                <a:cs typeface="Times New Roman"/>
              </a:rPr>
              <a:t>frame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types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3000641" y="2375154"/>
            <a:ext cx="4479797" cy="307924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49</a:t>
            </a:fld>
            <a:endParaRPr spc="-25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057147"/>
            <a:ext cx="5715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3200" algn="l"/>
              </a:tabLst>
            </a:pPr>
            <a:r>
              <a:rPr sz="2400" spc="-50">
                <a:solidFill>
                  <a:srgbClr val="3333CC"/>
                </a:solidFill>
              </a:rPr>
              <a:t>Table</a:t>
            </a:r>
            <a:r>
              <a:rPr sz="2400" spc="-5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11.1	</a:t>
            </a:r>
            <a:r>
              <a:rPr sz="2000" i="1" spc="-5">
                <a:latin typeface="Times New Roman"/>
                <a:cs typeface="Times New Roman"/>
              </a:rPr>
              <a:t>U-frame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>
                <a:latin typeface="Times New Roman"/>
                <a:cs typeface="Times New Roman"/>
              </a:rPr>
              <a:t>control</a:t>
            </a:r>
            <a:r>
              <a:rPr sz="2000" i="1" spc="-2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command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and response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934097" y="1507997"/>
            <a:ext cx="8757463" cy="50131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50</a:t>
            </a:fld>
            <a:endParaRPr spc="-25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7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>
                <a:solidFill>
                  <a:srgbClr val="FF0000"/>
                </a:solidFill>
                <a:latin typeface="Times New Roman"/>
                <a:cs typeface="Times New Roman"/>
              </a:rPr>
              <a:t>11.9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65" y="1512824"/>
            <a:ext cx="8548370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Figure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35">
                <a:latin typeface="Times New Roman"/>
                <a:cs typeface="Times New Roman"/>
              </a:rPr>
              <a:t>11.29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shows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how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U-frames</a:t>
            </a: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can</a:t>
            </a:r>
            <a:r>
              <a:rPr sz="2800" b="1" i="1">
                <a:latin typeface="Times New Roman"/>
                <a:cs typeface="Times New Roman"/>
              </a:rPr>
              <a:t> be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used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for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connection establishment and connection release. Node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asks for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connection with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set asynchronous balanced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mode (SABM) frame; </a:t>
            </a:r>
            <a:r>
              <a:rPr sz="2800" b="1" i="1">
                <a:latin typeface="Times New Roman"/>
                <a:cs typeface="Times New Roman"/>
              </a:rPr>
              <a:t>node B </a:t>
            </a:r>
            <a:r>
              <a:rPr sz="2800" b="1" i="1" spc="-5">
                <a:latin typeface="Times New Roman"/>
                <a:cs typeface="Times New Roman"/>
              </a:rPr>
              <a:t>gives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positive response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with an unnumbered acknowledgment (UA) frame. After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these two exchanges, data can be transferred between the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two nodes (not shown in the figure). After data </a:t>
            </a:r>
            <a:r>
              <a:rPr sz="2800" b="1" i="1" spc="-25">
                <a:latin typeface="Times New Roman"/>
                <a:cs typeface="Times New Roman"/>
              </a:rPr>
              <a:t>transfer, 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node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sends </a:t>
            </a:r>
            <a:r>
              <a:rPr sz="2800" b="1" i="1">
                <a:latin typeface="Times New Roman"/>
                <a:cs typeface="Times New Roman"/>
              </a:rPr>
              <a:t>a DISC </a:t>
            </a:r>
            <a:r>
              <a:rPr sz="2800" b="1" i="1" spc="-5">
                <a:latin typeface="Times New Roman"/>
                <a:cs typeface="Times New Roman"/>
              </a:rPr>
              <a:t>(disconnect) frame to release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connection; it is confirmed </a:t>
            </a:r>
            <a:r>
              <a:rPr sz="2800" b="1" i="1">
                <a:latin typeface="Times New Roman"/>
                <a:cs typeface="Times New Roman"/>
              </a:rPr>
              <a:t>by </a:t>
            </a:r>
            <a:r>
              <a:rPr sz="2800" b="1" i="1" spc="-5">
                <a:latin typeface="Times New Roman"/>
                <a:cs typeface="Times New Roman"/>
              </a:rPr>
              <a:t>node </a:t>
            </a:r>
            <a:r>
              <a:rPr sz="2800" b="1" i="1">
                <a:latin typeface="Times New Roman"/>
                <a:cs typeface="Times New Roman"/>
              </a:rPr>
              <a:t>B </a:t>
            </a:r>
            <a:r>
              <a:rPr sz="2800" b="1" i="1" spc="-5">
                <a:latin typeface="Times New Roman"/>
                <a:cs typeface="Times New Roman"/>
              </a:rPr>
              <a:t>responding with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UA</a:t>
            </a:r>
            <a:r>
              <a:rPr sz="2800" b="1" i="1" spc="-17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(unnumbered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acknowledgment).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51</a:t>
            </a:fld>
            <a:endParaRPr spc="-25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179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11.29	</a:t>
            </a:r>
            <a:r>
              <a:rPr sz="2000" i="1" spc="-5">
                <a:latin typeface="Times New Roman"/>
                <a:cs typeface="Times New Roman"/>
              </a:rPr>
              <a:t>Example of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connection and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disconnection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679839" y="1491996"/>
            <a:ext cx="4653534" cy="496595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52</a:t>
            </a:fld>
            <a:endParaRPr spc="-25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101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0">
                <a:solidFill>
                  <a:srgbClr val="FF0000"/>
                </a:solidFill>
                <a:latin typeface="Times New Roman"/>
                <a:cs typeface="Times New Roman"/>
              </a:rPr>
              <a:t>11.10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4839" y="1206246"/>
            <a:ext cx="9144000" cy="5143500"/>
            <a:chOff x="774839" y="1206246"/>
            <a:chExt cx="9144000" cy="5143500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57150"/>
            </a:xfrm>
            <a:custGeom>
              <a:avLst/>
              <a:gdLst/>
              <a:ahLst/>
              <a:cxnLst/>
              <a:rect l="l" t="t" r="r" b="b"/>
              <a:pathLst>
                <a:path w="422275" h="57150">
                  <a:moveTo>
                    <a:pt x="0" y="57149"/>
                  </a:moveTo>
                  <a:lnTo>
                    <a:pt x="422147" y="57149"/>
                  </a:lnTo>
                  <a:lnTo>
                    <a:pt x="422147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57150"/>
            </a:xfrm>
            <a:custGeom>
              <a:avLst/>
              <a:gdLst/>
              <a:ahLst/>
              <a:cxnLst/>
              <a:rect l="l" t="t" r="r" b="b"/>
              <a:pathLst>
                <a:path w="31750" h="57150">
                  <a:moveTo>
                    <a:pt x="0" y="57149"/>
                  </a:moveTo>
                  <a:lnTo>
                    <a:pt x="31241" y="57149"/>
                  </a:lnTo>
                  <a:lnTo>
                    <a:pt x="31241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63408"/>
              <a:ext cx="9144000" cy="5086350"/>
            </a:xfrm>
            <a:custGeom>
              <a:avLst/>
              <a:gdLst/>
              <a:ahLst/>
              <a:cxnLst/>
              <a:rect l="l" t="t" r="r" b="b"/>
              <a:pathLst>
                <a:path w="9144000" h="5086350">
                  <a:moveTo>
                    <a:pt x="9144000" y="799338"/>
                  </a:moveTo>
                  <a:lnTo>
                    <a:pt x="8915400" y="799338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799338"/>
                  </a:lnTo>
                  <a:lnTo>
                    <a:pt x="0" y="799338"/>
                  </a:lnTo>
                  <a:lnTo>
                    <a:pt x="0" y="1656588"/>
                  </a:lnTo>
                  <a:lnTo>
                    <a:pt x="0" y="5086350"/>
                  </a:lnTo>
                  <a:lnTo>
                    <a:pt x="9144000" y="5086350"/>
                  </a:lnTo>
                  <a:lnTo>
                    <a:pt x="9144000" y="1656588"/>
                  </a:lnTo>
                  <a:lnTo>
                    <a:pt x="9144000" y="7993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82173" y="1284224"/>
            <a:ext cx="8528685" cy="471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Figure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35">
                <a:latin typeface="Times New Roman"/>
                <a:cs typeface="Times New Roman"/>
              </a:rPr>
              <a:t>11.30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shows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exchange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using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piggybacking.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Node</a:t>
            </a:r>
            <a:r>
              <a:rPr sz="2800" b="1" i="1">
                <a:latin typeface="Times New Roman"/>
                <a:cs typeface="Times New Roman"/>
              </a:rPr>
              <a:t> A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begins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exchange</a:t>
            </a:r>
            <a:r>
              <a:rPr sz="2800" b="1" i="1">
                <a:latin typeface="Times New Roman"/>
                <a:cs typeface="Times New Roman"/>
              </a:rPr>
              <a:t> of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information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with</a:t>
            </a:r>
            <a:r>
              <a:rPr sz="2800" b="1" i="1">
                <a:latin typeface="Times New Roman"/>
                <a:cs typeface="Times New Roman"/>
              </a:rPr>
              <a:t> an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I-frame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numbered</a:t>
            </a:r>
            <a:r>
              <a:rPr sz="2800" b="1" i="1">
                <a:latin typeface="Times New Roman"/>
                <a:cs typeface="Times New Roman"/>
              </a:rPr>
              <a:t> 0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followed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by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another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I-frame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numbered </a:t>
            </a:r>
            <a:r>
              <a:rPr sz="2800" b="1" i="1">
                <a:latin typeface="Times New Roman"/>
                <a:cs typeface="Times New Roman"/>
              </a:rPr>
              <a:t>1. </a:t>
            </a:r>
            <a:r>
              <a:rPr sz="2800" b="1" i="1" spc="-5">
                <a:latin typeface="Times New Roman"/>
                <a:cs typeface="Times New Roman"/>
              </a:rPr>
              <a:t>Node </a:t>
            </a:r>
            <a:r>
              <a:rPr sz="2800" b="1" i="1">
                <a:latin typeface="Times New Roman"/>
                <a:cs typeface="Times New Roman"/>
              </a:rPr>
              <a:t>B </a:t>
            </a:r>
            <a:r>
              <a:rPr sz="2800" b="1" i="1" spc="-5">
                <a:latin typeface="Times New Roman"/>
                <a:cs typeface="Times New Roman"/>
              </a:rPr>
              <a:t>piggybacks its acknowledgment of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both frames onto an I-frame of its own. Node </a:t>
            </a:r>
            <a:r>
              <a:rPr sz="2800" b="1" i="1" spc="-75">
                <a:latin typeface="Times New Roman"/>
                <a:cs typeface="Times New Roman"/>
              </a:rPr>
              <a:t>B’s </a:t>
            </a:r>
            <a:r>
              <a:rPr sz="2800" b="1" i="1" spc="-5">
                <a:latin typeface="Times New Roman"/>
                <a:cs typeface="Times New Roman"/>
              </a:rPr>
              <a:t>first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I-frame is also numbered </a:t>
            </a:r>
            <a:r>
              <a:rPr sz="2800" b="1" i="1">
                <a:latin typeface="Times New Roman"/>
                <a:cs typeface="Times New Roman"/>
              </a:rPr>
              <a:t>0 [N(S) </a:t>
            </a:r>
            <a:r>
              <a:rPr sz="2800" b="1" i="1" spc="-5">
                <a:latin typeface="Times New Roman"/>
                <a:cs typeface="Times New Roman"/>
              </a:rPr>
              <a:t>field] and contains </a:t>
            </a:r>
            <a:r>
              <a:rPr sz="2800" b="1" i="1">
                <a:latin typeface="Times New Roman"/>
                <a:cs typeface="Times New Roman"/>
              </a:rPr>
              <a:t>a 2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in</a:t>
            </a:r>
            <a:r>
              <a:rPr sz="2800" b="1" i="1" spc="17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its</a:t>
            </a:r>
            <a:r>
              <a:rPr sz="2800" b="1" i="1" spc="17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N(R)</a:t>
            </a:r>
            <a:r>
              <a:rPr sz="2800" b="1" i="1" spc="18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field,</a:t>
            </a:r>
            <a:r>
              <a:rPr sz="2800" b="1" i="1" spc="17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acknowledging</a:t>
            </a:r>
            <a:r>
              <a:rPr sz="2800" b="1" i="1" spc="17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17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receipt</a:t>
            </a:r>
            <a:r>
              <a:rPr sz="2800" b="1" i="1" spc="17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of</a:t>
            </a:r>
            <a:r>
              <a:rPr sz="2800" b="1" i="1" spc="175">
                <a:latin typeface="Times New Roman"/>
                <a:cs typeface="Times New Roman"/>
              </a:rPr>
              <a:t> </a:t>
            </a:r>
            <a:r>
              <a:rPr sz="2800" b="1" i="1" spc="-145">
                <a:latin typeface="Times New Roman"/>
                <a:cs typeface="Times New Roman"/>
              </a:rPr>
              <a:t>A’s</a:t>
            </a:r>
            <a:r>
              <a:rPr sz="2800" b="1" i="1" spc="18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frames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-5">
                <a:latin typeface="Times New Roman"/>
                <a:cs typeface="Times New Roman"/>
              </a:rPr>
              <a:t>and </a:t>
            </a:r>
            <a:r>
              <a:rPr sz="2800" b="1" i="1">
                <a:latin typeface="Times New Roman"/>
                <a:cs typeface="Times New Roman"/>
              </a:rPr>
              <a:t>0 and </a:t>
            </a:r>
            <a:r>
              <a:rPr sz="2800" b="1" i="1" spc="-5">
                <a:latin typeface="Times New Roman"/>
                <a:cs typeface="Times New Roman"/>
              </a:rPr>
              <a:t>indicating that </a:t>
            </a:r>
            <a:r>
              <a:rPr sz="2800" b="1" i="1">
                <a:latin typeface="Times New Roman"/>
                <a:cs typeface="Times New Roman"/>
              </a:rPr>
              <a:t>it </a:t>
            </a:r>
            <a:r>
              <a:rPr sz="2800" b="1" i="1" spc="-5">
                <a:latin typeface="Times New Roman"/>
                <a:cs typeface="Times New Roman"/>
              </a:rPr>
              <a:t>expects frame </a:t>
            </a:r>
            <a:r>
              <a:rPr sz="2800" b="1" i="1">
                <a:latin typeface="Times New Roman"/>
                <a:cs typeface="Times New Roman"/>
              </a:rPr>
              <a:t>2 to </a:t>
            </a:r>
            <a:r>
              <a:rPr sz="2800" b="1" i="1" spc="-5">
                <a:latin typeface="Times New Roman"/>
                <a:cs typeface="Times New Roman"/>
              </a:rPr>
              <a:t>arrive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next.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Node</a:t>
            </a:r>
            <a:r>
              <a:rPr sz="2800" b="1" i="1">
                <a:latin typeface="Times New Roman"/>
                <a:cs typeface="Times New Roman"/>
              </a:rPr>
              <a:t> B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transmits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its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second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third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I-frames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(numbered </a:t>
            </a:r>
            <a:r>
              <a:rPr sz="2800" b="1" i="1">
                <a:latin typeface="Times New Roman"/>
                <a:cs typeface="Times New Roman"/>
              </a:rPr>
              <a:t>1 and 2) </a:t>
            </a:r>
            <a:r>
              <a:rPr sz="2800" b="1" i="1" spc="-5">
                <a:latin typeface="Times New Roman"/>
                <a:cs typeface="Times New Roman"/>
              </a:rPr>
              <a:t>before accepting further frames </a:t>
            </a:r>
            <a:r>
              <a:rPr sz="2800" b="1" i="1">
                <a:latin typeface="Times New Roman"/>
                <a:cs typeface="Times New Roman"/>
              </a:rPr>
              <a:t>from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node</a:t>
            </a:r>
            <a:r>
              <a:rPr sz="2800" b="1" i="1" spc="-1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A.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53</a:t>
            </a:fld>
            <a:endParaRPr spc="-25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5523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0">
                <a:solidFill>
                  <a:srgbClr val="FF0000"/>
                </a:solidFill>
                <a:latin typeface="Times New Roman"/>
                <a:cs typeface="Times New Roman"/>
              </a:rPr>
              <a:t>11.10</a:t>
            </a:r>
            <a:r>
              <a:rPr i="1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pc="-5"/>
              <a:t>Its</a:t>
            </a:r>
            <a:r>
              <a:t> </a:t>
            </a:r>
            <a:r>
              <a:rPr spc="-5"/>
              <a:t>N(R)</a:t>
            </a:r>
            <a:r>
              <a:t> </a:t>
            </a:r>
            <a:r>
              <a:rPr spc="-5"/>
              <a:t>information,</a:t>
            </a:r>
            <a:r>
              <a:t> </a:t>
            </a:r>
            <a:r>
              <a:rPr spc="-5"/>
              <a:t>therefore,</a:t>
            </a:r>
            <a:r>
              <a:t> </a:t>
            </a:r>
            <a:r>
              <a:rPr spc="-5"/>
              <a:t>has</a:t>
            </a:r>
            <a:r>
              <a:t> </a:t>
            </a:r>
            <a:r>
              <a:rPr spc="-5"/>
              <a:t>not</a:t>
            </a:r>
            <a:r>
              <a:t> </a:t>
            </a:r>
            <a:r>
              <a:rPr spc="-5"/>
              <a:t>changed:</a:t>
            </a:r>
            <a:r>
              <a:t> B </a:t>
            </a:r>
            <a:r>
              <a:rPr spc="5"/>
              <a:t> </a:t>
            </a:r>
            <a:r>
              <a:rPr spc="-5"/>
              <a:t>frames </a:t>
            </a:r>
            <a:r>
              <a:t>1 </a:t>
            </a:r>
            <a:r>
              <a:rPr spc="-5"/>
              <a:t>and </a:t>
            </a:r>
            <a:r>
              <a:t>2 </a:t>
            </a:r>
            <a:r>
              <a:rPr spc="-5"/>
              <a:t>indicate that node </a:t>
            </a:r>
            <a:r>
              <a:t>B </a:t>
            </a:r>
            <a:r>
              <a:rPr spc="-5"/>
              <a:t>is still expecting </a:t>
            </a:r>
            <a:r>
              <a:rPr spc="-210"/>
              <a:t>A’s </a:t>
            </a:r>
            <a:r>
              <a:rPr spc="-204"/>
              <a:t> </a:t>
            </a:r>
            <a:r>
              <a:rPr spc="-5"/>
              <a:t>frame</a:t>
            </a:r>
            <a:r>
              <a:t> 2</a:t>
            </a:r>
            <a:r>
              <a:rPr spc="5"/>
              <a:t> </a:t>
            </a:r>
            <a:r>
              <a:rPr spc="-5"/>
              <a:t>to</a:t>
            </a:r>
            <a:r>
              <a:t> </a:t>
            </a:r>
            <a:r>
              <a:rPr spc="-5"/>
              <a:t>arrive</a:t>
            </a:r>
            <a:r>
              <a:t> </a:t>
            </a:r>
            <a:r>
              <a:rPr spc="-5"/>
              <a:t>next.</a:t>
            </a:r>
            <a:r>
              <a:t> </a:t>
            </a:r>
            <a:r>
              <a:rPr spc="-5"/>
              <a:t>Node</a:t>
            </a:r>
            <a:r>
              <a:t> A </a:t>
            </a:r>
            <a:r>
              <a:rPr spc="-5"/>
              <a:t>has</a:t>
            </a:r>
            <a:r>
              <a:t> </a:t>
            </a:r>
            <a:r>
              <a:rPr spc="-5"/>
              <a:t>sent</a:t>
            </a:r>
            <a:r>
              <a:t> </a:t>
            </a:r>
            <a:r>
              <a:rPr spc="-5"/>
              <a:t>all</a:t>
            </a:r>
            <a:r>
              <a:t> </a:t>
            </a:r>
            <a:r>
              <a:rPr spc="-5"/>
              <a:t>its</a:t>
            </a:r>
            <a:r>
              <a:t> </a:t>
            </a:r>
            <a:r>
              <a:rPr spc="-5"/>
              <a:t>data. </a:t>
            </a:r>
            <a:r>
              <a:t> </a:t>
            </a:r>
            <a:r>
              <a:rPr spc="-5"/>
              <a:t>Therefore, it </a:t>
            </a:r>
            <a:r>
              <a:t>cannot </a:t>
            </a:r>
            <a:r>
              <a:rPr spc="-5"/>
              <a:t>piggyback </a:t>
            </a:r>
            <a:r>
              <a:t>an </a:t>
            </a:r>
            <a:r>
              <a:rPr spc="-5"/>
              <a:t>acknowledgment </a:t>
            </a:r>
            <a:r>
              <a:t>onto </a:t>
            </a:r>
            <a:r>
              <a:rPr spc="5"/>
              <a:t> </a:t>
            </a:r>
            <a:r>
              <a:rPr spc="-5"/>
              <a:t>an I-frame and sends </a:t>
            </a:r>
            <a:r>
              <a:t>an </a:t>
            </a:r>
            <a:r>
              <a:rPr spc="-5"/>
              <a:t>S-frame instead. The RR code </a:t>
            </a:r>
            <a:r>
              <a:t> </a:t>
            </a:r>
            <a:r>
              <a:rPr spc="-5"/>
              <a:t>indicates that </a:t>
            </a:r>
            <a:r>
              <a:t>A is </a:t>
            </a:r>
            <a:r>
              <a:rPr spc="-5"/>
              <a:t>still ready to receive. The number </a:t>
            </a:r>
            <a:r>
              <a:t>3 in </a:t>
            </a:r>
            <a:r>
              <a:rPr spc="5"/>
              <a:t> </a:t>
            </a:r>
            <a:r>
              <a:rPr spc="-5"/>
              <a:t>the N(R) field tells </a:t>
            </a:r>
            <a:r>
              <a:t>B </a:t>
            </a:r>
            <a:r>
              <a:rPr spc="-5"/>
              <a:t>that frames 0, 1, and </a:t>
            </a:r>
            <a:r>
              <a:t>2 </a:t>
            </a:r>
            <a:r>
              <a:rPr spc="-5"/>
              <a:t>have all been </a:t>
            </a:r>
            <a:r>
              <a:t> </a:t>
            </a:r>
            <a:r>
              <a:rPr spc="-5"/>
              <a:t>accepted</a:t>
            </a:r>
            <a:r>
              <a:rPr spc="-30"/>
              <a:t> </a:t>
            </a:r>
            <a:r>
              <a:t>and</a:t>
            </a:r>
            <a:r>
              <a:rPr spc="-10"/>
              <a:t> </a:t>
            </a:r>
            <a:r>
              <a:t>that</a:t>
            </a:r>
            <a:r>
              <a:rPr spc="-125"/>
              <a:t> </a:t>
            </a:r>
            <a:r>
              <a:t>A</a:t>
            </a:r>
            <a:r>
              <a:rPr spc="-170"/>
              <a:t> </a:t>
            </a:r>
            <a:r>
              <a:t>is</a:t>
            </a:r>
            <a:r>
              <a:rPr spc="-15"/>
              <a:t> </a:t>
            </a:r>
            <a:r>
              <a:t>now</a:t>
            </a:r>
            <a:r>
              <a:rPr spc="-15"/>
              <a:t> </a:t>
            </a:r>
            <a:r>
              <a:t>expecting</a:t>
            </a:r>
            <a:r>
              <a:rPr spc="-30"/>
              <a:t> </a:t>
            </a:r>
            <a:r>
              <a:t>frame</a:t>
            </a:r>
            <a:r>
              <a:rPr spc="-20"/>
              <a:t> </a:t>
            </a:r>
            <a:r>
              <a:t>number</a:t>
            </a:r>
            <a:r>
              <a:rPr spc="-15"/>
              <a:t> </a:t>
            </a:r>
            <a:r>
              <a:t>3.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54</a:t>
            </a:fld>
            <a:endParaRPr spc="-25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78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5895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11.30	</a:t>
            </a:r>
            <a:r>
              <a:rPr sz="2000" i="1" spc="-5">
                <a:latin typeface="Times New Roman"/>
                <a:cs typeface="Times New Roman"/>
              </a:rPr>
              <a:t>Example of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piggybacking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without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error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3586619" y="1377696"/>
            <a:ext cx="3442233" cy="52196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55</a:t>
            </a:fld>
            <a:endParaRPr spc="-25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4879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75">
                <a:solidFill>
                  <a:srgbClr val="FF0000"/>
                </a:solidFill>
                <a:latin typeface="Times New Roman"/>
                <a:cs typeface="Times New Roman"/>
              </a:rPr>
              <a:t>11.11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65" y="1512824"/>
            <a:ext cx="8529320" cy="471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Figure </a:t>
            </a:r>
            <a:r>
              <a:rPr sz="2800" b="1" i="1" spc="-35">
                <a:latin typeface="Times New Roman"/>
                <a:cs typeface="Times New Roman"/>
              </a:rPr>
              <a:t>11.31 </a:t>
            </a:r>
            <a:r>
              <a:rPr sz="2800" b="1" i="1" spc="-5">
                <a:latin typeface="Times New Roman"/>
                <a:cs typeface="Times New Roman"/>
              </a:rPr>
              <a:t>shows an exchange in which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frame </a:t>
            </a:r>
            <a:r>
              <a:rPr sz="2800" b="1" i="1">
                <a:latin typeface="Times New Roman"/>
                <a:cs typeface="Times New Roman"/>
              </a:rPr>
              <a:t>is </a:t>
            </a:r>
            <a:r>
              <a:rPr sz="2800" b="1" i="1" spc="-5">
                <a:latin typeface="Times New Roman"/>
                <a:cs typeface="Times New Roman"/>
              </a:rPr>
              <a:t>lost.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Node </a:t>
            </a:r>
            <a:r>
              <a:rPr sz="2800" b="1" i="1">
                <a:latin typeface="Times New Roman"/>
                <a:cs typeface="Times New Roman"/>
              </a:rPr>
              <a:t>B </a:t>
            </a:r>
            <a:r>
              <a:rPr sz="2800" b="1" i="1" spc="-5">
                <a:latin typeface="Times New Roman"/>
                <a:cs typeface="Times New Roman"/>
              </a:rPr>
              <a:t>sends three data frames (0, 1, and 2), but frame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 lost. When node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receives frame 2, it discards it and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sends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REJ frame </a:t>
            </a:r>
            <a:r>
              <a:rPr sz="2800" b="1" i="1">
                <a:latin typeface="Times New Roman"/>
                <a:cs typeface="Times New Roman"/>
              </a:rPr>
              <a:t>for </a:t>
            </a:r>
            <a:r>
              <a:rPr sz="2800" b="1" i="1" spc="-5">
                <a:latin typeface="Times New Roman"/>
                <a:cs typeface="Times New Roman"/>
              </a:rPr>
              <a:t>frame </a:t>
            </a:r>
            <a:r>
              <a:rPr sz="2800" b="1" i="1">
                <a:latin typeface="Times New Roman"/>
                <a:cs typeface="Times New Roman"/>
              </a:rPr>
              <a:t>1. </a:t>
            </a:r>
            <a:r>
              <a:rPr sz="2800" b="1" i="1" spc="-5">
                <a:latin typeface="Times New Roman"/>
                <a:cs typeface="Times New Roman"/>
              </a:rPr>
              <a:t>Note that the protocol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being used is Go-Back-N with the special use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5">
                <a:latin typeface="Times New Roman"/>
                <a:cs typeface="Times New Roman"/>
              </a:rPr>
              <a:t>an REJ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 as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NAK frame. The NAK frame does two things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here: </a:t>
            </a:r>
            <a:r>
              <a:rPr sz="2800" b="1" i="1">
                <a:latin typeface="Times New Roman"/>
                <a:cs typeface="Times New Roman"/>
              </a:rPr>
              <a:t>It </a:t>
            </a:r>
            <a:r>
              <a:rPr sz="2800" b="1" i="1" spc="-5">
                <a:latin typeface="Times New Roman"/>
                <a:cs typeface="Times New Roman"/>
              </a:rPr>
              <a:t>confirms the receipt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5">
                <a:latin typeface="Times New Roman"/>
                <a:cs typeface="Times New Roman"/>
              </a:rPr>
              <a:t>frame </a:t>
            </a:r>
            <a:r>
              <a:rPr sz="2800" b="1" i="1">
                <a:latin typeface="Times New Roman"/>
                <a:cs typeface="Times New Roman"/>
              </a:rPr>
              <a:t>0 </a:t>
            </a:r>
            <a:r>
              <a:rPr sz="2800" b="1" i="1" spc="-5">
                <a:latin typeface="Times New Roman"/>
                <a:cs typeface="Times New Roman"/>
              </a:rPr>
              <a:t>and declares that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</a:t>
            </a:r>
            <a:r>
              <a:rPr sz="2800" b="1" i="1" spc="34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</a:t>
            </a:r>
            <a:r>
              <a:rPr sz="2800" b="1" i="1" spc="33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and</a:t>
            </a:r>
            <a:r>
              <a:rPr sz="2800" b="1" i="1" spc="34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any</a:t>
            </a:r>
            <a:r>
              <a:rPr sz="2800" b="1" i="1" spc="34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following</a:t>
            </a:r>
            <a:r>
              <a:rPr sz="2800" b="1" i="1" spc="34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frames</a:t>
            </a:r>
            <a:r>
              <a:rPr sz="2800" b="1" i="1" spc="33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must</a:t>
            </a:r>
            <a:r>
              <a:rPr sz="2800" b="1" i="1" spc="33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be</a:t>
            </a:r>
            <a:r>
              <a:rPr sz="2800" b="1" i="1" spc="33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resent.</a:t>
            </a:r>
            <a:r>
              <a:rPr sz="2800" b="1" i="1" spc="35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Node </a:t>
            </a:r>
            <a:r>
              <a:rPr sz="2800" b="1" i="1" spc="-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B, after receiving the REJ frame, resends frames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-5">
                <a:latin typeface="Times New Roman"/>
                <a:cs typeface="Times New Roman"/>
              </a:rPr>
              <a:t>and 2.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Node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acknowledges the receipt by sending an RR frame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(ACK)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with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acknowledgment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number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3.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56</a:t>
            </a:fld>
            <a:endParaRPr spc="-25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78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5556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11.31	</a:t>
            </a:r>
            <a:r>
              <a:rPr sz="2000" i="1" spc="-5">
                <a:latin typeface="Times New Roman"/>
                <a:cs typeface="Times New Roman"/>
              </a:rPr>
              <a:t>Example of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piggybacking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with error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7239" y="1450847"/>
            <a:ext cx="8763000" cy="5337175"/>
            <a:chOff x="927239" y="1450847"/>
            <a:chExt cx="8763000" cy="5337175"/>
          </a:xfrm>
        </p:grpSpPr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287915" y="1450847"/>
              <a:ext cx="3356686" cy="52227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7239" y="6711695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57</a:t>
            </a:fld>
            <a:endParaRPr spc="-25"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40485" algn="l"/>
              </a:tabLst>
            </a:pPr>
            <a:r>
              <a:rPr spc="-50"/>
              <a:t>11-7	</a:t>
            </a:r>
            <a:r>
              <a:rPr spc="-30"/>
              <a:t>POINT-TO-POINT</a:t>
            </a:r>
            <a:r>
              <a:rPr spc="-75"/>
              <a:t> </a:t>
            </a:r>
            <a:r>
              <a:rPr spc="-10"/>
              <a:t>PROTOCOL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3429000"/>
            <a:chOff x="774839" y="1206246"/>
            <a:chExt cx="9144000" cy="342900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4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4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4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4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4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839" y="2062746"/>
              <a:ext cx="9144000" cy="2573020"/>
            </a:xfrm>
            <a:custGeom>
              <a:avLst/>
              <a:gdLst/>
              <a:ahLst/>
              <a:cxnLst/>
              <a:rect l="l" t="t" r="r" b="b"/>
              <a:pathLst>
                <a:path w="9144000" h="2573020">
                  <a:moveTo>
                    <a:pt x="9144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4500"/>
                  </a:lnTo>
                  <a:lnTo>
                    <a:pt x="0" y="1715262"/>
                  </a:lnTo>
                  <a:lnTo>
                    <a:pt x="0" y="2572512"/>
                  </a:lnTo>
                  <a:lnTo>
                    <a:pt x="9144000" y="2572512"/>
                  </a:lnTo>
                  <a:lnTo>
                    <a:pt x="9144000" y="1715262"/>
                  </a:lnTo>
                  <a:lnTo>
                    <a:pt x="9144000" y="1714500"/>
                  </a:lnTo>
                  <a:lnTo>
                    <a:pt x="9144000" y="858012"/>
                  </a:lnTo>
                  <a:lnTo>
                    <a:pt x="9144000" y="8572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05973" y="1801622"/>
            <a:ext cx="8223884" cy="4738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latin typeface="Times New Roman"/>
                <a:cs typeface="Times New Roman"/>
              </a:rPr>
              <a:t>Although </a:t>
            </a:r>
            <a:r>
              <a:rPr sz="2800" b="1" i="1" spc="-5">
                <a:latin typeface="Times New Roman"/>
                <a:cs typeface="Times New Roman"/>
              </a:rPr>
              <a:t>HDLC is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general protocol </a:t>
            </a:r>
            <a:r>
              <a:rPr sz="2800" b="1" i="1">
                <a:latin typeface="Times New Roman"/>
                <a:cs typeface="Times New Roman"/>
              </a:rPr>
              <a:t>that </a:t>
            </a:r>
            <a:r>
              <a:rPr sz="2800" b="1" i="1" spc="-10">
                <a:latin typeface="Times New Roman"/>
                <a:cs typeface="Times New Roman"/>
              </a:rPr>
              <a:t>can </a:t>
            </a:r>
            <a:r>
              <a:rPr sz="2800" b="1" i="1" spc="-5">
                <a:latin typeface="Times New Roman"/>
                <a:cs typeface="Times New Roman"/>
              </a:rPr>
              <a:t>be used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for both </a:t>
            </a:r>
            <a:r>
              <a:rPr sz="2800" b="1" i="1" spc="-5">
                <a:latin typeface="Times New Roman"/>
                <a:cs typeface="Times New Roman"/>
              </a:rPr>
              <a:t>point-to-point and multipoint configurations, </a:t>
            </a:r>
            <a:r>
              <a:rPr sz="2800" b="1" i="1">
                <a:latin typeface="Times New Roman"/>
                <a:cs typeface="Times New Roman"/>
              </a:rPr>
              <a:t> one of </a:t>
            </a:r>
            <a:r>
              <a:rPr sz="2800" b="1" i="1" spc="-5">
                <a:latin typeface="Times New Roman"/>
                <a:cs typeface="Times New Roman"/>
              </a:rPr>
              <a:t>the most common protocols </a:t>
            </a:r>
            <a:r>
              <a:rPr sz="2800" b="1" i="1">
                <a:latin typeface="Times New Roman"/>
                <a:cs typeface="Times New Roman"/>
              </a:rPr>
              <a:t>for </a:t>
            </a:r>
            <a:r>
              <a:rPr sz="2800" b="1" i="1" spc="-5">
                <a:latin typeface="Times New Roman"/>
                <a:cs typeface="Times New Roman"/>
              </a:rPr>
              <a:t>point-to-point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access is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Point-to-Point Protocol </a:t>
            </a: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(PPP). </a:t>
            </a:r>
            <a:r>
              <a:rPr sz="2800" b="1" i="1" spc="-5">
                <a:latin typeface="Times New Roman"/>
                <a:cs typeface="Times New Roman"/>
              </a:rPr>
              <a:t>PPP is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byte-oriented</a:t>
            </a:r>
            <a:r>
              <a:rPr sz="2800" b="1" i="1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145">
                <a:latin typeface="Times New Roman"/>
                <a:cs typeface="Times New Roman"/>
              </a:rPr>
              <a:t>protocol..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35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</a:pPr>
            <a:r>
              <a:rPr sz="2800" b="1" i="1" u="heavy" spc="-4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1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5898515">
              <a:lnSpc>
                <a:spcPct val="100000"/>
              </a:lnSpc>
              <a:spcBef>
                <a:spcPts val="400"/>
              </a:spcBef>
            </a:pPr>
            <a:r>
              <a:rPr sz="2400" b="1" spc="-10">
                <a:solidFill>
                  <a:srgbClr val="0033CC"/>
                </a:solidFill>
                <a:latin typeface="Times New Roman"/>
                <a:cs typeface="Times New Roman"/>
              </a:rPr>
              <a:t>Framing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25">
                <a:solidFill>
                  <a:srgbClr val="0033CC"/>
                </a:solidFill>
                <a:latin typeface="Times New Roman"/>
                <a:cs typeface="Times New Roman"/>
              </a:rPr>
              <a:t>Transition </a:t>
            </a:r>
            <a:r>
              <a:rPr sz="2400" b="1" spc="-10">
                <a:solidFill>
                  <a:srgbClr val="0033CC"/>
                </a:solidFill>
                <a:latin typeface="Times New Roman"/>
                <a:cs typeface="Times New Roman"/>
              </a:rPr>
              <a:t>Phases </a:t>
            </a:r>
            <a:r>
              <a:rPr sz="2400" b="1" spc="-585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>
                <a:solidFill>
                  <a:srgbClr val="0033CC"/>
                </a:solidFill>
                <a:latin typeface="Times New Roman"/>
                <a:cs typeface="Times New Roman"/>
              </a:rPr>
              <a:t>Multiplexing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 Multilink</a:t>
            </a:r>
            <a:r>
              <a:rPr sz="2400" b="1" spc="-25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PPP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58</a:t>
            </a:fld>
            <a:endParaRPr spc="-25"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6880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11.32	</a:t>
            </a:r>
            <a:r>
              <a:rPr sz="2000" i="1" spc="-5">
                <a:latin typeface="Times New Roman"/>
                <a:cs typeface="Times New Roman"/>
              </a:rPr>
              <a:t>PPP</a:t>
            </a:r>
            <a:r>
              <a:rPr sz="2000" i="1" spc="-8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frame</a:t>
            </a:r>
            <a:r>
              <a:rPr sz="2000" i="1" spc="-3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format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927239" y="2030895"/>
            <a:ext cx="8437626" cy="122377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59</a:t>
            </a:fld>
            <a:endParaRPr spc="-25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DAEEB41F-0530-EC35-5DDA-CB4E14EE96B0}"/>
              </a:ext>
            </a:extLst>
          </p:cNvPr>
          <p:cNvSpPr txBox="1"/>
          <p:nvPr/>
        </p:nvSpPr>
        <p:spPr>
          <a:xfrm>
            <a:off x="1270139" y="3986880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433705" marR="42227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PPP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byte-oriented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protocol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using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byte stuffing with the </a:t>
            </a:r>
            <a:r>
              <a:rPr sz="3200" b="1" spc="-10" dirty="0">
                <a:latin typeface="Arial"/>
                <a:cs typeface="Arial"/>
              </a:rPr>
              <a:t>escape </a:t>
            </a:r>
            <a:r>
              <a:rPr sz="3200" b="1" spc="-5" dirty="0">
                <a:latin typeface="Arial"/>
                <a:cs typeface="Arial"/>
              </a:rPr>
              <a:t>byte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85" dirty="0">
                <a:latin typeface="Arial"/>
                <a:cs typeface="Arial"/>
              </a:rPr>
              <a:t>01111101.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637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11.33	</a:t>
            </a:r>
            <a:r>
              <a:rPr sz="2000" i="1" spc="-10">
                <a:latin typeface="Times New Roman"/>
                <a:cs typeface="Times New Roman"/>
              </a:rPr>
              <a:t>Transition</a:t>
            </a:r>
            <a:r>
              <a:rPr sz="2000" i="1" spc="-7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phases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751467" y="1856232"/>
            <a:ext cx="6481571" cy="397916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60</a:t>
            </a:fld>
            <a:endParaRPr spc="-25"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9325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11.34	</a:t>
            </a:r>
            <a:r>
              <a:rPr sz="2000" i="1" spc="-10">
                <a:latin typeface="Times New Roman"/>
                <a:cs typeface="Times New Roman"/>
              </a:rPr>
              <a:t>Multiplexing</a:t>
            </a:r>
            <a:r>
              <a:rPr sz="2000" i="1" spc="-4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PPP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97799" y="1608582"/>
            <a:ext cx="7101840" cy="476021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61</a:t>
            </a:fld>
            <a:endParaRPr spc="-25"/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571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11.35	</a:t>
            </a:r>
            <a:r>
              <a:rPr sz="2000" i="1" spc="-5">
                <a:latin typeface="Times New Roman"/>
                <a:cs typeface="Times New Roman"/>
              </a:rPr>
              <a:t>LCP</a:t>
            </a:r>
            <a:r>
              <a:rPr sz="2000" i="1" spc="-5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packet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encapsulated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frame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457591" y="3015995"/>
            <a:ext cx="6937247" cy="147827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62</a:t>
            </a:fld>
            <a:endParaRPr spc="-25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799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3200" algn="l"/>
              </a:tabLst>
            </a:pPr>
            <a:r>
              <a:rPr sz="2400" spc="-50">
                <a:solidFill>
                  <a:srgbClr val="3333CC"/>
                </a:solidFill>
              </a:rPr>
              <a:t>Table</a:t>
            </a:r>
            <a:r>
              <a:rPr sz="2400" spc="-5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11.2	</a:t>
            </a:r>
            <a:r>
              <a:rPr sz="2000" i="1" spc="-5">
                <a:latin typeface="Times New Roman"/>
                <a:cs typeface="Times New Roman"/>
              </a:rPr>
              <a:t>LCP</a:t>
            </a:r>
            <a:r>
              <a:rPr sz="2000" i="1" spc="-10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packets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927239" y="1568196"/>
            <a:ext cx="8852789" cy="46405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63</a:t>
            </a:fld>
            <a:endParaRPr spc="-25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4173" y="1285747"/>
            <a:ext cx="3271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3200" algn="l"/>
              </a:tabLst>
            </a:pPr>
            <a:r>
              <a:rPr sz="2400" spc="-50">
                <a:solidFill>
                  <a:srgbClr val="3333CC"/>
                </a:solidFill>
              </a:rPr>
              <a:t>Table</a:t>
            </a:r>
            <a:r>
              <a:rPr sz="2400" spc="-5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11.3	</a:t>
            </a:r>
            <a:r>
              <a:rPr sz="2000" i="1" spc="-5">
                <a:latin typeface="Times New Roman"/>
                <a:cs typeface="Times New Roman"/>
              </a:rPr>
              <a:t>Common</a:t>
            </a:r>
            <a:r>
              <a:rPr sz="2000" i="1" spc="-4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options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55305" y="1655064"/>
            <a:ext cx="7777733" cy="28087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64</a:t>
            </a:fld>
            <a:endParaRPr spc="-25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170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11.36	</a:t>
            </a:r>
            <a:r>
              <a:rPr sz="2000" i="1" spc="-55">
                <a:latin typeface="Times New Roman"/>
                <a:cs typeface="Times New Roman"/>
              </a:rPr>
              <a:t>PAP </a:t>
            </a:r>
            <a:r>
              <a:rPr sz="2000" i="1" spc="-5">
                <a:latin typeface="Times New Roman"/>
                <a:cs typeface="Times New Roman"/>
              </a:rPr>
              <a:t>packets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encapsulated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 a PPP</a:t>
            </a:r>
            <a:r>
              <a:rPr sz="2000" i="1" spc="-5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frame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34197" y="1644395"/>
            <a:ext cx="6965442" cy="465200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65</a:t>
            </a:fld>
            <a:endParaRPr spc="-25"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400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11.37	</a:t>
            </a:r>
            <a:r>
              <a:rPr sz="2000" i="1" spc="-5">
                <a:latin typeface="Times New Roman"/>
                <a:cs typeface="Times New Roman"/>
              </a:rPr>
              <a:t>CHAP</a:t>
            </a:r>
            <a:r>
              <a:rPr sz="2000" i="1" spc="-6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packets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encapsulated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PPP</a:t>
            </a:r>
            <a:r>
              <a:rPr sz="2000" i="1" spc="-5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frame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70773" y="1415795"/>
            <a:ext cx="6928866" cy="516255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66</a:t>
            </a:fld>
            <a:endParaRPr spc="-25"/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999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11.38	</a:t>
            </a:r>
            <a:r>
              <a:rPr sz="2000" i="1" spc="-5">
                <a:latin typeface="Times New Roman"/>
                <a:cs typeface="Times New Roman"/>
              </a:rPr>
              <a:t>IPCP</a:t>
            </a:r>
            <a:r>
              <a:rPr sz="2000" i="1" spc="-6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packet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encapsulated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PPP</a:t>
            </a:r>
            <a:r>
              <a:rPr sz="2000" i="1" spc="-6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frame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647" y="2787395"/>
            <a:ext cx="8317992" cy="178155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67</a:t>
            </a:fld>
            <a:endParaRPr spc="-25"/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2773" y="1285747"/>
            <a:ext cx="4497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3200" algn="l"/>
              </a:tabLst>
            </a:pPr>
            <a:r>
              <a:rPr sz="2400" spc="-50">
                <a:solidFill>
                  <a:srgbClr val="3333CC"/>
                </a:solidFill>
              </a:rPr>
              <a:t>Table</a:t>
            </a:r>
            <a:r>
              <a:rPr sz="2400" spc="-5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11.4	</a:t>
            </a:r>
            <a:r>
              <a:rPr sz="2000" i="1" spc="-5">
                <a:latin typeface="Times New Roman"/>
                <a:cs typeface="Times New Roman"/>
              </a:rPr>
              <a:t>Code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value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IPCP</a:t>
            </a:r>
            <a:r>
              <a:rPr sz="2000" i="1" spc="-6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packets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1734197" y="1668779"/>
            <a:ext cx="7194042" cy="40904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68</a:t>
            </a:fld>
            <a:endParaRPr spc="-25"/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187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11.39	</a:t>
            </a:r>
            <a:r>
              <a:rPr sz="2000" i="1" spc="-5">
                <a:latin typeface="Times New Roman"/>
                <a:cs typeface="Times New Roman"/>
              </a:rPr>
              <a:t>IP</a:t>
            </a:r>
            <a:r>
              <a:rPr sz="2000" i="1" spc="-7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datagram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encapsulated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PPP</a:t>
            </a:r>
            <a:r>
              <a:rPr sz="2000" i="1" spc="-5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frame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76591" y="2973323"/>
            <a:ext cx="8308847" cy="156667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69</a:t>
            </a:fld>
            <a:endParaRPr spc="-25"/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2912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11.40	</a:t>
            </a:r>
            <a:r>
              <a:rPr sz="2000" i="1" spc="-10">
                <a:latin typeface="Times New Roman"/>
                <a:cs typeface="Times New Roman"/>
              </a:rPr>
              <a:t>Multilink</a:t>
            </a:r>
            <a:r>
              <a:rPr sz="2000" i="1" spc="-6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PPP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460639" y="2101595"/>
            <a:ext cx="7431785" cy="356616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5"/>
              <a:t>11.</a:t>
            </a:r>
            <a:fld id="{81D60167-4931-47E6-BA6A-407CBD079E47}" type="slidenum">
              <a:rPr spc="-25"/>
              <a:t>70</a:t>
            </a:fld>
            <a:endParaRPr spc="-25"/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101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0">
                <a:solidFill>
                  <a:srgbClr val="FF0000"/>
                </a:solidFill>
                <a:latin typeface="Times New Roman"/>
                <a:cs typeface="Times New Roman"/>
              </a:rPr>
              <a:t>11.12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42020" cy="471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415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Let us go through the phases followed by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network layer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packet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transmitted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through</a:t>
            </a:r>
            <a:r>
              <a:rPr sz="2800" b="1" i="1">
                <a:latin typeface="Times New Roman"/>
                <a:cs typeface="Times New Roman"/>
              </a:rPr>
              <a:t> a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PPP connection.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Figure </a:t>
            </a:r>
            <a:r>
              <a:rPr sz="2800" b="1" i="1" spc="-35">
                <a:latin typeface="Times New Roman"/>
                <a:cs typeface="Times New Roman"/>
              </a:rPr>
              <a:t>11.41 </a:t>
            </a:r>
            <a:r>
              <a:rPr sz="2800" b="1" i="1" spc="-5">
                <a:latin typeface="Times New Roman"/>
                <a:cs typeface="Times New Roman"/>
              </a:rPr>
              <a:t>shows the steps. For </a:t>
            </a:r>
            <a:r>
              <a:rPr sz="2800" b="1" i="1" spc="-15">
                <a:latin typeface="Times New Roman"/>
                <a:cs typeface="Times New Roman"/>
              </a:rPr>
              <a:t>simplicity, </a:t>
            </a:r>
            <a:r>
              <a:rPr sz="2800" b="1" i="1" spc="-5">
                <a:latin typeface="Times New Roman"/>
                <a:cs typeface="Times New Roman"/>
              </a:rPr>
              <a:t>we assume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unidirectional movement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5">
                <a:latin typeface="Times New Roman"/>
                <a:cs typeface="Times New Roman"/>
              </a:rPr>
              <a:t>data from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user site to the </a:t>
            </a:r>
            <a:r>
              <a:rPr sz="2800" b="1" i="1">
                <a:latin typeface="Times New Roman"/>
                <a:cs typeface="Times New Roman"/>
              </a:rPr>
              <a:t> system</a:t>
            </a:r>
            <a:r>
              <a:rPr sz="2800" b="1" i="1" spc="-3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site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(such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as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sending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an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e-mail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through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an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ISP).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>
                <a:latin typeface="Times New Roman"/>
                <a:cs typeface="Times New Roman"/>
              </a:rPr>
              <a:t>The first two frames show link establishment. </a:t>
            </a:r>
            <a:r>
              <a:rPr sz="2800" b="1" i="1" spc="-110">
                <a:latin typeface="Times New Roman"/>
                <a:cs typeface="Times New Roman"/>
              </a:rPr>
              <a:t>We</a:t>
            </a:r>
            <a:r>
              <a:rPr sz="2800" b="1" i="1" spc="-10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have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chosen two options (not shown in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figure): using </a:t>
            </a:r>
            <a:r>
              <a:rPr sz="2800" b="1" i="1" spc="-75">
                <a:latin typeface="Times New Roman"/>
                <a:cs typeface="Times New Roman"/>
              </a:rPr>
              <a:t>PAP </a:t>
            </a:r>
            <a:r>
              <a:rPr sz="2800" b="1" i="1" spc="-7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for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authentication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suppressing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address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control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fields. Frames </a:t>
            </a:r>
            <a:r>
              <a:rPr sz="2800" b="1" i="1">
                <a:latin typeface="Times New Roman"/>
                <a:cs typeface="Times New Roman"/>
              </a:rPr>
              <a:t>3 </a:t>
            </a:r>
            <a:r>
              <a:rPr sz="2800" b="1" i="1" spc="-5">
                <a:latin typeface="Times New Roman"/>
                <a:cs typeface="Times New Roman"/>
              </a:rPr>
              <a:t>and </a:t>
            </a:r>
            <a:r>
              <a:rPr sz="2800" b="1" i="1">
                <a:latin typeface="Times New Roman"/>
                <a:cs typeface="Times New Roman"/>
              </a:rPr>
              <a:t>4 </a:t>
            </a:r>
            <a:r>
              <a:rPr sz="2800" b="1" i="1" spc="-5">
                <a:latin typeface="Times New Roman"/>
                <a:cs typeface="Times New Roman"/>
              </a:rPr>
              <a:t>are </a:t>
            </a:r>
            <a:r>
              <a:rPr sz="2800" b="1" i="1">
                <a:latin typeface="Times New Roman"/>
                <a:cs typeface="Times New Roman"/>
              </a:rPr>
              <a:t>for </a:t>
            </a:r>
            <a:r>
              <a:rPr sz="2800" b="1" i="1" spc="-5">
                <a:latin typeface="Times New Roman"/>
                <a:cs typeface="Times New Roman"/>
              </a:rPr>
              <a:t>authentication. Frames </a:t>
            </a:r>
            <a:r>
              <a:rPr sz="2800" b="1" i="1">
                <a:latin typeface="Times New Roman"/>
                <a:cs typeface="Times New Roman"/>
              </a:rPr>
              <a:t>5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and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6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establish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network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layer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connection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using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 spc="-75">
                <a:latin typeface="Times New Roman"/>
                <a:cs typeface="Times New Roman"/>
              </a:rPr>
              <a:t>IPCP.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7373" y="6860953"/>
            <a:ext cx="81343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25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sz="2000" b="1" spc="-25">
                <a:solidFill>
                  <a:srgbClr val="1B1B1B"/>
                </a:solidFill>
                <a:latin typeface="Arial"/>
                <a:cs typeface="Arial"/>
              </a:rPr>
              <a:t>71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5523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0">
                <a:solidFill>
                  <a:srgbClr val="FF0000"/>
                </a:solidFill>
                <a:latin typeface="Times New Roman"/>
                <a:cs typeface="Times New Roman"/>
              </a:rPr>
              <a:t>11.12</a:t>
            </a:r>
            <a:r>
              <a:rPr i="1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64" y="1512824"/>
            <a:ext cx="8529320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The next several frames show that some IP packets are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encapsulated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in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PPP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frame.</a:t>
            </a:r>
            <a:r>
              <a:rPr sz="2800" b="1" i="1">
                <a:latin typeface="Times New Roman"/>
                <a:cs typeface="Times New Roman"/>
              </a:rPr>
              <a:t> The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system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(receiver)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may have been running several network layer protocols, </a:t>
            </a:r>
            <a:r>
              <a:rPr sz="2800" b="1" i="1">
                <a:latin typeface="Times New Roman"/>
                <a:cs typeface="Times New Roman"/>
              </a:rPr>
              <a:t> but </a:t>
            </a:r>
            <a:r>
              <a:rPr sz="2800" b="1" i="1" spc="-5">
                <a:latin typeface="Times New Roman"/>
                <a:cs typeface="Times New Roman"/>
              </a:rPr>
              <a:t>it knows that the incoming data must </a:t>
            </a:r>
            <a:r>
              <a:rPr sz="2800" b="1" i="1">
                <a:latin typeface="Times New Roman"/>
                <a:cs typeface="Times New Roman"/>
              </a:rPr>
              <a:t>be </a:t>
            </a:r>
            <a:r>
              <a:rPr sz="2800" b="1" i="1" spc="-5">
                <a:latin typeface="Times New Roman"/>
                <a:cs typeface="Times New Roman"/>
              </a:rPr>
              <a:t>delivered to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 IP protocol because the NCP protocol used before the </a:t>
            </a:r>
            <a:r>
              <a:rPr sz="2800" b="1" i="1">
                <a:latin typeface="Times New Roman"/>
                <a:cs typeface="Times New Roman"/>
              </a:rPr>
              <a:t> data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transfer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was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 spc="-75">
                <a:latin typeface="Times New Roman"/>
                <a:cs typeface="Times New Roman"/>
              </a:rPr>
              <a:t>IPCP.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>
                <a:latin typeface="Times New Roman"/>
                <a:cs typeface="Times New Roman"/>
              </a:rPr>
              <a:t>After data </a:t>
            </a:r>
            <a:r>
              <a:rPr sz="2800" b="1" i="1" spc="-20">
                <a:latin typeface="Times New Roman"/>
                <a:cs typeface="Times New Roman"/>
              </a:rPr>
              <a:t>transfer,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user then terminates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data link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connection,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which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acknowledged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by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system.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Of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course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user</a:t>
            </a:r>
            <a:r>
              <a:rPr sz="2800" b="1" i="1">
                <a:latin typeface="Times New Roman"/>
                <a:cs typeface="Times New Roman"/>
              </a:rPr>
              <a:t> or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system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could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have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chosen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to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terminate the network layer IPCP and keep the data link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layer</a:t>
            </a:r>
            <a:r>
              <a:rPr sz="2800" b="1" i="1" spc="-3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running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if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it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wanted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to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run another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NCP</a:t>
            </a:r>
            <a:r>
              <a:rPr sz="2800" b="1" i="1" spc="-1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protocol.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7373" y="6860953"/>
            <a:ext cx="81343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25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sz="2000" b="1" spc="-25">
                <a:solidFill>
                  <a:srgbClr val="1B1B1B"/>
                </a:solidFill>
                <a:latin typeface="Arial"/>
                <a:cs typeface="Arial"/>
              </a:rPr>
              <a:t>72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7239" y="1178052"/>
            <a:ext cx="8763000" cy="5419725"/>
            <a:chOff x="927239" y="1178052"/>
            <a:chExt cx="8763000" cy="5419725"/>
          </a:xfrm>
        </p:grpSpPr>
        <p:sp>
          <p:nvSpPr>
            <p:cNvPr id="3" name="object 3"/>
            <p:cNvSpPr/>
            <p:nvPr/>
          </p:nvSpPr>
          <p:spPr>
            <a:xfrm>
              <a:off x="927239" y="1178052"/>
              <a:ext cx="8763000" cy="19050"/>
            </a:xfrm>
            <a:custGeom>
              <a:avLst/>
              <a:gdLst/>
              <a:ahLst/>
              <a:cxnLst/>
              <a:rect l="l" t="t" r="r" b="b"/>
              <a:pathLst>
                <a:path w="8763000" h="19050">
                  <a:moveTo>
                    <a:pt x="8763000" y="19049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763000" y="190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035949" y="1206246"/>
              <a:ext cx="5982766" cy="539115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3030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11.41	</a:t>
            </a:r>
            <a:r>
              <a:rPr sz="2000" i="1" spc="-5">
                <a:latin typeface="Times New Roman"/>
                <a:cs typeface="Times New Roman"/>
              </a:rPr>
              <a:t>An</a:t>
            </a:r>
            <a:r>
              <a:rPr sz="2000" i="1" spc="-4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example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7373" y="6860953"/>
            <a:ext cx="81343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25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sz="2000" b="1" spc="-25">
                <a:solidFill>
                  <a:srgbClr val="1B1B1B"/>
                </a:solidFill>
                <a:latin typeface="Arial"/>
                <a:cs typeface="Arial"/>
              </a:rPr>
              <a:t>73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78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4304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>
                <a:solidFill>
                  <a:srgbClr val="3333CC"/>
                </a:solidFill>
              </a:rPr>
              <a:t>Figure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400" spc="-35">
                <a:solidFill>
                  <a:srgbClr val="3333CC"/>
                </a:solidFill>
              </a:rPr>
              <a:t>11.41	</a:t>
            </a:r>
            <a:r>
              <a:rPr sz="2000" i="1" spc="-5">
                <a:latin typeface="Times New Roman"/>
                <a:cs typeface="Times New Roman"/>
              </a:rPr>
              <a:t>An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example</a:t>
            </a:r>
            <a:r>
              <a:rPr sz="2000" i="1" spc="-40">
                <a:latin typeface="Times New Roman"/>
                <a:cs typeface="Times New Roman"/>
              </a:rPr>
              <a:t> </a:t>
            </a:r>
            <a:r>
              <a:rPr sz="2000" i="1" spc="-5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72247" y="1415796"/>
            <a:ext cx="7174992" cy="504367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7373" y="6860953"/>
            <a:ext cx="81343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25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sz="2000" b="1" spc="-25">
                <a:solidFill>
                  <a:srgbClr val="1B1B1B"/>
                </a:solidFill>
                <a:latin typeface="Arial"/>
                <a:cs typeface="Arial"/>
              </a:rPr>
              <a:t>74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8314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12.1	</a:t>
            </a:r>
            <a:r>
              <a:rPr sz="2000" i="1" spc="-5">
                <a:latin typeface="Times New Roman"/>
                <a:cs typeface="Times New Roman"/>
              </a:rPr>
              <a:t>Data</a:t>
            </a:r>
            <a:r>
              <a:rPr sz="2000" i="1" spc="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link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layer divided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into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two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functionality-oriented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sublayers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410091" y="2387345"/>
            <a:ext cx="5375147" cy="253364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75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8317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12.2	</a:t>
            </a:r>
            <a:r>
              <a:rPr sz="2000" i="1" spc="-25">
                <a:latin typeface="Times New Roman"/>
                <a:cs typeface="Times New Roman"/>
              </a:rPr>
              <a:t>Taxonomy</a:t>
            </a:r>
            <a:r>
              <a:rPr sz="2000" i="1" spc="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of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multiple-access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protocols</a:t>
            </a:r>
            <a:r>
              <a:rPr sz="2000" i="1" spc="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discussed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this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chapter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65439" y="2246376"/>
            <a:ext cx="6555485" cy="328421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76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1697" y="596899"/>
            <a:ext cx="91313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3055">
              <a:lnSpc>
                <a:spcPct val="100000"/>
              </a:lnSpc>
              <a:spcBef>
                <a:spcPts val="95"/>
              </a:spcBef>
              <a:tabLst>
                <a:tab pos="1361440" algn="l"/>
              </a:tabLst>
            </a:pPr>
            <a:r>
              <a:rPr spc="-5"/>
              <a:t>12-1	</a:t>
            </a:r>
            <a:r>
              <a:rPr spc="-10"/>
              <a:t>RANDOM</a:t>
            </a:r>
            <a:r>
              <a:rPr spc="-185"/>
              <a:t> </a:t>
            </a:r>
            <a:r>
              <a:rPr spc="-10"/>
              <a:t>ACCESS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140335"/>
            <a:chOff x="774839" y="1206246"/>
            <a:chExt cx="9144000" cy="140335"/>
          </a:xfrm>
        </p:grpSpPr>
        <p:sp>
          <p:nvSpPr>
            <p:cNvPr id="7" name="object 7"/>
            <p:cNvSpPr/>
            <p:nvPr/>
          </p:nvSpPr>
          <p:spPr>
            <a:xfrm>
              <a:off x="774839" y="1206246"/>
              <a:ext cx="9144000" cy="133350"/>
            </a:xfrm>
            <a:custGeom>
              <a:avLst/>
              <a:gdLst/>
              <a:ahLst/>
              <a:cxnLst/>
              <a:rect l="l" t="t" r="r" b="b"/>
              <a:pathLst>
                <a:path w="9144000" h="133350">
                  <a:moveTo>
                    <a:pt x="9144000" y="133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133350"/>
                  </a:lnTo>
                  <a:lnTo>
                    <a:pt x="9144000" y="133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140335"/>
            </a:xfrm>
            <a:custGeom>
              <a:avLst/>
              <a:gdLst/>
              <a:ahLst/>
              <a:cxnLst/>
              <a:rect l="l" t="t" r="r" b="b"/>
              <a:pathLst>
                <a:path w="9144000" h="140334">
                  <a:moveTo>
                    <a:pt x="6858" y="127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127254"/>
                  </a:lnTo>
                  <a:lnTo>
                    <a:pt x="6858" y="127254"/>
                  </a:lnTo>
                  <a:close/>
                </a:path>
                <a:path w="9144000" h="140334">
                  <a:moveTo>
                    <a:pt x="9143987" y="127253"/>
                  </a:moveTo>
                  <a:lnTo>
                    <a:pt x="0" y="127254"/>
                  </a:lnTo>
                  <a:lnTo>
                    <a:pt x="6858" y="133350"/>
                  </a:lnTo>
                  <a:lnTo>
                    <a:pt x="6858" y="140208"/>
                  </a:lnTo>
                  <a:lnTo>
                    <a:pt x="9137904" y="140207"/>
                  </a:lnTo>
                  <a:lnTo>
                    <a:pt x="9137904" y="133350"/>
                  </a:lnTo>
                  <a:lnTo>
                    <a:pt x="9143987" y="127253"/>
                  </a:lnTo>
                  <a:close/>
                </a:path>
                <a:path w="9144000" h="140334">
                  <a:moveTo>
                    <a:pt x="6858" y="140208"/>
                  </a:moveTo>
                  <a:lnTo>
                    <a:pt x="6858" y="133350"/>
                  </a:lnTo>
                  <a:lnTo>
                    <a:pt x="0" y="127254"/>
                  </a:lnTo>
                  <a:lnTo>
                    <a:pt x="0" y="140208"/>
                  </a:lnTo>
                  <a:lnTo>
                    <a:pt x="6858" y="140208"/>
                  </a:lnTo>
                  <a:close/>
                </a:path>
                <a:path w="9144000" h="140334">
                  <a:moveTo>
                    <a:pt x="9144000" y="140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127253"/>
                  </a:lnTo>
                  <a:lnTo>
                    <a:pt x="9143987" y="127253"/>
                  </a:lnTo>
                  <a:lnTo>
                    <a:pt x="9143987" y="140207"/>
                  </a:lnTo>
                  <a:close/>
                </a:path>
                <a:path w="9144000" h="140334">
                  <a:moveTo>
                    <a:pt x="9143987" y="140207"/>
                  </a:moveTo>
                  <a:lnTo>
                    <a:pt x="9143987" y="127253"/>
                  </a:lnTo>
                  <a:lnTo>
                    <a:pt x="9137904" y="133350"/>
                  </a:lnTo>
                  <a:lnTo>
                    <a:pt x="9137904" y="140207"/>
                  </a:lnTo>
                  <a:lnTo>
                    <a:pt x="9143987" y="140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58364" y="1514348"/>
            <a:ext cx="8071484" cy="5088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latin typeface="Times New Roman"/>
                <a:cs typeface="Times New Roman"/>
              </a:rPr>
              <a:t>In </a:t>
            </a: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random access </a:t>
            </a:r>
            <a:r>
              <a:rPr sz="2800" b="1" i="1">
                <a:latin typeface="Times New Roman"/>
                <a:cs typeface="Times New Roman"/>
              </a:rPr>
              <a:t>or </a:t>
            </a: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contention </a:t>
            </a:r>
            <a:r>
              <a:rPr sz="2800" b="1" i="1" spc="-5">
                <a:latin typeface="Times New Roman"/>
                <a:cs typeface="Times New Roman"/>
              </a:rPr>
              <a:t>methods, no station </a:t>
            </a:r>
            <a:r>
              <a:rPr sz="2800" b="1" i="1">
                <a:latin typeface="Times New Roman"/>
                <a:cs typeface="Times New Roman"/>
              </a:rPr>
              <a:t>is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superior </a:t>
            </a:r>
            <a:r>
              <a:rPr sz="2800" b="1" i="1">
                <a:latin typeface="Times New Roman"/>
                <a:cs typeface="Times New Roman"/>
              </a:rPr>
              <a:t>to </a:t>
            </a:r>
            <a:r>
              <a:rPr sz="2800" b="1" i="1" spc="-5">
                <a:latin typeface="Times New Roman"/>
                <a:cs typeface="Times New Roman"/>
              </a:rPr>
              <a:t>another station </a:t>
            </a:r>
            <a:r>
              <a:rPr sz="2800" b="1" i="1">
                <a:latin typeface="Times New Roman"/>
                <a:cs typeface="Times New Roman"/>
              </a:rPr>
              <a:t>and </a:t>
            </a:r>
            <a:r>
              <a:rPr sz="2800" b="1" i="1" spc="-5">
                <a:latin typeface="Times New Roman"/>
                <a:cs typeface="Times New Roman"/>
              </a:rPr>
              <a:t>none is </a:t>
            </a:r>
            <a:r>
              <a:rPr sz="2800" b="1" i="1">
                <a:latin typeface="Times New Roman"/>
                <a:cs typeface="Times New Roman"/>
              </a:rPr>
              <a:t>assigned the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control over </a:t>
            </a:r>
            <a:r>
              <a:rPr sz="2800" b="1" i="1" spc="-25">
                <a:latin typeface="Times New Roman"/>
                <a:cs typeface="Times New Roman"/>
              </a:rPr>
              <a:t>another. </a:t>
            </a:r>
            <a:r>
              <a:rPr sz="2800" b="1" i="1" spc="-5">
                <a:latin typeface="Times New Roman"/>
                <a:cs typeface="Times New Roman"/>
              </a:rPr>
              <a:t>No station permits, or does not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permit, another station </a:t>
            </a:r>
            <a:r>
              <a:rPr sz="2800" b="1" i="1">
                <a:latin typeface="Times New Roman"/>
                <a:cs typeface="Times New Roman"/>
              </a:rPr>
              <a:t>to </a:t>
            </a:r>
            <a:r>
              <a:rPr sz="2800" b="1" i="1" spc="-120">
                <a:latin typeface="Times New Roman"/>
                <a:cs typeface="Times New Roman"/>
              </a:rPr>
              <a:t>send..</a:t>
            </a:r>
            <a:r>
              <a:rPr sz="2800" b="1" i="1" spc="-11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At each instance,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station </a:t>
            </a:r>
            <a:r>
              <a:rPr sz="2800" b="1" i="1">
                <a:latin typeface="Times New Roman"/>
                <a:cs typeface="Times New Roman"/>
              </a:rPr>
              <a:t>that </a:t>
            </a:r>
            <a:r>
              <a:rPr sz="2800" b="1" i="1" spc="-5">
                <a:latin typeface="Times New Roman"/>
                <a:cs typeface="Times New Roman"/>
              </a:rPr>
              <a:t>has data to send uses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procedure defined </a:t>
            </a:r>
            <a:r>
              <a:rPr sz="2800" b="1" i="1">
                <a:latin typeface="Times New Roman"/>
                <a:cs typeface="Times New Roman"/>
              </a:rPr>
              <a:t> by </a:t>
            </a:r>
            <a:r>
              <a:rPr sz="2800" b="1" i="1" spc="-5">
                <a:latin typeface="Times New Roman"/>
                <a:cs typeface="Times New Roman"/>
              </a:rPr>
              <a:t>the protocol to make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decision </a:t>
            </a:r>
            <a:r>
              <a:rPr sz="2800" b="1" i="1">
                <a:latin typeface="Times New Roman"/>
                <a:cs typeface="Times New Roman"/>
              </a:rPr>
              <a:t>on </a:t>
            </a:r>
            <a:r>
              <a:rPr sz="2800" b="1" i="1" spc="-5">
                <a:latin typeface="Times New Roman"/>
                <a:cs typeface="Times New Roman"/>
              </a:rPr>
              <a:t>whether or </a:t>
            </a:r>
            <a:r>
              <a:rPr sz="2800" b="1" i="1">
                <a:latin typeface="Times New Roman"/>
                <a:cs typeface="Times New Roman"/>
              </a:rPr>
              <a:t>not </a:t>
            </a:r>
            <a:r>
              <a:rPr sz="2800" b="1" i="1" spc="-5">
                <a:latin typeface="Times New Roman"/>
                <a:cs typeface="Times New Roman"/>
              </a:rPr>
              <a:t>to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send.</a:t>
            </a:r>
            <a:endParaRPr sz="2800">
              <a:latin typeface="Times New Roman"/>
              <a:cs typeface="Times New Roman"/>
            </a:endParaRPr>
          </a:p>
          <a:p>
            <a:pPr marL="40640" algn="just">
              <a:lnSpc>
                <a:spcPct val="100000"/>
              </a:lnSpc>
              <a:spcBef>
                <a:spcPts val="1070"/>
              </a:spcBef>
            </a:pPr>
            <a:r>
              <a:rPr sz="2800" b="1" i="1" u="heavy" spc="-4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ALOHA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Carrier</a:t>
            </a:r>
            <a:r>
              <a:rPr sz="2400" b="1" spc="-7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Sense Multiple</a:t>
            </a:r>
            <a:r>
              <a:rPr sz="2400" b="1" spc="-14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Access</a:t>
            </a:r>
            <a:endParaRPr sz="2400">
              <a:latin typeface="Times New Roman"/>
              <a:cs typeface="Times New Roman"/>
            </a:endParaRPr>
          </a:p>
          <a:p>
            <a:pPr marL="12700" marR="851535">
              <a:lnSpc>
                <a:spcPct val="100000"/>
              </a:lnSpc>
            </a:pP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Carrier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Sense </a:t>
            </a: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Multiple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Access with Collision </a:t>
            </a: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Detection </a:t>
            </a:r>
            <a:r>
              <a:rPr sz="2400" b="1" spc="5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Carrier</a:t>
            </a:r>
            <a:r>
              <a:rPr sz="2400" b="1" spc="-7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Sense</a:t>
            </a: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Multiple</a:t>
            </a:r>
            <a:r>
              <a:rPr sz="2400" b="1" spc="-14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Access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 with</a:t>
            </a:r>
            <a:r>
              <a:rPr sz="2400" b="1" spc="5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Collision</a:t>
            </a:r>
            <a:r>
              <a:rPr sz="2400" b="1" spc="-135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25">
                <a:solidFill>
                  <a:srgbClr val="0033CC"/>
                </a:solidFill>
                <a:latin typeface="Times New Roman"/>
                <a:cs typeface="Times New Roman"/>
              </a:rPr>
              <a:t>Avoidance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77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281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12.3	</a:t>
            </a:r>
            <a:r>
              <a:rPr sz="2000" i="1" spc="-5">
                <a:latin typeface="Times New Roman"/>
                <a:cs typeface="Times New Roman"/>
              </a:rPr>
              <a:t>Frames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 a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pure</a:t>
            </a:r>
            <a:r>
              <a:rPr sz="2000" i="1" spc="-8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ALOHA</a:t>
            </a:r>
            <a:r>
              <a:rPr sz="2000" i="1" spc="-9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994295" y="1949195"/>
            <a:ext cx="8619743" cy="406145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78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488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12.4	</a:t>
            </a:r>
            <a:r>
              <a:rPr sz="2000" i="1" spc="-5">
                <a:latin typeface="Times New Roman"/>
                <a:cs typeface="Times New Roman"/>
              </a:rPr>
              <a:t>Procedure for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pure</a:t>
            </a:r>
            <a:r>
              <a:rPr sz="2000" i="1" spc="-7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ALOHA</a:t>
            </a:r>
            <a:r>
              <a:rPr sz="2000" i="1" spc="-8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926221" y="1556003"/>
            <a:ext cx="6087617" cy="473659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79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12.1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31373" y="1512824"/>
            <a:ext cx="8630920" cy="471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558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stations</a:t>
            </a:r>
            <a:r>
              <a:rPr sz="2800" b="1" i="1">
                <a:latin typeface="Times New Roman"/>
                <a:cs typeface="Times New Roman"/>
              </a:rPr>
              <a:t> on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a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wireless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ALOHA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network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are</a:t>
            </a:r>
            <a:r>
              <a:rPr sz="2800" b="1" i="1">
                <a:latin typeface="Times New Roman"/>
                <a:cs typeface="Times New Roman"/>
              </a:rPr>
              <a:t> a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maximum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5">
                <a:latin typeface="Times New Roman"/>
                <a:cs typeface="Times New Roman"/>
              </a:rPr>
              <a:t>600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km apart.</a:t>
            </a:r>
            <a:r>
              <a:rPr sz="2800" b="1" i="1">
                <a:latin typeface="Times New Roman"/>
                <a:cs typeface="Times New Roman"/>
              </a:rPr>
              <a:t> If </a:t>
            </a:r>
            <a:r>
              <a:rPr sz="2800" b="1" i="1" spc="-5">
                <a:latin typeface="Times New Roman"/>
                <a:cs typeface="Times New Roman"/>
              </a:rPr>
              <a:t>we assume that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signals </a:t>
            </a:r>
            <a:r>
              <a:rPr sz="2800" b="1" i="1">
                <a:latin typeface="Times New Roman"/>
                <a:cs typeface="Times New Roman"/>
              </a:rPr>
              <a:t> propagate</a:t>
            </a:r>
            <a:r>
              <a:rPr sz="2800" b="1" i="1" spc="-3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at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3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×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10</a:t>
            </a:r>
            <a:r>
              <a:rPr sz="2775" b="1" i="1" baseline="16516">
                <a:latin typeface="Times New Roman"/>
                <a:cs typeface="Times New Roman"/>
              </a:rPr>
              <a:t>8</a:t>
            </a:r>
            <a:r>
              <a:rPr sz="2775" b="1" i="1" spc="345" baseline="16516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m/s,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we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find</a:t>
            </a:r>
            <a:endParaRPr sz="2800">
              <a:latin typeface="Times New Roman"/>
              <a:cs typeface="Times New Roman"/>
            </a:endParaRPr>
          </a:p>
          <a:p>
            <a:pPr marL="2285365" algn="just">
              <a:lnSpc>
                <a:spcPct val="100000"/>
              </a:lnSpc>
            </a:pPr>
            <a:r>
              <a:rPr sz="2800" b="1" i="1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sz="2775" b="1" i="1" baseline="-9009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sz="2775" b="1" i="1" spc="-7" baseline="-9009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solidFill>
                  <a:srgbClr val="3333CC"/>
                </a:solidFill>
                <a:latin typeface="Times New Roman"/>
                <a:cs typeface="Times New Roman"/>
              </a:rPr>
              <a:t>= (600</a:t>
            </a:r>
            <a:r>
              <a:rPr sz="2800" b="1" i="1" spc="-1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solidFill>
                  <a:srgbClr val="3333CC"/>
                </a:solidFill>
                <a:latin typeface="Times New Roman"/>
                <a:cs typeface="Times New Roman"/>
              </a:rPr>
              <a:t>× 10</a:t>
            </a:r>
            <a:r>
              <a:rPr sz="2775" b="1" i="1" baseline="25525">
                <a:solidFill>
                  <a:srgbClr val="3333CC"/>
                </a:solidFill>
                <a:latin typeface="Times New Roman"/>
                <a:cs typeface="Times New Roman"/>
              </a:rPr>
              <a:t>5</a:t>
            </a:r>
            <a:r>
              <a:rPr sz="2775" b="1" i="1" spc="337" baseline="2552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solidFill>
                  <a:srgbClr val="3333CC"/>
                </a:solidFill>
                <a:latin typeface="Times New Roman"/>
                <a:cs typeface="Times New Roman"/>
              </a:rPr>
              <a:t>) /</a:t>
            </a:r>
            <a:r>
              <a:rPr sz="2800" b="1" i="1" spc="-1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solidFill>
                  <a:srgbClr val="3333CC"/>
                </a:solidFill>
                <a:latin typeface="Times New Roman"/>
                <a:cs typeface="Times New Roman"/>
              </a:rPr>
              <a:t>(3</a:t>
            </a:r>
            <a:r>
              <a:rPr sz="2800" b="1" i="1" spc="-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solidFill>
                  <a:srgbClr val="3333CC"/>
                </a:solidFill>
                <a:latin typeface="Times New Roman"/>
                <a:cs typeface="Times New Roman"/>
              </a:rPr>
              <a:t>×</a:t>
            </a:r>
            <a:r>
              <a:rPr sz="2800" b="1" i="1" spc="-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solidFill>
                  <a:srgbClr val="3333CC"/>
                </a:solidFill>
                <a:latin typeface="Times New Roman"/>
                <a:cs typeface="Times New Roman"/>
              </a:rPr>
              <a:t>10</a:t>
            </a:r>
            <a:r>
              <a:rPr sz="2775" b="1" i="1" baseline="25525">
                <a:solidFill>
                  <a:srgbClr val="3333CC"/>
                </a:solidFill>
                <a:latin typeface="Times New Roman"/>
                <a:cs typeface="Times New Roman"/>
              </a:rPr>
              <a:t>8</a:t>
            </a:r>
            <a:r>
              <a:rPr sz="2775" b="1" i="1" spc="345" baseline="2552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800" b="1" i="1" spc="-1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2800" b="1" i="1" spc="-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solidFill>
                  <a:srgbClr val="3333CC"/>
                </a:solidFill>
                <a:latin typeface="Times New Roman"/>
                <a:cs typeface="Times New Roman"/>
              </a:rPr>
              <a:t>2 </a:t>
            </a:r>
            <a:r>
              <a:rPr sz="2800" b="1" i="1" spc="-5">
                <a:solidFill>
                  <a:srgbClr val="3333CC"/>
                </a:solidFill>
                <a:latin typeface="Times New Roman"/>
                <a:cs typeface="Times New Roman"/>
              </a:rPr>
              <a:t>ms.</a:t>
            </a:r>
            <a:endParaRPr sz="2800">
              <a:latin typeface="Times New Roman"/>
              <a:cs typeface="Times New Roman"/>
            </a:endParaRPr>
          </a:p>
          <a:p>
            <a:pPr marL="63500" marR="55880" algn="just">
              <a:lnSpc>
                <a:spcPct val="100000"/>
              </a:lnSpc>
            </a:pPr>
            <a:r>
              <a:rPr sz="2800" b="1" i="1">
                <a:latin typeface="Times New Roman"/>
                <a:cs typeface="Times New Roman"/>
              </a:rPr>
              <a:t>Now </a:t>
            </a:r>
            <a:r>
              <a:rPr sz="2800" b="1" i="1" spc="-5">
                <a:latin typeface="Times New Roman"/>
                <a:cs typeface="Times New Roman"/>
              </a:rPr>
              <a:t>we can </a:t>
            </a:r>
            <a:r>
              <a:rPr sz="2800" b="1" i="1">
                <a:latin typeface="Times New Roman"/>
                <a:cs typeface="Times New Roman"/>
              </a:rPr>
              <a:t>find the </a:t>
            </a:r>
            <a:r>
              <a:rPr sz="2800" b="1" i="1" spc="-5">
                <a:latin typeface="Times New Roman"/>
                <a:cs typeface="Times New Roman"/>
              </a:rPr>
              <a:t>value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70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</a:t>
            </a:r>
            <a:r>
              <a:rPr sz="2775" b="1" i="1" baseline="-10510">
                <a:latin typeface="Times New Roman"/>
                <a:cs typeface="Times New Roman"/>
              </a:rPr>
              <a:t>B</a:t>
            </a:r>
            <a:r>
              <a:rPr sz="2775" b="1" i="1" spc="690" baseline="-105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for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10">
                <a:latin typeface="Times New Roman"/>
                <a:cs typeface="Times New Roman"/>
              </a:rPr>
              <a:t>different</a:t>
            </a:r>
            <a:r>
              <a:rPr sz="2800" b="1" i="1" spc="68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values of </a:t>
            </a:r>
            <a:r>
              <a:rPr sz="2800" b="1" i="1">
                <a:latin typeface="Times New Roman"/>
                <a:cs typeface="Times New Roman"/>
              </a:rPr>
              <a:t> K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506730" marR="55880" indent="-443865" algn="just">
              <a:lnSpc>
                <a:spcPct val="100000"/>
              </a:lnSpc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b="1" i="1">
                <a:latin typeface="Times New Roman"/>
                <a:cs typeface="Times New Roman"/>
              </a:rPr>
              <a:t>. </a:t>
            </a:r>
            <a:r>
              <a:rPr sz="2800" b="1" i="1" spc="-5">
                <a:latin typeface="Times New Roman"/>
                <a:cs typeface="Times New Roman"/>
              </a:rPr>
              <a:t>For </a:t>
            </a:r>
            <a:r>
              <a:rPr sz="2800" b="1" i="1">
                <a:latin typeface="Times New Roman"/>
                <a:cs typeface="Times New Roman"/>
              </a:rPr>
              <a:t>K = 1, the </a:t>
            </a:r>
            <a:r>
              <a:rPr sz="2800" b="1" i="1" spc="-5">
                <a:latin typeface="Times New Roman"/>
                <a:cs typeface="Times New Roman"/>
              </a:rPr>
              <a:t>range is </a:t>
            </a:r>
            <a:r>
              <a:rPr sz="2800" b="1" i="1">
                <a:latin typeface="Times New Roman"/>
                <a:cs typeface="Times New Roman"/>
              </a:rPr>
              <a:t>{0, </a:t>
            </a:r>
            <a:r>
              <a:rPr sz="2800" b="1" i="1" spc="-5">
                <a:latin typeface="Times New Roman"/>
                <a:cs typeface="Times New Roman"/>
              </a:rPr>
              <a:t>1}.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station needs to|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generate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random number with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value of </a:t>
            </a:r>
            <a:r>
              <a:rPr sz="2800" b="1" i="1">
                <a:latin typeface="Times New Roman"/>
                <a:cs typeface="Times New Roman"/>
              </a:rPr>
              <a:t>0 </a:t>
            </a:r>
            <a:r>
              <a:rPr sz="2800" b="1" i="1" spc="-5">
                <a:latin typeface="Times New Roman"/>
                <a:cs typeface="Times New Roman"/>
              </a:rPr>
              <a:t>or 1. This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means that </a:t>
            </a:r>
            <a:r>
              <a:rPr sz="2800" b="1" i="1">
                <a:latin typeface="Times New Roman"/>
                <a:cs typeface="Times New Roman"/>
              </a:rPr>
              <a:t>T</a:t>
            </a:r>
            <a:r>
              <a:rPr sz="2775" b="1" i="1" baseline="-10510">
                <a:latin typeface="Times New Roman"/>
                <a:cs typeface="Times New Roman"/>
              </a:rPr>
              <a:t>B</a:t>
            </a:r>
            <a:r>
              <a:rPr sz="2775" b="1" i="1" spc="7" baseline="-105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is </a:t>
            </a:r>
            <a:r>
              <a:rPr sz="2800" b="1" i="1" spc="-5">
                <a:latin typeface="Times New Roman"/>
                <a:cs typeface="Times New Roman"/>
              </a:rPr>
              <a:t>either </a:t>
            </a:r>
            <a:r>
              <a:rPr sz="2800" b="1" i="1">
                <a:latin typeface="Times New Roman"/>
                <a:cs typeface="Times New Roman"/>
              </a:rPr>
              <a:t>0 </a:t>
            </a:r>
            <a:r>
              <a:rPr sz="2800" b="1" i="1" spc="-5">
                <a:latin typeface="Times New Roman"/>
                <a:cs typeface="Times New Roman"/>
              </a:rPr>
              <a:t>ms </a:t>
            </a:r>
            <a:r>
              <a:rPr sz="2800" b="1" i="1">
                <a:latin typeface="Times New Roman"/>
                <a:cs typeface="Times New Roman"/>
              </a:rPr>
              <a:t>(0 × 2) </a:t>
            </a:r>
            <a:r>
              <a:rPr sz="2800" b="1" i="1" spc="-5">
                <a:latin typeface="Times New Roman"/>
                <a:cs typeface="Times New Roman"/>
              </a:rPr>
              <a:t>or </a:t>
            </a:r>
            <a:r>
              <a:rPr sz="2800" b="1" i="1">
                <a:latin typeface="Times New Roman"/>
                <a:cs typeface="Times New Roman"/>
              </a:rPr>
              <a:t>2 </a:t>
            </a:r>
            <a:r>
              <a:rPr sz="2800" b="1" i="1" spc="-5">
                <a:latin typeface="Times New Roman"/>
                <a:cs typeface="Times New Roman"/>
              </a:rPr>
              <a:t>ms (1 </a:t>
            </a:r>
            <a:r>
              <a:rPr sz="2800" b="1" i="1">
                <a:latin typeface="Times New Roman"/>
                <a:cs typeface="Times New Roman"/>
              </a:rPr>
              <a:t>× </a:t>
            </a:r>
            <a:r>
              <a:rPr sz="2800" b="1" i="1" spc="-5">
                <a:latin typeface="Times New Roman"/>
                <a:cs typeface="Times New Roman"/>
              </a:rPr>
              <a:t>2), </a:t>
            </a:r>
            <a:r>
              <a:rPr sz="2800" b="1" i="1">
                <a:latin typeface="Times New Roman"/>
                <a:cs typeface="Times New Roman"/>
              </a:rPr>
              <a:t> based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on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outcome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random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variable.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80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707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12.1</a:t>
            </a:r>
            <a:r>
              <a:rPr i="1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31373" y="1512824"/>
            <a:ext cx="8630920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marR="55880" indent="-353060" algn="just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b. </a:t>
            </a:r>
            <a:r>
              <a:rPr sz="2800" b="1" i="1" spc="-5">
                <a:latin typeface="Times New Roman"/>
                <a:cs typeface="Times New Roman"/>
              </a:rPr>
              <a:t>For </a:t>
            </a:r>
            <a:r>
              <a:rPr sz="2800" b="1" i="1">
                <a:latin typeface="Times New Roman"/>
                <a:cs typeface="Times New Roman"/>
              </a:rPr>
              <a:t>K = 2, </a:t>
            </a:r>
            <a:r>
              <a:rPr sz="2800" b="1" i="1" spc="-5">
                <a:latin typeface="Times New Roman"/>
                <a:cs typeface="Times New Roman"/>
              </a:rPr>
              <a:t>the range is {0, </a:t>
            </a:r>
            <a:r>
              <a:rPr sz="2800" b="1" i="1">
                <a:latin typeface="Times New Roman"/>
                <a:cs typeface="Times New Roman"/>
              </a:rPr>
              <a:t>1, 2, 3}. </a:t>
            </a:r>
            <a:r>
              <a:rPr sz="2800" b="1" i="1" spc="-5">
                <a:latin typeface="Times New Roman"/>
                <a:cs typeface="Times New Roman"/>
              </a:rPr>
              <a:t>This means that </a:t>
            </a:r>
            <a:r>
              <a:rPr sz="2800" b="1" i="1">
                <a:latin typeface="Times New Roman"/>
                <a:cs typeface="Times New Roman"/>
              </a:rPr>
              <a:t>T</a:t>
            </a:r>
            <a:r>
              <a:rPr sz="2775" b="1" i="1" baseline="-10510">
                <a:latin typeface="Times New Roman"/>
                <a:cs typeface="Times New Roman"/>
              </a:rPr>
              <a:t>B </a:t>
            </a:r>
            <a:r>
              <a:rPr sz="2775" b="1" i="1" spc="7" baseline="-105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can </a:t>
            </a:r>
            <a:r>
              <a:rPr sz="2800" b="1" i="1">
                <a:latin typeface="Times New Roman"/>
                <a:cs typeface="Times New Roman"/>
              </a:rPr>
              <a:t>be 0, 2, 4, or 6 </a:t>
            </a:r>
            <a:r>
              <a:rPr sz="2800" b="1" i="1" spc="-5">
                <a:latin typeface="Times New Roman"/>
                <a:cs typeface="Times New Roman"/>
              </a:rPr>
              <a:t>ms, based </a:t>
            </a:r>
            <a:r>
              <a:rPr sz="2800" b="1" i="1">
                <a:latin typeface="Times New Roman"/>
                <a:cs typeface="Times New Roman"/>
              </a:rPr>
              <a:t>on </a:t>
            </a:r>
            <a:r>
              <a:rPr sz="2800" b="1" i="1" spc="-5">
                <a:latin typeface="Times New Roman"/>
                <a:cs typeface="Times New Roman"/>
              </a:rPr>
              <a:t>the outcome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5">
                <a:latin typeface="Times New Roman"/>
                <a:cs typeface="Times New Roman"/>
              </a:rPr>
              <a:t>the </a:t>
            </a:r>
            <a:r>
              <a:rPr sz="2800" b="1" i="1">
                <a:latin typeface="Times New Roman"/>
                <a:cs typeface="Times New Roman"/>
              </a:rPr>
              <a:t> random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variable.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506730" marR="55880" indent="-443865" algn="just">
              <a:lnSpc>
                <a:spcPct val="100000"/>
              </a:lnSpc>
            </a:pP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c.</a:t>
            </a:r>
            <a:r>
              <a:rPr sz="2800" b="1" i="1" spc="48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For</a:t>
            </a:r>
            <a:r>
              <a:rPr sz="2800" b="1" i="1" spc="48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K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=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3,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48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range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is</a:t>
            </a:r>
            <a:r>
              <a:rPr sz="2800" b="1" i="1" spc="47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{0,</a:t>
            </a:r>
            <a:r>
              <a:rPr sz="2800" b="1" i="1" spc="48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1,</a:t>
            </a:r>
            <a:r>
              <a:rPr sz="2800" b="1" i="1" spc="49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2,</a:t>
            </a:r>
            <a:r>
              <a:rPr sz="2800" b="1" i="1" spc="47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3,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4,</a:t>
            </a:r>
            <a:r>
              <a:rPr sz="2800" b="1" i="1" spc="48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5,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6,</a:t>
            </a:r>
            <a:r>
              <a:rPr sz="2800" b="1" i="1" spc="49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7}.</a:t>
            </a:r>
            <a:r>
              <a:rPr sz="2800" b="1" i="1" spc="48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This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means that </a:t>
            </a:r>
            <a:r>
              <a:rPr sz="2800" b="1" i="1" spc="5">
                <a:latin typeface="Times New Roman"/>
                <a:cs typeface="Times New Roman"/>
              </a:rPr>
              <a:t>T</a:t>
            </a:r>
            <a:r>
              <a:rPr sz="2775" b="1" i="1" spc="7" baseline="-10510">
                <a:latin typeface="Times New Roman"/>
                <a:cs typeface="Times New Roman"/>
              </a:rPr>
              <a:t>B </a:t>
            </a:r>
            <a:r>
              <a:rPr sz="2800" b="1" i="1">
                <a:latin typeface="Times New Roman"/>
                <a:cs typeface="Times New Roman"/>
              </a:rPr>
              <a:t>can </a:t>
            </a:r>
            <a:r>
              <a:rPr sz="2800" b="1" i="1" spc="-5">
                <a:latin typeface="Times New Roman"/>
                <a:cs typeface="Times New Roman"/>
              </a:rPr>
              <a:t>be </a:t>
            </a:r>
            <a:r>
              <a:rPr sz="2800" b="1" i="1">
                <a:latin typeface="Times New Roman"/>
                <a:cs typeface="Times New Roman"/>
              </a:rPr>
              <a:t>0, 2, 4, . . . , 14 </a:t>
            </a:r>
            <a:r>
              <a:rPr sz="2800" b="1" i="1" spc="-5">
                <a:latin typeface="Times New Roman"/>
                <a:cs typeface="Times New Roman"/>
              </a:rPr>
              <a:t>ms, based on the </a:t>
            </a:r>
            <a:r>
              <a:rPr sz="2800" b="1" i="1">
                <a:latin typeface="Times New Roman"/>
                <a:cs typeface="Times New Roman"/>
              </a:rPr>
              <a:t> outcome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random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variable.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506730" marR="57150" indent="-443865" algn="just">
              <a:lnSpc>
                <a:spcPct val="100000"/>
              </a:lnSpc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d. </a:t>
            </a:r>
            <a:r>
              <a:rPr sz="2800" b="1" i="1" spc="-110">
                <a:latin typeface="Times New Roman"/>
                <a:cs typeface="Times New Roman"/>
              </a:rPr>
              <a:t>We </a:t>
            </a:r>
            <a:r>
              <a:rPr sz="2800" b="1" i="1" spc="-5">
                <a:latin typeface="Times New Roman"/>
                <a:cs typeface="Times New Roman"/>
              </a:rPr>
              <a:t>need to mention that if </a:t>
            </a:r>
            <a:r>
              <a:rPr sz="2800" b="1" i="1">
                <a:latin typeface="Times New Roman"/>
                <a:cs typeface="Times New Roman"/>
              </a:rPr>
              <a:t>K &gt; </a:t>
            </a:r>
            <a:r>
              <a:rPr sz="2800" b="1" i="1" spc="-5">
                <a:latin typeface="Times New Roman"/>
                <a:cs typeface="Times New Roman"/>
              </a:rPr>
              <a:t>10, it is normally set to </a:t>
            </a:r>
            <a:r>
              <a:rPr sz="2800" b="1" i="1">
                <a:latin typeface="Times New Roman"/>
                <a:cs typeface="Times New Roman"/>
              </a:rPr>
              <a:t> 10.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81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071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12.5	</a:t>
            </a:r>
            <a:r>
              <a:rPr sz="2000" i="1" spc="-15">
                <a:latin typeface="Times New Roman"/>
                <a:cs typeface="Times New Roman"/>
              </a:rPr>
              <a:t>Vulnerable </a:t>
            </a:r>
            <a:r>
              <a:rPr sz="2000" i="1" spc="-5">
                <a:latin typeface="Times New Roman"/>
                <a:cs typeface="Times New Roman"/>
              </a:rPr>
              <a:t>time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pure</a:t>
            </a:r>
            <a:r>
              <a:rPr sz="2000" i="1" spc="-7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ALOHA</a:t>
            </a:r>
            <a:r>
              <a:rPr sz="2000" i="1" spc="-8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82965" y="1725929"/>
            <a:ext cx="6992873" cy="449046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spc="-5">
                <a:solidFill>
                  <a:srgbClr val="1B1B1B"/>
                </a:solidFill>
                <a:latin typeface="Arial"/>
                <a:cs typeface="Arial"/>
              </a:rPr>
              <a:t>82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12.2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7873" y="1512824"/>
            <a:ext cx="8757285" cy="426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 marR="120014" algn="just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pure ALOHA network transmits 200-bit frames on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shared channel of 200 kbps. What is the requirement to </a:t>
            </a:r>
            <a:r>
              <a:rPr sz="2800" b="1" i="1">
                <a:latin typeface="Times New Roman"/>
                <a:cs typeface="Times New Roman"/>
              </a:rPr>
              <a:t> make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this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collision-free?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 marR="43180" algn="just">
              <a:lnSpc>
                <a:spcPct val="100000"/>
              </a:lnSpc>
            </a:pPr>
            <a:r>
              <a:rPr sz="2800" b="1" i="1" spc="-35">
                <a:latin typeface="Times New Roman"/>
                <a:cs typeface="Times New Roman"/>
              </a:rPr>
              <a:t>Average </a:t>
            </a:r>
            <a:r>
              <a:rPr sz="2800" b="1" i="1" spc="-5">
                <a:latin typeface="Times New Roman"/>
                <a:cs typeface="Times New Roman"/>
              </a:rPr>
              <a:t>frame transmission time </a:t>
            </a:r>
            <a:r>
              <a:rPr sz="2800" b="1" i="1">
                <a:latin typeface="Times New Roman"/>
                <a:cs typeface="Times New Roman"/>
              </a:rPr>
              <a:t>T</a:t>
            </a:r>
            <a:r>
              <a:rPr sz="2775" b="1" i="1" baseline="-10510">
                <a:latin typeface="Times New Roman"/>
                <a:cs typeface="Times New Roman"/>
              </a:rPr>
              <a:t>fr </a:t>
            </a:r>
            <a:r>
              <a:rPr sz="2800" b="1" i="1">
                <a:latin typeface="Times New Roman"/>
                <a:cs typeface="Times New Roman"/>
              </a:rPr>
              <a:t>is 200 </a:t>
            </a:r>
            <a:r>
              <a:rPr sz="2800" b="1" i="1" spc="-5">
                <a:latin typeface="Times New Roman"/>
                <a:cs typeface="Times New Roman"/>
              </a:rPr>
              <a:t>bits/200 kbps or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-5">
                <a:latin typeface="Times New Roman"/>
                <a:cs typeface="Times New Roman"/>
              </a:rPr>
              <a:t>ms. The vulnerable time is</a:t>
            </a:r>
            <a:r>
              <a:rPr sz="2800" b="1" i="1">
                <a:latin typeface="Times New Roman"/>
                <a:cs typeface="Times New Roman"/>
              </a:rPr>
              <a:t> 2 × 1 </a:t>
            </a:r>
            <a:r>
              <a:rPr sz="2800" b="1" i="1" spc="-5">
                <a:latin typeface="Times New Roman"/>
                <a:cs typeface="Times New Roman"/>
              </a:rPr>
              <a:t>ms </a:t>
            </a:r>
            <a:r>
              <a:rPr sz="2800" b="1" i="1">
                <a:latin typeface="Times New Roman"/>
                <a:cs typeface="Times New Roman"/>
              </a:rPr>
              <a:t>= 2 </a:t>
            </a:r>
            <a:r>
              <a:rPr sz="2800" b="1" i="1" spc="-5">
                <a:latin typeface="Times New Roman"/>
                <a:cs typeface="Times New Roman"/>
              </a:rPr>
              <a:t>ms. This means </a:t>
            </a:r>
            <a:r>
              <a:rPr sz="2800" b="1" i="1">
                <a:latin typeface="Times New Roman"/>
                <a:cs typeface="Times New Roman"/>
              </a:rPr>
              <a:t> no </a:t>
            </a:r>
            <a:r>
              <a:rPr sz="2800" b="1" i="1" spc="-5">
                <a:latin typeface="Times New Roman"/>
                <a:cs typeface="Times New Roman"/>
              </a:rPr>
              <a:t>station </a:t>
            </a:r>
            <a:r>
              <a:rPr sz="2800" b="1" i="1">
                <a:latin typeface="Times New Roman"/>
                <a:cs typeface="Times New Roman"/>
              </a:rPr>
              <a:t>should </a:t>
            </a:r>
            <a:r>
              <a:rPr sz="2800" b="1" i="1" spc="-5">
                <a:latin typeface="Times New Roman"/>
                <a:cs typeface="Times New Roman"/>
              </a:rPr>
              <a:t>send later </a:t>
            </a:r>
            <a:r>
              <a:rPr sz="2800" b="1" i="1">
                <a:latin typeface="Times New Roman"/>
                <a:cs typeface="Times New Roman"/>
              </a:rPr>
              <a:t>than 1 </a:t>
            </a:r>
            <a:r>
              <a:rPr sz="2800" b="1" i="1" spc="-5">
                <a:latin typeface="Times New Roman"/>
                <a:cs typeface="Times New Roman"/>
              </a:rPr>
              <a:t>ms before this station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starts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transmission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no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station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should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start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sending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during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one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1-ms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period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that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this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station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is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sending.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83</a:t>
            </a:fld>
            <a:endParaRPr spc="-5"/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728345" marR="721360" algn="ctr">
              <a:lnSpc>
                <a:spcPct val="100000"/>
              </a:lnSpc>
              <a:spcBef>
                <a:spcPts val="275"/>
              </a:spcBef>
              <a:tabLst>
                <a:tab pos="3249295" algn="l"/>
              </a:tabLst>
            </a:pPr>
            <a:r>
              <a:rPr sz="3200" b="1" spc="-5">
                <a:latin typeface="Arial"/>
                <a:cs typeface="Arial"/>
              </a:rPr>
              <a:t>The</a:t>
            </a:r>
            <a:r>
              <a:rPr sz="3200" b="1" spc="-25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throughput</a:t>
            </a:r>
            <a:r>
              <a:rPr sz="3200" b="1" spc="-2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for</a:t>
            </a:r>
            <a:r>
              <a:rPr sz="3200" b="1" spc="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pure</a:t>
            </a:r>
            <a:r>
              <a:rPr sz="3200" b="1" spc="-130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ALOHA</a:t>
            </a:r>
            <a:r>
              <a:rPr sz="3200" b="1" spc="-12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is </a:t>
            </a:r>
            <a:r>
              <a:rPr sz="3200" b="1" spc="-875">
                <a:latin typeface="Arial"/>
                <a:cs typeface="Arial"/>
              </a:rPr>
              <a:t> </a:t>
            </a:r>
            <a:r>
              <a:rPr sz="3200" b="1" spc="-5">
                <a:solidFill>
                  <a:srgbClr val="FF0000"/>
                </a:solidFill>
                <a:latin typeface="Arial"/>
                <a:cs typeface="Arial"/>
              </a:rPr>
              <a:t>S =</a:t>
            </a:r>
            <a:r>
              <a:rPr sz="3200" b="1" spc="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5">
                <a:solidFill>
                  <a:srgbClr val="FF0000"/>
                </a:solidFill>
                <a:latin typeface="Arial"/>
                <a:cs typeface="Arial"/>
              </a:rPr>
              <a:t>G</a:t>
            </a:r>
            <a:r>
              <a:rPr sz="3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5">
                <a:solidFill>
                  <a:srgbClr val="FF0000"/>
                </a:solidFill>
                <a:latin typeface="Arial"/>
                <a:cs typeface="Arial"/>
              </a:rPr>
              <a:t>×</a:t>
            </a:r>
            <a:r>
              <a:rPr sz="3200" b="1" spc="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5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3200" b="1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spc="30" baseline="25132">
                <a:solidFill>
                  <a:srgbClr val="FF0000"/>
                </a:solidFill>
                <a:latin typeface="Arial"/>
                <a:cs typeface="Arial"/>
              </a:rPr>
              <a:t>−2G	</a:t>
            </a:r>
            <a:r>
              <a:rPr sz="3200" b="1" spc="-5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marL="1454150" marR="1445895" indent="-1270" algn="ctr">
              <a:lnSpc>
                <a:spcPct val="100000"/>
              </a:lnSpc>
            </a:pPr>
            <a:r>
              <a:rPr sz="3200" b="1" spc="-5">
                <a:latin typeface="Arial"/>
                <a:cs typeface="Arial"/>
              </a:rPr>
              <a:t>The </a:t>
            </a:r>
            <a:r>
              <a:rPr sz="3200" b="1" spc="-10">
                <a:latin typeface="Arial"/>
                <a:cs typeface="Arial"/>
              </a:rPr>
              <a:t>maximum </a:t>
            </a:r>
            <a:r>
              <a:rPr sz="3200" b="1" spc="-5">
                <a:latin typeface="Arial"/>
                <a:cs typeface="Arial"/>
              </a:rPr>
              <a:t>throughput </a:t>
            </a:r>
            <a:r>
              <a:rPr sz="3200" b="1">
                <a:latin typeface="Arial"/>
                <a:cs typeface="Arial"/>
              </a:rPr>
              <a:t> </a:t>
            </a:r>
            <a:r>
              <a:rPr sz="3200" b="1" spc="15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150" b="1" spc="22" baseline="-14550">
                <a:solidFill>
                  <a:srgbClr val="FF0000"/>
                </a:solidFill>
                <a:latin typeface="Arial"/>
                <a:cs typeface="Arial"/>
              </a:rPr>
              <a:t>max</a:t>
            </a:r>
            <a:r>
              <a:rPr sz="3150" b="1" spc="434" baseline="-1455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5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3200" b="1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5">
                <a:solidFill>
                  <a:srgbClr val="FF0000"/>
                </a:solidFill>
                <a:latin typeface="Arial"/>
                <a:cs typeface="Arial"/>
              </a:rPr>
              <a:t>0.184</a:t>
            </a:r>
            <a:r>
              <a:rPr sz="3200" b="1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when</a:t>
            </a:r>
            <a:r>
              <a:rPr sz="3200" b="1" spc="-2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G=</a:t>
            </a:r>
            <a:r>
              <a:rPr sz="3200" b="1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(1/2).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52638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84</a:t>
            </a:fld>
            <a:endParaRPr spc="-5"/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3439" y="1187195"/>
            <a:ext cx="8686800" cy="19050"/>
          </a:xfrm>
          <a:custGeom>
            <a:avLst/>
            <a:gdLst/>
            <a:ahLst/>
            <a:cxnLst/>
            <a:rect l="l" t="t" r="r" b="b"/>
            <a:pathLst>
              <a:path w="8686800" h="19050">
                <a:moveTo>
                  <a:pt x="8686800" y="19050"/>
                </a:moveTo>
                <a:lnTo>
                  <a:pt x="8686800" y="0"/>
                </a:lnTo>
                <a:lnTo>
                  <a:pt x="0" y="0"/>
                </a:lnTo>
                <a:lnTo>
                  <a:pt x="0" y="19050"/>
                </a:lnTo>
                <a:lnTo>
                  <a:pt x="8686800" y="190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12.3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4839" y="1206246"/>
            <a:ext cx="9144000" cy="1714500"/>
            <a:chOff x="774839" y="1206246"/>
            <a:chExt cx="9144000" cy="1714500"/>
          </a:xfrm>
        </p:grpSpPr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1962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75075" y="1206246"/>
              <a:ext cx="536796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4839" y="1206258"/>
              <a:ext cx="9144000" cy="1714500"/>
            </a:xfrm>
            <a:custGeom>
              <a:avLst/>
              <a:gdLst/>
              <a:ahLst/>
              <a:cxnLst/>
              <a:rect l="l" t="t" r="r" b="b"/>
              <a:pathLst>
                <a:path w="9144000" h="1714500">
                  <a:moveTo>
                    <a:pt x="9144000" y="856488"/>
                  </a:moveTo>
                  <a:lnTo>
                    <a:pt x="8915400" y="856488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856488"/>
                  </a:lnTo>
                  <a:lnTo>
                    <a:pt x="0" y="856488"/>
                  </a:lnTo>
                  <a:lnTo>
                    <a:pt x="0" y="1714500"/>
                  </a:lnTo>
                  <a:lnTo>
                    <a:pt x="9144000" y="1714500"/>
                  </a:lnTo>
                  <a:lnTo>
                    <a:pt x="9144000" y="856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208024"/>
            <a:ext cx="852805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pure ALOHA network transmits 200-bit frames on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shared channel </a:t>
            </a:r>
            <a:r>
              <a:rPr sz="2800" b="1" i="1" spc="5">
                <a:latin typeface="Times New Roman"/>
                <a:cs typeface="Times New Roman"/>
              </a:rPr>
              <a:t>of </a:t>
            </a:r>
            <a:r>
              <a:rPr sz="2800" b="1" i="1">
                <a:latin typeface="Times New Roman"/>
                <a:cs typeface="Times New Roman"/>
              </a:rPr>
              <a:t>200 </a:t>
            </a:r>
            <a:r>
              <a:rPr sz="2800" b="1" i="1" spc="-5">
                <a:latin typeface="Times New Roman"/>
                <a:cs typeface="Times New Roman"/>
              </a:rPr>
              <a:t>kbps. What is the throughput </a:t>
            </a:r>
            <a:r>
              <a:rPr sz="2800" b="1" i="1">
                <a:latin typeface="Times New Roman"/>
                <a:cs typeface="Times New Roman"/>
              </a:rPr>
              <a:t>if </a:t>
            </a:r>
            <a:r>
              <a:rPr sz="2800" b="1" i="1" spc="-5">
                <a:latin typeface="Times New Roman"/>
                <a:cs typeface="Times New Roman"/>
              </a:rPr>
              <a:t>the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system</a:t>
            </a:r>
            <a:r>
              <a:rPr sz="2800" b="1" i="1" spc="-3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(all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stations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together)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produces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6398" y="2488183"/>
            <a:ext cx="36703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sz="2800" b="1" i="1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500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frames</a:t>
            </a:r>
            <a:r>
              <a:rPr sz="2800" b="1" i="1" spc="-4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per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second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291998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19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82173" y="2488168"/>
            <a:ext cx="3847465" cy="153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a.</a:t>
            </a:r>
            <a:r>
              <a:rPr sz="2800" b="1" i="1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1000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frames</a:t>
            </a:r>
            <a:r>
              <a:rPr sz="2800" b="1" i="1" spc="-4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per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second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c.</a:t>
            </a:r>
            <a:r>
              <a:rPr sz="2800" b="1" i="1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250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frames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per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second.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19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44073" y="3996944"/>
            <a:ext cx="860679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algn="just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transmission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time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is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200/200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kbps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or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ms.</a:t>
            </a:r>
            <a:endParaRPr sz="2800">
              <a:latin typeface="Times New Roman"/>
              <a:cs typeface="Times New Roman"/>
            </a:endParaRPr>
          </a:p>
          <a:p>
            <a:pPr marL="405765" marR="43180" indent="-355600" algn="just">
              <a:lnSpc>
                <a:spcPct val="100000"/>
              </a:lnSpc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a. </a:t>
            </a:r>
            <a:r>
              <a:rPr sz="2800" b="1" i="1">
                <a:latin typeface="Times New Roman"/>
                <a:cs typeface="Times New Roman"/>
              </a:rPr>
              <a:t>If the </a:t>
            </a:r>
            <a:r>
              <a:rPr sz="2800" b="1" i="1" spc="-5">
                <a:latin typeface="Times New Roman"/>
                <a:cs typeface="Times New Roman"/>
              </a:rPr>
              <a:t>system creates 1000 frames per second, this is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</a:t>
            </a:r>
            <a:r>
              <a:rPr sz="2800" b="1" i="1" spc="2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per</a:t>
            </a:r>
            <a:r>
              <a:rPr sz="2800" b="1" i="1" spc="89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millisecond.</a:t>
            </a:r>
            <a:r>
              <a:rPr sz="2800" b="1" i="1" spc="9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8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load</a:t>
            </a:r>
            <a:r>
              <a:rPr sz="2800" b="1" i="1" spc="89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 spc="8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1.</a:t>
            </a:r>
            <a:r>
              <a:rPr sz="2800" b="1" i="1" spc="89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In</a:t>
            </a:r>
            <a:r>
              <a:rPr sz="2800" b="1" i="1" spc="89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this</a:t>
            </a:r>
            <a:r>
              <a:rPr sz="2800" b="1" i="1" spc="9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case </a:t>
            </a:r>
            <a:r>
              <a:rPr sz="2800" b="1" i="1" spc="-69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 = </a:t>
            </a:r>
            <a:r>
              <a:rPr sz="2800" b="1" i="1" spc="-5">
                <a:latin typeface="Times New Roman"/>
                <a:cs typeface="Times New Roman"/>
              </a:rPr>
              <a:t>G× </a:t>
            </a:r>
            <a:r>
              <a:rPr sz="2800" b="1" i="1">
                <a:latin typeface="Times New Roman"/>
                <a:cs typeface="Times New Roman"/>
              </a:rPr>
              <a:t>e</a:t>
            </a:r>
            <a:r>
              <a:rPr sz="2775" b="1" i="1" baseline="25525">
                <a:latin typeface="Times New Roman"/>
                <a:cs typeface="Times New Roman"/>
              </a:rPr>
              <a:t>−2 </a:t>
            </a:r>
            <a:r>
              <a:rPr sz="2775" b="1" i="1" spc="15" baseline="25525">
                <a:latin typeface="Times New Roman"/>
                <a:cs typeface="Times New Roman"/>
              </a:rPr>
              <a:t>G</a:t>
            </a:r>
            <a:r>
              <a:rPr sz="2775" b="1" i="1" spc="22" baseline="255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or </a:t>
            </a:r>
            <a:r>
              <a:rPr sz="2800" b="1" i="1">
                <a:latin typeface="Times New Roman"/>
                <a:cs typeface="Times New Roman"/>
              </a:rPr>
              <a:t>S = </a:t>
            </a:r>
            <a:r>
              <a:rPr sz="2800" b="1" i="1" spc="-5">
                <a:latin typeface="Times New Roman"/>
                <a:cs typeface="Times New Roman"/>
              </a:rPr>
              <a:t>0.135 (13.5 percent). </a:t>
            </a:r>
            <a:r>
              <a:rPr sz="2800" b="1" i="1">
                <a:latin typeface="Times New Roman"/>
                <a:cs typeface="Times New Roman"/>
              </a:rPr>
              <a:t>This </a:t>
            </a:r>
            <a:r>
              <a:rPr sz="2800" b="1" i="1" spc="-5">
                <a:latin typeface="Times New Roman"/>
                <a:cs typeface="Times New Roman"/>
              </a:rPr>
              <a:t>means </a:t>
            </a:r>
            <a:r>
              <a:rPr sz="2800" b="1" i="1">
                <a:latin typeface="Times New Roman"/>
                <a:cs typeface="Times New Roman"/>
              </a:rPr>
              <a:t> that the </a:t>
            </a:r>
            <a:r>
              <a:rPr sz="2800" b="1" i="1" spc="-5">
                <a:latin typeface="Times New Roman"/>
                <a:cs typeface="Times New Roman"/>
              </a:rPr>
              <a:t>throughput is 1000 </a:t>
            </a:r>
            <a:r>
              <a:rPr sz="2800" b="1" i="1">
                <a:latin typeface="Times New Roman"/>
                <a:cs typeface="Times New Roman"/>
              </a:rPr>
              <a:t>× </a:t>
            </a:r>
            <a:r>
              <a:rPr sz="2800" b="1" i="1" spc="-5">
                <a:latin typeface="Times New Roman"/>
                <a:cs typeface="Times New Roman"/>
              </a:rPr>
              <a:t>0.135 </a:t>
            </a:r>
            <a:r>
              <a:rPr sz="2800" b="1" i="1">
                <a:latin typeface="Times New Roman"/>
                <a:cs typeface="Times New Roman"/>
              </a:rPr>
              <a:t>= </a:t>
            </a:r>
            <a:r>
              <a:rPr sz="2800" b="1" i="1" spc="-5">
                <a:latin typeface="Times New Roman"/>
                <a:cs typeface="Times New Roman"/>
              </a:rPr>
              <a:t>135 frames. Only </a:t>
            </a:r>
            <a:r>
              <a:rPr sz="2800" b="1" i="1">
                <a:latin typeface="Times New Roman"/>
                <a:cs typeface="Times New Roman"/>
              </a:rPr>
              <a:t> 135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frames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out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1000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will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probably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85</a:t>
            </a:fld>
            <a:endParaRPr spc="-5"/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707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12.3</a:t>
            </a:r>
            <a:r>
              <a:rPr i="1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4839" y="1187196"/>
            <a:ext cx="9144000" cy="2590800"/>
            <a:chOff x="774839" y="1187196"/>
            <a:chExt cx="9144000" cy="2590800"/>
          </a:xfrm>
        </p:grpSpPr>
        <p:sp>
          <p:nvSpPr>
            <p:cNvPr id="4" name="object 4"/>
            <p:cNvSpPr/>
            <p:nvPr/>
          </p:nvSpPr>
          <p:spPr>
            <a:xfrm>
              <a:off x="1003439" y="1187196"/>
              <a:ext cx="8686800" cy="19050"/>
            </a:xfrm>
            <a:custGeom>
              <a:avLst/>
              <a:gdLst/>
              <a:ahLst/>
              <a:cxnLst/>
              <a:rect l="l" t="t" r="r" b="b"/>
              <a:pathLst>
                <a:path w="8686800" h="19050">
                  <a:moveTo>
                    <a:pt x="8686800" y="19050"/>
                  </a:moveTo>
                  <a:lnTo>
                    <a:pt x="86868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68680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1962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75075" y="1206246"/>
              <a:ext cx="536796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4839" y="1206258"/>
              <a:ext cx="9144000" cy="2571750"/>
            </a:xfrm>
            <a:custGeom>
              <a:avLst/>
              <a:gdLst/>
              <a:ahLst/>
              <a:cxnLst/>
              <a:rect l="l" t="t" r="r" b="b"/>
              <a:pathLst>
                <a:path w="9144000" h="2571750">
                  <a:moveTo>
                    <a:pt x="9144000" y="856488"/>
                  </a:moveTo>
                  <a:lnTo>
                    <a:pt x="8915400" y="856488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856488"/>
                  </a:lnTo>
                  <a:lnTo>
                    <a:pt x="0" y="856488"/>
                  </a:lnTo>
                  <a:lnTo>
                    <a:pt x="0" y="1713738"/>
                  </a:lnTo>
                  <a:lnTo>
                    <a:pt x="0" y="1714500"/>
                  </a:lnTo>
                  <a:lnTo>
                    <a:pt x="0" y="2571750"/>
                  </a:lnTo>
                  <a:lnTo>
                    <a:pt x="9144000" y="2571750"/>
                  </a:lnTo>
                  <a:lnTo>
                    <a:pt x="9144000" y="1714500"/>
                  </a:lnTo>
                  <a:lnTo>
                    <a:pt x="9144000" y="1713738"/>
                  </a:lnTo>
                  <a:lnTo>
                    <a:pt x="9144000" y="856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18673" y="1208024"/>
            <a:ext cx="8655685" cy="557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68580" indent="-355600" algn="just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sz="2800" b="1" i="1" spc="59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If</a:t>
            </a:r>
            <a:r>
              <a:rPr sz="2800" b="1" i="1" spc="6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59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system</a:t>
            </a:r>
            <a:r>
              <a:rPr sz="2800" b="1" i="1" spc="6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creates</a:t>
            </a:r>
            <a:r>
              <a:rPr sz="2800" b="1" i="1" spc="59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500</a:t>
            </a:r>
            <a:r>
              <a:rPr sz="2800" b="1" i="1" spc="6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frames</a:t>
            </a:r>
            <a:r>
              <a:rPr sz="2800" b="1" i="1" spc="6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per</a:t>
            </a:r>
            <a:r>
              <a:rPr sz="2800" b="1" i="1" spc="59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second,</a:t>
            </a:r>
            <a:r>
              <a:rPr sz="2800" b="1" i="1" spc="6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this</a:t>
            </a:r>
            <a:r>
              <a:rPr sz="2800" b="1" i="1" spc="59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(1/2) frame per millisecond. The load is (1/2). In this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case </a:t>
            </a:r>
            <a:r>
              <a:rPr sz="2800" b="1" i="1">
                <a:latin typeface="Times New Roman"/>
                <a:cs typeface="Times New Roman"/>
              </a:rPr>
              <a:t>S = G × e </a:t>
            </a:r>
            <a:r>
              <a:rPr sz="2775" b="1" i="1" spc="7" baseline="25525">
                <a:latin typeface="Times New Roman"/>
                <a:cs typeface="Times New Roman"/>
              </a:rPr>
              <a:t>−2G</a:t>
            </a:r>
            <a:r>
              <a:rPr sz="2775" b="1" i="1" spc="15" baseline="255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or </a:t>
            </a:r>
            <a:r>
              <a:rPr sz="2800" b="1" i="1">
                <a:latin typeface="Times New Roman"/>
                <a:cs typeface="Times New Roman"/>
              </a:rPr>
              <a:t>S = </a:t>
            </a:r>
            <a:r>
              <a:rPr sz="2800" b="1" i="1" spc="-5">
                <a:latin typeface="Times New Roman"/>
                <a:cs typeface="Times New Roman"/>
              </a:rPr>
              <a:t>0.184 (18.4 percent). This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means that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throughput is 500 </a:t>
            </a:r>
            <a:r>
              <a:rPr sz="2800" b="1" i="1">
                <a:latin typeface="Times New Roman"/>
                <a:cs typeface="Times New Roman"/>
              </a:rPr>
              <a:t>× </a:t>
            </a:r>
            <a:r>
              <a:rPr sz="2800" b="1" i="1" spc="-5">
                <a:latin typeface="Times New Roman"/>
                <a:cs typeface="Times New Roman"/>
              </a:rPr>
              <a:t>0.184 </a:t>
            </a:r>
            <a:r>
              <a:rPr sz="2800" b="1" i="1">
                <a:latin typeface="Times New Roman"/>
                <a:cs typeface="Times New Roman"/>
              </a:rPr>
              <a:t>= 92 and </a:t>
            </a:r>
            <a:r>
              <a:rPr sz="2800" b="1" i="1" spc="-5">
                <a:latin typeface="Times New Roman"/>
                <a:cs typeface="Times New Roman"/>
              </a:rPr>
              <a:t>that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only 92 frames out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5">
                <a:latin typeface="Times New Roman"/>
                <a:cs typeface="Times New Roman"/>
              </a:rPr>
              <a:t>500 will probably survive. Note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that</a:t>
            </a:r>
            <a:r>
              <a:rPr sz="2800" b="1" i="1">
                <a:latin typeface="Times New Roman"/>
                <a:cs typeface="Times New Roman"/>
              </a:rPr>
              <a:t> this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is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maximum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throughput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case,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percentagewise.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431165" marR="69215" indent="-355600" algn="just">
              <a:lnSpc>
                <a:spcPct val="100000"/>
              </a:lnSpc>
            </a:pP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c. </a:t>
            </a:r>
            <a:r>
              <a:rPr sz="2800" b="1" i="1" spc="-5">
                <a:latin typeface="Times New Roman"/>
                <a:cs typeface="Times New Roman"/>
              </a:rPr>
              <a:t>If the system creates 250 frames per second, this is (1/4)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 per millisecond.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load is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(1/4).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In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this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case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 = G × e </a:t>
            </a:r>
            <a:r>
              <a:rPr sz="2800" b="1" i="1" spc="5">
                <a:latin typeface="Times New Roman"/>
                <a:cs typeface="Times New Roman"/>
              </a:rPr>
              <a:t>−</a:t>
            </a:r>
            <a:r>
              <a:rPr sz="2775" b="1" i="1" spc="7" baseline="25525">
                <a:latin typeface="Times New Roman"/>
                <a:cs typeface="Times New Roman"/>
              </a:rPr>
              <a:t>2G </a:t>
            </a:r>
            <a:r>
              <a:rPr sz="2800" b="1" i="1">
                <a:latin typeface="Times New Roman"/>
                <a:cs typeface="Times New Roman"/>
              </a:rPr>
              <a:t>or S = </a:t>
            </a:r>
            <a:r>
              <a:rPr sz="2800" b="1" i="1" spc="-5">
                <a:latin typeface="Times New Roman"/>
                <a:cs typeface="Times New Roman"/>
              </a:rPr>
              <a:t>0.152 (15.2 percent). This means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that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throughput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250</a:t>
            </a:r>
            <a:r>
              <a:rPr sz="2800" b="1" i="1">
                <a:latin typeface="Times New Roman"/>
                <a:cs typeface="Times New Roman"/>
              </a:rPr>
              <a:t> ×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0.152</a:t>
            </a:r>
            <a:r>
              <a:rPr sz="2800" b="1" i="1">
                <a:latin typeface="Times New Roman"/>
                <a:cs typeface="Times New Roman"/>
              </a:rPr>
              <a:t> =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38.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Only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38 </a:t>
            </a:r>
            <a:r>
              <a:rPr sz="2800" b="1" i="1">
                <a:latin typeface="Times New Roman"/>
                <a:cs typeface="Times New Roman"/>
              </a:rPr>
              <a:t> frames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out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250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will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probably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86</a:t>
            </a:fld>
            <a:endParaRPr spc="-5"/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476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12.6	</a:t>
            </a:r>
            <a:r>
              <a:rPr sz="2000" i="1" spc="-5">
                <a:latin typeface="Times New Roman"/>
                <a:cs typeface="Times New Roman"/>
              </a:rPr>
              <a:t>Frames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slotted</a:t>
            </a:r>
            <a:r>
              <a:rPr sz="2000" i="1" spc="-9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ALOHA</a:t>
            </a:r>
            <a:r>
              <a:rPr sz="2000" i="1" spc="-9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36967" y="1783079"/>
            <a:ext cx="8500871" cy="39761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87</a:t>
            </a:fld>
            <a:endParaRPr spc="-5"/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504190" marR="497205" algn="ctr">
              <a:lnSpc>
                <a:spcPct val="100000"/>
              </a:lnSpc>
              <a:spcBef>
                <a:spcPts val="275"/>
              </a:spcBef>
            </a:pPr>
            <a:r>
              <a:rPr sz="3200" b="1" spc="-5">
                <a:latin typeface="Arial"/>
                <a:cs typeface="Arial"/>
              </a:rPr>
              <a:t>The</a:t>
            </a:r>
            <a:r>
              <a:rPr sz="3200" b="1" spc="-25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throughput</a:t>
            </a:r>
            <a:r>
              <a:rPr sz="3200" b="1" spc="-2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for</a:t>
            </a:r>
            <a:r>
              <a:rPr sz="3200" b="1" spc="10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slotted</a:t>
            </a:r>
            <a:r>
              <a:rPr sz="3200" b="1" spc="-135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ALOHA</a:t>
            </a:r>
            <a:r>
              <a:rPr sz="3200" b="1" spc="-12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is </a:t>
            </a:r>
            <a:r>
              <a:rPr sz="3200" b="1" spc="-875">
                <a:latin typeface="Arial"/>
                <a:cs typeface="Arial"/>
              </a:rPr>
              <a:t> </a:t>
            </a:r>
            <a:r>
              <a:rPr sz="3200" b="1" spc="-5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200" b="1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5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3200" b="1" spc="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5">
                <a:solidFill>
                  <a:srgbClr val="FF0000"/>
                </a:solidFill>
                <a:latin typeface="Arial"/>
                <a:cs typeface="Arial"/>
              </a:rPr>
              <a:t>G ×</a:t>
            </a:r>
            <a:r>
              <a:rPr sz="3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1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3150" b="1" spc="15" baseline="25132">
                <a:solidFill>
                  <a:srgbClr val="FF0000"/>
                </a:solidFill>
                <a:latin typeface="Arial"/>
                <a:cs typeface="Arial"/>
              </a:rPr>
              <a:t>−G</a:t>
            </a:r>
            <a:r>
              <a:rPr sz="3150" b="1" spc="457" baseline="25132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marL="1534160" marR="1527810" algn="ctr">
              <a:lnSpc>
                <a:spcPct val="100000"/>
              </a:lnSpc>
            </a:pPr>
            <a:r>
              <a:rPr sz="3200" b="1" spc="-5">
                <a:latin typeface="Arial"/>
                <a:cs typeface="Arial"/>
              </a:rPr>
              <a:t>The </a:t>
            </a:r>
            <a:r>
              <a:rPr sz="3200" b="1" spc="-10">
                <a:latin typeface="Arial"/>
                <a:cs typeface="Arial"/>
              </a:rPr>
              <a:t>maximum throughput </a:t>
            </a:r>
            <a:r>
              <a:rPr sz="3200" b="1" spc="-875">
                <a:latin typeface="Arial"/>
                <a:cs typeface="Arial"/>
              </a:rPr>
              <a:t> </a:t>
            </a:r>
            <a:r>
              <a:rPr sz="3200" b="1" spc="15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150" b="1" spc="22" baseline="-14550">
                <a:solidFill>
                  <a:srgbClr val="FF0000"/>
                </a:solidFill>
                <a:latin typeface="Arial"/>
                <a:cs typeface="Arial"/>
              </a:rPr>
              <a:t>max</a:t>
            </a:r>
            <a:r>
              <a:rPr sz="3150" b="1" spc="434" baseline="-1455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5">
                <a:solidFill>
                  <a:srgbClr val="FF0000"/>
                </a:solidFill>
                <a:latin typeface="Arial"/>
                <a:cs typeface="Arial"/>
              </a:rPr>
              <a:t>= 0.368</a:t>
            </a:r>
            <a:r>
              <a:rPr sz="3200" b="1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when</a:t>
            </a:r>
            <a:r>
              <a:rPr sz="3200" b="1" spc="-2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G</a:t>
            </a:r>
            <a:r>
              <a:rPr sz="3200" b="1" spc="-1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=</a:t>
            </a:r>
            <a:r>
              <a:rPr sz="3200" b="1" spc="5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1.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88</a:t>
            </a:fld>
            <a:endParaRPr spc="-5"/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265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12.7	</a:t>
            </a:r>
            <a:r>
              <a:rPr sz="2000" i="1" spc="-15">
                <a:latin typeface="Times New Roman"/>
                <a:cs typeface="Times New Roman"/>
              </a:rPr>
              <a:t>Vulnerable </a:t>
            </a:r>
            <a:r>
              <a:rPr sz="2000" i="1" spc="-5">
                <a:latin typeface="Times New Roman"/>
                <a:cs typeface="Times New Roman"/>
              </a:rPr>
              <a:t>time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 slotted</a:t>
            </a:r>
            <a:r>
              <a:rPr sz="2000" i="1" spc="-9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ALOHA</a:t>
            </a:r>
            <a:r>
              <a:rPr sz="2000" i="1" spc="-8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96047" y="1780032"/>
            <a:ext cx="7632192" cy="436016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89</a:t>
            </a:fld>
            <a:endParaRPr spc="-5"/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3439" y="1187195"/>
            <a:ext cx="8686800" cy="19050"/>
          </a:xfrm>
          <a:custGeom>
            <a:avLst/>
            <a:gdLst/>
            <a:ahLst/>
            <a:cxnLst/>
            <a:rect l="l" t="t" r="r" b="b"/>
            <a:pathLst>
              <a:path w="8686800" h="19050">
                <a:moveTo>
                  <a:pt x="8686800" y="19050"/>
                </a:moveTo>
                <a:lnTo>
                  <a:pt x="8686800" y="0"/>
                </a:lnTo>
                <a:lnTo>
                  <a:pt x="0" y="0"/>
                </a:lnTo>
                <a:lnTo>
                  <a:pt x="0" y="19050"/>
                </a:lnTo>
                <a:lnTo>
                  <a:pt x="8686800" y="190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12.4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4839" y="1206246"/>
            <a:ext cx="9144000" cy="1714500"/>
            <a:chOff x="774839" y="1206246"/>
            <a:chExt cx="9144000" cy="1714500"/>
          </a:xfrm>
        </p:grpSpPr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1962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75075" y="1206246"/>
              <a:ext cx="536796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4839" y="1206258"/>
              <a:ext cx="9144000" cy="1714500"/>
            </a:xfrm>
            <a:custGeom>
              <a:avLst/>
              <a:gdLst/>
              <a:ahLst/>
              <a:cxnLst/>
              <a:rect l="l" t="t" r="r" b="b"/>
              <a:pathLst>
                <a:path w="9144000" h="1714500">
                  <a:moveTo>
                    <a:pt x="9144000" y="856488"/>
                  </a:moveTo>
                  <a:lnTo>
                    <a:pt x="8915400" y="856488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856488"/>
                  </a:lnTo>
                  <a:lnTo>
                    <a:pt x="0" y="856488"/>
                  </a:lnTo>
                  <a:lnTo>
                    <a:pt x="0" y="1714500"/>
                  </a:lnTo>
                  <a:lnTo>
                    <a:pt x="9144000" y="1714500"/>
                  </a:lnTo>
                  <a:lnTo>
                    <a:pt x="9144000" y="856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208024"/>
            <a:ext cx="852805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slotted ALOHA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network transmits 200-bit frames on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shared channel </a:t>
            </a:r>
            <a:r>
              <a:rPr sz="2800" b="1" i="1" spc="5">
                <a:latin typeface="Times New Roman"/>
                <a:cs typeface="Times New Roman"/>
              </a:rPr>
              <a:t>of </a:t>
            </a:r>
            <a:r>
              <a:rPr sz="2800" b="1" i="1">
                <a:latin typeface="Times New Roman"/>
                <a:cs typeface="Times New Roman"/>
              </a:rPr>
              <a:t>200 </a:t>
            </a:r>
            <a:r>
              <a:rPr sz="2800" b="1" i="1" spc="-5">
                <a:latin typeface="Times New Roman"/>
                <a:cs typeface="Times New Roman"/>
              </a:rPr>
              <a:t>kbps. What is the throughput </a:t>
            </a:r>
            <a:r>
              <a:rPr sz="2800" b="1" i="1">
                <a:latin typeface="Times New Roman"/>
                <a:cs typeface="Times New Roman"/>
              </a:rPr>
              <a:t>if </a:t>
            </a:r>
            <a:r>
              <a:rPr sz="2800" b="1" i="1" spc="-5">
                <a:latin typeface="Times New Roman"/>
                <a:cs typeface="Times New Roman"/>
              </a:rPr>
              <a:t>the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system</a:t>
            </a:r>
            <a:r>
              <a:rPr sz="2800" b="1" i="1" spc="-3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(all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stations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together)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produces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6398" y="2488183"/>
            <a:ext cx="36703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sz="2800" b="1" i="1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500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frames</a:t>
            </a:r>
            <a:r>
              <a:rPr sz="2800" b="1" i="1" spc="-4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per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second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291998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19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82173" y="2488168"/>
            <a:ext cx="3847465" cy="153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a.</a:t>
            </a:r>
            <a:r>
              <a:rPr sz="2800" b="1" i="1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1000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frames</a:t>
            </a:r>
            <a:r>
              <a:rPr sz="2800" b="1" i="1" spc="-4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per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second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c.</a:t>
            </a:r>
            <a:r>
              <a:rPr sz="2800" b="1" i="1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250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frames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per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second.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19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44073" y="3996944"/>
            <a:ext cx="860679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algn="just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transmission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time</a:t>
            </a:r>
            <a:r>
              <a:rPr sz="2800" b="1" i="1" spc="-2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is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200/200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kbps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or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ms.</a:t>
            </a:r>
            <a:endParaRPr sz="2800">
              <a:latin typeface="Times New Roman"/>
              <a:cs typeface="Times New Roman"/>
            </a:endParaRPr>
          </a:p>
          <a:p>
            <a:pPr marL="405765" marR="43180" indent="-355600" algn="just">
              <a:lnSpc>
                <a:spcPct val="100000"/>
              </a:lnSpc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a. </a:t>
            </a:r>
            <a:r>
              <a:rPr sz="2800" b="1" i="1">
                <a:latin typeface="Times New Roman"/>
                <a:cs typeface="Times New Roman"/>
              </a:rPr>
              <a:t>If the </a:t>
            </a:r>
            <a:r>
              <a:rPr sz="2800" b="1" i="1" spc="-5">
                <a:latin typeface="Times New Roman"/>
                <a:cs typeface="Times New Roman"/>
              </a:rPr>
              <a:t>system creates 1000 frames per second, this is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</a:t>
            </a:r>
            <a:r>
              <a:rPr sz="2800" b="1" i="1" spc="2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per</a:t>
            </a:r>
            <a:r>
              <a:rPr sz="2800" b="1" i="1" spc="89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millisecond.</a:t>
            </a:r>
            <a:r>
              <a:rPr sz="2800" b="1" i="1" spc="9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8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load</a:t>
            </a:r>
            <a:r>
              <a:rPr sz="2800" b="1" i="1" spc="89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 spc="8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1.</a:t>
            </a:r>
            <a:r>
              <a:rPr sz="2800" b="1" i="1" spc="89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In</a:t>
            </a:r>
            <a:r>
              <a:rPr sz="2800" b="1" i="1" spc="89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this</a:t>
            </a:r>
            <a:r>
              <a:rPr sz="2800" b="1" i="1" spc="9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case </a:t>
            </a:r>
            <a:r>
              <a:rPr sz="2800" b="1" i="1" spc="-69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</a:t>
            </a:r>
            <a:r>
              <a:rPr sz="2800" b="1" i="1" spc="47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=</a:t>
            </a:r>
            <a:r>
              <a:rPr sz="2800" b="1" i="1" spc="4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G×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e</a:t>
            </a:r>
            <a:r>
              <a:rPr sz="2775" b="1" i="1" baseline="25525">
                <a:latin typeface="Times New Roman"/>
                <a:cs typeface="Times New Roman"/>
              </a:rPr>
              <a:t>−G</a:t>
            </a:r>
            <a:r>
              <a:rPr sz="2775" b="1" i="1" spc="405" baseline="255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or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</a:t>
            </a:r>
            <a:r>
              <a:rPr sz="2800" b="1" i="1" spc="49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=</a:t>
            </a:r>
            <a:r>
              <a:rPr sz="2800" b="1" i="1" spc="4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0.368</a:t>
            </a:r>
            <a:r>
              <a:rPr sz="2800" b="1" i="1" spc="4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(36.8</a:t>
            </a:r>
            <a:r>
              <a:rPr sz="2800" b="1" i="1" spc="4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percent).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This</a:t>
            </a:r>
            <a:r>
              <a:rPr sz="2800" b="1" i="1" spc="48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means </a:t>
            </a:r>
            <a:r>
              <a:rPr sz="2800" b="1" i="1" spc="-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that</a:t>
            </a:r>
            <a:r>
              <a:rPr sz="2800" b="1" i="1" spc="59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60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throughput</a:t>
            </a:r>
            <a:r>
              <a:rPr sz="2800" b="1" i="1" spc="59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 spc="60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1000</a:t>
            </a:r>
            <a:r>
              <a:rPr sz="2800" b="1" i="1" spc="6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×</a:t>
            </a:r>
            <a:r>
              <a:rPr sz="2800" b="1" i="1" spc="60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0.0368</a:t>
            </a:r>
            <a:r>
              <a:rPr sz="2800" b="1" i="1" spc="60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=</a:t>
            </a:r>
            <a:r>
              <a:rPr sz="2800" b="1" i="1" spc="60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368</a:t>
            </a:r>
            <a:r>
              <a:rPr sz="2800" b="1" i="1" spc="61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frames. </a:t>
            </a:r>
            <a:r>
              <a:rPr sz="2800" b="1" i="1" spc="-69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Only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386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frames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out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1000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will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probably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90</a:t>
            </a:fld>
            <a:endParaRPr spc="-5"/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707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12.4</a:t>
            </a:r>
            <a:r>
              <a:rPr i="1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4839" y="1187196"/>
            <a:ext cx="9144000" cy="2590800"/>
            <a:chOff x="774839" y="1187196"/>
            <a:chExt cx="9144000" cy="2590800"/>
          </a:xfrm>
        </p:grpSpPr>
        <p:sp>
          <p:nvSpPr>
            <p:cNvPr id="4" name="object 4"/>
            <p:cNvSpPr/>
            <p:nvPr/>
          </p:nvSpPr>
          <p:spPr>
            <a:xfrm>
              <a:off x="1003439" y="1187196"/>
              <a:ext cx="8686800" cy="19050"/>
            </a:xfrm>
            <a:custGeom>
              <a:avLst/>
              <a:gdLst/>
              <a:ahLst/>
              <a:cxnLst/>
              <a:rect l="l" t="t" r="r" b="b"/>
              <a:pathLst>
                <a:path w="8686800" h="19050">
                  <a:moveTo>
                    <a:pt x="8686800" y="19050"/>
                  </a:moveTo>
                  <a:lnTo>
                    <a:pt x="86868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68680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1962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75075" y="1206246"/>
              <a:ext cx="536796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4839" y="1206258"/>
              <a:ext cx="9144000" cy="2571750"/>
            </a:xfrm>
            <a:custGeom>
              <a:avLst/>
              <a:gdLst/>
              <a:ahLst/>
              <a:cxnLst/>
              <a:rect l="l" t="t" r="r" b="b"/>
              <a:pathLst>
                <a:path w="9144000" h="2571750">
                  <a:moveTo>
                    <a:pt x="9144000" y="856488"/>
                  </a:moveTo>
                  <a:lnTo>
                    <a:pt x="8915400" y="856488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856488"/>
                  </a:lnTo>
                  <a:lnTo>
                    <a:pt x="0" y="856488"/>
                  </a:lnTo>
                  <a:lnTo>
                    <a:pt x="0" y="1713738"/>
                  </a:lnTo>
                  <a:lnTo>
                    <a:pt x="0" y="1714500"/>
                  </a:lnTo>
                  <a:lnTo>
                    <a:pt x="0" y="2571750"/>
                  </a:lnTo>
                  <a:lnTo>
                    <a:pt x="9144000" y="2571750"/>
                  </a:lnTo>
                  <a:lnTo>
                    <a:pt x="9144000" y="1714500"/>
                  </a:lnTo>
                  <a:lnTo>
                    <a:pt x="9144000" y="1713738"/>
                  </a:lnTo>
                  <a:lnTo>
                    <a:pt x="9144000" y="856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44073" y="1208024"/>
            <a:ext cx="8629650" cy="471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67310" indent="-355600" algn="just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sz="2800" b="1" i="1" spc="59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If</a:t>
            </a:r>
            <a:r>
              <a:rPr sz="2800" b="1" i="1" spc="6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59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system</a:t>
            </a:r>
            <a:r>
              <a:rPr sz="2800" b="1" i="1" spc="6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creates</a:t>
            </a:r>
            <a:r>
              <a:rPr sz="2800" b="1" i="1" spc="59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500</a:t>
            </a:r>
            <a:r>
              <a:rPr sz="2800" b="1" i="1" spc="61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frames</a:t>
            </a:r>
            <a:r>
              <a:rPr sz="2800" b="1" i="1" spc="6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per</a:t>
            </a:r>
            <a:r>
              <a:rPr sz="2800" b="1" i="1" spc="59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second,</a:t>
            </a:r>
            <a:r>
              <a:rPr sz="2800" b="1" i="1" spc="6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this</a:t>
            </a:r>
            <a:r>
              <a:rPr sz="2800" b="1" i="1" spc="59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(1/2) frame per millisecond. The load is (1/2). In this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case </a:t>
            </a:r>
            <a:r>
              <a:rPr sz="2800" b="1" i="1">
                <a:latin typeface="Times New Roman"/>
                <a:cs typeface="Times New Roman"/>
              </a:rPr>
              <a:t>S = G × e</a:t>
            </a:r>
            <a:r>
              <a:rPr sz="2775" b="1" i="1" baseline="25525">
                <a:latin typeface="Times New Roman"/>
                <a:cs typeface="Times New Roman"/>
              </a:rPr>
              <a:t>−G</a:t>
            </a:r>
            <a:r>
              <a:rPr sz="2775" b="1" i="1" spc="690" baseline="255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or </a:t>
            </a:r>
            <a:r>
              <a:rPr sz="2800" b="1" i="1">
                <a:latin typeface="Times New Roman"/>
                <a:cs typeface="Times New Roman"/>
              </a:rPr>
              <a:t>S = </a:t>
            </a:r>
            <a:r>
              <a:rPr sz="2800" b="1" i="1" spc="-5">
                <a:latin typeface="Times New Roman"/>
                <a:cs typeface="Times New Roman"/>
              </a:rPr>
              <a:t>0.303 (30.3 percent). This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means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that</a:t>
            </a:r>
            <a:r>
              <a:rPr sz="2800" b="1" i="1">
                <a:latin typeface="Times New Roman"/>
                <a:cs typeface="Times New Roman"/>
              </a:rPr>
              <a:t> the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throughput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500</a:t>
            </a:r>
            <a:r>
              <a:rPr sz="2800" b="1" i="1">
                <a:latin typeface="Times New Roman"/>
                <a:cs typeface="Times New Roman"/>
              </a:rPr>
              <a:t> ×</a:t>
            </a:r>
            <a:r>
              <a:rPr sz="2800" b="1" i="1" spc="7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0.0303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=</a:t>
            </a:r>
            <a:r>
              <a:rPr sz="2800" b="1" i="1" spc="7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151. </a:t>
            </a:r>
            <a:r>
              <a:rPr sz="2800" b="1" i="1">
                <a:latin typeface="Times New Roman"/>
                <a:cs typeface="Times New Roman"/>
              </a:rPr>
              <a:t> Only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151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frames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out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 500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will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probably</a:t>
            </a:r>
            <a:r>
              <a:rPr sz="2800" b="1" i="1" spc="-3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405765" marR="67945" indent="-355600" algn="just">
              <a:lnSpc>
                <a:spcPct val="100000"/>
              </a:lnSpc>
            </a:pP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c. </a:t>
            </a:r>
            <a:r>
              <a:rPr sz="2800" b="1" i="1" spc="-5">
                <a:latin typeface="Times New Roman"/>
                <a:cs typeface="Times New Roman"/>
              </a:rPr>
              <a:t>If the system creates 250 frames per second, this is (1/4)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 per millisecond.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load is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(1/4).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In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this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case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 = G × e </a:t>
            </a:r>
            <a:r>
              <a:rPr sz="2775" b="1" i="1" spc="7" baseline="25525">
                <a:latin typeface="Times New Roman"/>
                <a:cs typeface="Times New Roman"/>
              </a:rPr>
              <a:t>−G</a:t>
            </a:r>
            <a:r>
              <a:rPr sz="2775" b="1" i="1" spc="15" baseline="255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or </a:t>
            </a:r>
            <a:r>
              <a:rPr sz="2800" b="1" i="1">
                <a:latin typeface="Times New Roman"/>
                <a:cs typeface="Times New Roman"/>
              </a:rPr>
              <a:t>S = </a:t>
            </a:r>
            <a:r>
              <a:rPr sz="2800" b="1" i="1" spc="-5">
                <a:latin typeface="Times New Roman"/>
                <a:cs typeface="Times New Roman"/>
              </a:rPr>
              <a:t>0.195 (19.5 percent). This means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that</a:t>
            </a:r>
            <a:r>
              <a:rPr sz="2800" b="1" i="1">
                <a:latin typeface="Times New Roman"/>
                <a:cs typeface="Times New Roman"/>
              </a:rPr>
              <a:t> the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throughput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250</a:t>
            </a:r>
            <a:r>
              <a:rPr sz="2800" b="1" i="1">
                <a:latin typeface="Times New Roman"/>
                <a:cs typeface="Times New Roman"/>
              </a:rPr>
              <a:t> ×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0.195</a:t>
            </a:r>
            <a:r>
              <a:rPr sz="2800" b="1" i="1">
                <a:latin typeface="Times New Roman"/>
                <a:cs typeface="Times New Roman"/>
              </a:rPr>
              <a:t> =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49.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Only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49 </a:t>
            </a:r>
            <a:r>
              <a:rPr sz="2800" b="1" i="1">
                <a:latin typeface="Times New Roman"/>
                <a:cs typeface="Times New Roman"/>
              </a:rPr>
              <a:t> frames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out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250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will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probably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91</a:t>
            </a:fld>
            <a:endParaRPr spc="-5"/>
          </a:p>
        </p:txBody>
      </p: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135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12.8	</a:t>
            </a:r>
            <a:r>
              <a:rPr sz="2000" i="1" spc="-5">
                <a:latin typeface="Times New Roman"/>
                <a:cs typeface="Times New Roman"/>
              </a:rPr>
              <a:t>Space/time</a:t>
            </a:r>
            <a:r>
              <a:rPr sz="2000" i="1" spc="-2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model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of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the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collision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CSMA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972197" y="1415796"/>
            <a:ext cx="7879842" cy="507872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92</a:t>
            </a:fld>
            <a:endParaRPr spc="-5"/>
          </a:p>
        </p:txBody>
      </p:sp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356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12.9	</a:t>
            </a:r>
            <a:r>
              <a:rPr sz="2000" i="1" spc="-15">
                <a:latin typeface="Times New Roman"/>
                <a:cs typeface="Times New Roman"/>
              </a:rPr>
              <a:t>Vulnerable</a:t>
            </a:r>
            <a:r>
              <a:rPr sz="2000" i="1" spc="-3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time</a:t>
            </a:r>
            <a:r>
              <a:rPr sz="2000" i="1" spc="-3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CSMA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03439" y="2384298"/>
            <a:ext cx="8839200" cy="32986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93</a:t>
            </a:fld>
            <a:endParaRPr spc="-5"/>
          </a:p>
        </p:txBody>
      </p:sp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78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578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12.10	</a:t>
            </a:r>
            <a:r>
              <a:rPr sz="2000" i="1" spc="-5">
                <a:latin typeface="Times New Roman"/>
                <a:cs typeface="Times New Roman"/>
              </a:rPr>
              <a:t>Behavior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of three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persistence</a:t>
            </a:r>
            <a:r>
              <a:rPr sz="2000" i="1" spc="-2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7239" y="1263395"/>
            <a:ext cx="8763000" cy="5524500"/>
            <a:chOff x="927239" y="1263395"/>
            <a:chExt cx="8763000" cy="5524500"/>
          </a:xfrm>
        </p:grpSpPr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432189" y="1263395"/>
              <a:ext cx="5100828" cy="54216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7239" y="6711695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94</a:t>
            </a:fld>
            <a:endParaRPr spc="-5"/>
          </a:p>
        </p:txBody>
      </p:sp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381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30">
                <a:solidFill>
                  <a:srgbClr val="3333CC"/>
                </a:solidFill>
              </a:rPr>
              <a:t>12.11	</a:t>
            </a:r>
            <a:r>
              <a:rPr sz="2000" i="1" spc="-5">
                <a:latin typeface="Times New Roman"/>
                <a:cs typeface="Times New Roman"/>
              </a:rPr>
              <a:t>Flow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diagram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three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persistence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645549" y="1522475"/>
            <a:ext cx="5065648" cy="492251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95</a:t>
            </a:fld>
            <a:endParaRPr spc="-5"/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681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12.12	</a:t>
            </a:r>
            <a:r>
              <a:rPr sz="2000" i="1" spc="-5">
                <a:latin typeface="Times New Roman"/>
                <a:cs typeface="Times New Roman"/>
              </a:rPr>
              <a:t>Collision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of the first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bit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CSMA/CD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784745" y="2382773"/>
            <a:ext cx="9057893" cy="261442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96</a:t>
            </a:fld>
            <a:endParaRPr spc="-5"/>
          </a:p>
        </p:txBody>
      </p:sp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538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12.13</a:t>
            </a:r>
            <a:r>
              <a:rPr sz="2400">
                <a:solidFill>
                  <a:srgbClr val="3333CC"/>
                </a:solidFill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Collision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and abortion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 CSMA/CD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847991" y="2430779"/>
            <a:ext cx="8994647" cy="294741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97</a:t>
            </a:fld>
            <a:endParaRPr spc="-5"/>
          </a:p>
        </p:txBody>
      </p: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12.5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4839" y="1206246"/>
            <a:ext cx="9144000" cy="2571750"/>
            <a:chOff x="774839" y="1206246"/>
            <a:chExt cx="9144000" cy="2571750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16839"/>
            </a:xfrm>
            <a:custGeom>
              <a:avLst/>
              <a:gdLst/>
              <a:ahLst/>
              <a:cxnLst/>
              <a:rect l="l" t="t" r="r" b="b"/>
              <a:pathLst>
                <a:path w="422275" h="116838">
                  <a:moveTo>
                    <a:pt x="0" y="116585"/>
                  </a:moveTo>
                  <a:lnTo>
                    <a:pt x="422147" y="116585"/>
                  </a:lnTo>
                  <a:lnTo>
                    <a:pt x="422147" y="0"/>
                  </a:lnTo>
                  <a:lnTo>
                    <a:pt x="0" y="0"/>
                  </a:lnTo>
                  <a:lnTo>
                    <a:pt x="0" y="11658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16839"/>
            </a:xfrm>
            <a:custGeom>
              <a:avLst/>
              <a:gdLst/>
              <a:ahLst/>
              <a:cxnLst/>
              <a:rect l="l" t="t" r="r" b="b"/>
              <a:pathLst>
                <a:path w="31750" h="116838">
                  <a:moveTo>
                    <a:pt x="0" y="116585"/>
                  </a:moveTo>
                  <a:lnTo>
                    <a:pt x="31241" y="116585"/>
                  </a:lnTo>
                  <a:lnTo>
                    <a:pt x="31241" y="0"/>
                  </a:lnTo>
                  <a:lnTo>
                    <a:pt x="0" y="0"/>
                  </a:lnTo>
                  <a:lnTo>
                    <a:pt x="0" y="116585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322844"/>
              <a:ext cx="9144000" cy="2455545"/>
            </a:xfrm>
            <a:custGeom>
              <a:avLst/>
              <a:gdLst/>
              <a:ahLst/>
              <a:cxnLst/>
              <a:rect l="l" t="t" r="r" b="b"/>
              <a:pathLst>
                <a:path w="9144000" h="2455545">
                  <a:moveTo>
                    <a:pt x="9144000" y="739902"/>
                  </a:moveTo>
                  <a:lnTo>
                    <a:pt x="8915400" y="739902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739902"/>
                  </a:lnTo>
                  <a:lnTo>
                    <a:pt x="0" y="739902"/>
                  </a:lnTo>
                  <a:lnTo>
                    <a:pt x="0" y="1597152"/>
                  </a:lnTo>
                  <a:lnTo>
                    <a:pt x="0" y="1597914"/>
                  </a:lnTo>
                  <a:lnTo>
                    <a:pt x="0" y="2455164"/>
                  </a:lnTo>
                  <a:lnTo>
                    <a:pt x="9144000" y="2455164"/>
                  </a:lnTo>
                  <a:lnTo>
                    <a:pt x="9144000" y="1597914"/>
                  </a:lnTo>
                  <a:lnTo>
                    <a:pt x="9144000" y="1597152"/>
                  </a:lnTo>
                  <a:lnTo>
                    <a:pt x="9144000" y="7399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67867" y="1342898"/>
            <a:ext cx="8657590" cy="5316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17780" algn="just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network using CSMA/CD has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bandwidth of 10 Mbps. </a:t>
            </a:r>
            <a:r>
              <a:rPr sz="2800" b="1" i="1">
                <a:latin typeface="Times New Roman"/>
                <a:cs typeface="Times New Roman"/>
              </a:rPr>
              <a:t> If the </a:t>
            </a:r>
            <a:r>
              <a:rPr sz="2800" b="1" i="1" spc="-5">
                <a:latin typeface="Times New Roman"/>
                <a:cs typeface="Times New Roman"/>
              </a:rPr>
              <a:t>maximum propagation time (including </a:t>
            </a:r>
            <a:r>
              <a:rPr sz="2800" b="1" i="1">
                <a:latin typeface="Times New Roman"/>
                <a:cs typeface="Times New Roman"/>
              </a:rPr>
              <a:t>the </a:t>
            </a:r>
            <a:r>
              <a:rPr sz="2800" b="1" i="1" spc="-5">
                <a:latin typeface="Times New Roman"/>
                <a:cs typeface="Times New Roman"/>
              </a:rPr>
              <a:t>delays in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devices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and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ignoring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time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needed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to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send</a:t>
            </a:r>
            <a:r>
              <a:rPr sz="2800" b="1" i="1">
                <a:latin typeface="Times New Roman"/>
                <a:cs typeface="Times New Roman"/>
              </a:rPr>
              <a:t> a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jamming signal, as we see later) </a:t>
            </a:r>
            <a:r>
              <a:rPr sz="2800" b="1" i="1">
                <a:latin typeface="Times New Roman"/>
                <a:cs typeface="Times New Roman"/>
              </a:rPr>
              <a:t>is 25 6 μs, </a:t>
            </a:r>
            <a:r>
              <a:rPr sz="2800" b="1" i="1" spc="-5">
                <a:latin typeface="Times New Roman"/>
                <a:cs typeface="Times New Roman"/>
              </a:rPr>
              <a:t>what </a:t>
            </a:r>
            <a:r>
              <a:rPr sz="2800" b="1" i="1">
                <a:latin typeface="Times New Roman"/>
                <a:cs typeface="Times New Roman"/>
              </a:rPr>
              <a:t>is </a:t>
            </a:r>
            <a:r>
              <a:rPr sz="2800" b="1" i="1" spc="-5">
                <a:latin typeface="Times New Roman"/>
                <a:cs typeface="Times New Roman"/>
              </a:rPr>
              <a:t>the </a:t>
            </a:r>
            <a:r>
              <a:rPr sz="2800" b="1" i="1">
                <a:latin typeface="Times New Roman"/>
                <a:cs typeface="Times New Roman"/>
              </a:rPr>
              <a:t> minimum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size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frame?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340"/>
              </a:spcBef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 marR="93980" algn="just">
              <a:lnSpc>
                <a:spcPct val="100000"/>
              </a:lnSpc>
            </a:pP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 transmission time </a:t>
            </a:r>
            <a:r>
              <a:rPr sz="2800" b="1" i="1">
                <a:latin typeface="Times New Roman"/>
                <a:cs typeface="Times New Roman"/>
              </a:rPr>
              <a:t>is T</a:t>
            </a:r>
            <a:r>
              <a:rPr sz="2775" b="1" i="1" baseline="-13513">
                <a:latin typeface="Times New Roman"/>
                <a:cs typeface="Times New Roman"/>
              </a:rPr>
              <a:t>fr</a:t>
            </a:r>
            <a:r>
              <a:rPr sz="2775" b="1" i="1" spc="7" baseline="-13513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= 2 × T</a:t>
            </a:r>
            <a:r>
              <a:rPr sz="2775" b="1" i="1" baseline="-12012">
                <a:latin typeface="Times New Roman"/>
                <a:cs typeface="Times New Roman"/>
              </a:rPr>
              <a:t>p</a:t>
            </a:r>
            <a:r>
              <a:rPr sz="2775" b="1" i="1" spc="7" baseline="-12012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=</a:t>
            </a:r>
            <a:r>
              <a:rPr sz="2800" b="1" i="1" spc="70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51.2</a:t>
            </a:r>
            <a:r>
              <a:rPr sz="2800" b="1" i="1" spc="69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μs.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This </a:t>
            </a:r>
            <a:r>
              <a:rPr sz="2800" b="1" i="1" spc="-5">
                <a:latin typeface="Times New Roman"/>
                <a:cs typeface="Times New Roman"/>
              </a:rPr>
              <a:t>means, in the </a:t>
            </a:r>
            <a:r>
              <a:rPr sz="2800" b="1" i="1" spc="-10">
                <a:latin typeface="Times New Roman"/>
                <a:cs typeface="Times New Roman"/>
              </a:rPr>
              <a:t>worst </a:t>
            </a:r>
            <a:r>
              <a:rPr sz="2800" b="1" i="1" spc="-5">
                <a:latin typeface="Times New Roman"/>
                <a:cs typeface="Times New Roman"/>
              </a:rPr>
              <a:t>case,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station needs </a:t>
            </a:r>
            <a:r>
              <a:rPr sz="2800" b="1" i="1">
                <a:latin typeface="Times New Roman"/>
                <a:cs typeface="Times New Roman"/>
              </a:rPr>
              <a:t>to </a:t>
            </a:r>
            <a:r>
              <a:rPr sz="2800" b="1" i="1" spc="-5">
                <a:latin typeface="Times New Roman"/>
                <a:cs typeface="Times New Roman"/>
              </a:rPr>
              <a:t>transmit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for</a:t>
            </a:r>
            <a:r>
              <a:rPr sz="2800" b="1" i="1">
                <a:latin typeface="Times New Roman"/>
                <a:cs typeface="Times New Roman"/>
              </a:rPr>
              <a:t> a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period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of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51.2</a:t>
            </a:r>
            <a:r>
              <a:rPr sz="2800" b="1" i="1">
                <a:latin typeface="Times New Roman"/>
                <a:cs typeface="Times New Roman"/>
              </a:rPr>
              <a:t> μs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to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detect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collision.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minimum</a:t>
            </a:r>
            <a:r>
              <a:rPr sz="2800" b="1" i="1" spc="35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size</a:t>
            </a:r>
            <a:r>
              <a:rPr sz="2800" b="1" i="1" spc="36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37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36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frame</a:t>
            </a:r>
            <a:r>
              <a:rPr sz="2800" b="1" i="1" spc="37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 spc="36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10</a:t>
            </a:r>
            <a:r>
              <a:rPr sz="2800" b="1" i="1" spc="37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Mbps</a:t>
            </a:r>
            <a:r>
              <a:rPr sz="2800" b="1" i="1" spc="36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×</a:t>
            </a:r>
            <a:r>
              <a:rPr sz="2800" b="1" i="1" spc="37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51.2</a:t>
            </a:r>
            <a:r>
              <a:rPr sz="2800" b="1" i="1" spc="37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μs</a:t>
            </a:r>
            <a:r>
              <a:rPr sz="2800" b="1" i="1" spc="36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=</a:t>
            </a:r>
            <a:r>
              <a:rPr sz="2800" b="1" i="1" spc="37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512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bits or 64 bytes. This is actually the minimum size of the </a:t>
            </a:r>
            <a:r>
              <a:rPr sz="2800" b="1" i="1">
                <a:latin typeface="Times New Roman"/>
                <a:cs typeface="Times New Roman"/>
              </a:rPr>
              <a:t> frame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for</a:t>
            </a:r>
            <a:r>
              <a:rPr sz="2800" b="1" i="1" spc="-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Standard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Ethernet.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98</a:t>
            </a:fld>
            <a:endParaRPr spc="-5"/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220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12.14	</a:t>
            </a:r>
            <a:r>
              <a:rPr sz="2000" i="1" spc="-5">
                <a:latin typeface="Times New Roman"/>
                <a:cs typeface="Times New Roman"/>
              </a:rPr>
              <a:t>Flow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diagram for</a:t>
            </a:r>
            <a:r>
              <a:rPr sz="2000" i="1" spc="-3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the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CSMA/CD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27239" y="1330452"/>
            <a:ext cx="8763000" cy="5114925"/>
            <a:chOff x="927239" y="1330452"/>
            <a:chExt cx="8763000" cy="5114925"/>
          </a:xfrm>
        </p:grpSpPr>
        <p:sp>
          <p:nvSpPr>
            <p:cNvPr id="4" name="object 4"/>
            <p:cNvSpPr/>
            <p:nvPr/>
          </p:nvSpPr>
          <p:spPr>
            <a:xfrm>
              <a:off x="927239" y="1330452"/>
              <a:ext cx="8763000" cy="19050"/>
            </a:xfrm>
            <a:custGeom>
              <a:avLst/>
              <a:gdLst/>
              <a:ahLst/>
              <a:cxnLst/>
              <a:rect l="l" t="t" r="r" b="b"/>
              <a:pathLst>
                <a:path w="8763000" h="19050">
                  <a:moveTo>
                    <a:pt x="8763000" y="19049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763000" y="190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942223" y="1362456"/>
              <a:ext cx="6300876" cy="508254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99</a:t>
            </a:fld>
            <a:endParaRPr spc="-5"/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7530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12.15	</a:t>
            </a:r>
            <a:r>
              <a:rPr sz="2000" i="1" spc="-5">
                <a:latin typeface="Times New Roman"/>
                <a:cs typeface="Times New Roman"/>
              </a:rPr>
              <a:t>Energy</a:t>
            </a:r>
            <a:r>
              <a:rPr sz="2000" i="1" spc="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level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during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transmission,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idleness,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or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collision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48090" y="2613405"/>
            <a:ext cx="7211568" cy="226999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100</a:t>
            </a:fld>
            <a:endParaRPr spc="-5"/>
          </a:p>
        </p:txBody>
      </p:sp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998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12.16	</a:t>
            </a:r>
            <a:r>
              <a:rPr sz="2000" i="1" spc="-15">
                <a:latin typeface="Times New Roman"/>
                <a:cs typeface="Times New Roman"/>
              </a:rPr>
              <a:t>Timing</a:t>
            </a:r>
            <a:r>
              <a:rPr sz="2000" i="1" spc="-4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 spc="-40">
                <a:latin typeface="Times New Roman"/>
                <a:cs typeface="Times New Roman"/>
              </a:rPr>
              <a:t> </a:t>
            </a:r>
            <a:r>
              <a:rPr sz="2000" i="1" spc="-10">
                <a:latin typeface="Times New Roman"/>
                <a:cs typeface="Times New Roman"/>
              </a:rPr>
              <a:t>CSMA/CA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27823" y="2787395"/>
            <a:ext cx="8510016" cy="194538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101</a:t>
            </a:fld>
            <a:endParaRPr spc="-5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4924D67F-B2AF-C508-1FFF-7BD3BAFCC4E4}"/>
              </a:ext>
            </a:extLst>
          </p:cNvPr>
          <p:cNvSpPr txBox="1"/>
          <p:nvPr/>
        </p:nvSpPr>
        <p:spPr>
          <a:xfrm>
            <a:off x="1270139" y="4958238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93980" marR="87630" indent="31750">
              <a:lnSpc>
                <a:spcPct val="100000"/>
              </a:lnSpc>
              <a:spcBef>
                <a:spcPts val="275"/>
              </a:spcBef>
            </a:pPr>
            <a:r>
              <a:rPr sz="3200" b="1" spc="-5">
                <a:latin typeface="Arial"/>
                <a:cs typeface="Arial"/>
              </a:rPr>
              <a:t>In </a:t>
            </a:r>
            <a:r>
              <a:rPr sz="3200" b="1" spc="-10">
                <a:latin typeface="Arial"/>
                <a:cs typeface="Arial"/>
              </a:rPr>
              <a:t>CSMA/CA, </a:t>
            </a:r>
            <a:r>
              <a:rPr sz="3200" b="1" spc="-5">
                <a:latin typeface="Arial"/>
                <a:cs typeface="Arial"/>
              </a:rPr>
              <a:t>the IFS can also be used </a:t>
            </a:r>
            <a:r>
              <a:rPr sz="3200" b="1" spc="-10">
                <a:latin typeface="Arial"/>
                <a:cs typeface="Arial"/>
              </a:rPr>
              <a:t>to </a:t>
            </a:r>
            <a:r>
              <a:rPr sz="3200" b="1" spc="-87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define</a:t>
            </a:r>
            <a:r>
              <a:rPr sz="3200" b="1" spc="-3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the</a:t>
            </a:r>
            <a:r>
              <a:rPr sz="3200" b="1" spc="-2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priority</a:t>
            </a:r>
            <a:r>
              <a:rPr sz="3200" b="1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of</a:t>
            </a:r>
            <a:r>
              <a:rPr sz="3200" b="1" spc="-1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a</a:t>
            </a:r>
            <a:r>
              <a:rPr sz="3200" b="1" spc="-1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station</a:t>
            </a:r>
            <a:r>
              <a:rPr sz="3200" b="1" spc="-2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or a </a:t>
            </a:r>
            <a:r>
              <a:rPr sz="3200" b="1" spc="-10">
                <a:latin typeface="Arial"/>
                <a:cs typeface="Arial"/>
              </a:rPr>
              <a:t>frame.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38379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572135" marR="563880" indent="-444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In </a:t>
            </a:r>
            <a:r>
              <a:rPr sz="3200" b="1" spc="-10" dirty="0">
                <a:latin typeface="Arial"/>
                <a:cs typeface="Arial"/>
              </a:rPr>
              <a:t>CSMA/CA, </a:t>
            </a:r>
            <a:r>
              <a:rPr sz="3200" b="1" spc="-5" dirty="0">
                <a:latin typeface="Arial"/>
                <a:cs typeface="Arial"/>
              </a:rPr>
              <a:t>if the </a:t>
            </a:r>
            <a:r>
              <a:rPr sz="3200" b="1" spc="-10" dirty="0">
                <a:latin typeface="Arial"/>
                <a:cs typeface="Arial"/>
              </a:rPr>
              <a:t>station </a:t>
            </a:r>
            <a:r>
              <a:rPr sz="3200" b="1" spc="-5" dirty="0">
                <a:latin typeface="Arial"/>
                <a:cs typeface="Arial"/>
              </a:rPr>
              <a:t>finds </a:t>
            </a:r>
            <a:r>
              <a:rPr sz="3200" b="1" spc="-10" dirty="0">
                <a:latin typeface="Arial"/>
                <a:cs typeface="Arial"/>
              </a:rPr>
              <a:t>the </a:t>
            </a:r>
            <a:r>
              <a:rPr sz="3200" b="1" spc="-5" dirty="0">
                <a:latin typeface="Arial"/>
                <a:cs typeface="Arial"/>
              </a:rPr>
              <a:t> channel </a:t>
            </a:r>
            <a:r>
              <a:rPr sz="3200" b="1" spc="-50" dirty="0">
                <a:latin typeface="Arial"/>
                <a:cs typeface="Arial"/>
              </a:rPr>
              <a:t>busy, </a:t>
            </a:r>
            <a:r>
              <a:rPr sz="3200" b="1" spc="-5" dirty="0">
                <a:latin typeface="Arial"/>
                <a:cs typeface="Arial"/>
              </a:rPr>
              <a:t>it does not </a:t>
            </a:r>
            <a:r>
              <a:rPr sz="3200" b="1" spc="-10" dirty="0">
                <a:latin typeface="Arial"/>
                <a:cs typeface="Arial"/>
              </a:rPr>
              <a:t>restart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timer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 the </a:t>
            </a:r>
            <a:r>
              <a:rPr sz="3200" b="1" spc="-10" dirty="0">
                <a:latin typeface="Arial"/>
                <a:cs typeface="Arial"/>
              </a:rPr>
              <a:t>contention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window;</a:t>
            </a:r>
            <a:endParaRPr sz="3200" dirty="0">
              <a:latin typeface="Arial"/>
              <a:cs typeface="Arial"/>
            </a:endParaRPr>
          </a:p>
          <a:p>
            <a:pPr marL="431165" marR="424815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it </a:t>
            </a:r>
            <a:r>
              <a:rPr sz="3200" b="1" spc="-10" dirty="0">
                <a:latin typeface="Arial"/>
                <a:cs typeface="Arial"/>
              </a:rPr>
              <a:t>stops </a:t>
            </a:r>
            <a:r>
              <a:rPr sz="3200" b="1" spc="-5" dirty="0">
                <a:latin typeface="Arial"/>
                <a:cs typeface="Arial"/>
              </a:rPr>
              <a:t>the timer and </a:t>
            </a:r>
            <a:r>
              <a:rPr sz="3200" b="1" spc="-10" dirty="0">
                <a:latin typeface="Arial"/>
                <a:cs typeface="Arial"/>
              </a:rPr>
              <a:t>restarts </a:t>
            </a:r>
            <a:r>
              <a:rPr sz="3200" b="1" spc="-5" dirty="0">
                <a:latin typeface="Arial"/>
                <a:cs typeface="Arial"/>
              </a:rPr>
              <a:t>it </a:t>
            </a:r>
            <a:r>
              <a:rPr sz="3200" b="1" spc="-10" dirty="0">
                <a:latin typeface="Arial"/>
                <a:cs typeface="Arial"/>
              </a:rPr>
              <a:t>when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channel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becomes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idle.</a:t>
            </a:r>
            <a:endParaRPr sz="320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5491734"/>
            <a:ext cx="9144000" cy="858519"/>
            <a:chOff x="774839" y="5491734"/>
            <a:chExt cx="9144000" cy="858519"/>
          </a:xfrm>
        </p:grpSpPr>
        <p:sp>
          <p:nvSpPr>
            <p:cNvPr id="12" name="object 12"/>
            <p:cNvSpPr/>
            <p:nvPr/>
          </p:nvSpPr>
          <p:spPr>
            <a:xfrm>
              <a:off x="774839" y="54917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3999" y="858012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3999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34325" y="57210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70139" y="5491734"/>
              <a:ext cx="8077200" cy="146050"/>
            </a:xfrm>
            <a:custGeom>
              <a:avLst/>
              <a:gdLst/>
              <a:ahLst/>
              <a:cxnLst/>
              <a:rect l="l" t="t" r="r" b="b"/>
              <a:pathLst>
                <a:path w="8077200" h="146050">
                  <a:moveTo>
                    <a:pt x="8077200" y="145541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145542"/>
                  </a:lnTo>
                  <a:lnTo>
                    <a:pt x="8077200" y="145541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102</a:t>
            </a:fld>
            <a:endParaRPr spc="-5"/>
          </a:p>
        </p:txBody>
      </p:sp>
    </p:spTree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819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12.17	</a:t>
            </a:r>
            <a:r>
              <a:rPr sz="2000" i="1" spc="-5">
                <a:latin typeface="Times New Roman"/>
                <a:cs typeface="Times New Roman"/>
              </a:rPr>
              <a:t>Flow diagram for</a:t>
            </a:r>
            <a:r>
              <a:rPr sz="2000" i="1" spc="-3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CSMA/CA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3137039" y="1441703"/>
            <a:ext cx="3031744" cy="485089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103</a:t>
            </a:fld>
            <a:endParaRPr spc="-5"/>
          </a:p>
        </p:txBody>
      </p:sp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62710" algn="l"/>
              </a:tabLst>
            </a:pPr>
            <a:r>
              <a:rPr spc="-5"/>
              <a:t>12-2	CONTROLLED</a:t>
            </a:r>
            <a:r>
              <a:rPr spc="-185"/>
              <a:t> </a:t>
            </a:r>
            <a:r>
              <a:rPr spc="-5"/>
              <a:t>ACCESS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4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4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4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4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4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58373" y="1894586"/>
            <a:ext cx="8071484" cy="464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>
                <a:latin typeface="Times New Roman"/>
                <a:cs typeface="Times New Roman"/>
              </a:rPr>
              <a:t>In </a:t>
            </a:r>
            <a:r>
              <a:rPr sz="2800" b="1" i="1" spc="-5">
                <a:solidFill>
                  <a:srgbClr val="FF0000"/>
                </a:solidFill>
                <a:latin typeface="Times New Roman"/>
                <a:cs typeface="Times New Roman"/>
              </a:rPr>
              <a:t>controlled </a:t>
            </a:r>
            <a:r>
              <a:rPr sz="2800" b="1" i="1" spc="-95">
                <a:solidFill>
                  <a:srgbClr val="FF0000"/>
                </a:solidFill>
                <a:latin typeface="Times New Roman"/>
                <a:cs typeface="Times New Roman"/>
              </a:rPr>
              <a:t>access</a:t>
            </a:r>
            <a:r>
              <a:rPr sz="2800" b="1" i="1" spc="-95">
                <a:latin typeface="Times New Roman"/>
                <a:cs typeface="Times New Roman"/>
              </a:rPr>
              <a:t>,,</a:t>
            </a:r>
            <a:r>
              <a:rPr sz="2800" b="1" i="1" spc="509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 stations consult </a:t>
            </a:r>
            <a:r>
              <a:rPr sz="2800" b="1" i="1">
                <a:latin typeface="Times New Roman"/>
                <a:cs typeface="Times New Roman"/>
              </a:rPr>
              <a:t>one </a:t>
            </a:r>
            <a:r>
              <a:rPr sz="2800" b="1" i="1" spc="-5">
                <a:latin typeface="Times New Roman"/>
                <a:cs typeface="Times New Roman"/>
              </a:rPr>
              <a:t>another </a:t>
            </a:r>
            <a:r>
              <a:rPr sz="2800" b="1" i="1">
                <a:latin typeface="Times New Roman"/>
                <a:cs typeface="Times New Roman"/>
              </a:rPr>
              <a:t> to </a:t>
            </a:r>
            <a:r>
              <a:rPr sz="2800" b="1" i="1" spc="-5">
                <a:latin typeface="Times New Roman"/>
                <a:cs typeface="Times New Roman"/>
              </a:rPr>
              <a:t>find which station has the right to send.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station </a:t>
            </a:r>
            <a:r>
              <a:rPr sz="2800" b="1" i="1">
                <a:latin typeface="Times New Roman"/>
                <a:cs typeface="Times New Roman"/>
              </a:rPr>
              <a:t> cannot </a:t>
            </a:r>
            <a:r>
              <a:rPr sz="2800" b="1" i="1" spc="-5">
                <a:latin typeface="Times New Roman"/>
                <a:cs typeface="Times New Roman"/>
              </a:rPr>
              <a:t>send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unless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has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been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authorized</a:t>
            </a:r>
            <a:r>
              <a:rPr sz="2800" b="1" i="1">
                <a:latin typeface="Times New Roman"/>
                <a:cs typeface="Times New Roman"/>
              </a:rPr>
              <a:t> by </a:t>
            </a:r>
            <a:r>
              <a:rPr sz="2800" b="1" i="1" spc="-5">
                <a:latin typeface="Times New Roman"/>
                <a:cs typeface="Times New Roman"/>
              </a:rPr>
              <a:t>other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stations.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110">
                <a:latin typeface="Times New Roman"/>
                <a:cs typeface="Times New Roman"/>
              </a:rPr>
              <a:t>We</a:t>
            </a:r>
            <a:r>
              <a:rPr sz="2800" b="1" i="1" spc="-10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discuss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three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popular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controlled-access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 spc="-160">
                <a:latin typeface="Times New Roman"/>
                <a:cs typeface="Times New Roman"/>
              </a:rPr>
              <a:t>methods..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5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5"/>
              </a:spcBef>
            </a:pPr>
            <a:r>
              <a:rPr sz="2800" b="1" i="1" u="heavy" spc="-4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6492240">
              <a:lnSpc>
                <a:spcPct val="100000"/>
              </a:lnSpc>
              <a:spcBef>
                <a:spcPts val="400"/>
              </a:spcBef>
            </a:pPr>
            <a:r>
              <a:rPr sz="2400" b="1">
                <a:solidFill>
                  <a:srgbClr val="0033CC"/>
                </a:solidFill>
                <a:latin typeface="Times New Roman"/>
                <a:cs typeface="Times New Roman"/>
              </a:rPr>
              <a:t>Reservation 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Polling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0">
                <a:solidFill>
                  <a:srgbClr val="0033CC"/>
                </a:solidFill>
                <a:latin typeface="Times New Roman"/>
                <a:cs typeface="Times New Roman"/>
              </a:rPr>
              <a:t>Token</a:t>
            </a:r>
            <a:r>
              <a:rPr sz="2400" b="1" spc="-4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>
                <a:solidFill>
                  <a:srgbClr val="0033CC"/>
                </a:solidFill>
                <a:latin typeface="Times New Roman"/>
                <a:cs typeface="Times New Roman"/>
              </a:rPr>
              <a:t>Passing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104</a:t>
            </a:fld>
            <a:endParaRPr spc="-5"/>
          </a:p>
        </p:txBody>
      </p:sp>
    </p:spTree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601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12.18	</a:t>
            </a:r>
            <a:r>
              <a:rPr sz="2000" i="1" spc="-5">
                <a:latin typeface="Times New Roman"/>
                <a:cs typeface="Times New Roman"/>
              </a:rPr>
              <a:t>Reservation</a:t>
            </a:r>
            <a:r>
              <a:rPr sz="2000" i="1" spc="-3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access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method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19847" y="2863595"/>
            <a:ext cx="7860792" cy="18287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105</a:t>
            </a:fld>
            <a:endParaRPr spc="-5"/>
          </a:p>
        </p:txBody>
      </p:sp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7014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12.19	</a:t>
            </a:r>
            <a:r>
              <a:rPr sz="2000" i="1" spc="-5">
                <a:latin typeface="Times New Roman"/>
                <a:cs typeface="Times New Roman"/>
              </a:rPr>
              <a:t>Select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and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poll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functions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polling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access method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30693" y="2300477"/>
            <a:ext cx="8483345" cy="30777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106</a:t>
            </a:fld>
            <a:endParaRPr spc="-5"/>
          </a:p>
        </p:txBody>
      </p:sp>
    </p:spTree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773" y="752347"/>
            <a:ext cx="8773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12.20	</a:t>
            </a:r>
            <a:r>
              <a:rPr sz="2000" i="1" spc="-5">
                <a:latin typeface="Times New Roman"/>
                <a:cs typeface="Times New Roman"/>
              </a:rPr>
              <a:t>Logical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ring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and</a:t>
            </a:r>
            <a:r>
              <a:rPr sz="2000" i="1" spc="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physical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topology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 spc="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token-passing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access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method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27239" y="1485900"/>
            <a:ext cx="8763000" cy="5149850"/>
            <a:chOff x="927239" y="1485900"/>
            <a:chExt cx="8763000" cy="5149850"/>
          </a:xfrm>
        </p:grpSpPr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765439" y="1485900"/>
              <a:ext cx="7102602" cy="50352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7239" y="6559296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107</a:t>
            </a:fld>
            <a:endParaRPr spc="-5"/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62710" algn="l"/>
              </a:tabLst>
            </a:pPr>
            <a:r>
              <a:rPr spc="-5"/>
              <a:t>12-3	</a:t>
            </a:r>
            <a:r>
              <a:rPr spc="-20"/>
              <a:t>CHANNELIZATION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4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4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4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4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4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58373" y="1894586"/>
            <a:ext cx="8070850" cy="434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Channelization </a:t>
            </a:r>
            <a:r>
              <a:rPr sz="2800" b="1" i="1" dirty="0">
                <a:latin typeface="Times New Roman"/>
                <a:cs typeface="Times New Roman"/>
              </a:rPr>
              <a:t>is a </a:t>
            </a:r>
            <a:r>
              <a:rPr sz="2800" b="1" i="1" spc="-5" dirty="0">
                <a:latin typeface="Times New Roman"/>
                <a:cs typeface="Times New Roman"/>
              </a:rPr>
              <a:t>multiple-access method in which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available bandwidth </a:t>
            </a:r>
            <a:r>
              <a:rPr sz="2800" b="1" i="1" dirty="0">
                <a:latin typeface="Times New Roman"/>
                <a:cs typeface="Times New Roman"/>
              </a:rPr>
              <a:t>of a </a:t>
            </a:r>
            <a:r>
              <a:rPr sz="2800" b="1" i="1" spc="-5" dirty="0">
                <a:latin typeface="Times New Roman"/>
                <a:cs typeface="Times New Roman"/>
              </a:rPr>
              <a:t>link is shared in time,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5" dirty="0">
                <a:latin typeface="Times New Roman"/>
                <a:cs typeface="Times New Roman"/>
              </a:rPr>
              <a:t>frequency, </a:t>
            </a:r>
            <a:r>
              <a:rPr sz="2800" b="1" i="1" spc="-5" dirty="0">
                <a:latin typeface="Times New Roman"/>
                <a:cs typeface="Times New Roman"/>
              </a:rPr>
              <a:t>or through code, between </a:t>
            </a:r>
            <a:r>
              <a:rPr sz="2800" b="1" i="1" spc="-10" dirty="0">
                <a:latin typeface="Times New Roman"/>
                <a:cs typeface="Times New Roman"/>
              </a:rPr>
              <a:t>different </a:t>
            </a:r>
            <a:r>
              <a:rPr sz="2800" b="1" i="1" spc="-145" dirty="0">
                <a:latin typeface="Times New Roman"/>
                <a:cs typeface="Times New Roman"/>
              </a:rPr>
              <a:t>stations.. </a:t>
            </a:r>
            <a:r>
              <a:rPr sz="2800" b="1" i="1" spc="-1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section,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discuss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three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channelization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30" dirty="0">
                <a:latin typeface="Times New Roman"/>
                <a:cs typeface="Times New Roman"/>
              </a:rPr>
              <a:t>protocols..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50" dirty="0">
              <a:latin typeface="Times New Roman"/>
              <a:cs typeface="Times New Roman"/>
            </a:endParaRPr>
          </a:p>
          <a:p>
            <a:pPr marL="12700" marR="2191385" indent="27940">
              <a:lnSpc>
                <a:spcPct val="104000"/>
              </a:lnSpc>
              <a:spcBef>
                <a:spcPts val="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 in this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Frequency-Division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Multiple</a:t>
            </a:r>
            <a:r>
              <a:rPr sz="2400" b="1" spc="-1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Access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(FDMA)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me-Division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Multiple</a:t>
            </a:r>
            <a:r>
              <a:rPr sz="2400" b="1" spc="-1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Acces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s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(TDMA) 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Code-Divisio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n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Multiple</a:t>
            </a:r>
            <a:r>
              <a:rPr sz="2400" b="1" spc="-1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Acces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s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(CDMA)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108</a:t>
            </a:fld>
            <a:endParaRPr spc="-5"/>
          </a:p>
        </p:txBody>
      </p:sp>
    </p:spTree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450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12.21	</a:t>
            </a:r>
            <a:r>
              <a:rPr sz="2000" i="1" spc="-5">
                <a:latin typeface="Times New Roman"/>
                <a:cs typeface="Times New Roman"/>
              </a:rPr>
              <a:t>Frequency-division multiple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access (FDMA)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488071" y="1581150"/>
            <a:ext cx="7211568" cy="478764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109</a:t>
            </a:fld>
            <a:endParaRPr spc="-5"/>
          </a:p>
        </p:txBody>
      </p:sp>
    </p:spTree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341630" marR="335280" indent="472440">
              <a:lnSpc>
                <a:spcPct val="100000"/>
              </a:lnSpc>
              <a:spcBef>
                <a:spcPts val="275"/>
              </a:spcBef>
            </a:pPr>
            <a:r>
              <a:rPr sz="3200" b="1" spc="-5">
                <a:latin typeface="Arial"/>
                <a:cs typeface="Arial"/>
              </a:rPr>
              <a:t>In</a:t>
            </a:r>
            <a:r>
              <a:rPr sz="3200" b="1" spc="204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FDMA,</a:t>
            </a:r>
            <a:r>
              <a:rPr sz="3200" b="1" spc="204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the</a:t>
            </a:r>
            <a:r>
              <a:rPr sz="3200" b="1" spc="204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available</a:t>
            </a:r>
            <a:r>
              <a:rPr sz="3200" b="1" spc="20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bandwidth </a:t>
            </a:r>
            <a:r>
              <a:rPr sz="3200" b="1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of</a:t>
            </a:r>
            <a:r>
              <a:rPr sz="3200" b="1" spc="-2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the</a:t>
            </a:r>
            <a:r>
              <a:rPr sz="3200" b="1" spc="-15">
                <a:latin typeface="Arial"/>
                <a:cs typeface="Arial"/>
              </a:rPr>
              <a:t> </a:t>
            </a:r>
            <a:r>
              <a:rPr sz="3200" b="1" spc="-10">
                <a:latin typeface="Arial"/>
                <a:cs typeface="Arial"/>
              </a:rPr>
              <a:t>common </a:t>
            </a:r>
            <a:r>
              <a:rPr sz="3200" b="1" spc="-5">
                <a:latin typeface="Arial"/>
                <a:cs typeface="Arial"/>
              </a:rPr>
              <a:t>channel</a:t>
            </a:r>
            <a:r>
              <a:rPr sz="3200" b="1" spc="-3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is divided</a:t>
            </a:r>
            <a:r>
              <a:rPr sz="3200" b="1" spc="-30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into</a:t>
            </a:r>
            <a:endParaRPr sz="3200">
              <a:latin typeface="Arial"/>
              <a:cs typeface="Arial"/>
            </a:endParaRPr>
          </a:p>
          <a:p>
            <a:pPr marL="3383915" marR="718820" indent="-2660015">
              <a:lnSpc>
                <a:spcPct val="100000"/>
              </a:lnSpc>
            </a:pPr>
            <a:r>
              <a:rPr sz="3200" b="1" spc="-10">
                <a:latin typeface="Arial"/>
                <a:cs typeface="Arial"/>
              </a:rPr>
              <a:t>bands </a:t>
            </a:r>
            <a:r>
              <a:rPr sz="3200" b="1" spc="-5">
                <a:latin typeface="Arial"/>
                <a:cs typeface="Arial"/>
              </a:rPr>
              <a:t>that are </a:t>
            </a:r>
            <a:r>
              <a:rPr sz="3200" b="1" spc="-10">
                <a:latin typeface="Arial"/>
                <a:cs typeface="Arial"/>
              </a:rPr>
              <a:t>separated </a:t>
            </a:r>
            <a:r>
              <a:rPr sz="3200" b="1" spc="-5">
                <a:latin typeface="Arial"/>
                <a:cs typeface="Arial"/>
              </a:rPr>
              <a:t>by </a:t>
            </a:r>
            <a:r>
              <a:rPr sz="3200" b="1" spc="-10">
                <a:latin typeface="Arial"/>
                <a:cs typeface="Arial"/>
              </a:rPr>
              <a:t>guard </a:t>
            </a:r>
            <a:r>
              <a:rPr sz="3200" b="1" spc="-875">
                <a:latin typeface="Arial"/>
                <a:cs typeface="Arial"/>
              </a:rPr>
              <a:t> </a:t>
            </a:r>
            <a:r>
              <a:rPr sz="3200" b="1" spc="-5">
                <a:latin typeface="Arial"/>
                <a:cs typeface="Arial"/>
              </a:rPr>
              <a:t>bands.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110</a:t>
            </a:fld>
            <a:endParaRPr spc="-5"/>
          </a:p>
        </p:txBody>
      </p:sp>
    </p:spTree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834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12.22	</a:t>
            </a:r>
            <a:r>
              <a:rPr sz="2000" i="1" spc="-10">
                <a:latin typeface="Times New Roman"/>
                <a:cs typeface="Times New Roman"/>
              </a:rPr>
              <a:t>Time-division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multiple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access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(TDMA)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13039" y="1592580"/>
            <a:ext cx="7212330" cy="477621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111</a:t>
            </a:fld>
            <a:endParaRPr spc="-5"/>
          </a:p>
        </p:txBody>
      </p:sp>
    </p:spTree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08100" y="1981871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611505" marR="603250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In TDMA, the bandwidth is just one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channel that is </a:t>
            </a:r>
            <a:r>
              <a:rPr sz="3200" b="1" spc="-10" dirty="0">
                <a:latin typeface="Arial"/>
                <a:cs typeface="Arial"/>
              </a:rPr>
              <a:t>timeshared </a:t>
            </a:r>
            <a:r>
              <a:rPr sz="3200" b="1" spc="-5" dirty="0">
                <a:latin typeface="Arial"/>
                <a:cs typeface="Arial"/>
              </a:rPr>
              <a:t>between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different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stations.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112</a:t>
            </a:fld>
            <a:endParaRPr spc="-5"/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7C6D6F70-D934-6E53-E380-3D6385F8B09D}"/>
              </a:ext>
            </a:extLst>
          </p:cNvPr>
          <p:cNvSpPr txBox="1"/>
          <p:nvPr/>
        </p:nvSpPr>
        <p:spPr>
          <a:xfrm>
            <a:off x="1265567" y="4141465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87755" marR="889635" indent="-195580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In </a:t>
            </a:r>
            <a:r>
              <a:rPr sz="3200" b="1" spc="-10" dirty="0">
                <a:latin typeface="Arial"/>
                <a:cs typeface="Arial"/>
              </a:rPr>
              <a:t>CDMA, </a:t>
            </a:r>
            <a:r>
              <a:rPr sz="3200" b="1" spc="-5" dirty="0">
                <a:latin typeface="Arial"/>
                <a:cs typeface="Arial"/>
              </a:rPr>
              <a:t>one </a:t>
            </a:r>
            <a:r>
              <a:rPr sz="3200" b="1" spc="-10" dirty="0">
                <a:latin typeface="Arial"/>
                <a:cs typeface="Arial"/>
              </a:rPr>
              <a:t>channel carries all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transmissions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40" dirty="0">
                <a:latin typeface="Arial"/>
                <a:cs typeface="Arial"/>
              </a:rPr>
              <a:t>simultaneously.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042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12.23	</a:t>
            </a:r>
            <a:r>
              <a:rPr sz="2000" i="1" spc="-5">
                <a:latin typeface="Times New Roman"/>
                <a:cs typeface="Times New Roman"/>
              </a:rPr>
              <a:t>Simple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idea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of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communication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with code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13623" y="1687829"/>
            <a:ext cx="7258050" cy="429996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113</a:t>
            </a:fld>
            <a:endParaRPr spc="-5"/>
          </a:p>
        </p:txBody>
      </p:sp>
    </p:spTree>
  </p:cSld>
  <p:clrMapOvr>
    <a:masterClrMapping/>
  </p:clrMapOvr>
  <p:transition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425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12.24	</a:t>
            </a:r>
            <a:r>
              <a:rPr sz="2000" i="1" spc="-5">
                <a:latin typeface="Times New Roman"/>
                <a:cs typeface="Times New Roman"/>
              </a:rPr>
              <a:t>Chip</a:t>
            </a:r>
            <a:r>
              <a:rPr sz="2000" i="1" spc="-4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sequences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927239" y="1693193"/>
            <a:ext cx="8775954" cy="86334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114</a:t>
            </a:fld>
            <a:endParaRPr spc="-5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C8FDC7DA-F39D-9BE5-DFD6-DACCCA8AF4AE}"/>
              </a:ext>
            </a:extLst>
          </p:cNvPr>
          <p:cNvSpPr txBox="1">
            <a:spLocks/>
          </p:cNvSpPr>
          <p:nvPr/>
        </p:nvSpPr>
        <p:spPr>
          <a:xfrm>
            <a:off x="1026220" y="3064066"/>
            <a:ext cx="4956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  <a:tabLst>
                <a:tab pos="1782445" algn="l"/>
              </a:tabLst>
            </a:pPr>
            <a:r>
              <a:rPr lang="it-IT" sz="2400" kern="0" spc="-10" dirty="0">
                <a:solidFill>
                  <a:srgbClr val="3333CC"/>
                </a:solidFill>
              </a:rPr>
              <a:t>Figure</a:t>
            </a:r>
            <a:r>
              <a:rPr lang="it-IT" sz="2400" kern="0" spc="-15" dirty="0">
                <a:solidFill>
                  <a:srgbClr val="3333CC"/>
                </a:solidFill>
              </a:rPr>
              <a:t> </a:t>
            </a:r>
            <a:r>
              <a:rPr lang="it-IT" sz="2400" kern="0" spc="-5" dirty="0">
                <a:solidFill>
                  <a:srgbClr val="3333CC"/>
                </a:solidFill>
              </a:rPr>
              <a:t>12.25	</a:t>
            </a:r>
            <a:r>
              <a:rPr lang="it-IT" sz="2000" i="1" kern="0" spc="-5" dirty="0"/>
              <a:t>Data</a:t>
            </a:r>
            <a:r>
              <a:rPr lang="it-IT" sz="2000" i="1" kern="0" spc="-10" dirty="0"/>
              <a:t> representation</a:t>
            </a:r>
            <a:r>
              <a:rPr lang="it-IT" sz="2000" i="1" kern="0" spc="-35" dirty="0"/>
              <a:t> </a:t>
            </a:r>
            <a:r>
              <a:rPr lang="it-IT" sz="2000" i="1" kern="0" spc="-5" dirty="0"/>
              <a:t>in</a:t>
            </a:r>
            <a:r>
              <a:rPr lang="it-IT" sz="2000" i="1" kern="0" spc="-10" dirty="0"/>
              <a:t> </a:t>
            </a:r>
            <a:r>
              <a:rPr lang="it-IT" sz="2000" i="1" kern="0" spc="-5" dirty="0"/>
              <a:t>CDMA</a:t>
            </a:r>
            <a:endParaRPr lang="it-IT" sz="2000" kern="0" dirty="0"/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530C8A9-1240-4645-50EF-8901D8C604E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26220" y="4048567"/>
            <a:ext cx="8125968" cy="71704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634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12.26	</a:t>
            </a:r>
            <a:r>
              <a:rPr sz="2000" i="1" spc="-10">
                <a:latin typeface="Times New Roman"/>
                <a:cs typeface="Times New Roman"/>
              </a:rPr>
              <a:t>Sharing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channel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10">
                <a:latin typeface="Times New Roman"/>
                <a:cs typeface="Times New Roman"/>
              </a:rPr>
              <a:t>CDMA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960767" y="1872995"/>
            <a:ext cx="8729471" cy="44957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115</a:t>
            </a:fld>
            <a:endParaRPr spc="-5"/>
          </a:p>
        </p:txBody>
      </p:sp>
    </p:spTree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800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12.27	</a:t>
            </a:r>
            <a:r>
              <a:rPr sz="2000" i="1" spc="-5">
                <a:latin typeface="Times New Roman"/>
                <a:cs typeface="Times New Roman"/>
              </a:rPr>
              <a:t>Digital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signal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created</a:t>
            </a:r>
            <a:r>
              <a:rPr sz="2000" i="1" spc="-1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by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four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stations</a:t>
            </a:r>
            <a:r>
              <a:rPr sz="2000" i="1" spc="-2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 spc="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CDMA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54493" y="1901951"/>
            <a:ext cx="8026145" cy="423824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116</a:t>
            </a:fld>
            <a:endParaRPr spc="-5"/>
          </a:p>
        </p:txBody>
      </p:sp>
    </p:spTree>
  </p:cSld>
  <p:clrMapOvr>
    <a:masterClrMapping/>
  </p:clrMapOvr>
  <p:transition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7163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12.28	</a:t>
            </a:r>
            <a:r>
              <a:rPr sz="2000" i="1" spc="-5">
                <a:latin typeface="Times New Roman"/>
                <a:cs typeface="Times New Roman"/>
              </a:rPr>
              <a:t>Decoding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of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the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composite</a:t>
            </a:r>
            <a:r>
              <a:rPr sz="2000" i="1" spc="-10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signal</a:t>
            </a:r>
            <a:r>
              <a:rPr sz="2000" i="1" spc="-2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for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one</a:t>
            </a:r>
            <a:r>
              <a:rPr sz="2000" i="1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in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CDMA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494167" y="1651254"/>
            <a:ext cx="7357871" cy="433654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117</a:t>
            </a:fld>
            <a:endParaRPr spc="-5"/>
          </a:p>
        </p:txBody>
      </p:sp>
    </p:spTree>
  </p:cSld>
  <p:clrMapOvr>
    <a:masterClrMapping/>
  </p:clrMapOvr>
  <p:transition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7193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>
                <a:solidFill>
                  <a:srgbClr val="3333CC"/>
                </a:solidFill>
              </a:rPr>
              <a:t>Figure</a:t>
            </a:r>
            <a:r>
              <a:rPr sz="2400" spc="-15">
                <a:solidFill>
                  <a:srgbClr val="3333CC"/>
                </a:solidFill>
              </a:rPr>
              <a:t> </a:t>
            </a:r>
            <a:r>
              <a:rPr sz="2400" spc="-5">
                <a:solidFill>
                  <a:srgbClr val="3333CC"/>
                </a:solidFill>
              </a:rPr>
              <a:t>12.29	</a:t>
            </a:r>
            <a:r>
              <a:rPr sz="2000" i="1" spc="-5">
                <a:latin typeface="Times New Roman"/>
                <a:cs typeface="Times New Roman"/>
              </a:rPr>
              <a:t>General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rule and</a:t>
            </a:r>
            <a:r>
              <a:rPr sz="2000" i="1" spc="5">
                <a:latin typeface="Times New Roman"/>
                <a:cs typeface="Times New Roman"/>
              </a:rPr>
              <a:t> </a:t>
            </a:r>
            <a:r>
              <a:rPr sz="2000" i="1" spc="-5">
                <a:latin typeface="Times New Roman"/>
                <a:cs typeface="Times New Roman"/>
              </a:rPr>
              <a:t>examples of creating</a:t>
            </a:r>
            <a:r>
              <a:rPr sz="2000" i="1" spc="-50">
                <a:latin typeface="Times New Roman"/>
                <a:cs typeface="Times New Roman"/>
              </a:rPr>
              <a:t> </a:t>
            </a:r>
            <a:r>
              <a:rPr sz="2000" i="1" spc="-35">
                <a:latin typeface="Times New Roman"/>
                <a:cs typeface="Times New Roman"/>
              </a:rPr>
              <a:t>Walsh</a:t>
            </a:r>
            <a:r>
              <a:rPr sz="2000" i="1" spc="-5">
                <a:latin typeface="Times New Roman"/>
                <a:cs typeface="Times New Roman"/>
              </a:rPr>
              <a:t> tables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949843" y="1767077"/>
            <a:ext cx="5987796" cy="45255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118</a:t>
            </a:fld>
            <a:endParaRPr spc="-5"/>
          </a:p>
        </p:txBody>
      </p:sp>
    </p:spTree>
  </p:cSld>
  <p:clrMapOvr>
    <a:masterClrMapping/>
  </p:clrMapOvr>
  <p:transition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4212" y="1585327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12.6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26220" y="2223375"/>
            <a:ext cx="7654290" cy="433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Find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chips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network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</a:t>
            </a:r>
            <a:endParaRPr sz="28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tabLst>
                <a:tab pos="3228975" algn="l"/>
              </a:tabLst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a.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40" dirty="0">
                <a:latin typeface="Times New Roman"/>
                <a:cs typeface="Times New Roman"/>
              </a:rPr>
              <a:t>Two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stations	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sz="2800" b="1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Four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stations</a:t>
            </a:r>
            <a:endParaRPr sz="30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rows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-60" dirty="0">
                <a:latin typeface="Times New Roman"/>
                <a:cs typeface="Times New Roman"/>
              </a:rPr>
              <a:t> </a:t>
            </a:r>
            <a:r>
              <a:rPr sz="2800" b="1" i="1" spc="10" dirty="0">
                <a:latin typeface="Times New Roman"/>
                <a:cs typeface="Times New Roman"/>
              </a:rPr>
              <a:t>W</a:t>
            </a:r>
            <a:r>
              <a:rPr sz="2775" b="1" i="1" spc="15" baseline="-9009" dirty="0">
                <a:latin typeface="Times New Roman"/>
                <a:cs typeface="Times New Roman"/>
              </a:rPr>
              <a:t>2</a:t>
            </a:r>
            <a:r>
              <a:rPr sz="2775" b="1" i="1" spc="352" baseline="-9009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775" b="1" i="1" baseline="-9009" dirty="0">
                <a:latin typeface="Times New Roman"/>
                <a:cs typeface="Times New Roman"/>
              </a:rPr>
              <a:t>4</a:t>
            </a:r>
            <a:r>
              <a:rPr sz="2775" b="1" i="1" spc="359" baseline="-9009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12.29:</a:t>
            </a:r>
            <a:endParaRPr sz="2800" dirty="0">
              <a:latin typeface="Times New Roman"/>
              <a:cs typeface="Times New Roman"/>
            </a:endParaRPr>
          </a:p>
          <a:p>
            <a:pPr marL="418465" indent="-355600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41910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two-station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network,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have</a:t>
            </a:r>
            <a:endParaRPr sz="2800" dirty="0">
              <a:latin typeface="Times New Roman"/>
              <a:cs typeface="Times New Roman"/>
            </a:endParaRPr>
          </a:p>
          <a:p>
            <a:pPr marL="2462530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[+1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+1]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[+1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−1].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417195" indent="-354330">
              <a:lnSpc>
                <a:spcPct val="100000"/>
              </a:lnSpc>
              <a:buClr>
                <a:srgbClr val="FF0000"/>
              </a:buClr>
              <a:buAutoNum type="alphaLcPeriod" startAt="2"/>
              <a:tabLst>
                <a:tab pos="41783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For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four-station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network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have</a:t>
            </a:r>
            <a:endParaRPr sz="2800" dirty="0">
              <a:latin typeface="Times New Roman"/>
              <a:cs typeface="Times New Roman"/>
            </a:endParaRPr>
          </a:p>
          <a:p>
            <a:pPr marL="2106930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[+1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+1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+1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+1],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[+1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−1 </a:t>
            </a:r>
            <a:r>
              <a:rPr sz="2800" b="1" dirty="0">
                <a:latin typeface="Times New Roman"/>
                <a:cs typeface="Times New Roman"/>
              </a:rPr>
              <a:t>+1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−1],</a:t>
            </a:r>
            <a:endParaRPr sz="2800" dirty="0">
              <a:latin typeface="Times New Roman"/>
              <a:cs typeface="Times New Roman"/>
            </a:endParaRPr>
          </a:p>
          <a:p>
            <a:pPr marL="1573530">
              <a:lnSpc>
                <a:spcPct val="100000"/>
              </a:lnSpc>
              <a:tabLst>
                <a:tab pos="3869054" algn="l"/>
                <a:tab pos="4690110" algn="l"/>
              </a:tabLst>
            </a:pPr>
            <a:r>
              <a:rPr sz="2800" b="1" dirty="0">
                <a:latin typeface="Times New Roman"/>
                <a:cs typeface="Times New Roman"/>
              </a:rPr>
              <a:t>[+1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+1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−1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−1],	</a:t>
            </a:r>
            <a:r>
              <a:rPr sz="2800" b="1" i="1" dirty="0">
                <a:latin typeface="Times New Roman"/>
                <a:cs typeface="Times New Roman"/>
              </a:rPr>
              <a:t>and	</a:t>
            </a:r>
            <a:r>
              <a:rPr sz="2800" b="1" dirty="0">
                <a:latin typeface="Times New Roman"/>
                <a:cs typeface="Times New Roman"/>
              </a:rPr>
              <a:t>[+1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−1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−1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+1].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119</a:t>
            </a:fld>
            <a:endParaRPr spc="-5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21DC517-68AC-AB52-6142-07C285B41ACD}"/>
              </a:ext>
            </a:extLst>
          </p:cNvPr>
          <p:cNvSpPr txBox="1"/>
          <p:nvPr/>
        </p:nvSpPr>
        <p:spPr>
          <a:xfrm>
            <a:off x="814765" y="336944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657985" marR="468630" indent="-1184275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number </a:t>
            </a:r>
            <a:r>
              <a:rPr sz="3200" b="1" spc="-5" dirty="0">
                <a:latin typeface="Arial"/>
                <a:cs typeface="Arial"/>
              </a:rPr>
              <a:t>of </a:t>
            </a:r>
            <a:r>
              <a:rPr sz="3200" b="1" spc="-10" dirty="0">
                <a:latin typeface="Arial"/>
                <a:cs typeface="Arial"/>
              </a:rPr>
              <a:t>sequences </a:t>
            </a:r>
            <a:r>
              <a:rPr sz="3200" b="1" spc="-5" dirty="0">
                <a:latin typeface="Arial"/>
                <a:cs typeface="Arial"/>
              </a:rPr>
              <a:t>in a </a:t>
            </a:r>
            <a:r>
              <a:rPr sz="3200" b="1" spc="-35" dirty="0">
                <a:latin typeface="Arial"/>
                <a:cs typeface="Arial"/>
              </a:rPr>
              <a:t>Walsh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table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needs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=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5" dirty="0">
                <a:latin typeface="Arial"/>
                <a:cs typeface="Arial"/>
              </a:rPr>
              <a:t>2</a:t>
            </a:r>
            <a:r>
              <a:rPr sz="3150" b="1" spc="7" baseline="25132" dirty="0">
                <a:latin typeface="Arial"/>
                <a:cs typeface="Arial"/>
              </a:rPr>
              <a:t>m</a:t>
            </a:r>
            <a:r>
              <a:rPr sz="3200" b="1" spc="5" dirty="0">
                <a:latin typeface="Arial"/>
                <a:cs typeface="Arial"/>
              </a:rPr>
              <a:t>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12.7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7864" y="1512824"/>
            <a:ext cx="8653780" cy="3028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17780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What</a:t>
            </a:r>
            <a:r>
              <a:rPr sz="2800" b="1" i="1" spc="2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is</a:t>
            </a:r>
            <a:r>
              <a:rPr sz="2800" b="1" i="1" spc="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3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number</a:t>
            </a:r>
            <a:r>
              <a:rPr sz="2800" b="1" i="1" spc="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sequences</a:t>
            </a:r>
            <a:r>
              <a:rPr sz="2800" b="1" i="1" spc="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if</a:t>
            </a:r>
            <a:r>
              <a:rPr sz="2800" b="1" i="1" spc="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we</a:t>
            </a:r>
            <a:r>
              <a:rPr sz="2800" b="1" i="1" spc="3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have</a:t>
            </a:r>
            <a:r>
              <a:rPr sz="2800" b="1" i="1" spc="1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90</a:t>
            </a:r>
            <a:r>
              <a:rPr sz="2800" b="1" i="1" spc="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stations</a:t>
            </a:r>
            <a:r>
              <a:rPr sz="2800" b="1" i="1" spc="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in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our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network?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 marR="92710" algn="just">
              <a:lnSpc>
                <a:spcPct val="100000"/>
              </a:lnSpc>
            </a:pPr>
            <a:r>
              <a:rPr sz="2800" b="1" i="1" spc="-5">
                <a:latin typeface="Times New Roman"/>
                <a:cs typeface="Times New Roman"/>
              </a:rPr>
              <a:t>The number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5">
                <a:latin typeface="Times New Roman"/>
                <a:cs typeface="Times New Roman"/>
              </a:rPr>
              <a:t>sequences needs to </a:t>
            </a:r>
            <a:r>
              <a:rPr sz="2800" b="1" i="1">
                <a:latin typeface="Times New Roman"/>
                <a:cs typeface="Times New Roman"/>
              </a:rPr>
              <a:t>be 2</a:t>
            </a:r>
            <a:r>
              <a:rPr sz="2775" b="1" i="1" baseline="25525">
                <a:latin typeface="Times New Roman"/>
                <a:cs typeface="Times New Roman"/>
              </a:rPr>
              <a:t>m</a:t>
            </a:r>
            <a:r>
              <a:rPr sz="2800" b="1" i="1">
                <a:latin typeface="Times New Roman"/>
                <a:cs typeface="Times New Roman"/>
              </a:rPr>
              <a:t>. </a:t>
            </a:r>
            <a:r>
              <a:rPr sz="2800" b="1" i="1" spc="-110">
                <a:latin typeface="Times New Roman"/>
                <a:cs typeface="Times New Roman"/>
              </a:rPr>
              <a:t>We</a:t>
            </a:r>
            <a:r>
              <a:rPr sz="2800" b="1" i="1" spc="-10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need to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choose</a:t>
            </a:r>
            <a:r>
              <a:rPr sz="2800" b="1" i="1" spc="47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m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=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7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and</a:t>
            </a:r>
            <a:r>
              <a:rPr sz="2800" b="1" i="1" spc="47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N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=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2</a:t>
            </a:r>
            <a:r>
              <a:rPr sz="2775" b="1" i="1" baseline="25525">
                <a:latin typeface="Times New Roman"/>
                <a:cs typeface="Times New Roman"/>
              </a:rPr>
              <a:t>7</a:t>
            </a:r>
            <a:r>
              <a:rPr sz="2775" b="1" i="1" spc="397" baseline="2552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or</a:t>
            </a:r>
            <a:r>
              <a:rPr sz="2800" b="1" i="1" spc="48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128.</a:t>
            </a:r>
            <a:r>
              <a:rPr sz="2800" b="1" i="1" spc="480">
                <a:latin typeface="Times New Roman"/>
                <a:cs typeface="Times New Roman"/>
              </a:rPr>
              <a:t> </a:t>
            </a:r>
            <a:r>
              <a:rPr sz="2800" b="1" i="1" spc="-110">
                <a:latin typeface="Times New Roman"/>
                <a:cs typeface="Times New Roman"/>
              </a:rPr>
              <a:t>We  </a:t>
            </a:r>
            <a:r>
              <a:rPr sz="2800" b="1" i="1" spc="-5">
                <a:latin typeface="Times New Roman"/>
                <a:cs typeface="Times New Roman"/>
              </a:rPr>
              <a:t>can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then</a:t>
            </a:r>
            <a:r>
              <a:rPr sz="2800" b="1" i="1" spc="48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use</a:t>
            </a:r>
            <a:r>
              <a:rPr sz="2800" b="1" i="1" spc="46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90 </a:t>
            </a:r>
            <a:r>
              <a:rPr sz="2800" b="1" i="1" spc="-69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sequences</a:t>
            </a:r>
            <a:r>
              <a:rPr sz="2800" b="1" i="1" spc="-3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as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1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chips.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120</a:t>
            </a:fld>
            <a:endParaRPr spc="-5"/>
          </a:p>
        </p:txBody>
      </p:sp>
    </p:spTree>
  </p:cSld>
  <p:clrMapOvr>
    <a:masterClrMapping/>
  </p:clrMapOvr>
  <p:transition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12.8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3297649" y="5517641"/>
            <a:ext cx="50165" cy="48895"/>
          </a:xfrm>
          <a:custGeom>
            <a:avLst/>
            <a:gdLst/>
            <a:ahLst/>
            <a:cxnLst/>
            <a:rect l="l" t="t" r="r" b="b"/>
            <a:pathLst>
              <a:path w="50164" h="48895">
                <a:moveTo>
                  <a:pt x="49810" y="13417"/>
                </a:moveTo>
                <a:lnTo>
                  <a:pt x="41320" y="1523"/>
                </a:lnTo>
                <a:lnTo>
                  <a:pt x="37510" y="0"/>
                </a:lnTo>
                <a:lnTo>
                  <a:pt x="32938" y="0"/>
                </a:lnTo>
                <a:lnTo>
                  <a:pt x="27604" y="0"/>
                </a:lnTo>
                <a:lnTo>
                  <a:pt x="22270" y="1524"/>
                </a:lnTo>
                <a:lnTo>
                  <a:pt x="9570" y="10026"/>
                </a:lnTo>
                <a:lnTo>
                  <a:pt x="734" y="24060"/>
                </a:lnTo>
                <a:lnTo>
                  <a:pt x="0" y="38446"/>
                </a:lnTo>
                <a:lnTo>
                  <a:pt x="11602" y="48006"/>
                </a:lnTo>
                <a:lnTo>
                  <a:pt x="16174" y="48768"/>
                </a:lnTo>
                <a:lnTo>
                  <a:pt x="21508" y="48006"/>
                </a:lnTo>
                <a:lnTo>
                  <a:pt x="35185" y="41120"/>
                </a:lnTo>
                <a:lnTo>
                  <a:pt x="46192" y="28103"/>
                </a:lnTo>
                <a:lnTo>
                  <a:pt x="49810" y="13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43975" y="5517641"/>
            <a:ext cx="50165" cy="48895"/>
          </a:xfrm>
          <a:custGeom>
            <a:avLst/>
            <a:gdLst/>
            <a:ahLst/>
            <a:cxnLst/>
            <a:rect l="l" t="t" r="r" b="b"/>
            <a:pathLst>
              <a:path w="50164" h="48895">
                <a:moveTo>
                  <a:pt x="49810" y="13417"/>
                </a:moveTo>
                <a:lnTo>
                  <a:pt x="41320" y="1523"/>
                </a:lnTo>
                <a:lnTo>
                  <a:pt x="37510" y="0"/>
                </a:lnTo>
                <a:lnTo>
                  <a:pt x="32938" y="0"/>
                </a:lnTo>
                <a:lnTo>
                  <a:pt x="27604" y="0"/>
                </a:lnTo>
                <a:lnTo>
                  <a:pt x="22270" y="1524"/>
                </a:lnTo>
                <a:lnTo>
                  <a:pt x="9570" y="10026"/>
                </a:lnTo>
                <a:lnTo>
                  <a:pt x="734" y="24060"/>
                </a:lnTo>
                <a:lnTo>
                  <a:pt x="0" y="38446"/>
                </a:lnTo>
                <a:lnTo>
                  <a:pt x="11602" y="48006"/>
                </a:lnTo>
                <a:lnTo>
                  <a:pt x="16174" y="48768"/>
                </a:lnTo>
                <a:lnTo>
                  <a:pt x="21508" y="48006"/>
                </a:lnTo>
                <a:lnTo>
                  <a:pt x="35185" y="41120"/>
                </a:lnTo>
                <a:lnTo>
                  <a:pt x="46192" y="28103"/>
                </a:lnTo>
                <a:lnTo>
                  <a:pt x="49810" y="13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90288" y="5517641"/>
            <a:ext cx="50165" cy="48895"/>
          </a:xfrm>
          <a:custGeom>
            <a:avLst/>
            <a:gdLst/>
            <a:ahLst/>
            <a:cxnLst/>
            <a:rect l="l" t="t" r="r" b="b"/>
            <a:pathLst>
              <a:path w="50165" h="48895">
                <a:moveTo>
                  <a:pt x="49810" y="13417"/>
                </a:moveTo>
                <a:lnTo>
                  <a:pt x="41320" y="1523"/>
                </a:lnTo>
                <a:lnTo>
                  <a:pt x="37510" y="0"/>
                </a:lnTo>
                <a:lnTo>
                  <a:pt x="32938" y="0"/>
                </a:lnTo>
                <a:lnTo>
                  <a:pt x="27604" y="0"/>
                </a:lnTo>
                <a:lnTo>
                  <a:pt x="22270" y="1524"/>
                </a:lnTo>
                <a:lnTo>
                  <a:pt x="9570" y="10026"/>
                </a:lnTo>
                <a:lnTo>
                  <a:pt x="734" y="24060"/>
                </a:lnTo>
                <a:lnTo>
                  <a:pt x="0" y="38446"/>
                </a:lnTo>
                <a:lnTo>
                  <a:pt x="11602" y="48006"/>
                </a:lnTo>
                <a:lnTo>
                  <a:pt x="16174" y="48768"/>
                </a:lnTo>
                <a:lnTo>
                  <a:pt x="21508" y="48006"/>
                </a:lnTo>
                <a:lnTo>
                  <a:pt x="35185" y="41120"/>
                </a:lnTo>
                <a:lnTo>
                  <a:pt x="46192" y="28103"/>
                </a:lnTo>
                <a:lnTo>
                  <a:pt x="49810" y="13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36627" y="5517641"/>
            <a:ext cx="50165" cy="48895"/>
          </a:xfrm>
          <a:custGeom>
            <a:avLst/>
            <a:gdLst/>
            <a:ahLst/>
            <a:cxnLst/>
            <a:rect l="l" t="t" r="r" b="b"/>
            <a:pathLst>
              <a:path w="50165" h="48895">
                <a:moveTo>
                  <a:pt x="49810" y="13423"/>
                </a:moveTo>
                <a:lnTo>
                  <a:pt x="41320" y="1523"/>
                </a:lnTo>
                <a:lnTo>
                  <a:pt x="37510" y="0"/>
                </a:lnTo>
                <a:lnTo>
                  <a:pt x="32938" y="0"/>
                </a:lnTo>
                <a:lnTo>
                  <a:pt x="27604" y="0"/>
                </a:lnTo>
                <a:lnTo>
                  <a:pt x="22270" y="1524"/>
                </a:lnTo>
                <a:lnTo>
                  <a:pt x="9570" y="10026"/>
                </a:lnTo>
                <a:lnTo>
                  <a:pt x="734" y="24060"/>
                </a:lnTo>
                <a:lnTo>
                  <a:pt x="0" y="38446"/>
                </a:lnTo>
                <a:lnTo>
                  <a:pt x="11602" y="48006"/>
                </a:lnTo>
                <a:lnTo>
                  <a:pt x="16174" y="48768"/>
                </a:lnTo>
                <a:lnTo>
                  <a:pt x="21508" y="48006"/>
                </a:lnTo>
                <a:lnTo>
                  <a:pt x="35185" y="41121"/>
                </a:lnTo>
                <a:lnTo>
                  <a:pt x="46192" y="28108"/>
                </a:lnTo>
                <a:lnTo>
                  <a:pt x="49810" y="134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44073" y="1512824"/>
            <a:ext cx="8630285" cy="507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 marR="685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Prove that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-5">
                <a:latin typeface="Times New Roman"/>
                <a:cs typeface="Times New Roman"/>
              </a:rPr>
              <a:t>receiving station can get the data sent by </a:t>
            </a:r>
            <a:r>
              <a:rPr sz="2800" b="1" i="1">
                <a:latin typeface="Times New Roman"/>
                <a:cs typeface="Times New Roman"/>
              </a:rPr>
              <a:t>a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specific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sender</a:t>
            </a:r>
            <a:r>
              <a:rPr sz="2800" b="1" i="1">
                <a:latin typeface="Times New Roman"/>
                <a:cs typeface="Times New Roman"/>
              </a:rPr>
              <a:t> if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it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multiplies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entire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data</a:t>
            </a:r>
            <a:r>
              <a:rPr sz="2800" b="1" i="1">
                <a:latin typeface="Times New Roman"/>
                <a:cs typeface="Times New Roman"/>
              </a:rPr>
              <a:t> on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 </a:t>
            </a:r>
            <a:r>
              <a:rPr sz="2800" b="1" i="1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channel by the </a:t>
            </a:r>
            <a:r>
              <a:rPr sz="2800" b="1" i="1" spc="-20">
                <a:latin typeface="Times New Roman"/>
                <a:cs typeface="Times New Roman"/>
              </a:rPr>
              <a:t>sender’s </a:t>
            </a:r>
            <a:r>
              <a:rPr sz="2800" b="1" i="1" spc="-5">
                <a:latin typeface="Times New Roman"/>
                <a:cs typeface="Times New Roman"/>
              </a:rPr>
              <a:t>chip code and then divides it by </a:t>
            </a:r>
            <a:r>
              <a:rPr sz="2800" b="1" i="1">
                <a:latin typeface="Times New Roman"/>
                <a:cs typeface="Times New Roman"/>
              </a:rPr>
              <a:t> the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number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of </a:t>
            </a:r>
            <a:r>
              <a:rPr sz="2800" b="1" i="1" spc="-5">
                <a:latin typeface="Times New Roman"/>
                <a:cs typeface="Times New Roman"/>
              </a:rPr>
              <a:t>stations.</a:t>
            </a:r>
            <a:endParaRPr sz="2800">
              <a:latin typeface="Times New Roman"/>
              <a:cs typeface="Times New Roman"/>
            </a:endParaRPr>
          </a:p>
          <a:p>
            <a:pPr marR="7272655" algn="ctr">
              <a:lnSpc>
                <a:spcPct val="100000"/>
              </a:lnSpc>
              <a:spcBef>
                <a:spcPts val="2760"/>
              </a:spcBef>
            </a:pPr>
            <a:r>
              <a:rPr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 marR="68580" indent="-635" algn="ctr">
              <a:lnSpc>
                <a:spcPct val="100000"/>
              </a:lnSpc>
              <a:tabLst>
                <a:tab pos="1958339" algn="l"/>
                <a:tab pos="3436620" algn="l"/>
                <a:tab pos="4050665" algn="l"/>
                <a:tab pos="4751705" algn="l"/>
                <a:tab pos="5393055" algn="l"/>
                <a:tab pos="6133465" algn="l"/>
                <a:tab pos="6755130" algn="l"/>
                <a:tab pos="7554595" algn="l"/>
                <a:tab pos="8098790" algn="l"/>
              </a:tabLst>
            </a:pPr>
            <a:r>
              <a:rPr sz="2800" b="1" i="1" spc="-5">
                <a:latin typeface="Times New Roman"/>
                <a:cs typeface="Times New Roman"/>
              </a:rPr>
              <a:t>Let</a:t>
            </a:r>
            <a:r>
              <a:rPr sz="2800" b="1" i="1" spc="26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us</a:t>
            </a:r>
            <a:r>
              <a:rPr sz="2800" b="1" i="1" spc="26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prove</a:t>
            </a:r>
            <a:r>
              <a:rPr sz="2800" b="1" i="1" spc="25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this</a:t>
            </a:r>
            <a:r>
              <a:rPr sz="2800" b="1" i="1" spc="26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for</a:t>
            </a:r>
            <a:r>
              <a:rPr sz="2800" b="1" i="1" spc="26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</a:t>
            </a:r>
            <a:r>
              <a:rPr sz="2800" b="1" i="1" spc="26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first</a:t>
            </a:r>
            <a:r>
              <a:rPr sz="2800" b="1" i="1" spc="26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station,</a:t>
            </a:r>
            <a:r>
              <a:rPr sz="2800" b="1" i="1" spc="254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using</a:t>
            </a:r>
            <a:r>
              <a:rPr sz="2800" b="1" i="1" spc="26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our</a:t>
            </a:r>
            <a:r>
              <a:rPr sz="2800" b="1" i="1" spc="26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previous </a:t>
            </a:r>
            <a:r>
              <a:rPr sz="2800" b="1" i="1" spc="-68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four-</a:t>
            </a:r>
            <a:r>
              <a:rPr sz="2800" b="1" i="1" spc="-5">
                <a:latin typeface="Times New Roman"/>
                <a:cs typeface="Times New Roman"/>
              </a:rPr>
              <a:t>statio</a:t>
            </a:r>
            <a:r>
              <a:rPr sz="2800" b="1" i="1">
                <a:latin typeface="Times New Roman"/>
                <a:cs typeface="Times New Roman"/>
              </a:rPr>
              <a:t>n	</a:t>
            </a:r>
            <a:r>
              <a:rPr sz="2800" b="1" i="1" spc="-5">
                <a:latin typeface="Times New Roman"/>
                <a:cs typeface="Times New Roman"/>
              </a:rPr>
              <a:t>exampl</a:t>
            </a:r>
            <a:r>
              <a:rPr sz="2800" b="1" i="1" spc="-10">
                <a:latin typeface="Times New Roman"/>
                <a:cs typeface="Times New Roman"/>
              </a:rPr>
              <a:t>e</a:t>
            </a:r>
            <a:r>
              <a:rPr sz="2800" b="1" i="1">
                <a:latin typeface="Times New Roman"/>
                <a:cs typeface="Times New Roman"/>
              </a:rPr>
              <a:t>.	</a:t>
            </a:r>
            <a:r>
              <a:rPr sz="2800" b="1" i="1" spc="-215">
                <a:latin typeface="Times New Roman"/>
                <a:cs typeface="Times New Roman"/>
              </a:rPr>
              <a:t>W</a:t>
            </a:r>
            <a:r>
              <a:rPr sz="2800" b="1" i="1">
                <a:latin typeface="Times New Roman"/>
                <a:cs typeface="Times New Roman"/>
              </a:rPr>
              <a:t>e	</a:t>
            </a:r>
            <a:r>
              <a:rPr sz="2800" b="1" i="1" spc="-5">
                <a:latin typeface="Times New Roman"/>
                <a:cs typeface="Times New Roman"/>
              </a:rPr>
              <a:t>ca</a:t>
            </a:r>
            <a:r>
              <a:rPr sz="2800" b="1" i="1">
                <a:latin typeface="Times New Roman"/>
                <a:cs typeface="Times New Roman"/>
              </a:rPr>
              <a:t>n	</a:t>
            </a:r>
            <a:r>
              <a:rPr sz="2800" b="1" i="1" spc="-5">
                <a:latin typeface="Times New Roman"/>
                <a:cs typeface="Times New Roman"/>
              </a:rPr>
              <a:t>sa</a:t>
            </a:r>
            <a:r>
              <a:rPr sz="2800" b="1" i="1">
                <a:latin typeface="Times New Roman"/>
                <a:cs typeface="Times New Roman"/>
              </a:rPr>
              <a:t>y	that	</a:t>
            </a:r>
            <a:r>
              <a:rPr sz="2800" b="1" i="1" spc="-5">
                <a:latin typeface="Times New Roman"/>
                <a:cs typeface="Times New Roman"/>
              </a:rPr>
              <a:t>th</a:t>
            </a:r>
            <a:r>
              <a:rPr sz="2800" b="1" i="1">
                <a:latin typeface="Times New Roman"/>
                <a:cs typeface="Times New Roman"/>
              </a:rPr>
              <a:t>e	</a:t>
            </a:r>
            <a:r>
              <a:rPr sz="2800" b="1" i="1" spc="-5">
                <a:latin typeface="Times New Roman"/>
                <a:cs typeface="Times New Roman"/>
              </a:rPr>
              <a:t>dat</a:t>
            </a:r>
            <a:r>
              <a:rPr sz="2800" b="1" i="1">
                <a:latin typeface="Times New Roman"/>
                <a:cs typeface="Times New Roman"/>
              </a:rPr>
              <a:t>a	on	</a:t>
            </a:r>
            <a:r>
              <a:rPr sz="2800" b="1" i="1" spc="-5">
                <a:latin typeface="Times New Roman"/>
                <a:cs typeface="Times New Roman"/>
              </a:rPr>
              <a:t>the  </a:t>
            </a:r>
            <a:r>
              <a:rPr sz="2800" b="1" i="1">
                <a:latin typeface="Times New Roman"/>
                <a:cs typeface="Times New Roman"/>
              </a:rPr>
              <a:t>channel</a:t>
            </a:r>
            <a:endParaRPr sz="2800">
              <a:latin typeface="Times New Roman"/>
              <a:cs typeface="Times New Roman"/>
            </a:endParaRPr>
          </a:p>
          <a:p>
            <a:pPr marL="50800" marR="68580" indent="533400" algn="just">
              <a:lnSpc>
                <a:spcPct val="100000"/>
              </a:lnSpc>
            </a:pPr>
            <a:r>
              <a:rPr sz="2800" b="1" i="1">
                <a:latin typeface="Times New Roman"/>
                <a:cs typeface="Times New Roman"/>
              </a:rPr>
              <a:t>D</a:t>
            </a:r>
            <a:r>
              <a:rPr sz="2800" b="1" i="1" spc="70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=</a:t>
            </a:r>
            <a:r>
              <a:rPr sz="2800" b="1" i="1" spc="70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(d</a:t>
            </a:r>
            <a:r>
              <a:rPr sz="2775" b="1" i="1" baseline="-9009">
                <a:latin typeface="Times New Roman"/>
                <a:cs typeface="Times New Roman"/>
              </a:rPr>
              <a:t>1          </a:t>
            </a:r>
            <a:r>
              <a:rPr sz="2800" b="1" i="1" spc="-5">
                <a:latin typeface="Times New Roman"/>
                <a:cs typeface="Times New Roman"/>
              </a:rPr>
              <a:t>c</a:t>
            </a:r>
            <a:r>
              <a:rPr sz="2775" b="1" i="1" spc="-7" baseline="-9009">
                <a:latin typeface="Times New Roman"/>
                <a:cs typeface="Times New Roman"/>
              </a:rPr>
              <a:t>1</a:t>
            </a:r>
            <a:r>
              <a:rPr sz="2775" b="1" i="1" spc="675" baseline="-9009">
                <a:latin typeface="Times New Roman"/>
                <a:cs typeface="Times New Roman"/>
              </a:rPr>
              <a:t>  </a:t>
            </a:r>
            <a:r>
              <a:rPr sz="2800" b="1" i="1">
                <a:latin typeface="Times New Roman"/>
                <a:cs typeface="Times New Roman"/>
              </a:rPr>
              <a:t>+</a:t>
            </a:r>
            <a:r>
              <a:rPr sz="2800" b="1" i="1" spc="70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d</a:t>
            </a:r>
            <a:r>
              <a:rPr sz="2775" b="1" i="1" baseline="-9009">
                <a:latin typeface="Times New Roman"/>
                <a:cs typeface="Times New Roman"/>
              </a:rPr>
              <a:t>2         </a:t>
            </a:r>
            <a:r>
              <a:rPr sz="2800" b="1" i="1" spc="-5">
                <a:latin typeface="Times New Roman"/>
                <a:cs typeface="Times New Roman"/>
              </a:rPr>
              <a:t>c</a:t>
            </a:r>
            <a:r>
              <a:rPr sz="2775" b="1" i="1" spc="-7" baseline="-9009">
                <a:latin typeface="Times New Roman"/>
                <a:cs typeface="Times New Roman"/>
              </a:rPr>
              <a:t>2</a:t>
            </a:r>
            <a:r>
              <a:rPr sz="2775" b="1" i="1" spc="675" baseline="-9009">
                <a:latin typeface="Times New Roman"/>
                <a:cs typeface="Times New Roman"/>
              </a:rPr>
              <a:t> </a:t>
            </a:r>
            <a:r>
              <a:rPr sz="2775" b="1" i="1" spc="682" baseline="-9009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+</a:t>
            </a:r>
            <a:r>
              <a:rPr sz="2800" b="1" i="1" spc="70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d</a:t>
            </a:r>
            <a:r>
              <a:rPr sz="2775" b="1" i="1" baseline="-9009">
                <a:latin typeface="Times New Roman"/>
                <a:cs typeface="Times New Roman"/>
              </a:rPr>
              <a:t>3         </a:t>
            </a:r>
            <a:r>
              <a:rPr sz="2800" b="1" i="1" spc="-5">
                <a:latin typeface="Times New Roman"/>
                <a:cs typeface="Times New Roman"/>
              </a:rPr>
              <a:t>c</a:t>
            </a:r>
            <a:r>
              <a:rPr sz="2775" b="1" i="1" spc="-7" baseline="-9009">
                <a:latin typeface="Times New Roman"/>
                <a:cs typeface="Times New Roman"/>
              </a:rPr>
              <a:t>3</a:t>
            </a:r>
            <a:r>
              <a:rPr sz="2775" b="1" i="1" spc="675" baseline="-9009">
                <a:latin typeface="Times New Roman"/>
                <a:cs typeface="Times New Roman"/>
              </a:rPr>
              <a:t>  </a:t>
            </a:r>
            <a:r>
              <a:rPr sz="2800" b="1" i="1">
                <a:latin typeface="Times New Roman"/>
                <a:cs typeface="Times New Roman"/>
              </a:rPr>
              <a:t>+</a:t>
            </a:r>
            <a:r>
              <a:rPr sz="2800" b="1" i="1" spc="70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d</a:t>
            </a:r>
            <a:r>
              <a:rPr sz="2775" b="1" i="1" baseline="-9009">
                <a:latin typeface="Times New Roman"/>
                <a:cs typeface="Times New Roman"/>
              </a:rPr>
              <a:t>4         </a:t>
            </a:r>
            <a:r>
              <a:rPr sz="2800" b="1" i="1">
                <a:latin typeface="Times New Roman"/>
                <a:cs typeface="Times New Roman"/>
              </a:rPr>
              <a:t>c</a:t>
            </a:r>
            <a:r>
              <a:rPr sz="2775" b="1" i="1" baseline="-9009">
                <a:latin typeface="Times New Roman"/>
                <a:cs typeface="Times New Roman"/>
              </a:rPr>
              <a:t>4</a:t>
            </a:r>
            <a:r>
              <a:rPr sz="2800" b="1" i="1">
                <a:latin typeface="Times New Roman"/>
                <a:cs typeface="Times New Roman"/>
              </a:rPr>
              <a:t>).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The receiver which wants to get the data sent </a:t>
            </a:r>
            <a:r>
              <a:rPr sz="2800" b="1" i="1">
                <a:latin typeface="Times New Roman"/>
                <a:cs typeface="Times New Roman"/>
              </a:rPr>
              <a:t>by </a:t>
            </a:r>
            <a:r>
              <a:rPr sz="2800" b="1" i="1" spc="-5">
                <a:latin typeface="Times New Roman"/>
                <a:cs typeface="Times New Roman"/>
              </a:rPr>
              <a:t>station </a:t>
            </a:r>
            <a:r>
              <a:rPr sz="2800" b="1" i="1">
                <a:latin typeface="Times New Roman"/>
                <a:cs typeface="Times New Roman"/>
              </a:rPr>
              <a:t>1 </a:t>
            </a:r>
            <a:r>
              <a:rPr sz="2800" b="1" i="1" spc="5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multiplies</a:t>
            </a:r>
            <a:r>
              <a:rPr sz="2800" b="1" i="1" spc="-3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these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data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by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c</a:t>
            </a:r>
            <a:r>
              <a:rPr sz="2775" b="1" i="1" baseline="-9009">
                <a:latin typeface="Times New Roman"/>
                <a:cs typeface="Times New Roman"/>
              </a:rPr>
              <a:t>1</a:t>
            </a:r>
            <a:r>
              <a:rPr sz="2800" b="1" i="1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121</a:t>
            </a:fld>
            <a:endParaRPr spc="-5"/>
          </a:p>
        </p:txBody>
      </p:sp>
    </p:spTree>
  </p:cSld>
  <p:clrMapOvr>
    <a:masterClrMapping/>
  </p:clrMapOvr>
  <p:transition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707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12.8</a:t>
            </a:r>
            <a:r>
              <a:rPr i="1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108200" y="2273045"/>
            <a:ext cx="6477635" cy="1617980"/>
            <a:chOff x="2108200" y="2273045"/>
            <a:chExt cx="6477635" cy="1617980"/>
          </a:xfrm>
        </p:grpSpPr>
        <p:pic>
          <p:nvPicPr>
            <p:cNvPr id="9" name="object 9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168537" y="2331719"/>
              <a:ext cx="6359652" cy="58902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08200" y="2273058"/>
              <a:ext cx="6477000" cy="647700"/>
            </a:xfrm>
            <a:custGeom>
              <a:avLst/>
              <a:gdLst/>
              <a:ahLst/>
              <a:cxnLst/>
              <a:rect l="l" t="t" r="r" b="b"/>
              <a:pathLst>
                <a:path w="6477000" h="647700">
                  <a:moveTo>
                    <a:pt x="6431280" y="45720"/>
                  </a:moveTo>
                  <a:lnTo>
                    <a:pt x="641985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647700"/>
                  </a:lnTo>
                  <a:lnTo>
                    <a:pt x="57150" y="647700"/>
                  </a:lnTo>
                  <a:lnTo>
                    <a:pt x="57150" y="57150"/>
                  </a:lnTo>
                  <a:lnTo>
                    <a:pt x="6419850" y="57150"/>
                  </a:lnTo>
                  <a:lnTo>
                    <a:pt x="6419850" y="647700"/>
                  </a:lnTo>
                  <a:lnTo>
                    <a:pt x="6431280" y="647700"/>
                  </a:lnTo>
                  <a:lnTo>
                    <a:pt x="6431280" y="45720"/>
                  </a:lnTo>
                  <a:close/>
                </a:path>
                <a:path w="6477000" h="647700">
                  <a:moveTo>
                    <a:pt x="6477000" y="0"/>
                  </a:moveTo>
                  <a:lnTo>
                    <a:pt x="644271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34290" y="647700"/>
                  </a:lnTo>
                  <a:lnTo>
                    <a:pt x="34290" y="34290"/>
                  </a:lnTo>
                  <a:lnTo>
                    <a:pt x="6442710" y="34290"/>
                  </a:lnTo>
                  <a:lnTo>
                    <a:pt x="6442710" y="647700"/>
                  </a:lnTo>
                  <a:lnTo>
                    <a:pt x="6477000" y="647700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2168537" y="2920745"/>
              <a:ext cx="6359651" cy="857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08339" y="2920758"/>
              <a:ext cx="6477000" cy="857250"/>
            </a:xfrm>
            <a:custGeom>
              <a:avLst/>
              <a:gdLst/>
              <a:ahLst/>
              <a:cxnLst/>
              <a:rect l="l" t="t" r="r" b="b"/>
              <a:pathLst>
                <a:path w="6477000" h="857250">
                  <a:moveTo>
                    <a:pt x="34277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34277" y="857250"/>
                  </a:lnTo>
                  <a:lnTo>
                    <a:pt x="34277" y="0"/>
                  </a:lnTo>
                  <a:close/>
                </a:path>
                <a:path w="6477000" h="857250">
                  <a:moveTo>
                    <a:pt x="57137" y="0"/>
                  </a:moveTo>
                  <a:lnTo>
                    <a:pt x="45720" y="0"/>
                  </a:lnTo>
                  <a:lnTo>
                    <a:pt x="45720" y="857250"/>
                  </a:lnTo>
                  <a:lnTo>
                    <a:pt x="57137" y="857250"/>
                  </a:lnTo>
                  <a:lnTo>
                    <a:pt x="57137" y="0"/>
                  </a:lnTo>
                  <a:close/>
                </a:path>
                <a:path w="6477000" h="857250">
                  <a:moveTo>
                    <a:pt x="6431280" y="0"/>
                  </a:moveTo>
                  <a:lnTo>
                    <a:pt x="6419850" y="0"/>
                  </a:lnTo>
                  <a:lnTo>
                    <a:pt x="6419850" y="857250"/>
                  </a:lnTo>
                  <a:lnTo>
                    <a:pt x="6431280" y="857250"/>
                  </a:lnTo>
                  <a:lnTo>
                    <a:pt x="6431280" y="0"/>
                  </a:lnTo>
                  <a:close/>
                </a:path>
                <a:path w="6477000" h="857250">
                  <a:moveTo>
                    <a:pt x="6477000" y="0"/>
                  </a:moveTo>
                  <a:lnTo>
                    <a:pt x="6442710" y="0"/>
                  </a:lnTo>
                  <a:lnTo>
                    <a:pt x="6442710" y="857250"/>
                  </a:lnTo>
                  <a:lnTo>
                    <a:pt x="6477000" y="857250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2168537" y="3777995"/>
              <a:ext cx="6359651" cy="5562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08200" y="3778008"/>
              <a:ext cx="6477000" cy="113030"/>
            </a:xfrm>
            <a:custGeom>
              <a:avLst/>
              <a:gdLst/>
              <a:ahLst/>
              <a:cxnLst/>
              <a:rect l="l" t="t" r="r" b="b"/>
              <a:pathLst>
                <a:path w="6477000" h="113029">
                  <a:moveTo>
                    <a:pt x="6431280" y="0"/>
                  </a:moveTo>
                  <a:lnTo>
                    <a:pt x="6419850" y="0"/>
                  </a:lnTo>
                  <a:lnTo>
                    <a:pt x="6419850" y="55626"/>
                  </a:lnTo>
                  <a:lnTo>
                    <a:pt x="57150" y="55626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67056"/>
                  </a:lnTo>
                  <a:lnTo>
                    <a:pt x="57150" y="67056"/>
                  </a:lnTo>
                  <a:lnTo>
                    <a:pt x="6419850" y="67056"/>
                  </a:lnTo>
                  <a:lnTo>
                    <a:pt x="6431280" y="67056"/>
                  </a:lnTo>
                  <a:lnTo>
                    <a:pt x="6431280" y="0"/>
                  </a:lnTo>
                  <a:close/>
                </a:path>
                <a:path w="6477000" h="113029">
                  <a:moveTo>
                    <a:pt x="6477000" y="0"/>
                  </a:moveTo>
                  <a:lnTo>
                    <a:pt x="6442710" y="0"/>
                  </a:lnTo>
                  <a:lnTo>
                    <a:pt x="6442710" y="78486"/>
                  </a:lnTo>
                  <a:lnTo>
                    <a:pt x="34290" y="78486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112776"/>
                  </a:lnTo>
                  <a:lnTo>
                    <a:pt x="34290" y="112776"/>
                  </a:lnTo>
                  <a:lnTo>
                    <a:pt x="6442710" y="112776"/>
                  </a:lnTo>
                  <a:lnTo>
                    <a:pt x="6477000" y="112776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56773" y="4179823"/>
            <a:ext cx="62414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b="1" i="1" spc="-5">
                <a:latin typeface="Times New Roman"/>
                <a:cs typeface="Times New Roman"/>
              </a:rPr>
              <a:t>When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we</a:t>
            </a:r>
            <a:r>
              <a:rPr sz="2800" b="1" i="1" spc="-1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divide</a:t>
            </a:r>
            <a:r>
              <a:rPr sz="2800" b="1" i="1" spc="-35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the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result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by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 spc="-5">
                <a:latin typeface="Times New Roman"/>
                <a:cs typeface="Times New Roman"/>
              </a:rPr>
              <a:t>N, we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get</a:t>
            </a:r>
            <a:r>
              <a:rPr sz="2800" b="1" i="1" spc="-20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d</a:t>
            </a:r>
            <a:r>
              <a:rPr sz="2775" b="1" i="1" baseline="-9009">
                <a:latin typeface="Times New Roman"/>
                <a:cs typeface="Times New Roman"/>
              </a:rPr>
              <a:t>1</a:t>
            </a:r>
            <a:r>
              <a:rPr sz="2775" b="1" i="1" spc="-7" baseline="-9009">
                <a:latin typeface="Times New Roman"/>
                <a:cs typeface="Times New Roman"/>
              </a:rPr>
              <a:t> </a:t>
            </a:r>
            <a:r>
              <a:rPr sz="2800" b="1" i="1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/>
              <a:t>12.</a:t>
            </a:r>
            <a:fld id="{81D60167-4931-47E6-BA6A-407CBD079E47}" type="slidenum">
              <a:rPr spc="-5"/>
              <a:t>122</a:t>
            </a:fld>
            <a:endParaRPr spc="-5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2"/>
  <p:tag name="AS_OS" val="Unix 5.15.0.1044"/>
  <p:tag name="AS_RELEASE_DATE" val="2023.01.14"/>
  <p:tag name="AS_TITLE" val="Aspose.Slides for .NET5"/>
  <p:tag name="AS_VERSION" val="2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5160</Words>
  <Application>Microsoft Office PowerPoint</Application>
  <PresentationFormat>Custom</PresentationFormat>
  <Paragraphs>397</Paragraphs>
  <Slides>122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122</vt:i4>
      </vt:variant>
    </vt:vector>
  </HeadingPairs>
  <TitlesOfParts>
    <vt:vector size="128" baseType="lpstr">
      <vt:lpstr>Arial</vt:lpstr>
      <vt:lpstr>Calibri</vt:lpstr>
      <vt:lpstr>Times New Roman</vt:lpstr>
      <vt:lpstr>Office Theme</vt:lpstr>
      <vt:lpstr>Office Theme</vt:lpstr>
      <vt:lpstr>Office Theme</vt:lpstr>
      <vt:lpstr>11-1 FRAMING</vt:lpstr>
      <vt:lpstr>Figure 11.2 Byte stuffing and unstuffing</vt:lpstr>
      <vt:lpstr>Figure 11.3 A frame in a bit-oriented protocol</vt:lpstr>
      <vt:lpstr>Figure 11.4 Bit stuffing and unstuffing</vt:lpstr>
      <vt:lpstr>PowerPoint Presentation</vt:lpstr>
      <vt:lpstr>11-3 PROTOCOLS</vt:lpstr>
      <vt:lpstr>Figure 11.5 Taxonomy of protocols discussed in this chapter</vt:lpstr>
      <vt:lpstr>11-4 NOISELESS CHANNELS</vt:lpstr>
      <vt:lpstr>Figure 11.6 The design of the simplest protocol with no flow or error control</vt:lpstr>
      <vt:lpstr>Example 11.1</vt:lpstr>
      <vt:lpstr>Figure 11.7 Flow diagram for Example 11.1</vt:lpstr>
      <vt:lpstr>Figure 11.8 Design of Stop-and-Wait Protocol</vt:lpstr>
      <vt:lpstr>Example 11.2</vt:lpstr>
      <vt:lpstr>Figure 11.9 Flow diagram for Example 11.2</vt:lpstr>
      <vt:lpstr>11-5 NOISY CHANNELS</vt:lpstr>
      <vt:lpstr>PowerPoint Presentation</vt:lpstr>
      <vt:lpstr>Figure 11.10 Design of the Stop-and-Wait ARQ Protocol</vt:lpstr>
      <vt:lpstr>Example 11.3</vt:lpstr>
      <vt:lpstr>Figure 11.11 Flow diagram for Example 11.3</vt:lpstr>
      <vt:lpstr>Example 11.4</vt:lpstr>
      <vt:lpstr>Example 11.4 (continued)</vt:lpstr>
      <vt:lpstr>Example 11.5</vt:lpstr>
      <vt:lpstr>Figure 11.12 Send window for Go-Back-N ARQ</vt:lpstr>
      <vt:lpstr>Figure 11.13 Receive window for Go-Back-N ARQ</vt:lpstr>
      <vt:lpstr>Note</vt:lpstr>
      <vt:lpstr>Figure 11.14 Design of Go-Back-N ARQ</vt:lpstr>
      <vt:lpstr>Figure 11.15 Window size for Go-Back-N ARQ</vt:lpstr>
      <vt:lpstr>Note</vt:lpstr>
      <vt:lpstr>Example 11.6</vt:lpstr>
      <vt:lpstr>Figure 11.16 Flow diagram for Example 11.6</vt:lpstr>
      <vt:lpstr>Example 11.7</vt:lpstr>
      <vt:lpstr>Example 11.7 (continued)</vt:lpstr>
      <vt:lpstr>Figure 11.17 Flow diagram for Example 11.7</vt:lpstr>
      <vt:lpstr>Figure 11.18 Send window for Selective Repeat ARQ</vt:lpstr>
      <vt:lpstr>Figure 11.19 Receive window for Selective Repeat ARQ</vt:lpstr>
      <vt:lpstr>Figure 11.20 Design of Selective Repeat ARQ</vt:lpstr>
      <vt:lpstr>Figure 11.21 Selective Repeat ARQ, window size</vt:lpstr>
      <vt:lpstr>Figure 11.22 Delivery of data in Selective Repeat ARQ</vt:lpstr>
      <vt:lpstr>Example 11.8</vt:lpstr>
      <vt:lpstr>Example 11.8 (continued)</vt:lpstr>
      <vt:lpstr>Example 11.8 (continued)</vt:lpstr>
      <vt:lpstr>Example 11.8 (continued)</vt:lpstr>
      <vt:lpstr>Figure 11.23 Flow diagram for Example 11.8</vt:lpstr>
      <vt:lpstr>Figure 11.24 Design of piggybacking in Go-Back-N ARQ</vt:lpstr>
      <vt:lpstr>11-6 HDLC</vt:lpstr>
      <vt:lpstr>Figure 11.25 Normal response mode</vt:lpstr>
      <vt:lpstr>Figure 11.26 Asynchronous balanced mode</vt:lpstr>
      <vt:lpstr>Figure 11.27 HDLC frames</vt:lpstr>
      <vt:lpstr>Figure 11.28 Control field format for the different frame types</vt:lpstr>
      <vt:lpstr>Table 11.1 U-frame control command and response</vt:lpstr>
      <vt:lpstr>Example 11.9</vt:lpstr>
      <vt:lpstr>Figure 11.29 Example of connection and disconnection</vt:lpstr>
      <vt:lpstr>Example 11.10</vt:lpstr>
      <vt:lpstr>Example 11.10 (continued)</vt:lpstr>
      <vt:lpstr>Figure 11.30 Example of piggybacking without error</vt:lpstr>
      <vt:lpstr>Example 11.11</vt:lpstr>
      <vt:lpstr>Figure 11.31 Example of piggybacking with error</vt:lpstr>
      <vt:lpstr>11-7 POINT-TO-POINT PROTOCOL</vt:lpstr>
      <vt:lpstr>Figure 11.32 PPP frame format</vt:lpstr>
      <vt:lpstr>Figure 11.33 Transition phases</vt:lpstr>
      <vt:lpstr>Figure 11.34 Multiplexing in PPP</vt:lpstr>
      <vt:lpstr>Figure 11.35 LCP packet encapsulated in a frame</vt:lpstr>
      <vt:lpstr>Table 11.2 LCP packets</vt:lpstr>
      <vt:lpstr>Table 11.3 Common options</vt:lpstr>
      <vt:lpstr>Figure 11.36 PAP packets encapsulated in a PPP frame</vt:lpstr>
      <vt:lpstr>Figure 11.37 CHAP packets encapsulated in a PPP frame</vt:lpstr>
      <vt:lpstr>Figure 11.38 IPCP packet encapsulated in PPP frame</vt:lpstr>
      <vt:lpstr>Table 11.4 Code value for IPCP packets</vt:lpstr>
      <vt:lpstr>Figure 11.39 IP datagram encapsulated in a PPP frame</vt:lpstr>
      <vt:lpstr>Figure 11.40 Multilink PPP</vt:lpstr>
      <vt:lpstr>Example 11.12</vt:lpstr>
      <vt:lpstr>Example 11.12 (continued)</vt:lpstr>
      <vt:lpstr>Figure 11.41 An example</vt:lpstr>
      <vt:lpstr>Figure 11.41 An example (continued)</vt:lpstr>
      <vt:lpstr>Figure 12.1 Data link layer divided into two functionality-oriented sublayers</vt:lpstr>
      <vt:lpstr>Figure 12.2 Taxonomy of multiple-access protocols discussed in this chapter</vt:lpstr>
      <vt:lpstr>12-1 RANDOM ACCESS</vt:lpstr>
      <vt:lpstr>Figure 12.3 Frames in a pure ALOHA network</vt:lpstr>
      <vt:lpstr>Figure 12.4 Procedure for pure ALOHA protocol</vt:lpstr>
      <vt:lpstr>Example 12.1</vt:lpstr>
      <vt:lpstr>Example 12.1 (continued)</vt:lpstr>
      <vt:lpstr>Figure 12.5 Vulnerable time for pure ALOHA protocol</vt:lpstr>
      <vt:lpstr>Example 12.2</vt:lpstr>
      <vt:lpstr>Note</vt:lpstr>
      <vt:lpstr>Example 12.3</vt:lpstr>
      <vt:lpstr>Example 12.3 (continued)</vt:lpstr>
      <vt:lpstr>Figure 12.6 Frames in a slotted ALOHA network</vt:lpstr>
      <vt:lpstr>Note</vt:lpstr>
      <vt:lpstr>Figure 12.7 Vulnerable time for slotted ALOHA protocol</vt:lpstr>
      <vt:lpstr>Example 12.4</vt:lpstr>
      <vt:lpstr>Example 12.4 (continued)</vt:lpstr>
      <vt:lpstr>Figure 12.8 Space/time model of the collision in CSMA</vt:lpstr>
      <vt:lpstr>Figure 12.9 Vulnerable time in CSMA</vt:lpstr>
      <vt:lpstr>Figure 12.10 Behavior of three persistence methods</vt:lpstr>
      <vt:lpstr>Figure 12.11 Flow diagram for three persistence methods</vt:lpstr>
      <vt:lpstr>Figure 12.12 Collision of the first bit in CSMA/CD</vt:lpstr>
      <vt:lpstr>Figure 12.13 Collision and abortion in CSMA/CD</vt:lpstr>
      <vt:lpstr>Example 12.5</vt:lpstr>
      <vt:lpstr>Figure 12.14 Flow diagram for the CSMA/CD</vt:lpstr>
      <vt:lpstr>Figure 12.15 Energy level during transmission, idleness, or collision</vt:lpstr>
      <vt:lpstr>Figure 12.16 Timing in CSMA/CA</vt:lpstr>
      <vt:lpstr>Note</vt:lpstr>
      <vt:lpstr>Figure 12.17 Flow diagram for CSMA/CA</vt:lpstr>
      <vt:lpstr>12-2 CONTROLLED ACCESS</vt:lpstr>
      <vt:lpstr>Figure 12.18 Reservation access method</vt:lpstr>
      <vt:lpstr>Figure 12.19 Select and poll functions in polling access method</vt:lpstr>
      <vt:lpstr>Figure 12.20 Logical ring and physical topology in token-passing access method</vt:lpstr>
      <vt:lpstr>12-3 CHANNELIZATION</vt:lpstr>
      <vt:lpstr>Figure 12.21 Frequency-division multiple access (FDMA)</vt:lpstr>
      <vt:lpstr>Note</vt:lpstr>
      <vt:lpstr>Figure 12.22 Time-division multiple access (TDMA)</vt:lpstr>
      <vt:lpstr>PowerPoint Presentation</vt:lpstr>
      <vt:lpstr>Figure 12.23 Simple idea of communication with code</vt:lpstr>
      <vt:lpstr>Figure 12.24 Chip sequences</vt:lpstr>
      <vt:lpstr>Figure 12.26 Sharing channel in CDMA</vt:lpstr>
      <vt:lpstr>Figure 12.27 Digital signal created by four stations in CDMA</vt:lpstr>
      <vt:lpstr>Figure 12.28 Decoding of the composite signal for one in CDMA</vt:lpstr>
      <vt:lpstr>Figure 12.29 General rule and examples of creating Walsh tables</vt:lpstr>
      <vt:lpstr>Example 12.6</vt:lpstr>
      <vt:lpstr>Example 12.7</vt:lpstr>
      <vt:lpstr>Example 12.8</vt:lpstr>
      <vt:lpstr>Example 12.8 (continued)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11-1 FRAMING</dc:title>
  <cp:lastModifiedBy>16010422078_FY_Natu Revati Saurabh</cp:lastModifiedBy>
  <cp:revision>4</cp:revision>
  <cp:lastPrinted>2023-10-27T18:22:56Z</cp:lastPrinted>
  <dcterms:created xsi:type="dcterms:W3CDTF">2023-10-27T17:07:06Z</dcterms:created>
  <dcterms:modified xsi:type="dcterms:W3CDTF">2023-10-27T18:23:05Z</dcterms:modified>
</cp:coreProperties>
</file>