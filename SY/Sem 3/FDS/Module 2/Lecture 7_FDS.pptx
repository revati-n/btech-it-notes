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102EFF6-5455-4923-A75D-D53AB981C875}" type="datetimeFigureOut">
              <a:rPr lang="en-IN" smtClean="0"/>
              <a:t>06-08-2023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401892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102EFF6-5455-4923-A75D-D53AB981C875}" type="datetimeFigureOut">
              <a:rPr lang="en-IN" smtClean="0"/>
              <a:t>06-08-2023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2946228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102EFF6-5455-4923-A75D-D53AB981C875}" type="datetimeFigureOut">
              <a:rPr lang="en-IN" smtClean="0"/>
              <a:t>06-08-2023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211292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102EFF6-5455-4923-A75D-D53AB981C875}" type="datetimeFigureOut">
              <a:rPr lang="en-IN" smtClean="0"/>
              <a:t>06-08-2023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275241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102EFF6-5455-4923-A75D-D53AB981C875}" type="datetimeFigureOut">
              <a:rPr lang="en-IN" smtClean="0"/>
              <a:t>06-08-2023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1108167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102EFF6-5455-4923-A75D-D53AB981C875}" type="datetimeFigureOut">
              <a:rPr lang="en-IN" smtClean="0"/>
              <a:t>06-08-2023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4205086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02EFF6-5455-4923-A75D-D53AB981C875}" type="datetimeFigureOut">
              <a:rPr lang="en-IN" smtClean="0"/>
              <a:t>06-08-2023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1333567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02EFF6-5455-4923-A75D-D53AB981C875}" type="datetimeFigureOut">
              <a:rPr lang="en-IN" smtClean="0"/>
              <a:t>06-08-2023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2233315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02EFF6-5455-4923-A75D-D53AB981C875}" type="datetimeFigureOut">
              <a:rPr lang="en-IN" smtClean="0"/>
              <a:t>06-08-2023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2630137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102EFF6-5455-4923-A75D-D53AB981C875}" type="datetimeFigureOut">
              <a:rPr lang="en-IN" smtClean="0"/>
              <a:t>06-08-2023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2441687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102EFF6-5455-4923-A75D-D53AB981C875}" type="datetimeFigureOut">
              <a:rPr lang="en-IN" smtClean="0"/>
              <a:t>06-08-2023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97B432-91EC-412D-99D6-CE93E6DA1BF6}" type="slidenum">
              <a:rPr lang="en-IN" smtClean="0"/>
              <a:t>‹#›</a:t>
            </a:fld>
            <a:endParaRPr lang="en-IN"/>
          </a:p>
        </p:txBody>
      </p:sp>
    </p:spTree>
    <p:extLst>
      <p:ext uri="{BB962C8B-B14F-4D97-AF65-F5344CB8AC3E}">
        <p14:creationId xmlns:p14="http://schemas.microsoft.com/office/powerpoint/2010/main" val="33048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02EFF6-5455-4923-A75D-D53AB981C875}" type="datetimeFigureOut">
              <a:rPr lang="en-IN" smtClean="0"/>
              <a:t>06-08-2023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97B432-91EC-412D-99D6-CE93E6DA1BF6}" type="slidenum">
              <a:rPr lang="en-IN" smtClean="0"/>
              <a:t>‹#›</a:t>
            </a:fld>
            <a:endParaRPr lang="en-IN"/>
          </a:p>
        </p:txBody>
      </p:sp>
    </p:spTree>
    <p:extLst>
      <p:ext uri="{BB962C8B-B14F-4D97-AF65-F5344CB8AC3E}">
        <p14:creationId xmlns:p14="http://schemas.microsoft.com/office/powerpoint/2010/main" val="1832525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B4E71571-BECC-49B2-8714-9245941D9C8B}"/>
              </a:ext>
            </a:extLst>
          </p:cNvPr>
          <p:cNvSpPr>
            <a:spLocks noGrp="1"/>
          </p:cNvSpPr>
          <p:nvPr>
            <p:ph type="ctrTitle"/>
          </p:nvPr>
        </p:nvSpPr>
        <p:spPr/>
        <p:txBody>
          <a:bodyPr>
            <a:normAutofit fontScale="90000"/>
          </a:bodyPr>
          <a:lstStyle/>
          <a:p>
            <a:r>
              <a:rPr lang="en-US" sz="6000" dirty="0" smtClean="0">
                <a:effectLst/>
                <a:latin typeface="Times New Roman" panose="02020603050405020304" pitchFamily="18" charset="0"/>
                <a:ea typeface="Times New Roman" panose="02020603050405020304" pitchFamily="18" charset="0"/>
              </a:rPr>
              <a:t>Lecture 7</a:t>
            </a:r>
            <a:br>
              <a:rPr lang="en-US" sz="6000" dirty="0" smtClean="0">
                <a:effectLst/>
                <a:latin typeface="Times New Roman" panose="02020603050405020304" pitchFamily="18" charset="0"/>
                <a:ea typeface="Times New Roman" panose="02020603050405020304" pitchFamily="18" charset="0"/>
              </a:rPr>
            </a:br>
            <a:r>
              <a:rPr lang="en-US" sz="6000" dirty="0" smtClean="0">
                <a:effectLst/>
                <a:latin typeface="Times New Roman" panose="02020603050405020304" pitchFamily="18" charset="0"/>
                <a:ea typeface="Times New Roman" panose="02020603050405020304" pitchFamily="18" charset="0"/>
              </a:rPr>
              <a:t/>
            </a:r>
            <a:br>
              <a:rPr lang="en-US" sz="6000" dirty="0" smtClean="0">
                <a:effectLst/>
                <a:latin typeface="Times New Roman" panose="02020603050405020304" pitchFamily="18" charset="0"/>
                <a:ea typeface="Times New Roman" panose="02020603050405020304" pitchFamily="18" charset="0"/>
              </a:rPr>
            </a:br>
            <a:r>
              <a:rPr lang="en-US" sz="6000" dirty="0" smtClean="0">
                <a:effectLst/>
                <a:latin typeface="Times New Roman" panose="02020603050405020304" pitchFamily="18" charset="0"/>
                <a:ea typeface="Times New Roman" panose="02020603050405020304" pitchFamily="18" charset="0"/>
              </a:rPr>
              <a:t>Measures </a:t>
            </a:r>
            <a:r>
              <a:rPr lang="en-US" sz="6000" dirty="0">
                <a:effectLst/>
                <a:latin typeface="Times New Roman" panose="02020603050405020304" pitchFamily="18" charset="0"/>
                <a:ea typeface="Times New Roman" panose="02020603050405020304" pitchFamily="18" charset="0"/>
              </a:rPr>
              <a:t>of </a:t>
            </a:r>
            <a:r>
              <a:rPr lang="en-US" sz="6000" dirty="0">
                <a:latin typeface="Times New Roman" panose="02020603050405020304" pitchFamily="18" charset="0"/>
                <a:ea typeface="Times New Roman" panose="02020603050405020304" pitchFamily="18" charset="0"/>
              </a:rPr>
              <a:t>C</a:t>
            </a:r>
            <a:r>
              <a:rPr lang="en-US" sz="6000" dirty="0" smtClean="0">
                <a:effectLst/>
                <a:latin typeface="Times New Roman" panose="02020603050405020304" pitchFamily="18" charset="0"/>
                <a:ea typeface="Times New Roman" panose="02020603050405020304" pitchFamily="18" charset="0"/>
              </a:rPr>
              <a:t>entral Tendency</a:t>
            </a:r>
            <a:br>
              <a:rPr lang="en-US" sz="6000" dirty="0" smtClean="0">
                <a:effectLst/>
                <a:latin typeface="Times New Roman" panose="02020603050405020304" pitchFamily="18" charset="0"/>
                <a:ea typeface="Times New Roman" panose="02020603050405020304" pitchFamily="18" charset="0"/>
              </a:rPr>
            </a:br>
            <a:r>
              <a:rPr lang="en-US" sz="6000" dirty="0" smtClean="0">
                <a:effectLst/>
                <a:latin typeface="Times New Roman" panose="02020603050405020304" pitchFamily="18" charset="0"/>
                <a:ea typeface="Times New Roman" panose="02020603050405020304" pitchFamily="18" charset="0"/>
              </a:rPr>
              <a:t/>
            </a:r>
            <a:br>
              <a:rPr lang="en-US" sz="6000" dirty="0" smtClean="0">
                <a:effectLst/>
                <a:latin typeface="Times New Roman" panose="02020603050405020304" pitchFamily="18" charset="0"/>
                <a:ea typeface="Times New Roman" panose="02020603050405020304" pitchFamily="18" charset="0"/>
              </a:rPr>
            </a:br>
            <a:r>
              <a:rPr lang="en-US" sz="6000" dirty="0" smtClean="0">
                <a:latin typeface="Times New Roman" panose="02020603050405020304" pitchFamily="18" charset="0"/>
                <a:ea typeface="Times New Roman" panose="02020603050405020304" pitchFamily="18" charset="0"/>
              </a:rPr>
              <a:t>07-08-2023</a:t>
            </a:r>
            <a:endParaRPr lang="en-IN" dirty="0"/>
          </a:p>
        </p:txBody>
      </p:sp>
    </p:spTree>
    <p:extLst>
      <p:ext uri="{BB962C8B-B14F-4D97-AF65-F5344CB8AC3E}">
        <p14:creationId xmlns:p14="http://schemas.microsoft.com/office/powerpoint/2010/main" val="1917177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AFF223-A83A-47F1-99EA-A82E335EDD2C}"/>
              </a:ext>
            </a:extLst>
          </p:cNvPr>
          <p:cNvSpPr>
            <a:spLocks noGrp="1"/>
          </p:cNvSpPr>
          <p:nvPr>
            <p:ph type="title"/>
          </p:nvPr>
        </p:nvSpPr>
        <p:spPr/>
        <p:txBody>
          <a:bodyPr/>
          <a:lstStyle/>
          <a:p>
            <a:r>
              <a:rPr lang="en-US" dirty="0">
                <a:solidFill>
                  <a:srgbClr val="000000"/>
                </a:solidFill>
                <a:latin typeface="proxima-nova"/>
              </a:rPr>
              <a:t>M</a:t>
            </a:r>
            <a:r>
              <a:rPr lang="en-US" b="0" i="0" dirty="0">
                <a:solidFill>
                  <a:srgbClr val="000000"/>
                </a:solidFill>
                <a:effectLst/>
                <a:latin typeface="proxima-nova"/>
              </a:rPr>
              <a:t>easure of central tendency</a:t>
            </a:r>
            <a:endParaRPr lang="en-IN" dirty="0"/>
          </a:p>
        </p:txBody>
      </p:sp>
      <p:sp>
        <p:nvSpPr>
          <p:cNvPr id="3" name="Content Placeholder 2">
            <a:extLst>
              <a:ext uri="{FF2B5EF4-FFF2-40B4-BE49-F238E27FC236}">
                <a16:creationId xmlns:a16="http://schemas.microsoft.com/office/drawing/2014/main" xmlns="" id="{31AEDFE7-9BD8-4DDF-A16A-D6DC3DF087B2}"/>
              </a:ext>
            </a:extLst>
          </p:cNvPr>
          <p:cNvSpPr>
            <a:spLocks noGrp="1"/>
          </p:cNvSpPr>
          <p:nvPr>
            <p:ph idx="1"/>
          </p:nvPr>
        </p:nvSpPr>
        <p:spPr>
          <a:xfrm>
            <a:off x="628650" y="1476375"/>
            <a:ext cx="7886700" cy="5267325"/>
          </a:xfrm>
        </p:spPr>
        <p:txBody>
          <a:bodyPr>
            <a:normAutofit fontScale="70000" lnSpcReduction="20000"/>
          </a:bodyPr>
          <a:lstStyle/>
          <a:p>
            <a:r>
              <a:rPr lang="en-US" b="0" i="0" dirty="0">
                <a:solidFill>
                  <a:srgbClr val="000000"/>
                </a:solidFill>
                <a:effectLst/>
                <a:latin typeface="proxima-nova"/>
              </a:rPr>
              <a:t>A measure of central tendency is a single value that attempts to describe a set of data by identifying the central position within that set of data.</a:t>
            </a:r>
          </a:p>
          <a:p>
            <a:r>
              <a:rPr lang="en-US" b="0" i="0" dirty="0">
                <a:solidFill>
                  <a:srgbClr val="000000"/>
                </a:solidFill>
                <a:effectLst/>
                <a:latin typeface="proxima-nova"/>
              </a:rPr>
              <a:t> As such, measures of central tendency are sometimes called measures of central location. </a:t>
            </a:r>
          </a:p>
          <a:p>
            <a:r>
              <a:rPr lang="en-US" b="0" i="0" dirty="0">
                <a:solidFill>
                  <a:srgbClr val="000000"/>
                </a:solidFill>
                <a:effectLst/>
                <a:latin typeface="proxima-nova"/>
              </a:rPr>
              <a:t>They are also classed as summary statistics.</a:t>
            </a:r>
          </a:p>
          <a:p>
            <a:r>
              <a:rPr lang="en-US" b="0" i="0" dirty="0">
                <a:solidFill>
                  <a:srgbClr val="000000"/>
                </a:solidFill>
                <a:effectLst/>
                <a:latin typeface="proxima-nova"/>
              </a:rPr>
              <a:t> The mean (often called the average) is most likely the measure of central tendency that you are most familiar with, but there are others, such as the median and the mode.</a:t>
            </a:r>
          </a:p>
          <a:p>
            <a:r>
              <a:rPr lang="en-US" b="0" i="0" dirty="0">
                <a:solidFill>
                  <a:srgbClr val="000000"/>
                </a:solidFill>
                <a:effectLst/>
                <a:latin typeface="proxima-nova"/>
              </a:rPr>
              <a:t>The mean, median and mode are all valid measures of central tendency, but under different conditions, some measures of central tendency become more appropriate to use than others. In the following sections, we will look at the mean, mode and median, and learn how to calculate them and under what conditions they are most appropriate to be used.</a:t>
            </a:r>
            <a:endParaRPr lang="en-IN" dirty="0"/>
          </a:p>
        </p:txBody>
      </p:sp>
    </p:spTree>
    <p:extLst>
      <p:ext uri="{BB962C8B-B14F-4D97-AF65-F5344CB8AC3E}">
        <p14:creationId xmlns:p14="http://schemas.microsoft.com/office/powerpoint/2010/main" val="1923343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45BC87-47C1-425A-B9B2-488F54D22130}"/>
              </a:ext>
            </a:extLst>
          </p:cNvPr>
          <p:cNvSpPr>
            <a:spLocks noGrp="1"/>
          </p:cNvSpPr>
          <p:nvPr>
            <p:ph type="title"/>
          </p:nvPr>
        </p:nvSpPr>
        <p:spPr/>
        <p:txBody>
          <a:bodyPr/>
          <a:lstStyle/>
          <a:p>
            <a:r>
              <a:rPr lang="en-US" sz="4400" dirty="0">
                <a:effectLst/>
                <a:latin typeface="Times New Roman" panose="02020603050405020304" pitchFamily="18" charset="0"/>
                <a:ea typeface="Times New Roman" panose="02020603050405020304" pitchFamily="18" charset="0"/>
              </a:rPr>
              <a:t>Measures of central tendency</a:t>
            </a:r>
            <a:endParaRPr lang="en-IN" dirty="0"/>
          </a:p>
        </p:txBody>
      </p:sp>
      <p:sp>
        <p:nvSpPr>
          <p:cNvPr id="3" name="Content Placeholder 2">
            <a:extLst>
              <a:ext uri="{FF2B5EF4-FFF2-40B4-BE49-F238E27FC236}">
                <a16:creationId xmlns:a16="http://schemas.microsoft.com/office/drawing/2014/main" xmlns="" id="{E06DEEC9-6DF7-4FA7-80BA-B5EBE33938E1}"/>
              </a:ext>
            </a:extLst>
          </p:cNvPr>
          <p:cNvSpPr>
            <a:spLocks noGrp="1"/>
          </p:cNvSpPr>
          <p:nvPr>
            <p:ph idx="1"/>
          </p:nvPr>
        </p:nvSpPr>
        <p:spPr/>
        <p:txBody>
          <a:bodyPr>
            <a:normAutofit fontScale="85000" lnSpcReduction="10000"/>
          </a:bodyPr>
          <a:lstStyle/>
          <a:p>
            <a:pPr marL="0" indent="0">
              <a:buNone/>
            </a:pPr>
            <a:r>
              <a:rPr lang="en-US" altLang="en-US" dirty="0"/>
              <a:t>The </a:t>
            </a:r>
            <a:r>
              <a:rPr lang="en-US" altLang="en-US" i="1" dirty="0"/>
              <a:t>mean</a:t>
            </a:r>
            <a:r>
              <a:rPr lang="en-US" altLang="en-US" dirty="0"/>
              <a:t>, </a:t>
            </a:r>
            <a:r>
              <a:rPr lang="en-US" altLang="en-US" i="1" dirty="0"/>
              <a:t>median</a:t>
            </a:r>
            <a:r>
              <a:rPr lang="en-US" altLang="en-US" dirty="0"/>
              <a:t>, and </a:t>
            </a:r>
            <a:r>
              <a:rPr lang="en-US" altLang="en-US" i="1" dirty="0"/>
              <a:t>mode </a:t>
            </a:r>
            <a:r>
              <a:rPr lang="en-US" altLang="en-US" dirty="0"/>
              <a:t>are measures of central tendency—values that describe the center of a data set.</a:t>
            </a:r>
            <a:endParaRPr lang="en-US" sz="3200" dirty="0">
              <a:effectLst/>
              <a:latin typeface="Times New Roman" panose="02020603050405020304" pitchFamily="18" charset="0"/>
              <a:ea typeface="Times New Roman" panose="02020603050405020304" pitchFamily="18" charset="0"/>
            </a:endParaRPr>
          </a:p>
          <a:p>
            <a:pPr eaLnBrk="1" hangingPunct="1"/>
            <a:r>
              <a:rPr lang="en-US" altLang="en-US" dirty="0"/>
              <a:t>The </a:t>
            </a:r>
            <a:r>
              <a:rPr lang="en-US" altLang="en-US" i="1" dirty="0"/>
              <a:t>mean </a:t>
            </a:r>
            <a:r>
              <a:rPr lang="en-US" altLang="en-US" dirty="0"/>
              <a:t>is the sum of the values in the set divided by the number of values. It is often represented as </a:t>
            </a:r>
            <a:r>
              <a:rPr lang="en-US" altLang="en-US" i="1" dirty="0"/>
              <a:t>x</a:t>
            </a:r>
            <a:r>
              <a:rPr lang="en-US" altLang="en-US" dirty="0"/>
              <a:t>. </a:t>
            </a:r>
          </a:p>
          <a:p>
            <a:pPr eaLnBrk="1" hangingPunct="1"/>
            <a:r>
              <a:rPr lang="en-US" altLang="en-US" dirty="0"/>
              <a:t>The </a:t>
            </a:r>
            <a:r>
              <a:rPr lang="en-US" altLang="en-US" i="1" dirty="0"/>
              <a:t>median </a:t>
            </a:r>
            <a:r>
              <a:rPr lang="en-US" altLang="en-US" dirty="0"/>
              <a:t>is the middle value or the mean of the two middle values when the set is ordered numerically. The</a:t>
            </a:r>
          </a:p>
          <a:p>
            <a:pPr eaLnBrk="1" hangingPunct="1"/>
            <a:r>
              <a:rPr lang="en-US" altLang="en-US" i="1" dirty="0"/>
              <a:t>mode </a:t>
            </a:r>
            <a:r>
              <a:rPr lang="en-US" altLang="en-US" dirty="0"/>
              <a:t>is the value or values that occur most often. A data set may have one mode, no mode, or several modes.</a:t>
            </a:r>
          </a:p>
          <a:p>
            <a:pPr marL="0" indent="0">
              <a:buNone/>
            </a:pP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1997490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1299E051-EF6D-4295-93F1-C50E40096686}"/>
              </a:ext>
            </a:extLst>
          </p:cNvPr>
          <p:cNvPicPr>
            <a:picLocks noChangeAspect="1"/>
          </p:cNvPicPr>
          <p:nvPr/>
        </p:nvPicPr>
        <p:blipFill>
          <a:blip r:embed="rId2"/>
          <a:stretch>
            <a:fillRect/>
          </a:stretch>
        </p:blipFill>
        <p:spPr>
          <a:xfrm>
            <a:off x="239316" y="909638"/>
            <a:ext cx="8665369" cy="5038725"/>
          </a:xfrm>
          <a:prstGeom prst="rect">
            <a:avLst/>
          </a:prstGeom>
        </p:spPr>
      </p:pic>
    </p:spTree>
    <p:extLst>
      <p:ext uri="{BB962C8B-B14F-4D97-AF65-F5344CB8AC3E}">
        <p14:creationId xmlns:p14="http://schemas.microsoft.com/office/powerpoint/2010/main" val="4076445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3DD5EF-CB5F-40C9-8491-68A6943CF414}"/>
              </a:ext>
            </a:extLst>
          </p:cNvPr>
          <p:cNvSpPr>
            <a:spLocks noGrp="1"/>
          </p:cNvSpPr>
          <p:nvPr>
            <p:ph type="title"/>
          </p:nvPr>
        </p:nvSpPr>
        <p:spPr/>
        <p:txBody>
          <a:bodyPr>
            <a:normAutofit fontScale="90000"/>
          </a:bodyPr>
          <a:lstStyle/>
          <a:p>
            <a:r>
              <a:rPr lang="en-IN" b="0" i="0" dirty="0">
                <a:solidFill>
                  <a:srgbClr val="005595"/>
                </a:solidFill>
                <a:effectLst/>
                <a:latin typeface="myriad-pro"/>
              </a:rPr>
              <a:t>Mean (Arithmetic)</a:t>
            </a:r>
            <a:br>
              <a:rPr lang="en-IN" b="0" i="0" dirty="0">
                <a:solidFill>
                  <a:srgbClr val="005595"/>
                </a:solidFill>
                <a:effectLst/>
                <a:latin typeface="myriad-pro"/>
              </a:rPr>
            </a:br>
            <a:endParaRPr lang="en-IN" dirty="0"/>
          </a:p>
        </p:txBody>
      </p:sp>
      <p:sp>
        <p:nvSpPr>
          <p:cNvPr id="3" name="Content Placeholder 2">
            <a:extLst>
              <a:ext uri="{FF2B5EF4-FFF2-40B4-BE49-F238E27FC236}">
                <a16:creationId xmlns:a16="http://schemas.microsoft.com/office/drawing/2014/main" xmlns="" id="{D666465B-318D-45AE-9F0F-709D44E68D96}"/>
              </a:ext>
            </a:extLst>
          </p:cNvPr>
          <p:cNvSpPr>
            <a:spLocks noGrp="1"/>
          </p:cNvSpPr>
          <p:nvPr>
            <p:ph idx="1"/>
          </p:nvPr>
        </p:nvSpPr>
        <p:spPr/>
        <p:txBody>
          <a:bodyPr>
            <a:normAutofit fontScale="92500"/>
          </a:bodyPr>
          <a:lstStyle/>
          <a:p>
            <a:r>
              <a:rPr lang="en-US" b="0" i="0" dirty="0">
                <a:solidFill>
                  <a:srgbClr val="000000"/>
                </a:solidFill>
                <a:effectLst/>
                <a:latin typeface="proxima-nova"/>
              </a:rPr>
              <a:t>The mean (or average) is the most popular and well known measure of central tendency.</a:t>
            </a:r>
          </a:p>
          <a:p>
            <a:r>
              <a:rPr lang="en-US" b="0" i="0" dirty="0">
                <a:solidFill>
                  <a:srgbClr val="000000"/>
                </a:solidFill>
                <a:effectLst/>
                <a:latin typeface="proxima-nova"/>
              </a:rPr>
              <a:t> It can be used with both discrete and continuous data.</a:t>
            </a:r>
          </a:p>
          <a:p>
            <a:r>
              <a:rPr lang="en-US" b="0" i="0" dirty="0">
                <a:solidFill>
                  <a:srgbClr val="000000"/>
                </a:solidFill>
                <a:effectLst/>
                <a:latin typeface="proxima-nova"/>
              </a:rPr>
              <a:t> The mean is equal to the sum of all the values in the data set divided by the number of values in the data set. So, if we have </a:t>
            </a:r>
            <a:r>
              <a:rPr lang="en-US" dirty="0"/>
              <a:t>n</a:t>
            </a:r>
            <a:r>
              <a:rPr lang="en-US" b="0" i="0" dirty="0">
                <a:solidFill>
                  <a:srgbClr val="000000"/>
                </a:solidFill>
                <a:effectLst/>
                <a:latin typeface="proxima-nova"/>
              </a:rPr>
              <a:t> values in a data set and they have values</a:t>
            </a:r>
          </a:p>
          <a:p>
            <a:endParaRPr lang="en-IN" dirty="0"/>
          </a:p>
        </p:txBody>
      </p:sp>
      <p:pic>
        <p:nvPicPr>
          <p:cNvPr id="5" name="Picture 4">
            <a:extLst>
              <a:ext uri="{FF2B5EF4-FFF2-40B4-BE49-F238E27FC236}">
                <a16:creationId xmlns:a16="http://schemas.microsoft.com/office/drawing/2014/main" xmlns="" id="{707C9422-FB5B-4768-900E-70BC107FB7B7}"/>
              </a:ext>
            </a:extLst>
          </p:cNvPr>
          <p:cNvPicPr>
            <a:picLocks noChangeAspect="1"/>
          </p:cNvPicPr>
          <p:nvPr/>
        </p:nvPicPr>
        <p:blipFill>
          <a:blip r:embed="rId2"/>
          <a:stretch>
            <a:fillRect/>
          </a:stretch>
        </p:blipFill>
        <p:spPr>
          <a:xfrm>
            <a:off x="971550" y="4652963"/>
            <a:ext cx="2428875" cy="790575"/>
          </a:xfrm>
          <a:prstGeom prst="rect">
            <a:avLst/>
          </a:prstGeom>
        </p:spPr>
      </p:pic>
      <p:pic>
        <p:nvPicPr>
          <p:cNvPr id="7" name="Picture 6">
            <a:extLst>
              <a:ext uri="{FF2B5EF4-FFF2-40B4-BE49-F238E27FC236}">
                <a16:creationId xmlns:a16="http://schemas.microsoft.com/office/drawing/2014/main" xmlns="" id="{9D89AEB4-2834-43D2-8B4C-D3E18E7DE35E}"/>
              </a:ext>
            </a:extLst>
          </p:cNvPr>
          <p:cNvPicPr>
            <a:picLocks noChangeAspect="1"/>
          </p:cNvPicPr>
          <p:nvPr/>
        </p:nvPicPr>
        <p:blipFill>
          <a:blip r:embed="rId3"/>
          <a:stretch>
            <a:fillRect/>
          </a:stretch>
        </p:blipFill>
        <p:spPr>
          <a:xfrm>
            <a:off x="3743326" y="4652962"/>
            <a:ext cx="1221581" cy="819150"/>
          </a:xfrm>
          <a:prstGeom prst="rect">
            <a:avLst/>
          </a:prstGeom>
        </p:spPr>
      </p:pic>
      <p:pic>
        <p:nvPicPr>
          <p:cNvPr id="9" name="Picture 8">
            <a:extLst>
              <a:ext uri="{FF2B5EF4-FFF2-40B4-BE49-F238E27FC236}">
                <a16:creationId xmlns:a16="http://schemas.microsoft.com/office/drawing/2014/main" xmlns="" id="{CCB7FEAC-F980-4436-BD56-E6630054E70C}"/>
              </a:ext>
            </a:extLst>
          </p:cNvPr>
          <p:cNvPicPr>
            <a:picLocks noChangeAspect="1"/>
          </p:cNvPicPr>
          <p:nvPr/>
        </p:nvPicPr>
        <p:blipFill>
          <a:blip r:embed="rId4"/>
          <a:stretch>
            <a:fillRect/>
          </a:stretch>
        </p:blipFill>
        <p:spPr>
          <a:xfrm>
            <a:off x="5400675" y="4652963"/>
            <a:ext cx="1514475" cy="771525"/>
          </a:xfrm>
          <a:prstGeom prst="rect">
            <a:avLst/>
          </a:prstGeom>
        </p:spPr>
      </p:pic>
    </p:spTree>
    <p:extLst>
      <p:ext uri="{BB962C8B-B14F-4D97-AF65-F5344CB8AC3E}">
        <p14:creationId xmlns:p14="http://schemas.microsoft.com/office/powerpoint/2010/main" val="3672994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126AF0-B6DB-4370-BDA7-C18C73884663}"/>
              </a:ext>
            </a:extLst>
          </p:cNvPr>
          <p:cNvSpPr>
            <a:spLocks noGrp="1"/>
          </p:cNvSpPr>
          <p:nvPr>
            <p:ph type="title"/>
          </p:nvPr>
        </p:nvSpPr>
        <p:spPr/>
        <p:txBody>
          <a:bodyPr/>
          <a:lstStyle/>
          <a:p>
            <a:r>
              <a:rPr lang="en-US" dirty="0"/>
              <a:t>Pros of Mean</a:t>
            </a:r>
            <a:endParaRPr lang="en-IN" dirty="0"/>
          </a:p>
        </p:txBody>
      </p:sp>
      <p:sp>
        <p:nvSpPr>
          <p:cNvPr id="3" name="Content Placeholder 2">
            <a:extLst>
              <a:ext uri="{FF2B5EF4-FFF2-40B4-BE49-F238E27FC236}">
                <a16:creationId xmlns:a16="http://schemas.microsoft.com/office/drawing/2014/main" xmlns="" id="{F31329F0-DD6C-4354-AF3F-F00209F3D2CB}"/>
              </a:ext>
            </a:extLst>
          </p:cNvPr>
          <p:cNvSpPr>
            <a:spLocks noGrp="1"/>
          </p:cNvSpPr>
          <p:nvPr>
            <p:ph idx="1"/>
          </p:nvPr>
        </p:nvSpPr>
        <p:spPr>
          <a:xfrm>
            <a:off x="628650" y="1825625"/>
            <a:ext cx="7886700" cy="4784725"/>
          </a:xfrm>
        </p:spPr>
        <p:txBody>
          <a:bodyPr>
            <a:normAutofit fontScale="70000" lnSpcReduction="20000"/>
          </a:bodyPr>
          <a:lstStyle/>
          <a:p>
            <a:r>
              <a:rPr lang="en-US" b="0" i="0" dirty="0">
                <a:solidFill>
                  <a:srgbClr val="000000"/>
                </a:solidFill>
                <a:effectLst/>
                <a:latin typeface="proxima-nova"/>
              </a:rPr>
              <a:t>The mean is essentially a model of your data set. It is the value that is most common. </a:t>
            </a:r>
          </a:p>
          <a:p>
            <a:r>
              <a:rPr lang="en-US" b="0" i="0" dirty="0">
                <a:solidFill>
                  <a:srgbClr val="000000"/>
                </a:solidFill>
                <a:effectLst/>
                <a:latin typeface="proxima-nova"/>
              </a:rPr>
              <a:t>You will notice, however, that the mean is not often one of the actual values that you have observed in your data set. </a:t>
            </a:r>
          </a:p>
          <a:p>
            <a:r>
              <a:rPr lang="en-US" b="0" i="0" dirty="0">
                <a:solidFill>
                  <a:srgbClr val="000000"/>
                </a:solidFill>
                <a:effectLst/>
                <a:latin typeface="proxima-nova"/>
              </a:rPr>
              <a:t>However, one of its important properties is that it </a:t>
            </a:r>
            <a:r>
              <a:rPr lang="en-US" b="0" i="0" dirty="0" err="1">
                <a:solidFill>
                  <a:srgbClr val="000000"/>
                </a:solidFill>
                <a:effectLst/>
                <a:latin typeface="proxima-nova"/>
              </a:rPr>
              <a:t>minimises</a:t>
            </a:r>
            <a:r>
              <a:rPr lang="en-US" b="0" i="0" dirty="0">
                <a:solidFill>
                  <a:srgbClr val="000000"/>
                </a:solidFill>
                <a:effectLst/>
                <a:latin typeface="proxima-nova"/>
              </a:rPr>
              <a:t> error in the prediction of any one value in your data set. </a:t>
            </a:r>
          </a:p>
          <a:p>
            <a:r>
              <a:rPr lang="en-US" b="0" i="0" dirty="0">
                <a:solidFill>
                  <a:srgbClr val="000000"/>
                </a:solidFill>
                <a:effectLst/>
                <a:latin typeface="proxima-nova"/>
              </a:rPr>
              <a:t>That is, it is the value that produces the lowest amount of error from all other values in the data set.</a:t>
            </a:r>
          </a:p>
          <a:p>
            <a:r>
              <a:rPr lang="en-US" b="0" i="0" dirty="0">
                <a:solidFill>
                  <a:srgbClr val="000000"/>
                </a:solidFill>
                <a:effectLst/>
                <a:latin typeface="proxima-nova"/>
              </a:rPr>
              <a:t>An important property of the mean is that it includes every value in your data set as part of the calculation. </a:t>
            </a:r>
          </a:p>
          <a:p>
            <a:r>
              <a:rPr lang="en-US" b="0" i="0" dirty="0">
                <a:solidFill>
                  <a:srgbClr val="000000"/>
                </a:solidFill>
                <a:effectLst/>
                <a:latin typeface="proxima-nova"/>
              </a:rPr>
              <a:t>In addition, the mean is the only measure of central tendency where the sum of the deviations of each value from the mean is always zero</a:t>
            </a:r>
            <a:endParaRPr lang="en-IN" dirty="0"/>
          </a:p>
        </p:txBody>
      </p:sp>
    </p:spTree>
    <p:extLst>
      <p:ext uri="{BB962C8B-B14F-4D97-AF65-F5344CB8AC3E}">
        <p14:creationId xmlns:p14="http://schemas.microsoft.com/office/powerpoint/2010/main" val="2318913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BB7BB0-3BF9-43B2-A9EE-09691E1EBEDA}"/>
              </a:ext>
            </a:extLst>
          </p:cNvPr>
          <p:cNvSpPr>
            <a:spLocks noGrp="1"/>
          </p:cNvSpPr>
          <p:nvPr>
            <p:ph type="title"/>
          </p:nvPr>
        </p:nvSpPr>
        <p:spPr>
          <a:xfrm>
            <a:off x="592931" y="288926"/>
            <a:ext cx="7886700" cy="844550"/>
          </a:xfrm>
        </p:spPr>
        <p:txBody>
          <a:bodyPr/>
          <a:lstStyle/>
          <a:p>
            <a:r>
              <a:rPr lang="en-US" dirty="0"/>
              <a:t>Cons of mean</a:t>
            </a:r>
            <a:endParaRPr lang="en-IN" dirty="0"/>
          </a:p>
        </p:txBody>
      </p:sp>
      <p:sp>
        <p:nvSpPr>
          <p:cNvPr id="3" name="Content Placeholder 2">
            <a:extLst>
              <a:ext uri="{FF2B5EF4-FFF2-40B4-BE49-F238E27FC236}">
                <a16:creationId xmlns:a16="http://schemas.microsoft.com/office/drawing/2014/main" xmlns="" id="{8D2C2D72-C989-4BCB-AAEF-36611B6EDC01}"/>
              </a:ext>
            </a:extLst>
          </p:cNvPr>
          <p:cNvSpPr>
            <a:spLocks noGrp="1"/>
          </p:cNvSpPr>
          <p:nvPr>
            <p:ph idx="1"/>
          </p:nvPr>
        </p:nvSpPr>
        <p:spPr>
          <a:xfrm>
            <a:off x="646510" y="1371600"/>
            <a:ext cx="7850981" cy="5486400"/>
          </a:xfrm>
        </p:spPr>
        <p:txBody>
          <a:bodyPr>
            <a:normAutofit fontScale="70000" lnSpcReduction="20000"/>
          </a:bodyPr>
          <a:lstStyle/>
          <a:p>
            <a:pPr marL="514350" indent="-514350">
              <a:buAutoNum type="arabicPeriod"/>
            </a:pPr>
            <a:r>
              <a:rPr lang="en-US" b="0" i="0" dirty="0">
                <a:solidFill>
                  <a:srgbClr val="000000"/>
                </a:solidFill>
                <a:effectLst/>
                <a:latin typeface="proxima-nova"/>
              </a:rPr>
              <a:t>It is particularly susceptible to the influence of outliers. These are values that are unusual compared to the rest of the data set by being especially small or large in numerical value.</a:t>
            </a:r>
          </a:p>
          <a:p>
            <a:pPr marL="514350" indent="-514350">
              <a:buAutoNum type="arabicPeriod"/>
            </a:pPr>
            <a:r>
              <a:rPr lang="en-US" dirty="0">
                <a:solidFill>
                  <a:srgbClr val="000000"/>
                </a:solidFill>
                <a:latin typeface="proxima-nova"/>
              </a:rPr>
              <a:t>Take Example</a:t>
            </a:r>
            <a:r>
              <a:rPr lang="en-US" b="0" i="0" dirty="0">
                <a:solidFill>
                  <a:srgbClr val="000000"/>
                </a:solidFill>
                <a:effectLst/>
                <a:latin typeface="proxima-nova"/>
              </a:rPr>
              <a:t> wages of staff at a factory below:</a:t>
            </a:r>
          </a:p>
          <a:p>
            <a:pPr marL="514350" indent="-514350">
              <a:buAutoNum type="arabicPeriod"/>
            </a:pPr>
            <a:endParaRPr lang="en-US" b="0" i="0" dirty="0">
              <a:solidFill>
                <a:srgbClr val="000000"/>
              </a:solidFill>
              <a:effectLst/>
              <a:latin typeface="proxima-nova"/>
            </a:endParaRPr>
          </a:p>
          <a:p>
            <a:pPr marL="514350" indent="-514350">
              <a:buAutoNum type="arabicPeriod"/>
            </a:pPr>
            <a:endParaRPr lang="en-US" dirty="0">
              <a:solidFill>
                <a:srgbClr val="000000"/>
              </a:solidFill>
              <a:latin typeface="proxima-nova"/>
            </a:endParaRPr>
          </a:p>
          <a:p>
            <a:pPr marL="514350" indent="-514350">
              <a:buAutoNum type="arabicPeriod"/>
            </a:pPr>
            <a:endParaRPr lang="en-US" b="0" i="0" dirty="0">
              <a:solidFill>
                <a:srgbClr val="000000"/>
              </a:solidFill>
              <a:effectLst/>
              <a:latin typeface="proxima-nova"/>
            </a:endParaRPr>
          </a:p>
          <a:p>
            <a:pPr marL="514350" indent="-514350">
              <a:buAutoNum type="arabicPeriod"/>
            </a:pPr>
            <a:r>
              <a:rPr lang="en-US" b="0" i="0" dirty="0">
                <a:solidFill>
                  <a:srgbClr val="000000"/>
                </a:solidFill>
                <a:effectLst/>
                <a:latin typeface="proxima-nova"/>
              </a:rPr>
              <a:t>The mean salary for these ten staff is $30.7k. However, inspecting the raw data suggests that this mean value might not be the best way to accurately reflect the typical salary of a worker, as most workers have salaries in the $12k to 18k range. </a:t>
            </a:r>
          </a:p>
          <a:p>
            <a:pPr marL="514350" indent="-514350">
              <a:buAutoNum type="arabicPeriod"/>
            </a:pPr>
            <a:r>
              <a:rPr lang="en-US" b="0" i="0" dirty="0">
                <a:solidFill>
                  <a:srgbClr val="000000"/>
                </a:solidFill>
                <a:effectLst/>
                <a:latin typeface="proxima-nova"/>
              </a:rPr>
              <a:t>The mean is being skewed by the two large salaries. Therefore, in this situation, we would like to have a better measure of central tendency. As we will find out later, taking the median would be a better measure of central tendency in this situation</a:t>
            </a:r>
            <a:endParaRPr lang="en-IN" dirty="0"/>
          </a:p>
        </p:txBody>
      </p:sp>
      <p:pic>
        <p:nvPicPr>
          <p:cNvPr id="9" name="Picture 8">
            <a:extLst>
              <a:ext uri="{FF2B5EF4-FFF2-40B4-BE49-F238E27FC236}">
                <a16:creationId xmlns:a16="http://schemas.microsoft.com/office/drawing/2014/main" xmlns="" id="{A333532F-E205-4950-968E-E2AD3E3CFF2C}"/>
              </a:ext>
            </a:extLst>
          </p:cNvPr>
          <p:cNvPicPr>
            <a:picLocks noChangeAspect="1"/>
          </p:cNvPicPr>
          <p:nvPr/>
        </p:nvPicPr>
        <p:blipFill>
          <a:blip r:embed="rId2"/>
          <a:stretch>
            <a:fillRect/>
          </a:stretch>
        </p:blipFill>
        <p:spPr>
          <a:xfrm>
            <a:off x="1307306" y="2790825"/>
            <a:ext cx="6729413" cy="857250"/>
          </a:xfrm>
          <a:prstGeom prst="rect">
            <a:avLst/>
          </a:prstGeom>
        </p:spPr>
      </p:pic>
    </p:spTree>
    <p:extLst>
      <p:ext uri="{BB962C8B-B14F-4D97-AF65-F5344CB8AC3E}">
        <p14:creationId xmlns:p14="http://schemas.microsoft.com/office/powerpoint/2010/main" val="2765203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3B4EA1-6C9E-4BD0-9D2C-C71085C2514B}"/>
              </a:ext>
            </a:extLst>
          </p:cNvPr>
          <p:cNvSpPr>
            <a:spLocks noGrp="1"/>
          </p:cNvSpPr>
          <p:nvPr>
            <p:ph type="title"/>
          </p:nvPr>
        </p:nvSpPr>
        <p:spPr/>
        <p:txBody>
          <a:bodyPr/>
          <a:lstStyle/>
          <a:p>
            <a:r>
              <a:rPr lang="en-US" dirty="0"/>
              <a:t>Median </a:t>
            </a:r>
            <a:endParaRPr lang="en-IN" dirty="0"/>
          </a:p>
        </p:txBody>
      </p:sp>
      <p:sp>
        <p:nvSpPr>
          <p:cNvPr id="3" name="Content Placeholder 2">
            <a:extLst>
              <a:ext uri="{FF2B5EF4-FFF2-40B4-BE49-F238E27FC236}">
                <a16:creationId xmlns:a16="http://schemas.microsoft.com/office/drawing/2014/main" xmlns="" id="{7F6B81A5-7F8A-4EEA-97B1-3411D73F62CB}"/>
              </a:ext>
            </a:extLst>
          </p:cNvPr>
          <p:cNvSpPr>
            <a:spLocks noGrp="1"/>
          </p:cNvSpPr>
          <p:nvPr>
            <p:ph idx="1"/>
          </p:nvPr>
        </p:nvSpPr>
        <p:spPr/>
        <p:txBody>
          <a:bodyPr/>
          <a:lstStyle/>
          <a:p>
            <a:r>
              <a:rPr lang="en-US" dirty="0"/>
              <a:t>The median is the middle score for a set of data that has been arranged in order of magnitude.</a:t>
            </a:r>
          </a:p>
          <a:p>
            <a:r>
              <a:rPr lang="en-US" b="0" i="0" dirty="0">
                <a:solidFill>
                  <a:srgbClr val="000000"/>
                </a:solidFill>
                <a:effectLst/>
                <a:latin typeface="proxima-nova"/>
              </a:rPr>
              <a:t>The median is less affected by outliers and skewed data. </a:t>
            </a:r>
            <a:endParaRPr lang="en-IN" dirty="0"/>
          </a:p>
        </p:txBody>
      </p:sp>
    </p:spTree>
    <p:extLst>
      <p:ext uri="{BB962C8B-B14F-4D97-AF65-F5344CB8AC3E}">
        <p14:creationId xmlns:p14="http://schemas.microsoft.com/office/powerpoint/2010/main" val="2620778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2F41BA-3C70-4A59-874E-7A20758DBBA0}"/>
              </a:ext>
            </a:extLst>
          </p:cNvPr>
          <p:cNvSpPr>
            <a:spLocks noGrp="1"/>
          </p:cNvSpPr>
          <p:nvPr>
            <p:ph type="title"/>
          </p:nvPr>
        </p:nvSpPr>
        <p:spPr/>
        <p:txBody>
          <a:bodyPr/>
          <a:lstStyle/>
          <a:p>
            <a:r>
              <a:rPr lang="en-US" dirty="0"/>
              <a:t>Outliers</a:t>
            </a:r>
            <a:endParaRPr lang="en-IN" dirty="0"/>
          </a:p>
        </p:txBody>
      </p:sp>
      <p:sp>
        <p:nvSpPr>
          <p:cNvPr id="3" name="Content Placeholder 2">
            <a:extLst>
              <a:ext uri="{FF2B5EF4-FFF2-40B4-BE49-F238E27FC236}">
                <a16:creationId xmlns:a16="http://schemas.microsoft.com/office/drawing/2014/main" xmlns="" id="{81A545E9-9EFC-46C4-B781-454F35EF6CCA}"/>
              </a:ext>
            </a:extLst>
          </p:cNvPr>
          <p:cNvSpPr>
            <a:spLocks noGrp="1"/>
          </p:cNvSpPr>
          <p:nvPr>
            <p:ph idx="1"/>
          </p:nvPr>
        </p:nvSpPr>
        <p:spPr/>
        <p:txBody>
          <a:bodyPr>
            <a:normAutofit fontScale="92500" lnSpcReduction="20000"/>
          </a:bodyPr>
          <a:lstStyle/>
          <a:p>
            <a:pPr eaLnBrk="1" hangingPunct="1"/>
            <a:r>
              <a:rPr lang="en-US" altLang="en-US" dirty="0"/>
              <a:t>An </a:t>
            </a:r>
            <a:r>
              <a:rPr lang="en-US" altLang="en-US" b="1" u="sng" dirty="0"/>
              <a:t>outlier</a:t>
            </a:r>
            <a:r>
              <a:rPr lang="en-US" altLang="en-US" b="1" dirty="0"/>
              <a:t> </a:t>
            </a:r>
            <a:r>
              <a:rPr lang="en-US" altLang="en-US" dirty="0"/>
              <a:t>is an extreme value that is much less than or much greater than the other data values. Outliers have a strong effect on the mean and standard</a:t>
            </a:r>
          </a:p>
          <a:p>
            <a:pPr eaLnBrk="1" hangingPunct="1"/>
            <a:r>
              <a:rPr lang="en-US" altLang="en-US" dirty="0"/>
              <a:t>deviation. If an outlier is the result of measurement error or represents data from the wrong population, it is usually removed. There are different ways to</a:t>
            </a:r>
          </a:p>
          <a:p>
            <a:pPr eaLnBrk="1" hangingPunct="1"/>
            <a:r>
              <a:rPr lang="en-US" altLang="en-US" dirty="0"/>
              <a:t>determine whether a value is an outlier. One is to look for data values that are more than 3 standard deviations from the mean</a:t>
            </a:r>
            <a:endParaRPr lang="en-IN" dirty="0"/>
          </a:p>
        </p:txBody>
      </p:sp>
    </p:spTree>
    <p:extLst>
      <p:ext uri="{BB962C8B-B14F-4D97-AF65-F5344CB8AC3E}">
        <p14:creationId xmlns:p14="http://schemas.microsoft.com/office/powerpoint/2010/main" val="3015500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3B4EA1-6C9E-4BD0-9D2C-C71085C2514B}"/>
              </a:ext>
            </a:extLst>
          </p:cNvPr>
          <p:cNvSpPr>
            <a:spLocks noGrp="1"/>
          </p:cNvSpPr>
          <p:nvPr>
            <p:ph type="title"/>
          </p:nvPr>
        </p:nvSpPr>
        <p:spPr/>
        <p:txBody>
          <a:bodyPr/>
          <a:lstStyle/>
          <a:p>
            <a:r>
              <a:rPr lang="en-US" dirty="0"/>
              <a:t>Median </a:t>
            </a:r>
            <a:endParaRPr lang="en-IN" dirty="0"/>
          </a:p>
        </p:txBody>
      </p:sp>
      <p:sp>
        <p:nvSpPr>
          <p:cNvPr id="3" name="Content Placeholder 2">
            <a:extLst>
              <a:ext uri="{FF2B5EF4-FFF2-40B4-BE49-F238E27FC236}">
                <a16:creationId xmlns:a16="http://schemas.microsoft.com/office/drawing/2014/main" xmlns="" id="{7F6B81A5-7F8A-4EEA-97B1-3411D73F62CB}"/>
              </a:ext>
            </a:extLst>
          </p:cNvPr>
          <p:cNvSpPr>
            <a:spLocks noGrp="1"/>
          </p:cNvSpPr>
          <p:nvPr>
            <p:ph idx="1"/>
          </p:nvPr>
        </p:nvSpPr>
        <p:spPr/>
        <p:txBody>
          <a:bodyPr/>
          <a:lstStyle/>
          <a:p>
            <a:r>
              <a:rPr lang="en-US" dirty="0"/>
              <a:t>The median is the middle score for a set of data that has been arranged in order of magnitude.</a:t>
            </a:r>
          </a:p>
          <a:p>
            <a:r>
              <a:rPr lang="en-US" b="0" i="0" dirty="0">
                <a:solidFill>
                  <a:srgbClr val="000000"/>
                </a:solidFill>
                <a:effectLst/>
                <a:latin typeface="proxima-nova"/>
              </a:rPr>
              <a:t>The median is less affected by outliers and skewed data. </a:t>
            </a:r>
          </a:p>
          <a:p>
            <a:r>
              <a:rPr lang="en-US" dirty="0">
                <a:solidFill>
                  <a:srgbClr val="000000"/>
                </a:solidFill>
                <a:latin typeface="proxima-nova"/>
              </a:rPr>
              <a:t>Compute Median of following data:</a:t>
            </a:r>
            <a:endParaRPr lang="en-US" b="0" i="0" dirty="0">
              <a:solidFill>
                <a:srgbClr val="000000"/>
              </a:solidFill>
              <a:effectLst/>
              <a:latin typeface="proxima-nova"/>
            </a:endParaRPr>
          </a:p>
          <a:p>
            <a:endParaRPr lang="en-IN" dirty="0"/>
          </a:p>
        </p:txBody>
      </p:sp>
      <p:pic>
        <p:nvPicPr>
          <p:cNvPr id="5" name="Picture 4">
            <a:extLst>
              <a:ext uri="{FF2B5EF4-FFF2-40B4-BE49-F238E27FC236}">
                <a16:creationId xmlns:a16="http://schemas.microsoft.com/office/drawing/2014/main" xmlns="" id="{CA7A1B4D-5AA2-481E-97F2-D4EE5771BDEE}"/>
              </a:ext>
            </a:extLst>
          </p:cNvPr>
          <p:cNvPicPr>
            <a:picLocks noChangeAspect="1"/>
          </p:cNvPicPr>
          <p:nvPr/>
        </p:nvPicPr>
        <p:blipFill>
          <a:blip r:embed="rId2"/>
          <a:stretch>
            <a:fillRect/>
          </a:stretch>
        </p:blipFill>
        <p:spPr>
          <a:xfrm>
            <a:off x="739378" y="4001295"/>
            <a:ext cx="6850856" cy="1876425"/>
          </a:xfrm>
          <a:prstGeom prst="rect">
            <a:avLst/>
          </a:prstGeom>
        </p:spPr>
      </p:pic>
    </p:spTree>
    <p:extLst>
      <p:ext uri="{BB962C8B-B14F-4D97-AF65-F5344CB8AC3E}">
        <p14:creationId xmlns:p14="http://schemas.microsoft.com/office/powerpoint/2010/main" val="1316587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2FE4F8-8115-499E-BEE3-73051CFF0A8B}"/>
              </a:ext>
            </a:extLst>
          </p:cNvPr>
          <p:cNvSpPr>
            <a:spLocks noGrp="1"/>
          </p:cNvSpPr>
          <p:nvPr>
            <p:ph type="title"/>
          </p:nvPr>
        </p:nvSpPr>
        <p:spPr/>
        <p:txBody>
          <a:bodyPr/>
          <a:lstStyle/>
          <a:p>
            <a:r>
              <a:rPr lang="en-US" dirty="0"/>
              <a:t>Median Computation continue..</a:t>
            </a:r>
            <a:endParaRPr lang="en-IN" dirty="0"/>
          </a:p>
        </p:txBody>
      </p:sp>
      <p:pic>
        <p:nvPicPr>
          <p:cNvPr id="5" name="Content Placeholder 4">
            <a:extLst>
              <a:ext uri="{FF2B5EF4-FFF2-40B4-BE49-F238E27FC236}">
                <a16:creationId xmlns:a16="http://schemas.microsoft.com/office/drawing/2014/main" xmlns="" id="{CFBC26B9-D0CC-4219-8475-F91AA3798CA6}"/>
              </a:ext>
            </a:extLst>
          </p:cNvPr>
          <p:cNvPicPr>
            <a:picLocks noGrp="1" noChangeAspect="1"/>
          </p:cNvPicPr>
          <p:nvPr>
            <p:ph idx="1"/>
          </p:nvPr>
        </p:nvPicPr>
        <p:blipFill>
          <a:blip r:embed="rId2"/>
          <a:stretch>
            <a:fillRect/>
          </a:stretch>
        </p:blipFill>
        <p:spPr>
          <a:xfrm>
            <a:off x="628650" y="1690688"/>
            <a:ext cx="6807994" cy="1866900"/>
          </a:xfrm>
        </p:spPr>
      </p:pic>
      <p:sp>
        <p:nvSpPr>
          <p:cNvPr id="7" name="TextBox 6">
            <a:extLst>
              <a:ext uri="{FF2B5EF4-FFF2-40B4-BE49-F238E27FC236}">
                <a16:creationId xmlns:a16="http://schemas.microsoft.com/office/drawing/2014/main" xmlns="" id="{3D341FC3-7420-4582-AAD4-1168361DCC6A}"/>
              </a:ext>
            </a:extLst>
          </p:cNvPr>
          <p:cNvSpPr txBox="1"/>
          <p:nvPr/>
        </p:nvSpPr>
        <p:spPr>
          <a:xfrm>
            <a:off x="628651" y="3934510"/>
            <a:ext cx="7779543" cy="646331"/>
          </a:xfrm>
          <a:prstGeom prst="rect">
            <a:avLst/>
          </a:prstGeom>
          <a:noFill/>
        </p:spPr>
        <p:txBody>
          <a:bodyPr wrap="square">
            <a:spAutoFit/>
          </a:bodyPr>
          <a:lstStyle/>
          <a:p>
            <a:r>
              <a:rPr lang="en-US" dirty="0">
                <a:solidFill>
                  <a:srgbClr val="000000"/>
                </a:solidFill>
                <a:latin typeface="proxima-nova"/>
              </a:rPr>
              <a:t>Now </a:t>
            </a:r>
            <a:r>
              <a:rPr lang="en-US" b="0" i="0" dirty="0">
                <a:solidFill>
                  <a:srgbClr val="000000"/>
                </a:solidFill>
                <a:effectLst/>
                <a:latin typeface="proxima-nova"/>
              </a:rPr>
              <a:t> take the 5th and 6th score in our data set and average them to get a median of 55.5</a:t>
            </a:r>
            <a:endParaRPr lang="en-IN" dirty="0"/>
          </a:p>
        </p:txBody>
      </p:sp>
    </p:spTree>
    <p:extLst>
      <p:ext uri="{BB962C8B-B14F-4D97-AF65-F5344CB8AC3E}">
        <p14:creationId xmlns:p14="http://schemas.microsoft.com/office/powerpoint/2010/main" val="2257588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730AD2-AE4E-4967-A856-823B5B9AD2AD}"/>
              </a:ext>
            </a:extLst>
          </p:cNvPr>
          <p:cNvSpPr>
            <a:spLocks noGrp="1"/>
          </p:cNvSpPr>
          <p:nvPr>
            <p:ph type="title"/>
          </p:nvPr>
        </p:nvSpPr>
        <p:spPr/>
        <p:txBody>
          <a:bodyPr/>
          <a:lstStyle/>
          <a:p>
            <a:r>
              <a:rPr lang="en-US" dirty="0"/>
              <a:t>Mode</a:t>
            </a:r>
            <a:endParaRPr lang="en-IN" dirty="0"/>
          </a:p>
        </p:txBody>
      </p:sp>
      <p:sp>
        <p:nvSpPr>
          <p:cNvPr id="3" name="Content Placeholder 2">
            <a:extLst>
              <a:ext uri="{FF2B5EF4-FFF2-40B4-BE49-F238E27FC236}">
                <a16:creationId xmlns:a16="http://schemas.microsoft.com/office/drawing/2014/main" xmlns="" id="{0E6C6BF1-FD0C-496C-B4CA-50F72537C514}"/>
              </a:ext>
            </a:extLst>
          </p:cNvPr>
          <p:cNvSpPr>
            <a:spLocks noGrp="1"/>
          </p:cNvSpPr>
          <p:nvPr>
            <p:ph idx="1"/>
          </p:nvPr>
        </p:nvSpPr>
        <p:spPr/>
        <p:txBody>
          <a:bodyPr/>
          <a:lstStyle/>
          <a:p>
            <a:r>
              <a:rPr lang="en-US" b="0" i="0" dirty="0">
                <a:solidFill>
                  <a:srgbClr val="333333"/>
                </a:solidFill>
                <a:effectLst/>
                <a:latin typeface="Untitled Sans"/>
              </a:rPr>
              <a:t>Mode means a value or a number that appears most frequently in a dataset.</a:t>
            </a:r>
          </a:p>
          <a:p>
            <a:pPr algn="l" fontAlgn="base"/>
            <a:r>
              <a:rPr lang="en-US" b="1" i="0" dirty="0">
                <a:solidFill>
                  <a:srgbClr val="333333"/>
                </a:solidFill>
                <a:effectLst/>
                <a:latin typeface="Untitled Sans"/>
              </a:rPr>
              <a:t>Unimodal List: </a:t>
            </a:r>
            <a:r>
              <a:rPr lang="en-US" b="0" i="0" dirty="0">
                <a:solidFill>
                  <a:srgbClr val="333333"/>
                </a:solidFill>
                <a:effectLst/>
                <a:latin typeface="Untitled Sans"/>
              </a:rPr>
              <a:t>A list of given data with only one mode is called a unimodal list.</a:t>
            </a:r>
          </a:p>
          <a:p>
            <a:pPr algn="l" fontAlgn="base"/>
            <a:r>
              <a:rPr lang="en-US" b="1" i="0" dirty="0">
                <a:solidFill>
                  <a:srgbClr val="333333"/>
                </a:solidFill>
                <a:effectLst/>
                <a:latin typeface="Untitled Sans"/>
              </a:rPr>
              <a:t>Bimodal List:</a:t>
            </a:r>
            <a:r>
              <a:rPr lang="en-US" b="0" i="0" dirty="0">
                <a:solidFill>
                  <a:srgbClr val="333333"/>
                </a:solidFill>
                <a:effectLst/>
                <a:latin typeface="Untitled Sans"/>
              </a:rPr>
              <a:t> A list of given data with two modes is called a bimodal list</a:t>
            </a:r>
          </a:p>
          <a:p>
            <a:endParaRPr lang="en-IN" dirty="0"/>
          </a:p>
        </p:txBody>
      </p:sp>
    </p:spTree>
    <p:extLst>
      <p:ext uri="{BB962C8B-B14F-4D97-AF65-F5344CB8AC3E}">
        <p14:creationId xmlns:p14="http://schemas.microsoft.com/office/powerpoint/2010/main" val="1058777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E00C6B-A7A5-4764-B6D7-350F566C8F15}"/>
              </a:ext>
            </a:extLst>
          </p:cNvPr>
          <p:cNvSpPr>
            <a:spLocks noGrp="1"/>
          </p:cNvSpPr>
          <p:nvPr>
            <p:ph type="title"/>
          </p:nvPr>
        </p:nvSpPr>
        <p:spPr/>
        <p:txBody>
          <a:bodyPr/>
          <a:lstStyle/>
          <a:p>
            <a:r>
              <a:rPr lang="en-US" dirty="0"/>
              <a:t>Mode Formula</a:t>
            </a:r>
            <a:endParaRPr lang="en-IN" dirty="0"/>
          </a:p>
        </p:txBody>
      </p:sp>
      <p:pic>
        <p:nvPicPr>
          <p:cNvPr id="5" name="Content Placeholder 4">
            <a:extLst>
              <a:ext uri="{FF2B5EF4-FFF2-40B4-BE49-F238E27FC236}">
                <a16:creationId xmlns:a16="http://schemas.microsoft.com/office/drawing/2014/main" xmlns="" id="{92193A23-82B6-466E-9C9A-32C169195886}"/>
              </a:ext>
            </a:extLst>
          </p:cNvPr>
          <p:cNvPicPr>
            <a:picLocks noGrp="1" noChangeAspect="1"/>
          </p:cNvPicPr>
          <p:nvPr>
            <p:ph idx="1"/>
          </p:nvPr>
        </p:nvPicPr>
        <p:blipFill>
          <a:blip r:embed="rId2"/>
          <a:stretch>
            <a:fillRect/>
          </a:stretch>
        </p:blipFill>
        <p:spPr>
          <a:xfrm>
            <a:off x="507206" y="1862932"/>
            <a:ext cx="3043238" cy="1304925"/>
          </a:xfrm>
        </p:spPr>
      </p:pic>
      <p:sp>
        <p:nvSpPr>
          <p:cNvPr id="7" name="TextBox 6">
            <a:extLst>
              <a:ext uri="{FF2B5EF4-FFF2-40B4-BE49-F238E27FC236}">
                <a16:creationId xmlns:a16="http://schemas.microsoft.com/office/drawing/2014/main" xmlns="" id="{E59EA8C2-7CC0-4206-B20F-591C019B16D0}"/>
              </a:ext>
            </a:extLst>
          </p:cNvPr>
          <p:cNvSpPr txBox="1"/>
          <p:nvPr/>
        </p:nvSpPr>
        <p:spPr>
          <a:xfrm>
            <a:off x="628650" y="3429000"/>
            <a:ext cx="7429500" cy="2677656"/>
          </a:xfrm>
          <a:prstGeom prst="rect">
            <a:avLst/>
          </a:prstGeom>
          <a:noFill/>
        </p:spPr>
        <p:txBody>
          <a:bodyPr wrap="square">
            <a:spAutoFit/>
          </a:bodyPr>
          <a:lstStyle/>
          <a:p>
            <a:pPr algn="l" fontAlgn="base">
              <a:buFont typeface="Arial" panose="020B0604020202020204" pitchFamily="34" charset="0"/>
              <a:buChar char="•"/>
            </a:pPr>
            <a:r>
              <a:rPr lang="en-US" sz="2400" b="0" i="0" dirty="0">
                <a:solidFill>
                  <a:srgbClr val="333333"/>
                </a:solidFill>
                <a:effectLst/>
                <a:latin typeface="inherit"/>
              </a:rPr>
              <a:t>L is the lower limit of the modal class</a:t>
            </a:r>
          </a:p>
          <a:p>
            <a:pPr algn="l" fontAlgn="base">
              <a:buFont typeface="Arial" panose="020B0604020202020204" pitchFamily="34" charset="0"/>
              <a:buChar char="•"/>
            </a:pPr>
            <a:r>
              <a:rPr lang="en-US" sz="2400" b="0" i="0" dirty="0">
                <a:solidFill>
                  <a:srgbClr val="333333"/>
                </a:solidFill>
                <a:effectLst/>
                <a:latin typeface="inherit"/>
              </a:rPr>
              <a:t>h is the size of the class interval</a:t>
            </a:r>
          </a:p>
          <a:p>
            <a:pPr algn="l" fontAlgn="base">
              <a:buFont typeface="Arial" panose="020B0604020202020204" pitchFamily="34" charset="0"/>
              <a:buChar char="•"/>
            </a:pPr>
            <a:r>
              <a:rPr lang="en-US" sz="2400" b="0" i="0" dirty="0">
                <a:solidFill>
                  <a:srgbClr val="333333"/>
                </a:solidFill>
                <a:effectLst/>
                <a:latin typeface="MJXc-TeX-main-R"/>
              </a:rPr>
              <a:t>Fm </a:t>
            </a:r>
            <a:r>
              <a:rPr lang="en-US" sz="2400" b="0" i="0" dirty="0">
                <a:solidFill>
                  <a:srgbClr val="333333"/>
                </a:solidFill>
                <a:effectLst/>
                <a:latin typeface="inherit"/>
              </a:rPr>
              <a:t>is the frequency of the modal class</a:t>
            </a:r>
          </a:p>
          <a:p>
            <a:pPr algn="l" fontAlgn="base">
              <a:buFont typeface="Arial" panose="020B0604020202020204" pitchFamily="34" charset="0"/>
              <a:buChar char="•"/>
            </a:pPr>
            <a:r>
              <a:rPr lang="en-US" sz="2400" b="0" i="0" dirty="0">
                <a:solidFill>
                  <a:srgbClr val="333333"/>
                </a:solidFill>
                <a:effectLst/>
                <a:latin typeface="MJXc-TeX-main-R"/>
              </a:rPr>
              <a:t>f1</a:t>
            </a:r>
            <a:r>
              <a:rPr lang="en-US" sz="2400" b="0" i="0" dirty="0">
                <a:solidFill>
                  <a:srgbClr val="333333"/>
                </a:solidFill>
                <a:effectLst/>
                <a:latin typeface="inherit"/>
              </a:rPr>
              <a:t> is the frequency of the class preceding the modal class</a:t>
            </a:r>
          </a:p>
          <a:p>
            <a:pPr algn="l" fontAlgn="base">
              <a:buFont typeface="Arial" panose="020B0604020202020204" pitchFamily="34" charset="0"/>
              <a:buChar char="•"/>
            </a:pPr>
            <a:r>
              <a:rPr lang="en-US" sz="2400" b="0" i="0" dirty="0">
                <a:solidFill>
                  <a:srgbClr val="333333"/>
                </a:solidFill>
                <a:effectLst/>
                <a:latin typeface="MJXc-TeX-main-R"/>
              </a:rPr>
              <a:t>f2</a:t>
            </a:r>
            <a:r>
              <a:rPr lang="en-US" sz="2400" b="0" i="0" dirty="0">
                <a:solidFill>
                  <a:srgbClr val="333333"/>
                </a:solidFill>
                <a:effectLst/>
                <a:latin typeface="inherit"/>
              </a:rPr>
              <a:t>is the frequency of the class succeeding the modal class</a:t>
            </a:r>
          </a:p>
        </p:txBody>
      </p:sp>
    </p:spTree>
    <p:extLst>
      <p:ext uri="{BB962C8B-B14F-4D97-AF65-F5344CB8AC3E}">
        <p14:creationId xmlns:p14="http://schemas.microsoft.com/office/powerpoint/2010/main" val="2389595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xmlns="" id="{6BE26177-AA11-463A-924B-3DA42CCEEF3B}"/>
              </a:ext>
            </a:extLst>
          </p:cNvPr>
          <p:cNvSpPr txBox="1">
            <a:spLocks noChangeArrowheads="1"/>
          </p:cNvSpPr>
          <p:nvPr/>
        </p:nvSpPr>
        <p:spPr bwMode="auto">
          <a:xfrm>
            <a:off x="514350" y="270302"/>
            <a:ext cx="6858000" cy="830997"/>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dirty="0">
                <a:solidFill>
                  <a:srgbClr val="006699"/>
                </a:solidFill>
                <a:latin typeface="Arial Black" panose="020B0A04020102020204" pitchFamily="34" charset="0"/>
              </a:rPr>
              <a:t>Example 1: Finding Measures of Central Tendency</a:t>
            </a:r>
          </a:p>
        </p:txBody>
      </p:sp>
      <p:sp>
        <p:nvSpPr>
          <p:cNvPr id="8195" name="Rectangle 3">
            <a:extLst>
              <a:ext uri="{FF2B5EF4-FFF2-40B4-BE49-F238E27FC236}">
                <a16:creationId xmlns:a16="http://schemas.microsoft.com/office/drawing/2014/main" xmlns="" id="{DB5FF3D1-92FA-431E-ACD9-AFD6D650C26C}"/>
              </a:ext>
            </a:extLst>
          </p:cNvPr>
          <p:cNvSpPr>
            <a:spLocks noChangeArrowheads="1"/>
          </p:cNvSpPr>
          <p:nvPr/>
        </p:nvSpPr>
        <p:spPr bwMode="auto">
          <a:xfrm>
            <a:off x="1257301" y="1674168"/>
            <a:ext cx="81660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Find the mean, median, and mode of the data.</a:t>
            </a:r>
          </a:p>
        </p:txBody>
      </p:sp>
      <p:sp>
        <p:nvSpPr>
          <p:cNvPr id="8196" name="Rectangle 4">
            <a:extLst>
              <a:ext uri="{FF2B5EF4-FFF2-40B4-BE49-F238E27FC236}">
                <a16:creationId xmlns:a16="http://schemas.microsoft.com/office/drawing/2014/main" xmlns="" id="{D50F7BE1-0DC1-4303-A55B-95EF428214E3}"/>
              </a:ext>
            </a:extLst>
          </p:cNvPr>
          <p:cNvSpPr>
            <a:spLocks noChangeArrowheads="1"/>
          </p:cNvSpPr>
          <p:nvPr/>
        </p:nvSpPr>
        <p:spPr bwMode="auto">
          <a:xfrm>
            <a:off x="1268731" y="2119938"/>
            <a:ext cx="78325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deer at a feeder each hour: 3, 0, 2, 0, 1, 2, 4</a:t>
            </a:r>
          </a:p>
        </p:txBody>
      </p:sp>
      <p:sp>
        <p:nvSpPr>
          <p:cNvPr id="29703" name="Rectangle 7">
            <a:extLst>
              <a:ext uri="{FF2B5EF4-FFF2-40B4-BE49-F238E27FC236}">
                <a16:creationId xmlns:a16="http://schemas.microsoft.com/office/drawing/2014/main" xmlns="" id="{4441A932-CF75-45E6-9FCF-973F57A92D17}"/>
              </a:ext>
            </a:extLst>
          </p:cNvPr>
          <p:cNvSpPr>
            <a:spLocks noChangeArrowheads="1"/>
          </p:cNvSpPr>
          <p:nvPr/>
        </p:nvSpPr>
        <p:spPr bwMode="auto">
          <a:xfrm>
            <a:off x="1257300" y="2893368"/>
            <a:ext cx="13388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Mean:</a:t>
            </a:r>
            <a:r>
              <a:rPr lang="en-US" altLang="en-US" dirty="0"/>
              <a:t> </a:t>
            </a:r>
          </a:p>
        </p:txBody>
      </p:sp>
      <p:sp>
        <p:nvSpPr>
          <p:cNvPr id="29708" name="Rectangle 12">
            <a:extLst>
              <a:ext uri="{FF2B5EF4-FFF2-40B4-BE49-F238E27FC236}">
                <a16:creationId xmlns:a16="http://schemas.microsoft.com/office/drawing/2014/main" xmlns="" id="{CEDB01CB-7302-4CBB-9C57-1C82AC832D77}"/>
              </a:ext>
            </a:extLst>
          </p:cNvPr>
          <p:cNvSpPr>
            <a:spLocks noChangeArrowheads="1"/>
          </p:cNvSpPr>
          <p:nvPr/>
        </p:nvSpPr>
        <p:spPr bwMode="auto">
          <a:xfrm>
            <a:off x="1257300" y="3810000"/>
            <a:ext cx="15504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nl-NL" altLang="en-US" b="1"/>
              <a:t>Median:</a:t>
            </a:r>
            <a:endParaRPr lang="en-US" altLang="en-US"/>
          </a:p>
        </p:txBody>
      </p:sp>
      <p:sp>
        <p:nvSpPr>
          <p:cNvPr id="29710" name="Rectangle 14">
            <a:extLst>
              <a:ext uri="{FF2B5EF4-FFF2-40B4-BE49-F238E27FC236}">
                <a16:creationId xmlns:a16="http://schemas.microsoft.com/office/drawing/2014/main" xmlns="" id="{0FF2662E-0D7D-412E-809E-93862C3CEC93}"/>
              </a:ext>
            </a:extLst>
          </p:cNvPr>
          <p:cNvSpPr>
            <a:spLocks noChangeArrowheads="1"/>
          </p:cNvSpPr>
          <p:nvPr/>
        </p:nvSpPr>
        <p:spPr bwMode="auto">
          <a:xfrm>
            <a:off x="1257300" y="4417368"/>
            <a:ext cx="12314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Mode:</a:t>
            </a:r>
            <a:endParaRPr lang="en-US" altLang="en-US"/>
          </a:p>
        </p:txBody>
      </p:sp>
      <p:grpSp>
        <p:nvGrpSpPr>
          <p:cNvPr id="29712" name="Group 16">
            <a:extLst>
              <a:ext uri="{FF2B5EF4-FFF2-40B4-BE49-F238E27FC236}">
                <a16:creationId xmlns:a16="http://schemas.microsoft.com/office/drawing/2014/main" xmlns="" id="{7FEAA5BC-8945-4550-ADA9-986C22A802B3}"/>
              </a:ext>
            </a:extLst>
          </p:cNvPr>
          <p:cNvGrpSpPr>
            <a:grpSpLocks/>
          </p:cNvGrpSpPr>
          <p:nvPr/>
        </p:nvGrpSpPr>
        <p:grpSpPr bwMode="auto">
          <a:xfrm>
            <a:off x="2228850" y="2857500"/>
            <a:ext cx="4252913" cy="723900"/>
            <a:chOff x="912" y="1800"/>
            <a:chExt cx="3572" cy="456"/>
          </a:xfrm>
        </p:grpSpPr>
        <p:sp>
          <p:nvSpPr>
            <p:cNvPr id="8205" name="Rectangle 8">
              <a:extLst>
                <a:ext uri="{FF2B5EF4-FFF2-40B4-BE49-F238E27FC236}">
                  <a16:creationId xmlns:a16="http://schemas.microsoft.com/office/drawing/2014/main" xmlns="" id="{55DE3C62-964F-424D-9BF4-F97BDE892064}"/>
                </a:ext>
              </a:extLst>
            </p:cNvPr>
            <p:cNvSpPr>
              <a:spLocks noChangeArrowheads="1"/>
            </p:cNvSpPr>
            <p:nvPr/>
          </p:nvSpPr>
          <p:spPr bwMode="auto">
            <a:xfrm>
              <a:off x="3658" y="1871"/>
              <a:ext cx="82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a:t>deer </a:t>
              </a:r>
            </a:p>
          </p:txBody>
        </p:sp>
        <p:pic>
          <p:nvPicPr>
            <p:cNvPr id="8206" name="Picture 15" descr="1">
              <a:extLst>
                <a:ext uri="{FF2B5EF4-FFF2-40B4-BE49-F238E27FC236}">
                  <a16:creationId xmlns:a16="http://schemas.microsoft.com/office/drawing/2014/main" xmlns="" id="{E5E07877-598D-4E62-AE42-25D1DA4151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 y="1800"/>
              <a:ext cx="2718"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13" name="Oval 17">
            <a:extLst>
              <a:ext uri="{FF2B5EF4-FFF2-40B4-BE49-F238E27FC236}">
                <a16:creationId xmlns:a16="http://schemas.microsoft.com/office/drawing/2014/main" xmlns="" id="{2FF7CE0B-7AA1-432E-AA68-DA1A7C51FD57}"/>
              </a:ext>
            </a:extLst>
          </p:cNvPr>
          <p:cNvSpPr>
            <a:spLocks noChangeArrowheads="1"/>
          </p:cNvSpPr>
          <p:nvPr/>
        </p:nvSpPr>
        <p:spPr bwMode="auto">
          <a:xfrm>
            <a:off x="3028950" y="3863975"/>
            <a:ext cx="285750" cy="38100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endParaRPr lang="en-US" altLang="en-US"/>
          </a:p>
        </p:txBody>
      </p:sp>
      <p:sp>
        <p:nvSpPr>
          <p:cNvPr id="29714" name="Text Box 18">
            <a:extLst>
              <a:ext uri="{FF2B5EF4-FFF2-40B4-BE49-F238E27FC236}">
                <a16:creationId xmlns:a16="http://schemas.microsoft.com/office/drawing/2014/main" xmlns="" id="{C7DFE69C-7402-4816-AB0B-7992D6444CAE}"/>
              </a:ext>
            </a:extLst>
          </p:cNvPr>
          <p:cNvSpPr txBox="1">
            <a:spLocks noChangeArrowheads="1"/>
          </p:cNvSpPr>
          <p:nvPr/>
        </p:nvSpPr>
        <p:spPr bwMode="auto">
          <a:xfrm>
            <a:off x="2343150" y="3810000"/>
            <a:ext cx="19431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nl-NL" altLang="en-US" dirty="0"/>
              <a:t>0 0 1 2 2 3 4</a:t>
            </a:r>
            <a:endParaRPr lang="en-US" altLang="en-US" dirty="0"/>
          </a:p>
        </p:txBody>
      </p:sp>
      <p:sp>
        <p:nvSpPr>
          <p:cNvPr id="29715" name="Text Box 19">
            <a:extLst>
              <a:ext uri="{FF2B5EF4-FFF2-40B4-BE49-F238E27FC236}">
                <a16:creationId xmlns:a16="http://schemas.microsoft.com/office/drawing/2014/main" xmlns="" id="{E2712BBC-27BC-48FE-A50D-10559B76C955}"/>
              </a:ext>
            </a:extLst>
          </p:cNvPr>
          <p:cNvSpPr txBox="1">
            <a:spLocks noChangeArrowheads="1"/>
          </p:cNvSpPr>
          <p:nvPr/>
        </p:nvSpPr>
        <p:spPr bwMode="auto">
          <a:xfrm>
            <a:off x="3943350" y="3810000"/>
            <a:ext cx="13144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nl-NL" altLang="en-US"/>
              <a:t>= 2 deer</a:t>
            </a:r>
            <a:endParaRPr lang="en-US" altLang="en-US"/>
          </a:p>
        </p:txBody>
      </p:sp>
      <p:sp>
        <p:nvSpPr>
          <p:cNvPr id="29716" name="Text Box 20">
            <a:extLst>
              <a:ext uri="{FF2B5EF4-FFF2-40B4-BE49-F238E27FC236}">
                <a16:creationId xmlns:a16="http://schemas.microsoft.com/office/drawing/2014/main" xmlns="" id="{B6C27328-90FC-4D66-AA72-9A0CEF9D12F9}"/>
              </a:ext>
            </a:extLst>
          </p:cNvPr>
          <p:cNvSpPr txBox="1">
            <a:spLocks noChangeArrowheads="1"/>
          </p:cNvSpPr>
          <p:nvPr/>
        </p:nvSpPr>
        <p:spPr bwMode="auto">
          <a:xfrm>
            <a:off x="2114550" y="4419600"/>
            <a:ext cx="49149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The most common results are 0 and 2.</a:t>
            </a:r>
          </a:p>
        </p:txBody>
      </p:sp>
    </p:spTree>
    <p:extLst>
      <p:ext uri="{BB962C8B-B14F-4D97-AF65-F5344CB8AC3E}">
        <p14:creationId xmlns:p14="http://schemas.microsoft.com/office/powerpoint/2010/main" val="22723247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9703"/>
                                        </p:tgtEl>
                                        <p:attrNameLst>
                                          <p:attrName>style.visibility</p:attrName>
                                        </p:attrNameLst>
                                      </p:cBhvr>
                                      <p:to>
                                        <p:strVal val="visible"/>
                                      </p:to>
                                    </p:set>
                                    <p:animEffect transition="in" filter="box(in)">
                                      <p:cBhvr>
                                        <p:cTn id="7" dur="500"/>
                                        <p:tgtEl>
                                          <p:spTgt spid="297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9712"/>
                                        </p:tgtEl>
                                        <p:attrNameLst>
                                          <p:attrName>style.visibility</p:attrName>
                                        </p:attrNameLst>
                                      </p:cBhvr>
                                      <p:to>
                                        <p:strVal val="visible"/>
                                      </p:to>
                                    </p:set>
                                    <p:animEffect transition="in" filter="box(in)">
                                      <p:cBhvr>
                                        <p:cTn id="12" dur="500"/>
                                        <p:tgtEl>
                                          <p:spTgt spid="297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9708"/>
                                        </p:tgtEl>
                                        <p:attrNameLst>
                                          <p:attrName>style.visibility</p:attrName>
                                        </p:attrNameLst>
                                      </p:cBhvr>
                                      <p:to>
                                        <p:strVal val="visible"/>
                                      </p:to>
                                    </p:set>
                                    <p:animEffect transition="in" filter="box(in)">
                                      <p:cBhvr>
                                        <p:cTn id="17" dur="500"/>
                                        <p:tgtEl>
                                          <p:spTgt spid="297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9714"/>
                                        </p:tgtEl>
                                        <p:attrNameLst>
                                          <p:attrName>style.visibility</p:attrName>
                                        </p:attrNameLst>
                                      </p:cBhvr>
                                      <p:to>
                                        <p:strVal val="visible"/>
                                      </p:to>
                                    </p:set>
                                    <p:animEffect transition="in" filter="box(in)">
                                      <p:cBhvr>
                                        <p:cTn id="22" dur="500"/>
                                        <p:tgtEl>
                                          <p:spTgt spid="297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9713"/>
                                        </p:tgtEl>
                                        <p:attrNameLst>
                                          <p:attrName>style.visibility</p:attrName>
                                        </p:attrNameLst>
                                      </p:cBhvr>
                                      <p:to>
                                        <p:strVal val="visible"/>
                                      </p:to>
                                    </p:set>
                                    <p:animEffect transition="in" filter="box(in)">
                                      <p:cBhvr>
                                        <p:cTn id="27" dur="500"/>
                                        <p:tgtEl>
                                          <p:spTgt spid="297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9715"/>
                                        </p:tgtEl>
                                        <p:attrNameLst>
                                          <p:attrName>style.visibility</p:attrName>
                                        </p:attrNameLst>
                                      </p:cBhvr>
                                      <p:to>
                                        <p:strVal val="visible"/>
                                      </p:to>
                                    </p:set>
                                    <p:animEffect transition="in" filter="box(in)">
                                      <p:cBhvr>
                                        <p:cTn id="32" dur="500"/>
                                        <p:tgtEl>
                                          <p:spTgt spid="297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9710"/>
                                        </p:tgtEl>
                                        <p:attrNameLst>
                                          <p:attrName>style.visibility</p:attrName>
                                        </p:attrNameLst>
                                      </p:cBhvr>
                                      <p:to>
                                        <p:strVal val="visible"/>
                                      </p:to>
                                    </p:set>
                                    <p:animEffect transition="in" filter="box(in)">
                                      <p:cBhvr>
                                        <p:cTn id="37" dur="500"/>
                                        <p:tgtEl>
                                          <p:spTgt spid="297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9716"/>
                                        </p:tgtEl>
                                        <p:attrNameLst>
                                          <p:attrName>style.visibility</p:attrName>
                                        </p:attrNameLst>
                                      </p:cBhvr>
                                      <p:to>
                                        <p:strVal val="visible"/>
                                      </p:to>
                                    </p:set>
                                    <p:animEffect transition="in" filter="box(in)">
                                      <p:cBhvr>
                                        <p:cTn id="42" dur="500"/>
                                        <p:tgtEl>
                                          <p:spTgt spid="29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p:bldP spid="29708" grpId="0"/>
      <p:bldP spid="29710" grpId="0"/>
      <p:bldP spid="29713" grpId="0" animBg="1"/>
      <p:bldP spid="29714" grpId="0"/>
      <p:bldP spid="29715" grpId="0"/>
      <p:bldP spid="297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xmlns="" id="{C37EB36C-2DC9-4451-9D3A-2804B8A54F22}"/>
              </a:ext>
            </a:extLst>
          </p:cNvPr>
          <p:cNvSpPr>
            <a:spLocks noChangeArrowheads="1"/>
          </p:cNvSpPr>
          <p:nvPr/>
        </p:nvSpPr>
        <p:spPr bwMode="auto">
          <a:xfrm>
            <a:off x="1269207" y="749325"/>
            <a:ext cx="67317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Find the mean, median, and mode of the data set.</a:t>
            </a:r>
          </a:p>
        </p:txBody>
      </p:sp>
      <p:sp>
        <p:nvSpPr>
          <p:cNvPr id="10244" name="Rectangle 4">
            <a:extLst>
              <a:ext uri="{FF2B5EF4-FFF2-40B4-BE49-F238E27FC236}">
                <a16:creationId xmlns:a16="http://schemas.microsoft.com/office/drawing/2014/main" xmlns="" id="{2A122999-574D-47E3-8E1B-C7A0F184377E}"/>
              </a:ext>
            </a:extLst>
          </p:cNvPr>
          <p:cNvSpPr>
            <a:spLocks noChangeArrowheads="1"/>
          </p:cNvSpPr>
          <p:nvPr/>
        </p:nvSpPr>
        <p:spPr bwMode="auto">
          <a:xfrm>
            <a:off x="1314450" y="213360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{2, 5, 6, 2, 6}</a:t>
            </a:r>
          </a:p>
        </p:txBody>
      </p:sp>
      <p:sp>
        <p:nvSpPr>
          <p:cNvPr id="35845" name="Rectangle 5">
            <a:extLst>
              <a:ext uri="{FF2B5EF4-FFF2-40B4-BE49-F238E27FC236}">
                <a16:creationId xmlns:a16="http://schemas.microsoft.com/office/drawing/2014/main" xmlns="" id="{7DC65D9E-59FE-4A43-A575-E6FAC4D16D9A}"/>
              </a:ext>
            </a:extLst>
          </p:cNvPr>
          <p:cNvSpPr>
            <a:spLocks noChangeArrowheads="1"/>
          </p:cNvSpPr>
          <p:nvPr/>
        </p:nvSpPr>
        <p:spPr bwMode="auto">
          <a:xfrm>
            <a:off x="599793" y="2976196"/>
            <a:ext cx="13388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Mean:</a:t>
            </a:r>
            <a:r>
              <a:rPr lang="en-US" altLang="en-US" dirty="0"/>
              <a:t> </a:t>
            </a:r>
          </a:p>
        </p:txBody>
      </p:sp>
      <p:sp>
        <p:nvSpPr>
          <p:cNvPr id="35846" name="Rectangle 6">
            <a:extLst>
              <a:ext uri="{FF2B5EF4-FFF2-40B4-BE49-F238E27FC236}">
                <a16:creationId xmlns:a16="http://schemas.microsoft.com/office/drawing/2014/main" xmlns="" id="{C5E2712A-E9F2-4DE7-BD6F-FE70DA11F2D9}"/>
              </a:ext>
            </a:extLst>
          </p:cNvPr>
          <p:cNvSpPr>
            <a:spLocks noChangeArrowheads="1"/>
          </p:cNvSpPr>
          <p:nvPr/>
        </p:nvSpPr>
        <p:spPr bwMode="auto">
          <a:xfrm>
            <a:off x="706331" y="3916233"/>
            <a:ext cx="15504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nl-NL" altLang="en-US" b="1" dirty="0"/>
              <a:t>Median:</a:t>
            </a:r>
            <a:endParaRPr lang="en-US" altLang="en-US" dirty="0"/>
          </a:p>
        </p:txBody>
      </p:sp>
      <p:sp>
        <p:nvSpPr>
          <p:cNvPr id="35847" name="Rectangle 7">
            <a:extLst>
              <a:ext uri="{FF2B5EF4-FFF2-40B4-BE49-F238E27FC236}">
                <a16:creationId xmlns:a16="http://schemas.microsoft.com/office/drawing/2014/main" xmlns="" id="{9D2342B3-C7E5-4645-92EC-7D4947AA510F}"/>
              </a:ext>
            </a:extLst>
          </p:cNvPr>
          <p:cNvSpPr>
            <a:spLocks noChangeArrowheads="1"/>
          </p:cNvSpPr>
          <p:nvPr/>
        </p:nvSpPr>
        <p:spPr bwMode="auto">
          <a:xfrm>
            <a:off x="736605" y="4617231"/>
            <a:ext cx="12314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Mode:</a:t>
            </a:r>
            <a:endParaRPr lang="en-US" altLang="en-US" dirty="0"/>
          </a:p>
        </p:txBody>
      </p:sp>
      <p:pic>
        <p:nvPicPr>
          <p:cNvPr id="35851" name="Picture 11" descr="1">
            <a:extLst>
              <a:ext uri="{FF2B5EF4-FFF2-40B4-BE49-F238E27FC236}">
                <a16:creationId xmlns:a16="http://schemas.microsoft.com/office/drawing/2014/main" xmlns="" id="{6C17BC8E-9F72-4D58-94E6-4E0EE79752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1955" y="2971802"/>
            <a:ext cx="2607469"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2" name="Text Box 12">
            <a:extLst>
              <a:ext uri="{FF2B5EF4-FFF2-40B4-BE49-F238E27FC236}">
                <a16:creationId xmlns:a16="http://schemas.microsoft.com/office/drawing/2014/main" xmlns="" id="{A4B150CD-CCFB-4825-B0B1-052A1FD0FF46}"/>
              </a:ext>
            </a:extLst>
          </p:cNvPr>
          <p:cNvSpPr txBox="1">
            <a:spLocks noChangeArrowheads="1"/>
          </p:cNvSpPr>
          <p:nvPr/>
        </p:nvSpPr>
        <p:spPr bwMode="auto">
          <a:xfrm>
            <a:off x="2520554" y="3962400"/>
            <a:ext cx="24834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nl-NL" altLang="en-US" dirty="0"/>
              <a:t>2 2 5 6 6</a:t>
            </a:r>
            <a:endParaRPr lang="en-US" altLang="en-US" dirty="0"/>
          </a:p>
        </p:txBody>
      </p:sp>
      <p:sp>
        <p:nvSpPr>
          <p:cNvPr id="35853" name="Text Box 13">
            <a:extLst>
              <a:ext uri="{FF2B5EF4-FFF2-40B4-BE49-F238E27FC236}">
                <a16:creationId xmlns:a16="http://schemas.microsoft.com/office/drawing/2014/main" xmlns="" id="{A48FD274-4FA9-4F17-8EA6-D97A540BF71D}"/>
              </a:ext>
            </a:extLst>
          </p:cNvPr>
          <p:cNvSpPr txBox="1">
            <a:spLocks noChangeArrowheads="1"/>
          </p:cNvSpPr>
          <p:nvPr/>
        </p:nvSpPr>
        <p:spPr bwMode="auto">
          <a:xfrm>
            <a:off x="2291954" y="4572000"/>
            <a:ext cx="165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2 and 6</a:t>
            </a:r>
          </a:p>
        </p:txBody>
      </p:sp>
      <p:sp>
        <p:nvSpPr>
          <p:cNvPr id="35854" name="Oval 14">
            <a:extLst>
              <a:ext uri="{FF2B5EF4-FFF2-40B4-BE49-F238E27FC236}">
                <a16:creationId xmlns:a16="http://schemas.microsoft.com/office/drawing/2014/main" xmlns="" id="{5E01FD3F-6929-41E0-900D-6DDBA7A4D649}"/>
              </a:ext>
            </a:extLst>
          </p:cNvPr>
          <p:cNvSpPr>
            <a:spLocks noChangeArrowheads="1"/>
          </p:cNvSpPr>
          <p:nvPr/>
        </p:nvSpPr>
        <p:spPr bwMode="auto">
          <a:xfrm>
            <a:off x="2834879" y="3996898"/>
            <a:ext cx="285750" cy="38100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endParaRPr lang="en-US" altLang="en-US"/>
          </a:p>
        </p:txBody>
      </p:sp>
      <p:sp>
        <p:nvSpPr>
          <p:cNvPr id="35855" name="Text Box 15">
            <a:extLst>
              <a:ext uri="{FF2B5EF4-FFF2-40B4-BE49-F238E27FC236}">
                <a16:creationId xmlns:a16="http://schemas.microsoft.com/office/drawing/2014/main" xmlns="" id="{C5AA06CC-165D-4F42-B8B5-E49F97178E89}"/>
              </a:ext>
            </a:extLst>
          </p:cNvPr>
          <p:cNvSpPr txBox="1">
            <a:spLocks noChangeArrowheads="1"/>
          </p:cNvSpPr>
          <p:nvPr/>
        </p:nvSpPr>
        <p:spPr bwMode="auto">
          <a:xfrm>
            <a:off x="4283968" y="3917385"/>
            <a:ext cx="1543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nl-NL" altLang="en-US" dirty="0"/>
              <a:t>= 5</a:t>
            </a:r>
            <a:endParaRPr lang="en-US" altLang="en-US" dirty="0"/>
          </a:p>
        </p:txBody>
      </p:sp>
    </p:spTree>
    <p:extLst>
      <p:ext uri="{BB962C8B-B14F-4D97-AF65-F5344CB8AC3E}">
        <p14:creationId xmlns:p14="http://schemas.microsoft.com/office/powerpoint/2010/main" val="8303735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5845"/>
                                        </p:tgtEl>
                                        <p:attrNameLst>
                                          <p:attrName>style.visibility</p:attrName>
                                        </p:attrNameLst>
                                      </p:cBhvr>
                                      <p:to>
                                        <p:strVal val="visible"/>
                                      </p:to>
                                    </p:set>
                                    <p:animEffect transition="in" filter="box(in)">
                                      <p:cBhvr>
                                        <p:cTn id="7" dur="500"/>
                                        <p:tgtEl>
                                          <p:spTgt spid="358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851"/>
                                        </p:tgtEl>
                                        <p:attrNameLst>
                                          <p:attrName>style.visibility</p:attrName>
                                        </p:attrNameLst>
                                      </p:cBhvr>
                                      <p:to>
                                        <p:strVal val="visible"/>
                                      </p:to>
                                    </p:set>
                                    <p:animEffect transition="in" filter="box(in)">
                                      <p:cBhvr>
                                        <p:cTn id="12" dur="500"/>
                                        <p:tgtEl>
                                          <p:spTgt spid="358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5846"/>
                                        </p:tgtEl>
                                        <p:attrNameLst>
                                          <p:attrName>style.visibility</p:attrName>
                                        </p:attrNameLst>
                                      </p:cBhvr>
                                      <p:to>
                                        <p:strVal val="visible"/>
                                      </p:to>
                                    </p:set>
                                    <p:animEffect transition="in" filter="box(in)">
                                      <p:cBhvr>
                                        <p:cTn id="17" dur="500"/>
                                        <p:tgtEl>
                                          <p:spTgt spid="358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5852"/>
                                        </p:tgtEl>
                                        <p:attrNameLst>
                                          <p:attrName>style.visibility</p:attrName>
                                        </p:attrNameLst>
                                      </p:cBhvr>
                                      <p:to>
                                        <p:strVal val="visible"/>
                                      </p:to>
                                    </p:set>
                                    <p:animEffect transition="in" filter="box(in)">
                                      <p:cBhvr>
                                        <p:cTn id="22" dur="500"/>
                                        <p:tgtEl>
                                          <p:spTgt spid="35852"/>
                                        </p:tgtEl>
                                      </p:cBhvr>
                                    </p:animEffect>
                                  </p:childTnLst>
                                </p:cTn>
                              </p:par>
                            </p:childTnLst>
                          </p:cTn>
                        </p:par>
                        <p:par>
                          <p:cTn id="23" fill="hold" nodeType="afterGroup">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35854"/>
                                        </p:tgtEl>
                                        <p:attrNameLst>
                                          <p:attrName>style.visibility</p:attrName>
                                        </p:attrNameLst>
                                      </p:cBhvr>
                                      <p:to>
                                        <p:strVal val="visible"/>
                                      </p:to>
                                    </p:set>
                                    <p:animEffect transition="in" filter="dissolve">
                                      <p:cBhvr>
                                        <p:cTn id="26" dur="500"/>
                                        <p:tgtEl>
                                          <p:spTgt spid="3585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35855"/>
                                        </p:tgtEl>
                                        <p:attrNameLst>
                                          <p:attrName>style.visibility</p:attrName>
                                        </p:attrNameLst>
                                      </p:cBhvr>
                                      <p:to>
                                        <p:strVal val="visible"/>
                                      </p:to>
                                    </p:set>
                                    <p:animEffect transition="in" filter="box(in)">
                                      <p:cBhvr>
                                        <p:cTn id="31" dur="500"/>
                                        <p:tgtEl>
                                          <p:spTgt spid="3585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35847"/>
                                        </p:tgtEl>
                                        <p:attrNameLst>
                                          <p:attrName>style.visibility</p:attrName>
                                        </p:attrNameLst>
                                      </p:cBhvr>
                                      <p:to>
                                        <p:strVal val="visible"/>
                                      </p:to>
                                    </p:set>
                                    <p:animEffect transition="in" filter="box(in)">
                                      <p:cBhvr>
                                        <p:cTn id="36" dur="500"/>
                                        <p:tgtEl>
                                          <p:spTgt spid="3584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35853"/>
                                        </p:tgtEl>
                                        <p:attrNameLst>
                                          <p:attrName>style.visibility</p:attrName>
                                        </p:attrNameLst>
                                      </p:cBhvr>
                                      <p:to>
                                        <p:strVal val="visible"/>
                                      </p:to>
                                    </p:set>
                                    <p:animEffect transition="in" filter="box(in)">
                                      <p:cBhvr>
                                        <p:cTn id="41" dur="500"/>
                                        <p:tgtEl>
                                          <p:spTgt spid="35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p:bldP spid="35846" grpId="0"/>
      <p:bldP spid="35847" grpId="0"/>
      <p:bldP spid="35852" grpId="0"/>
      <p:bldP spid="35853" grpId="0"/>
      <p:bldP spid="35854" grpId="0" animBg="1"/>
      <p:bldP spid="3585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xmlns="" id="{F5258B82-BFA1-4EF3-BE7D-0421F47EB0AB}"/>
              </a:ext>
            </a:extLst>
          </p:cNvPr>
          <p:cNvSpPr>
            <a:spLocks noChangeArrowheads="1"/>
          </p:cNvSpPr>
          <p:nvPr/>
        </p:nvSpPr>
        <p:spPr bwMode="auto">
          <a:xfrm>
            <a:off x="1095049" y="548680"/>
            <a:ext cx="645795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A </a:t>
            </a:r>
            <a:r>
              <a:rPr lang="en-US" altLang="en-US" i="1" dirty="0"/>
              <a:t>weighted average </a:t>
            </a:r>
            <a:r>
              <a:rPr lang="en-US" altLang="en-US" dirty="0"/>
              <a:t>is a mean calculated by using frequencies of data values. Suppose that 30 movies are rated as follows:</a:t>
            </a:r>
          </a:p>
        </p:txBody>
      </p:sp>
      <p:pic>
        <p:nvPicPr>
          <p:cNvPr id="32772" name="Picture 4">
            <a:extLst>
              <a:ext uri="{FF2B5EF4-FFF2-40B4-BE49-F238E27FC236}">
                <a16:creationId xmlns:a16="http://schemas.microsoft.com/office/drawing/2014/main" xmlns="" id="{6EB3310A-7D5E-4306-BC07-9A6745F319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4450" y="2362202"/>
            <a:ext cx="6572250" cy="144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3" name="Rectangle 5">
            <a:extLst>
              <a:ext uri="{FF2B5EF4-FFF2-40B4-BE49-F238E27FC236}">
                <a16:creationId xmlns:a16="http://schemas.microsoft.com/office/drawing/2014/main" xmlns="" id="{DB0EFF84-D37C-4FE4-92D0-63A9964669A6}"/>
              </a:ext>
            </a:extLst>
          </p:cNvPr>
          <p:cNvSpPr>
            <a:spLocks noChangeArrowheads="1"/>
          </p:cNvSpPr>
          <p:nvPr/>
        </p:nvSpPr>
        <p:spPr bwMode="auto">
          <a:xfrm>
            <a:off x="1314451" y="4038600"/>
            <a:ext cx="45672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i="1"/>
              <a:t>weighted average of stars </a:t>
            </a:r>
            <a:r>
              <a:rPr lang="en-US" altLang="en-US"/>
              <a:t>=</a:t>
            </a:r>
          </a:p>
        </p:txBody>
      </p:sp>
      <p:pic>
        <p:nvPicPr>
          <p:cNvPr id="32778" name="Picture 10">
            <a:extLst>
              <a:ext uri="{FF2B5EF4-FFF2-40B4-BE49-F238E27FC236}">
                <a16:creationId xmlns:a16="http://schemas.microsoft.com/office/drawing/2014/main" xmlns="" id="{7B8C2494-826D-439B-AEF7-67FEE1F621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1" y="4724402"/>
            <a:ext cx="5522119"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72969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dissolve">
                                      <p:cBhvr>
                                        <p:cTn id="7" dur="500"/>
                                        <p:tgtEl>
                                          <p:spTgt spid="327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2772"/>
                                        </p:tgtEl>
                                        <p:attrNameLst>
                                          <p:attrName>style.visibility</p:attrName>
                                        </p:attrNameLst>
                                      </p:cBhvr>
                                      <p:to>
                                        <p:strVal val="visible"/>
                                      </p:to>
                                    </p:set>
                                    <p:animEffect transition="in" filter="dissolve">
                                      <p:cBhvr>
                                        <p:cTn id="12" dur="500"/>
                                        <p:tgtEl>
                                          <p:spTgt spid="327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773"/>
                                        </p:tgtEl>
                                        <p:attrNameLst>
                                          <p:attrName>style.visibility</p:attrName>
                                        </p:attrNameLst>
                                      </p:cBhvr>
                                      <p:to>
                                        <p:strVal val="visible"/>
                                      </p:to>
                                    </p:set>
                                    <p:animEffect transition="in" filter="dissolve">
                                      <p:cBhvr>
                                        <p:cTn id="17" dur="500"/>
                                        <p:tgtEl>
                                          <p:spTgt spid="32773"/>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32778"/>
                                        </p:tgtEl>
                                        <p:attrNameLst>
                                          <p:attrName>style.visibility</p:attrName>
                                        </p:attrNameLst>
                                      </p:cBhvr>
                                      <p:to>
                                        <p:strVal val="visible"/>
                                      </p:to>
                                    </p:set>
                                    <p:animEffect transition="in" filter="wipe(left)">
                                      <p:cBhvr>
                                        <p:cTn id="21" dur="500"/>
                                        <p:tgtEl>
                                          <p:spTgt spid="32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xmlns="" id="{8FE760C0-C24D-4E83-8759-802E96DC99B3}"/>
              </a:ext>
            </a:extLst>
          </p:cNvPr>
          <p:cNvSpPr>
            <a:spLocks noChangeArrowheads="1"/>
          </p:cNvSpPr>
          <p:nvPr/>
        </p:nvSpPr>
        <p:spPr bwMode="auto">
          <a:xfrm>
            <a:off x="1043608" y="1196752"/>
            <a:ext cx="611505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For numerical data, the weighted average of all of those outcomes is called the </a:t>
            </a:r>
            <a:r>
              <a:rPr lang="en-US" altLang="en-US" b="1" u="sng" dirty="0"/>
              <a:t>expected value</a:t>
            </a:r>
            <a:r>
              <a:rPr lang="en-US" altLang="en-US" b="1" dirty="0"/>
              <a:t> </a:t>
            </a:r>
            <a:r>
              <a:rPr lang="en-US" altLang="en-US" dirty="0"/>
              <a:t>for that experiment. </a:t>
            </a:r>
          </a:p>
        </p:txBody>
      </p:sp>
      <p:sp>
        <p:nvSpPr>
          <p:cNvPr id="36867" name="Rectangle 3">
            <a:extLst>
              <a:ext uri="{FF2B5EF4-FFF2-40B4-BE49-F238E27FC236}">
                <a16:creationId xmlns:a16="http://schemas.microsoft.com/office/drawing/2014/main" xmlns="" id="{F17F6200-08C0-41A1-BD49-47A3C1DFA572}"/>
              </a:ext>
            </a:extLst>
          </p:cNvPr>
          <p:cNvSpPr>
            <a:spLocks noChangeArrowheads="1"/>
          </p:cNvSpPr>
          <p:nvPr/>
        </p:nvSpPr>
        <p:spPr bwMode="auto">
          <a:xfrm>
            <a:off x="1314450" y="3124202"/>
            <a:ext cx="62293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a:t>The </a:t>
            </a:r>
            <a:r>
              <a:rPr lang="en-US" altLang="en-US" b="1" u="sng"/>
              <a:t>probability distribution</a:t>
            </a:r>
            <a:r>
              <a:rPr lang="en-US" altLang="en-US" b="1"/>
              <a:t> </a:t>
            </a:r>
            <a:r>
              <a:rPr lang="en-US" altLang="en-US"/>
              <a:t>for an experiment is the function that pairs each outcome with its probability.</a:t>
            </a:r>
          </a:p>
        </p:txBody>
      </p:sp>
    </p:spTree>
    <p:extLst>
      <p:ext uri="{BB962C8B-B14F-4D97-AF65-F5344CB8AC3E}">
        <p14:creationId xmlns:p14="http://schemas.microsoft.com/office/powerpoint/2010/main" val="30381744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dissolve">
                                      <p:cBhvr>
                                        <p:cTn id="7" dur="500"/>
                                        <p:tgtEl>
                                          <p:spTgt spid="368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867"/>
                                        </p:tgtEl>
                                        <p:attrNameLst>
                                          <p:attrName>style.visibility</p:attrName>
                                        </p:attrNameLst>
                                      </p:cBhvr>
                                      <p:to>
                                        <p:strVal val="visible"/>
                                      </p:to>
                                    </p:set>
                                    <p:animEffect transition="in" filter="dissolve">
                                      <p:cBhvr>
                                        <p:cTn id="12" dur="500"/>
                                        <p:tgtEl>
                                          <p:spTgt spid="36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a:extLst>
              <a:ext uri="{FF2B5EF4-FFF2-40B4-BE49-F238E27FC236}">
                <a16:creationId xmlns:a16="http://schemas.microsoft.com/office/drawing/2014/main" xmlns="" id="{F0A0D187-6060-466A-A4C9-CF819C7E0284}"/>
              </a:ext>
            </a:extLst>
          </p:cNvPr>
          <p:cNvSpPr txBox="1">
            <a:spLocks noChangeArrowheads="1"/>
          </p:cNvSpPr>
          <p:nvPr/>
        </p:nvSpPr>
        <p:spPr bwMode="auto">
          <a:xfrm>
            <a:off x="1143000" y="1143000"/>
            <a:ext cx="6858000" cy="457200"/>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a:solidFill>
                  <a:srgbClr val="006699"/>
                </a:solidFill>
                <a:latin typeface="Arial Black" panose="020B0A04020102020204" pitchFamily="34" charset="0"/>
              </a:rPr>
              <a:t>Example 2: Finding Expected Value</a:t>
            </a:r>
          </a:p>
        </p:txBody>
      </p:sp>
      <p:sp>
        <p:nvSpPr>
          <p:cNvPr id="13315" name="Rectangle 3">
            <a:extLst>
              <a:ext uri="{FF2B5EF4-FFF2-40B4-BE49-F238E27FC236}">
                <a16:creationId xmlns:a16="http://schemas.microsoft.com/office/drawing/2014/main" xmlns="" id="{79DC5DF7-C241-4EFD-A9D2-076486B15E25}"/>
              </a:ext>
            </a:extLst>
          </p:cNvPr>
          <p:cNvSpPr>
            <a:spLocks noChangeArrowheads="1"/>
          </p:cNvSpPr>
          <p:nvPr/>
        </p:nvSpPr>
        <p:spPr bwMode="auto">
          <a:xfrm>
            <a:off x="1153716" y="1485298"/>
            <a:ext cx="684728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The probability distribution of successful free throws for a practice set is given below. Find the expected number of successes for one set.</a:t>
            </a:r>
          </a:p>
        </p:txBody>
      </p:sp>
      <p:pic>
        <p:nvPicPr>
          <p:cNvPr id="13316" name="Picture 5">
            <a:extLst>
              <a:ext uri="{FF2B5EF4-FFF2-40B4-BE49-F238E27FC236}">
                <a16:creationId xmlns:a16="http://schemas.microsoft.com/office/drawing/2014/main" xmlns="" id="{87DFA223-90DC-494B-B6BB-7C5BB3EE7AD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7300" y="3263900"/>
            <a:ext cx="6629400" cy="115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509120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a:extLst>
              <a:ext uri="{FF2B5EF4-FFF2-40B4-BE49-F238E27FC236}">
                <a16:creationId xmlns:a16="http://schemas.microsoft.com/office/drawing/2014/main" xmlns="" id="{BD69789B-28FE-4601-8623-F5BB169E8AB5}"/>
              </a:ext>
            </a:extLst>
          </p:cNvPr>
          <p:cNvSpPr txBox="1">
            <a:spLocks noChangeArrowheads="1"/>
          </p:cNvSpPr>
          <p:nvPr/>
        </p:nvSpPr>
        <p:spPr bwMode="auto">
          <a:xfrm>
            <a:off x="1143000" y="1143000"/>
            <a:ext cx="6858000" cy="457200"/>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a:solidFill>
                  <a:srgbClr val="006699"/>
                </a:solidFill>
                <a:latin typeface="Arial Black" panose="020B0A04020102020204" pitchFamily="34" charset="0"/>
              </a:rPr>
              <a:t>Example 2 Continued</a:t>
            </a:r>
          </a:p>
        </p:txBody>
      </p:sp>
      <p:sp>
        <p:nvSpPr>
          <p:cNvPr id="41989" name="Rectangle 5">
            <a:extLst>
              <a:ext uri="{FF2B5EF4-FFF2-40B4-BE49-F238E27FC236}">
                <a16:creationId xmlns:a16="http://schemas.microsoft.com/office/drawing/2014/main" xmlns="" id="{54ACAFDD-B2D4-4A99-822B-66C1AB31C1FC}"/>
              </a:ext>
            </a:extLst>
          </p:cNvPr>
          <p:cNvSpPr>
            <a:spLocks noChangeArrowheads="1"/>
          </p:cNvSpPr>
          <p:nvPr/>
        </p:nvSpPr>
        <p:spPr bwMode="auto">
          <a:xfrm>
            <a:off x="6286500" y="1860552"/>
            <a:ext cx="1371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i="1">
                <a:solidFill>
                  <a:srgbClr val="3366FF"/>
                </a:solidFill>
              </a:rPr>
              <a:t>Use the weighted average.</a:t>
            </a:r>
          </a:p>
        </p:txBody>
      </p:sp>
      <p:sp>
        <p:nvSpPr>
          <p:cNvPr id="41992" name="Rectangle 8">
            <a:extLst>
              <a:ext uri="{FF2B5EF4-FFF2-40B4-BE49-F238E27FC236}">
                <a16:creationId xmlns:a16="http://schemas.microsoft.com/office/drawing/2014/main" xmlns="" id="{1AE2E4EE-B2B2-422E-BD66-1199395D8804}"/>
              </a:ext>
            </a:extLst>
          </p:cNvPr>
          <p:cNvSpPr>
            <a:spLocks noChangeArrowheads="1"/>
          </p:cNvSpPr>
          <p:nvPr/>
        </p:nvSpPr>
        <p:spPr bwMode="auto">
          <a:xfrm>
            <a:off x="6286500" y="3350568"/>
            <a:ext cx="16530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i="1">
                <a:solidFill>
                  <a:srgbClr val="3366FF"/>
                </a:solidFill>
              </a:rPr>
              <a:t>Simplify.</a:t>
            </a:r>
            <a:r>
              <a:rPr lang="en-US" altLang="en-US">
                <a:solidFill>
                  <a:srgbClr val="3366FF"/>
                </a:solidFill>
              </a:rPr>
              <a:t> </a:t>
            </a:r>
          </a:p>
        </p:txBody>
      </p:sp>
      <p:sp>
        <p:nvSpPr>
          <p:cNvPr id="41993" name="Rectangle 9">
            <a:extLst>
              <a:ext uri="{FF2B5EF4-FFF2-40B4-BE49-F238E27FC236}">
                <a16:creationId xmlns:a16="http://schemas.microsoft.com/office/drawing/2014/main" xmlns="" id="{3FF846ED-0852-4F75-9F7E-A96DC73AEB27}"/>
              </a:ext>
            </a:extLst>
          </p:cNvPr>
          <p:cNvSpPr>
            <a:spLocks noChangeArrowheads="1"/>
          </p:cNvSpPr>
          <p:nvPr/>
        </p:nvSpPr>
        <p:spPr bwMode="auto">
          <a:xfrm>
            <a:off x="1257300" y="5223302"/>
            <a:ext cx="7086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a:t>The expected number of successful free throws is 2.05.</a:t>
            </a:r>
          </a:p>
        </p:txBody>
      </p:sp>
      <p:pic>
        <p:nvPicPr>
          <p:cNvPr id="41994" name="Picture 10" descr="1">
            <a:extLst>
              <a:ext uri="{FF2B5EF4-FFF2-40B4-BE49-F238E27FC236}">
                <a16:creationId xmlns:a16="http://schemas.microsoft.com/office/drawing/2014/main" xmlns="" id="{5C37B896-700C-48AE-A342-9D88A02FE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1981202"/>
            <a:ext cx="481488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5" name="Picture 11" descr="1">
            <a:extLst>
              <a:ext uri="{FF2B5EF4-FFF2-40B4-BE49-F238E27FC236}">
                <a16:creationId xmlns:a16="http://schemas.microsoft.com/office/drawing/2014/main" xmlns="" id="{5229C27A-BA13-409D-87E8-C71EBE7D60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0" y="3124201"/>
            <a:ext cx="1585913"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7" name="Picture 13" descr="1">
            <a:extLst>
              <a:ext uri="{FF2B5EF4-FFF2-40B4-BE49-F238E27FC236}">
                <a16:creationId xmlns:a16="http://schemas.microsoft.com/office/drawing/2014/main" xmlns="" id="{47FABFA2-14B0-4658-A852-12ED1CB44A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1" y="4191002"/>
            <a:ext cx="3207544"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00119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41989"/>
                                        </p:tgtEl>
                                        <p:attrNameLst>
                                          <p:attrName>style.visibility</p:attrName>
                                        </p:attrNameLst>
                                      </p:cBhvr>
                                      <p:to>
                                        <p:strVal val="visible"/>
                                      </p:to>
                                    </p:set>
                                    <p:animEffect transition="in" filter="box(in)">
                                      <p:cBhvr>
                                        <p:cTn id="7" dur="500"/>
                                        <p:tgtEl>
                                          <p:spTgt spid="419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1994"/>
                                        </p:tgtEl>
                                        <p:attrNameLst>
                                          <p:attrName>style.visibility</p:attrName>
                                        </p:attrNameLst>
                                      </p:cBhvr>
                                      <p:to>
                                        <p:strVal val="visible"/>
                                      </p:to>
                                    </p:set>
                                    <p:animEffect transition="in" filter="box(in)">
                                      <p:cBhvr>
                                        <p:cTn id="12" dur="500"/>
                                        <p:tgtEl>
                                          <p:spTgt spid="419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1992"/>
                                        </p:tgtEl>
                                        <p:attrNameLst>
                                          <p:attrName>style.visibility</p:attrName>
                                        </p:attrNameLst>
                                      </p:cBhvr>
                                      <p:to>
                                        <p:strVal val="visible"/>
                                      </p:to>
                                    </p:set>
                                    <p:animEffect transition="in" filter="box(in)">
                                      <p:cBhvr>
                                        <p:cTn id="17" dur="500"/>
                                        <p:tgtEl>
                                          <p:spTgt spid="419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1995"/>
                                        </p:tgtEl>
                                        <p:attrNameLst>
                                          <p:attrName>style.visibility</p:attrName>
                                        </p:attrNameLst>
                                      </p:cBhvr>
                                      <p:to>
                                        <p:strVal val="visible"/>
                                      </p:to>
                                    </p:set>
                                    <p:animEffect transition="in" filter="box(in)">
                                      <p:cBhvr>
                                        <p:cTn id="22" dur="500"/>
                                        <p:tgtEl>
                                          <p:spTgt spid="419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1997"/>
                                        </p:tgtEl>
                                        <p:attrNameLst>
                                          <p:attrName>style.visibility</p:attrName>
                                        </p:attrNameLst>
                                      </p:cBhvr>
                                      <p:to>
                                        <p:strVal val="visible"/>
                                      </p:to>
                                    </p:set>
                                    <p:animEffect transition="in" filter="box(in)">
                                      <p:cBhvr>
                                        <p:cTn id="27" dur="500"/>
                                        <p:tgtEl>
                                          <p:spTgt spid="419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1993"/>
                                        </p:tgtEl>
                                        <p:attrNameLst>
                                          <p:attrName>style.visibility</p:attrName>
                                        </p:attrNameLst>
                                      </p:cBhvr>
                                      <p:to>
                                        <p:strVal val="visible"/>
                                      </p:to>
                                    </p:set>
                                    <p:animEffect transition="in" filter="box(in)">
                                      <p:cBhvr>
                                        <p:cTn id="32" dur="500"/>
                                        <p:tgtEl>
                                          <p:spTgt spid="41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9" grpId="0"/>
      <p:bldP spid="41992" grpId="0"/>
      <p:bldP spid="4199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a:extLst>
              <a:ext uri="{FF2B5EF4-FFF2-40B4-BE49-F238E27FC236}">
                <a16:creationId xmlns:a16="http://schemas.microsoft.com/office/drawing/2014/main" xmlns="" id="{22A4CB08-0BB4-4569-BA25-04CE7AEC2CA5}"/>
              </a:ext>
            </a:extLst>
          </p:cNvPr>
          <p:cNvSpPr txBox="1">
            <a:spLocks noChangeArrowheads="1"/>
          </p:cNvSpPr>
          <p:nvPr/>
        </p:nvSpPr>
        <p:spPr bwMode="auto">
          <a:xfrm>
            <a:off x="342900" y="342900"/>
            <a:ext cx="5336381" cy="457200"/>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dirty="0">
                <a:solidFill>
                  <a:srgbClr val="FF0000"/>
                </a:solidFill>
                <a:latin typeface="Arial Black" panose="020B0A04020102020204" pitchFamily="34" charset="0"/>
              </a:rPr>
              <a:t>Another </a:t>
            </a:r>
            <a:r>
              <a:rPr lang="en-US" altLang="en-US" dirty="0">
                <a:solidFill>
                  <a:srgbClr val="006699"/>
                </a:solidFill>
                <a:latin typeface="Arial Black" panose="020B0A04020102020204" pitchFamily="34" charset="0"/>
              </a:rPr>
              <a:t>Example </a:t>
            </a:r>
            <a:endParaRPr lang="en-US" altLang="en-US" sz="2600" dirty="0">
              <a:solidFill>
                <a:schemeClr val="accent2"/>
              </a:solidFill>
              <a:latin typeface="Arial MT Bl" charset="0"/>
            </a:endParaRPr>
          </a:p>
        </p:txBody>
      </p:sp>
      <p:sp>
        <p:nvSpPr>
          <p:cNvPr id="15363" name="Rectangle 3">
            <a:extLst>
              <a:ext uri="{FF2B5EF4-FFF2-40B4-BE49-F238E27FC236}">
                <a16:creationId xmlns:a16="http://schemas.microsoft.com/office/drawing/2014/main" xmlns="" id="{ECDA7F9C-6B2F-40C9-B539-F9920413591E}"/>
              </a:ext>
            </a:extLst>
          </p:cNvPr>
          <p:cNvSpPr>
            <a:spLocks noChangeArrowheads="1"/>
          </p:cNvSpPr>
          <p:nvPr/>
        </p:nvSpPr>
        <p:spPr bwMode="auto">
          <a:xfrm>
            <a:off x="1085850" y="800100"/>
            <a:ext cx="65151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The probability distribution of the number of accidents in a week at an intersection, based on past data, is given below. Find the expected number of accidents for one week.</a:t>
            </a:r>
          </a:p>
        </p:txBody>
      </p:sp>
      <p:pic>
        <p:nvPicPr>
          <p:cNvPr id="15364" name="Picture 5">
            <a:extLst>
              <a:ext uri="{FF2B5EF4-FFF2-40B4-BE49-F238E27FC236}">
                <a16:creationId xmlns:a16="http://schemas.microsoft.com/office/drawing/2014/main" xmlns="" id="{BD745281-8262-4CC8-9632-13F3811884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8770" y="2924944"/>
            <a:ext cx="65722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50" name="Text Box 6">
            <a:extLst>
              <a:ext uri="{FF2B5EF4-FFF2-40B4-BE49-F238E27FC236}">
                <a16:creationId xmlns:a16="http://schemas.microsoft.com/office/drawing/2014/main" xmlns="" id="{FE9F0852-D077-4CF6-91A6-FCFD2FB5E4F3}"/>
              </a:ext>
            </a:extLst>
          </p:cNvPr>
          <p:cNvSpPr txBox="1">
            <a:spLocks noChangeArrowheads="1"/>
          </p:cNvSpPr>
          <p:nvPr/>
        </p:nvSpPr>
        <p:spPr bwMode="auto">
          <a:xfrm>
            <a:off x="0" y="4221088"/>
            <a:ext cx="896448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en-US" altLang="en-US" dirty="0"/>
              <a:t>expected value = </a:t>
            </a:r>
            <a:r>
              <a:rPr lang="en-US" altLang="en-US" dirty="0">
                <a:solidFill>
                  <a:srgbClr val="FF0000"/>
                </a:solidFill>
              </a:rPr>
              <a:t>0</a:t>
            </a:r>
            <a:r>
              <a:rPr lang="en-US" altLang="en-US" dirty="0"/>
              <a:t>(0.75) + </a:t>
            </a:r>
            <a:r>
              <a:rPr lang="en-US" altLang="en-US" dirty="0">
                <a:solidFill>
                  <a:srgbClr val="FF0000"/>
                </a:solidFill>
              </a:rPr>
              <a:t>1</a:t>
            </a:r>
            <a:r>
              <a:rPr lang="en-US" altLang="en-US" dirty="0"/>
              <a:t>(0.15) + </a:t>
            </a:r>
            <a:r>
              <a:rPr lang="en-US" altLang="en-US" dirty="0">
                <a:solidFill>
                  <a:srgbClr val="FF0000"/>
                </a:solidFill>
              </a:rPr>
              <a:t>2</a:t>
            </a:r>
            <a:r>
              <a:rPr lang="en-US" altLang="en-US" dirty="0"/>
              <a:t>(0.08) + </a:t>
            </a:r>
            <a:r>
              <a:rPr lang="en-US" altLang="en-US" dirty="0">
                <a:solidFill>
                  <a:srgbClr val="FF0000"/>
                </a:solidFill>
              </a:rPr>
              <a:t>3</a:t>
            </a:r>
            <a:r>
              <a:rPr lang="en-US" altLang="en-US" dirty="0"/>
              <a:t>(0.02)</a:t>
            </a:r>
          </a:p>
        </p:txBody>
      </p:sp>
      <p:sp>
        <p:nvSpPr>
          <p:cNvPr id="31751" name="Rectangle 7">
            <a:extLst>
              <a:ext uri="{FF2B5EF4-FFF2-40B4-BE49-F238E27FC236}">
                <a16:creationId xmlns:a16="http://schemas.microsoft.com/office/drawing/2014/main" xmlns="" id="{C04E85EB-0B81-4AF2-A469-AF5ADDF7A773}"/>
              </a:ext>
            </a:extLst>
          </p:cNvPr>
          <p:cNvSpPr>
            <a:spLocks noChangeArrowheads="1"/>
          </p:cNvSpPr>
          <p:nvPr/>
        </p:nvSpPr>
        <p:spPr bwMode="auto">
          <a:xfrm>
            <a:off x="5148064" y="4951989"/>
            <a:ext cx="32575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i="1" dirty="0">
                <a:solidFill>
                  <a:srgbClr val="3366FF"/>
                </a:solidFill>
              </a:rPr>
              <a:t>Use the weighted average.</a:t>
            </a:r>
          </a:p>
        </p:txBody>
      </p:sp>
      <p:sp>
        <p:nvSpPr>
          <p:cNvPr id="31752" name="Text Box 8">
            <a:extLst>
              <a:ext uri="{FF2B5EF4-FFF2-40B4-BE49-F238E27FC236}">
                <a16:creationId xmlns:a16="http://schemas.microsoft.com/office/drawing/2014/main" xmlns="" id="{A86E738F-7611-4E56-ABCB-C16E4C060F34}"/>
              </a:ext>
            </a:extLst>
          </p:cNvPr>
          <p:cNvSpPr txBox="1">
            <a:spLocks noChangeArrowheads="1"/>
          </p:cNvSpPr>
          <p:nvPr/>
        </p:nvSpPr>
        <p:spPr bwMode="auto">
          <a:xfrm>
            <a:off x="2843808" y="5136656"/>
            <a:ext cx="1143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en-US" altLang="en-US" dirty="0" smtClean="0"/>
              <a:t>=0.37</a:t>
            </a:r>
            <a:endParaRPr lang="en-US" altLang="en-US" dirty="0"/>
          </a:p>
        </p:txBody>
      </p:sp>
      <p:sp>
        <p:nvSpPr>
          <p:cNvPr id="31753" name="Rectangle 9">
            <a:extLst>
              <a:ext uri="{FF2B5EF4-FFF2-40B4-BE49-F238E27FC236}">
                <a16:creationId xmlns:a16="http://schemas.microsoft.com/office/drawing/2014/main" xmlns="" id="{39848D14-FE03-4A81-A188-96A42AF50B35}"/>
              </a:ext>
            </a:extLst>
          </p:cNvPr>
          <p:cNvSpPr>
            <a:spLocks noChangeArrowheads="1"/>
          </p:cNvSpPr>
          <p:nvPr/>
        </p:nvSpPr>
        <p:spPr bwMode="auto">
          <a:xfrm>
            <a:off x="611560" y="5169068"/>
            <a:ext cx="16530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i="1" dirty="0">
                <a:solidFill>
                  <a:srgbClr val="3366FF"/>
                </a:solidFill>
              </a:rPr>
              <a:t>Simplify.</a:t>
            </a:r>
            <a:r>
              <a:rPr lang="en-US" altLang="en-US" dirty="0">
                <a:solidFill>
                  <a:srgbClr val="3366FF"/>
                </a:solidFill>
              </a:rPr>
              <a:t> </a:t>
            </a:r>
          </a:p>
        </p:txBody>
      </p:sp>
      <p:sp>
        <p:nvSpPr>
          <p:cNvPr id="31754" name="Rectangle 10">
            <a:extLst>
              <a:ext uri="{FF2B5EF4-FFF2-40B4-BE49-F238E27FC236}">
                <a16:creationId xmlns:a16="http://schemas.microsoft.com/office/drawing/2014/main" xmlns="" id="{2A978E49-497F-4BF4-AA66-7EDCE92CCF4B}"/>
              </a:ext>
            </a:extLst>
          </p:cNvPr>
          <p:cNvSpPr>
            <a:spLocks noChangeArrowheads="1"/>
          </p:cNvSpPr>
          <p:nvPr/>
        </p:nvSpPr>
        <p:spPr bwMode="auto">
          <a:xfrm>
            <a:off x="1200150" y="6241197"/>
            <a:ext cx="76203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The expected number of accidents is 0.37.</a:t>
            </a:r>
          </a:p>
        </p:txBody>
      </p:sp>
    </p:spTree>
    <p:extLst>
      <p:ext uri="{BB962C8B-B14F-4D97-AF65-F5344CB8AC3E}">
        <p14:creationId xmlns:p14="http://schemas.microsoft.com/office/powerpoint/2010/main" val="3352699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750"/>
                                        </p:tgtEl>
                                        <p:attrNameLst>
                                          <p:attrName>style.visibility</p:attrName>
                                        </p:attrNameLst>
                                      </p:cBhvr>
                                      <p:to>
                                        <p:strVal val="visible"/>
                                      </p:to>
                                    </p:set>
                                    <p:animEffect transition="in" filter="dissolve">
                                      <p:cBhvr>
                                        <p:cTn id="7" dur="500"/>
                                        <p:tgtEl>
                                          <p:spTgt spid="3175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1751"/>
                                        </p:tgtEl>
                                        <p:attrNameLst>
                                          <p:attrName>style.visibility</p:attrName>
                                        </p:attrNameLst>
                                      </p:cBhvr>
                                      <p:to>
                                        <p:strVal val="visible"/>
                                      </p:to>
                                    </p:set>
                                    <p:animEffect transition="in" filter="dissolve">
                                      <p:cBhvr>
                                        <p:cTn id="10" dur="500"/>
                                        <p:tgtEl>
                                          <p:spTgt spid="3175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1752"/>
                                        </p:tgtEl>
                                        <p:attrNameLst>
                                          <p:attrName>style.visibility</p:attrName>
                                        </p:attrNameLst>
                                      </p:cBhvr>
                                      <p:to>
                                        <p:strVal val="visible"/>
                                      </p:to>
                                    </p:set>
                                    <p:animEffect transition="in" filter="dissolve">
                                      <p:cBhvr>
                                        <p:cTn id="15" dur="500"/>
                                        <p:tgtEl>
                                          <p:spTgt spid="31752"/>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1753"/>
                                        </p:tgtEl>
                                        <p:attrNameLst>
                                          <p:attrName>style.visibility</p:attrName>
                                        </p:attrNameLst>
                                      </p:cBhvr>
                                      <p:to>
                                        <p:strVal val="visible"/>
                                      </p:to>
                                    </p:set>
                                    <p:animEffect transition="in" filter="dissolve">
                                      <p:cBhvr>
                                        <p:cTn id="18" dur="500"/>
                                        <p:tgtEl>
                                          <p:spTgt spid="3175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1754"/>
                                        </p:tgtEl>
                                        <p:attrNameLst>
                                          <p:attrName>style.visibility</p:attrName>
                                        </p:attrNameLst>
                                      </p:cBhvr>
                                      <p:to>
                                        <p:strVal val="visible"/>
                                      </p:to>
                                    </p:set>
                                    <p:animEffect transition="in" filter="dissolve">
                                      <p:cBhvr>
                                        <p:cTn id="23" dur="500"/>
                                        <p:tgtEl>
                                          <p:spTgt spid="31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p:bldP spid="31751" grpId="0"/>
      <p:bldP spid="31752" grpId="0"/>
      <p:bldP spid="31753" grpId="0"/>
      <p:bldP spid="3175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8" name="Rectangle 6">
            <a:extLst>
              <a:ext uri="{FF2B5EF4-FFF2-40B4-BE49-F238E27FC236}">
                <a16:creationId xmlns:a16="http://schemas.microsoft.com/office/drawing/2014/main" xmlns="" id="{0BE48C81-4EA3-4CE0-9E99-8F8960BF3624}"/>
              </a:ext>
            </a:extLst>
          </p:cNvPr>
          <p:cNvSpPr>
            <a:spLocks noChangeArrowheads="1"/>
          </p:cNvSpPr>
          <p:nvPr/>
        </p:nvSpPr>
        <p:spPr bwMode="auto">
          <a:xfrm>
            <a:off x="1371600" y="990600"/>
            <a:ext cx="64008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a:t>A </a:t>
            </a:r>
            <a:r>
              <a:rPr lang="en-US" altLang="en-US" i="1"/>
              <a:t>box-and-whisker plot </a:t>
            </a:r>
            <a:r>
              <a:rPr lang="en-US" altLang="en-US"/>
              <a:t>shows the spread of a data set. It displays 5 key points: the </a:t>
            </a:r>
            <a:r>
              <a:rPr lang="en-US" altLang="en-US" b="1">
                <a:solidFill>
                  <a:srgbClr val="009900"/>
                </a:solidFill>
              </a:rPr>
              <a:t>minimum</a:t>
            </a:r>
            <a:r>
              <a:rPr lang="en-US" altLang="en-US" b="1"/>
              <a:t> </a:t>
            </a:r>
            <a:r>
              <a:rPr lang="en-US" altLang="en-US"/>
              <a:t>and </a:t>
            </a:r>
            <a:r>
              <a:rPr lang="en-US" altLang="en-US" b="1">
                <a:solidFill>
                  <a:srgbClr val="009900"/>
                </a:solidFill>
              </a:rPr>
              <a:t>maximum</a:t>
            </a:r>
            <a:r>
              <a:rPr lang="en-US" altLang="en-US" b="1"/>
              <a:t> </a:t>
            </a:r>
            <a:r>
              <a:rPr lang="en-US" altLang="en-US"/>
              <a:t>values, the </a:t>
            </a:r>
            <a:r>
              <a:rPr lang="en-US" altLang="en-US" b="1">
                <a:solidFill>
                  <a:srgbClr val="3366FF"/>
                </a:solidFill>
              </a:rPr>
              <a:t>median</a:t>
            </a:r>
            <a:r>
              <a:rPr lang="en-US" altLang="en-US"/>
              <a:t>, and the </a:t>
            </a:r>
            <a:r>
              <a:rPr lang="en-US" altLang="en-US" b="1">
                <a:solidFill>
                  <a:srgbClr val="FF0000"/>
                </a:solidFill>
              </a:rPr>
              <a:t>first</a:t>
            </a:r>
            <a:r>
              <a:rPr lang="en-US" altLang="en-US" b="1"/>
              <a:t> </a:t>
            </a:r>
            <a:r>
              <a:rPr lang="en-US" altLang="en-US"/>
              <a:t>and </a:t>
            </a:r>
            <a:r>
              <a:rPr lang="en-US" altLang="en-US" b="1">
                <a:solidFill>
                  <a:srgbClr val="FF0000"/>
                </a:solidFill>
              </a:rPr>
              <a:t>third quartiles</a:t>
            </a:r>
            <a:r>
              <a:rPr lang="en-US" altLang="en-US"/>
              <a:t>.</a:t>
            </a:r>
          </a:p>
        </p:txBody>
      </p:sp>
      <p:pic>
        <p:nvPicPr>
          <p:cNvPr id="38920" name="Picture 8">
            <a:extLst>
              <a:ext uri="{FF2B5EF4-FFF2-40B4-BE49-F238E27FC236}">
                <a16:creationId xmlns:a16="http://schemas.microsoft.com/office/drawing/2014/main" xmlns="" id="{C3F7EFA4-0BED-4B24-AF61-8DB0CA644A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0170" y="3233738"/>
            <a:ext cx="6479381" cy="2405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82716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8918"/>
                                        </p:tgtEl>
                                        <p:attrNameLst>
                                          <p:attrName>style.visibility</p:attrName>
                                        </p:attrNameLst>
                                      </p:cBhvr>
                                      <p:to>
                                        <p:strVal val="visible"/>
                                      </p:to>
                                    </p:set>
                                    <p:animEffect transition="in" filter="dissolve">
                                      <p:cBhvr>
                                        <p:cTn id="7" dur="500"/>
                                        <p:tgtEl>
                                          <p:spTgt spid="38918"/>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8920"/>
                                        </p:tgtEl>
                                        <p:attrNameLst>
                                          <p:attrName>style.visibility</p:attrName>
                                        </p:attrNameLst>
                                      </p:cBhvr>
                                      <p:to>
                                        <p:strVal val="visible"/>
                                      </p:to>
                                    </p:set>
                                    <p:animEffect transition="in" filter="dissolve">
                                      <p:cBhvr>
                                        <p:cTn id="11" dur="500"/>
                                        <p:tgtEl>
                                          <p:spTgt spid="3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xmlns="" id="{03EC7639-5D63-4E13-A987-132E16F26E23}"/>
              </a:ext>
            </a:extLst>
          </p:cNvPr>
          <p:cNvSpPr>
            <a:spLocks noChangeArrowheads="1"/>
          </p:cNvSpPr>
          <p:nvPr/>
        </p:nvSpPr>
        <p:spPr bwMode="auto">
          <a:xfrm>
            <a:off x="1458568" y="1247639"/>
            <a:ext cx="64008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The quartiles are the medians of the lower and upper halves of the data set. If there are an odd number of data values, do not include the median in either half.</a:t>
            </a:r>
          </a:p>
        </p:txBody>
      </p:sp>
      <p:sp>
        <p:nvSpPr>
          <p:cNvPr id="48131" name="Rectangle 3">
            <a:extLst>
              <a:ext uri="{FF2B5EF4-FFF2-40B4-BE49-F238E27FC236}">
                <a16:creationId xmlns:a16="http://schemas.microsoft.com/office/drawing/2014/main" xmlns="" id="{B8EDC378-C84E-4DEF-A1C1-ADAFFF3AE55E}"/>
              </a:ext>
            </a:extLst>
          </p:cNvPr>
          <p:cNvSpPr>
            <a:spLocks noChangeArrowheads="1"/>
          </p:cNvSpPr>
          <p:nvPr/>
        </p:nvSpPr>
        <p:spPr bwMode="auto">
          <a:xfrm>
            <a:off x="1428750" y="3429000"/>
            <a:ext cx="645795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The </a:t>
            </a:r>
            <a:r>
              <a:rPr lang="en-US" altLang="en-US" i="1" dirty="0"/>
              <a:t>interquartile range</a:t>
            </a:r>
            <a:r>
              <a:rPr lang="en-US" altLang="en-US" dirty="0"/>
              <a:t>, or IQR, is the difference between the 1st and 3</a:t>
            </a:r>
            <a:r>
              <a:rPr lang="en-US" altLang="en-US" baseline="30000" dirty="0"/>
              <a:t>rd</a:t>
            </a:r>
            <a:r>
              <a:rPr lang="en-US" altLang="en-US" dirty="0"/>
              <a:t> quartiles, or Q3 – Q1. It represents the middle 50% of the data.</a:t>
            </a:r>
          </a:p>
        </p:txBody>
      </p:sp>
    </p:spTree>
    <p:extLst>
      <p:ext uri="{BB962C8B-B14F-4D97-AF65-F5344CB8AC3E}">
        <p14:creationId xmlns:p14="http://schemas.microsoft.com/office/powerpoint/2010/main" val="1618566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dissolve">
                                      <p:cBhvr>
                                        <p:cTn id="7" dur="500"/>
                                        <p:tgtEl>
                                          <p:spTgt spid="48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131"/>
                                        </p:tgtEl>
                                        <p:attrNameLst>
                                          <p:attrName>style.visibility</p:attrName>
                                        </p:attrNameLst>
                                      </p:cBhvr>
                                      <p:to>
                                        <p:strVal val="visible"/>
                                      </p:to>
                                    </p:set>
                                    <p:animEffect transition="in" filter="dissolve">
                                      <p:cBhvr>
                                        <p:cTn id="12" dur="500"/>
                                        <p:tgtEl>
                                          <p:spTgt spid="48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P spid="4813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xmlns="" id="{201C12EF-52B1-4961-9F07-631007A918EC}"/>
              </a:ext>
            </a:extLst>
          </p:cNvPr>
          <p:cNvSpPr txBox="1">
            <a:spLocks noChangeArrowheads="1"/>
          </p:cNvSpPr>
          <p:nvPr/>
        </p:nvSpPr>
        <p:spPr bwMode="auto">
          <a:xfrm>
            <a:off x="1143000" y="771438"/>
            <a:ext cx="6858000" cy="1200329"/>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a:solidFill>
                  <a:srgbClr val="006699"/>
                </a:solidFill>
                <a:latin typeface="Arial Black" panose="020B0A04020102020204" pitchFamily="34" charset="0"/>
              </a:rPr>
              <a:t>Example 3: Making a Box-and-Whisker Plot and Finding the Interquartile Range</a:t>
            </a:r>
          </a:p>
        </p:txBody>
      </p:sp>
      <p:sp>
        <p:nvSpPr>
          <p:cNvPr id="18435" name="Rectangle 3">
            <a:extLst>
              <a:ext uri="{FF2B5EF4-FFF2-40B4-BE49-F238E27FC236}">
                <a16:creationId xmlns:a16="http://schemas.microsoft.com/office/drawing/2014/main" xmlns="" id="{B87E0D07-3B33-4874-98F0-52762F1E1E9C}"/>
              </a:ext>
            </a:extLst>
          </p:cNvPr>
          <p:cNvSpPr>
            <a:spLocks noChangeArrowheads="1"/>
          </p:cNvSpPr>
          <p:nvPr/>
        </p:nvSpPr>
        <p:spPr bwMode="auto">
          <a:xfrm>
            <a:off x="1428750" y="1822450"/>
            <a:ext cx="6343650" cy="120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Make a box-and-whisker plot of the data. Find the interquartile range. </a:t>
            </a:r>
          </a:p>
          <a:p>
            <a:pPr eaLnBrk="1" hangingPunct="1"/>
            <a:r>
              <a:rPr lang="en-US" altLang="en-US" b="1"/>
              <a:t>{6, 8, 7, 5, 10, 6, 9, 8, 4}</a:t>
            </a:r>
          </a:p>
        </p:txBody>
      </p:sp>
      <p:sp>
        <p:nvSpPr>
          <p:cNvPr id="39940" name="Rectangle 4">
            <a:extLst>
              <a:ext uri="{FF2B5EF4-FFF2-40B4-BE49-F238E27FC236}">
                <a16:creationId xmlns:a16="http://schemas.microsoft.com/office/drawing/2014/main" xmlns="" id="{2BB86BFD-5537-48E4-A7C4-115A79335284}"/>
              </a:ext>
            </a:extLst>
          </p:cNvPr>
          <p:cNvSpPr>
            <a:spLocks noChangeArrowheads="1"/>
          </p:cNvSpPr>
          <p:nvPr/>
        </p:nvSpPr>
        <p:spPr bwMode="auto">
          <a:xfrm>
            <a:off x="1428750" y="3119866"/>
            <a:ext cx="727474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Step 1</a:t>
            </a:r>
            <a:r>
              <a:rPr lang="en-US" altLang="en-US"/>
              <a:t> Order the data from least to greatest.</a:t>
            </a:r>
          </a:p>
          <a:p>
            <a:pPr eaLnBrk="1" hangingPunct="1"/>
            <a:r>
              <a:rPr lang="en-US" altLang="en-US"/>
              <a:t>4, 5, 6, 6, 7, 8, 8, 9, 10</a:t>
            </a:r>
          </a:p>
        </p:txBody>
      </p:sp>
      <p:sp>
        <p:nvSpPr>
          <p:cNvPr id="39941" name="Rectangle 5">
            <a:extLst>
              <a:ext uri="{FF2B5EF4-FFF2-40B4-BE49-F238E27FC236}">
                <a16:creationId xmlns:a16="http://schemas.microsoft.com/office/drawing/2014/main" xmlns="" id="{356CF31C-025E-44DE-B4E8-C9BF182D681A}"/>
              </a:ext>
            </a:extLst>
          </p:cNvPr>
          <p:cNvSpPr>
            <a:spLocks noChangeArrowheads="1"/>
          </p:cNvSpPr>
          <p:nvPr/>
        </p:nvSpPr>
        <p:spPr bwMode="auto">
          <a:xfrm>
            <a:off x="1428750" y="3973941"/>
            <a:ext cx="6400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Step 2 </a:t>
            </a:r>
            <a:r>
              <a:rPr lang="en-US" altLang="en-US"/>
              <a:t>Find the minimum, maximum, median, and quartiles.</a:t>
            </a:r>
          </a:p>
        </p:txBody>
      </p:sp>
      <p:sp>
        <p:nvSpPr>
          <p:cNvPr id="39942" name="Text Box 6">
            <a:extLst>
              <a:ext uri="{FF2B5EF4-FFF2-40B4-BE49-F238E27FC236}">
                <a16:creationId xmlns:a16="http://schemas.microsoft.com/office/drawing/2014/main" xmlns="" id="{AE688619-7D1D-4474-8874-C6A416C79E4B}"/>
              </a:ext>
            </a:extLst>
          </p:cNvPr>
          <p:cNvSpPr txBox="1">
            <a:spLocks noChangeArrowheads="1"/>
          </p:cNvSpPr>
          <p:nvPr/>
        </p:nvSpPr>
        <p:spPr bwMode="auto">
          <a:xfrm>
            <a:off x="2571750" y="4876800"/>
            <a:ext cx="394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en-US" altLang="en-US">
                <a:solidFill>
                  <a:srgbClr val="009900"/>
                </a:solidFill>
              </a:rPr>
              <a:t>4</a:t>
            </a:r>
            <a:r>
              <a:rPr lang="en-US" altLang="en-US"/>
              <a:t>, 5, 6, 6, </a:t>
            </a:r>
            <a:r>
              <a:rPr lang="en-US" altLang="en-US">
                <a:solidFill>
                  <a:srgbClr val="3366FF"/>
                </a:solidFill>
              </a:rPr>
              <a:t>7</a:t>
            </a:r>
            <a:r>
              <a:rPr lang="en-US" altLang="en-US"/>
              <a:t>, 8, 8, 9, </a:t>
            </a:r>
            <a:r>
              <a:rPr lang="en-US" altLang="en-US">
                <a:solidFill>
                  <a:srgbClr val="009900"/>
                </a:solidFill>
              </a:rPr>
              <a:t>10</a:t>
            </a:r>
          </a:p>
        </p:txBody>
      </p:sp>
      <p:sp>
        <p:nvSpPr>
          <p:cNvPr id="39943" name="AutoShape 7">
            <a:extLst>
              <a:ext uri="{FF2B5EF4-FFF2-40B4-BE49-F238E27FC236}">
                <a16:creationId xmlns:a16="http://schemas.microsoft.com/office/drawing/2014/main" xmlns="" id="{5964B083-9188-4B3C-87C0-6F11438D788C}"/>
              </a:ext>
            </a:extLst>
          </p:cNvPr>
          <p:cNvSpPr>
            <a:spLocks noChangeArrowheads="1"/>
          </p:cNvSpPr>
          <p:nvPr/>
        </p:nvSpPr>
        <p:spPr bwMode="auto">
          <a:xfrm>
            <a:off x="2571750" y="4953000"/>
            <a:ext cx="1200150" cy="304800"/>
          </a:xfrm>
          <a:prstGeom prst="flowChartAlternateProcess">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endParaRPr lang="en-US" altLang="en-US"/>
          </a:p>
        </p:txBody>
      </p:sp>
      <p:sp>
        <p:nvSpPr>
          <p:cNvPr id="39944" name="AutoShape 8">
            <a:extLst>
              <a:ext uri="{FF2B5EF4-FFF2-40B4-BE49-F238E27FC236}">
                <a16:creationId xmlns:a16="http://schemas.microsoft.com/office/drawing/2014/main" xmlns="" id="{C1251440-6C45-48FB-98DE-9F7F60C22E59}"/>
              </a:ext>
            </a:extLst>
          </p:cNvPr>
          <p:cNvSpPr>
            <a:spLocks noChangeArrowheads="1"/>
          </p:cNvSpPr>
          <p:nvPr/>
        </p:nvSpPr>
        <p:spPr bwMode="auto">
          <a:xfrm>
            <a:off x="4171950" y="4953000"/>
            <a:ext cx="1314450" cy="304800"/>
          </a:xfrm>
          <a:prstGeom prst="flowChartAlternateProcess">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endParaRPr lang="en-US" altLang="en-US"/>
          </a:p>
        </p:txBody>
      </p:sp>
      <p:sp>
        <p:nvSpPr>
          <p:cNvPr id="39946" name="Text Box 10">
            <a:extLst>
              <a:ext uri="{FF2B5EF4-FFF2-40B4-BE49-F238E27FC236}">
                <a16:creationId xmlns:a16="http://schemas.microsoft.com/office/drawing/2014/main" xmlns="" id="{E07E421A-3639-443F-A900-CDB2DB9D8AAF}"/>
              </a:ext>
            </a:extLst>
          </p:cNvPr>
          <p:cNvSpPr txBox="1">
            <a:spLocks noChangeArrowheads="1"/>
          </p:cNvSpPr>
          <p:nvPr/>
        </p:nvSpPr>
        <p:spPr bwMode="auto">
          <a:xfrm>
            <a:off x="1600200" y="5257802"/>
            <a:ext cx="16573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en-US" altLang="en-US">
                <a:solidFill>
                  <a:srgbClr val="009900"/>
                </a:solidFill>
              </a:rPr>
              <a:t>Mimimum</a:t>
            </a:r>
          </a:p>
        </p:txBody>
      </p:sp>
      <p:sp>
        <p:nvSpPr>
          <p:cNvPr id="39947" name="Text Box 11">
            <a:extLst>
              <a:ext uri="{FF2B5EF4-FFF2-40B4-BE49-F238E27FC236}">
                <a16:creationId xmlns:a16="http://schemas.microsoft.com/office/drawing/2014/main" xmlns="" id="{56C877FE-0E64-47EC-86AE-73561E7C7B9C}"/>
              </a:ext>
            </a:extLst>
          </p:cNvPr>
          <p:cNvSpPr txBox="1">
            <a:spLocks noChangeArrowheads="1"/>
          </p:cNvSpPr>
          <p:nvPr/>
        </p:nvSpPr>
        <p:spPr bwMode="auto">
          <a:xfrm>
            <a:off x="3486150" y="5334000"/>
            <a:ext cx="165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en-US" altLang="en-US">
                <a:solidFill>
                  <a:srgbClr val="3366FF"/>
                </a:solidFill>
              </a:rPr>
              <a:t>Median</a:t>
            </a:r>
          </a:p>
        </p:txBody>
      </p:sp>
      <p:sp>
        <p:nvSpPr>
          <p:cNvPr id="39948" name="Text Box 12">
            <a:extLst>
              <a:ext uri="{FF2B5EF4-FFF2-40B4-BE49-F238E27FC236}">
                <a16:creationId xmlns:a16="http://schemas.microsoft.com/office/drawing/2014/main" xmlns="" id="{18561DB9-126D-44A2-ABC1-09EA1D4B8445}"/>
              </a:ext>
            </a:extLst>
          </p:cNvPr>
          <p:cNvSpPr txBox="1">
            <a:spLocks noChangeArrowheads="1"/>
          </p:cNvSpPr>
          <p:nvPr/>
        </p:nvSpPr>
        <p:spPr bwMode="auto">
          <a:xfrm>
            <a:off x="4972050" y="5334000"/>
            <a:ext cx="16573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en-US" altLang="en-US">
                <a:solidFill>
                  <a:srgbClr val="009900"/>
                </a:solidFill>
              </a:rPr>
              <a:t>Maximum</a:t>
            </a:r>
          </a:p>
        </p:txBody>
      </p:sp>
      <p:sp>
        <p:nvSpPr>
          <p:cNvPr id="39949" name="Text Box 13">
            <a:extLst>
              <a:ext uri="{FF2B5EF4-FFF2-40B4-BE49-F238E27FC236}">
                <a16:creationId xmlns:a16="http://schemas.microsoft.com/office/drawing/2014/main" xmlns="" id="{984AA8FB-7DBC-417C-AEE0-E198DFE7290D}"/>
              </a:ext>
            </a:extLst>
          </p:cNvPr>
          <p:cNvSpPr txBox="1">
            <a:spLocks noChangeArrowheads="1"/>
          </p:cNvSpPr>
          <p:nvPr/>
        </p:nvSpPr>
        <p:spPr bwMode="auto">
          <a:xfrm>
            <a:off x="2286000" y="5791202"/>
            <a:ext cx="16573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eaLnBrk="1" hangingPunct="1"/>
            <a:r>
              <a:rPr lang="en-US" altLang="en-US">
                <a:solidFill>
                  <a:srgbClr val="FF0000"/>
                </a:solidFill>
              </a:rPr>
              <a:t>First quartile</a:t>
            </a:r>
          </a:p>
          <a:p>
            <a:pPr algn="ctr" eaLnBrk="1" hangingPunct="1"/>
            <a:r>
              <a:rPr lang="en-US" altLang="en-US">
                <a:solidFill>
                  <a:srgbClr val="FF0000"/>
                </a:solidFill>
              </a:rPr>
              <a:t>5.5</a:t>
            </a:r>
          </a:p>
        </p:txBody>
      </p:sp>
      <p:sp>
        <p:nvSpPr>
          <p:cNvPr id="39950" name="Text Box 14">
            <a:extLst>
              <a:ext uri="{FF2B5EF4-FFF2-40B4-BE49-F238E27FC236}">
                <a16:creationId xmlns:a16="http://schemas.microsoft.com/office/drawing/2014/main" xmlns="" id="{497BAC69-2901-438E-A667-88E9F2C56281}"/>
              </a:ext>
            </a:extLst>
          </p:cNvPr>
          <p:cNvSpPr txBox="1">
            <a:spLocks noChangeArrowheads="1"/>
          </p:cNvSpPr>
          <p:nvPr/>
        </p:nvSpPr>
        <p:spPr bwMode="auto">
          <a:xfrm>
            <a:off x="3943350" y="5730877"/>
            <a:ext cx="1828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eaLnBrk="1" hangingPunct="1"/>
            <a:r>
              <a:rPr lang="en-US" altLang="en-US">
                <a:solidFill>
                  <a:srgbClr val="FF0000"/>
                </a:solidFill>
              </a:rPr>
              <a:t>Third quartile</a:t>
            </a:r>
          </a:p>
          <a:p>
            <a:pPr algn="ctr" eaLnBrk="1" hangingPunct="1"/>
            <a:r>
              <a:rPr lang="en-US" altLang="en-US">
                <a:solidFill>
                  <a:srgbClr val="FF0000"/>
                </a:solidFill>
              </a:rPr>
              <a:t>8.5</a:t>
            </a:r>
          </a:p>
        </p:txBody>
      </p:sp>
      <p:sp>
        <p:nvSpPr>
          <p:cNvPr id="39951" name="Line 15">
            <a:extLst>
              <a:ext uri="{FF2B5EF4-FFF2-40B4-BE49-F238E27FC236}">
                <a16:creationId xmlns:a16="http://schemas.microsoft.com/office/drawing/2014/main" xmlns="" id="{FDC837F4-524B-4EC9-AEA5-72DC50F449CD}"/>
              </a:ext>
            </a:extLst>
          </p:cNvPr>
          <p:cNvSpPr>
            <a:spLocks noChangeShapeType="1"/>
          </p:cNvSpPr>
          <p:nvPr/>
        </p:nvSpPr>
        <p:spPr bwMode="auto">
          <a:xfrm>
            <a:off x="3143250" y="5105400"/>
            <a:ext cx="0" cy="76200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9952" name="Line 16">
            <a:extLst>
              <a:ext uri="{FF2B5EF4-FFF2-40B4-BE49-F238E27FC236}">
                <a16:creationId xmlns:a16="http://schemas.microsoft.com/office/drawing/2014/main" xmlns="" id="{1C5E7D72-DE1D-4070-AF18-B8411556666D}"/>
              </a:ext>
            </a:extLst>
          </p:cNvPr>
          <p:cNvSpPr>
            <a:spLocks noChangeShapeType="1"/>
          </p:cNvSpPr>
          <p:nvPr/>
        </p:nvSpPr>
        <p:spPr bwMode="auto">
          <a:xfrm>
            <a:off x="4743450" y="5029200"/>
            <a:ext cx="0" cy="76200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32501153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940"/>
                                        </p:tgtEl>
                                        <p:attrNameLst>
                                          <p:attrName>style.visibility</p:attrName>
                                        </p:attrNameLst>
                                      </p:cBhvr>
                                      <p:to>
                                        <p:strVal val="visible"/>
                                      </p:to>
                                    </p:set>
                                    <p:animEffect transition="in" filter="dissolve">
                                      <p:cBhvr>
                                        <p:cTn id="7" dur="500"/>
                                        <p:tgtEl>
                                          <p:spTgt spid="399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9941"/>
                                        </p:tgtEl>
                                        <p:attrNameLst>
                                          <p:attrName>style.visibility</p:attrName>
                                        </p:attrNameLst>
                                      </p:cBhvr>
                                      <p:to>
                                        <p:strVal val="visible"/>
                                      </p:to>
                                    </p:set>
                                    <p:animEffect transition="in" filter="dissolve">
                                      <p:cBhvr>
                                        <p:cTn id="12" dur="500"/>
                                        <p:tgtEl>
                                          <p:spTgt spid="399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9942"/>
                                        </p:tgtEl>
                                        <p:attrNameLst>
                                          <p:attrName>style.visibility</p:attrName>
                                        </p:attrNameLst>
                                      </p:cBhvr>
                                      <p:to>
                                        <p:strVal val="visible"/>
                                      </p:to>
                                    </p:set>
                                    <p:animEffect transition="in" filter="box(in)">
                                      <p:cBhvr>
                                        <p:cTn id="17" dur="500"/>
                                        <p:tgtEl>
                                          <p:spTgt spid="399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9943"/>
                                        </p:tgtEl>
                                        <p:attrNameLst>
                                          <p:attrName>style.visibility</p:attrName>
                                        </p:attrNameLst>
                                      </p:cBhvr>
                                      <p:to>
                                        <p:strVal val="visible"/>
                                      </p:to>
                                    </p:set>
                                    <p:animEffect transition="in" filter="dissolve">
                                      <p:cBhvr>
                                        <p:cTn id="22" dur="500"/>
                                        <p:tgtEl>
                                          <p:spTgt spid="3994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39944"/>
                                        </p:tgtEl>
                                        <p:attrNameLst>
                                          <p:attrName>style.visibility</p:attrName>
                                        </p:attrNameLst>
                                      </p:cBhvr>
                                      <p:to>
                                        <p:strVal val="visible"/>
                                      </p:to>
                                    </p:set>
                                    <p:animEffect transition="in" filter="dissolve">
                                      <p:cBhvr>
                                        <p:cTn id="25" dur="500"/>
                                        <p:tgtEl>
                                          <p:spTgt spid="3994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9946"/>
                                        </p:tgtEl>
                                        <p:attrNameLst>
                                          <p:attrName>style.visibility</p:attrName>
                                        </p:attrNameLst>
                                      </p:cBhvr>
                                      <p:to>
                                        <p:strVal val="visible"/>
                                      </p:to>
                                    </p:set>
                                    <p:animEffect transition="in" filter="dissolve">
                                      <p:cBhvr>
                                        <p:cTn id="28" dur="500"/>
                                        <p:tgtEl>
                                          <p:spTgt spid="3994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9947"/>
                                        </p:tgtEl>
                                        <p:attrNameLst>
                                          <p:attrName>style.visibility</p:attrName>
                                        </p:attrNameLst>
                                      </p:cBhvr>
                                      <p:to>
                                        <p:strVal val="visible"/>
                                      </p:to>
                                    </p:set>
                                    <p:animEffect transition="in" filter="dissolve">
                                      <p:cBhvr>
                                        <p:cTn id="31" dur="500"/>
                                        <p:tgtEl>
                                          <p:spTgt spid="39947"/>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39948"/>
                                        </p:tgtEl>
                                        <p:attrNameLst>
                                          <p:attrName>style.visibility</p:attrName>
                                        </p:attrNameLst>
                                      </p:cBhvr>
                                      <p:to>
                                        <p:strVal val="visible"/>
                                      </p:to>
                                    </p:set>
                                    <p:animEffect transition="in" filter="dissolve">
                                      <p:cBhvr>
                                        <p:cTn id="34" dur="500"/>
                                        <p:tgtEl>
                                          <p:spTgt spid="3994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39951"/>
                                        </p:tgtEl>
                                        <p:attrNameLst>
                                          <p:attrName>style.visibility</p:attrName>
                                        </p:attrNameLst>
                                      </p:cBhvr>
                                      <p:to>
                                        <p:strVal val="visible"/>
                                      </p:to>
                                    </p:set>
                                    <p:animEffect transition="in" filter="wipe(up)">
                                      <p:cBhvr>
                                        <p:cTn id="39" dur="500"/>
                                        <p:tgtEl>
                                          <p:spTgt spid="39951"/>
                                        </p:tgtEl>
                                      </p:cBhvr>
                                    </p:animEffect>
                                  </p:childTnLst>
                                </p:cTn>
                              </p:par>
                              <p:par>
                                <p:cTn id="40" presetID="22" presetClass="entr" presetSubtype="1" fill="hold" nodeType="withEffect">
                                  <p:stCondLst>
                                    <p:cond delay="0"/>
                                  </p:stCondLst>
                                  <p:childTnLst>
                                    <p:set>
                                      <p:cBhvr>
                                        <p:cTn id="41" dur="1" fill="hold">
                                          <p:stCondLst>
                                            <p:cond delay="0"/>
                                          </p:stCondLst>
                                        </p:cTn>
                                        <p:tgtEl>
                                          <p:spTgt spid="39952"/>
                                        </p:tgtEl>
                                        <p:attrNameLst>
                                          <p:attrName>style.visibility</p:attrName>
                                        </p:attrNameLst>
                                      </p:cBhvr>
                                      <p:to>
                                        <p:strVal val="visible"/>
                                      </p:to>
                                    </p:set>
                                    <p:animEffect transition="in" filter="wipe(up)">
                                      <p:cBhvr>
                                        <p:cTn id="42" dur="500"/>
                                        <p:tgtEl>
                                          <p:spTgt spid="39952"/>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39949"/>
                                        </p:tgtEl>
                                        <p:attrNameLst>
                                          <p:attrName>style.visibility</p:attrName>
                                        </p:attrNameLst>
                                      </p:cBhvr>
                                      <p:to>
                                        <p:strVal val="visible"/>
                                      </p:to>
                                    </p:set>
                                    <p:animEffect transition="in" filter="wipe(up)">
                                      <p:cBhvr>
                                        <p:cTn id="45" dur="500"/>
                                        <p:tgtEl>
                                          <p:spTgt spid="39949"/>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39950"/>
                                        </p:tgtEl>
                                        <p:attrNameLst>
                                          <p:attrName>style.visibility</p:attrName>
                                        </p:attrNameLst>
                                      </p:cBhvr>
                                      <p:to>
                                        <p:strVal val="visible"/>
                                      </p:to>
                                    </p:set>
                                    <p:animEffect transition="in" filter="wipe(up)">
                                      <p:cBhvr>
                                        <p:cTn id="48" dur="500"/>
                                        <p:tgtEl>
                                          <p:spTgt spid="39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39941" grpId="0"/>
      <p:bldP spid="39942" grpId="0"/>
      <p:bldP spid="39943" grpId="0" animBg="1"/>
      <p:bldP spid="39944" grpId="0" animBg="1"/>
      <p:bldP spid="39946" grpId="0"/>
      <p:bldP spid="39947" grpId="0"/>
      <p:bldP spid="39948" grpId="0"/>
      <p:bldP spid="39949" grpId="0"/>
      <p:bldP spid="3995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a:extLst>
              <a:ext uri="{FF2B5EF4-FFF2-40B4-BE49-F238E27FC236}">
                <a16:creationId xmlns:a16="http://schemas.microsoft.com/office/drawing/2014/main" xmlns="" id="{F665A264-6DF9-4359-8DF5-874D7A7A75D8}"/>
              </a:ext>
            </a:extLst>
          </p:cNvPr>
          <p:cNvSpPr txBox="1">
            <a:spLocks noChangeArrowheads="1"/>
          </p:cNvSpPr>
          <p:nvPr/>
        </p:nvSpPr>
        <p:spPr bwMode="auto">
          <a:xfrm>
            <a:off x="1143000" y="762000"/>
            <a:ext cx="6858000" cy="457200"/>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dirty="0">
                <a:solidFill>
                  <a:srgbClr val="006699"/>
                </a:solidFill>
                <a:latin typeface="Arial Black" panose="020B0A04020102020204" pitchFamily="34" charset="0"/>
              </a:rPr>
              <a:t>Example 3 Continued</a:t>
            </a:r>
          </a:p>
        </p:txBody>
      </p:sp>
      <p:sp>
        <p:nvSpPr>
          <p:cNvPr id="50182" name="Rectangle 6">
            <a:extLst>
              <a:ext uri="{FF2B5EF4-FFF2-40B4-BE49-F238E27FC236}">
                <a16:creationId xmlns:a16="http://schemas.microsoft.com/office/drawing/2014/main" xmlns="" id="{43896B9D-A4AC-4F73-95AF-F8068A339F13}"/>
              </a:ext>
            </a:extLst>
          </p:cNvPr>
          <p:cNvSpPr>
            <a:spLocks noChangeArrowheads="1"/>
          </p:cNvSpPr>
          <p:nvPr/>
        </p:nvSpPr>
        <p:spPr bwMode="auto">
          <a:xfrm>
            <a:off x="1600200" y="2131368"/>
            <a:ext cx="59883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Step 3</a:t>
            </a:r>
            <a:r>
              <a:rPr lang="en-US" altLang="en-US"/>
              <a:t> Draw a box-and-whisker plot.</a:t>
            </a:r>
          </a:p>
        </p:txBody>
      </p:sp>
      <p:sp>
        <p:nvSpPr>
          <p:cNvPr id="50183" name="Rectangle 7">
            <a:extLst>
              <a:ext uri="{FF2B5EF4-FFF2-40B4-BE49-F238E27FC236}">
                <a16:creationId xmlns:a16="http://schemas.microsoft.com/office/drawing/2014/main" xmlns="" id="{2A457B2D-24C8-43E8-8C97-3FB03B42AA9E}"/>
              </a:ext>
            </a:extLst>
          </p:cNvPr>
          <p:cNvSpPr>
            <a:spLocks noChangeArrowheads="1"/>
          </p:cNvSpPr>
          <p:nvPr/>
        </p:nvSpPr>
        <p:spPr bwMode="auto">
          <a:xfrm>
            <a:off x="1930721" y="2852936"/>
            <a:ext cx="565785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Draw a number line, and plot a point above each of the five values. Then draw a box from the first quartile to the third quartile with a line segment through the median. Draw whiskers from the box to the minimum and maximum.</a:t>
            </a:r>
          </a:p>
        </p:txBody>
      </p:sp>
    </p:spTree>
    <p:extLst>
      <p:ext uri="{BB962C8B-B14F-4D97-AF65-F5344CB8AC3E}">
        <p14:creationId xmlns:p14="http://schemas.microsoft.com/office/powerpoint/2010/main" val="9961406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182"/>
                                        </p:tgtEl>
                                        <p:attrNameLst>
                                          <p:attrName>style.visibility</p:attrName>
                                        </p:attrNameLst>
                                      </p:cBhvr>
                                      <p:to>
                                        <p:strVal val="visible"/>
                                      </p:to>
                                    </p:set>
                                    <p:animEffect transition="in" filter="dissolve">
                                      <p:cBhvr>
                                        <p:cTn id="7" dur="500"/>
                                        <p:tgtEl>
                                          <p:spTgt spid="501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0183"/>
                                        </p:tgtEl>
                                        <p:attrNameLst>
                                          <p:attrName>style.visibility</p:attrName>
                                        </p:attrNameLst>
                                      </p:cBhvr>
                                      <p:to>
                                        <p:strVal val="visible"/>
                                      </p:to>
                                    </p:set>
                                    <p:animEffect transition="in" filter="dissolve">
                                      <p:cBhvr>
                                        <p:cTn id="12"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2" grpId="0"/>
      <p:bldP spid="5018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a:extLst>
              <a:ext uri="{FF2B5EF4-FFF2-40B4-BE49-F238E27FC236}">
                <a16:creationId xmlns:a16="http://schemas.microsoft.com/office/drawing/2014/main" xmlns="" id="{0991D310-624A-4612-B35C-9E2DA4E8AE48}"/>
              </a:ext>
            </a:extLst>
          </p:cNvPr>
          <p:cNvSpPr>
            <a:spLocks noChangeArrowheads="1"/>
          </p:cNvSpPr>
          <p:nvPr/>
        </p:nvSpPr>
        <p:spPr bwMode="auto">
          <a:xfrm>
            <a:off x="1428750" y="4567238"/>
            <a:ext cx="645795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a:t>The interquartile range is 3, the length of the box in the diagram.</a:t>
            </a:r>
          </a:p>
        </p:txBody>
      </p:sp>
      <p:pic>
        <p:nvPicPr>
          <p:cNvPr id="52228" name="Picture 4">
            <a:extLst>
              <a:ext uri="{FF2B5EF4-FFF2-40B4-BE49-F238E27FC236}">
                <a16:creationId xmlns:a16="http://schemas.microsoft.com/office/drawing/2014/main" xmlns="" id="{106BE190-2940-4CAE-BEB7-8E63F879C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057400"/>
            <a:ext cx="2886075" cy="165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229" name="Text Box 5">
            <a:extLst>
              <a:ext uri="{FF2B5EF4-FFF2-40B4-BE49-F238E27FC236}">
                <a16:creationId xmlns:a16="http://schemas.microsoft.com/office/drawing/2014/main" xmlns="" id="{590A7DDE-2D8C-4E27-B547-FA5B20F1C5A5}"/>
              </a:ext>
            </a:extLst>
          </p:cNvPr>
          <p:cNvSpPr txBox="1">
            <a:spLocks noChangeArrowheads="1"/>
          </p:cNvSpPr>
          <p:nvPr/>
        </p:nvSpPr>
        <p:spPr bwMode="auto">
          <a:xfrm>
            <a:off x="3314700" y="3886200"/>
            <a:ext cx="28575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en-US" altLang="en-US"/>
              <a:t>IRQ = 8.5 – 5.5 = 3 </a:t>
            </a:r>
          </a:p>
        </p:txBody>
      </p:sp>
      <p:sp>
        <p:nvSpPr>
          <p:cNvPr id="20485" name="Text Box 8">
            <a:extLst>
              <a:ext uri="{FF2B5EF4-FFF2-40B4-BE49-F238E27FC236}">
                <a16:creationId xmlns:a16="http://schemas.microsoft.com/office/drawing/2014/main" xmlns="" id="{A38F754B-BD57-4764-958F-7F1B765F9341}"/>
              </a:ext>
            </a:extLst>
          </p:cNvPr>
          <p:cNvSpPr txBox="1">
            <a:spLocks noChangeArrowheads="1"/>
          </p:cNvSpPr>
          <p:nvPr/>
        </p:nvSpPr>
        <p:spPr bwMode="auto">
          <a:xfrm>
            <a:off x="1143000" y="1219200"/>
            <a:ext cx="6858000" cy="457200"/>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a:solidFill>
                  <a:srgbClr val="006699"/>
                </a:solidFill>
                <a:latin typeface="Arial Black" panose="020B0A04020102020204" pitchFamily="34" charset="0"/>
              </a:rPr>
              <a:t>Example 3 Continued</a:t>
            </a:r>
          </a:p>
        </p:txBody>
      </p:sp>
    </p:spTree>
    <p:extLst>
      <p:ext uri="{BB962C8B-B14F-4D97-AF65-F5344CB8AC3E}">
        <p14:creationId xmlns:p14="http://schemas.microsoft.com/office/powerpoint/2010/main" val="28144530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2229"/>
                                        </p:tgtEl>
                                        <p:attrNameLst>
                                          <p:attrName>style.visibility</p:attrName>
                                        </p:attrNameLst>
                                      </p:cBhvr>
                                      <p:to>
                                        <p:strVal val="visible"/>
                                      </p:to>
                                    </p:set>
                                    <p:animEffect transition="in" filter="dissolve">
                                      <p:cBhvr>
                                        <p:cTn id="7" dur="500"/>
                                        <p:tgtEl>
                                          <p:spTgt spid="52229"/>
                                        </p:tgtEl>
                                      </p:cBhvr>
                                    </p:animEffect>
                                  </p:childTnLst>
                                </p:cTn>
                              </p:par>
                              <p:par>
                                <p:cTn id="8" presetID="9" presetClass="entr" presetSubtype="0" fill="hold" nodeType="withEffect">
                                  <p:stCondLst>
                                    <p:cond delay="0"/>
                                  </p:stCondLst>
                                  <p:childTnLst>
                                    <p:set>
                                      <p:cBhvr>
                                        <p:cTn id="9" dur="1" fill="hold">
                                          <p:stCondLst>
                                            <p:cond delay="0"/>
                                          </p:stCondLst>
                                        </p:cTn>
                                        <p:tgtEl>
                                          <p:spTgt spid="52228"/>
                                        </p:tgtEl>
                                        <p:attrNameLst>
                                          <p:attrName>style.visibility</p:attrName>
                                        </p:attrNameLst>
                                      </p:cBhvr>
                                      <p:to>
                                        <p:strVal val="visible"/>
                                      </p:to>
                                    </p:set>
                                    <p:animEffect transition="in" filter="dissolve">
                                      <p:cBhvr>
                                        <p:cTn id="10" dur="500"/>
                                        <p:tgtEl>
                                          <p:spTgt spid="5222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2227"/>
                                        </p:tgtEl>
                                        <p:attrNameLst>
                                          <p:attrName>style.visibility</p:attrName>
                                        </p:attrNameLst>
                                      </p:cBhvr>
                                      <p:to>
                                        <p:strVal val="visible"/>
                                      </p:to>
                                    </p:set>
                                    <p:animEffect transition="in" filter="dissolve">
                                      <p:cBhvr>
                                        <p:cTn id="15" dur="5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P spid="5222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xmlns="" id="{E3755CDF-5266-49F0-9220-16F3AF9BE556}"/>
              </a:ext>
            </a:extLst>
          </p:cNvPr>
          <p:cNvSpPr txBox="1">
            <a:spLocks noChangeArrowheads="1"/>
          </p:cNvSpPr>
          <p:nvPr/>
        </p:nvSpPr>
        <p:spPr bwMode="auto">
          <a:xfrm>
            <a:off x="1028700" y="530087"/>
            <a:ext cx="6858000" cy="457200"/>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dirty="0">
                <a:solidFill>
                  <a:srgbClr val="006699"/>
                </a:solidFill>
                <a:latin typeface="Arial Black" panose="020B0A04020102020204" pitchFamily="34" charset="0"/>
              </a:rPr>
              <a:t> Example 3 </a:t>
            </a:r>
            <a:endParaRPr lang="en-US" altLang="en-US" sz="2600" dirty="0">
              <a:solidFill>
                <a:schemeClr val="accent2"/>
              </a:solidFill>
              <a:latin typeface="Arial MT Bl" charset="0"/>
            </a:endParaRPr>
          </a:p>
        </p:txBody>
      </p:sp>
      <p:sp>
        <p:nvSpPr>
          <p:cNvPr id="21507" name="Rectangle 3">
            <a:extLst>
              <a:ext uri="{FF2B5EF4-FFF2-40B4-BE49-F238E27FC236}">
                <a16:creationId xmlns:a16="http://schemas.microsoft.com/office/drawing/2014/main" xmlns="" id="{BB2E3328-60BF-4391-8E63-FFFB3FE4E987}"/>
              </a:ext>
            </a:extLst>
          </p:cNvPr>
          <p:cNvSpPr>
            <a:spLocks noChangeArrowheads="1"/>
          </p:cNvSpPr>
          <p:nvPr/>
        </p:nvSpPr>
        <p:spPr bwMode="auto">
          <a:xfrm>
            <a:off x="0" y="982438"/>
            <a:ext cx="918051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Make a box-and-whisker plot of the data. Find the interquartile range. {13, 14, 18, 13, 12, 17, 15, 12, 13, 19, 11, 14, 14, 18, 22, 23}</a:t>
            </a:r>
          </a:p>
        </p:txBody>
      </p:sp>
      <p:sp>
        <p:nvSpPr>
          <p:cNvPr id="40964" name="Rectangle 4">
            <a:extLst>
              <a:ext uri="{FF2B5EF4-FFF2-40B4-BE49-F238E27FC236}">
                <a16:creationId xmlns:a16="http://schemas.microsoft.com/office/drawing/2014/main" xmlns="" id="{FA3242E7-9A92-491F-983C-603830BBB0A5}"/>
              </a:ext>
            </a:extLst>
          </p:cNvPr>
          <p:cNvSpPr>
            <a:spLocks noChangeArrowheads="1"/>
          </p:cNvSpPr>
          <p:nvPr/>
        </p:nvSpPr>
        <p:spPr bwMode="auto">
          <a:xfrm>
            <a:off x="107504" y="2533545"/>
            <a:ext cx="892899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Step 1</a:t>
            </a:r>
            <a:r>
              <a:rPr lang="en-US" altLang="en-US" dirty="0"/>
              <a:t> Order the data from least to greatest.</a:t>
            </a:r>
          </a:p>
          <a:p>
            <a:pPr eaLnBrk="1" hangingPunct="1"/>
            <a:r>
              <a:rPr lang="en-US" altLang="en-US" dirty="0"/>
              <a:t>11, 12, 12, 13, 13, 13, 14, 14, 14, 15, 17, 18, 18, 19, 22, 23</a:t>
            </a:r>
          </a:p>
        </p:txBody>
      </p:sp>
      <p:sp>
        <p:nvSpPr>
          <p:cNvPr id="40967" name="Rectangle 7">
            <a:extLst>
              <a:ext uri="{FF2B5EF4-FFF2-40B4-BE49-F238E27FC236}">
                <a16:creationId xmlns:a16="http://schemas.microsoft.com/office/drawing/2014/main" xmlns="" id="{CBD6C4EE-7354-4F09-B947-E5E574CD6461}"/>
              </a:ext>
            </a:extLst>
          </p:cNvPr>
          <p:cNvSpPr>
            <a:spLocks noChangeArrowheads="1"/>
          </p:cNvSpPr>
          <p:nvPr/>
        </p:nvSpPr>
        <p:spPr bwMode="auto">
          <a:xfrm>
            <a:off x="130626" y="3733874"/>
            <a:ext cx="890586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Step 2 </a:t>
            </a:r>
            <a:r>
              <a:rPr lang="en-US" altLang="en-US" dirty="0"/>
              <a:t>Find the minimum, maximum, median, and quartiles.</a:t>
            </a:r>
          </a:p>
        </p:txBody>
      </p:sp>
      <p:sp>
        <p:nvSpPr>
          <p:cNvPr id="40968" name="Rectangle 8">
            <a:extLst>
              <a:ext uri="{FF2B5EF4-FFF2-40B4-BE49-F238E27FC236}">
                <a16:creationId xmlns:a16="http://schemas.microsoft.com/office/drawing/2014/main" xmlns="" id="{FE9E91D0-9DAA-4C87-8BA1-2A5F4833FEDB}"/>
              </a:ext>
            </a:extLst>
          </p:cNvPr>
          <p:cNvSpPr>
            <a:spLocks noChangeArrowheads="1"/>
          </p:cNvSpPr>
          <p:nvPr/>
        </p:nvSpPr>
        <p:spPr bwMode="auto">
          <a:xfrm>
            <a:off x="323528" y="4626114"/>
            <a:ext cx="871296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endParaRPr lang="en-US" altLang="en-US" sz="2000" dirty="0" smtClean="0">
              <a:solidFill>
                <a:srgbClr val="009900"/>
              </a:solidFill>
            </a:endParaRPr>
          </a:p>
          <a:p>
            <a:pPr eaLnBrk="1" hangingPunct="1"/>
            <a:r>
              <a:rPr lang="en-US" altLang="en-US" sz="2000" dirty="0" smtClean="0">
                <a:solidFill>
                  <a:srgbClr val="009900"/>
                </a:solidFill>
              </a:rPr>
              <a:t>11</a:t>
            </a:r>
            <a:r>
              <a:rPr lang="en-US" altLang="en-US" sz="2000" dirty="0"/>
              <a:t>, 12, 12, </a:t>
            </a:r>
            <a:r>
              <a:rPr lang="en-US" altLang="en-US" sz="2000" dirty="0">
                <a:solidFill>
                  <a:srgbClr val="FF0000"/>
                </a:solidFill>
              </a:rPr>
              <a:t>13</a:t>
            </a:r>
            <a:r>
              <a:rPr lang="en-US" altLang="en-US" sz="2000" dirty="0"/>
              <a:t>, </a:t>
            </a:r>
            <a:r>
              <a:rPr lang="en-US" altLang="en-US" sz="2000" dirty="0">
                <a:solidFill>
                  <a:srgbClr val="FF0000"/>
                </a:solidFill>
              </a:rPr>
              <a:t>13</a:t>
            </a:r>
            <a:r>
              <a:rPr lang="en-US" altLang="en-US" sz="2000" dirty="0"/>
              <a:t>, 13, 14, </a:t>
            </a:r>
            <a:r>
              <a:rPr lang="en-US" altLang="en-US" sz="2000" dirty="0">
                <a:solidFill>
                  <a:srgbClr val="3366FF"/>
                </a:solidFill>
              </a:rPr>
              <a:t>14</a:t>
            </a:r>
            <a:r>
              <a:rPr lang="en-US" altLang="en-US" sz="2000" dirty="0"/>
              <a:t>, </a:t>
            </a:r>
            <a:r>
              <a:rPr lang="en-US" altLang="en-US" sz="2000" dirty="0">
                <a:solidFill>
                  <a:srgbClr val="3366FF"/>
                </a:solidFill>
              </a:rPr>
              <a:t>14</a:t>
            </a:r>
            <a:r>
              <a:rPr lang="en-US" altLang="en-US" sz="2000" dirty="0"/>
              <a:t>, 15, 17, </a:t>
            </a:r>
            <a:r>
              <a:rPr lang="en-US" altLang="en-US" sz="2000" dirty="0">
                <a:solidFill>
                  <a:srgbClr val="FF0000"/>
                </a:solidFill>
              </a:rPr>
              <a:t>18</a:t>
            </a:r>
            <a:r>
              <a:rPr lang="en-US" altLang="en-US" sz="2000" dirty="0"/>
              <a:t>, </a:t>
            </a:r>
            <a:r>
              <a:rPr lang="en-US" altLang="en-US" sz="2000" dirty="0">
                <a:solidFill>
                  <a:srgbClr val="FF0000"/>
                </a:solidFill>
              </a:rPr>
              <a:t>18</a:t>
            </a:r>
            <a:r>
              <a:rPr lang="en-US" altLang="en-US" sz="2000" dirty="0"/>
              <a:t>, 19, 22, </a:t>
            </a:r>
            <a:r>
              <a:rPr lang="en-US" altLang="en-US" sz="2000" dirty="0">
                <a:solidFill>
                  <a:srgbClr val="009900"/>
                </a:solidFill>
              </a:rPr>
              <a:t>23</a:t>
            </a:r>
          </a:p>
        </p:txBody>
      </p:sp>
      <p:sp>
        <p:nvSpPr>
          <p:cNvPr id="40970" name="AutoShape 10">
            <a:extLst>
              <a:ext uri="{FF2B5EF4-FFF2-40B4-BE49-F238E27FC236}">
                <a16:creationId xmlns:a16="http://schemas.microsoft.com/office/drawing/2014/main" xmlns="" id="{9782983D-2277-4135-9066-003EB6CDCE75}"/>
              </a:ext>
            </a:extLst>
          </p:cNvPr>
          <p:cNvSpPr>
            <a:spLocks noChangeArrowheads="1"/>
          </p:cNvSpPr>
          <p:nvPr/>
        </p:nvSpPr>
        <p:spPr bwMode="auto">
          <a:xfrm>
            <a:off x="1371600" y="4999935"/>
            <a:ext cx="3028950" cy="304800"/>
          </a:xfrm>
          <a:prstGeom prst="flowChartAlternateProcess">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endParaRPr lang="en-US" altLang="en-US"/>
          </a:p>
        </p:txBody>
      </p:sp>
      <p:sp>
        <p:nvSpPr>
          <p:cNvPr id="40971" name="AutoShape 11">
            <a:extLst>
              <a:ext uri="{FF2B5EF4-FFF2-40B4-BE49-F238E27FC236}">
                <a16:creationId xmlns:a16="http://schemas.microsoft.com/office/drawing/2014/main" xmlns="" id="{ADEE4ED0-0638-4ED4-88E8-29F80286BEEB}"/>
              </a:ext>
            </a:extLst>
          </p:cNvPr>
          <p:cNvSpPr>
            <a:spLocks noChangeArrowheads="1"/>
          </p:cNvSpPr>
          <p:nvPr/>
        </p:nvSpPr>
        <p:spPr bwMode="auto">
          <a:xfrm>
            <a:off x="4457700" y="5029200"/>
            <a:ext cx="2914650" cy="304800"/>
          </a:xfrm>
          <a:prstGeom prst="flowChartAlternateProcess">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endParaRPr lang="en-US" altLang="en-US"/>
          </a:p>
        </p:txBody>
      </p:sp>
      <p:sp>
        <p:nvSpPr>
          <p:cNvPr id="40972" name="Text Box 12">
            <a:extLst>
              <a:ext uri="{FF2B5EF4-FFF2-40B4-BE49-F238E27FC236}">
                <a16:creationId xmlns:a16="http://schemas.microsoft.com/office/drawing/2014/main" xmlns="" id="{1DB2CE93-15A6-4F72-A1F3-41933C02FE30}"/>
              </a:ext>
            </a:extLst>
          </p:cNvPr>
          <p:cNvSpPr txBox="1">
            <a:spLocks noChangeArrowheads="1"/>
          </p:cNvSpPr>
          <p:nvPr/>
        </p:nvSpPr>
        <p:spPr bwMode="auto">
          <a:xfrm>
            <a:off x="1257300" y="5410202"/>
            <a:ext cx="21625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en-US" altLang="en-US" dirty="0" err="1">
                <a:solidFill>
                  <a:srgbClr val="009900"/>
                </a:solidFill>
              </a:rPr>
              <a:t>Mimimum</a:t>
            </a:r>
            <a:endParaRPr lang="en-US" altLang="en-US" dirty="0">
              <a:solidFill>
                <a:srgbClr val="009900"/>
              </a:solidFill>
            </a:endParaRPr>
          </a:p>
        </p:txBody>
      </p:sp>
      <p:sp>
        <p:nvSpPr>
          <p:cNvPr id="40973" name="Text Box 13">
            <a:extLst>
              <a:ext uri="{FF2B5EF4-FFF2-40B4-BE49-F238E27FC236}">
                <a16:creationId xmlns:a16="http://schemas.microsoft.com/office/drawing/2014/main" xmlns="" id="{11625728-8255-4A42-B2F8-2F7F140A5267}"/>
              </a:ext>
            </a:extLst>
          </p:cNvPr>
          <p:cNvSpPr txBox="1">
            <a:spLocks noChangeArrowheads="1"/>
          </p:cNvSpPr>
          <p:nvPr/>
        </p:nvSpPr>
        <p:spPr bwMode="auto">
          <a:xfrm>
            <a:off x="4000500" y="5410200"/>
            <a:ext cx="165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en-US" altLang="en-US">
                <a:solidFill>
                  <a:srgbClr val="3366FF"/>
                </a:solidFill>
              </a:rPr>
              <a:t>Median</a:t>
            </a:r>
          </a:p>
        </p:txBody>
      </p:sp>
      <p:sp>
        <p:nvSpPr>
          <p:cNvPr id="40974" name="Text Box 14">
            <a:extLst>
              <a:ext uri="{FF2B5EF4-FFF2-40B4-BE49-F238E27FC236}">
                <a16:creationId xmlns:a16="http://schemas.microsoft.com/office/drawing/2014/main" xmlns="" id="{FDCCB643-74F8-4C21-B8FB-A79B304D63AC}"/>
              </a:ext>
            </a:extLst>
          </p:cNvPr>
          <p:cNvSpPr txBox="1">
            <a:spLocks noChangeArrowheads="1"/>
          </p:cNvSpPr>
          <p:nvPr/>
        </p:nvSpPr>
        <p:spPr bwMode="auto">
          <a:xfrm>
            <a:off x="6229350" y="5410200"/>
            <a:ext cx="16573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en-US" altLang="en-US">
                <a:solidFill>
                  <a:srgbClr val="009900"/>
                </a:solidFill>
              </a:rPr>
              <a:t>Maximum</a:t>
            </a:r>
          </a:p>
        </p:txBody>
      </p:sp>
      <p:sp>
        <p:nvSpPr>
          <p:cNvPr id="40975" name="Text Box 15">
            <a:extLst>
              <a:ext uri="{FF2B5EF4-FFF2-40B4-BE49-F238E27FC236}">
                <a16:creationId xmlns:a16="http://schemas.microsoft.com/office/drawing/2014/main" xmlns="" id="{0B974163-9B76-4D2F-A339-82BF532710CD}"/>
              </a:ext>
            </a:extLst>
          </p:cNvPr>
          <p:cNvSpPr txBox="1">
            <a:spLocks noChangeArrowheads="1"/>
          </p:cNvSpPr>
          <p:nvPr/>
        </p:nvSpPr>
        <p:spPr bwMode="auto">
          <a:xfrm>
            <a:off x="2114550" y="5791202"/>
            <a:ext cx="16573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eaLnBrk="1" hangingPunct="1"/>
            <a:r>
              <a:rPr lang="en-US" altLang="en-US" dirty="0">
                <a:solidFill>
                  <a:srgbClr val="FF0000"/>
                </a:solidFill>
              </a:rPr>
              <a:t>First quartile 13</a:t>
            </a:r>
          </a:p>
        </p:txBody>
      </p:sp>
      <p:sp>
        <p:nvSpPr>
          <p:cNvPr id="40976" name="Text Box 16">
            <a:extLst>
              <a:ext uri="{FF2B5EF4-FFF2-40B4-BE49-F238E27FC236}">
                <a16:creationId xmlns:a16="http://schemas.microsoft.com/office/drawing/2014/main" xmlns="" id="{1DEF6641-3E90-46E3-81F6-772F22F46371}"/>
              </a:ext>
            </a:extLst>
          </p:cNvPr>
          <p:cNvSpPr txBox="1">
            <a:spLocks noChangeArrowheads="1"/>
          </p:cNvSpPr>
          <p:nvPr/>
        </p:nvSpPr>
        <p:spPr bwMode="auto">
          <a:xfrm>
            <a:off x="5029200" y="5791202"/>
            <a:ext cx="1828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eaLnBrk="1" hangingPunct="1"/>
            <a:r>
              <a:rPr lang="en-US" altLang="en-US">
                <a:solidFill>
                  <a:srgbClr val="FF0000"/>
                </a:solidFill>
              </a:rPr>
              <a:t>Third quartile</a:t>
            </a:r>
          </a:p>
          <a:p>
            <a:pPr algn="ctr" eaLnBrk="1" hangingPunct="1"/>
            <a:r>
              <a:rPr lang="en-US" altLang="en-US">
                <a:solidFill>
                  <a:srgbClr val="FF0000"/>
                </a:solidFill>
              </a:rPr>
              <a:t>18</a:t>
            </a:r>
          </a:p>
        </p:txBody>
      </p:sp>
      <p:sp>
        <p:nvSpPr>
          <p:cNvPr id="40977" name="Line 17">
            <a:extLst>
              <a:ext uri="{FF2B5EF4-FFF2-40B4-BE49-F238E27FC236}">
                <a16:creationId xmlns:a16="http://schemas.microsoft.com/office/drawing/2014/main" xmlns="" id="{4D6DDC2A-532B-433F-B514-32ECC985B5AA}"/>
              </a:ext>
            </a:extLst>
          </p:cNvPr>
          <p:cNvSpPr>
            <a:spLocks noChangeShapeType="1"/>
          </p:cNvSpPr>
          <p:nvPr/>
        </p:nvSpPr>
        <p:spPr bwMode="auto">
          <a:xfrm>
            <a:off x="2857500" y="5181600"/>
            <a:ext cx="0" cy="76200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0978" name="Line 18">
            <a:extLst>
              <a:ext uri="{FF2B5EF4-FFF2-40B4-BE49-F238E27FC236}">
                <a16:creationId xmlns:a16="http://schemas.microsoft.com/office/drawing/2014/main" xmlns="" id="{F6875D70-19C2-4CF1-91C4-75273E96C8E6}"/>
              </a:ext>
            </a:extLst>
          </p:cNvPr>
          <p:cNvSpPr>
            <a:spLocks noChangeShapeType="1"/>
          </p:cNvSpPr>
          <p:nvPr/>
        </p:nvSpPr>
        <p:spPr bwMode="auto">
          <a:xfrm>
            <a:off x="5886450" y="5181600"/>
            <a:ext cx="0" cy="76200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3029340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dissolve">
                                      <p:cBhvr>
                                        <p:cTn id="7" dur="500"/>
                                        <p:tgtEl>
                                          <p:spTgt spid="409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967"/>
                                        </p:tgtEl>
                                        <p:attrNameLst>
                                          <p:attrName>style.visibility</p:attrName>
                                        </p:attrNameLst>
                                      </p:cBhvr>
                                      <p:to>
                                        <p:strVal val="visible"/>
                                      </p:to>
                                    </p:set>
                                    <p:animEffect transition="in" filter="dissolve">
                                      <p:cBhvr>
                                        <p:cTn id="12" dur="500"/>
                                        <p:tgtEl>
                                          <p:spTgt spid="409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0968"/>
                                        </p:tgtEl>
                                        <p:attrNameLst>
                                          <p:attrName>style.visibility</p:attrName>
                                        </p:attrNameLst>
                                      </p:cBhvr>
                                      <p:to>
                                        <p:strVal val="visible"/>
                                      </p:to>
                                    </p:set>
                                    <p:animEffect transition="in" filter="dissolve">
                                      <p:cBhvr>
                                        <p:cTn id="17" dur="500"/>
                                        <p:tgtEl>
                                          <p:spTgt spid="409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0970"/>
                                        </p:tgtEl>
                                        <p:attrNameLst>
                                          <p:attrName>style.visibility</p:attrName>
                                        </p:attrNameLst>
                                      </p:cBhvr>
                                      <p:to>
                                        <p:strVal val="visible"/>
                                      </p:to>
                                    </p:set>
                                    <p:animEffect transition="in" filter="dissolve">
                                      <p:cBhvr>
                                        <p:cTn id="22" dur="500"/>
                                        <p:tgtEl>
                                          <p:spTgt spid="40970"/>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0971"/>
                                        </p:tgtEl>
                                        <p:attrNameLst>
                                          <p:attrName>style.visibility</p:attrName>
                                        </p:attrNameLst>
                                      </p:cBhvr>
                                      <p:to>
                                        <p:strVal val="visible"/>
                                      </p:to>
                                    </p:set>
                                    <p:animEffect transition="in" filter="dissolve">
                                      <p:cBhvr>
                                        <p:cTn id="25" dur="500"/>
                                        <p:tgtEl>
                                          <p:spTgt spid="40971"/>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40972"/>
                                        </p:tgtEl>
                                        <p:attrNameLst>
                                          <p:attrName>style.visibility</p:attrName>
                                        </p:attrNameLst>
                                      </p:cBhvr>
                                      <p:to>
                                        <p:strVal val="visible"/>
                                      </p:to>
                                    </p:set>
                                    <p:animEffect transition="in" filter="dissolve">
                                      <p:cBhvr>
                                        <p:cTn id="28" dur="500"/>
                                        <p:tgtEl>
                                          <p:spTgt spid="40972"/>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0973"/>
                                        </p:tgtEl>
                                        <p:attrNameLst>
                                          <p:attrName>style.visibility</p:attrName>
                                        </p:attrNameLst>
                                      </p:cBhvr>
                                      <p:to>
                                        <p:strVal val="visible"/>
                                      </p:to>
                                    </p:set>
                                    <p:animEffect transition="in" filter="dissolve">
                                      <p:cBhvr>
                                        <p:cTn id="31" dur="500"/>
                                        <p:tgtEl>
                                          <p:spTgt spid="40973"/>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40974"/>
                                        </p:tgtEl>
                                        <p:attrNameLst>
                                          <p:attrName>style.visibility</p:attrName>
                                        </p:attrNameLst>
                                      </p:cBhvr>
                                      <p:to>
                                        <p:strVal val="visible"/>
                                      </p:to>
                                    </p:set>
                                    <p:animEffect transition="in" filter="dissolve">
                                      <p:cBhvr>
                                        <p:cTn id="34" dur="500"/>
                                        <p:tgtEl>
                                          <p:spTgt spid="4097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40977"/>
                                        </p:tgtEl>
                                        <p:attrNameLst>
                                          <p:attrName>style.visibility</p:attrName>
                                        </p:attrNameLst>
                                      </p:cBhvr>
                                      <p:to>
                                        <p:strVal val="visible"/>
                                      </p:to>
                                    </p:set>
                                    <p:animEffect transition="in" filter="wipe(up)">
                                      <p:cBhvr>
                                        <p:cTn id="39" dur="500"/>
                                        <p:tgtEl>
                                          <p:spTgt spid="40977"/>
                                        </p:tgtEl>
                                      </p:cBhvr>
                                    </p:animEffect>
                                  </p:childTnLst>
                                </p:cTn>
                              </p:par>
                              <p:par>
                                <p:cTn id="40" presetID="22" presetClass="entr" presetSubtype="1" fill="hold" nodeType="withEffect">
                                  <p:stCondLst>
                                    <p:cond delay="0"/>
                                  </p:stCondLst>
                                  <p:childTnLst>
                                    <p:set>
                                      <p:cBhvr>
                                        <p:cTn id="41" dur="1" fill="hold">
                                          <p:stCondLst>
                                            <p:cond delay="0"/>
                                          </p:stCondLst>
                                        </p:cTn>
                                        <p:tgtEl>
                                          <p:spTgt spid="40978"/>
                                        </p:tgtEl>
                                        <p:attrNameLst>
                                          <p:attrName>style.visibility</p:attrName>
                                        </p:attrNameLst>
                                      </p:cBhvr>
                                      <p:to>
                                        <p:strVal val="visible"/>
                                      </p:to>
                                    </p:set>
                                    <p:animEffect transition="in" filter="wipe(up)">
                                      <p:cBhvr>
                                        <p:cTn id="42" dur="500"/>
                                        <p:tgtEl>
                                          <p:spTgt spid="40978"/>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40975"/>
                                        </p:tgtEl>
                                        <p:attrNameLst>
                                          <p:attrName>style.visibility</p:attrName>
                                        </p:attrNameLst>
                                      </p:cBhvr>
                                      <p:to>
                                        <p:strVal val="visible"/>
                                      </p:to>
                                    </p:set>
                                    <p:animEffect transition="in" filter="wipe(up)">
                                      <p:cBhvr>
                                        <p:cTn id="45" dur="500"/>
                                        <p:tgtEl>
                                          <p:spTgt spid="40975"/>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40976"/>
                                        </p:tgtEl>
                                        <p:attrNameLst>
                                          <p:attrName>style.visibility</p:attrName>
                                        </p:attrNameLst>
                                      </p:cBhvr>
                                      <p:to>
                                        <p:strVal val="visible"/>
                                      </p:to>
                                    </p:set>
                                    <p:animEffect transition="in" filter="wipe(up)">
                                      <p:cBhvr>
                                        <p:cTn id="48" dur="500"/>
                                        <p:tgtEl>
                                          <p:spTgt spid="409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P spid="40967" grpId="0"/>
      <p:bldP spid="40968" grpId="0"/>
      <p:bldP spid="40970" grpId="0" animBg="1"/>
      <p:bldP spid="40971" grpId="0" animBg="1"/>
      <p:bldP spid="40972" grpId="0"/>
      <p:bldP spid="40973" grpId="0"/>
      <p:bldP spid="40974" grpId="0"/>
      <p:bldP spid="40975" grpId="0"/>
      <p:bldP spid="4097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extLst>
              <a:ext uri="{FF2B5EF4-FFF2-40B4-BE49-F238E27FC236}">
                <a16:creationId xmlns:a16="http://schemas.microsoft.com/office/drawing/2014/main" xmlns="" id="{303E51CD-E931-4FDC-A21E-B827002F6A29}"/>
              </a:ext>
            </a:extLst>
          </p:cNvPr>
          <p:cNvSpPr txBox="1">
            <a:spLocks noChangeArrowheads="1"/>
          </p:cNvSpPr>
          <p:nvPr/>
        </p:nvSpPr>
        <p:spPr bwMode="auto">
          <a:xfrm>
            <a:off x="1143000" y="1143000"/>
            <a:ext cx="6858000" cy="457200"/>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dirty="0">
                <a:solidFill>
                  <a:srgbClr val="006699"/>
                </a:solidFill>
                <a:latin typeface="Arial Black" panose="020B0A04020102020204" pitchFamily="34" charset="0"/>
              </a:rPr>
              <a:t>Example 3 Continued </a:t>
            </a:r>
            <a:endParaRPr lang="en-US" altLang="en-US" sz="2600" dirty="0">
              <a:solidFill>
                <a:schemeClr val="accent2"/>
              </a:solidFill>
              <a:latin typeface="Arial MT Bl" charset="0"/>
            </a:endParaRPr>
          </a:p>
        </p:txBody>
      </p:sp>
      <p:sp>
        <p:nvSpPr>
          <p:cNvPr id="54283" name="Rectangle 11">
            <a:extLst>
              <a:ext uri="{FF2B5EF4-FFF2-40B4-BE49-F238E27FC236}">
                <a16:creationId xmlns:a16="http://schemas.microsoft.com/office/drawing/2014/main" xmlns="" id="{E53CE1F0-2EB8-415C-AAC5-5AF4FC921FD5}"/>
              </a:ext>
            </a:extLst>
          </p:cNvPr>
          <p:cNvSpPr>
            <a:spLocks noChangeArrowheads="1"/>
          </p:cNvSpPr>
          <p:nvPr/>
        </p:nvSpPr>
        <p:spPr bwMode="auto">
          <a:xfrm>
            <a:off x="1428750" y="1674168"/>
            <a:ext cx="59883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Step 3</a:t>
            </a:r>
            <a:r>
              <a:rPr lang="en-US" altLang="en-US"/>
              <a:t> Draw a box-and-whisker plot.</a:t>
            </a:r>
          </a:p>
        </p:txBody>
      </p:sp>
      <p:pic>
        <p:nvPicPr>
          <p:cNvPr id="54285" name="Picture 13">
            <a:extLst>
              <a:ext uri="{FF2B5EF4-FFF2-40B4-BE49-F238E27FC236}">
                <a16:creationId xmlns:a16="http://schemas.microsoft.com/office/drawing/2014/main" xmlns="" id="{AB698EBA-4939-47E1-BD09-5D8D21B3E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950" y="2514600"/>
            <a:ext cx="4700588" cy="187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286" name="Rectangle 14">
            <a:extLst>
              <a:ext uri="{FF2B5EF4-FFF2-40B4-BE49-F238E27FC236}">
                <a16:creationId xmlns:a16="http://schemas.microsoft.com/office/drawing/2014/main" xmlns="" id="{D22A12AE-E2BE-45AE-BDE2-A464EDAF803D}"/>
              </a:ext>
            </a:extLst>
          </p:cNvPr>
          <p:cNvSpPr>
            <a:spLocks noChangeArrowheads="1"/>
          </p:cNvSpPr>
          <p:nvPr/>
        </p:nvSpPr>
        <p:spPr bwMode="auto">
          <a:xfrm>
            <a:off x="2571750" y="4495800"/>
            <a:ext cx="31021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a:t>IQR = 18 – 13 = 5</a:t>
            </a:r>
          </a:p>
        </p:txBody>
      </p:sp>
      <p:sp>
        <p:nvSpPr>
          <p:cNvPr id="54287" name="Rectangle 15">
            <a:extLst>
              <a:ext uri="{FF2B5EF4-FFF2-40B4-BE49-F238E27FC236}">
                <a16:creationId xmlns:a16="http://schemas.microsoft.com/office/drawing/2014/main" xmlns="" id="{16222153-0D8C-4D00-8284-E9A019A0D3D1}"/>
              </a:ext>
            </a:extLst>
          </p:cNvPr>
          <p:cNvSpPr>
            <a:spLocks noChangeArrowheads="1"/>
          </p:cNvSpPr>
          <p:nvPr/>
        </p:nvSpPr>
        <p:spPr bwMode="auto">
          <a:xfrm>
            <a:off x="1428750" y="5226050"/>
            <a:ext cx="634365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a:t>The interquartile range is 5, the length of the box in the diagram.</a:t>
            </a:r>
          </a:p>
        </p:txBody>
      </p:sp>
    </p:spTree>
    <p:extLst>
      <p:ext uri="{BB962C8B-B14F-4D97-AF65-F5344CB8AC3E}">
        <p14:creationId xmlns:p14="http://schemas.microsoft.com/office/powerpoint/2010/main" val="14557317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4283"/>
                                        </p:tgtEl>
                                        <p:attrNameLst>
                                          <p:attrName>style.visibility</p:attrName>
                                        </p:attrNameLst>
                                      </p:cBhvr>
                                      <p:to>
                                        <p:strVal val="visible"/>
                                      </p:to>
                                    </p:set>
                                    <p:animEffect transition="in" filter="dissolve">
                                      <p:cBhvr>
                                        <p:cTn id="7" dur="500"/>
                                        <p:tgtEl>
                                          <p:spTgt spid="542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4286"/>
                                        </p:tgtEl>
                                        <p:attrNameLst>
                                          <p:attrName>style.visibility</p:attrName>
                                        </p:attrNameLst>
                                      </p:cBhvr>
                                      <p:to>
                                        <p:strVal val="visible"/>
                                      </p:to>
                                    </p:set>
                                    <p:animEffect transition="in" filter="dissolve">
                                      <p:cBhvr>
                                        <p:cTn id="12" dur="500"/>
                                        <p:tgtEl>
                                          <p:spTgt spid="54286"/>
                                        </p:tgtEl>
                                      </p:cBhvr>
                                    </p:animEffect>
                                  </p:childTnLst>
                                </p:cTn>
                              </p:par>
                              <p:par>
                                <p:cTn id="13" presetID="9" presetClass="entr" presetSubtype="0" fill="hold" nodeType="withEffect">
                                  <p:stCondLst>
                                    <p:cond delay="0"/>
                                  </p:stCondLst>
                                  <p:childTnLst>
                                    <p:set>
                                      <p:cBhvr>
                                        <p:cTn id="14" dur="1" fill="hold">
                                          <p:stCondLst>
                                            <p:cond delay="0"/>
                                          </p:stCondLst>
                                        </p:cTn>
                                        <p:tgtEl>
                                          <p:spTgt spid="54285"/>
                                        </p:tgtEl>
                                        <p:attrNameLst>
                                          <p:attrName>style.visibility</p:attrName>
                                        </p:attrNameLst>
                                      </p:cBhvr>
                                      <p:to>
                                        <p:strVal val="visible"/>
                                      </p:to>
                                    </p:set>
                                    <p:animEffect transition="in" filter="dissolve">
                                      <p:cBhvr>
                                        <p:cTn id="15" dur="500"/>
                                        <p:tgtEl>
                                          <p:spTgt spid="5428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4287"/>
                                        </p:tgtEl>
                                        <p:attrNameLst>
                                          <p:attrName>style.visibility</p:attrName>
                                        </p:attrNameLst>
                                      </p:cBhvr>
                                      <p:to>
                                        <p:strVal val="visible"/>
                                      </p:to>
                                    </p:set>
                                    <p:animEffect transition="in" filter="dissolve">
                                      <p:cBhvr>
                                        <p:cTn id="20" dur="500"/>
                                        <p:tgtEl>
                                          <p:spTgt spid="54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3" grpId="0"/>
      <p:bldP spid="54286" grpId="0"/>
      <p:bldP spid="5428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xmlns="" id="{44E781A0-31AA-4A1A-898B-59D961E81F35}"/>
              </a:ext>
            </a:extLst>
          </p:cNvPr>
          <p:cNvSpPr>
            <a:spLocks noChangeArrowheads="1"/>
          </p:cNvSpPr>
          <p:nvPr/>
        </p:nvSpPr>
        <p:spPr bwMode="auto">
          <a:xfrm>
            <a:off x="1314450" y="2438400"/>
            <a:ext cx="65722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The data sets </a:t>
            </a:r>
            <a:r>
              <a:rPr lang="en-US" altLang="en-US" b="1" dirty="0">
                <a:solidFill>
                  <a:srgbClr val="FF0000"/>
                </a:solidFill>
              </a:rPr>
              <a:t>{19, 20, 21}</a:t>
            </a:r>
            <a:r>
              <a:rPr lang="en-US" altLang="en-US" b="1" dirty="0"/>
              <a:t> </a:t>
            </a:r>
            <a:r>
              <a:rPr lang="en-US" altLang="en-US" dirty="0"/>
              <a:t>and </a:t>
            </a:r>
            <a:r>
              <a:rPr lang="en-US" altLang="en-US" b="1" dirty="0">
                <a:solidFill>
                  <a:schemeClr val="accent2"/>
                </a:solidFill>
              </a:rPr>
              <a:t>{0, 20, 40}</a:t>
            </a:r>
            <a:r>
              <a:rPr lang="en-US" altLang="en-US" b="1" dirty="0"/>
              <a:t> </a:t>
            </a:r>
            <a:r>
              <a:rPr lang="en-US" altLang="en-US" dirty="0"/>
              <a:t>have the same mean and median, but the sets are very different. The way that data are spread out from the mean or median is important in the study of statistics.</a:t>
            </a:r>
          </a:p>
        </p:txBody>
      </p:sp>
    </p:spTree>
    <p:extLst>
      <p:ext uri="{BB962C8B-B14F-4D97-AF65-F5344CB8AC3E}">
        <p14:creationId xmlns:p14="http://schemas.microsoft.com/office/powerpoint/2010/main" val="23967329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dissolve">
                                      <p:cBhvr>
                                        <p:cTn id="7" dur="500"/>
                                        <p:tgtEl>
                                          <p:spTgt spid="49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a:extLst>
              <a:ext uri="{FF2B5EF4-FFF2-40B4-BE49-F238E27FC236}">
                <a16:creationId xmlns:a16="http://schemas.microsoft.com/office/drawing/2014/main" xmlns="" id="{3D03DB75-D045-40F7-9087-A52E41D86936}"/>
              </a:ext>
            </a:extLst>
          </p:cNvPr>
          <p:cNvSpPr>
            <a:spLocks noChangeArrowheads="1"/>
          </p:cNvSpPr>
          <p:nvPr/>
        </p:nvSpPr>
        <p:spPr bwMode="auto">
          <a:xfrm>
            <a:off x="1257300" y="2714626"/>
            <a:ext cx="657225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A </a:t>
            </a:r>
            <a:r>
              <a:rPr lang="en-US" altLang="en-US" i="1" dirty="0"/>
              <a:t>measure of variation </a:t>
            </a:r>
            <a:r>
              <a:rPr lang="en-US" altLang="en-US" dirty="0"/>
              <a:t>is a value that describes the spread of a data set. </a:t>
            </a:r>
            <a:endParaRPr lang="en-US" altLang="en-US" dirty="0" smtClean="0"/>
          </a:p>
          <a:p>
            <a:pPr eaLnBrk="1" hangingPunct="1"/>
            <a:endParaRPr lang="en-US" altLang="en-US" dirty="0"/>
          </a:p>
          <a:p>
            <a:pPr eaLnBrk="1" hangingPunct="1"/>
            <a:r>
              <a:rPr lang="en-US" altLang="en-US" dirty="0" smtClean="0"/>
              <a:t>The </a:t>
            </a:r>
            <a:r>
              <a:rPr lang="en-US" altLang="en-US" dirty="0"/>
              <a:t>most commonly used measures of variation are the </a:t>
            </a:r>
            <a:r>
              <a:rPr lang="en-US" altLang="en-US" i="1" dirty="0"/>
              <a:t>range</a:t>
            </a:r>
            <a:r>
              <a:rPr lang="en-US" altLang="en-US" dirty="0"/>
              <a:t>, the interquartile range, the </a:t>
            </a:r>
            <a:r>
              <a:rPr lang="en-US" altLang="en-US" i="1" dirty="0"/>
              <a:t>variance</a:t>
            </a:r>
            <a:r>
              <a:rPr lang="en-US" altLang="en-US" dirty="0"/>
              <a:t>, and the </a:t>
            </a:r>
            <a:r>
              <a:rPr lang="en-US" altLang="en-US" i="1" dirty="0"/>
              <a:t>standard deviation</a:t>
            </a:r>
            <a:r>
              <a:rPr lang="en-US" altLang="en-US" dirty="0"/>
              <a:t>.</a:t>
            </a:r>
          </a:p>
        </p:txBody>
      </p:sp>
      <p:sp>
        <p:nvSpPr>
          <p:cNvPr id="2" name="Rectangle 1"/>
          <p:cNvSpPr/>
          <p:nvPr/>
        </p:nvSpPr>
        <p:spPr>
          <a:xfrm>
            <a:off x="1257300" y="1196752"/>
            <a:ext cx="6321259" cy="707886"/>
          </a:xfrm>
          <a:prstGeom prst="rect">
            <a:avLst/>
          </a:prstGeom>
        </p:spPr>
        <p:txBody>
          <a:bodyPr wrap="square">
            <a:spAutoFit/>
          </a:bodyPr>
          <a:lstStyle/>
          <a:p>
            <a:r>
              <a:rPr lang="en-US" altLang="en-US" sz="4000" b="1" dirty="0" smtClean="0"/>
              <a:t>A </a:t>
            </a:r>
            <a:r>
              <a:rPr lang="en-US" altLang="en-US" sz="4000" b="1" i="1" dirty="0" smtClean="0"/>
              <a:t>measure of Variation </a:t>
            </a:r>
            <a:endParaRPr lang="en-IN" sz="4000" b="1" dirty="0"/>
          </a:p>
        </p:txBody>
      </p:sp>
    </p:spTree>
    <p:extLst>
      <p:ext uri="{BB962C8B-B14F-4D97-AF65-F5344CB8AC3E}">
        <p14:creationId xmlns:p14="http://schemas.microsoft.com/office/powerpoint/2010/main" val="36369836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8067"/>
                                        </p:tgtEl>
                                        <p:attrNameLst>
                                          <p:attrName>style.visibility</p:attrName>
                                        </p:attrNameLst>
                                      </p:cBhvr>
                                      <p:to>
                                        <p:strVal val="visible"/>
                                      </p:to>
                                    </p:set>
                                    <p:animEffect transition="in" filter="dissolve">
                                      <p:cBhvr>
                                        <p:cTn id="7" dur="500"/>
                                        <p:tgtEl>
                                          <p:spTgt spid="88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a:extLst>
              <a:ext uri="{FF2B5EF4-FFF2-40B4-BE49-F238E27FC236}">
                <a16:creationId xmlns:a16="http://schemas.microsoft.com/office/drawing/2014/main" xmlns="" id="{414EBE71-CFD8-4BFF-9ADA-EE262F0B1FCB}"/>
              </a:ext>
            </a:extLst>
          </p:cNvPr>
          <p:cNvSpPr>
            <a:spLocks noChangeArrowheads="1"/>
          </p:cNvSpPr>
          <p:nvPr/>
        </p:nvSpPr>
        <p:spPr bwMode="auto">
          <a:xfrm>
            <a:off x="0" y="692696"/>
            <a:ext cx="9144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The</a:t>
            </a:r>
            <a:r>
              <a:rPr lang="en-US" altLang="en-US" sz="3600" dirty="0"/>
              <a:t> </a:t>
            </a:r>
            <a:r>
              <a:rPr lang="en-US" altLang="en-US" sz="3600" b="1" u="sng" dirty="0"/>
              <a:t>variance</a:t>
            </a:r>
            <a:r>
              <a:rPr lang="en-US" altLang="en-US" sz="3600" dirty="0"/>
              <a:t>, denoted by </a:t>
            </a:r>
            <a:r>
              <a:rPr lang="en-US" altLang="en-US" sz="3600" i="1" dirty="0"/>
              <a:t>σ</a:t>
            </a:r>
            <a:r>
              <a:rPr lang="en-US" altLang="en-US" sz="3600" baseline="30000" dirty="0"/>
              <a:t>2</a:t>
            </a:r>
            <a:r>
              <a:rPr lang="en-US" altLang="en-US" sz="3600" dirty="0"/>
              <a:t>, is the average of the squared differences from the mean</a:t>
            </a:r>
            <a:r>
              <a:rPr lang="en-US" altLang="en-US" sz="3600" dirty="0" smtClean="0"/>
              <a:t>.</a:t>
            </a:r>
          </a:p>
          <a:p>
            <a:pPr eaLnBrk="1" hangingPunct="1"/>
            <a:endParaRPr lang="en-US" altLang="en-US" sz="3600" dirty="0" smtClean="0"/>
          </a:p>
          <a:p>
            <a:pPr eaLnBrk="1" hangingPunct="1"/>
            <a:r>
              <a:rPr lang="en-US" altLang="en-US" sz="3600" dirty="0" smtClean="0"/>
              <a:t> </a:t>
            </a:r>
            <a:r>
              <a:rPr lang="en-US" altLang="en-US" sz="3600" b="1" u="sng" dirty="0"/>
              <a:t>Standard deviation</a:t>
            </a:r>
            <a:r>
              <a:rPr lang="en-US" altLang="en-US" sz="3600" dirty="0"/>
              <a:t>, denoted by </a:t>
            </a:r>
            <a:r>
              <a:rPr lang="en-US" altLang="en-US" sz="3600" i="1" dirty="0"/>
              <a:t>σ</a:t>
            </a:r>
            <a:r>
              <a:rPr lang="en-US" altLang="en-US" sz="3600" dirty="0"/>
              <a:t>, is the square root of the variance and is one of the most common and useful measures of variation.</a:t>
            </a:r>
          </a:p>
        </p:txBody>
      </p:sp>
    </p:spTree>
    <p:extLst>
      <p:ext uri="{BB962C8B-B14F-4D97-AF65-F5344CB8AC3E}">
        <p14:creationId xmlns:p14="http://schemas.microsoft.com/office/powerpoint/2010/main" val="17797857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dissolve">
                                      <p:cBhvr>
                                        <p:cTn id="7" dur="5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xmlns="" id="{F3715CCF-C018-4C5B-8FED-290842BCCC07}"/>
              </a:ext>
            </a:extLst>
          </p:cNvPr>
          <p:cNvSpPr>
            <a:spLocks noChangeArrowheads="1"/>
          </p:cNvSpPr>
          <p:nvPr/>
        </p:nvSpPr>
        <p:spPr bwMode="auto">
          <a:xfrm>
            <a:off x="1314450" y="692696"/>
            <a:ext cx="65151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sz="2800" dirty="0"/>
              <a:t>Low standard deviations indicate data that are clustered near the measures of central tendency, whereas high standard deviations indicate data that are spread out from the center.</a:t>
            </a:r>
          </a:p>
        </p:txBody>
      </p:sp>
      <p:pic>
        <p:nvPicPr>
          <p:cNvPr id="57348" name="Picture 4">
            <a:extLst>
              <a:ext uri="{FF2B5EF4-FFF2-40B4-BE49-F238E27FC236}">
                <a16:creationId xmlns:a16="http://schemas.microsoft.com/office/drawing/2014/main" xmlns="" id="{A709A448-BEFB-44C8-B3A0-A6BCD22EA4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7300" y="3933056"/>
            <a:ext cx="6629400" cy="231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25243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dissolve">
                                      <p:cBhvr>
                                        <p:cTn id="7" dur="500"/>
                                        <p:tgtEl>
                                          <p:spTgt spid="573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7348"/>
                                        </p:tgtEl>
                                        <p:attrNameLst>
                                          <p:attrName>style.visibility</p:attrName>
                                        </p:attrNameLst>
                                      </p:cBhvr>
                                      <p:to>
                                        <p:strVal val="visible"/>
                                      </p:to>
                                    </p:set>
                                    <p:animEffect transition="in" filter="dissolve">
                                      <p:cBhvr>
                                        <p:cTn id="12" dur="500"/>
                                        <p:tgtEl>
                                          <p:spTgt spid="57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xmlns="" id="{8BFA98B9-C526-4BB3-8235-6ED88E9194AD}"/>
              </a:ext>
            </a:extLst>
          </p:cNvPr>
          <p:cNvSpPr txBox="1">
            <a:spLocks noChangeArrowheads="1"/>
          </p:cNvSpPr>
          <p:nvPr/>
        </p:nvSpPr>
        <p:spPr bwMode="auto">
          <a:xfrm>
            <a:off x="1114425" y="166807"/>
            <a:ext cx="6858000" cy="830997"/>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dirty="0">
                <a:solidFill>
                  <a:srgbClr val="006699"/>
                </a:solidFill>
                <a:latin typeface="Arial Black" panose="020B0A04020102020204" pitchFamily="34" charset="0"/>
              </a:rPr>
              <a:t>Example 4: Finding the Mean and Standard Deviation</a:t>
            </a:r>
          </a:p>
        </p:txBody>
      </p:sp>
      <p:sp>
        <p:nvSpPr>
          <p:cNvPr id="28675" name="Rectangle 3">
            <a:extLst>
              <a:ext uri="{FF2B5EF4-FFF2-40B4-BE49-F238E27FC236}">
                <a16:creationId xmlns:a16="http://schemas.microsoft.com/office/drawing/2014/main" xmlns="" id="{D20B2227-9B39-470F-937B-826EB580C80C}"/>
              </a:ext>
            </a:extLst>
          </p:cNvPr>
          <p:cNvSpPr>
            <a:spLocks noChangeArrowheads="1"/>
          </p:cNvSpPr>
          <p:nvPr/>
        </p:nvSpPr>
        <p:spPr bwMode="auto">
          <a:xfrm>
            <a:off x="1257300" y="1269953"/>
            <a:ext cx="65722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Find the mean and standard deviation for the data set of the number of people getting on and off a bus for several stops. </a:t>
            </a:r>
          </a:p>
          <a:p>
            <a:pPr eaLnBrk="1" hangingPunct="1"/>
            <a:r>
              <a:rPr lang="en-US" altLang="en-US" b="1" dirty="0"/>
              <a:t>{6, 8, 7, 5, 10, 6, 9, 8, 4</a:t>
            </a:r>
            <a:r>
              <a:rPr lang="en-US" altLang="en-US" b="1" dirty="0" smtClean="0"/>
              <a:t>}</a:t>
            </a:r>
          </a:p>
          <a:p>
            <a:pPr eaLnBrk="1" hangingPunct="1"/>
            <a:endParaRPr lang="en-US" altLang="en-US" b="1" dirty="0"/>
          </a:p>
        </p:txBody>
      </p:sp>
      <p:sp>
        <p:nvSpPr>
          <p:cNvPr id="45060" name="Rectangle 4">
            <a:extLst>
              <a:ext uri="{FF2B5EF4-FFF2-40B4-BE49-F238E27FC236}">
                <a16:creationId xmlns:a16="http://schemas.microsoft.com/office/drawing/2014/main" xmlns="" id="{7817E3FE-1A9C-4148-90CF-14B50A976F43}"/>
              </a:ext>
            </a:extLst>
          </p:cNvPr>
          <p:cNvSpPr>
            <a:spLocks noChangeArrowheads="1"/>
          </p:cNvSpPr>
          <p:nvPr/>
        </p:nvSpPr>
        <p:spPr bwMode="auto">
          <a:xfrm>
            <a:off x="1257300" y="3503761"/>
            <a:ext cx="37385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Step 1</a:t>
            </a:r>
            <a:r>
              <a:rPr lang="en-US" altLang="en-US"/>
              <a:t> Find the mean.</a:t>
            </a:r>
          </a:p>
        </p:txBody>
      </p:sp>
      <p:pic>
        <p:nvPicPr>
          <p:cNvPr id="45063" name="Picture 7" descr="1">
            <a:extLst>
              <a:ext uri="{FF2B5EF4-FFF2-40B4-BE49-F238E27FC236}">
                <a16:creationId xmlns:a16="http://schemas.microsoft.com/office/drawing/2014/main" xmlns="" id="{9FDF24B4-5C22-426B-8C61-BD3E3622B5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4755464"/>
            <a:ext cx="37719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69103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dissolve">
                                      <p:cBhvr>
                                        <p:cTn id="7" dur="500"/>
                                        <p:tgtEl>
                                          <p:spTgt spid="450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5063"/>
                                        </p:tgtEl>
                                        <p:attrNameLst>
                                          <p:attrName>style.visibility</p:attrName>
                                        </p:attrNameLst>
                                      </p:cBhvr>
                                      <p:to>
                                        <p:strVal val="visible"/>
                                      </p:to>
                                    </p:set>
                                    <p:animEffect transition="in" filter="box(in)">
                                      <p:cBhvr>
                                        <p:cTn id="12" dur="500"/>
                                        <p:tgtEl>
                                          <p:spTgt spid="45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a:extLst>
              <a:ext uri="{FF2B5EF4-FFF2-40B4-BE49-F238E27FC236}">
                <a16:creationId xmlns:a16="http://schemas.microsoft.com/office/drawing/2014/main" xmlns="" id="{84992AB1-4BF3-4B44-AEFB-25204E75DFA2}"/>
              </a:ext>
            </a:extLst>
          </p:cNvPr>
          <p:cNvSpPr txBox="1">
            <a:spLocks noChangeArrowheads="1"/>
          </p:cNvSpPr>
          <p:nvPr/>
        </p:nvSpPr>
        <p:spPr bwMode="auto">
          <a:xfrm>
            <a:off x="1143000" y="1143000"/>
            <a:ext cx="6858000" cy="457200"/>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ctr">
              <a:spcBef>
                <a:spcPct val="50000"/>
              </a:spcBef>
            </a:pPr>
            <a:r>
              <a:rPr lang="en-US" altLang="en-US">
                <a:solidFill>
                  <a:srgbClr val="006699"/>
                </a:solidFill>
                <a:latin typeface="Arial Black" panose="020B0A04020102020204" pitchFamily="34" charset="0"/>
              </a:rPr>
              <a:t>Example 4 Continued</a:t>
            </a:r>
          </a:p>
        </p:txBody>
      </p:sp>
      <p:sp>
        <p:nvSpPr>
          <p:cNvPr id="62467" name="Rectangle 3">
            <a:extLst>
              <a:ext uri="{FF2B5EF4-FFF2-40B4-BE49-F238E27FC236}">
                <a16:creationId xmlns:a16="http://schemas.microsoft.com/office/drawing/2014/main" xmlns="" id="{BABED6A0-333A-4AE3-936D-F69CDEE2EB23}"/>
              </a:ext>
            </a:extLst>
          </p:cNvPr>
          <p:cNvSpPr>
            <a:spLocks noChangeArrowheads="1"/>
          </p:cNvSpPr>
          <p:nvPr/>
        </p:nvSpPr>
        <p:spPr bwMode="auto">
          <a:xfrm>
            <a:off x="1257300" y="1944600"/>
            <a:ext cx="65151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Step 2</a:t>
            </a:r>
            <a:r>
              <a:rPr lang="en-US" altLang="en-US"/>
              <a:t> Find the difference between the mean and each data value, and square it. </a:t>
            </a:r>
          </a:p>
        </p:txBody>
      </p:sp>
      <p:pic>
        <p:nvPicPr>
          <p:cNvPr id="62469" name="Picture 5">
            <a:extLst>
              <a:ext uri="{FF2B5EF4-FFF2-40B4-BE49-F238E27FC236}">
                <a16:creationId xmlns:a16="http://schemas.microsoft.com/office/drawing/2014/main" xmlns="" id="{B912D96B-1362-44DC-BB0F-7F2FA4BAF15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7300" y="3124202"/>
            <a:ext cx="66294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68833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2467"/>
                                        </p:tgtEl>
                                        <p:attrNameLst>
                                          <p:attrName>style.visibility</p:attrName>
                                        </p:attrNameLst>
                                      </p:cBhvr>
                                      <p:to>
                                        <p:strVal val="visible"/>
                                      </p:to>
                                    </p:set>
                                    <p:animEffect transition="in" filter="dissolve">
                                      <p:cBhvr>
                                        <p:cTn id="7" dur="500"/>
                                        <p:tgtEl>
                                          <p:spTgt spid="624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2469"/>
                                        </p:tgtEl>
                                        <p:attrNameLst>
                                          <p:attrName>style.visibility</p:attrName>
                                        </p:attrNameLst>
                                      </p:cBhvr>
                                      <p:to>
                                        <p:strVal val="visible"/>
                                      </p:to>
                                    </p:set>
                                    <p:animEffect transition="in" filter="dissolve">
                                      <p:cBhvr>
                                        <p:cTn id="12" dur="500"/>
                                        <p:tgtEl>
                                          <p:spTgt spid="62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xmlns="" id="{7F5EC92E-D5B6-467A-9207-F3979E050B47}"/>
              </a:ext>
            </a:extLst>
          </p:cNvPr>
          <p:cNvSpPr>
            <a:spLocks noChangeArrowheads="1"/>
          </p:cNvSpPr>
          <p:nvPr/>
        </p:nvSpPr>
        <p:spPr bwMode="auto">
          <a:xfrm>
            <a:off x="1287878" y="825313"/>
            <a:ext cx="65151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Find the mean and standard deviation for the data set of the number of elevator stops for several rides.</a:t>
            </a:r>
          </a:p>
        </p:txBody>
      </p:sp>
      <p:sp>
        <p:nvSpPr>
          <p:cNvPr id="31748" name="Rectangle 4">
            <a:extLst>
              <a:ext uri="{FF2B5EF4-FFF2-40B4-BE49-F238E27FC236}">
                <a16:creationId xmlns:a16="http://schemas.microsoft.com/office/drawing/2014/main" xmlns="" id="{CB876CA2-4630-403F-AC8A-B9BC138B854E}"/>
              </a:ext>
            </a:extLst>
          </p:cNvPr>
          <p:cNvSpPr>
            <a:spLocks noChangeArrowheads="1"/>
          </p:cNvSpPr>
          <p:nvPr/>
        </p:nvSpPr>
        <p:spPr bwMode="auto">
          <a:xfrm>
            <a:off x="1314450" y="2819400"/>
            <a:ext cx="66419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{0, 3, 1, 1, 0, 5, 1, 0, 3, 0}</a:t>
            </a:r>
          </a:p>
        </p:txBody>
      </p:sp>
      <p:sp>
        <p:nvSpPr>
          <p:cNvPr id="46085" name="Rectangle 5">
            <a:extLst>
              <a:ext uri="{FF2B5EF4-FFF2-40B4-BE49-F238E27FC236}">
                <a16:creationId xmlns:a16="http://schemas.microsoft.com/office/drawing/2014/main" xmlns="" id="{92C7A755-B849-434A-A8CE-281F92AF41ED}"/>
              </a:ext>
            </a:extLst>
          </p:cNvPr>
          <p:cNvSpPr>
            <a:spLocks noChangeArrowheads="1"/>
          </p:cNvSpPr>
          <p:nvPr/>
        </p:nvSpPr>
        <p:spPr bwMode="auto">
          <a:xfrm>
            <a:off x="1428750" y="3426768"/>
            <a:ext cx="37385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Step 1</a:t>
            </a:r>
            <a:r>
              <a:rPr lang="en-US" altLang="en-US"/>
              <a:t> Find the mean.</a:t>
            </a:r>
          </a:p>
        </p:txBody>
      </p:sp>
      <p:pic>
        <p:nvPicPr>
          <p:cNvPr id="46089" name="Picture 9" descr="1">
            <a:extLst>
              <a:ext uri="{FF2B5EF4-FFF2-40B4-BE49-F238E27FC236}">
                <a16:creationId xmlns:a16="http://schemas.microsoft.com/office/drawing/2014/main" xmlns="" id="{2CFA0EB8-46D7-40F4-B267-10E26515C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0" y="4114802"/>
            <a:ext cx="4014788"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75551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dissolve">
                                      <p:cBhvr>
                                        <p:cTn id="7" dur="500"/>
                                        <p:tgtEl>
                                          <p:spTgt spid="460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089"/>
                                        </p:tgtEl>
                                        <p:attrNameLst>
                                          <p:attrName>style.visibility</p:attrName>
                                        </p:attrNameLst>
                                      </p:cBhvr>
                                      <p:to>
                                        <p:strVal val="visible"/>
                                      </p:to>
                                    </p:set>
                                    <p:animEffect transition="in" filter="box(in)">
                                      <p:cBhvr>
                                        <p:cTn id="12" dur="500"/>
                                        <p:tgtEl>
                                          <p:spTgt spid="46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a:extLst>
              <a:ext uri="{FF2B5EF4-FFF2-40B4-BE49-F238E27FC236}">
                <a16:creationId xmlns:a16="http://schemas.microsoft.com/office/drawing/2014/main" xmlns="" id="{0AC81437-F305-4907-8EE0-1FE2309974B7}"/>
              </a:ext>
            </a:extLst>
          </p:cNvPr>
          <p:cNvSpPr>
            <a:spLocks noChangeArrowheads="1"/>
          </p:cNvSpPr>
          <p:nvPr/>
        </p:nvSpPr>
        <p:spPr bwMode="auto">
          <a:xfrm>
            <a:off x="1371600" y="1905002"/>
            <a:ext cx="6400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Step 2</a:t>
            </a:r>
            <a:r>
              <a:rPr lang="en-US" altLang="en-US"/>
              <a:t> Find the difference between the mean and each data value, and square it. </a:t>
            </a:r>
          </a:p>
        </p:txBody>
      </p:sp>
      <p:graphicFrame>
        <p:nvGraphicFramePr>
          <p:cNvPr id="66722" name="Group 162">
            <a:extLst>
              <a:ext uri="{FF2B5EF4-FFF2-40B4-BE49-F238E27FC236}">
                <a16:creationId xmlns:a16="http://schemas.microsoft.com/office/drawing/2014/main" xmlns="" id="{0801B578-D325-4DD4-AB3D-6F12C0646D57}"/>
              </a:ext>
            </a:extLst>
          </p:cNvPr>
          <p:cNvGraphicFramePr>
            <a:graphicFrameLocks noGrp="1"/>
          </p:cNvGraphicFramePr>
          <p:nvPr>
            <p:extLst>
              <p:ext uri="{D42A27DB-BD31-4B8C-83A1-F6EECF244321}">
                <p14:modId xmlns:p14="http://schemas.microsoft.com/office/powerpoint/2010/main" val="4056381694"/>
              </p:ext>
            </p:extLst>
          </p:nvPr>
        </p:nvGraphicFramePr>
        <p:xfrm>
          <a:off x="1043608" y="3429000"/>
          <a:ext cx="7578032" cy="1889760"/>
        </p:xfrm>
        <a:graphic>
          <a:graphicData uri="http://schemas.openxmlformats.org/drawingml/2006/table">
            <a:tbl>
              <a:tblPr/>
              <a:tblGrid>
                <a:gridCol w="1927744">
                  <a:extLst>
                    <a:ext uri="{9D8B030D-6E8A-4147-A177-3AD203B41FA5}">
                      <a16:colId xmlns:a16="http://schemas.microsoft.com/office/drawing/2014/main" xmlns="" val="20000"/>
                    </a:ext>
                  </a:extLst>
                </a:gridCol>
                <a:gridCol w="531792">
                  <a:extLst>
                    <a:ext uri="{9D8B030D-6E8A-4147-A177-3AD203B41FA5}">
                      <a16:colId xmlns:a16="http://schemas.microsoft.com/office/drawing/2014/main" xmlns="" val="20001"/>
                    </a:ext>
                  </a:extLst>
                </a:gridCol>
                <a:gridCol w="664739">
                  <a:extLst>
                    <a:ext uri="{9D8B030D-6E8A-4147-A177-3AD203B41FA5}">
                      <a16:colId xmlns:a16="http://schemas.microsoft.com/office/drawing/2014/main" xmlns="" val="20002"/>
                    </a:ext>
                  </a:extLst>
                </a:gridCol>
                <a:gridCol w="531792">
                  <a:extLst>
                    <a:ext uri="{9D8B030D-6E8A-4147-A177-3AD203B41FA5}">
                      <a16:colId xmlns:a16="http://schemas.microsoft.com/office/drawing/2014/main" xmlns="" val="20003"/>
                    </a:ext>
                  </a:extLst>
                </a:gridCol>
                <a:gridCol w="598266">
                  <a:extLst>
                    <a:ext uri="{9D8B030D-6E8A-4147-A177-3AD203B41FA5}">
                      <a16:colId xmlns:a16="http://schemas.microsoft.com/office/drawing/2014/main" xmlns="" val="20004"/>
                    </a:ext>
                  </a:extLst>
                </a:gridCol>
                <a:gridCol w="531792">
                  <a:extLst>
                    <a:ext uri="{9D8B030D-6E8A-4147-A177-3AD203B41FA5}">
                      <a16:colId xmlns:a16="http://schemas.microsoft.com/office/drawing/2014/main" xmlns="" val="20005"/>
                    </a:ext>
                  </a:extLst>
                </a:gridCol>
                <a:gridCol w="664739">
                  <a:extLst>
                    <a:ext uri="{9D8B030D-6E8A-4147-A177-3AD203B41FA5}">
                      <a16:colId xmlns:a16="http://schemas.microsoft.com/office/drawing/2014/main" xmlns="" val="20006"/>
                    </a:ext>
                  </a:extLst>
                </a:gridCol>
                <a:gridCol w="531792">
                  <a:extLst>
                    <a:ext uri="{9D8B030D-6E8A-4147-A177-3AD203B41FA5}">
                      <a16:colId xmlns:a16="http://schemas.microsoft.com/office/drawing/2014/main" xmlns="" val="20007"/>
                    </a:ext>
                  </a:extLst>
                </a:gridCol>
                <a:gridCol w="531792">
                  <a:extLst>
                    <a:ext uri="{9D8B030D-6E8A-4147-A177-3AD203B41FA5}">
                      <a16:colId xmlns:a16="http://schemas.microsoft.com/office/drawing/2014/main" xmlns="" val="20008"/>
                    </a:ext>
                  </a:extLst>
                </a:gridCol>
                <a:gridCol w="531792">
                  <a:extLst>
                    <a:ext uri="{9D8B030D-6E8A-4147-A177-3AD203B41FA5}">
                      <a16:colId xmlns:a16="http://schemas.microsoft.com/office/drawing/2014/main" xmlns="" val="20009"/>
                    </a:ext>
                  </a:extLst>
                </a:gridCol>
                <a:gridCol w="531792">
                  <a:extLst>
                    <a:ext uri="{9D8B030D-6E8A-4147-A177-3AD203B41FA5}">
                      <a16:colId xmlns:a16="http://schemas.microsoft.com/office/drawing/2014/main" xmlns="" val="20010"/>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Verdana" pitchFamily="34" charset="0"/>
                        </a:rPr>
                        <a:t>Data Value </a:t>
                      </a:r>
                      <a:r>
                        <a:rPr kumimoji="0" lang="en-US" sz="2400" b="0" i="1" u="none" strike="noStrike" cap="none" normalizeH="0" baseline="0" dirty="0">
                          <a:ln>
                            <a:noFill/>
                          </a:ln>
                          <a:solidFill>
                            <a:schemeClr val="tx1"/>
                          </a:solidFill>
                          <a:effectLst/>
                          <a:latin typeface="Verdana" pitchFamily="34" charset="0"/>
                        </a:rPr>
                        <a:t>x</a:t>
                      </a:r>
                    </a:p>
                  </a:txBody>
                  <a:tcPr marL="68580" marR="685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Verdana" pitchFamily="34" charset="0"/>
                        </a:rPr>
                        <a:t>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Verdana" pitchFamily="34" charset="0"/>
                        </a:rPr>
                        <a:t>3</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Verdana" pitchFamily="34" charset="0"/>
                        </a:rPr>
                        <a:t>1</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Verdana" pitchFamily="34" charset="0"/>
                        </a:rPr>
                        <a:t>1</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Verdana" pitchFamily="34" charset="0"/>
                        </a:rPr>
                        <a:t>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Verdana" pitchFamily="34" charset="0"/>
                        </a:rPr>
                        <a:t>5</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Verdana" pitchFamily="34" charset="0"/>
                        </a:rPr>
                        <a:t>1</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Verdana" pitchFamily="34" charset="0"/>
                        </a:rPr>
                        <a:t>0</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Verdana" pitchFamily="34" charset="0"/>
                        </a:rPr>
                        <a:t>3</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Verdana" pitchFamily="34" charset="0"/>
                        </a:rPr>
                        <a:t>0</a:t>
                      </a:r>
                    </a:p>
                  </a:txBody>
                  <a:tcPr marL="68580" marR="685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chemeClr val="tx1"/>
                          </a:solidFill>
                          <a:effectLst/>
                          <a:latin typeface="Verdana" pitchFamily="34" charset="0"/>
                        </a:rPr>
                        <a:t>x</a:t>
                      </a:r>
                      <a:r>
                        <a:rPr kumimoji="0" lang="en-US" sz="2400" b="0" i="0" u="none" strike="noStrike" cap="none" normalizeH="0" baseline="0" dirty="0">
                          <a:ln>
                            <a:noFill/>
                          </a:ln>
                          <a:solidFill>
                            <a:schemeClr val="tx1"/>
                          </a:solidFill>
                          <a:effectLst/>
                          <a:latin typeface="Verdana" pitchFamily="34" charset="0"/>
                        </a:rPr>
                        <a:t> – </a:t>
                      </a:r>
                      <a:r>
                        <a:rPr kumimoji="0" lang="en-US" sz="2400" b="0" i="1" u="none" strike="noStrike" cap="none" normalizeH="0" baseline="0" dirty="0">
                          <a:ln>
                            <a:noFill/>
                          </a:ln>
                          <a:solidFill>
                            <a:schemeClr val="tx1"/>
                          </a:solidFill>
                          <a:effectLst/>
                          <a:latin typeface="Verdana" pitchFamily="34" charset="0"/>
                        </a:rPr>
                        <a:t>x</a:t>
                      </a:r>
                    </a:p>
                  </a:txBody>
                  <a:tcPr marL="68580" marR="685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-1.4</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1.6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-0.4</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-0.4</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-1.4</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3.6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-0.4</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-1.4</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1.6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-1.4</a:t>
                      </a:r>
                    </a:p>
                  </a:txBody>
                  <a:tcPr marL="68580" marR="685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609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Verdana" pitchFamily="34" charset="0"/>
                        </a:rPr>
                        <a:t>(</a:t>
                      </a:r>
                      <a:r>
                        <a:rPr kumimoji="0" lang="en-US" sz="2400" b="0" i="1" u="none" strike="noStrike" cap="none" normalizeH="0" baseline="0">
                          <a:ln>
                            <a:noFill/>
                          </a:ln>
                          <a:solidFill>
                            <a:schemeClr val="tx1"/>
                          </a:solidFill>
                          <a:effectLst/>
                          <a:latin typeface="Verdana" pitchFamily="34" charset="0"/>
                        </a:rPr>
                        <a:t>x</a:t>
                      </a:r>
                      <a:r>
                        <a:rPr kumimoji="0" lang="en-US" sz="2400" b="0" i="0" u="none" strike="noStrike" cap="none" normalizeH="0" baseline="0">
                          <a:ln>
                            <a:noFill/>
                          </a:ln>
                          <a:solidFill>
                            <a:schemeClr val="tx1"/>
                          </a:solidFill>
                          <a:effectLst/>
                          <a:latin typeface="Verdana" pitchFamily="34" charset="0"/>
                        </a:rPr>
                        <a:t> – </a:t>
                      </a:r>
                      <a:r>
                        <a:rPr kumimoji="0" lang="en-US" sz="2400" b="0" i="1" u="none" strike="noStrike" cap="none" normalizeH="0" baseline="0">
                          <a:ln>
                            <a:noFill/>
                          </a:ln>
                          <a:solidFill>
                            <a:schemeClr val="tx1"/>
                          </a:solidFill>
                          <a:effectLst/>
                          <a:latin typeface="Verdana" pitchFamily="34" charset="0"/>
                        </a:rPr>
                        <a:t>x</a:t>
                      </a:r>
                      <a:r>
                        <a:rPr kumimoji="0" lang="en-US" sz="2400" b="0" i="0" u="none" strike="noStrike" cap="none" normalizeH="0" baseline="0">
                          <a:ln>
                            <a:noFill/>
                          </a:ln>
                          <a:solidFill>
                            <a:schemeClr val="tx1"/>
                          </a:solidFill>
                          <a:effectLst/>
                          <a:latin typeface="Verdana" pitchFamily="34" charset="0"/>
                        </a:rPr>
                        <a:t>)</a:t>
                      </a:r>
                      <a:r>
                        <a:rPr kumimoji="0" lang="en-US" sz="2400" b="0" i="0" u="none" strike="noStrike" cap="none" normalizeH="0" baseline="30000">
                          <a:ln>
                            <a:noFill/>
                          </a:ln>
                          <a:solidFill>
                            <a:schemeClr val="tx1"/>
                          </a:solidFill>
                          <a:effectLst/>
                          <a:latin typeface="Verdana" pitchFamily="34" charset="0"/>
                        </a:rPr>
                        <a:t>2</a:t>
                      </a:r>
                      <a:r>
                        <a:rPr kumimoji="0" lang="en-US" sz="2400" b="0" i="0" u="none" strike="noStrike" cap="none" normalizeH="0" baseline="0">
                          <a:ln>
                            <a:noFill/>
                          </a:ln>
                          <a:solidFill>
                            <a:schemeClr val="tx1"/>
                          </a:solidFill>
                          <a:effectLst/>
                          <a:latin typeface="Verdana" pitchFamily="34" charset="0"/>
                        </a:rPr>
                        <a:t> </a:t>
                      </a:r>
                    </a:p>
                  </a:txBody>
                  <a:tcPr marL="68580" marR="685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1.96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2.56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0.16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0.16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1.96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12.96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0.16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1.96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2.56</a:t>
                      </a:r>
                    </a:p>
                  </a:txBody>
                  <a:tcPr marL="68580" marR="685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Verdana" pitchFamily="34" charset="0"/>
                        </a:rPr>
                        <a:t>1.96</a:t>
                      </a:r>
                    </a:p>
                  </a:txBody>
                  <a:tcPr marL="68580" marR="685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66694" name="Line 134">
            <a:extLst>
              <a:ext uri="{FF2B5EF4-FFF2-40B4-BE49-F238E27FC236}">
                <a16:creationId xmlns:a16="http://schemas.microsoft.com/office/drawing/2014/main" xmlns="" id="{12D6F109-A2E3-415C-9320-6504CBC4C368}"/>
              </a:ext>
            </a:extLst>
          </p:cNvPr>
          <p:cNvSpPr>
            <a:spLocks noChangeShapeType="1"/>
          </p:cNvSpPr>
          <p:nvPr/>
        </p:nvSpPr>
        <p:spPr bwMode="auto">
          <a:xfrm>
            <a:off x="1796654" y="3995738"/>
            <a:ext cx="2286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6695" name="Line 135">
            <a:extLst>
              <a:ext uri="{FF2B5EF4-FFF2-40B4-BE49-F238E27FC236}">
                <a16:creationId xmlns:a16="http://schemas.microsoft.com/office/drawing/2014/main" xmlns="" id="{BBC65529-F5EA-4DE0-8D60-65A0CE8F186D}"/>
              </a:ext>
            </a:extLst>
          </p:cNvPr>
          <p:cNvSpPr>
            <a:spLocks noChangeShapeType="1"/>
          </p:cNvSpPr>
          <p:nvPr/>
        </p:nvSpPr>
        <p:spPr bwMode="auto">
          <a:xfrm>
            <a:off x="1894285" y="4495800"/>
            <a:ext cx="2286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23009717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6563"/>
                                        </p:tgtEl>
                                        <p:attrNameLst>
                                          <p:attrName>style.visibility</p:attrName>
                                        </p:attrNameLst>
                                      </p:cBhvr>
                                      <p:to>
                                        <p:strVal val="visible"/>
                                      </p:to>
                                    </p:set>
                                    <p:animEffect transition="in" filter="dissolve">
                                      <p:cBhvr>
                                        <p:cTn id="7" dur="500"/>
                                        <p:tgtEl>
                                          <p:spTgt spid="665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6694"/>
                                        </p:tgtEl>
                                        <p:attrNameLst>
                                          <p:attrName>style.visibility</p:attrName>
                                        </p:attrNameLst>
                                      </p:cBhvr>
                                      <p:to>
                                        <p:strVal val="visible"/>
                                      </p:to>
                                    </p:set>
                                    <p:animEffect transition="in" filter="dissolve">
                                      <p:cBhvr>
                                        <p:cTn id="12" dur="500"/>
                                        <p:tgtEl>
                                          <p:spTgt spid="66694"/>
                                        </p:tgtEl>
                                      </p:cBhvr>
                                    </p:animEffect>
                                  </p:childTnLst>
                                </p:cTn>
                              </p:par>
                              <p:par>
                                <p:cTn id="13" presetID="9" presetClass="entr" presetSubtype="0" fill="hold" nodeType="withEffect">
                                  <p:stCondLst>
                                    <p:cond delay="0"/>
                                  </p:stCondLst>
                                  <p:childTnLst>
                                    <p:set>
                                      <p:cBhvr>
                                        <p:cTn id="14" dur="1" fill="hold">
                                          <p:stCondLst>
                                            <p:cond delay="0"/>
                                          </p:stCondLst>
                                        </p:cTn>
                                        <p:tgtEl>
                                          <p:spTgt spid="66695"/>
                                        </p:tgtEl>
                                        <p:attrNameLst>
                                          <p:attrName>style.visibility</p:attrName>
                                        </p:attrNameLst>
                                      </p:cBhvr>
                                      <p:to>
                                        <p:strVal val="visible"/>
                                      </p:to>
                                    </p:set>
                                    <p:animEffect transition="in" filter="dissolve">
                                      <p:cBhvr>
                                        <p:cTn id="15" dur="500"/>
                                        <p:tgtEl>
                                          <p:spTgt spid="66695"/>
                                        </p:tgtEl>
                                      </p:cBhvr>
                                    </p:animEffect>
                                  </p:childTnLst>
                                </p:cTn>
                              </p:par>
                              <p:par>
                                <p:cTn id="16" presetID="9" presetClass="entr" presetSubtype="0" fill="hold" nodeType="withEffect">
                                  <p:stCondLst>
                                    <p:cond delay="0"/>
                                  </p:stCondLst>
                                  <p:childTnLst>
                                    <p:set>
                                      <p:cBhvr>
                                        <p:cTn id="17" dur="1" fill="hold">
                                          <p:stCondLst>
                                            <p:cond delay="0"/>
                                          </p:stCondLst>
                                        </p:cTn>
                                        <p:tgtEl>
                                          <p:spTgt spid="66722"/>
                                        </p:tgtEl>
                                        <p:attrNameLst>
                                          <p:attrName>style.visibility</p:attrName>
                                        </p:attrNameLst>
                                      </p:cBhvr>
                                      <p:to>
                                        <p:strVal val="visible"/>
                                      </p:to>
                                    </p:set>
                                    <p:animEffect transition="in" filter="dissolve">
                                      <p:cBhvr>
                                        <p:cTn id="18" dur="500"/>
                                        <p:tgtEl>
                                          <p:spTgt spid="66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a:extLst>
              <a:ext uri="{FF2B5EF4-FFF2-40B4-BE49-F238E27FC236}">
                <a16:creationId xmlns:a16="http://schemas.microsoft.com/office/drawing/2014/main" xmlns="" id="{E3016DF6-68DF-4622-99FC-B06609C2D500}"/>
              </a:ext>
            </a:extLst>
          </p:cNvPr>
          <p:cNvSpPr>
            <a:spLocks noChangeArrowheads="1"/>
          </p:cNvSpPr>
          <p:nvPr/>
        </p:nvSpPr>
        <p:spPr bwMode="auto">
          <a:xfrm>
            <a:off x="1314451" y="1674168"/>
            <a:ext cx="4176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t>Step 3</a:t>
            </a:r>
            <a:r>
              <a:rPr lang="en-US" altLang="en-US"/>
              <a:t> Find the variance.</a:t>
            </a:r>
          </a:p>
        </p:txBody>
      </p:sp>
      <p:sp>
        <p:nvSpPr>
          <p:cNvPr id="67593" name="Rectangle 9">
            <a:extLst>
              <a:ext uri="{FF2B5EF4-FFF2-40B4-BE49-F238E27FC236}">
                <a16:creationId xmlns:a16="http://schemas.microsoft.com/office/drawing/2014/main" xmlns="" id="{9C0C1A88-9AC3-4A00-B619-0445B4BEC7E5}"/>
              </a:ext>
            </a:extLst>
          </p:cNvPr>
          <p:cNvSpPr>
            <a:spLocks noChangeArrowheads="1"/>
          </p:cNvSpPr>
          <p:nvPr/>
        </p:nvSpPr>
        <p:spPr bwMode="auto">
          <a:xfrm>
            <a:off x="1162878" y="2131368"/>
            <a:ext cx="86748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i="1" dirty="0">
                <a:solidFill>
                  <a:srgbClr val="3366FF"/>
                </a:solidFill>
              </a:rPr>
              <a:t>Find the average of the last row of the table</a:t>
            </a:r>
            <a:r>
              <a:rPr lang="en-US" altLang="en-US" dirty="0">
                <a:solidFill>
                  <a:srgbClr val="3366FF"/>
                </a:solidFill>
              </a:rPr>
              <a:t> </a:t>
            </a:r>
          </a:p>
        </p:txBody>
      </p:sp>
      <p:sp>
        <p:nvSpPr>
          <p:cNvPr id="67595" name="Rectangle 11">
            <a:extLst>
              <a:ext uri="{FF2B5EF4-FFF2-40B4-BE49-F238E27FC236}">
                <a16:creationId xmlns:a16="http://schemas.microsoft.com/office/drawing/2014/main" xmlns="" id="{E7FC29D7-1C3F-4D1B-A56E-DF72FC802E77}"/>
              </a:ext>
            </a:extLst>
          </p:cNvPr>
          <p:cNvSpPr>
            <a:spLocks noChangeArrowheads="1"/>
          </p:cNvSpPr>
          <p:nvPr/>
        </p:nvSpPr>
        <p:spPr bwMode="auto">
          <a:xfrm>
            <a:off x="1257301" y="3960168"/>
            <a:ext cx="57615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dirty="0"/>
              <a:t>Step 4 </a:t>
            </a:r>
            <a:r>
              <a:rPr lang="en-US" altLang="en-US" dirty="0"/>
              <a:t>Find the standard deviation.</a:t>
            </a:r>
          </a:p>
        </p:txBody>
      </p:sp>
      <p:sp>
        <p:nvSpPr>
          <p:cNvPr id="67598" name="Rectangle 14">
            <a:extLst>
              <a:ext uri="{FF2B5EF4-FFF2-40B4-BE49-F238E27FC236}">
                <a16:creationId xmlns:a16="http://schemas.microsoft.com/office/drawing/2014/main" xmlns="" id="{463A0238-95BF-4936-BBEE-BB5CAAC0D27B}"/>
              </a:ext>
            </a:extLst>
          </p:cNvPr>
          <p:cNvSpPr>
            <a:spLocks noChangeArrowheads="1"/>
          </p:cNvSpPr>
          <p:nvPr/>
        </p:nvSpPr>
        <p:spPr bwMode="auto">
          <a:xfrm>
            <a:off x="3543300" y="4431141"/>
            <a:ext cx="520516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i="1" dirty="0">
                <a:solidFill>
                  <a:srgbClr val="3366FF"/>
                </a:solidFill>
              </a:rPr>
              <a:t>The standard deviation is the square root of the variance.</a:t>
            </a:r>
            <a:r>
              <a:rPr lang="en-US" altLang="en-US" dirty="0">
                <a:solidFill>
                  <a:srgbClr val="3366FF"/>
                </a:solidFill>
              </a:rPr>
              <a:t> </a:t>
            </a:r>
          </a:p>
        </p:txBody>
      </p:sp>
      <p:sp>
        <p:nvSpPr>
          <p:cNvPr id="67599" name="Rectangle 15">
            <a:extLst>
              <a:ext uri="{FF2B5EF4-FFF2-40B4-BE49-F238E27FC236}">
                <a16:creationId xmlns:a16="http://schemas.microsoft.com/office/drawing/2014/main" xmlns="" id="{B1167E09-BC0E-47BE-9253-9E24B7B516DE}"/>
              </a:ext>
            </a:extLst>
          </p:cNvPr>
          <p:cNvSpPr>
            <a:spLocks noChangeArrowheads="1"/>
          </p:cNvSpPr>
          <p:nvPr/>
        </p:nvSpPr>
        <p:spPr bwMode="auto">
          <a:xfrm>
            <a:off x="1314450" y="5558266"/>
            <a:ext cx="6400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400">
                <a:solidFill>
                  <a:schemeClr val="tx1"/>
                </a:solidFill>
                <a:latin typeface="Verdana" panose="020B0604030504040204" pitchFamily="34" charset="0"/>
              </a:defRPr>
            </a:lvl1pPr>
            <a:lvl2pPr marL="742950" indent="-285750" eaLnBrk="0" hangingPunct="0">
              <a:defRPr sz="2400">
                <a:solidFill>
                  <a:schemeClr val="tx1"/>
                </a:solidFill>
                <a:latin typeface="Verdana" panose="020B0604030504040204" pitchFamily="34" charset="0"/>
              </a:defRPr>
            </a:lvl2pPr>
            <a:lvl3pPr marL="1143000" indent="-228600" eaLnBrk="0" hangingPunct="0">
              <a:defRPr sz="2400">
                <a:solidFill>
                  <a:schemeClr val="tx1"/>
                </a:solidFill>
                <a:latin typeface="Verdana" panose="020B0604030504040204" pitchFamily="34" charset="0"/>
              </a:defRPr>
            </a:lvl3pPr>
            <a:lvl4pPr marL="1600200" indent="-228600" eaLnBrk="0" hangingPunct="0">
              <a:defRPr sz="2400">
                <a:solidFill>
                  <a:schemeClr val="tx1"/>
                </a:solidFill>
                <a:latin typeface="Verdana" panose="020B0604030504040204" pitchFamily="34" charset="0"/>
              </a:defRPr>
            </a:lvl4pPr>
            <a:lvl5pPr marL="2057400" indent="-228600" eaLnBrk="0" hangingPunct="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dirty="0"/>
              <a:t>The mean is 1.4 stops and the standard deviation is about 1.6 stops.</a:t>
            </a:r>
          </a:p>
        </p:txBody>
      </p:sp>
      <p:pic>
        <p:nvPicPr>
          <p:cNvPr id="67601" name="Picture 17" descr="1">
            <a:extLst>
              <a:ext uri="{FF2B5EF4-FFF2-40B4-BE49-F238E27FC236}">
                <a16:creationId xmlns:a16="http://schemas.microsoft.com/office/drawing/2014/main" xmlns="" id="{3DB766B3-4EC7-47F9-8281-7D2BC43B29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9065" y="2733813"/>
            <a:ext cx="66865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02" name="Picture 18" descr="1">
            <a:extLst>
              <a:ext uri="{FF2B5EF4-FFF2-40B4-BE49-F238E27FC236}">
                <a16:creationId xmlns:a16="http://schemas.microsoft.com/office/drawing/2014/main" xmlns="" id="{E7E3E97B-CB0F-4448-9237-FDC8AF9D8B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1" y="3429000"/>
            <a:ext cx="978694"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03" name="Picture 19" descr="1">
            <a:extLst>
              <a:ext uri="{FF2B5EF4-FFF2-40B4-BE49-F238E27FC236}">
                <a16:creationId xmlns:a16="http://schemas.microsoft.com/office/drawing/2014/main" xmlns="" id="{4DE3D483-3569-4EF7-8DD6-B0DC520F09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3050" y="4648202"/>
            <a:ext cx="158591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52436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7593"/>
                                        </p:tgtEl>
                                        <p:attrNameLst>
                                          <p:attrName>style.visibility</p:attrName>
                                        </p:attrNameLst>
                                      </p:cBhvr>
                                      <p:to>
                                        <p:strVal val="visible"/>
                                      </p:to>
                                    </p:set>
                                    <p:animEffect transition="in" filter="box(in)">
                                      <p:cBhvr>
                                        <p:cTn id="7" dur="500"/>
                                        <p:tgtEl>
                                          <p:spTgt spid="675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7601"/>
                                        </p:tgtEl>
                                        <p:attrNameLst>
                                          <p:attrName>style.visibility</p:attrName>
                                        </p:attrNameLst>
                                      </p:cBhvr>
                                      <p:to>
                                        <p:strVal val="visible"/>
                                      </p:to>
                                    </p:set>
                                    <p:animEffect transition="in" filter="box(in)">
                                      <p:cBhvr>
                                        <p:cTn id="12" dur="500"/>
                                        <p:tgtEl>
                                          <p:spTgt spid="676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7602"/>
                                        </p:tgtEl>
                                        <p:attrNameLst>
                                          <p:attrName>style.visibility</p:attrName>
                                        </p:attrNameLst>
                                      </p:cBhvr>
                                      <p:to>
                                        <p:strVal val="visible"/>
                                      </p:to>
                                    </p:set>
                                    <p:animEffect transition="in" filter="box(in)">
                                      <p:cBhvr>
                                        <p:cTn id="17" dur="500"/>
                                        <p:tgtEl>
                                          <p:spTgt spid="676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7595"/>
                                        </p:tgtEl>
                                        <p:attrNameLst>
                                          <p:attrName>style.visibility</p:attrName>
                                        </p:attrNameLst>
                                      </p:cBhvr>
                                      <p:to>
                                        <p:strVal val="visible"/>
                                      </p:to>
                                    </p:set>
                                    <p:animEffect transition="in" filter="box(in)">
                                      <p:cBhvr>
                                        <p:cTn id="22" dur="500"/>
                                        <p:tgtEl>
                                          <p:spTgt spid="675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7598"/>
                                        </p:tgtEl>
                                        <p:attrNameLst>
                                          <p:attrName>style.visibility</p:attrName>
                                        </p:attrNameLst>
                                      </p:cBhvr>
                                      <p:to>
                                        <p:strVal val="visible"/>
                                      </p:to>
                                    </p:set>
                                    <p:animEffect transition="in" filter="box(in)">
                                      <p:cBhvr>
                                        <p:cTn id="27" dur="500"/>
                                        <p:tgtEl>
                                          <p:spTgt spid="675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67603"/>
                                        </p:tgtEl>
                                        <p:attrNameLst>
                                          <p:attrName>style.visibility</p:attrName>
                                        </p:attrNameLst>
                                      </p:cBhvr>
                                      <p:to>
                                        <p:strVal val="visible"/>
                                      </p:to>
                                    </p:set>
                                    <p:animEffect transition="in" filter="box(in)">
                                      <p:cBhvr>
                                        <p:cTn id="32" dur="500"/>
                                        <p:tgtEl>
                                          <p:spTgt spid="676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7599"/>
                                        </p:tgtEl>
                                        <p:attrNameLst>
                                          <p:attrName>style.visibility</p:attrName>
                                        </p:attrNameLst>
                                      </p:cBhvr>
                                      <p:to>
                                        <p:strVal val="visible"/>
                                      </p:to>
                                    </p:set>
                                    <p:animEffect transition="in" filter="box(in)">
                                      <p:cBhvr>
                                        <p:cTn id="37" dur="500"/>
                                        <p:tgtEl>
                                          <p:spTgt spid="67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3" grpId="0"/>
      <p:bldP spid="67595" grpId="0"/>
      <p:bldP spid="67598" grpId="0"/>
      <p:bldP spid="6759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2003</Words>
  <Application>Microsoft Office PowerPoint</Application>
  <PresentationFormat>On-screen Show (4:3)</PresentationFormat>
  <Paragraphs>186</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Lecture 7  Measures of Central Tendency  07-08-2023</vt:lpstr>
      <vt:lpstr>Measure of central tendency</vt:lpstr>
      <vt:lpstr>Measures of central tendency</vt:lpstr>
      <vt:lpstr>PowerPoint Presentation</vt:lpstr>
      <vt:lpstr>Mean (Arithmetic) </vt:lpstr>
      <vt:lpstr>Pros of Mean</vt:lpstr>
      <vt:lpstr>Cons of mean</vt:lpstr>
      <vt:lpstr>Median </vt:lpstr>
      <vt:lpstr>Outliers</vt:lpstr>
      <vt:lpstr>Median </vt:lpstr>
      <vt:lpstr>Median Computation continue..</vt:lpstr>
      <vt:lpstr>Mode</vt:lpstr>
      <vt:lpstr>Mode Formula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  Measures of Central Tendency  07-08-2023</dc:title>
  <dc:creator>Admin</dc:creator>
  <cp:lastModifiedBy>Admin</cp:lastModifiedBy>
  <cp:revision>7</cp:revision>
  <dcterms:created xsi:type="dcterms:W3CDTF">2023-08-06T17:05:47Z</dcterms:created>
  <dcterms:modified xsi:type="dcterms:W3CDTF">2023-08-06T17:19:14Z</dcterms:modified>
</cp:coreProperties>
</file>