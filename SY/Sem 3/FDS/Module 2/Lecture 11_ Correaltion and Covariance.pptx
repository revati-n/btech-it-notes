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A3A0-8AD4-43CB-B228-271153BE1ABE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1F1E-BA4F-4FD8-9252-BE8B3A065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919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A3A0-8AD4-43CB-B228-271153BE1ABE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1F1E-BA4F-4FD8-9252-BE8B3A065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4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A3A0-8AD4-43CB-B228-271153BE1ABE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1F1E-BA4F-4FD8-9252-BE8B3A065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27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A3A0-8AD4-43CB-B228-271153BE1ABE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1F1E-BA4F-4FD8-9252-BE8B3A065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000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A3A0-8AD4-43CB-B228-271153BE1ABE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1F1E-BA4F-4FD8-9252-BE8B3A065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374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A3A0-8AD4-43CB-B228-271153BE1ABE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1F1E-BA4F-4FD8-9252-BE8B3A065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24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A3A0-8AD4-43CB-B228-271153BE1ABE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1F1E-BA4F-4FD8-9252-BE8B3A065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53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A3A0-8AD4-43CB-B228-271153BE1ABE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1F1E-BA4F-4FD8-9252-BE8B3A065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18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A3A0-8AD4-43CB-B228-271153BE1ABE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1F1E-BA4F-4FD8-9252-BE8B3A065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17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A3A0-8AD4-43CB-B228-271153BE1ABE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1F1E-BA4F-4FD8-9252-BE8B3A065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58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CA3A0-8AD4-43CB-B228-271153BE1ABE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1F1E-BA4F-4FD8-9252-BE8B3A065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786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CA3A0-8AD4-43CB-B228-271153BE1ABE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C1F1E-BA4F-4FD8-9252-BE8B3A0657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36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Lecture 11 Correlation and Covariance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16/08/2023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09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934DE7-E146-487F-B925-5A561E7F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1325563"/>
          </a:xfrm>
        </p:spPr>
        <p:txBody>
          <a:bodyPr/>
          <a:lstStyle/>
          <a:p>
            <a:r>
              <a:rPr lang="en-US" dirty="0"/>
              <a:t>Covariance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BE94E0B-51F3-488F-940F-634A8E40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9676"/>
            <a:ext cx="7886700" cy="5283200"/>
          </a:xfrm>
        </p:spPr>
        <p:txBody>
          <a:bodyPr>
            <a:normAutofit fontScale="70000" lnSpcReduction="2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In statistics and probability theory, covariance deals with the joint variability of two random variables: x and y.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Generally, it is treated as a statistical tool used to define the relationship between two variables.</a:t>
            </a:r>
          </a:p>
          <a:p>
            <a:r>
              <a:rPr lang="en-US" b="1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Covariance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is a measure of the relationship between two random variables and to what extent, they change together. 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Or we can say, in other words, it defines the changes between the two variables, such that change in one variable is equal to change in another variable.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This is the property of a function of maintaining its form when the variables are linearly transformed.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Covariance is measured in units, which are calculated by multiplying the units of the two variables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490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066323-EB36-4377-A35B-8379EB5CA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6676"/>
            <a:ext cx="7886700" cy="1028701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813588"/>
                </a:solidFill>
                <a:effectLst/>
                <a:latin typeface="Roboto" panose="02000000000000000000" pitchFamily="2" charset="0"/>
              </a:rPr>
              <a:t>Types of Covariance</a:t>
            </a:r>
            <a:br>
              <a:rPr lang="en-US" b="0" i="0" dirty="0">
                <a:solidFill>
                  <a:srgbClr val="813588"/>
                </a:solidFill>
                <a:effectLst/>
                <a:latin typeface="Roboto" panose="02000000000000000000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6D0D783-2D62-4C9B-8DA8-723AFA1F0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23925"/>
            <a:ext cx="7886700" cy="570547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0" i="0" dirty="0">
                <a:solidFill>
                  <a:srgbClr val="813588"/>
                </a:solidFill>
                <a:effectLst/>
                <a:latin typeface="Roboto" panose="02000000000000000000" pitchFamily="2" charset="0"/>
              </a:rPr>
              <a:t>Positive Covariance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If the covariance for any two variables is positive, that means, </a:t>
            </a:r>
            <a:r>
              <a:rPr lang="en-US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both the variables move in the same direction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. Here, the variables show similar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behaviour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. That means, if the values (greater or lesser) of one variable corresponds to the values of another variable, then they are said to be in positive covariance.</a:t>
            </a:r>
          </a:p>
          <a:p>
            <a:pPr algn="l"/>
            <a:r>
              <a:rPr lang="en-US" b="0" i="0" dirty="0">
                <a:solidFill>
                  <a:srgbClr val="813588"/>
                </a:solidFill>
                <a:effectLst/>
                <a:latin typeface="Roboto" panose="02000000000000000000" pitchFamily="2" charset="0"/>
              </a:rPr>
              <a:t>Negative Covariance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If the covariance for any two variables is negative, that </a:t>
            </a:r>
            <a:r>
              <a:rPr lang="en-US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means, both the variables move in the opposite direction. 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It is the opposite case of positive covariance, where greater values of one variable correspond to lesser values of another variable and vice-versa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31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62CAEA5-0E17-4C92-A799-6FCCDB5E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Covariance formula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4C7010E-D6A9-421B-8967-2000B45BE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Covariance formula is a statistical formula, used to evaluate the relationship between two variables.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 It is one of the statistical measurements to know the relationship between the variance between the two variables.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Let us say X and Y are any two variables, whose relationship has to be calculated. 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Thus the covariance of these two variables is denoted by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Cov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(X,Y).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965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7CDDF28-26EA-460A-A048-C1E9177F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813588"/>
                </a:solidFill>
                <a:effectLst/>
                <a:latin typeface="Roboto" panose="02000000000000000000" pitchFamily="2" charset="0"/>
              </a:rPr>
              <a:t>Covariance Formula</a:t>
            </a:r>
            <a:br>
              <a:rPr lang="en-IN" b="0" i="0" dirty="0">
                <a:solidFill>
                  <a:srgbClr val="813588"/>
                </a:solidFill>
                <a:effectLst/>
                <a:latin typeface="Roboto" panose="02000000000000000000" pitchFamily="2" charset="0"/>
              </a:rPr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26F1A57-A5FE-4B52-B64A-5D251A0D5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3" y="1347788"/>
            <a:ext cx="5950744" cy="4162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92AAD09-704B-4F58-8D87-C577E645A870}"/>
              </a:ext>
            </a:extLst>
          </p:cNvPr>
          <p:cNvSpPr txBox="1"/>
          <p:nvPr/>
        </p:nvSpPr>
        <p:spPr>
          <a:xfrm>
            <a:off x="5500688" y="2199412"/>
            <a:ext cx="384333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Where,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xi = data value of 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yi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 = data value of 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x̄ = mean of x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ȳ = mean of 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N = number of data values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6142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097B0D-A64C-4879-A752-6C775D31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Calculate the coefficient of covariance for the following data: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464A9701-E6E5-4A30-B8F2-02E848D268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162292"/>
              </p:ext>
            </p:extLst>
          </p:nvPr>
        </p:nvGraphicFramePr>
        <p:xfrm>
          <a:off x="905719" y="1822925"/>
          <a:ext cx="6573790" cy="1787050"/>
        </p:xfrm>
        <a:graphic>
          <a:graphicData uri="http://schemas.openxmlformats.org/drawingml/2006/table">
            <a:tbl>
              <a:tblPr/>
              <a:tblGrid>
                <a:gridCol w="939113">
                  <a:extLst>
                    <a:ext uri="{9D8B030D-6E8A-4147-A177-3AD203B41FA5}">
                      <a16:colId xmlns="" xmlns:a16="http://schemas.microsoft.com/office/drawing/2014/main" val="4227402919"/>
                    </a:ext>
                  </a:extLst>
                </a:gridCol>
                <a:gridCol w="889867">
                  <a:extLst>
                    <a:ext uri="{9D8B030D-6E8A-4147-A177-3AD203B41FA5}">
                      <a16:colId xmlns="" xmlns:a16="http://schemas.microsoft.com/office/drawing/2014/main" val="809884248"/>
                    </a:ext>
                  </a:extLst>
                </a:gridCol>
                <a:gridCol w="988358">
                  <a:extLst>
                    <a:ext uri="{9D8B030D-6E8A-4147-A177-3AD203B41FA5}">
                      <a16:colId xmlns="" xmlns:a16="http://schemas.microsoft.com/office/drawing/2014/main" val="4056644604"/>
                    </a:ext>
                  </a:extLst>
                </a:gridCol>
                <a:gridCol w="939113">
                  <a:extLst>
                    <a:ext uri="{9D8B030D-6E8A-4147-A177-3AD203B41FA5}">
                      <a16:colId xmlns="" xmlns:a16="http://schemas.microsoft.com/office/drawing/2014/main" val="3263671493"/>
                    </a:ext>
                  </a:extLst>
                </a:gridCol>
                <a:gridCol w="939113">
                  <a:extLst>
                    <a:ext uri="{9D8B030D-6E8A-4147-A177-3AD203B41FA5}">
                      <a16:colId xmlns="" xmlns:a16="http://schemas.microsoft.com/office/drawing/2014/main" val="4097262876"/>
                    </a:ext>
                  </a:extLst>
                </a:gridCol>
                <a:gridCol w="939113">
                  <a:extLst>
                    <a:ext uri="{9D8B030D-6E8A-4147-A177-3AD203B41FA5}">
                      <a16:colId xmlns="" xmlns:a16="http://schemas.microsoft.com/office/drawing/2014/main" val="3967593496"/>
                    </a:ext>
                  </a:extLst>
                </a:gridCol>
                <a:gridCol w="939113">
                  <a:extLst>
                    <a:ext uri="{9D8B030D-6E8A-4147-A177-3AD203B41FA5}">
                      <a16:colId xmlns="" xmlns:a16="http://schemas.microsoft.com/office/drawing/2014/main" val="3385167513"/>
                    </a:ext>
                  </a:extLst>
                </a:gridCol>
              </a:tblGrid>
              <a:tr h="893525">
                <a:tc>
                  <a:txBody>
                    <a:bodyPr/>
                    <a:lstStyle/>
                    <a:p>
                      <a:r>
                        <a:rPr lang="en-IN" sz="2800" b="0">
                          <a:effectLst/>
                        </a:rPr>
                        <a:t>X</a:t>
                      </a:r>
                      <a:endParaRPr lang="en-IN" sz="280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>
                          <a:effectLst/>
                        </a:rPr>
                        <a:t>2</a:t>
                      </a:r>
                      <a:endParaRPr lang="en-IN" sz="280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>
                          <a:effectLst/>
                        </a:rPr>
                        <a:t>8</a:t>
                      </a:r>
                      <a:endParaRPr lang="en-IN" sz="280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>
                          <a:effectLst/>
                        </a:rPr>
                        <a:t>18</a:t>
                      </a:r>
                      <a:endParaRPr lang="en-IN" sz="280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>
                          <a:effectLst/>
                        </a:rPr>
                        <a:t>20</a:t>
                      </a:r>
                      <a:endParaRPr lang="en-IN" sz="280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>
                          <a:effectLst/>
                        </a:rPr>
                        <a:t>28</a:t>
                      </a:r>
                      <a:endParaRPr lang="en-IN" sz="280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>
                          <a:effectLst/>
                        </a:rPr>
                        <a:t>30</a:t>
                      </a:r>
                      <a:endParaRPr lang="en-IN" sz="280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95754702"/>
                  </a:ext>
                </a:extLst>
              </a:tr>
              <a:tr h="893525">
                <a:tc>
                  <a:txBody>
                    <a:bodyPr/>
                    <a:lstStyle/>
                    <a:p>
                      <a:r>
                        <a:rPr lang="en-IN" sz="2800" b="0">
                          <a:effectLst/>
                        </a:rPr>
                        <a:t>Y</a:t>
                      </a:r>
                      <a:endParaRPr lang="en-IN" sz="280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>
                          <a:effectLst/>
                        </a:rPr>
                        <a:t>5</a:t>
                      </a:r>
                      <a:endParaRPr lang="en-IN" sz="280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>
                          <a:effectLst/>
                        </a:rPr>
                        <a:t>12</a:t>
                      </a:r>
                      <a:endParaRPr lang="en-IN" sz="280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 dirty="0">
                          <a:effectLst/>
                        </a:rPr>
                        <a:t>18</a:t>
                      </a:r>
                      <a:endParaRPr lang="en-IN" sz="2800" dirty="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>
                          <a:effectLst/>
                        </a:rPr>
                        <a:t>23</a:t>
                      </a:r>
                      <a:endParaRPr lang="en-IN" sz="280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>
                          <a:effectLst/>
                        </a:rPr>
                        <a:t>45</a:t>
                      </a:r>
                      <a:endParaRPr lang="en-IN" sz="280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0" dirty="0">
                          <a:effectLst/>
                        </a:rPr>
                        <a:t>50</a:t>
                      </a:r>
                      <a:endParaRPr lang="en-IN" sz="2800" dirty="0">
                        <a:effectLst/>
                      </a:endParaRPr>
                    </a:p>
                  </a:txBody>
                  <a:tcPr marL="52388" marR="52388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604500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D799624-5CAB-49D4-9136-EC68AC68A75B}"/>
              </a:ext>
            </a:extLst>
          </p:cNvPr>
          <p:cNvSpPr txBox="1"/>
          <p:nvPr/>
        </p:nvSpPr>
        <p:spPr>
          <a:xfrm>
            <a:off x="905719" y="3881736"/>
            <a:ext cx="63594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Number of observations = 6</a:t>
            </a:r>
          </a:p>
          <a:p>
            <a:pPr algn="l"/>
            <a:r>
              <a:rPr lang="en-US" sz="24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Mean of X = 17.67</a:t>
            </a:r>
          </a:p>
          <a:p>
            <a:pPr algn="l"/>
            <a:r>
              <a:rPr lang="en-US" sz="24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Mean of Y = 25.5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B4702F1-A9E8-4DAE-B571-DA0E44A7FB5F}"/>
              </a:ext>
            </a:extLst>
          </p:cNvPr>
          <p:cNvSpPr txBox="1"/>
          <p:nvPr/>
        </p:nvSpPr>
        <p:spPr>
          <a:xfrm>
            <a:off x="905719" y="5128915"/>
            <a:ext cx="78096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Cov</a:t>
            </a:r>
            <a:r>
              <a:rPr lang="es-ES" sz="20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(X, Y) = (⅙) [(2 – 17.67)(5 – 25.5) + (8 – 17.67)(12 – 25.5) + (18 – 17.67)(18 – 25.5) + (20 – 17.67)(23 – 25.5) + (28 – 17.67)(45 – 25.5) + (30 – 17.67)(50 – 25.5)]</a:t>
            </a: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4158CD3-12C8-449E-895D-DDC4397DBD50}"/>
              </a:ext>
            </a:extLst>
          </p:cNvPr>
          <p:cNvSpPr txBox="1"/>
          <p:nvPr/>
        </p:nvSpPr>
        <p:spPr>
          <a:xfrm>
            <a:off x="2195736" y="61006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= 157.83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485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AD3E502-17A6-487F-B9E0-7BFEE2A6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Interpretations Covariance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B7D9C0E-BD07-41D1-A3E0-4EE45A6BE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53" y="2103437"/>
            <a:ext cx="6179344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96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915546-0FB5-4644-8D48-B41B24DD7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Interpretations Covariance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BD8DC90-9FAB-47BD-A5D6-D242AE85F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If </a:t>
            </a:r>
            <a:r>
              <a:rPr lang="en-US" b="1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cov</a:t>
            </a:r>
            <a:r>
              <a:rPr lang="en-US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(X, Y) is greater than zero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, then we can say that the covariance for any two variables is</a:t>
            </a:r>
            <a:r>
              <a:rPr lang="en-US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 positive 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and both the variables move in the same direction.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If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cov</a:t>
            </a:r>
            <a:r>
              <a:rPr lang="en-US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(X, Y) is less than zero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, then we can say that the covariance for any two variables is</a:t>
            </a:r>
            <a:r>
              <a:rPr lang="en-US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negative 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and both the variables move in the opposite direction.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If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cov</a:t>
            </a:r>
            <a:r>
              <a:rPr lang="en-US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(X, Y) is zero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, then we can say that there is </a:t>
            </a:r>
            <a:r>
              <a:rPr lang="en-US" b="0" i="0" dirty="0">
                <a:solidFill>
                  <a:srgbClr val="00B050"/>
                </a:solidFill>
                <a:effectLst/>
                <a:latin typeface="Roboto" panose="02000000000000000000" pitchFamily="2" charset="0"/>
              </a:rPr>
              <a:t>no relation between two variables.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6994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B2956C-3F7C-40AD-9E74-F5F3609D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813588"/>
                </a:solidFill>
                <a:effectLst/>
                <a:latin typeface="Roboto" panose="02000000000000000000" pitchFamily="2" charset="0"/>
              </a:rPr>
              <a:t>Correlation Coefficient &amp; Formula</a:t>
            </a:r>
            <a:br>
              <a:rPr lang="en-IN" b="0" i="0" dirty="0">
                <a:solidFill>
                  <a:srgbClr val="813588"/>
                </a:solidFill>
                <a:effectLst/>
                <a:latin typeface="Roboto" panose="02000000000000000000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4291584-7E38-448C-94CA-EC195AE7A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85875"/>
            <a:ext cx="7886700" cy="5105400"/>
          </a:xfrm>
        </p:spPr>
        <p:txBody>
          <a:bodyPr>
            <a:normAutofit fontScale="77500" lnSpcReduction="2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Correlation estimates the depth of the relationship between variables. It is the estimated measure of covariance and is dimensionless. In other words, the correlation coefficient is a constant value always and does not have any units. The relationship between the correlation coefficient and covariance is given by:</a:t>
            </a:r>
          </a:p>
          <a:p>
            <a:endParaRPr lang="en-US" dirty="0">
              <a:solidFill>
                <a:srgbClr val="333333"/>
              </a:solidFill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ρ(X,Y) = correlation between the variables X and 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Cov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(X,Y) = covariance between the variables X and 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σX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 = standard deviation of the X variable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σY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 = standard deviation of the Y variable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9FD04C1-CD43-4047-B5D6-023270946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594" y="3732213"/>
            <a:ext cx="291465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41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7F8269-7727-4804-9887-79693135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333333"/>
                </a:solidFill>
                <a:latin typeface="Roboto" panose="02000000000000000000" pitchFamily="2" charset="0"/>
              </a:rPr>
              <a:t>G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raphical representation of correlation among two variables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65A6112-E8E9-4F84-9D04-186D1A882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5" y="1924050"/>
            <a:ext cx="5586412" cy="469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396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77AD5F-6A82-4D6B-B610-73F4A6EF9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-171400"/>
            <a:ext cx="8407846" cy="835025"/>
          </a:xfrm>
        </p:spPr>
        <p:txBody>
          <a:bodyPr>
            <a:normAutofit fontScale="90000"/>
          </a:bodyPr>
          <a:lstStyle/>
          <a:p>
            <a:r>
              <a:rPr lang="en-US" dirty="0"/>
              <a:t>D</a:t>
            </a:r>
            <a:r>
              <a:rPr lang="en-US" sz="4000" dirty="0"/>
              <a:t>ifference Between Covariance-Correlation</a:t>
            </a:r>
            <a:endParaRPr lang="en-IN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AB1CA388-5134-40B2-8630-DB38ECC8C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404238"/>
              </p:ext>
            </p:extLst>
          </p:nvPr>
        </p:nvGraphicFramePr>
        <p:xfrm>
          <a:off x="179512" y="764704"/>
          <a:ext cx="8784976" cy="5933800"/>
        </p:xfrm>
        <a:graphic>
          <a:graphicData uri="http://schemas.openxmlformats.org/drawingml/2006/table">
            <a:tbl>
              <a:tblPr/>
              <a:tblGrid>
                <a:gridCol w="4392488">
                  <a:extLst>
                    <a:ext uri="{9D8B030D-6E8A-4147-A177-3AD203B41FA5}">
                      <a16:colId xmlns="" xmlns:a16="http://schemas.microsoft.com/office/drawing/2014/main" val="57154176"/>
                    </a:ext>
                  </a:extLst>
                </a:gridCol>
                <a:gridCol w="4392488">
                  <a:extLst>
                    <a:ext uri="{9D8B030D-6E8A-4147-A177-3AD203B41FA5}">
                      <a16:colId xmlns="" xmlns:a16="http://schemas.microsoft.com/office/drawing/2014/main" val="3668963767"/>
                    </a:ext>
                  </a:extLst>
                </a:gridCol>
              </a:tblGrid>
              <a:tr h="470663">
                <a:tc>
                  <a:txBody>
                    <a:bodyPr/>
                    <a:lstStyle/>
                    <a:p>
                      <a:r>
                        <a:rPr lang="en-IN" sz="2800" b="1" dirty="0">
                          <a:effectLst/>
                        </a:rPr>
                        <a:t>Covariance</a:t>
                      </a:r>
                      <a:endParaRPr lang="en-IN" sz="2800" dirty="0">
                        <a:effectLst/>
                      </a:endParaRPr>
                    </a:p>
                  </a:txBody>
                  <a:tcPr marL="39852" marR="39852" marT="38644" marB="3864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>
                          <a:effectLst/>
                        </a:rPr>
                        <a:t>Correlation</a:t>
                      </a:r>
                      <a:endParaRPr lang="en-IN" sz="2800">
                        <a:effectLst/>
                      </a:endParaRPr>
                    </a:p>
                  </a:txBody>
                  <a:tcPr marL="39852" marR="39852" marT="38644" marB="3864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02057555"/>
                  </a:ext>
                </a:extLst>
              </a:tr>
              <a:tr h="1666127">
                <a:tc>
                  <a:txBody>
                    <a:bodyPr/>
                    <a:lstStyle/>
                    <a:p>
                      <a:r>
                        <a:rPr lang="en-US" sz="2800" b="0" dirty="0">
                          <a:effectLst/>
                        </a:rPr>
                        <a:t>It is a measure to show the extent to which given two random variables change with respect to each other.</a:t>
                      </a:r>
                      <a:endParaRPr lang="en-US" sz="2800" dirty="0">
                        <a:effectLst/>
                      </a:endParaRPr>
                    </a:p>
                  </a:txBody>
                  <a:tcPr marL="39852" marR="39852" marT="38644" marB="3864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effectLst/>
                        </a:rPr>
                        <a:t>It is a measure used to describe how strongly the given two random variables are related to each other.</a:t>
                      </a:r>
                      <a:endParaRPr lang="en-US" sz="2800" dirty="0">
                        <a:effectLst/>
                      </a:endParaRPr>
                    </a:p>
                  </a:txBody>
                  <a:tcPr marL="39852" marR="39852" marT="38644" marB="3864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50055847"/>
                  </a:ext>
                </a:extLst>
              </a:tr>
              <a:tr h="869151"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</a:rPr>
                        <a:t>It is a measure of correlation.</a:t>
                      </a:r>
                      <a:endParaRPr lang="en-US" sz="2800">
                        <a:effectLst/>
                      </a:endParaRPr>
                    </a:p>
                  </a:txBody>
                  <a:tcPr marL="39852" marR="39852" marT="38644" marB="3864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</a:rPr>
                        <a:t>It is defined as the scaled form of covariance.</a:t>
                      </a:r>
                      <a:endParaRPr lang="en-US" sz="2800">
                        <a:effectLst/>
                      </a:endParaRPr>
                    </a:p>
                  </a:txBody>
                  <a:tcPr marL="39852" marR="39852" marT="38644" marB="3864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20507593"/>
                  </a:ext>
                </a:extLst>
              </a:tr>
              <a:tr h="869151">
                <a:tc>
                  <a:txBody>
                    <a:bodyPr/>
                    <a:lstStyle/>
                    <a:p>
                      <a:r>
                        <a:rPr lang="en-US" sz="2800" b="0" dirty="0">
                          <a:effectLst/>
                        </a:rPr>
                        <a:t>The value of covariance lies between -∞ and +∞.</a:t>
                      </a:r>
                      <a:endParaRPr lang="en-US" sz="2800" dirty="0">
                        <a:effectLst/>
                      </a:endParaRPr>
                    </a:p>
                  </a:txBody>
                  <a:tcPr marL="39852" marR="39852" marT="38644" marB="3864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>
                          <a:effectLst/>
                        </a:rPr>
                        <a:t>The value of correlation lies between -1 and +1.</a:t>
                      </a:r>
                      <a:endParaRPr lang="en-US" sz="2800">
                        <a:effectLst/>
                      </a:endParaRPr>
                    </a:p>
                  </a:txBody>
                  <a:tcPr marL="39852" marR="39852" marT="38644" marB="3864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0117836"/>
                  </a:ext>
                </a:extLst>
              </a:tr>
              <a:tr h="1666127">
                <a:tc>
                  <a:txBody>
                    <a:bodyPr/>
                    <a:lstStyle/>
                    <a:p>
                      <a:r>
                        <a:rPr lang="en-US" sz="2800" b="0" dirty="0">
                          <a:effectLst/>
                        </a:rPr>
                        <a:t>It indicates the direction of the linear relationship between the given two variables.</a:t>
                      </a:r>
                      <a:endParaRPr lang="en-US" sz="2800" dirty="0">
                        <a:effectLst/>
                      </a:endParaRPr>
                    </a:p>
                  </a:txBody>
                  <a:tcPr marL="39852" marR="39852" marT="38644" marB="3864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effectLst/>
                        </a:rPr>
                        <a:t>It measures the direction and strength of the linear relationship between the given two variables.</a:t>
                      </a:r>
                      <a:endParaRPr lang="en-US" sz="2800" dirty="0">
                        <a:effectLst/>
                      </a:endParaRPr>
                    </a:p>
                  </a:txBody>
                  <a:tcPr marL="39852" marR="39852" marT="38644" marB="38644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35741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38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Microsoft Office PowerPoint</Application>
  <PresentationFormat>On-screen Show (4:3)</PresentationFormat>
  <Paragraphs>69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Lecture 11 Correlation and Covariance</vt:lpstr>
      <vt:lpstr>Covariance</vt:lpstr>
      <vt:lpstr>Types of Covariance </vt:lpstr>
      <vt:lpstr>Covariance formula</vt:lpstr>
      <vt:lpstr>Covariance Formula </vt:lpstr>
      <vt:lpstr>Example: Calculate the coefficient of covariance for the following data:</vt:lpstr>
      <vt:lpstr>Interpretations Covariance</vt:lpstr>
      <vt:lpstr>Interpretations Covariance</vt:lpstr>
      <vt:lpstr>Correlation Coefficient &amp; Formula </vt:lpstr>
      <vt:lpstr>Graphical representation of correlation among two variables</vt:lpstr>
      <vt:lpstr>Difference Between Covariance-Correlation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2023-08-13T17:48:59Z</dcterms:created>
  <dcterms:modified xsi:type="dcterms:W3CDTF">2023-08-16T03:31:41Z</dcterms:modified>
</cp:coreProperties>
</file>