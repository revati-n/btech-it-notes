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7" r:id="rId5"/>
    <p:sldId id="298" r:id="rId6"/>
    <p:sldId id="300" r:id="rId7"/>
    <p:sldId id="301" r:id="rId8"/>
    <p:sldId id="303" r:id="rId9"/>
    <p:sldId id="304" r:id="rId10"/>
    <p:sldId id="299" r:id="rId11"/>
    <p:sldId id="305" r:id="rId12"/>
    <p:sldId id="306" r:id="rId13"/>
    <p:sldId id="307" r:id="rId14"/>
    <p:sldId id="308" r:id="rId15"/>
    <p:sldId id="266" r:id="rId16"/>
    <p:sldId id="267" r:id="rId17"/>
    <p:sldId id="268" r:id="rId18"/>
    <p:sldId id="272" r:id="rId19"/>
    <p:sldId id="269" r:id="rId20"/>
    <p:sldId id="271" r:id="rId21"/>
    <p:sldId id="288" r:id="rId22"/>
    <p:sldId id="289" r:id="rId23"/>
    <p:sldId id="290" r:id="rId24"/>
    <p:sldId id="291" r:id="rId25"/>
    <p:sldId id="292" r:id="rId26"/>
    <p:sldId id="293" r:id="rId27"/>
    <p:sldId id="294" r:id="rId28"/>
    <p:sldId id="295" r:id="rId29"/>
    <p:sldId id="270" r:id="rId30"/>
    <p:sldId id="259" r:id="rId31"/>
    <p:sldId id="260" r:id="rId32"/>
    <p:sldId id="261" r:id="rId33"/>
    <p:sldId id="273" r:id="rId34"/>
    <p:sldId id="274" r:id="rId35"/>
    <p:sldId id="262" r:id="rId36"/>
    <p:sldId id="275" r:id="rId37"/>
    <p:sldId id="276" r:id="rId38"/>
    <p:sldId id="263" r:id="rId39"/>
    <p:sldId id="264" r:id="rId40"/>
    <p:sldId id="265" r:id="rId41"/>
    <p:sldId id="277" r:id="rId42"/>
    <p:sldId id="278" r:id="rId43"/>
    <p:sldId id="279" r:id="rId44"/>
    <p:sldId id="281" r:id="rId45"/>
    <p:sldId id="282" r:id="rId46"/>
    <p:sldId id="280" r:id="rId47"/>
    <p:sldId id="283" r:id="rId48"/>
    <p:sldId id="286" r:id="rId49"/>
    <p:sldId id="285" r:id="rId50"/>
    <p:sldId id="309" r:id="rId51"/>
    <p:sldId id="310" r:id="rId52"/>
    <p:sldId id="29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58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3C93E7-44C0-4D38-A2C0-302640581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89A5BCD-31AD-43A8-B8F1-8908C9BF66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CFB3177-6085-4E39-B36B-0E9D5F55118C}"/>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F573EDD2-B6B4-46E5-8C5B-0261C4AA67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097776F-3862-49B3-B581-A0A9A1362A2F}"/>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1807776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32F03B-8779-4791-A083-9A3A973B7F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634D6A0-3CA7-4986-BCF7-590E226C03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8D61475-F78F-4ADA-B76B-DEC8FD72CE38}"/>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AC47A819-A273-4B5D-8980-411EEED12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5366B9B-D4D0-4591-BA5E-2D6B65C2C60A}"/>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405922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56FAA4-66AA-4D73-8A24-D4AD6505CE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80C4B2D-DC55-49E4-AC9E-3DAD32988B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CE68FE6-C156-427A-903B-740A05907843}"/>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47FD6A2E-1A55-4595-8CE6-F49BE495FB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3FB4C90-0BDD-40B7-B92E-8A2C13C5B3EE}"/>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2937662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3525F8-174A-44D0-8C8B-EC60803A84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8AEDA3D-9FA8-4395-8D1F-A7AF1D8D04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C5258E3-92B8-49E1-A50C-9A98FE59AE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A691B17-4A92-4B48-A71F-799CAA8E3395}"/>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6" name="Footer Placeholder 5">
            <a:extLst>
              <a:ext uri="{FF2B5EF4-FFF2-40B4-BE49-F238E27FC236}">
                <a16:creationId xmlns:a16="http://schemas.microsoft.com/office/drawing/2014/main" xmlns="" id="{E3A312E2-07A9-4ECC-BB20-CFD552947C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4E39AA8-20D2-47DA-8856-1EACEF077E35}"/>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272095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C8FE16-F4C2-4B1A-88DE-5AF38C3A6E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A9BACD5-0E36-470C-A80C-155D71F8F9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A71D5B4-AA2C-4FF0-A16F-A8E6E656DC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FC9EF87-F110-4D79-9039-358CCC2CF3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C68C209-F479-4851-8967-71E30B74FB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FE4C94C-E63A-4195-B73C-0480159943A5}"/>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8" name="Footer Placeholder 7">
            <a:extLst>
              <a:ext uri="{FF2B5EF4-FFF2-40B4-BE49-F238E27FC236}">
                <a16:creationId xmlns:a16="http://schemas.microsoft.com/office/drawing/2014/main" xmlns="" id="{468C3510-B628-4627-A51B-FD279DC2C2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9216EBE3-E639-4399-B936-648F8B4EE111}"/>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1187048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5359D8-8DE4-4652-B5B3-A471F1CA08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8601DA5C-1028-4624-B1EA-D896EBAFC58C}"/>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4" name="Footer Placeholder 3">
            <a:extLst>
              <a:ext uri="{FF2B5EF4-FFF2-40B4-BE49-F238E27FC236}">
                <a16:creationId xmlns:a16="http://schemas.microsoft.com/office/drawing/2014/main" xmlns="" id="{A3D261E4-3F3D-4BDC-98A3-BCD6E4CBB11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DCA04D7D-8505-4815-92B9-ADC74A3338FD}"/>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81351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CB75CCC-ECFC-4FE0-8E77-91A5234EC272}"/>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3" name="Footer Placeholder 2">
            <a:extLst>
              <a:ext uri="{FF2B5EF4-FFF2-40B4-BE49-F238E27FC236}">
                <a16:creationId xmlns:a16="http://schemas.microsoft.com/office/drawing/2014/main" xmlns="" id="{5983B242-AD3D-4A46-9729-BFE1404E73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3A624D0-3816-4BD9-A711-07BF199D91A8}"/>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174887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B3EEE5-6507-4FEF-9BBE-14C52998A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B634094-8CAD-4202-B2DE-EA6E055AFA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E716C52-F0B9-44F1-B1EB-E2E3FBEF0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762A172-BF2B-469E-AAA9-340EFF0A386B}"/>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6" name="Footer Placeholder 5">
            <a:extLst>
              <a:ext uri="{FF2B5EF4-FFF2-40B4-BE49-F238E27FC236}">
                <a16:creationId xmlns:a16="http://schemas.microsoft.com/office/drawing/2014/main" xmlns="" id="{887DC4EA-FC48-4A1B-930B-D35C1E88E4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80CA7B9-6857-463C-9310-E22A8845A677}"/>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4238065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3660A-C3BE-4D8E-A0A5-E4B37676E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A3422E3-4418-4EFC-BA06-AC79C8EC97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927779B9-FD1E-40D3-AF05-588A69979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2526DDE-BCA4-4DB0-BB2E-EEC93AE88D89}"/>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6" name="Footer Placeholder 5">
            <a:extLst>
              <a:ext uri="{FF2B5EF4-FFF2-40B4-BE49-F238E27FC236}">
                <a16:creationId xmlns:a16="http://schemas.microsoft.com/office/drawing/2014/main" xmlns="" id="{9B8721E2-07F3-4B84-9FA5-4C11C2E394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5C56E79-E982-4A3C-A24B-5792675AA3D8}"/>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11716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D0CE8-0D09-47D7-BA56-2BFB26A7BE9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3FCC598-E441-4DA1-9EA4-75AABD4D5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EEE6AF2-F249-4C6F-BF7D-EE8531146031}"/>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FE24E8D1-AA90-4D3E-847D-097115D8D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4FF9766-E51C-4FEF-B026-C826E87D7D94}"/>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250682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DBC5633-B9D2-4E7A-B977-27104E8D35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F01F896-0213-4FE7-B467-227D092A7E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DAF3CA8-1B9F-4547-95BC-3598B37B434D}"/>
              </a:ext>
            </a:extLst>
          </p:cNvPr>
          <p:cNvSpPr>
            <a:spLocks noGrp="1"/>
          </p:cNvSpPr>
          <p:nvPr>
            <p:ph type="dt" sz="half" idx="10"/>
          </p:nvPr>
        </p:nvSpPr>
        <p:spPr/>
        <p:txBody>
          <a:body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8A384EA4-18DC-440A-B7FE-446AD9E81E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2CEC027-15D4-49B5-970E-44424D48C738}"/>
              </a:ext>
            </a:extLst>
          </p:cNvPr>
          <p:cNvSpPr>
            <a:spLocks noGrp="1"/>
          </p:cNvSpPr>
          <p:nvPr>
            <p:ph type="sldNum" sz="quarter" idx="12"/>
          </p:nvPr>
        </p:nvSpPr>
        <p:spPr/>
        <p:txBody>
          <a:bodyPr/>
          <a:lstStyle/>
          <a:p>
            <a:fld id="{C1D7B326-9A6D-4E02-8D25-2EAA523FFD3C}" type="slidenum">
              <a:rPr lang="en-IN" smtClean="0"/>
              <a:t>‹#›</a:t>
            </a:fld>
            <a:endParaRPr lang="en-IN"/>
          </a:p>
        </p:txBody>
      </p:sp>
    </p:spTree>
    <p:extLst>
      <p:ext uri="{BB962C8B-B14F-4D97-AF65-F5344CB8AC3E}">
        <p14:creationId xmlns:p14="http://schemas.microsoft.com/office/powerpoint/2010/main" val="758245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2EF6683-6756-49D4-8706-9DE83CBAC2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5B9B76C-E7F4-4D74-8D9D-9DAD8F2710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001954C-EBBE-4AFC-8986-51630DFD6F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AE6214-F39A-43B9-9E1D-9566FCB562CC}" type="datetimeFigureOut">
              <a:rPr lang="en-IN" smtClean="0"/>
              <a:t>18-08-2023</a:t>
            </a:fld>
            <a:endParaRPr lang="en-IN"/>
          </a:p>
        </p:txBody>
      </p:sp>
      <p:sp>
        <p:nvSpPr>
          <p:cNvPr id="5" name="Footer Placeholder 4">
            <a:extLst>
              <a:ext uri="{FF2B5EF4-FFF2-40B4-BE49-F238E27FC236}">
                <a16:creationId xmlns:a16="http://schemas.microsoft.com/office/drawing/2014/main" xmlns="" id="{042EBF63-DA17-4C5F-A1A9-59AF8A68C7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94201BDD-5312-4FBE-8912-73F292EFF1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D7B326-9A6D-4E02-8D25-2EAA523FFD3C}" type="slidenum">
              <a:rPr lang="en-IN" smtClean="0"/>
              <a:t>‹#›</a:t>
            </a:fld>
            <a:endParaRPr lang="en-IN"/>
          </a:p>
        </p:txBody>
      </p:sp>
    </p:spTree>
    <p:extLst>
      <p:ext uri="{BB962C8B-B14F-4D97-AF65-F5344CB8AC3E}">
        <p14:creationId xmlns:p14="http://schemas.microsoft.com/office/powerpoint/2010/main" val="4132089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nvestopedia.com/terms/n/normaldistribution.as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investopedia.com/terms/c/central_limit_theorem.as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investopedia.com/terms/z/zscore.as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investopedia.com/terms/t/type_1_error.asp" TargetMode="External"/><Relationship Id="rId2" Type="http://schemas.openxmlformats.org/officeDocument/2006/relationships/hyperlink" Target="https://www.investopedia.com/terms/t/t-test.asp"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B43677-9FB5-49E1-A7C6-513CBEDB3638}"/>
              </a:ext>
            </a:extLst>
          </p:cNvPr>
          <p:cNvSpPr>
            <a:spLocks noGrp="1"/>
          </p:cNvSpPr>
          <p:nvPr>
            <p:ph type="ctrTitle"/>
          </p:nvPr>
        </p:nvSpPr>
        <p:spPr/>
        <p:txBody>
          <a:bodyPr/>
          <a:lstStyle/>
          <a:p>
            <a:r>
              <a:rPr lang="en-US" dirty="0"/>
              <a:t>Lecture </a:t>
            </a:r>
            <a:r>
              <a:rPr lang="en-US" dirty="0" smtClean="0"/>
              <a:t>13: </a:t>
            </a:r>
            <a:r>
              <a:rPr lang="en-US" dirty="0"/>
              <a:t>ANOVA and Standard Deviation</a:t>
            </a:r>
            <a:endParaRPr lang="en-IN" dirty="0"/>
          </a:p>
        </p:txBody>
      </p:sp>
      <p:sp>
        <p:nvSpPr>
          <p:cNvPr id="3" name="Subtitle 2">
            <a:extLst>
              <a:ext uri="{FF2B5EF4-FFF2-40B4-BE49-F238E27FC236}">
                <a16:creationId xmlns:a16="http://schemas.microsoft.com/office/drawing/2014/main" xmlns="" id="{83862FB6-06C3-4678-B8DC-F08CBE18A3EE}"/>
              </a:ext>
            </a:extLst>
          </p:cNvPr>
          <p:cNvSpPr>
            <a:spLocks noGrp="1"/>
          </p:cNvSpPr>
          <p:nvPr>
            <p:ph type="subTitle" idx="1"/>
          </p:nvPr>
        </p:nvSpPr>
        <p:spPr>
          <a:xfrm>
            <a:off x="1524000" y="4392613"/>
            <a:ext cx="9144000" cy="1655762"/>
          </a:xfrm>
        </p:spPr>
        <p:txBody>
          <a:bodyPr/>
          <a:lstStyle/>
          <a:p>
            <a:r>
              <a:rPr lang="en-US" dirty="0" smtClean="0"/>
              <a:t>21  August</a:t>
            </a:r>
            <a:r>
              <a:rPr lang="en-US" dirty="0" smtClean="0"/>
              <a:t> 2023</a:t>
            </a:r>
            <a:endParaRPr lang="en-IN" dirty="0"/>
          </a:p>
        </p:txBody>
      </p:sp>
    </p:spTree>
    <p:extLst>
      <p:ext uri="{BB962C8B-B14F-4D97-AF65-F5344CB8AC3E}">
        <p14:creationId xmlns:p14="http://schemas.microsoft.com/office/powerpoint/2010/main" val="415539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4E3452-E136-4E35-8C27-9A8E2B58F731}"/>
              </a:ext>
            </a:extLst>
          </p:cNvPr>
          <p:cNvSpPr>
            <a:spLocks noGrp="1"/>
          </p:cNvSpPr>
          <p:nvPr>
            <p:ph type="title"/>
          </p:nvPr>
        </p:nvSpPr>
        <p:spPr/>
        <p:txBody>
          <a:bodyPr/>
          <a:lstStyle/>
          <a:p>
            <a:r>
              <a:rPr lang="en-US" b="0" i="0" dirty="0">
                <a:solidFill>
                  <a:srgbClr val="111111"/>
                </a:solidFill>
                <a:effectLst/>
                <a:latin typeface="Cabin-semi-bold"/>
              </a:rPr>
              <a:t>What is Analysis of Variance (ANOVA)?</a:t>
            </a:r>
            <a:br>
              <a:rPr lang="en-US"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4589B1C4-A578-4958-AE63-8312A02CA992}"/>
              </a:ext>
            </a:extLst>
          </p:cNvPr>
          <p:cNvSpPr>
            <a:spLocks noGrp="1"/>
          </p:cNvSpPr>
          <p:nvPr>
            <p:ph idx="1"/>
          </p:nvPr>
        </p:nvSpPr>
        <p:spPr/>
        <p:txBody>
          <a:bodyPr/>
          <a:lstStyle/>
          <a:p>
            <a:pPr algn="l"/>
            <a:r>
              <a:rPr lang="en-US" b="0" i="0" dirty="0">
                <a:solidFill>
                  <a:srgbClr val="111111"/>
                </a:solidFill>
                <a:effectLst/>
                <a:latin typeface="SourceSansPro"/>
              </a:rPr>
              <a:t>Analysis of variance (ANOVA) is an analysis tool used in statistics that splits an observed aggregate variability found inside a data set into two parts: systematic factors and random factors. </a:t>
            </a:r>
          </a:p>
          <a:p>
            <a:pPr algn="l"/>
            <a:r>
              <a:rPr lang="en-US" b="0" i="0" dirty="0">
                <a:solidFill>
                  <a:srgbClr val="111111"/>
                </a:solidFill>
                <a:effectLst/>
                <a:latin typeface="SourceSansPro"/>
              </a:rPr>
              <a:t>The systematic factors have a statistical influence on the given data set, while the random factors do not.</a:t>
            </a:r>
          </a:p>
          <a:p>
            <a:pPr algn="l"/>
            <a:r>
              <a:rPr lang="en-US" b="0" i="0" dirty="0">
                <a:solidFill>
                  <a:srgbClr val="111111"/>
                </a:solidFill>
                <a:effectLst/>
                <a:latin typeface="SourceSansPro"/>
              </a:rPr>
              <a:t> Analysts use the ANOVA test to determine the influence that independent variables have on the dependent variable in a regression study.</a:t>
            </a:r>
          </a:p>
          <a:p>
            <a:endParaRPr lang="en-IN" dirty="0"/>
          </a:p>
        </p:txBody>
      </p:sp>
    </p:spTree>
    <p:extLst>
      <p:ext uri="{BB962C8B-B14F-4D97-AF65-F5344CB8AC3E}">
        <p14:creationId xmlns:p14="http://schemas.microsoft.com/office/powerpoint/2010/main" val="327072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9B4489-A0F3-4FFC-A5CD-772DED00B697}"/>
              </a:ext>
            </a:extLst>
          </p:cNvPr>
          <p:cNvSpPr>
            <a:spLocks noGrp="1"/>
          </p:cNvSpPr>
          <p:nvPr>
            <p:ph type="title"/>
          </p:nvPr>
        </p:nvSpPr>
        <p:spPr/>
        <p:txBody>
          <a:bodyPr/>
          <a:lstStyle/>
          <a:p>
            <a:r>
              <a:rPr lang="en-US" dirty="0"/>
              <a:t>History of ANOVA</a:t>
            </a:r>
            <a:endParaRPr lang="en-IN" dirty="0"/>
          </a:p>
        </p:txBody>
      </p:sp>
      <p:sp>
        <p:nvSpPr>
          <p:cNvPr id="3" name="Content Placeholder 2">
            <a:extLst>
              <a:ext uri="{FF2B5EF4-FFF2-40B4-BE49-F238E27FC236}">
                <a16:creationId xmlns:a16="http://schemas.microsoft.com/office/drawing/2014/main" xmlns="" id="{795735BF-9975-4EB5-A816-EB2FC0E5A948}"/>
              </a:ext>
            </a:extLst>
          </p:cNvPr>
          <p:cNvSpPr>
            <a:spLocks noGrp="1"/>
          </p:cNvSpPr>
          <p:nvPr>
            <p:ph idx="1"/>
          </p:nvPr>
        </p:nvSpPr>
        <p:spPr/>
        <p:txBody>
          <a:bodyPr/>
          <a:lstStyle/>
          <a:p>
            <a:r>
              <a:rPr lang="en-US" b="0" i="0" dirty="0">
                <a:solidFill>
                  <a:srgbClr val="111111"/>
                </a:solidFill>
                <a:effectLst/>
                <a:latin typeface="SourceSansPro"/>
              </a:rPr>
              <a:t>The t- and </a:t>
            </a:r>
            <a:r>
              <a:rPr lang="en-US" dirty="0">
                <a:solidFill>
                  <a:srgbClr val="2C40D0"/>
                </a:solidFill>
                <a:latin typeface="SourceSansPro"/>
              </a:rPr>
              <a:t>z-test methods </a:t>
            </a:r>
            <a:r>
              <a:rPr lang="en-US" b="0" i="0" dirty="0">
                <a:solidFill>
                  <a:srgbClr val="111111"/>
                </a:solidFill>
                <a:effectLst/>
                <a:latin typeface="SourceSansPro"/>
              </a:rPr>
              <a:t> developed in the 20th century were used for statistical analysis until 1918, when Ronald Fisher created the analysis of variance method.</a:t>
            </a:r>
            <a:endParaRPr lang="en-US" baseline="30000" dirty="0">
              <a:solidFill>
                <a:srgbClr val="0000EE"/>
              </a:solidFill>
              <a:latin typeface="SourceSansPro"/>
            </a:endParaRPr>
          </a:p>
          <a:p>
            <a:r>
              <a:rPr lang="en-US" b="0" i="0" dirty="0">
                <a:solidFill>
                  <a:srgbClr val="111111"/>
                </a:solidFill>
                <a:effectLst/>
                <a:latin typeface="SourceSansPro"/>
              </a:rPr>
              <a:t> ANOVA is also called the Fisher analysis of variance, and it is the extension of the t- and z-tests.</a:t>
            </a:r>
          </a:p>
          <a:p>
            <a:r>
              <a:rPr lang="en-US" b="0" i="0" dirty="0">
                <a:solidFill>
                  <a:srgbClr val="111111"/>
                </a:solidFill>
                <a:effectLst/>
                <a:latin typeface="SourceSansPro"/>
              </a:rPr>
              <a:t> The term became well-known in 1925, after appearing in Fisher's book, "Statistical Methods for Research Workers.</a:t>
            </a:r>
          </a:p>
          <a:p>
            <a:r>
              <a:rPr lang="en-US" b="0" i="0" dirty="0">
                <a:solidFill>
                  <a:srgbClr val="111111"/>
                </a:solidFill>
                <a:effectLst/>
                <a:latin typeface="SourceSansPro"/>
              </a:rPr>
              <a:t> It was employed in experimental psychology and later expanded to subjects that were more complex.</a:t>
            </a:r>
            <a:endParaRPr lang="en-IN" dirty="0"/>
          </a:p>
        </p:txBody>
      </p:sp>
    </p:spTree>
    <p:extLst>
      <p:ext uri="{BB962C8B-B14F-4D97-AF65-F5344CB8AC3E}">
        <p14:creationId xmlns:p14="http://schemas.microsoft.com/office/powerpoint/2010/main" val="186344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B2912C-3DC0-4385-81D6-31192F653388}"/>
              </a:ext>
            </a:extLst>
          </p:cNvPr>
          <p:cNvSpPr>
            <a:spLocks noGrp="1"/>
          </p:cNvSpPr>
          <p:nvPr>
            <p:ph type="title"/>
          </p:nvPr>
        </p:nvSpPr>
        <p:spPr/>
        <p:txBody>
          <a:bodyPr/>
          <a:lstStyle/>
          <a:p>
            <a:r>
              <a:rPr lang="en-US" dirty="0"/>
              <a:t>T Test</a:t>
            </a:r>
            <a:endParaRPr lang="en-IN" dirty="0"/>
          </a:p>
        </p:txBody>
      </p:sp>
      <p:sp>
        <p:nvSpPr>
          <p:cNvPr id="3" name="Content Placeholder 2">
            <a:extLst>
              <a:ext uri="{FF2B5EF4-FFF2-40B4-BE49-F238E27FC236}">
                <a16:creationId xmlns:a16="http://schemas.microsoft.com/office/drawing/2014/main" xmlns="" id="{2EDDFCE6-27C4-4B18-8CED-82F177619DA1}"/>
              </a:ext>
            </a:extLst>
          </p:cNvPr>
          <p:cNvSpPr>
            <a:spLocks noGrp="1"/>
          </p:cNvSpPr>
          <p:nvPr>
            <p:ph idx="1"/>
          </p:nvPr>
        </p:nvSpPr>
        <p:spPr/>
        <p:txBody>
          <a:bodyPr>
            <a:normAutofit lnSpcReduction="10000"/>
          </a:bodyPr>
          <a:lstStyle/>
          <a:p>
            <a:pPr algn="l"/>
            <a:r>
              <a:rPr lang="en-US" b="0" dirty="0">
                <a:solidFill>
                  <a:srgbClr val="000000"/>
                </a:solidFill>
                <a:effectLst/>
                <a:latin typeface="Arial" panose="020B0604020202020204" pitchFamily="34" charset="0"/>
              </a:rPr>
              <a:t>The t-test and ANOVA examine whether group means differ from one another. The t-test compares two groups, while ANOVA can do more than two groups.</a:t>
            </a:r>
          </a:p>
          <a:p>
            <a:pPr algn="l"/>
            <a:r>
              <a:rPr lang="en-US" b="0" dirty="0">
                <a:solidFill>
                  <a:srgbClr val="000000"/>
                </a:solidFill>
                <a:effectLst/>
                <a:latin typeface="Arial" panose="020B0604020202020204" pitchFamily="34" charset="0"/>
              </a:rPr>
              <a:t>The t-test ANOVA have three assumptions:</a:t>
            </a:r>
          </a:p>
          <a:p>
            <a:pPr lvl="1"/>
            <a:r>
              <a:rPr lang="en-US" b="0" dirty="0">
                <a:solidFill>
                  <a:srgbClr val="000000"/>
                </a:solidFill>
                <a:effectLst/>
                <a:latin typeface="Arial" panose="020B0604020202020204" pitchFamily="34" charset="0"/>
              </a:rPr>
              <a:t> independence assumption (the elements of one sample are not related to those of the other sample),</a:t>
            </a:r>
          </a:p>
          <a:p>
            <a:pPr lvl="1"/>
            <a:r>
              <a:rPr lang="en-US" b="0" dirty="0">
                <a:solidFill>
                  <a:srgbClr val="000000"/>
                </a:solidFill>
                <a:effectLst/>
                <a:latin typeface="Arial" panose="020B0604020202020204" pitchFamily="34" charset="0"/>
              </a:rPr>
              <a:t> normality assumption (samples are randomly drawn from the normally distributed populations with unknown population means; otherwise the means are no longer best measures of central tendency, thus test will not be valid), and</a:t>
            </a:r>
          </a:p>
          <a:p>
            <a:pPr lvl="1"/>
            <a:r>
              <a:rPr lang="en-US" b="0" dirty="0">
                <a:solidFill>
                  <a:srgbClr val="000000"/>
                </a:solidFill>
                <a:effectLst/>
                <a:latin typeface="Arial" panose="020B0604020202020204" pitchFamily="34" charset="0"/>
              </a:rPr>
              <a:t> equal variance assumption (the population variances of the two groups are equal)</a:t>
            </a:r>
          </a:p>
          <a:p>
            <a:endParaRPr lang="en-IN" dirty="0"/>
          </a:p>
        </p:txBody>
      </p:sp>
    </p:spTree>
    <p:extLst>
      <p:ext uri="{BB962C8B-B14F-4D97-AF65-F5344CB8AC3E}">
        <p14:creationId xmlns:p14="http://schemas.microsoft.com/office/powerpoint/2010/main" val="1276731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FC005DE-F969-49A1-B77A-636778FECAC7}"/>
              </a:ext>
            </a:extLst>
          </p:cNvPr>
          <p:cNvPicPr>
            <a:picLocks noChangeAspect="1"/>
          </p:cNvPicPr>
          <p:nvPr/>
        </p:nvPicPr>
        <p:blipFill>
          <a:blip r:embed="rId2"/>
          <a:stretch>
            <a:fillRect/>
          </a:stretch>
        </p:blipFill>
        <p:spPr>
          <a:xfrm>
            <a:off x="733425" y="0"/>
            <a:ext cx="10544175" cy="6534150"/>
          </a:xfrm>
          <a:prstGeom prst="rect">
            <a:avLst/>
          </a:prstGeom>
        </p:spPr>
      </p:pic>
    </p:spTree>
    <p:extLst>
      <p:ext uri="{BB962C8B-B14F-4D97-AF65-F5344CB8AC3E}">
        <p14:creationId xmlns:p14="http://schemas.microsoft.com/office/powerpoint/2010/main" val="3862777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8BEFB3-AD1F-4648-BB2A-A90CA39EC634}"/>
              </a:ext>
            </a:extLst>
          </p:cNvPr>
          <p:cNvSpPr>
            <a:spLocks noGrp="1"/>
          </p:cNvSpPr>
          <p:nvPr>
            <p:ph type="title"/>
          </p:nvPr>
        </p:nvSpPr>
        <p:spPr/>
        <p:txBody>
          <a:bodyPr/>
          <a:lstStyle/>
          <a:p>
            <a:r>
              <a:rPr lang="en-US" dirty="0"/>
              <a:t>Key Differences Between T-test and ANOVA</a:t>
            </a:r>
            <a:br>
              <a:rPr lang="en-US" dirty="0"/>
            </a:br>
            <a:endParaRPr lang="en-IN" dirty="0"/>
          </a:p>
        </p:txBody>
      </p:sp>
      <p:sp>
        <p:nvSpPr>
          <p:cNvPr id="3" name="Content Placeholder 2">
            <a:extLst>
              <a:ext uri="{FF2B5EF4-FFF2-40B4-BE49-F238E27FC236}">
                <a16:creationId xmlns:a16="http://schemas.microsoft.com/office/drawing/2014/main" xmlns="" id="{6BD62439-A1BE-4E97-9F71-FDF42C760E7A}"/>
              </a:ext>
            </a:extLst>
          </p:cNvPr>
          <p:cNvSpPr>
            <a:spLocks noGrp="1"/>
          </p:cNvSpPr>
          <p:nvPr>
            <p:ph idx="1"/>
          </p:nvPr>
        </p:nvSpPr>
        <p:spPr/>
        <p:txBody>
          <a:bodyPr/>
          <a:lstStyle/>
          <a:p>
            <a:r>
              <a:rPr lang="en-US" dirty="0"/>
              <a:t>The significant differences between T-test and ANOVA are discussed in detail in the following points:</a:t>
            </a:r>
          </a:p>
          <a:p>
            <a:r>
              <a:rPr lang="en-US" dirty="0"/>
              <a:t>T Test -A hypothesis test that is used to compare the means of two populations </a:t>
            </a:r>
          </a:p>
          <a:p>
            <a:r>
              <a:rPr lang="en-US" dirty="0" err="1"/>
              <a:t>Anova</a:t>
            </a:r>
            <a:r>
              <a:rPr lang="en-US" dirty="0"/>
              <a:t> - A statistical technique that is used to compare the means of more than two populations is known as Analysis of Variance or ANOVA.</a:t>
            </a:r>
          </a:p>
        </p:txBody>
      </p:sp>
    </p:spTree>
    <p:extLst>
      <p:ext uri="{BB962C8B-B14F-4D97-AF65-F5344CB8AC3E}">
        <p14:creationId xmlns:p14="http://schemas.microsoft.com/office/powerpoint/2010/main" val="1722403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CCB946-39D8-4973-9ED9-1822A57FBE71}"/>
              </a:ext>
            </a:extLst>
          </p:cNvPr>
          <p:cNvSpPr>
            <a:spLocks noGrp="1"/>
          </p:cNvSpPr>
          <p:nvPr>
            <p:ph type="title"/>
          </p:nvPr>
        </p:nvSpPr>
        <p:spPr/>
        <p:txBody>
          <a:bodyPr/>
          <a:lstStyle/>
          <a:p>
            <a:r>
              <a:rPr lang="en-US" dirty="0"/>
              <a:t>T Test</a:t>
            </a:r>
            <a:endParaRPr lang="en-IN" dirty="0"/>
          </a:p>
        </p:txBody>
      </p:sp>
      <p:sp>
        <p:nvSpPr>
          <p:cNvPr id="3" name="Content Placeholder 2">
            <a:extLst>
              <a:ext uri="{FF2B5EF4-FFF2-40B4-BE49-F238E27FC236}">
                <a16:creationId xmlns:a16="http://schemas.microsoft.com/office/drawing/2014/main" xmlns="" id="{FCABC13F-A80A-4DF4-A457-2F18104125E3}"/>
              </a:ext>
            </a:extLst>
          </p:cNvPr>
          <p:cNvSpPr>
            <a:spLocks noGrp="1"/>
          </p:cNvSpPr>
          <p:nvPr>
            <p:ph idx="1"/>
          </p:nvPr>
        </p:nvSpPr>
        <p:spPr/>
        <p:txBody>
          <a:bodyPr/>
          <a:lstStyle/>
          <a:p>
            <a:r>
              <a:rPr lang="en-US" b="0" i="0" dirty="0">
                <a:solidFill>
                  <a:srgbClr val="333333"/>
                </a:solidFill>
                <a:effectLst/>
                <a:latin typeface="Roboto" panose="02000000000000000000" pitchFamily="2" charset="0"/>
              </a:rPr>
              <a:t>The t-test is any statistical hypothesis test in which the test statistic follows a Student’s t-distribution under the null hypothesis.</a:t>
            </a:r>
          </a:p>
          <a:p>
            <a:r>
              <a:rPr lang="en-US" b="0" i="0" dirty="0">
                <a:solidFill>
                  <a:srgbClr val="333333"/>
                </a:solidFill>
                <a:effectLst/>
                <a:latin typeface="Roboto" panose="02000000000000000000" pitchFamily="2" charset="0"/>
              </a:rPr>
              <a:t> It can be used to determine if two sets of data are significantly different from each other, and is most commonly applied when the test statistic would follow a normal distribution if the value of a scaling term in the test statistic were known.</a:t>
            </a:r>
          </a:p>
          <a:p>
            <a:r>
              <a:rPr lang="en-US" b="0" i="0" dirty="0">
                <a:solidFill>
                  <a:srgbClr val="333333"/>
                </a:solidFill>
                <a:effectLst/>
                <a:latin typeface="Roboto" panose="02000000000000000000" pitchFamily="2" charset="0"/>
              </a:rPr>
              <a:t>T-test uses means and standard deviations of two samples to make a comparison</a:t>
            </a:r>
            <a:endParaRPr lang="en-IN" dirty="0"/>
          </a:p>
        </p:txBody>
      </p:sp>
    </p:spTree>
    <p:extLst>
      <p:ext uri="{BB962C8B-B14F-4D97-AF65-F5344CB8AC3E}">
        <p14:creationId xmlns:p14="http://schemas.microsoft.com/office/powerpoint/2010/main" val="121104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D36C6C-2F5A-4E27-8E65-13FAF0CA3488}"/>
              </a:ext>
            </a:extLst>
          </p:cNvPr>
          <p:cNvSpPr>
            <a:spLocks noGrp="1"/>
          </p:cNvSpPr>
          <p:nvPr>
            <p:ph type="title"/>
          </p:nvPr>
        </p:nvSpPr>
        <p:spPr/>
        <p:txBody>
          <a:bodyPr/>
          <a:lstStyle/>
          <a:p>
            <a:r>
              <a:rPr lang="en-US" dirty="0"/>
              <a:t>Formula T Test</a:t>
            </a:r>
            <a:endParaRPr lang="en-IN" dirty="0"/>
          </a:p>
        </p:txBody>
      </p:sp>
      <p:pic>
        <p:nvPicPr>
          <p:cNvPr id="5" name="Content Placeholder 4">
            <a:extLst>
              <a:ext uri="{FF2B5EF4-FFF2-40B4-BE49-F238E27FC236}">
                <a16:creationId xmlns:a16="http://schemas.microsoft.com/office/drawing/2014/main" xmlns="" id="{C5439DD9-8679-4CFA-A8B3-94DA364D3456}"/>
              </a:ext>
            </a:extLst>
          </p:cNvPr>
          <p:cNvPicPr>
            <a:picLocks noGrp="1" noChangeAspect="1"/>
          </p:cNvPicPr>
          <p:nvPr>
            <p:ph idx="1"/>
          </p:nvPr>
        </p:nvPicPr>
        <p:blipFill>
          <a:blip r:embed="rId2"/>
          <a:stretch>
            <a:fillRect/>
          </a:stretch>
        </p:blipFill>
        <p:spPr>
          <a:xfrm>
            <a:off x="1485900" y="1690688"/>
            <a:ext cx="3714750" cy="1933575"/>
          </a:xfrm>
        </p:spPr>
      </p:pic>
      <p:pic>
        <p:nvPicPr>
          <p:cNvPr id="9" name="Picture 8">
            <a:extLst>
              <a:ext uri="{FF2B5EF4-FFF2-40B4-BE49-F238E27FC236}">
                <a16:creationId xmlns:a16="http://schemas.microsoft.com/office/drawing/2014/main" xmlns="" id="{10A95EB0-4C8E-46A7-9FC7-13A17F7D4C67}"/>
              </a:ext>
            </a:extLst>
          </p:cNvPr>
          <p:cNvPicPr>
            <a:picLocks noChangeAspect="1"/>
          </p:cNvPicPr>
          <p:nvPr/>
        </p:nvPicPr>
        <p:blipFill>
          <a:blip r:embed="rId3"/>
          <a:stretch>
            <a:fillRect/>
          </a:stretch>
        </p:blipFill>
        <p:spPr>
          <a:xfrm>
            <a:off x="5695950" y="1443037"/>
            <a:ext cx="5010150" cy="2257425"/>
          </a:xfrm>
          <a:prstGeom prst="rect">
            <a:avLst/>
          </a:prstGeom>
        </p:spPr>
      </p:pic>
    </p:spTree>
    <p:extLst>
      <p:ext uri="{BB962C8B-B14F-4D97-AF65-F5344CB8AC3E}">
        <p14:creationId xmlns:p14="http://schemas.microsoft.com/office/powerpoint/2010/main" val="299739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11C427-B9F3-416E-9D20-97E52DE26555}"/>
              </a:ext>
            </a:extLst>
          </p:cNvPr>
          <p:cNvSpPr>
            <a:spLocks noGrp="1"/>
          </p:cNvSpPr>
          <p:nvPr>
            <p:ph type="title"/>
          </p:nvPr>
        </p:nvSpPr>
        <p:spPr/>
        <p:txBody>
          <a:bodyPr/>
          <a:lstStyle/>
          <a:p>
            <a:r>
              <a:rPr lang="en-US" dirty="0"/>
              <a:t>Standard Deviation</a:t>
            </a:r>
            <a:endParaRPr lang="en-IN" dirty="0"/>
          </a:p>
        </p:txBody>
      </p:sp>
      <p:pic>
        <p:nvPicPr>
          <p:cNvPr id="5" name="Picture 4">
            <a:extLst>
              <a:ext uri="{FF2B5EF4-FFF2-40B4-BE49-F238E27FC236}">
                <a16:creationId xmlns:a16="http://schemas.microsoft.com/office/drawing/2014/main" xmlns="" id="{D72B69F7-E69E-4D20-8E39-C8BA62CAC6FE}"/>
              </a:ext>
            </a:extLst>
          </p:cNvPr>
          <p:cNvPicPr>
            <a:picLocks noChangeAspect="1"/>
          </p:cNvPicPr>
          <p:nvPr/>
        </p:nvPicPr>
        <p:blipFill>
          <a:blip r:embed="rId2"/>
          <a:stretch>
            <a:fillRect/>
          </a:stretch>
        </p:blipFill>
        <p:spPr>
          <a:xfrm>
            <a:off x="752475" y="1990724"/>
            <a:ext cx="10715625" cy="4448175"/>
          </a:xfrm>
          <a:prstGeom prst="rect">
            <a:avLst/>
          </a:prstGeom>
        </p:spPr>
      </p:pic>
    </p:spTree>
    <p:extLst>
      <p:ext uri="{BB962C8B-B14F-4D97-AF65-F5344CB8AC3E}">
        <p14:creationId xmlns:p14="http://schemas.microsoft.com/office/powerpoint/2010/main" val="2138670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DCEE1-70CB-4487-B01C-8F7287225FA0}"/>
              </a:ext>
            </a:extLst>
          </p:cNvPr>
          <p:cNvSpPr>
            <a:spLocks noGrp="1"/>
          </p:cNvSpPr>
          <p:nvPr>
            <p:ph type="title"/>
          </p:nvPr>
        </p:nvSpPr>
        <p:spPr/>
        <p:txBody>
          <a:bodyPr/>
          <a:lstStyle/>
          <a:p>
            <a:r>
              <a:rPr lang="en-US" dirty="0"/>
              <a:t>Example of T Test</a:t>
            </a:r>
            <a:endParaRPr lang="en-IN" dirty="0"/>
          </a:p>
        </p:txBody>
      </p:sp>
      <p:sp>
        <p:nvSpPr>
          <p:cNvPr id="3" name="Content Placeholder 2">
            <a:extLst>
              <a:ext uri="{FF2B5EF4-FFF2-40B4-BE49-F238E27FC236}">
                <a16:creationId xmlns:a16="http://schemas.microsoft.com/office/drawing/2014/main" xmlns="" id="{5EE43E51-3C75-45D6-B6E8-8EF0DA82F958}"/>
              </a:ext>
            </a:extLst>
          </p:cNvPr>
          <p:cNvSpPr>
            <a:spLocks noGrp="1"/>
          </p:cNvSpPr>
          <p:nvPr>
            <p:ph idx="1"/>
          </p:nvPr>
        </p:nvSpPr>
        <p:spPr/>
        <p:txBody>
          <a:bodyPr/>
          <a:lstStyle/>
          <a:p>
            <a:r>
              <a:rPr lang="en-US" b="0" i="0" dirty="0">
                <a:solidFill>
                  <a:srgbClr val="333333"/>
                </a:solidFill>
                <a:effectLst/>
                <a:latin typeface="Roboto" panose="02000000000000000000" pitchFamily="2" charset="0"/>
              </a:rPr>
              <a:t>Find the t-test value for the following two sets of values: 7, 2, 9, 8 and 1, 2, 3, 4?</a:t>
            </a:r>
          </a:p>
          <a:p>
            <a:endParaRPr lang="en-IN" dirty="0"/>
          </a:p>
        </p:txBody>
      </p:sp>
      <p:pic>
        <p:nvPicPr>
          <p:cNvPr id="5" name="Picture 4">
            <a:extLst>
              <a:ext uri="{FF2B5EF4-FFF2-40B4-BE49-F238E27FC236}">
                <a16:creationId xmlns:a16="http://schemas.microsoft.com/office/drawing/2014/main" xmlns="" id="{6C584F31-A9F2-4DCE-85AA-4C5872DF198A}"/>
              </a:ext>
            </a:extLst>
          </p:cNvPr>
          <p:cNvPicPr>
            <a:picLocks noChangeAspect="1"/>
          </p:cNvPicPr>
          <p:nvPr/>
        </p:nvPicPr>
        <p:blipFill>
          <a:blip r:embed="rId2"/>
          <a:stretch>
            <a:fillRect/>
          </a:stretch>
        </p:blipFill>
        <p:spPr>
          <a:xfrm>
            <a:off x="1023937" y="2976562"/>
            <a:ext cx="5305425" cy="2219325"/>
          </a:xfrm>
          <a:prstGeom prst="rect">
            <a:avLst/>
          </a:prstGeom>
        </p:spPr>
      </p:pic>
    </p:spTree>
    <p:extLst>
      <p:ext uri="{BB962C8B-B14F-4D97-AF65-F5344CB8AC3E}">
        <p14:creationId xmlns:p14="http://schemas.microsoft.com/office/powerpoint/2010/main" val="140293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351B1-E444-434A-B12B-9F7DE17B63CF}"/>
              </a:ext>
            </a:extLst>
          </p:cNvPr>
          <p:cNvSpPr>
            <a:spLocks noGrp="1"/>
          </p:cNvSpPr>
          <p:nvPr>
            <p:ph type="title"/>
          </p:nvPr>
        </p:nvSpPr>
        <p:spPr>
          <a:xfrm>
            <a:off x="838200" y="0"/>
            <a:ext cx="10515600" cy="1325563"/>
          </a:xfrm>
        </p:spPr>
        <p:txBody>
          <a:bodyPr/>
          <a:lstStyle/>
          <a:p>
            <a:r>
              <a:rPr lang="en-US" dirty="0"/>
              <a:t>Standard  Deviation</a:t>
            </a:r>
            <a:endParaRPr lang="en-IN" dirty="0"/>
          </a:p>
        </p:txBody>
      </p:sp>
      <p:pic>
        <p:nvPicPr>
          <p:cNvPr id="5" name="Picture 4">
            <a:extLst>
              <a:ext uri="{FF2B5EF4-FFF2-40B4-BE49-F238E27FC236}">
                <a16:creationId xmlns:a16="http://schemas.microsoft.com/office/drawing/2014/main" xmlns="" id="{AE9A3899-50F5-4037-AF6E-AE1C3788EB2B}"/>
              </a:ext>
            </a:extLst>
          </p:cNvPr>
          <p:cNvPicPr>
            <a:picLocks noChangeAspect="1"/>
          </p:cNvPicPr>
          <p:nvPr/>
        </p:nvPicPr>
        <p:blipFill>
          <a:blip r:embed="rId2"/>
          <a:stretch>
            <a:fillRect/>
          </a:stretch>
        </p:blipFill>
        <p:spPr>
          <a:xfrm>
            <a:off x="838200" y="1171575"/>
            <a:ext cx="10086975" cy="5686425"/>
          </a:xfrm>
          <a:prstGeom prst="rect">
            <a:avLst/>
          </a:prstGeom>
        </p:spPr>
      </p:pic>
    </p:spTree>
    <p:extLst>
      <p:ext uri="{BB962C8B-B14F-4D97-AF65-F5344CB8AC3E}">
        <p14:creationId xmlns:p14="http://schemas.microsoft.com/office/powerpoint/2010/main" val="58308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930BF8-5113-43F9-906D-6EFA0A40AB9D}"/>
              </a:ext>
            </a:extLst>
          </p:cNvPr>
          <p:cNvSpPr>
            <a:spLocks noGrp="1"/>
          </p:cNvSpPr>
          <p:nvPr>
            <p:ph type="title"/>
          </p:nvPr>
        </p:nvSpPr>
        <p:spPr/>
        <p:txBody>
          <a:bodyPr/>
          <a:lstStyle/>
          <a:p>
            <a:r>
              <a:rPr lang="en-US" dirty="0"/>
              <a:t>Standard Deviation</a:t>
            </a:r>
            <a:endParaRPr lang="en-IN" dirty="0"/>
          </a:p>
        </p:txBody>
      </p:sp>
      <p:sp>
        <p:nvSpPr>
          <p:cNvPr id="3" name="Content Placeholder 2">
            <a:extLst>
              <a:ext uri="{FF2B5EF4-FFF2-40B4-BE49-F238E27FC236}">
                <a16:creationId xmlns:a16="http://schemas.microsoft.com/office/drawing/2014/main" xmlns="" id="{BECD3E9B-D157-48E0-ADF0-099D328CE644}"/>
              </a:ext>
            </a:extLst>
          </p:cNvPr>
          <p:cNvSpPr>
            <a:spLocks noGrp="1"/>
          </p:cNvSpPr>
          <p:nvPr>
            <p:ph idx="1"/>
          </p:nvPr>
        </p:nvSpPr>
        <p:spPr/>
        <p:txBody>
          <a:bodyPr/>
          <a:lstStyle/>
          <a:p>
            <a:pPr algn="l"/>
            <a:r>
              <a:rPr lang="en-US" b="0" i="0" dirty="0">
                <a:solidFill>
                  <a:srgbClr val="333333"/>
                </a:solidFill>
                <a:effectLst/>
                <a:latin typeface="Roboto" panose="02000000000000000000" pitchFamily="2" charset="0"/>
              </a:rPr>
              <a:t>Standard deviation for the first set of data: S</a:t>
            </a:r>
            <a:r>
              <a:rPr lang="en-US" b="0" i="0" baseline="-25000" dirty="0">
                <a:solidFill>
                  <a:srgbClr val="333333"/>
                </a:solidFill>
                <a:effectLst/>
                <a:latin typeface="Roboto" panose="02000000000000000000" pitchFamily="2" charset="0"/>
              </a:rPr>
              <a:t>1</a:t>
            </a:r>
            <a:r>
              <a:rPr lang="en-US" b="0" i="0" dirty="0">
                <a:solidFill>
                  <a:srgbClr val="333333"/>
                </a:solidFill>
                <a:effectLst/>
                <a:latin typeface="Roboto" panose="02000000000000000000" pitchFamily="2" charset="0"/>
              </a:rPr>
              <a:t> = 3.11</a:t>
            </a:r>
          </a:p>
          <a:p>
            <a:pPr algn="l"/>
            <a:r>
              <a:rPr lang="en-US" b="0" i="0" dirty="0">
                <a:solidFill>
                  <a:srgbClr val="333333"/>
                </a:solidFill>
                <a:effectLst/>
                <a:latin typeface="Roboto" panose="02000000000000000000" pitchFamily="2" charset="0"/>
              </a:rPr>
              <a:t>Number of terms in second set: n</a:t>
            </a:r>
            <a:r>
              <a:rPr lang="en-US" b="0" i="0" baseline="-25000" dirty="0">
                <a:solidFill>
                  <a:srgbClr val="333333"/>
                </a:solidFill>
                <a:effectLst/>
                <a:latin typeface="Roboto" panose="02000000000000000000" pitchFamily="2" charset="0"/>
              </a:rPr>
              <a:t>2</a:t>
            </a:r>
            <a:r>
              <a:rPr lang="en-US" b="0" i="0" dirty="0">
                <a:solidFill>
                  <a:srgbClr val="333333"/>
                </a:solidFill>
                <a:effectLst/>
                <a:latin typeface="Roboto" panose="02000000000000000000" pitchFamily="2" charset="0"/>
              </a:rPr>
              <a:t> = 4</a:t>
            </a:r>
          </a:p>
          <a:p>
            <a:pPr algn="l"/>
            <a:r>
              <a:rPr lang="en-US" b="0" i="0" dirty="0">
                <a:solidFill>
                  <a:srgbClr val="333333"/>
                </a:solidFill>
                <a:effectLst/>
                <a:latin typeface="Roboto" panose="02000000000000000000" pitchFamily="2" charset="0"/>
              </a:rPr>
              <a:t>Mean for second set of data: </a:t>
            </a:r>
            <a:r>
              <a:rPr lang="en-US" dirty="0">
                <a:solidFill>
                  <a:srgbClr val="333333"/>
                </a:solidFill>
                <a:latin typeface="MJXc-TeX-math-I"/>
              </a:rPr>
              <a:t>x2 cap</a:t>
            </a:r>
            <a:r>
              <a:rPr lang="en-US" b="0" i="0" dirty="0">
                <a:solidFill>
                  <a:srgbClr val="333333"/>
                </a:solidFill>
                <a:effectLst/>
                <a:latin typeface="MJXc-TeX-main-R"/>
              </a:rPr>
              <a:t>=2.5</a:t>
            </a:r>
            <a:endParaRPr lang="en-US" b="0" i="0" dirty="0">
              <a:solidFill>
                <a:srgbClr val="333333"/>
              </a:solidFill>
              <a:effectLst/>
              <a:latin typeface="Roboto" panose="02000000000000000000" pitchFamily="2" charset="0"/>
            </a:endParaRPr>
          </a:p>
          <a:p>
            <a:endParaRPr lang="en-IN" dirty="0"/>
          </a:p>
        </p:txBody>
      </p:sp>
    </p:spTree>
    <p:extLst>
      <p:ext uri="{BB962C8B-B14F-4D97-AF65-F5344CB8AC3E}">
        <p14:creationId xmlns:p14="http://schemas.microsoft.com/office/powerpoint/2010/main" val="2641563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001511-DECC-4D71-AE23-6A565E5FDE01}"/>
              </a:ext>
            </a:extLst>
          </p:cNvPr>
          <p:cNvSpPr>
            <a:spLocks noGrp="1"/>
          </p:cNvSpPr>
          <p:nvPr>
            <p:ph type="title"/>
          </p:nvPr>
        </p:nvSpPr>
        <p:spPr/>
        <p:txBody>
          <a:bodyPr/>
          <a:lstStyle/>
          <a:p>
            <a:r>
              <a:rPr lang="en-US" dirty="0"/>
              <a:t>Standard deviation</a:t>
            </a:r>
            <a:endParaRPr lang="en-IN" dirty="0"/>
          </a:p>
        </p:txBody>
      </p:sp>
      <p:pic>
        <p:nvPicPr>
          <p:cNvPr id="5" name="Picture 4">
            <a:extLst>
              <a:ext uri="{FF2B5EF4-FFF2-40B4-BE49-F238E27FC236}">
                <a16:creationId xmlns:a16="http://schemas.microsoft.com/office/drawing/2014/main" xmlns="" id="{0E13DBBA-4DCD-4575-BA70-CFC8C010BCB4}"/>
              </a:ext>
            </a:extLst>
          </p:cNvPr>
          <p:cNvPicPr>
            <a:picLocks noChangeAspect="1"/>
          </p:cNvPicPr>
          <p:nvPr/>
        </p:nvPicPr>
        <p:blipFill>
          <a:blip r:embed="rId2"/>
          <a:stretch>
            <a:fillRect/>
          </a:stretch>
        </p:blipFill>
        <p:spPr>
          <a:xfrm>
            <a:off x="971550" y="1695450"/>
            <a:ext cx="10248900" cy="3467100"/>
          </a:xfrm>
          <a:prstGeom prst="rect">
            <a:avLst/>
          </a:prstGeom>
        </p:spPr>
      </p:pic>
      <p:sp>
        <p:nvSpPr>
          <p:cNvPr id="7" name="TextBox 6">
            <a:extLst>
              <a:ext uri="{FF2B5EF4-FFF2-40B4-BE49-F238E27FC236}">
                <a16:creationId xmlns:a16="http://schemas.microsoft.com/office/drawing/2014/main" xmlns="" id="{FD0967CA-279D-4D1B-96DD-261087856B6A}"/>
              </a:ext>
            </a:extLst>
          </p:cNvPr>
          <p:cNvSpPr txBox="1"/>
          <p:nvPr/>
        </p:nvSpPr>
        <p:spPr>
          <a:xfrm>
            <a:off x="1476375" y="5416034"/>
            <a:ext cx="6096000" cy="369332"/>
          </a:xfrm>
          <a:prstGeom prst="rect">
            <a:avLst/>
          </a:prstGeom>
          <a:noFill/>
        </p:spPr>
        <p:txBody>
          <a:bodyPr wrap="square">
            <a:spAutoFit/>
          </a:bodyPr>
          <a:lstStyle/>
          <a:p>
            <a:r>
              <a:rPr lang="en-US" b="0" i="0" dirty="0">
                <a:solidFill>
                  <a:srgbClr val="333333"/>
                </a:solidFill>
                <a:effectLst/>
                <a:latin typeface="Roboto" panose="02000000000000000000" pitchFamily="2" charset="0"/>
              </a:rPr>
              <a:t>Standard deviation for first set of data: </a:t>
            </a:r>
            <a:r>
              <a:rPr lang="en-US" b="0" i="0" dirty="0">
                <a:solidFill>
                  <a:srgbClr val="333333"/>
                </a:solidFill>
                <a:effectLst/>
                <a:latin typeface="MJXc-TeX-math-I"/>
              </a:rPr>
              <a:t>S</a:t>
            </a:r>
            <a:r>
              <a:rPr lang="en-US" b="0" i="0" dirty="0">
                <a:solidFill>
                  <a:srgbClr val="333333"/>
                </a:solidFill>
                <a:effectLst/>
                <a:latin typeface="MJXc-TeX-main-R"/>
              </a:rPr>
              <a:t>2</a:t>
            </a:r>
            <a:r>
              <a:rPr lang="en-US" b="0" i="0" dirty="0">
                <a:solidFill>
                  <a:srgbClr val="333333"/>
                </a:solidFill>
                <a:effectLst/>
                <a:latin typeface="Roboto" panose="02000000000000000000" pitchFamily="2" charset="0"/>
              </a:rPr>
              <a:t>S2 = 1.29</a:t>
            </a:r>
            <a:endParaRPr lang="en-IN" dirty="0"/>
          </a:p>
        </p:txBody>
      </p:sp>
    </p:spTree>
    <p:extLst>
      <p:ext uri="{BB962C8B-B14F-4D97-AF65-F5344CB8AC3E}">
        <p14:creationId xmlns:p14="http://schemas.microsoft.com/office/powerpoint/2010/main" val="3828914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8A19D2-8C99-4094-B10D-86D0E4531244}"/>
              </a:ext>
            </a:extLst>
          </p:cNvPr>
          <p:cNvSpPr>
            <a:spLocks noGrp="1"/>
          </p:cNvSpPr>
          <p:nvPr>
            <p:ph type="title"/>
          </p:nvPr>
        </p:nvSpPr>
        <p:spPr/>
        <p:txBody>
          <a:bodyPr/>
          <a:lstStyle/>
          <a:p>
            <a:r>
              <a:rPr lang="en-US" dirty="0"/>
              <a:t>T Test Formula and solution</a:t>
            </a:r>
            <a:endParaRPr lang="en-IN" dirty="0"/>
          </a:p>
        </p:txBody>
      </p:sp>
      <p:pic>
        <p:nvPicPr>
          <p:cNvPr id="5" name="Content Placeholder 4">
            <a:extLst>
              <a:ext uri="{FF2B5EF4-FFF2-40B4-BE49-F238E27FC236}">
                <a16:creationId xmlns:a16="http://schemas.microsoft.com/office/drawing/2014/main" xmlns="" id="{B653E531-AD59-478E-9830-9D38D6C86633}"/>
              </a:ext>
            </a:extLst>
          </p:cNvPr>
          <p:cNvPicPr>
            <a:picLocks noGrp="1" noChangeAspect="1"/>
          </p:cNvPicPr>
          <p:nvPr>
            <p:ph idx="1"/>
          </p:nvPr>
        </p:nvPicPr>
        <p:blipFill>
          <a:blip r:embed="rId2"/>
          <a:stretch>
            <a:fillRect/>
          </a:stretch>
        </p:blipFill>
        <p:spPr>
          <a:xfrm>
            <a:off x="1295400" y="1690688"/>
            <a:ext cx="9858375" cy="4357687"/>
          </a:xfrm>
        </p:spPr>
      </p:pic>
    </p:spTree>
    <p:extLst>
      <p:ext uri="{BB962C8B-B14F-4D97-AF65-F5344CB8AC3E}">
        <p14:creationId xmlns:p14="http://schemas.microsoft.com/office/powerpoint/2010/main" val="1581779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C2573D-929B-410A-982A-4171D48BFA34}"/>
              </a:ext>
            </a:extLst>
          </p:cNvPr>
          <p:cNvSpPr>
            <a:spLocks noGrp="1"/>
          </p:cNvSpPr>
          <p:nvPr>
            <p:ph type="title"/>
          </p:nvPr>
        </p:nvSpPr>
        <p:spPr/>
        <p:txBody>
          <a:bodyPr/>
          <a:lstStyle/>
          <a:p>
            <a:r>
              <a:rPr lang="en-IN" b="0" i="0" dirty="0">
                <a:solidFill>
                  <a:srgbClr val="111111"/>
                </a:solidFill>
                <a:effectLst/>
                <a:latin typeface="Cabin-semi-bold"/>
              </a:rPr>
              <a:t>Z-Test</a:t>
            </a:r>
            <a:br>
              <a:rPr lang="en-IN"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DA04A145-4253-41E3-913A-AC72A089E7DC}"/>
              </a:ext>
            </a:extLst>
          </p:cNvPr>
          <p:cNvSpPr>
            <a:spLocks noGrp="1"/>
          </p:cNvSpPr>
          <p:nvPr>
            <p:ph idx="1"/>
          </p:nvPr>
        </p:nvSpPr>
        <p:spPr/>
        <p:txBody>
          <a:bodyPr/>
          <a:lstStyle/>
          <a:p>
            <a:pPr algn="l"/>
            <a:r>
              <a:rPr lang="en-US" b="0" i="0" dirty="0">
                <a:solidFill>
                  <a:srgbClr val="111111"/>
                </a:solidFill>
                <a:effectLst/>
                <a:latin typeface="SourceSansPro"/>
              </a:rPr>
              <a:t>A z-test is a statistical test used to determine whether two population means are different when the variances are known and the sample size is large.</a:t>
            </a:r>
          </a:p>
          <a:p>
            <a:pPr algn="l"/>
            <a:r>
              <a:rPr lang="en-US" b="0" i="0" dirty="0">
                <a:solidFill>
                  <a:srgbClr val="111111"/>
                </a:solidFill>
                <a:effectLst/>
                <a:latin typeface="SourceSansPro"/>
              </a:rPr>
              <a:t>The test statistic is assumed to have a </a:t>
            </a:r>
            <a:r>
              <a:rPr lang="en-US" b="0" i="0" u="sng" dirty="0">
                <a:solidFill>
                  <a:srgbClr val="2C40D0"/>
                </a:solidFill>
                <a:effectLst/>
                <a:latin typeface="SourceSansPro"/>
                <a:hlinkClick r:id="rId2"/>
              </a:rPr>
              <a:t>normal distribution</a:t>
            </a:r>
            <a:r>
              <a:rPr lang="en-US" b="0" i="0" dirty="0">
                <a:solidFill>
                  <a:srgbClr val="111111"/>
                </a:solidFill>
                <a:effectLst/>
                <a:latin typeface="SourceSansPro"/>
              </a:rPr>
              <a:t>, and nuisance parameters such as standard deviation should be known in order for an accurate z-test to be performed.</a:t>
            </a:r>
          </a:p>
          <a:p>
            <a:endParaRPr lang="en-IN" dirty="0"/>
          </a:p>
        </p:txBody>
      </p:sp>
    </p:spTree>
    <p:extLst>
      <p:ext uri="{BB962C8B-B14F-4D97-AF65-F5344CB8AC3E}">
        <p14:creationId xmlns:p14="http://schemas.microsoft.com/office/powerpoint/2010/main" val="2758470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09551B-03B6-4787-B312-587BA40615E6}"/>
              </a:ext>
            </a:extLst>
          </p:cNvPr>
          <p:cNvSpPr>
            <a:spLocks noGrp="1"/>
          </p:cNvSpPr>
          <p:nvPr>
            <p:ph type="title"/>
          </p:nvPr>
        </p:nvSpPr>
        <p:spPr/>
        <p:txBody>
          <a:bodyPr/>
          <a:lstStyle/>
          <a:p>
            <a:r>
              <a:rPr lang="en-US" dirty="0"/>
              <a:t>Features of Z Test</a:t>
            </a:r>
            <a:endParaRPr lang="en-IN" dirty="0"/>
          </a:p>
        </p:txBody>
      </p:sp>
      <p:sp>
        <p:nvSpPr>
          <p:cNvPr id="3" name="Content Placeholder 2">
            <a:extLst>
              <a:ext uri="{FF2B5EF4-FFF2-40B4-BE49-F238E27FC236}">
                <a16:creationId xmlns:a16="http://schemas.microsoft.com/office/drawing/2014/main" xmlns="" id="{5CFF36DC-179C-4EE9-AB9A-2A91CEF724A3}"/>
              </a:ext>
            </a:extLst>
          </p:cNvPr>
          <p:cNvSpPr>
            <a:spLocks noGrp="1"/>
          </p:cNvSpPr>
          <p:nvPr>
            <p:ph idx="1"/>
          </p:nvPr>
        </p:nvSpPr>
        <p:spPr/>
        <p:txBody>
          <a:bodyPr>
            <a:normAutofit fontScale="92500"/>
          </a:bodyPr>
          <a:lstStyle/>
          <a:p>
            <a:pPr algn="l">
              <a:buFont typeface="Arial" panose="020B0604020202020204" pitchFamily="34" charset="0"/>
              <a:buChar char="•"/>
            </a:pPr>
            <a:r>
              <a:rPr lang="en-US" b="0" i="0" dirty="0">
                <a:solidFill>
                  <a:srgbClr val="111111"/>
                </a:solidFill>
                <a:effectLst/>
                <a:latin typeface="SourceSansPro"/>
              </a:rPr>
              <a:t>A z-test is a statistical test to determine whether two population means are different when the variances are known and the sample size is large.</a:t>
            </a:r>
          </a:p>
          <a:p>
            <a:pPr algn="l">
              <a:buFont typeface="Arial" panose="020B0604020202020204" pitchFamily="34" charset="0"/>
              <a:buChar char="•"/>
            </a:pPr>
            <a:r>
              <a:rPr lang="en-US" b="0" i="0" dirty="0">
                <a:solidFill>
                  <a:srgbClr val="111111"/>
                </a:solidFill>
                <a:effectLst/>
                <a:latin typeface="SourceSansPro"/>
              </a:rPr>
              <a:t>A z-test is a hypothesis test in which the z-statistic follows a normal distribution. </a:t>
            </a:r>
          </a:p>
          <a:p>
            <a:pPr algn="l">
              <a:buFont typeface="Arial" panose="020B0604020202020204" pitchFamily="34" charset="0"/>
              <a:buChar char="•"/>
            </a:pPr>
            <a:r>
              <a:rPr lang="en-US" b="0" i="0" dirty="0">
                <a:solidFill>
                  <a:srgbClr val="111111"/>
                </a:solidFill>
                <a:effectLst/>
                <a:latin typeface="SourceSansPro"/>
              </a:rPr>
              <a:t>A z-statistic, or z-score, is a number representing the result from the z-test.</a:t>
            </a:r>
          </a:p>
          <a:p>
            <a:pPr algn="l">
              <a:buFont typeface="Arial" panose="020B0604020202020204" pitchFamily="34" charset="0"/>
              <a:buChar char="•"/>
            </a:pPr>
            <a:r>
              <a:rPr lang="en-US" b="0" i="0" dirty="0">
                <a:solidFill>
                  <a:srgbClr val="111111"/>
                </a:solidFill>
                <a:effectLst/>
                <a:latin typeface="SourceSansPro"/>
              </a:rPr>
              <a:t>Z-tests are closely related to t-tests, but t-tests are best performed when an experiment has a small sample size.</a:t>
            </a:r>
          </a:p>
          <a:p>
            <a:pPr algn="l">
              <a:buFont typeface="Arial" panose="020B0604020202020204" pitchFamily="34" charset="0"/>
              <a:buChar char="•"/>
            </a:pPr>
            <a:r>
              <a:rPr lang="en-US" b="0" i="0" dirty="0">
                <a:solidFill>
                  <a:srgbClr val="111111"/>
                </a:solidFill>
                <a:effectLst/>
                <a:latin typeface="SourceSansPro"/>
              </a:rPr>
              <a:t>Z-tests assume the standard deviation is known, while t-tests assume it is unknown.</a:t>
            </a:r>
          </a:p>
          <a:p>
            <a:endParaRPr lang="en-IN" dirty="0"/>
          </a:p>
        </p:txBody>
      </p:sp>
    </p:spTree>
    <p:extLst>
      <p:ext uri="{BB962C8B-B14F-4D97-AF65-F5344CB8AC3E}">
        <p14:creationId xmlns:p14="http://schemas.microsoft.com/office/powerpoint/2010/main" val="2260373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9EDDEF-A100-48BA-8392-0C584699EA11}"/>
              </a:ext>
            </a:extLst>
          </p:cNvPr>
          <p:cNvSpPr>
            <a:spLocks noGrp="1"/>
          </p:cNvSpPr>
          <p:nvPr>
            <p:ph type="title"/>
          </p:nvPr>
        </p:nvSpPr>
        <p:spPr/>
        <p:txBody>
          <a:bodyPr/>
          <a:lstStyle/>
          <a:p>
            <a:r>
              <a:rPr lang="en-IN" b="0" i="0" dirty="0">
                <a:solidFill>
                  <a:srgbClr val="111111"/>
                </a:solidFill>
                <a:effectLst/>
                <a:latin typeface="Cabin-semi-bold"/>
              </a:rPr>
              <a:t>Understanding Z-Tests</a:t>
            </a:r>
            <a:br>
              <a:rPr lang="en-IN"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0431C5D2-D4DA-4EAC-8BD8-F5BE48393FA1}"/>
              </a:ext>
            </a:extLst>
          </p:cNvPr>
          <p:cNvSpPr>
            <a:spLocks noGrp="1"/>
          </p:cNvSpPr>
          <p:nvPr>
            <p:ph idx="1"/>
          </p:nvPr>
        </p:nvSpPr>
        <p:spPr/>
        <p:txBody>
          <a:bodyPr>
            <a:normAutofit/>
          </a:bodyPr>
          <a:lstStyle/>
          <a:p>
            <a:pPr algn="l"/>
            <a:r>
              <a:rPr lang="en-US" b="0" i="0" dirty="0">
                <a:solidFill>
                  <a:srgbClr val="111111"/>
                </a:solidFill>
                <a:effectLst/>
                <a:latin typeface="SourceSansPro"/>
              </a:rPr>
              <a:t>The z-test is also a hypothesis test in which the z-statistic follows a normal distribution. </a:t>
            </a:r>
          </a:p>
          <a:p>
            <a:pPr algn="l"/>
            <a:r>
              <a:rPr lang="en-US" b="0" i="0" dirty="0">
                <a:solidFill>
                  <a:srgbClr val="111111"/>
                </a:solidFill>
                <a:effectLst/>
                <a:latin typeface="SourceSansPro"/>
              </a:rPr>
              <a:t>The z-test is best used for greater-than-30 samples because, under the </a:t>
            </a:r>
            <a:r>
              <a:rPr lang="en-US" b="0" i="0" u="sng" dirty="0">
                <a:solidFill>
                  <a:srgbClr val="2C40D0"/>
                </a:solidFill>
                <a:effectLst/>
                <a:latin typeface="SourceSansPro"/>
                <a:hlinkClick r:id="rId2"/>
              </a:rPr>
              <a:t>central limit theorem</a:t>
            </a:r>
            <a:r>
              <a:rPr lang="en-US" b="0" i="0" dirty="0">
                <a:solidFill>
                  <a:srgbClr val="111111"/>
                </a:solidFill>
                <a:effectLst/>
                <a:latin typeface="SourceSansPro"/>
              </a:rPr>
              <a:t>, as the number of samples gets larger, the samples are considered to be approximately normally distributed.</a:t>
            </a:r>
          </a:p>
          <a:p>
            <a:endParaRPr lang="en-IN" dirty="0"/>
          </a:p>
        </p:txBody>
      </p:sp>
    </p:spTree>
    <p:extLst>
      <p:ext uri="{BB962C8B-B14F-4D97-AF65-F5344CB8AC3E}">
        <p14:creationId xmlns:p14="http://schemas.microsoft.com/office/powerpoint/2010/main" val="1231655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5AA2DC-BCF2-4BC4-8F58-543199DA4145}"/>
              </a:ext>
            </a:extLst>
          </p:cNvPr>
          <p:cNvSpPr>
            <a:spLocks noGrp="1"/>
          </p:cNvSpPr>
          <p:nvPr>
            <p:ph type="title"/>
          </p:nvPr>
        </p:nvSpPr>
        <p:spPr/>
        <p:txBody>
          <a:bodyPr/>
          <a:lstStyle/>
          <a:p>
            <a:r>
              <a:rPr lang="en-US" dirty="0">
                <a:solidFill>
                  <a:srgbClr val="111111"/>
                </a:solidFill>
                <a:latin typeface="SourceSansPro"/>
              </a:rPr>
              <a:t>C</a:t>
            </a:r>
            <a:r>
              <a:rPr lang="en-US" b="0" i="0" dirty="0">
                <a:solidFill>
                  <a:srgbClr val="111111"/>
                </a:solidFill>
                <a:effectLst/>
                <a:latin typeface="SourceSansPro"/>
              </a:rPr>
              <a:t>entral </a:t>
            </a:r>
            <a:r>
              <a:rPr lang="en-US" dirty="0">
                <a:solidFill>
                  <a:srgbClr val="111111"/>
                </a:solidFill>
                <a:latin typeface="SourceSansPro"/>
              </a:rPr>
              <a:t>L</a:t>
            </a:r>
            <a:r>
              <a:rPr lang="en-US" b="0" i="0" dirty="0">
                <a:solidFill>
                  <a:srgbClr val="111111"/>
                </a:solidFill>
                <a:effectLst/>
                <a:latin typeface="SourceSansPro"/>
              </a:rPr>
              <a:t>imit Theorem (CLT)</a:t>
            </a:r>
            <a:endParaRPr lang="en-IN" dirty="0"/>
          </a:p>
        </p:txBody>
      </p:sp>
      <p:sp>
        <p:nvSpPr>
          <p:cNvPr id="3" name="Content Placeholder 2">
            <a:extLst>
              <a:ext uri="{FF2B5EF4-FFF2-40B4-BE49-F238E27FC236}">
                <a16:creationId xmlns:a16="http://schemas.microsoft.com/office/drawing/2014/main" xmlns="" id="{402920B5-B106-4571-8C41-1EEEA6A7B50E}"/>
              </a:ext>
            </a:extLst>
          </p:cNvPr>
          <p:cNvSpPr>
            <a:spLocks noGrp="1"/>
          </p:cNvSpPr>
          <p:nvPr>
            <p:ph idx="1"/>
          </p:nvPr>
        </p:nvSpPr>
        <p:spPr/>
        <p:txBody>
          <a:bodyPr/>
          <a:lstStyle/>
          <a:p>
            <a:r>
              <a:rPr lang="en-US" b="0" i="0" dirty="0">
                <a:solidFill>
                  <a:srgbClr val="111111"/>
                </a:solidFill>
                <a:effectLst/>
                <a:latin typeface="SourceSansPro"/>
              </a:rPr>
              <a:t>In the study of probability theory, the central limit theorem (CLT) states that the distribution of sample approximates a normal distribution (also known as a “bell curve”) as the sample size becomes larger, assuming that all samples are identical in size, and regardless of the population distribution shape.</a:t>
            </a:r>
          </a:p>
          <a:p>
            <a:r>
              <a:rPr lang="en-US" b="0" i="0" dirty="0">
                <a:solidFill>
                  <a:srgbClr val="111111"/>
                </a:solidFill>
                <a:effectLst/>
                <a:latin typeface="SourceSansPro"/>
              </a:rPr>
              <a:t> Sample sizes equal to or greater than 30 are considered sufficient for the CLT to predict the characteristics of a population accurately.</a:t>
            </a:r>
            <a:endParaRPr lang="en-IN" dirty="0"/>
          </a:p>
        </p:txBody>
      </p:sp>
    </p:spTree>
    <p:extLst>
      <p:ext uri="{BB962C8B-B14F-4D97-AF65-F5344CB8AC3E}">
        <p14:creationId xmlns:p14="http://schemas.microsoft.com/office/powerpoint/2010/main" val="3837085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29EC08-C3BC-4F12-B650-0A97DFD16219}"/>
              </a:ext>
            </a:extLst>
          </p:cNvPr>
          <p:cNvSpPr>
            <a:spLocks noGrp="1"/>
          </p:cNvSpPr>
          <p:nvPr>
            <p:ph type="title"/>
          </p:nvPr>
        </p:nvSpPr>
        <p:spPr/>
        <p:txBody>
          <a:bodyPr/>
          <a:lstStyle/>
          <a:p>
            <a:r>
              <a:rPr lang="en-US" dirty="0"/>
              <a:t>Z Test</a:t>
            </a:r>
            <a:endParaRPr lang="en-IN" dirty="0"/>
          </a:p>
        </p:txBody>
      </p:sp>
      <p:sp>
        <p:nvSpPr>
          <p:cNvPr id="3" name="Content Placeholder 2">
            <a:extLst>
              <a:ext uri="{FF2B5EF4-FFF2-40B4-BE49-F238E27FC236}">
                <a16:creationId xmlns:a16="http://schemas.microsoft.com/office/drawing/2014/main" xmlns="" id="{2CEFA168-A688-40A3-BC38-F2CA46A93187}"/>
              </a:ext>
            </a:extLst>
          </p:cNvPr>
          <p:cNvSpPr>
            <a:spLocks noGrp="1"/>
          </p:cNvSpPr>
          <p:nvPr>
            <p:ph idx="1"/>
          </p:nvPr>
        </p:nvSpPr>
        <p:spPr/>
        <p:txBody>
          <a:bodyPr>
            <a:normAutofit/>
          </a:bodyPr>
          <a:lstStyle/>
          <a:p>
            <a:pPr algn="l"/>
            <a:r>
              <a:rPr lang="en-US" b="0" i="0" dirty="0">
                <a:solidFill>
                  <a:srgbClr val="111111"/>
                </a:solidFill>
                <a:effectLst/>
                <a:latin typeface="SourceSansPro"/>
              </a:rPr>
              <a:t>When conducting a z-test, the null and alternative hypotheses, alpha and </a:t>
            </a:r>
            <a:r>
              <a:rPr lang="en-US" b="0" i="0" u="sng" dirty="0">
                <a:solidFill>
                  <a:srgbClr val="2C40D0"/>
                </a:solidFill>
                <a:effectLst/>
                <a:latin typeface="SourceSansPro"/>
                <a:hlinkClick r:id="rId2"/>
              </a:rPr>
              <a:t>z-score</a:t>
            </a:r>
            <a:r>
              <a:rPr lang="en-US" b="0" i="0" dirty="0">
                <a:solidFill>
                  <a:srgbClr val="111111"/>
                </a:solidFill>
                <a:effectLst/>
                <a:latin typeface="SourceSansPro"/>
              </a:rPr>
              <a:t> should be stated. </a:t>
            </a:r>
          </a:p>
          <a:p>
            <a:pPr algn="l"/>
            <a:r>
              <a:rPr lang="en-US" b="0" i="0" dirty="0">
                <a:solidFill>
                  <a:srgbClr val="111111"/>
                </a:solidFill>
                <a:effectLst/>
                <a:latin typeface="SourceSansPro"/>
              </a:rPr>
              <a:t>Next, the test statistic should be calculated, and the results and conclusion stated. A z-statistic, or z-score, is a number representing how many standard deviations above or below the mean population a score derived from a z-test is.</a:t>
            </a:r>
          </a:p>
          <a:p>
            <a:endParaRPr lang="en-IN" dirty="0"/>
          </a:p>
        </p:txBody>
      </p:sp>
    </p:spTree>
    <p:extLst>
      <p:ext uri="{BB962C8B-B14F-4D97-AF65-F5344CB8AC3E}">
        <p14:creationId xmlns:p14="http://schemas.microsoft.com/office/powerpoint/2010/main" val="3272489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3F5461-6C93-40E2-A7BB-51CD53CFD9C7}"/>
              </a:ext>
            </a:extLst>
          </p:cNvPr>
          <p:cNvSpPr>
            <a:spLocks noGrp="1"/>
          </p:cNvSpPr>
          <p:nvPr>
            <p:ph type="title"/>
          </p:nvPr>
        </p:nvSpPr>
        <p:spPr/>
        <p:txBody>
          <a:bodyPr/>
          <a:lstStyle/>
          <a:p>
            <a:r>
              <a:rPr lang="en-US" dirty="0"/>
              <a:t>Z Score</a:t>
            </a:r>
            <a:endParaRPr lang="en-IN" dirty="0"/>
          </a:p>
        </p:txBody>
      </p:sp>
      <p:sp>
        <p:nvSpPr>
          <p:cNvPr id="3" name="Content Placeholder 2">
            <a:extLst>
              <a:ext uri="{FF2B5EF4-FFF2-40B4-BE49-F238E27FC236}">
                <a16:creationId xmlns:a16="http://schemas.microsoft.com/office/drawing/2014/main" xmlns="" id="{F474F3C9-BE76-4C34-AF12-E53C7727596A}"/>
              </a:ext>
            </a:extLst>
          </p:cNvPr>
          <p:cNvSpPr>
            <a:spLocks noGrp="1"/>
          </p:cNvSpPr>
          <p:nvPr>
            <p:ph idx="1"/>
          </p:nvPr>
        </p:nvSpPr>
        <p:spPr/>
        <p:txBody>
          <a:bodyPr>
            <a:normAutofit fontScale="92500" lnSpcReduction="20000"/>
          </a:bodyPr>
          <a:lstStyle/>
          <a:p>
            <a:r>
              <a:rPr lang="en-US" b="0" i="0" dirty="0">
                <a:solidFill>
                  <a:srgbClr val="111111"/>
                </a:solidFill>
                <a:effectLst/>
                <a:latin typeface="SourceSansPro"/>
              </a:rPr>
              <a:t>A z-score, or z-statistic, is a number representing how many standard deviations above or below the mean population the score derived from a z-test is.</a:t>
            </a:r>
          </a:p>
          <a:p>
            <a:r>
              <a:rPr lang="en-US" b="0" i="0" dirty="0">
                <a:solidFill>
                  <a:srgbClr val="111111"/>
                </a:solidFill>
                <a:effectLst/>
                <a:latin typeface="SourceSansPro"/>
              </a:rPr>
              <a:t> Essentially, it is a numerical measurement that describes a value's relationship to the mean of a group of values. </a:t>
            </a:r>
          </a:p>
          <a:p>
            <a:r>
              <a:rPr lang="en-US" b="0" i="0" dirty="0">
                <a:solidFill>
                  <a:srgbClr val="111111"/>
                </a:solidFill>
                <a:effectLst/>
                <a:latin typeface="SourceSansPro"/>
              </a:rPr>
              <a:t>If a z-score is 0, it indicates that the data point's score is identical to the mean score. </a:t>
            </a:r>
          </a:p>
          <a:p>
            <a:r>
              <a:rPr lang="en-US" b="0" i="0" dirty="0">
                <a:solidFill>
                  <a:srgbClr val="111111"/>
                </a:solidFill>
                <a:effectLst/>
                <a:latin typeface="SourceSansPro"/>
              </a:rPr>
              <a:t>A z-score of 1.0 would indicate a value that is one standard deviation from the mean. </a:t>
            </a:r>
          </a:p>
          <a:p>
            <a:r>
              <a:rPr lang="en-US" b="0" i="0" dirty="0">
                <a:solidFill>
                  <a:srgbClr val="111111"/>
                </a:solidFill>
                <a:effectLst/>
                <a:latin typeface="SourceSansPro"/>
              </a:rPr>
              <a:t>Z-scores may be positive or negative, with a positive value indicating the score is above the mean and a negative score indicating it is below the mean.</a:t>
            </a:r>
            <a:endParaRPr lang="en-IN" dirty="0"/>
          </a:p>
        </p:txBody>
      </p:sp>
    </p:spTree>
    <p:extLst>
      <p:ext uri="{BB962C8B-B14F-4D97-AF65-F5344CB8AC3E}">
        <p14:creationId xmlns:p14="http://schemas.microsoft.com/office/powerpoint/2010/main" val="2088565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05CAAA-A9F1-47E7-AA77-A113C771C29E}"/>
              </a:ext>
            </a:extLst>
          </p:cNvPr>
          <p:cNvSpPr>
            <a:spLocks noGrp="1"/>
          </p:cNvSpPr>
          <p:nvPr>
            <p:ph type="title"/>
          </p:nvPr>
        </p:nvSpPr>
        <p:spPr/>
        <p:txBody>
          <a:bodyPr/>
          <a:lstStyle/>
          <a:p>
            <a:r>
              <a:rPr lang="en-US" dirty="0"/>
              <a:t>Revision of Z Score</a:t>
            </a:r>
            <a:endParaRPr lang="en-IN" dirty="0"/>
          </a:p>
        </p:txBody>
      </p:sp>
      <p:sp>
        <p:nvSpPr>
          <p:cNvPr id="3" name="Content Placeholder 2">
            <a:extLst>
              <a:ext uri="{FF2B5EF4-FFF2-40B4-BE49-F238E27FC236}">
                <a16:creationId xmlns:a16="http://schemas.microsoft.com/office/drawing/2014/main" xmlns="" id="{70D85AC1-B225-46D3-B3D7-19EC9CCDE909}"/>
              </a:ext>
            </a:extLst>
          </p:cNvPr>
          <p:cNvSpPr>
            <a:spLocks noGrp="1"/>
          </p:cNvSpPr>
          <p:nvPr>
            <p:ph idx="1"/>
          </p:nvPr>
        </p:nvSpPr>
        <p:spPr/>
        <p:txBody>
          <a:bodyPr/>
          <a:lstStyle/>
          <a:p>
            <a:r>
              <a:rPr lang="en-US" b="0" i="0" dirty="0">
                <a:solidFill>
                  <a:srgbClr val="333333"/>
                </a:solidFill>
                <a:effectLst/>
                <a:latin typeface="Roboto" panose="02000000000000000000" pitchFamily="2" charset="0"/>
              </a:rPr>
              <a:t>Z-scores are expressed in terms of standard deviations from their means.</a:t>
            </a:r>
          </a:p>
          <a:p>
            <a:r>
              <a:rPr lang="en-US" b="0" i="0" dirty="0">
                <a:solidFill>
                  <a:srgbClr val="333333"/>
                </a:solidFill>
                <a:effectLst/>
                <a:latin typeface="Roboto" panose="02000000000000000000" pitchFamily="2" charset="0"/>
              </a:rPr>
              <a:t> Resultantly, these z-scores have a distribution with a mean of 0 and a standard deviation of 1. </a:t>
            </a:r>
            <a:endParaRPr lang="en-IN" dirty="0"/>
          </a:p>
        </p:txBody>
      </p:sp>
    </p:spTree>
    <p:extLst>
      <p:ext uri="{BB962C8B-B14F-4D97-AF65-F5344CB8AC3E}">
        <p14:creationId xmlns:p14="http://schemas.microsoft.com/office/powerpoint/2010/main" val="110456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A7518D-A0C7-4549-B720-A65FF59F39DD}"/>
              </a:ext>
            </a:extLst>
          </p:cNvPr>
          <p:cNvSpPr>
            <a:spLocks noGrp="1"/>
          </p:cNvSpPr>
          <p:nvPr>
            <p:ph type="title"/>
          </p:nvPr>
        </p:nvSpPr>
        <p:spPr/>
        <p:txBody>
          <a:bodyPr/>
          <a:lstStyle/>
          <a:p>
            <a:r>
              <a:rPr lang="en-US" dirty="0"/>
              <a:t>Formula Z Score</a:t>
            </a:r>
            <a:endParaRPr lang="en-IN" dirty="0"/>
          </a:p>
        </p:txBody>
      </p:sp>
      <p:pic>
        <p:nvPicPr>
          <p:cNvPr id="5" name="Content Placeholder 4">
            <a:extLst>
              <a:ext uri="{FF2B5EF4-FFF2-40B4-BE49-F238E27FC236}">
                <a16:creationId xmlns:a16="http://schemas.microsoft.com/office/drawing/2014/main" xmlns="" id="{E11223D8-A9BE-4791-9532-43916C3CD266}"/>
              </a:ext>
            </a:extLst>
          </p:cNvPr>
          <p:cNvPicPr>
            <a:picLocks noGrp="1" noChangeAspect="1"/>
          </p:cNvPicPr>
          <p:nvPr>
            <p:ph idx="1"/>
          </p:nvPr>
        </p:nvPicPr>
        <p:blipFill>
          <a:blip r:embed="rId2"/>
          <a:stretch>
            <a:fillRect/>
          </a:stretch>
        </p:blipFill>
        <p:spPr>
          <a:xfrm>
            <a:off x="1438275" y="2200186"/>
            <a:ext cx="2305050" cy="400050"/>
          </a:xfrm>
        </p:spPr>
      </p:pic>
      <p:sp>
        <p:nvSpPr>
          <p:cNvPr id="7" name="TextBox 6">
            <a:extLst>
              <a:ext uri="{FF2B5EF4-FFF2-40B4-BE49-F238E27FC236}">
                <a16:creationId xmlns:a16="http://schemas.microsoft.com/office/drawing/2014/main" xmlns="" id="{D3B9E441-38A6-449C-99A6-960B6F0116CF}"/>
              </a:ext>
            </a:extLst>
          </p:cNvPr>
          <p:cNvSpPr txBox="1"/>
          <p:nvPr/>
        </p:nvSpPr>
        <p:spPr>
          <a:xfrm>
            <a:off x="1438275" y="3109734"/>
            <a:ext cx="6096000" cy="1200329"/>
          </a:xfrm>
          <a:prstGeom prst="rect">
            <a:avLst/>
          </a:prstGeom>
          <a:noFill/>
        </p:spPr>
        <p:txBody>
          <a:bodyPr wrap="square">
            <a:spAutoFit/>
          </a:bodyPr>
          <a:lstStyle/>
          <a:p>
            <a:pPr algn="l"/>
            <a:r>
              <a:rPr lang="en-US" b="0" i="0" dirty="0">
                <a:solidFill>
                  <a:srgbClr val="333333"/>
                </a:solidFill>
                <a:effectLst/>
                <a:latin typeface="Roboto" panose="02000000000000000000" pitchFamily="2" charset="0"/>
              </a:rPr>
              <a:t>Where,</a:t>
            </a:r>
          </a:p>
          <a:p>
            <a:pPr algn="l">
              <a:buFont typeface="Arial" panose="020B0604020202020204" pitchFamily="34" charset="0"/>
              <a:buChar char="•"/>
            </a:pPr>
            <a:r>
              <a:rPr lang="en-US" b="0" i="0" dirty="0">
                <a:solidFill>
                  <a:srgbClr val="333333"/>
                </a:solidFill>
                <a:effectLst/>
                <a:latin typeface="Roboto" panose="02000000000000000000" pitchFamily="2" charset="0"/>
              </a:rPr>
              <a:t>x = Standardized random variable</a:t>
            </a:r>
          </a:p>
          <a:p>
            <a:pPr algn="l">
              <a:buFont typeface="Arial" panose="020B0604020202020204" pitchFamily="34" charset="0"/>
              <a:buChar char="•"/>
            </a:pPr>
            <a:r>
              <a:rPr lang="en-US" b="0" i="0" dirty="0">
                <a:solidFill>
                  <a:srgbClr val="333333"/>
                </a:solidFill>
                <a:effectLst/>
                <a:latin typeface="Roboto" panose="02000000000000000000" pitchFamily="2" charset="0"/>
              </a:rPr>
              <a:t>x̅ = Mean</a:t>
            </a:r>
          </a:p>
          <a:p>
            <a:pPr algn="l">
              <a:buFont typeface="Arial" panose="020B0604020202020204" pitchFamily="34" charset="0"/>
              <a:buChar char="•"/>
            </a:pPr>
            <a:r>
              <a:rPr lang="en-US" b="0" i="0" dirty="0">
                <a:solidFill>
                  <a:srgbClr val="333333"/>
                </a:solidFill>
                <a:effectLst/>
                <a:latin typeface="Roboto" panose="02000000000000000000" pitchFamily="2" charset="0"/>
              </a:rPr>
              <a:t>σ = Standard deviation.</a:t>
            </a:r>
          </a:p>
        </p:txBody>
      </p:sp>
    </p:spTree>
    <p:extLst>
      <p:ext uri="{BB962C8B-B14F-4D97-AF65-F5344CB8AC3E}">
        <p14:creationId xmlns:p14="http://schemas.microsoft.com/office/powerpoint/2010/main" val="511698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894EF2-5BEB-4999-A7A4-9B53610E30DB}"/>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a16="http://schemas.microsoft.com/office/drawing/2014/main" xmlns="" id="{355421A1-81D5-4B6E-BE00-414C49850E9D}"/>
              </a:ext>
            </a:extLst>
          </p:cNvPr>
          <p:cNvSpPr>
            <a:spLocks noGrp="1"/>
          </p:cNvSpPr>
          <p:nvPr>
            <p:ph idx="1"/>
          </p:nvPr>
        </p:nvSpPr>
        <p:spPr/>
        <p:txBody>
          <a:bodyPr/>
          <a:lstStyle/>
          <a:p>
            <a:r>
              <a:rPr lang="en-US" b="1" i="0" dirty="0">
                <a:solidFill>
                  <a:srgbClr val="333333"/>
                </a:solidFill>
                <a:effectLst/>
                <a:latin typeface="Roboto" panose="02000000000000000000" pitchFamily="2" charset="0"/>
              </a:rPr>
              <a:t>How well did Ram perform in her English coursework compared to the other 50 students?</a:t>
            </a:r>
          </a:p>
          <a:p>
            <a:endParaRPr lang="en-IN" dirty="0"/>
          </a:p>
        </p:txBody>
      </p:sp>
      <p:pic>
        <p:nvPicPr>
          <p:cNvPr id="5" name="Picture 4">
            <a:extLst>
              <a:ext uri="{FF2B5EF4-FFF2-40B4-BE49-F238E27FC236}">
                <a16:creationId xmlns:a16="http://schemas.microsoft.com/office/drawing/2014/main" xmlns="" id="{98FFC279-0577-428D-A8E8-E03BBAC1A4B5}"/>
              </a:ext>
            </a:extLst>
          </p:cNvPr>
          <p:cNvPicPr>
            <a:picLocks noChangeAspect="1"/>
          </p:cNvPicPr>
          <p:nvPr/>
        </p:nvPicPr>
        <p:blipFill>
          <a:blip r:embed="rId2"/>
          <a:stretch>
            <a:fillRect/>
          </a:stretch>
        </p:blipFill>
        <p:spPr>
          <a:xfrm>
            <a:off x="942975" y="2719387"/>
            <a:ext cx="10306050" cy="1419225"/>
          </a:xfrm>
          <a:prstGeom prst="rect">
            <a:avLst/>
          </a:prstGeom>
        </p:spPr>
      </p:pic>
    </p:spTree>
    <p:extLst>
      <p:ext uri="{BB962C8B-B14F-4D97-AF65-F5344CB8AC3E}">
        <p14:creationId xmlns:p14="http://schemas.microsoft.com/office/powerpoint/2010/main" val="863644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E2D8E8-6F89-4554-8B62-A0213C4D183C}"/>
              </a:ext>
            </a:extLst>
          </p:cNvPr>
          <p:cNvSpPr>
            <a:spLocks noGrp="1"/>
          </p:cNvSpPr>
          <p:nvPr>
            <p:ph type="title"/>
          </p:nvPr>
        </p:nvSpPr>
        <p:spPr/>
        <p:txBody>
          <a:bodyPr/>
          <a:lstStyle/>
          <a:p>
            <a:r>
              <a:rPr lang="en-US" dirty="0"/>
              <a:t>Computation of Z Score</a:t>
            </a:r>
            <a:endParaRPr lang="en-IN" dirty="0"/>
          </a:p>
        </p:txBody>
      </p:sp>
      <p:sp>
        <p:nvSpPr>
          <p:cNvPr id="3" name="Content Placeholder 2">
            <a:extLst>
              <a:ext uri="{FF2B5EF4-FFF2-40B4-BE49-F238E27FC236}">
                <a16:creationId xmlns:a16="http://schemas.microsoft.com/office/drawing/2014/main" xmlns="" id="{4A5D374D-4BD8-4671-BFD2-3B3E79F07FDB}"/>
              </a:ext>
            </a:extLst>
          </p:cNvPr>
          <p:cNvSpPr>
            <a:spLocks noGrp="1"/>
          </p:cNvSpPr>
          <p:nvPr>
            <p:ph idx="1"/>
          </p:nvPr>
        </p:nvSpPr>
        <p:spPr/>
        <p:txBody>
          <a:bodyPr/>
          <a:lstStyle/>
          <a:p>
            <a:pPr marL="0" indent="0" algn="l">
              <a:buNone/>
            </a:pPr>
            <a:r>
              <a:rPr lang="en-IN" b="0" i="0" dirty="0">
                <a:solidFill>
                  <a:srgbClr val="333333"/>
                </a:solidFill>
                <a:effectLst/>
                <a:latin typeface="Roboto" panose="02000000000000000000" pitchFamily="2" charset="0"/>
              </a:rPr>
              <a:t>Z Score = (x − x̅ )/</a:t>
            </a:r>
            <a:r>
              <a:rPr lang="el-GR" b="0" i="0" dirty="0">
                <a:solidFill>
                  <a:srgbClr val="333333"/>
                </a:solidFill>
                <a:effectLst/>
                <a:latin typeface="Roboto" panose="02000000000000000000" pitchFamily="2" charset="0"/>
              </a:rPr>
              <a:t>σ</a:t>
            </a:r>
          </a:p>
          <a:p>
            <a:pPr marL="0" indent="0" algn="l">
              <a:buNone/>
            </a:pPr>
            <a:r>
              <a:rPr lang="el-GR" b="0" i="0" dirty="0">
                <a:solidFill>
                  <a:srgbClr val="333333"/>
                </a:solidFill>
                <a:effectLst/>
                <a:latin typeface="Roboto" panose="02000000000000000000" pitchFamily="2" charset="0"/>
              </a:rPr>
              <a:t>= (70 – 60)/ 15</a:t>
            </a:r>
          </a:p>
          <a:p>
            <a:pPr marL="0" indent="0" algn="l">
              <a:buNone/>
            </a:pPr>
            <a:r>
              <a:rPr lang="el-GR" b="0" i="0" dirty="0">
                <a:solidFill>
                  <a:srgbClr val="333333"/>
                </a:solidFill>
                <a:effectLst/>
                <a:latin typeface="Roboto" panose="02000000000000000000" pitchFamily="2" charset="0"/>
              </a:rPr>
              <a:t>= 10/15</a:t>
            </a:r>
          </a:p>
          <a:p>
            <a:pPr marL="0" indent="0" algn="l">
              <a:buNone/>
            </a:pPr>
            <a:r>
              <a:rPr lang="el-GR" b="0" i="0" dirty="0">
                <a:solidFill>
                  <a:srgbClr val="333333"/>
                </a:solidFill>
                <a:effectLst/>
                <a:latin typeface="Roboto" panose="02000000000000000000" pitchFamily="2" charset="0"/>
              </a:rPr>
              <a:t>= 0.6667</a:t>
            </a:r>
          </a:p>
          <a:p>
            <a:endParaRPr lang="en-IN" dirty="0"/>
          </a:p>
        </p:txBody>
      </p:sp>
    </p:spTree>
    <p:extLst>
      <p:ext uri="{BB962C8B-B14F-4D97-AF65-F5344CB8AC3E}">
        <p14:creationId xmlns:p14="http://schemas.microsoft.com/office/powerpoint/2010/main" val="539013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1F7D7E-EB41-4E0F-9726-B2E61516980A}"/>
              </a:ext>
            </a:extLst>
          </p:cNvPr>
          <p:cNvSpPr>
            <a:spLocks noGrp="1"/>
          </p:cNvSpPr>
          <p:nvPr>
            <p:ph type="title"/>
          </p:nvPr>
        </p:nvSpPr>
        <p:spPr/>
        <p:txBody>
          <a:bodyPr/>
          <a:lstStyle/>
          <a:p>
            <a:r>
              <a:rPr lang="en-US" dirty="0"/>
              <a:t>Example 2: Z score Computation</a:t>
            </a:r>
            <a:endParaRPr lang="en-IN" dirty="0"/>
          </a:p>
        </p:txBody>
      </p:sp>
      <p:sp>
        <p:nvSpPr>
          <p:cNvPr id="3" name="Content Placeholder 2">
            <a:extLst>
              <a:ext uri="{FF2B5EF4-FFF2-40B4-BE49-F238E27FC236}">
                <a16:creationId xmlns:a16="http://schemas.microsoft.com/office/drawing/2014/main" xmlns="" id="{1C708DF7-6926-4F98-9DA4-F668AAB43B5F}"/>
              </a:ext>
            </a:extLst>
          </p:cNvPr>
          <p:cNvSpPr>
            <a:spLocks noGrp="1"/>
          </p:cNvSpPr>
          <p:nvPr>
            <p:ph idx="1"/>
          </p:nvPr>
        </p:nvSpPr>
        <p:spPr/>
        <p:txBody>
          <a:bodyPr/>
          <a:lstStyle/>
          <a:p>
            <a:r>
              <a:rPr lang="en-US" i="0" dirty="0">
                <a:solidFill>
                  <a:srgbClr val="333333"/>
                </a:solidFill>
                <a:effectLst/>
                <a:latin typeface="Roboto" panose="02000000000000000000" pitchFamily="2" charset="0"/>
              </a:rPr>
              <a:t>A student wrote 2 quizzes. In the first quiz, he scored 80 and in other, he scored 75. The mean and standard deviation of first quiz are70 and 15 respectively, while the mean and standard deviation of the second quiz are 54 and 12 respectively. The results follow the normal distribution. What can you conclude about the student’s result by seeing their z scores?</a:t>
            </a:r>
            <a:endParaRPr lang="en-IN" dirty="0"/>
          </a:p>
        </p:txBody>
      </p:sp>
    </p:spTree>
    <p:extLst>
      <p:ext uri="{BB962C8B-B14F-4D97-AF65-F5344CB8AC3E}">
        <p14:creationId xmlns:p14="http://schemas.microsoft.com/office/powerpoint/2010/main" val="2902315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B87B7C-29C7-4C78-8820-A7C1ED5B47EA}"/>
              </a:ext>
            </a:extLst>
          </p:cNvPr>
          <p:cNvSpPr>
            <a:spLocks noGrp="1"/>
          </p:cNvSpPr>
          <p:nvPr>
            <p:ph type="title"/>
          </p:nvPr>
        </p:nvSpPr>
        <p:spPr/>
        <p:txBody>
          <a:bodyPr/>
          <a:lstStyle/>
          <a:p>
            <a:r>
              <a:rPr lang="en-US" dirty="0"/>
              <a:t>Step 1: Z score computation for Quiz 1</a:t>
            </a:r>
            <a:endParaRPr lang="en-IN" dirty="0"/>
          </a:p>
        </p:txBody>
      </p:sp>
      <p:sp>
        <p:nvSpPr>
          <p:cNvPr id="3" name="Content Placeholder 2">
            <a:extLst>
              <a:ext uri="{FF2B5EF4-FFF2-40B4-BE49-F238E27FC236}">
                <a16:creationId xmlns:a16="http://schemas.microsoft.com/office/drawing/2014/main" xmlns="" id="{C3CEE849-FCA3-4D76-AE9E-A51F9D02F307}"/>
              </a:ext>
            </a:extLst>
          </p:cNvPr>
          <p:cNvSpPr>
            <a:spLocks noGrp="1"/>
          </p:cNvSpPr>
          <p:nvPr>
            <p:ph idx="1"/>
          </p:nvPr>
        </p:nvSpPr>
        <p:spPr/>
        <p:txBody>
          <a:bodyPr/>
          <a:lstStyle/>
          <a:p>
            <a:pPr algn="l"/>
            <a:r>
              <a:rPr lang="en-IN" b="0" i="0" dirty="0">
                <a:solidFill>
                  <a:srgbClr val="333333"/>
                </a:solidFill>
                <a:effectLst/>
                <a:latin typeface="Roboto" panose="02000000000000000000" pitchFamily="2" charset="0"/>
              </a:rPr>
              <a:t>Calculation of student’s Z score for first quiz:</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Standardized random variable x = 80</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Mean, x̅ = 70</a:t>
            </a:r>
          </a:p>
          <a:p>
            <a:pPr algn="l"/>
            <a:r>
              <a:rPr lang="en-IN" b="0" i="0" dirty="0">
                <a:solidFill>
                  <a:srgbClr val="333333"/>
                </a:solidFill>
                <a:effectLst/>
                <a:latin typeface="Roboto" panose="02000000000000000000" pitchFamily="2" charset="0"/>
              </a:rPr>
              <a:t>Population standard deviation = 15</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Formula for Z score is given below:</a:t>
            </a:r>
          </a:p>
          <a:p>
            <a:pPr algn="l"/>
            <a:r>
              <a:rPr lang="en-IN" b="0" i="0" dirty="0">
                <a:solidFill>
                  <a:srgbClr val="333333"/>
                </a:solidFill>
                <a:effectLst/>
                <a:latin typeface="Roboto" panose="02000000000000000000" pitchFamily="2" charset="0"/>
              </a:rPr>
              <a:t>Z Score = (x − x̅ )/</a:t>
            </a:r>
            <a:r>
              <a:rPr lang="el-GR" b="0" i="0" dirty="0">
                <a:solidFill>
                  <a:srgbClr val="333333"/>
                </a:solidFill>
                <a:effectLst/>
                <a:latin typeface="Roboto" panose="02000000000000000000" pitchFamily="2" charset="0"/>
              </a:rPr>
              <a:t>σ</a:t>
            </a:r>
          </a:p>
          <a:p>
            <a:pPr algn="l"/>
            <a:r>
              <a:rPr lang="el-GR" b="0" i="0" dirty="0">
                <a:solidFill>
                  <a:srgbClr val="333333"/>
                </a:solidFill>
                <a:effectLst/>
                <a:latin typeface="Roboto" panose="02000000000000000000" pitchFamily="2" charset="0"/>
              </a:rPr>
              <a:t>= (80 – 70) /15</a:t>
            </a:r>
          </a:p>
          <a:p>
            <a:pPr algn="l"/>
            <a:r>
              <a:rPr lang="el-GR" b="0" i="0" dirty="0">
                <a:solidFill>
                  <a:srgbClr val="333333"/>
                </a:solidFill>
                <a:effectLst/>
                <a:latin typeface="Roboto" panose="02000000000000000000" pitchFamily="2" charset="0"/>
              </a:rPr>
              <a:t>= 0.667</a:t>
            </a:r>
          </a:p>
          <a:p>
            <a:endParaRPr lang="en-IN" dirty="0"/>
          </a:p>
        </p:txBody>
      </p:sp>
    </p:spTree>
    <p:extLst>
      <p:ext uri="{BB962C8B-B14F-4D97-AF65-F5344CB8AC3E}">
        <p14:creationId xmlns:p14="http://schemas.microsoft.com/office/powerpoint/2010/main" val="796814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A69F2E-4DFF-4C61-A9DE-64F3BD4C0EA6}"/>
              </a:ext>
            </a:extLst>
          </p:cNvPr>
          <p:cNvSpPr>
            <a:spLocks noGrp="1"/>
          </p:cNvSpPr>
          <p:nvPr>
            <p:ph type="title"/>
          </p:nvPr>
        </p:nvSpPr>
        <p:spPr/>
        <p:txBody>
          <a:bodyPr/>
          <a:lstStyle/>
          <a:p>
            <a:r>
              <a:rPr lang="en-US" dirty="0"/>
              <a:t>Step 2: Z score Computation for second Quiz</a:t>
            </a:r>
            <a:endParaRPr lang="en-IN" dirty="0"/>
          </a:p>
        </p:txBody>
      </p:sp>
      <p:sp>
        <p:nvSpPr>
          <p:cNvPr id="3" name="Content Placeholder 2">
            <a:extLst>
              <a:ext uri="{FF2B5EF4-FFF2-40B4-BE49-F238E27FC236}">
                <a16:creationId xmlns:a16="http://schemas.microsoft.com/office/drawing/2014/main" xmlns="" id="{3E19A550-4D9D-492B-BFCC-D4FC871678D9}"/>
              </a:ext>
            </a:extLst>
          </p:cNvPr>
          <p:cNvSpPr>
            <a:spLocks noGrp="1"/>
          </p:cNvSpPr>
          <p:nvPr>
            <p:ph idx="1"/>
          </p:nvPr>
        </p:nvSpPr>
        <p:spPr/>
        <p:txBody>
          <a:bodyPr/>
          <a:lstStyle/>
          <a:p>
            <a:pPr algn="l"/>
            <a:r>
              <a:rPr lang="en-IN" b="0" i="0" dirty="0">
                <a:solidFill>
                  <a:srgbClr val="333333"/>
                </a:solidFill>
                <a:effectLst/>
                <a:latin typeface="Roboto" panose="02000000000000000000" pitchFamily="2" charset="0"/>
              </a:rPr>
              <a:t>Calculation of student’s Z score for second quiz:</a:t>
            </a:r>
          </a:p>
          <a:p>
            <a:pPr algn="l"/>
            <a:r>
              <a:rPr lang="en-IN" b="0" i="0" dirty="0">
                <a:solidFill>
                  <a:srgbClr val="333333"/>
                </a:solidFill>
                <a:effectLst/>
                <a:latin typeface="Roboto" panose="02000000000000000000" pitchFamily="2" charset="0"/>
              </a:rPr>
              <a:t>Standardized random variable x = 75</a:t>
            </a:r>
          </a:p>
          <a:p>
            <a:pPr algn="l"/>
            <a:r>
              <a:rPr lang="en-IN" b="0" i="0" dirty="0">
                <a:solidFill>
                  <a:srgbClr val="333333"/>
                </a:solidFill>
                <a:effectLst/>
                <a:latin typeface="Roboto" panose="02000000000000000000" pitchFamily="2" charset="0"/>
              </a:rPr>
              <a:t>Mean x̅ = 54</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Population standard deviation = 12</a:t>
            </a:r>
          </a:p>
          <a:p>
            <a:pPr algn="l"/>
            <a:r>
              <a:rPr lang="en-IN" b="0" i="0" dirty="0">
                <a:solidFill>
                  <a:srgbClr val="333333"/>
                </a:solidFill>
                <a:effectLst/>
                <a:latin typeface="Roboto" panose="02000000000000000000" pitchFamily="2" charset="0"/>
              </a:rPr>
              <a:t>Formula for Z score is given below:</a:t>
            </a:r>
          </a:p>
          <a:p>
            <a:pPr algn="l"/>
            <a:r>
              <a:rPr lang="en-IN" b="0" i="0" dirty="0">
                <a:solidFill>
                  <a:srgbClr val="333333"/>
                </a:solidFill>
                <a:effectLst/>
                <a:latin typeface="Roboto" panose="02000000000000000000" pitchFamily="2" charset="0"/>
              </a:rPr>
              <a:t>Z Score = (x − x̅ )/</a:t>
            </a:r>
            <a:r>
              <a:rPr lang="el-GR" b="0" i="0" dirty="0">
                <a:solidFill>
                  <a:srgbClr val="333333"/>
                </a:solidFill>
                <a:effectLst/>
                <a:latin typeface="Roboto" panose="02000000000000000000" pitchFamily="2" charset="0"/>
              </a:rPr>
              <a:t>σ</a:t>
            </a:r>
          </a:p>
          <a:p>
            <a:pPr algn="l"/>
            <a:r>
              <a:rPr lang="el-GR" b="0" i="0" dirty="0">
                <a:solidFill>
                  <a:srgbClr val="333333"/>
                </a:solidFill>
                <a:effectLst/>
                <a:latin typeface="Roboto" panose="02000000000000000000" pitchFamily="2" charset="0"/>
              </a:rPr>
              <a:t>= (75 – 54) /12</a:t>
            </a:r>
          </a:p>
          <a:p>
            <a:pPr algn="l"/>
            <a:r>
              <a:rPr lang="el-GR" b="0" i="0" dirty="0">
                <a:solidFill>
                  <a:srgbClr val="333333"/>
                </a:solidFill>
                <a:effectLst/>
                <a:latin typeface="Roboto" panose="02000000000000000000" pitchFamily="2" charset="0"/>
              </a:rPr>
              <a:t>= 1.75</a:t>
            </a:r>
          </a:p>
          <a:p>
            <a:endParaRPr lang="en-IN" dirty="0"/>
          </a:p>
        </p:txBody>
      </p:sp>
    </p:spTree>
    <p:extLst>
      <p:ext uri="{BB962C8B-B14F-4D97-AF65-F5344CB8AC3E}">
        <p14:creationId xmlns:p14="http://schemas.microsoft.com/office/powerpoint/2010/main" val="879767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5B6CD-F017-47A2-9974-462508F932B0}"/>
              </a:ext>
            </a:extLst>
          </p:cNvPr>
          <p:cNvSpPr>
            <a:spLocks noGrp="1"/>
          </p:cNvSpPr>
          <p:nvPr>
            <p:ph type="title"/>
          </p:nvPr>
        </p:nvSpPr>
        <p:spPr/>
        <p:txBody>
          <a:bodyPr/>
          <a:lstStyle/>
          <a:p>
            <a:r>
              <a:rPr lang="en-US" dirty="0"/>
              <a:t>Step 3: Comparison of Scores</a:t>
            </a:r>
            <a:endParaRPr lang="en-IN" dirty="0"/>
          </a:p>
        </p:txBody>
      </p:sp>
      <p:sp>
        <p:nvSpPr>
          <p:cNvPr id="3" name="Content Placeholder 2">
            <a:extLst>
              <a:ext uri="{FF2B5EF4-FFF2-40B4-BE49-F238E27FC236}">
                <a16:creationId xmlns:a16="http://schemas.microsoft.com/office/drawing/2014/main" xmlns="" id="{455A86EF-1F70-4D56-A777-4DE21F3CA3E2}"/>
              </a:ext>
            </a:extLst>
          </p:cNvPr>
          <p:cNvSpPr>
            <a:spLocks noGrp="1"/>
          </p:cNvSpPr>
          <p:nvPr>
            <p:ph idx="1"/>
          </p:nvPr>
        </p:nvSpPr>
        <p:spPr/>
        <p:txBody>
          <a:bodyPr/>
          <a:lstStyle/>
          <a:p>
            <a:r>
              <a:rPr lang="en-US" b="0" i="0" dirty="0">
                <a:solidFill>
                  <a:srgbClr val="333333"/>
                </a:solidFill>
                <a:effectLst/>
                <a:latin typeface="Roboto" panose="02000000000000000000" pitchFamily="2" charset="0"/>
              </a:rPr>
              <a:t>Since Z score of second quiz is better than that of first quiz, hence it is concluded that he did better in second quiz.</a:t>
            </a:r>
            <a:endParaRPr lang="en-IN" dirty="0"/>
          </a:p>
        </p:txBody>
      </p:sp>
    </p:spTree>
    <p:extLst>
      <p:ext uri="{BB962C8B-B14F-4D97-AF65-F5344CB8AC3E}">
        <p14:creationId xmlns:p14="http://schemas.microsoft.com/office/powerpoint/2010/main" val="664843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43325F-AE0F-46CD-B632-252CFFC4D558}"/>
              </a:ext>
            </a:extLst>
          </p:cNvPr>
          <p:cNvSpPr>
            <a:spLocks noGrp="1"/>
          </p:cNvSpPr>
          <p:nvPr>
            <p:ph type="title"/>
          </p:nvPr>
        </p:nvSpPr>
        <p:spPr/>
        <p:txBody>
          <a:bodyPr/>
          <a:lstStyle/>
          <a:p>
            <a:r>
              <a:rPr lang="en-US" dirty="0"/>
              <a:t>Example of Z Test</a:t>
            </a:r>
            <a:endParaRPr lang="en-IN" dirty="0"/>
          </a:p>
        </p:txBody>
      </p:sp>
      <p:sp>
        <p:nvSpPr>
          <p:cNvPr id="3" name="Content Placeholder 2">
            <a:extLst>
              <a:ext uri="{FF2B5EF4-FFF2-40B4-BE49-F238E27FC236}">
                <a16:creationId xmlns:a16="http://schemas.microsoft.com/office/drawing/2014/main" xmlns="" id="{E65AEF99-21F7-4F6F-98FD-00D00A286CDE}"/>
              </a:ext>
            </a:extLst>
          </p:cNvPr>
          <p:cNvSpPr>
            <a:spLocks noGrp="1"/>
          </p:cNvSpPr>
          <p:nvPr>
            <p:ph idx="1"/>
          </p:nvPr>
        </p:nvSpPr>
        <p:spPr/>
        <p:txBody>
          <a:bodyPr/>
          <a:lstStyle/>
          <a:p>
            <a:r>
              <a:rPr lang="en-US" b="0" i="0" dirty="0">
                <a:solidFill>
                  <a:srgbClr val="111111"/>
                </a:solidFill>
                <a:effectLst/>
                <a:latin typeface="SourceSansPro"/>
              </a:rPr>
              <a:t>Examples of tests that can be conducted as z-tests include a one-sample location test, a two-sample location test, a paired difference test, and a maximum likelihood estimate.</a:t>
            </a:r>
          </a:p>
          <a:p>
            <a:r>
              <a:rPr lang="en-US" b="0" i="0" dirty="0">
                <a:solidFill>
                  <a:srgbClr val="111111"/>
                </a:solidFill>
                <a:effectLst/>
                <a:latin typeface="SourceSansPro"/>
              </a:rPr>
              <a:t> Z-tests are closely related to t-tests, but t-tests are best performed when an experiment has a small sample size. </a:t>
            </a:r>
          </a:p>
          <a:p>
            <a:r>
              <a:rPr lang="en-US" b="0" i="0" dirty="0">
                <a:solidFill>
                  <a:srgbClr val="111111"/>
                </a:solidFill>
                <a:effectLst/>
                <a:latin typeface="SourceSansPro"/>
              </a:rPr>
              <a:t>Also, t-tests assume the standard deviation is unknown, while z-tests assume it is known. </a:t>
            </a:r>
          </a:p>
          <a:p>
            <a:r>
              <a:rPr lang="en-US" b="0" i="0" dirty="0">
                <a:solidFill>
                  <a:srgbClr val="111111"/>
                </a:solidFill>
                <a:effectLst/>
                <a:latin typeface="SourceSansPro"/>
              </a:rPr>
              <a:t>If the standard deviation of the population is unknown, the assumption of the sample variance equaling the population variance is made.</a:t>
            </a:r>
          </a:p>
          <a:p>
            <a:endParaRPr lang="en-IN" dirty="0"/>
          </a:p>
        </p:txBody>
      </p:sp>
    </p:spTree>
    <p:extLst>
      <p:ext uri="{BB962C8B-B14F-4D97-AF65-F5344CB8AC3E}">
        <p14:creationId xmlns:p14="http://schemas.microsoft.com/office/powerpoint/2010/main" val="11787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0BA7FB-E940-4B30-B5BC-283454E17F6C}"/>
              </a:ext>
            </a:extLst>
          </p:cNvPr>
          <p:cNvSpPr>
            <a:spLocks noGrp="1"/>
          </p:cNvSpPr>
          <p:nvPr>
            <p:ph type="title"/>
          </p:nvPr>
        </p:nvSpPr>
        <p:spPr/>
        <p:txBody>
          <a:bodyPr/>
          <a:lstStyle/>
          <a:p>
            <a:r>
              <a:rPr lang="en-US" dirty="0"/>
              <a:t>Key Features of ANOVA</a:t>
            </a:r>
            <a:endParaRPr lang="en-IN" dirty="0"/>
          </a:p>
        </p:txBody>
      </p:sp>
      <p:sp>
        <p:nvSpPr>
          <p:cNvPr id="3" name="Content Placeholder 2">
            <a:extLst>
              <a:ext uri="{FF2B5EF4-FFF2-40B4-BE49-F238E27FC236}">
                <a16:creationId xmlns:a16="http://schemas.microsoft.com/office/drawing/2014/main" xmlns="" id="{365EC873-5ADF-4A15-9C74-8002957C6F24}"/>
              </a:ext>
            </a:extLst>
          </p:cNvPr>
          <p:cNvSpPr>
            <a:spLocks noGrp="1"/>
          </p:cNvSpPr>
          <p:nvPr>
            <p:ph idx="1"/>
          </p:nvPr>
        </p:nvSpPr>
        <p:spPr/>
        <p:txBody>
          <a:bodyPr/>
          <a:lstStyle/>
          <a:p>
            <a:pPr algn="l">
              <a:buFont typeface="Arial" panose="020B0604020202020204" pitchFamily="34" charset="0"/>
              <a:buChar char="•"/>
            </a:pPr>
            <a:r>
              <a:rPr lang="en-US" b="0" i="0" dirty="0">
                <a:solidFill>
                  <a:srgbClr val="111111"/>
                </a:solidFill>
                <a:effectLst/>
                <a:latin typeface="SourceSansPro"/>
              </a:rPr>
              <a:t>Analysis of variance, or ANOVA, is a statistical method that separates observed variance data into different components to use for additional tests.</a:t>
            </a:r>
          </a:p>
          <a:p>
            <a:pPr algn="l">
              <a:buFont typeface="Arial" panose="020B0604020202020204" pitchFamily="34" charset="0"/>
              <a:buChar char="•"/>
            </a:pPr>
            <a:r>
              <a:rPr lang="en-US" b="0" i="0" dirty="0">
                <a:solidFill>
                  <a:srgbClr val="111111"/>
                </a:solidFill>
                <a:effectLst/>
                <a:latin typeface="SourceSansPro"/>
              </a:rPr>
              <a:t>A one-way ANOVA is used for three or more groups of data, to gain information about the relationship between the dependent and independent variables.</a:t>
            </a:r>
          </a:p>
          <a:p>
            <a:pPr algn="l">
              <a:buFont typeface="Arial" panose="020B0604020202020204" pitchFamily="34" charset="0"/>
              <a:buChar char="•"/>
            </a:pPr>
            <a:r>
              <a:rPr lang="en-US" b="0" i="0" dirty="0">
                <a:solidFill>
                  <a:srgbClr val="111111"/>
                </a:solidFill>
                <a:effectLst/>
                <a:latin typeface="SourceSansPro"/>
              </a:rPr>
              <a:t>If no true variance exists between the groups, the ANOVA's F-ratio should equal close to 1.</a:t>
            </a:r>
          </a:p>
          <a:p>
            <a:endParaRPr lang="en-IN" dirty="0"/>
          </a:p>
        </p:txBody>
      </p:sp>
    </p:spTree>
    <p:extLst>
      <p:ext uri="{BB962C8B-B14F-4D97-AF65-F5344CB8AC3E}">
        <p14:creationId xmlns:p14="http://schemas.microsoft.com/office/powerpoint/2010/main" val="2550716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085153C5-00D3-4541-A7EB-24C248DDBEA7}"/>
              </a:ext>
            </a:extLst>
          </p:cNvPr>
          <p:cNvPicPr>
            <a:picLocks noGrp="1" noChangeAspect="1"/>
          </p:cNvPicPr>
          <p:nvPr>
            <p:ph idx="1"/>
          </p:nvPr>
        </p:nvPicPr>
        <p:blipFill>
          <a:blip r:embed="rId2"/>
          <a:stretch>
            <a:fillRect/>
          </a:stretch>
        </p:blipFill>
        <p:spPr>
          <a:xfrm>
            <a:off x="2543175" y="714375"/>
            <a:ext cx="6486525" cy="4206081"/>
          </a:xfrm>
        </p:spPr>
      </p:pic>
    </p:spTree>
    <p:extLst>
      <p:ext uri="{BB962C8B-B14F-4D97-AF65-F5344CB8AC3E}">
        <p14:creationId xmlns:p14="http://schemas.microsoft.com/office/powerpoint/2010/main" val="2270689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091449-ABE3-44B7-B22F-4023ADCB7253}"/>
              </a:ext>
            </a:extLst>
          </p:cNvPr>
          <p:cNvSpPr>
            <a:spLocks noGrp="1"/>
          </p:cNvSpPr>
          <p:nvPr>
            <p:ph type="title"/>
          </p:nvPr>
        </p:nvSpPr>
        <p:spPr/>
        <p:txBody>
          <a:bodyPr/>
          <a:lstStyle/>
          <a:p>
            <a:r>
              <a:rPr lang="en-US" b="0" i="0" dirty="0">
                <a:solidFill>
                  <a:srgbClr val="111111"/>
                </a:solidFill>
                <a:effectLst/>
                <a:latin typeface="Cabin-semi-bold"/>
              </a:rPr>
              <a:t>What Does the Analysis of Variance Reveal?</a:t>
            </a:r>
            <a:br>
              <a:rPr lang="en-US"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B8CA8BF0-5865-432F-AD6C-5CA73D87F7D0}"/>
              </a:ext>
            </a:extLst>
          </p:cNvPr>
          <p:cNvSpPr>
            <a:spLocks noGrp="1"/>
          </p:cNvSpPr>
          <p:nvPr>
            <p:ph idx="1"/>
          </p:nvPr>
        </p:nvSpPr>
        <p:spPr>
          <a:xfrm>
            <a:off x="838200" y="1143000"/>
            <a:ext cx="10515600" cy="5619750"/>
          </a:xfrm>
        </p:spPr>
        <p:txBody>
          <a:bodyPr>
            <a:normAutofit/>
          </a:bodyPr>
          <a:lstStyle/>
          <a:p>
            <a:pPr algn="l"/>
            <a:r>
              <a:rPr lang="en-US" b="0" i="0" dirty="0">
                <a:solidFill>
                  <a:srgbClr val="111111"/>
                </a:solidFill>
                <a:effectLst/>
                <a:latin typeface="SourceSansPro"/>
              </a:rPr>
              <a:t>The ANOVA test is the initial step in analyzing factors that affect a given data set. Once the test is finished, an analyst performs additional testing on the methodical factors that measurably contribute to the data set's inconsistency. The analyst utilizes the ANOVA test results in an f-test to generate additional data that aligns with the proposed </a:t>
            </a:r>
            <a:r>
              <a:rPr lang="en-US" dirty="0">
                <a:solidFill>
                  <a:srgbClr val="2C40D0"/>
                </a:solidFill>
                <a:latin typeface="SourceSansPro"/>
              </a:rPr>
              <a:t>regression</a:t>
            </a:r>
            <a:r>
              <a:rPr lang="en-US" b="0" i="0" dirty="0">
                <a:solidFill>
                  <a:srgbClr val="111111"/>
                </a:solidFill>
                <a:effectLst/>
                <a:latin typeface="SourceSansPro"/>
              </a:rPr>
              <a:t> models.</a:t>
            </a:r>
          </a:p>
          <a:p>
            <a:endParaRPr lang="en-IN" dirty="0"/>
          </a:p>
        </p:txBody>
      </p:sp>
    </p:spTree>
    <p:extLst>
      <p:ext uri="{BB962C8B-B14F-4D97-AF65-F5344CB8AC3E}">
        <p14:creationId xmlns:p14="http://schemas.microsoft.com/office/powerpoint/2010/main" val="3966472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BEBED2-AD9D-4B3F-9530-00E7F860AFC5}"/>
              </a:ext>
            </a:extLst>
          </p:cNvPr>
          <p:cNvSpPr>
            <a:spLocks noGrp="1"/>
          </p:cNvSpPr>
          <p:nvPr>
            <p:ph type="title"/>
          </p:nvPr>
        </p:nvSpPr>
        <p:spPr/>
        <p:txBody>
          <a:bodyPr/>
          <a:lstStyle/>
          <a:p>
            <a:r>
              <a:rPr lang="en-US" dirty="0"/>
              <a:t>ANOVA Test Reveals </a:t>
            </a:r>
            <a:endParaRPr lang="en-IN" dirty="0"/>
          </a:p>
        </p:txBody>
      </p:sp>
      <p:sp>
        <p:nvSpPr>
          <p:cNvPr id="3" name="Content Placeholder 2">
            <a:extLst>
              <a:ext uri="{FF2B5EF4-FFF2-40B4-BE49-F238E27FC236}">
                <a16:creationId xmlns:a16="http://schemas.microsoft.com/office/drawing/2014/main" xmlns="" id="{D617D31E-1404-4DBC-B331-1ED7391A9320}"/>
              </a:ext>
            </a:extLst>
          </p:cNvPr>
          <p:cNvSpPr>
            <a:spLocks noGrp="1"/>
          </p:cNvSpPr>
          <p:nvPr>
            <p:ph idx="1"/>
          </p:nvPr>
        </p:nvSpPr>
        <p:spPr/>
        <p:txBody>
          <a:bodyPr>
            <a:normAutofit/>
          </a:bodyPr>
          <a:lstStyle/>
          <a:p>
            <a:pPr algn="l"/>
            <a:r>
              <a:rPr lang="en-US" b="0" i="0" dirty="0">
                <a:solidFill>
                  <a:srgbClr val="111111"/>
                </a:solidFill>
                <a:effectLst/>
                <a:latin typeface="SourceSansPro"/>
              </a:rPr>
              <a:t>The ANOVA test allows a comparison of more than two groups at the same time to determine whether a relationship exists between them. The result of the ANOVA formula, the F statistic (also called the F-ratio), allows for the analysis of multiple groups of data to determine the variability between samples and within samples.</a:t>
            </a:r>
          </a:p>
          <a:p>
            <a:endParaRPr lang="en-IN" dirty="0"/>
          </a:p>
        </p:txBody>
      </p:sp>
    </p:spTree>
    <p:extLst>
      <p:ext uri="{BB962C8B-B14F-4D97-AF65-F5344CB8AC3E}">
        <p14:creationId xmlns:p14="http://schemas.microsoft.com/office/powerpoint/2010/main" val="133923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3C0248-17B8-44FC-B1B1-943076479E0E}"/>
              </a:ext>
            </a:extLst>
          </p:cNvPr>
          <p:cNvSpPr>
            <a:spLocks noGrp="1"/>
          </p:cNvSpPr>
          <p:nvPr>
            <p:ph type="title"/>
          </p:nvPr>
        </p:nvSpPr>
        <p:spPr/>
        <p:txBody>
          <a:bodyPr/>
          <a:lstStyle/>
          <a:p>
            <a:r>
              <a:rPr lang="en-US" dirty="0"/>
              <a:t>ANOVA Reveals</a:t>
            </a:r>
            <a:endParaRPr lang="en-IN" dirty="0"/>
          </a:p>
        </p:txBody>
      </p:sp>
      <p:sp>
        <p:nvSpPr>
          <p:cNvPr id="3" name="Content Placeholder 2">
            <a:extLst>
              <a:ext uri="{FF2B5EF4-FFF2-40B4-BE49-F238E27FC236}">
                <a16:creationId xmlns:a16="http://schemas.microsoft.com/office/drawing/2014/main" xmlns="" id="{0A48D17F-FE84-4A48-B04A-B861BF627FD4}"/>
              </a:ext>
            </a:extLst>
          </p:cNvPr>
          <p:cNvSpPr>
            <a:spLocks noGrp="1"/>
          </p:cNvSpPr>
          <p:nvPr>
            <p:ph idx="1"/>
          </p:nvPr>
        </p:nvSpPr>
        <p:spPr/>
        <p:txBody>
          <a:bodyPr/>
          <a:lstStyle/>
          <a:p>
            <a:r>
              <a:rPr lang="en-US" b="0" i="0" dirty="0">
                <a:solidFill>
                  <a:srgbClr val="111111"/>
                </a:solidFill>
                <a:effectLst/>
                <a:latin typeface="SourceSansPro"/>
              </a:rPr>
              <a:t>If no real difference exists between the tested groups, which is called the </a:t>
            </a:r>
            <a:r>
              <a:rPr lang="en-US" dirty="0">
                <a:solidFill>
                  <a:srgbClr val="2C40D0"/>
                </a:solidFill>
                <a:latin typeface="SourceSansPro"/>
              </a:rPr>
              <a:t>null hypothesis</a:t>
            </a:r>
            <a:r>
              <a:rPr lang="en-US" b="0" i="0" dirty="0">
                <a:solidFill>
                  <a:srgbClr val="111111"/>
                </a:solidFill>
                <a:effectLst/>
                <a:latin typeface="SourceSansPro"/>
              </a:rPr>
              <a:t>, the result of the ANOVA's F-ratio statistic will be close to 1. </a:t>
            </a:r>
          </a:p>
          <a:p>
            <a:r>
              <a:rPr lang="en-US" b="0" i="0" dirty="0">
                <a:solidFill>
                  <a:srgbClr val="111111"/>
                </a:solidFill>
                <a:effectLst/>
                <a:latin typeface="SourceSansPro"/>
              </a:rPr>
              <a:t>The distribution of all possible values of the F statistic is the F-distribution. </a:t>
            </a:r>
          </a:p>
          <a:p>
            <a:r>
              <a:rPr lang="en-US" b="0" i="0" dirty="0">
                <a:solidFill>
                  <a:srgbClr val="111111"/>
                </a:solidFill>
                <a:effectLst/>
                <a:latin typeface="SourceSansPro"/>
              </a:rPr>
              <a:t>This is actually a group of distribution functions, with two characteristic numbers, called the numerator </a:t>
            </a:r>
            <a:r>
              <a:rPr lang="en-US" dirty="0">
                <a:solidFill>
                  <a:srgbClr val="2C40D0"/>
                </a:solidFill>
                <a:latin typeface="SourceSansPro"/>
              </a:rPr>
              <a:t>degrees of freedom</a:t>
            </a:r>
            <a:r>
              <a:rPr lang="en-US" b="0" i="0" dirty="0">
                <a:solidFill>
                  <a:srgbClr val="111111"/>
                </a:solidFill>
                <a:effectLst/>
                <a:latin typeface="SourceSansPro"/>
              </a:rPr>
              <a:t> and the denominator degrees of freedom.</a:t>
            </a:r>
          </a:p>
          <a:p>
            <a:endParaRPr lang="en-IN" dirty="0"/>
          </a:p>
        </p:txBody>
      </p:sp>
    </p:spTree>
    <p:extLst>
      <p:ext uri="{BB962C8B-B14F-4D97-AF65-F5344CB8AC3E}">
        <p14:creationId xmlns:p14="http://schemas.microsoft.com/office/powerpoint/2010/main" val="3074676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B1221A-F243-468F-B684-A9EEFEED05B2}"/>
              </a:ext>
            </a:extLst>
          </p:cNvPr>
          <p:cNvSpPr>
            <a:spLocks noGrp="1"/>
          </p:cNvSpPr>
          <p:nvPr>
            <p:ph type="title"/>
          </p:nvPr>
        </p:nvSpPr>
        <p:spPr/>
        <p:txBody>
          <a:bodyPr/>
          <a:lstStyle/>
          <a:p>
            <a:r>
              <a:rPr lang="en-US" b="0" i="0" dirty="0">
                <a:solidFill>
                  <a:srgbClr val="111111"/>
                </a:solidFill>
                <a:effectLst/>
                <a:latin typeface="Cabin-semi-bold"/>
              </a:rPr>
              <a:t>Example of How to Use ANOVA</a:t>
            </a:r>
            <a:br>
              <a:rPr lang="en-US"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A63F609E-3117-4B57-9F7E-4EF014289556}"/>
              </a:ext>
            </a:extLst>
          </p:cNvPr>
          <p:cNvSpPr>
            <a:spLocks noGrp="1"/>
          </p:cNvSpPr>
          <p:nvPr>
            <p:ph idx="1"/>
          </p:nvPr>
        </p:nvSpPr>
        <p:spPr>
          <a:xfrm>
            <a:off x="838200" y="1228724"/>
            <a:ext cx="10515600" cy="5629275"/>
          </a:xfrm>
        </p:spPr>
        <p:txBody>
          <a:bodyPr>
            <a:normAutofit/>
          </a:bodyPr>
          <a:lstStyle/>
          <a:p>
            <a:pPr algn="l"/>
            <a:r>
              <a:rPr lang="en-US" b="0" i="0" dirty="0">
                <a:solidFill>
                  <a:srgbClr val="111111"/>
                </a:solidFill>
                <a:effectLst/>
                <a:latin typeface="SourceSansPro"/>
              </a:rPr>
              <a:t>A researcher might, for example, test students from multiple colleges to see if students from one of the colleges consistently outperform students from the other colleges. In a business application, an R&amp;D researcher might test two different processes of creating a product to see if one process is better than the other in terms of cost efficiency.</a:t>
            </a:r>
          </a:p>
          <a:p>
            <a:endParaRPr lang="en-IN" dirty="0"/>
          </a:p>
        </p:txBody>
      </p:sp>
    </p:spTree>
    <p:extLst>
      <p:ext uri="{BB962C8B-B14F-4D97-AF65-F5344CB8AC3E}">
        <p14:creationId xmlns:p14="http://schemas.microsoft.com/office/powerpoint/2010/main" val="258421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5BDF0E-D21A-4274-8DFC-EF8D1984B324}"/>
              </a:ext>
            </a:extLst>
          </p:cNvPr>
          <p:cNvSpPr>
            <a:spLocks noGrp="1"/>
          </p:cNvSpPr>
          <p:nvPr>
            <p:ph type="title"/>
          </p:nvPr>
        </p:nvSpPr>
        <p:spPr/>
        <p:txBody>
          <a:bodyPr/>
          <a:lstStyle/>
          <a:p>
            <a:r>
              <a:rPr lang="en-US" dirty="0"/>
              <a:t>ANOVA Test </a:t>
            </a:r>
            <a:endParaRPr lang="en-IN" dirty="0"/>
          </a:p>
        </p:txBody>
      </p:sp>
      <p:sp>
        <p:nvSpPr>
          <p:cNvPr id="3" name="Content Placeholder 2">
            <a:extLst>
              <a:ext uri="{FF2B5EF4-FFF2-40B4-BE49-F238E27FC236}">
                <a16:creationId xmlns:a16="http://schemas.microsoft.com/office/drawing/2014/main" xmlns="" id="{30491E80-6DCD-4886-989D-EA012B0004C7}"/>
              </a:ext>
            </a:extLst>
          </p:cNvPr>
          <p:cNvSpPr>
            <a:spLocks noGrp="1"/>
          </p:cNvSpPr>
          <p:nvPr>
            <p:ph idx="1"/>
          </p:nvPr>
        </p:nvSpPr>
        <p:spPr/>
        <p:txBody>
          <a:bodyPr>
            <a:normAutofit/>
          </a:bodyPr>
          <a:lstStyle/>
          <a:p>
            <a:pPr algn="l"/>
            <a:r>
              <a:rPr lang="en-US" b="0" i="0" dirty="0">
                <a:solidFill>
                  <a:srgbClr val="111111"/>
                </a:solidFill>
                <a:effectLst/>
                <a:latin typeface="SourceSansPro"/>
              </a:rPr>
              <a:t>The type of ANOVA test used depends on a number of factors. It is applied when data needs to be experimental. Analysis of variance is employed if there is no access to statistical software resulting in computing ANOVA by hand. It is simple to use and best suited for small samples. With many experimental designs, the sample sizes have to be the same for the various factor level combinations.</a:t>
            </a:r>
          </a:p>
          <a:p>
            <a:pPr algn="l"/>
            <a:r>
              <a:rPr lang="en-US" b="0" i="0" dirty="0">
                <a:solidFill>
                  <a:srgbClr val="111111"/>
                </a:solidFill>
                <a:effectLst/>
                <a:latin typeface="SourceSansPro"/>
              </a:rPr>
              <a:t>.</a:t>
            </a:r>
          </a:p>
          <a:p>
            <a:endParaRPr lang="en-IN" dirty="0"/>
          </a:p>
        </p:txBody>
      </p:sp>
    </p:spTree>
    <p:extLst>
      <p:ext uri="{BB962C8B-B14F-4D97-AF65-F5344CB8AC3E}">
        <p14:creationId xmlns:p14="http://schemas.microsoft.com/office/powerpoint/2010/main" val="2015893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E883A4-F598-42DA-8652-9E2139FA7205}"/>
              </a:ext>
            </a:extLst>
          </p:cNvPr>
          <p:cNvSpPr>
            <a:spLocks noGrp="1"/>
          </p:cNvSpPr>
          <p:nvPr>
            <p:ph type="title"/>
          </p:nvPr>
        </p:nvSpPr>
        <p:spPr/>
        <p:txBody>
          <a:bodyPr/>
          <a:lstStyle/>
          <a:p>
            <a:r>
              <a:rPr lang="en-US" dirty="0"/>
              <a:t>ANOVA Test</a:t>
            </a:r>
            <a:endParaRPr lang="en-IN" dirty="0"/>
          </a:p>
        </p:txBody>
      </p:sp>
      <p:sp>
        <p:nvSpPr>
          <p:cNvPr id="3" name="Content Placeholder 2">
            <a:extLst>
              <a:ext uri="{FF2B5EF4-FFF2-40B4-BE49-F238E27FC236}">
                <a16:creationId xmlns:a16="http://schemas.microsoft.com/office/drawing/2014/main" xmlns="" id="{1D59C099-020B-4616-8646-C4FEBB10E79D}"/>
              </a:ext>
            </a:extLst>
          </p:cNvPr>
          <p:cNvSpPr>
            <a:spLocks noGrp="1"/>
          </p:cNvSpPr>
          <p:nvPr>
            <p:ph idx="1"/>
          </p:nvPr>
        </p:nvSpPr>
        <p:spPr/>
        <p:txBody>
          <a:bodyPr/>
          <a:lstStyle/>
          <a:p>
            <a:r>
              <a:rPr lang="en-US" b="0" i="0" dirty="0">
                <a:solidFill>
                  <a:srgbClr val="111111"/>
                </a:solidFill>
                <a:effectLst/>
                <a:latin typeface="SourceSansPro"/>
              </a:rPr>
              <a:t>ANOVA is helpful for testing three or more variables. </a:t>
            </a:r>
          </a:p>
          <a:p>
            <a:r>
              <a:rPr lang="en-US" b="0" i="0" dirty="0">
                <a:solidFill>
                  <a:srgbClr val="111111"/>
                </a:solidFill>
                <a:effectLst/>
                <a:latin typeface="SourceSansPro"/>
              </a:rPr>
              <a:t>It is similar to multiple two-sample </a:t>
            </a:r>
            <a:r>
              <a:rPr lang="en-US" b="0" i="0" u="sng" dirty="0">
                <a:solidFill>
                  <a:srgbClr val="2C40D0"/>
                </a:solidFill>
                <a:effectLst/>
                <a:latin typeface="SourceSansPro"/>
                <a:hlinkClick r:id="rId2"/>
              </a:rPr>
              <a:t>t-tests</a:t>
            </a:r>
            <a:r>
              <a:rPr lang="en-US" b="0" i="0" dirty="0">
                <a:solidFill>
                  <a:srgbClr val="111111"/>
                </a:solidFill>
                <a:effectLst/>
                <a:latin typeface="SourceSansPro"/>
              </a:rPr>
              <a:t>.</a:t>
            </a:r>
          </a:p>
          <a:p>
            <a:r>
              <a:rPr lang="en-US" b="0" i="0" dirty="0">
                <a:solidFill>
                  <a:srgbClr val="111111"/>
                </a:solidFill>
                <a:effectLst/>
                <a:latin typeface="SourceSansPro"/>
              </a:rPr>
              <a:t> However, it results in fewer </a:t>
            </a:r>
            <a:r>
              <a:rPr lang="en-US" b="0" i="0" u="sng" dirty="0">
                <a:solidFill>
                  <a:srgbClr val="2C40D0"/>
                </a:solidFill>
                <a:effectLst/>
                <a:latin typeface="SourceSansPro"/>
                <a:hlinkClick r:id="rId3"/>
              </a:rPr>
              <a:t>type I errors</a:t>
            </a:r>
            <a:r>
              <a:rPr lang="en-US" b="0" i="0" dirty="0">
                <a:solidFill>
                  <a:srgbClr val="111111"/>
                </a:solidFill>
                <a:effectLst/>
                <a:latin typeface="SourceSansPro"/>
              </a:rPr>
              <a:t> and is appropriate for a range of issues. </a:t>
            </a:r>
          </a:p>
          <a:p>
            <a:r>
              <a:rPr lang="en-US" b="0" i="0" dirty="0">
                <a:solidFill>
                  <a:srgbClr val="111111"/>
                </a:solidFill>
                <a:effectLst/>
                <a:latin typeface="SourceSansPro"/>
              </a:rPr>
              <a:t>ANOVA groups differences by comparing the means of each group and includes spreading out the variance into diverse sources.</a:t>
            </a:r>
          </a:p>
          <a:p>
            <a:r>
              <a:rPr lang="en-US" b="0" i="0" dirty="0">
                <a:solidFill>
                  <a:srgbClr val="111111"/>
                </a:solidFill>
                <a:effectLst/>
                <a:latin typeface="SourceSansPro"/>
              </a:rPr>
              <a:t> It is employed with subjects, test groups, between groups and within groups</a:t>
            </a:r>
            <a:endParaRPr lang="en-IN" dirty="0"/>
          </a:p>
        </p:txBody>
      </p:sp>
    </p:spTree>
    <p:extLst>
      <p:ext uri="{BB962C8B-B14F-4D97-AF65-F5344CB8AC3E}">
        <p14:creationId xmlns:p14="http://schemas.microsoft.com/office/powerpoint/2010/main" val="4486976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D41BAB-C4D4-41ED-9799-83EB99AD4F72}"/>
              </a:ext>
            </a:extLst>
          </p:cNvPr>
          <p:cNvSpPr>
            <a:spLocks noGrp="1"/>
          </p:cNvSpPr>
          <p:nvPr>
            <p:ph type="title"/>
          </p:nvPr>
        </p:nvSpPr>
        <p:spPr/>
        <p:txBody>
          <a:bodyPr/>
          <a:lstStyle/>
          <a:p>
            <a:r>
              <a:rPr lang="en-US" b="0" i="0" dirty="0">
                <a:solidFill>
                  <a:srgbClr val="111111"/>
                </a:solidFill>
                <a:effectLst/>
                <a:latin typeface="Cabin-semi-bold"/>
              </a:rPr>
              <a:t>One-Way ANOVA Versus Two-Way ANOVA</a:t>
            </a:r>
            <a:br>
              <a:rPr lang="en-US"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xmlns="" id="{8A85E270-B181-4742-A9D3-FAA0687B25BB}"/>
              </a:ext>
            </a:extLst>
          </p:cNvPr>
          <p:cNvSpPr>
            <a:spLocks noGrp="1"/>
          </p:cNvSpPr>
          <p:nvPr>
            <p:ph idx="1"/>
          </p:nvPr>
        </p:nvSpPr>
        <p:spPr>
          <a:xfrm>
            <a:off x="838200" y="1104900"/>
            <a:ext cx="10515600" cy="5648325"/>
          </a:xfrm>
        </p:spPr>
        <p:txBody>
          <a:bodyPr>
            <a:normAutofit fontScale="92500"/>
          </a:bodyPr>
          <a:lstStyle/>
          <a:p>
            <a:r>
              <a:rPr lang="en-US" b="0" i="0" dirty="0">
                <a:solidFill>
                  <a:srgbClr val="111111"/>
                </a:solidFill>
                <a:effectLst/>
                <a:latin typeface="SourceSansPro"/>
              </a:rPr>
              <a:t>There are two main types of ANOVA:</a:t>
            </a:r>
          </a:p>
          <a:p>
            <a:pPr lvl="1"/>
            <a:r>
              <a:rPr lang="en-US" b="0" i="0" dirty="0">
                <a:solidFill>
                  <a:srgbClr val="111111"/>
                </a:solidFill>
                <a:effectLst/>
                <a:latin typeface="SourceSansPro"/>
              </a:rPr>
              <a:t> one-way (or unidirectional) </a:t>
            </a:r>
          </a:p>
          <a:p>
            <a:pPr lvl="1"/>
            <a:r>
              <a:rPr lang="en-US" b="0" i="0" dirty="0">
                <a:solidFill>
                  <a:srgbClr val="111111"/>
                </a:solidFill>
                <a:effectLst/>
                <a:latin typeface="SourceSansPro"/>
              </a:rPr>
              <a:t>and two-way.</a:t>
            </a:r>
          </a:p>
          <a:p>
            <a:r>
              <a:rPr lang="en-US" b="0" i="0" dirty="0">
                <a:solidFill>
                  <a:srgbClr val="111111"/>
                </a:solidFill>
                <a:effectLst/>
                <a:latin typeface="SourceSansPro"/>
              </a:rPr>
              <a:t> There also variations of ANOVA. For example, MANOVA (multivariate ANOVA) differs from ANOVA as the former tests for multiple dependent variables simultaneously while the latter assesses only one dependent variable at a time.</a:t>
            </a:r>
          </a:p>
          <a:p>
            <a:r>
              <a:rPr lang="en-US" b="0" i="0" dirty="0">
                <a:solidFill>
                  <a:srgbClr val="111111"/>
                </a:solidFill>
                <a:effectLst/>
                <a:latin typeface="SourceSansPro"/>
              </a:rPr>
              <a:t> One-way or two-way refers to the number of independent variables in your analysis of variance test. </a:t>
            </a:r>
          </a:p>
          <a:p>
            <a:r>
              <a:rPr lang="en-US" b="0" i="0" dirty="0">
                <a:solidFill>
                  <a:srgbClr val="111111"/>
                </a:solidFill>
                <a:effectLst/>
                <a:latin typeface="SourceSansPro"/>
              </a:rPr>
              <a:t>A one-way ANOVA evaluates the impact of a sole factor on a sole response variable. It determines whether all the samples are the same. </a:t>
            </a:r>
          </a:p>
          <a:p>
            <a:r>
              <a:rPr lang="en-US" b="0" i="0" dirty="0">
                <a:solidFill>
                  <a:srgbClr val="111111"/>
                </a:solidFill>
                <a:effectLst/>
                <a:latin typeface="SourceSansPro"/>
              </a:rPr>
              <a:t>The one-way ANOVA is used to determine whether there are any statistically significant differences between the means of three or more independent (unrelated) groups.</a:t>
            </a:r>
            <a:endParaRPr lang="en-IN" dirty="0"/>
          </a:p>
        </p:txBody>
      </p:sp>
    </p:spTree>
    <p:extLst>
      <p:ext uri="{BB962C8B-B14F-4D97-AF65-F5344CB8AC3E}">
        <p14:creationId xmlns:p14="http://schemas.microsoft.com/office/powerpoint/2010/main" val="3983893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A4FFC1-DD7E-4B95-B5AA-243B9C0F5890}"/>
              </a:ext>
            </a:extLst>
          </p:cNvPr>
          <p:cNvSpPr>
            <a:spLocks noGrp="1"/>
          </p:cNvSpPr>
          <p:nvPr>
            <p:ph type="title"/>
          </p:nvPr>
        </p:nvSpPr>
        <p:spPr/>
        <p:txBody>
          <a:bodyPr/>
          <a:lstStyle/>
          <a:p>
            <a:r>
              <a:rPr lang="en-US" b="0" i="0" dirty="0">
                <a:solidFill>
                  <a:srgbClr val="111111"/>
                </a:solidFill>
                <a:effectLst/>
                <a:latin typeface="SourceSansPro"/>
              </a:rPr>
              <a:t>A Two-Way ANOVA</a:t>
            </a:r>
            <a:endParaRPr lang="en-IN" dirty="0"/>
          </a:p>
        </p:txBody>
      </p:sp>
      <p:sp>
        <p:nvSpPr>
          <p:cNvPr id="3" name="Content Placeholder 2">
            <a:extLst>
              <a:ext uri="{FF2B5EF4-FFF2-40B4-BE49-F238E27FC236}">
                <a16:creationId xmlns:a16="http://schemas.microsoft.com/office/drawing/2014/main" xmlns="" id="{D74BDAD4-8382-4D01-92C2-CF351B662236}"/>
              </a:ext>
            </a:extLst>
          </p:cNvPr>
          <p:cNvSpPr>
            <a:spLocks noGrp="1"/>
          </p:cNvSpPr>
          <p:nvPr>
            <p:ph idx="1"/>
          </p:nvPr>
        </p:nvSpPr>
        <p:spPr/>
        <p:txBody>
          <a:bodyPr/>
          <a:lstStyle/>
          <a:p>
            <a:r>
              <a:rPr lang="en-US" b="0" i="0" dirty="0">
                <a:solidFill>
                  <a:srgbClr val="111111"/>
                </a:solidFill>
                <a:effectLst/>
                <a:latin typeface="SourceSansPro"/>
              </a:rPr>
              <a:t>It is an extension of the one-way ANOVA. With a one-way, you have one independent variable affecting a dependent variable.</a:t>
            </a:r>
          </a:p>
          <a:p>
            <a:r>
              <a:rPr lang="en-US" b="0" i="0" dirty="0">
                <a:solidFill>
                  <a:srgbClr val="111111"/>
                </a:solidFill>
                <a:effectLst/>
                <a:latin typeface="SourceSansPro"/>
              </a:rPr>
              <a:t> With a two-way ANOVA, there are two independents. </a:t>
            </a:r>
          </a:p>
          <a:p>
            <a:r>
              <a:rPr lang="en-US" b="0" i="0" dirty="0">
                <a:solidFill>
                  <a:srgbClr val="111111"/>
                </a:solidFill>
                <a:effectLst/>
                <a:latin typeface="SourceSansPro"/>
              </a:rPr>
              <a:t>For example, a two-way ANOVA allows a company to compare worker productivity based on two independent variables, such as salary and skill set. </a:t>
            </a:r>
          </a:p>
          <a:p>
            <a:r>
              <a:rPr lang="en-US" b="0" i="0" dirty="0">
                <a:solidFill>
                  <a:srgbClr val="111111"/>
                </a:solidFill>
                <a:effectLst/>
                <a:latin typeface="SourceSansPro"/>
              </a:rPr>
              <a:t>It is utilized to observe the interaction between the two factors and tests the effect of two factors at the same time.</a:t>
            </a:r>
            <a:endParaRPr lang="en-IN" dirty="0"/>
          </a:p>
        </p:txBody>
      </p:sp>
    </p:spTree>
    <p:extLst>
      <p:ext uri="{BB962C8B-B14F-4D97-AF65-F5344CB8AC3E}">
        <p14:creationId xmlns:p14="http://schemas.microsoft.com/office/powerpoint/2010/main" val="3588829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A7B1AF-C686-479A-BE6C-F506660BD740}"/>
              </a:ext>
            </a:extLst>
          </p:cNvPr>
          <p:cNvSpPr>
            <a:spLocks noGrp="1"/>
          </p:cNvSpPr>
          <p:nvPr>
            <p:ph type="title"/>
          </p:nvPr>
        </p:nvSpPr>
        <p:spPr/>
        <p:txBody>
          <a:bodyPr/>
          <a:lstStyle/>
          <a:p>
            <a:r>
              <a:rPr lang="en-US" dirty="0"/>
              <a:t>ANOVA Revision</a:t>
            </a:r>
            <a:endParaRPr lang="en-IN" dirty="0"/>
          </a:p>
        </p:txBody>
      </p:sp>
      <p:sp>
        <p:nvSpPr>
          <p:cNvPr id="3" name="Content Placeholder 2">
            <a:extLst>
              <a:ext uri="{FF2B5EF4-FFF2-40B4-BE49-F238E27FC236}">
                <a16:creationId xmlns:a16="http://schemas.microsoft.com/office/drawing/2014/main" xmlns="" id="{D852EF2D-586E-4564-9223-DEDC76FDBBF1}"/>
              </a:ext>
            </a:extLst>
          </p:cNvPr>
          <p:cNvSpPr>
            <a:spLocks noGrp="1"/>
          </p:cNvSpPr>
          <p:nvPr>
            <p:ph idx="1"/>
          </p:nvPr>
        </p:nvSpPr>
        <p:spPr>
          <a:xfrm>
            <a:off x="838200" y="1825624"/>
            <a:ext cx="10515600" cy="4803775"/>
          </a:xfrm>
        </p:spPr>
        <p:txBody>
          <a:bodyPr/>
          <a:lstStyle/>
          <a:p>
            <a:r>
              <a:rPr lang="en-US" b="0" i="0" dirty="0">
                <a:solidFill>
                  <a:srgbClr val="333333"/>
                </a:solidFill>
                <a:effectLst/>
                <a:latin typeface="Roboto" panose="02000000000000000000" pitchFamily="2" charset="0"/>
              </a:rPr>
              <a:t>Analysis of variance, or ANOVA, is a strong statistical technique that is used to show the difference between two or more means or components through significance tests. </a:t>
            </a:r>
          </a:p>
          <a:p>
            <a:r>
              <a:rPr lang="en-US" b="0" i="0" dirty="0">
                <a:solidFill>
                  <a:srgbClr val="333333"/>
                </a:solidFill>
                <a:effectLst/>
                <a:latin typeface="Roboto" panose="02000000000000000000" pitchFamily="2" charset="0"/>
              </a:rPr>
              <a:t>It also shows us a way to make multiple comparisons of several populations means.</a:t>
            </a:r>
          </a:p>
          <a:p>
            <a:r>
              <a:rPr lang="en-US" b="0" i="0" dirty="0">
                <a:solidFill>
                  <a:srgbClr val="333333"/>
                </a:solidFill>
                <a:effectLst/>
                <a:latin typeface="Roboto" panose="02000000000000000000" pitchFamily="2" charset="0"/>
              </a:rPr>
              <a:t> The </a:t>
            </a:r>
            <a:r>
              <a:rPr lang="en-US" b="0" i="0" dirty="0" err="1">
                <a:solidFill>
                  <a:srgbClr val="333333"/>
                </a:solidFill>
                <a:effectLst/>
                <a:latin typeface="Roboto" panose="02000000000000000000" pitchFamily="2" charset="0"/>
              </a:rPr>
              <a:t>Anova</a:t>
            </a:r>
            <a:r>
              <a:rPr lang="en-US" b="0" i="0" dirty="0">
                <a:solidFill>
                  <a:srgbClr val="333333"/>
                </a:solidFill>
                <a:effectLst/>
                <a:latin typeface="Roboto" panose="02000000000000000000" pitchFamily="2" charset="0"/>
              </a:rPr>
              <a:t> test is performed by comparing two types of variation, the variation between the sample means, as well as the variation within each of the samples. </a:t>
            </a:r>
          </a:p>
          <a:p>
            <a:r>
              <a:rPr lang="en-US" b="0" i="0" dirty="0">
                <a:solidFill>
                  <a:srgbClr val="333333"/>
                </a:solidFill>
                <a:effectLst/>
                <a:latin typeface="Roboto" panose="02000000000000000000" pitchFamily="2" charset="0"/>
              </a:rPr>
              <a:t>:</a:t>
            </a:r>
            <a:endParaRPr lang="en-IN" dirty="0"/>
          </a:p>
        </p:txBody>
      </p:sp>
    </p:spTree>
    <p:extLst>
      <p:ext uri="{BB962C8B-B14F-4D97-AF65-F5344CB8AC3E}">
        <p14:creationId xmlns:p14="http://schemas.microsoft.com/office/powerpoint/2010/main" val="3725339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0F71A5-BA44-480A-A4CB-0DBAAE0449CB}"/>
              </a:ext>
            </a:extLst>
          </p:cNvPr>
          <p:cNvSpPr>
            <a:spLocks noGrp="1"/>
          </p:cNvSpPr>
          <p:nvPr>
            <p:ph type="title"/>
          </p:nvPr>
        </p:nvSpPr>
        <p:spPr/>
        <p:txBody>
          <a:bodyPr/>
          <a:lstStyle/>
          <a:p>
            <a:r>
              <a:rPr lang="en-US" dirty="0"/>
              <a:t>ANOVA Formula</a:t>
            </a:r>
            <a:endParaRPr lang="en-IN" dirty="0"/>
          </a:p>
        </p:txBody>
      </p:sp>
      <p:sp>
        <p:nvSpPr>
          <p:cNvPr id="3" name="Content Placeholder 2">
            <a:extLst>
              <a:ext uri="{FF2B5EF4-FFF2-40B4-BE49-F238E27FC236}">
                <a16:creationId xmlns:a16="http://schemas.microsoft.com/office/drawing/2014/main" xmlns="" id="{7D78DA31-51FC-419E-8A1D-AC1C5801CF8F}"/>
              </a:ext>
            </a:extLst>
          </p:cNvPr>
          <p:cNvSpPr>
            <a:spLocks noGrp="1"/>
          </p:cNvSpPr>
          <p:nvPr>
            <p:ph idx="1"/>
          </p:nvPr>
        </p:nvSpPr>
        <p:spPr>
          <a:xfrm>
            <a:off x="695325" y="1351756"/>
            <a:ext cx="10591800" cy="1000919"/>
          </a:xfrm>
        </p:spPr>
        <p:txBody>
          <a:bodyPr/>
          <a:lstStyle/>
          <a:p>
            <a:r>
              <a:rPr lang="en-US" b="0" i="0" dirty="0">
                <a:solidFill>
                  <a:srgbClr val="333333"/>
                </a:solidFill>
                <a:effectLst/>
                <a:latin typeface="Roboto" panose="02000000000000000000" pitchFamily="2" charset="0"/>
              </a:rPr>
              <a:t>The below mentioned formula represents one-way </a:t>
            </a:r>
            <a:r>
              <a:rPr lang="en-US" b="0" i="0" dirty="0" err="1">
                <a:solidFill>
                  <a:srgbClr val="333333"/>
                </a:solidFill>
                <a:effectLst/>
                <a:latin typeface="Roboto" panose="02000000000000000000" pitchFamily="2" charset="0"/>
              </a:rPr>
              <a:t>Anova</a:t>
            </a:r>
            <a:r>
              <a:rPr lang="en-US" b="0" i="0" dirty="0">
                <a:solidFill>
                  <a:srgbClr val="333333"/>
                </a:solidFill>
                <a:effectLst/>
                <a:latin typeface="Roboto" panose="02000000000000000000" pitchFamily="2" charset="0"/>
              </a:rPr>
              <a:t> test statistics</a:t>
            </a:r>
          </a:p>
          <a:p>
            <a:endParaRPr lang="en-IN" dirty="0"/>
          </a:p>
        </p:txBody>
      </p:sp>
      <p:pic>
        <p:nvPicPr>
          <p:cNvPr id="5" name="Picture 4">
            <a:extLst>
              <a:ext uri="{FF2B5EF4-FFF2-40B4-BE49-F238E27FC236}">
                <a16:creationId xmlns:a16="http://schemas.microsoft.com/office/drawing/2014/main" xmlns="" id="{B2A5C55B-3ECE-4D91-90E2-6E5C3868808F}"/>
              </a:ext>
            </a:extLst>
          </p:cNvPr>
          <p:cNvPicPr>
            <a:picLocks noChangeAspect="1"/>
          </p:cNvPicPr>
          <p:nvPr/>
        </p:nvPicPr>
        <p:blipFill>
          <a:blip r:embed="rId2"/>
          <a:stretch>
            <a:fillRect/>
          </a:stretch>
        </p:blipFill>
        <p:spPr>
          <a:xfrm>
            <a:off x="838200" y="2171700"/>
            <a:ext cx="10344150" cy="4686299"/>
          </a:xfrm>
          <a:prstGeom prst="rect">
            <a:avLst/>
          </a:prstGeom>
        </p:spPr>
      </p:pic>
    </p:spTree>
    <p:extLst>
      <p:ext uri="{BB962C8B-B14F-4D97-AF65-F5344CB8AC3E}">
        <p14:creationId xmlns:p14="http://schemas.microsoft.com/office/powerpoint/2010/main" val="663361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9F21FB-2EE7-45C3-9AD2-E6338EAA410B}"/>
              </a:ext>
            </a:extLst>
          </p:cNvPr>
          <p:cNvSpPr>
            <a:spLocks noGrp="1"/>
          </p:cNvSpPr>
          <p:nvPr>
            <p:ph type="title"/>
          </p:nvPr>
        </p:nvSpPr>
        <p:spPr/>
        <p:txBody>
          <a:bodyPr/>
          <a:lstStyle/>
          <a:p>
            <a:r>
              <a:rPr lang="en-US" dirty="0"/>
              <a:t>Terminologies used in Formula</a:t>
            </a:r>
            <a:endParaRPr lang="en-IN" dirty="0"/>
          </a:p>
        </p:txBody>
      </p:sp>
      <p:sp>
        <p:nvSpPr>
          <p:cNvPr id="3" name="Content Placeholder 2">
            <a:extLst>
              <a:ext uri="{FF2B5EF4-FFF2-40B4-BE49-F238E27FC236}">
                <a16:creationId xmlns:a16="http://schemas.microsoft.com/office/drawing/2014/main" xmlns="" id="{CED0B708-F12E-403A-8144-7295DD1EDAF7}"/>
              </a:ext>
            </a:extLst>
          </p:cNvPr>
          <p:cNvSpPr>
            <a:spLocks noGrp="1"/>
          </p:cNvSpPr>
          <p:nvPr>
            <p:ph idx="1"/>
          </p:nvPr>
        </p:nvSpPr>
        <p:spPr>
          <a:xfrm>
            <a:off x="838200" y="1825625"/>
            <a:ext cx="3876675" cy="4351338"/>
          </a:xfrm>
        </p:spPr>
        <p:txBody>
          <a:bodyPr>
            <a:normAutofit fontScale="92500" lnSpcReduction="20000"/>
          </a:bodyPr>
          <a:lstStyle/>
          <a:p>
            <a:pPr algn="l"/>
            <a:r>
              <a:rPr lang="en-US" b="1" i="0" dirty="0">
                <a:solidFill>
                  <a:srgbClr val="333333"/>
                </a:solidFill>
                <a:effectLst/>
                <a:latin typeface="Times New Roman" panose="02020603050405020304" pitchFamily="18" charset="0"/>
                <a:cs typeface="Times New Roman" panose="02020603050405020304" pitchFamily="18" charset="0"/>
              </a:rPr>
              <a:t>F = MST/MSE</a:t>
            </a:r>
            <a:endParaRPr lang="en-US" b="0" i="0" dirty="0">
              <a:solidFill>
                <a:srgbClr val="333333"/>
              </a:solidFill>
              <a:effectLst/>
              <a:latin typeface="Times New Roman" panose="02020603050405020304" pitchFamily="18" charset="0"/>
              <a:cs typeface="Times New Roman" panose="02020603050405020304" pitchFamily="18" charset="0"/>
            </a:endParaRPr>
          </a:p>
          <a:p>
            <a:pPr algn="l"/>
            <a:r>
              <a:rPr lang="en-US" b="0" i="0" dirty="0">
                <a:solidFill>
                  <a:srgbClr val="333333"/>
                </a:solidFill>
                <a:effectLst/>
                <a:latin typeface="Times New Roman" panose="02020603050405020304" pitchFamily="18" charset="0"/>
                <a:cs typeface="Times New Roman" panose="02020603050405020304" pitchFamily="18" charset="0"/>
              </a:rPr>
              <a:t>MST = SST/ p-1</a:t>
            </a:r>
          </a:p>
          <a:p>
            <a:pPr algn="l"/>
            <a:r>
              <a:rPr lang="en-US" b="0" i="0" dirty="0">
                <a:solidFill>
                  <a:srgbClr val="333333"/>
                </a:solidFill>
                <a:effectLst/>
                <a:latin typeface="Times New Roman" panose="02020603050405020304" pitchFamily="18" charset="0"/>
                <a:cs typeface="Times New Roman" panose="02020603050405020304" pitchFamily="18" charset="0"/>
              </a:rPr>
              <a:t>MSE = SSE/N-p</a:t>
            </a:r>
          </a:p>
          <a:p>
            <a:pPr algn="l"/>
            <a:r>
              <a:rPr lang="en-US" b="0" i="0" dirty="0">
                <a:solidFill>
                  <a:srgbClr val="333333"/>
                </a:solidFill>
                <a:effectLst/>
                <a:latin typeface="Times New Roman" panose="02020603050405020304" pitchFamily="18" charset="0"/>
                <a:cs typeface="Times New Roman" panose="02020603050405020304" pitchFamily="18" charset="0"/>
              </a:rPr>
              <a:t>SSE = ∑ (n−1)s2s2</a:t>
            </a:r>
          </a:p>
          <a:p>
            <a:pPr algn="l"/>
            <a:r>
              <a:rPr lang="en-US" b="0" i="0" dirty="0">
                <a:solidFill>
                  <a:srgbClr val="333333"/>
                </a:solidFill>
                <a:effectLst/>
                <a:latin typeface="Times New Roman" panose="02020603050405020304" pitchFamily="18" charset="0"/>
                <a:cs typeface="Times New Roman" panose="02020603050405020304" pitchFamily="18" charset="0"/>
              </a:rPr>
              <a:t>Where,</a:t>
            </a:r>
          </a:p>
          <a:p>
            <a:pPr algn="l"/>
            <a:r>
              <a:rPr lang="en-US" b="0" i="0" dirty="0">
                <a:solidFill>
                  <a:srgbClr val="333333"/>
                </a:solidFill>
                <a:effectLst/>
                <a:latin typeface="Times New Roman" panose="02020603050405020304" pitchFamily="18" charset="0"/>
                <a:cs typeface="Times New Roman" panose="02020603050405020304" pitchFamily="18" charset="0"/>
              </a:rPr>
              <a:t>F = </a:t>
            </a:r>
            <a:r>
              <a:rPr lang="en-US" b="0" i="0" dirty="0" err="1">
                <a:solidFill>
                  <a:srgbClr val="333333"/>
                </a:solidFill>
                <a:effectLst/>
                <a:latin typeface="Times New Roman" panose="02020603050405020304" pitchFamily="18" charset="0"/>
                <a:cs typeface="Times New Roman" panose="02020603050405020304" pitchFamily="18" charset="0"/>
              </a:rPr>
              <a:t>Anova</a:t>
            </a:r>
            <a:r>
              <a:rPr lang="en-US" b="0" i="0" dirty="0">
                <a:solidFill>
                  <a:srgbClr val="333333"/>
                </a:solidFill>
                <a:effectLst/>
                <a:latin typeface="Times New Roman" panose="02020603050405020304" pitchFamily="18" charset="0"/>
                <a:cs typeface="Times New Roman" panose="02020603050405020304" pitchFamily="18" charset="0"/>
              </a:rPr>
              <a:t> Coefficient</a:t>
            </a:r>
          </a:p>
          <a:p>
            <a:pPr algn="l"/>
            <a:r>
              <a:rPr lang="en-US" b="0" i="0" dirty="0">
                <a:solidFill>
                  <a:srgbClr val="333333"/>
                </a:solidFill>
                <a:effectLst/>
                <a:latin typeface="Times New Roman" panose="02020603050405020304" pitchFamily="18" charset="0"/>
                <a:cs typeface="Times New Roman" panose="02020603050405020304" pitchFamily="18" charset="0"/>
              </a:rPr>
              <a:t>MSB = Mean sum of squares between the groups</a:t>
            </a:r>
          </a:p>
          <a:p>
            <a:pPr algn="l"/>
            <a:r>
              <a:rPr lang="en-US" b="0" i="0" dirty="0">
                <a:solidFill>
                  <a:srgbClr val="333333"/>
                </a:solidFill>
                <a:effectLst/>
                <a:latin typeface="Times New Roman" panose="02020603050405020304" pitchFamily="18" charset="0"/>
                <a:cs typeface="Times New Roman" panose="02020603050405020304" pitchFamily="18" charset="0"/>
              </a:rPr>
              <a:t>MSW = Mean sum of squares within the groups</a:t>
            </a:r>
          </a:p>
          <a:p>
            <a:endParaRPr lang="en-IN" dirty="0"/>
          </a:p>
        </p:txBody>
      </p:sp>
      <p:sp>
        <p:nvSpPr>
          <p:cNvPr id="5" name="TextBox 4">
            <a:extLst>
              <a:ext uri="{FF2B5EF4-FFF2-40B4-BE49-F238E27FC236}">
                <a16:creationId xmlns:a16="http://schemas.microsoft.com/office/drawing/2014/main" xmlns="" id="{5428C928-4B3D-40A9-8F20-A6D6EF04620F}"/>
              </a:ext>
            </a:extLst>
          </p:cNvPr>
          <p:cNvSpPr txBox="1"/>
          <p:nvPr/>
        </p:nvSpPr>
        <p:spPr>
          <a:xfrm>
            <a:off x="5105400" y="1831975"/>
            <a:ext cx="6096000" cy="3416320"/>
          </a:xfrm>
          <a:prstGeom prst="rect">
            <a:avLst/>
          </a:prstGeom>
          <a:noFill/>
        </p:spPr>
        <p:txBody>
          <a:bodyPr wrap="square">
            <a:spAutoFit/>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MSE = Mean sum of squares due to error</a:t>
            </a:r>
          </a:p>
          <a:p>
            <a:pPr algn="l"/>
            <a:r>
              <a:rPr lang="en-US" sz="2400" b="0" i="0" dirty="0">
                <a:solidFill>
                  <a:srgbClr val="333333"/>
                </a:solidFill>
                <a:effectLst/>
                <a:latin typeface="Times New Roman" panose="02020603050405020304" pitchFamily="18" charset="0"/>
                <a:cs typeface="Times New Roman" panose="02020603050405020304" pitchFamily="18" charset="0"/>
              </a:rPr>
              <a:t>SST = total Sum of squares</a:t>
            </a:r>
          </a:p>
          <a:p>
            <a:pPr algn="l"/>
            <a:r>
              <a:rPr lang="en-US" sz="2400" b="0" i="0" dirty="0">
                <a:solidFill>
                  <a:srgbClr val="333333"/>
                </a:solidFill>
                <a:effectLst/>
                <a:latin typeface="Times New Roman" panose="02020603050405020304" pitchFamily="18" charset="0"/>
                <a:cs typeface="Times New Roman" panose="02020603050405020304" pitchFamily="18" charset="0"/>
              </a:rPr>
              <a:t>p = Total number of populations</a:t>
            </a:r>
          </a:p>
          <a:p>
            <a:pPr algn="l"/>
            <a:r>
              <a:rPr lang="en-US" sz="2400" b="0" i="0" dirty="0">
                <a:solidFill>
                  <a:srgbClr val="333333"/>
                </a:solidFill>
                <a:effectLst/>
                <a:latin typeface="Times New Roman" panose="02020603050405020304" pitchFamily="18" charset="0"/>
                <a:cs typeface="Times New Roman" panose="02020603050405020304" pitchFamily="18" charset="0"/>
              </a:rPr>
              <a:t>n = The total number of samples in a population</a:t>
            </a:r>
          </a:p>
          <a:p>
            <a:pPr algn="l"/>
            <a:r>
              <a:rPr lang="en-US" sz="2400" b="0" i="0" dirty="0">
                <a:solidFill>
                  <a:srgbClr val="333333"/>
                </a:solidFill>
                <a:effectLst/>
                <a:latin typeface="Times New Roman" panose="02020603050405020304" pitchFamily="18" charset="0"/>
                <a:cs typeface="Times New Roman" panose="02020603050405020304" pitchFamily="18" charset="0"/>
              </a:rPr>
              <a:t>SSW = Sum of squares within the groups</a:t>
            </a:r>
          </a:p>
          <a:p>
            <a:pPr algn="l"/>
            <a:r>
              <a:rPr lang="en-US" sz="2400" b="0" i="0" dirty="0">
                <a:solidFill>
                  <a:srgbClr val="333333"/>
                </a:solidFill>
                <a:effectLst/>
                <a:latin typeface="Times New Roman" panose="02020603050405020304" pitchFamily="18" charset="0"/>
                <a:cs typeface="Times New Roman" panose="02020603050405020304" pitchFamily="18" charset="0"/>
              </a:rPr>
              <a:t>SSB = Sum of squares between the groups</a:t>
            </a:r>
          </a:p>
          <a:p>
            <a:pPr algn="l"/>
            <a:r>
              <a:rPr lang="en-US" sz="2400" b="0" i="0" dirty="0">
                <a:solidFill>
                  <a:srgbClr val="333333"/>
                </a:solidFill>
                <a:effectLst/>
                <a:latin typeface="Times New Roman" panose="02020603050405020304" pitchFamily="18" charset="0"/>
                <a:cs typeface="Times New Roman" panose="02020603050405020304" pitchFamily="18" charset="0"/>
              </a:rPr>
              <a:t>SSE = Sum of squares due to error</a:t>
            </a:r>
          </a:p>
          <a:p>
            <a:pPr algn="l"/>
            <a:r>
              <a:rPr lang="en-US" sz="2400" b="0" i="0" dirty="0">
                <a:solidFill>
                  <a:srgbClr val="333333"/>
                </a:solidFill>
                <a:effectLst/>
                <a:latin typeface="Times New Roman" panose="02020603050405020304" pitchFamily="18" charset="0"/>
                <a:cs typeface="Times New Roman" panose="02020603050405020304" pitchFamily="18" charset="0"/>
              </a:rPr>
              <a:t>s = Standard deviation of the samples</a:t>
            </a:r>
          </a:p>
          <a:p>
            <a:pPr algn="l"/>
            <a:r>
              <a:rPr lang="en-US" sz="2400" b="0" i="0" dirty="0">
                <a:solidFill>
                  <a:srgbClr val="333333"/>
                </a:solidFill>
                <a:effectLst/>
                <a:latin typeface="Times New Roman" panose="02020603050405020304" pitchFamily="18" charset="0"/>
                <a:cs typeface="Times New Roman" panose="02020603050405020304" pitchFamily="18" charset="0"/>
              </a:rPr>
              <a:t>N = Total number of observations</a:t>
            </a:r>
          </a:p>
        </p:txBody>
      </p:sp>
    </p:spTree>
    <p:extLst>
      <p:ext uri="{BB962C8B-B14F-4D97-AF65-F5344CB8AC3E}">
        <p14:creationId xmlns:p14="http://schemas.microsoft.com/office/powerpoint/2010/main" val="2705885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C5EB1B-2330-4D64-90FD-B217475125BD}"/>
              </a:ext>
            </a:extLst>
          </p:cNvPr>
          <p:cNvSpPr>
            <a:spLocks noGrp="1"/>
          </p:cNvSpPr>
          <p:nvPr>
            <p:ph type="title"/>
          </p:nvPr>
        </p:nvSpPr>
        <p:spPr/>
        <p:txBody>
          <a:bodyPr/>
          <a:lstStyle/>
          <a:p>
            <a:r>
              <a:rPr lang="en-US" dirty="0"/>
              <a:t>EXAMPLE</a:t>
            </a:r>
            <a:endParaRPr lang="en-IN" dirty="0"/>
          </a:p>
        </p:txBody>
      </p:sp>
      <p:pic>
        <p:nvPicPr>
          <p:cNvPr id="5" name="Picture 4">
            <a:extLst>
              <a:ext uri="{FF2B5EF4-FFF2-40B4-BE49-F238E27FC236}">
                <a16:creationId xmlns:a16="http://schemas.microsoft.com/office/drawing/2014/main" xmlns="" id="{82884A04-A2CB-437F-BAD4-CD3D7FBDF904}"/>
              </a:ext>
            </a:extLst>
          </p:cNvPr>
          <p:cNvPicPr>
            <a:picLocks noChangeAspect="1"/>
          </p:cNvPicPr>
          <p:nvPr/>
        </p:nvPicPr>
        <p:blipFill>
          <a:blip r:embed="rId2"/>
          <a:stretch>
            <a:fillRect/>
          </a:stretch>
        </p:blipFill>
        <p:spPr>
          <a:xfrm>
            <a:off x="957262" y="2209800"/>
            <a:ext cx="10277475" cy="2438400"/>
          </a:xfrm>
          <a:prstGeom prst="rect">
            <a:avLst/>
          </a:prstGeom>
        </p:spPr>
      </p:pic>
      <p:sp>
        <p:nvSpPr>
          <p:cNvPr id="7" name="TextBox 6">
            <a:extLst>
              <a:ext uri="{FF2B5EF4-FFF2-40B4-BE49-F238E27FC236}">
                <a16:creationId xmlns:a16="http://schemas.microsoft.com/office/drawing/2014/main" xmlns="" id="{78E12A9A-40F3-4315-92A1-8B2EAB5AEA58}"/>
              </a:ext>
            </a:extLst>
          </p:cNvPr>
          <p:cNvSpPr txBox="1"/>
          <p:nvPr/>
        </p:nvSpPr>
        <p:spPr>
          <a:xfrm>
            <a:off x="957262" y="4720709"/>
            <a:ext cx="6096000" cy="369332"/>
          </a:xfrm>
          <a:prstGeom prst="rect">
            <a:avLst/>
          </a:prstGeom>
          <a:noFill/>
        </p:spPr>
        <p:txBody>
          <a:bodyPr wrap="square">
            <a:spAutoFit/>
          </a:bodyPr>
          <a:lstStyle/>
          <a:p>
            <a:r>
              <a:rPr lang="en-IN" b="0" i="0" dirty="0">
                <a:solidFill>
                  <a:srgbClr val="333333"/>
                </a:solidFill>
                <a:effectLst/>
                <a:latin typeface="Roboto" panose="02000000000000000000" pitchFamily="2" charset="0"/>
              </a:rPr>
              <a:t>Calculate the </a:t>
            </a:r>
            <a:r>
              <a:rPr lang="en-IN" b="0" i="0" dirty="0" err="1">
                <a:solidFill>
                  <a:srgbClr val="333333"/>
                </a:solidFill>
                <a:effectLst/>
                <a:latin typeface="Roboto" panose="02000000000000000000" pitchFamily="2" charset="0"/>
              </a:rPr>
              <a:t>Anova</a:t>
            </a:r>
            <a:r>
              <a:rPr lang="en-IN" b="0" i="0" dirty="0">
                <a:solidFill>
                  <a:srgbClr val="333333"/>
                </a:solidFill>
                <a:effectLst/>
                <a:latin typeface="Roboto" panose="02000000000000000000" pitchFamily="2" charset="0"/>
              </a:rPr>
              <a:t> coefficient</a:t>
            </a:r>
            <a:endParaRPr lang="en-IN" dirty="0"/>
          </a:p>
        </p:txBody>
      </p:sp>
    </p:spTree>
    <p:extLst>
      <p:ext uri="{BB962C8B-B14F-4D97-AF65-F5344CB8AC3E}">
        <p14:creationId xmlns:p14="http://schemas.microsoft.com/office/powerpoint/2010/main" val="541410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4EE1D7-8966-47CB-BC13-16A1DE0F968D}"/>
              </a:ext>
            </a:extLst>
          </p:cNvPr>
          <p:cNvSpPr>
            <a:spLocks noGrp="1"/>
          </p:cNvSpPr>
          <p:nvPr>
            <p:ph type="title"/>
          </p:nvPr>
        </p:nvSpPr>
        <p:spPr/>
        <p:txBody>
          <a:bodyPr/>
          <a:lstStyle/>
          <a:p>
            <a:r>
              <a:rPr lang="en-US" dirty="0"/>
              <a:t>Step1:</a:t>
            </a:r>
            <a:endParaRPr lang="en-IN" dirty="0"/>
          </a:p>
        </p:txBody>
      </p:sp>
      <p:sp>
        <p:nvSpPr>
          <p:cNvPr id="7" name="TextBox 6">
            <a:extLst>
              <a:ext uri="{FF2B5EF4-FFF2-40B4-BE49-F238E27FC236}">
                <a16:creationId xmlns:a16="http://schemas.microsoft.com/office/drawing/2014/main" xmlns="" id="{D4737570-FA6E-42D6-BE95-108E8657F968}"/>
              </a:ext>
            </a:extLst>
          </p:cNvPr>
          <p:cNvSpPr txBox="1"/>
          <p:nvPr/>
        </p:nvSpPr>
        <p:spPr>
          <a:xfrm>
            <a:off x="1181101" y="2136339"/>
            <a:ext cx="9115424" cy="3108543"/>
          </a:xfrm>
          <a:prstGeom prst="rect">
            <a:avLst/>
          </a:prstGeom>
          <a:noFill/>
        </p:spPr>
        <p:txBody>
          <a:bodyPr wrap="square">
            <a:spAutoFit/>
          </a:bodyPr>
          <a:lstStyle/>
          <a:p>
            <a:r>
              <a:rPr lang="en-US" sz="2800" dirty="0"/>
              <a:t> Construct the following table:</a:t>
            </a:r>
          </a:p>
          <a:p>
            <a:endParaRPr lang="en-US" sz="2800" dirty="0"/>
          </a:p>
          <a:p>
            <a:r>
              <a:rPr lang="en-US" sz="2800" dirty="0"/>
              <a:t>Animal name	  n   	   x    	s 	s</a:t>
            </a:r>
            <a:r>
              <a:rPr lang="en-US" sz="2800" baseline="30000" dirty="0"/>
              <a:t>2</a:t>
            </a:r>
          </a:p>
          <a:p>
            <a:r>
              <a:rPr lang="en-US" sz="2800" dirty="0"/>
              <a:t> </a:t>
            </a:r>
          </a:p>
          <a:p>
            <a:r>
              <a:rPr lang="en-US" sz="2800" dirty="0"/>
              <a:t>Dogs			5 	12	2	4</a:t>
            </a:r>
          </a:p>
          <a:p>
            <a:r>
              <a:rPr lang="en-US" sz="2800" dirty="0"/>
              <a:t>Cats 			5	16 	1 	1 </a:t>
            </a:r>
          </a:p>
          <a:p>
            <a:r>
              <a:rPr lang="en-US" sz="2800" dirty="0"/>
              <a:t>Hamster		5	20	4 	16 </a:t>
            </a:r>
            <a:endParaRPr lang="en-IN" sz="2800" dirty="0"/>
          </a:p>
        </p:txBody>
      </p:sp>
    </p:spTree>
    <p:extLst>
      <p:ext uri="{BB962C8B-B14F-4D97-AF65-F5344CB8AC3E}">
        <p14:creationId xmlns:p14="http://schemas.microsoft.com/office/powerpoint/2010/main" val="883116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5A967E-BCDE-4F55-BBC2-AD6B89F0C3A1}"/>
              </a:ext>
            </a:extLst>
          </p:cNvPr>
          <p:cNvSpPr>
            <a:spLocks noGrp="1"/>
          </p:cNvSpPr>
          <p:nvPr>
            <p:ph type="title"/>
          </p:nvPr>
        </p:nvSpPr>
        <p:spPr/>
        <p:txBody>
          <a:bodyPr/>
          <a:lstStyle/>
          <a:p>
            <a:r>
              <a:rPr lang="en-US" dirty="0"/>
              <a:t>Step 2: Computation of SST</a:t>
            </a:r>
            <a:endParaRPr lang="en-IN" dirty="0"/>
          </a:p>
        </p:txBody>
      </p:sp>
      <p:sp>
        <p:nvSpPr>
          <p:cNvPr id="3" name="Content Placeholder 2">
            <a:extLst>
              <a:ext uri="{FF2B5EF4-FFF2-40B4-BE49-F238E27FC236}">
                <a16:creationId xmlns:a16="http://schemas.microsoft.com/office/drawing/2014/main" xmlns="" id="{BC1271B3-F395-49A6-89A3-10EF2733B4F3}"/>
              </a:ext>
            </a:extLst>
          </p:cNvPr>
          <p:cNvSpPr>
            <a:spLocks noGrp="1"/>
          </p:cNvSpPr>
          <p:nvPr>
            <p:ph idx="1"/>
          </p:nvPr>
        </p:nvSpPr>
        <p:spPr>
          <a:xfrm>
            <a:off x="838200" y="1825625"/>
            <a:ext cx="7400925" cy="4351338"/>
          </a:xfrm>
        </p:spPr>
        <p:txBody>
          <a:bodyPr>
            <a:normAutofit/>
          </a:bodyPr>
          <a:lstStyle/>
          <a:p>
            <a:pPr algn="l"/>
            <a:r>
              <a:rPr lang="en-IN" b="0" i="0" dirty="0">
                <a:solidFill>
                  <a:srgbClr val="333333"/>
                </a:solidFill>
                <a:effectLst/>
                <a:latin typeface="Roboto" panose="02000000000000000000" pitchFamily="2" charset="0"/>
              </a:rPr>
              <a:t>p = 3</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n = 5</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N = 15</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x̄ = 16</a:t>
            </a:r>
          </a:p>
          <a:p>
            <a:pPr algn="l"/>
            <a:r>
              <a:rPr lang="en-IN" b="0" i="0" dirty="0">
                <a:solidFill>
                  <a:srgbClr val="333333"/>
                </a:solidFill>
                <a:effectLst/>
                <a:latin typeface="Roboto" panose="02000000000000000000" pitchFamily="2" charset="0"/>
              </a:rPr>
              <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SST = ∑n (x−x̄)</a:t>
            </a:r>
            <a:r>
              <a:rPr lang="en-IN" b="0" i="0" baseline="30000" dirty="0">
                <a:solidFill>
                  <a:srgbClr val="333333"/>
                </a:solidFill>
                <a:effectLst/>
                <a:latin typeface="Roboto" panose="02000000000000000000" pitchFamily="2" charset="0"/>
              </a:rPr>
              <a:t>2</a:t>
            </a:r>
          </a:p>
          <a:p>
            <a:pPr algn="l"/>
            <a:r>
              <a:rPr lang="en-IN" b="0" i="0" dirty="0">
                <a:solidFill>
                  <a:srgbClr val="333333"/>
                </a:solidFill>
                <a:effectLst/>
                <a:latin typeface="Roboto" panose="02000000000000000000" pitchFamily="2" charset="0"/>
              </a:rPr>
              <a:t/>
            </a:r>
            <a:br>
              <a:rPr lang="en-IN" b="0" i="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SST= 5(12−16)</a:t>
            </a:r>
            <a:r>
              <a:rPr lang="en-IN" b="0" i="0" baseline="30000" dirty="0">
                <a:solidFill>
                  <a:srgbClr val="333333"/>
                </a:solidFill>
                <a:effectLst/>
                <a:latin typeface="Roboto" panose="02000000000000000000" pitchFamily="2" charset="0"/>
              </a:rPr>
              <a:t>2</a:t>
            </a:r>
            <a:r>
              <a:rPr lang="en-IN" b="0" i="0" dirty="0">
                <a:solidFill>
                  <a:srgbClr val="333333"/>
                </a:solidFill>
                <a:effectLst/>
                <a:latin typeface="Roboto" panose="02000000000000000000" pitchFamily="2" charset="0"/>
              </a:rPr>
              <a:t>+5(16−16)</a:t>
            </a:r>
            <a:r>
              <a:rPr lang="en-IN" b="0" i="0" baseline="30000" dirty="0">
                <a:solidFill>
                  <a:srgbClr val="333333"/>
                </a:solidFill>
                <a:effectLst/>
                <a:latin typeface="Roboto" panose="02000000000000000000" pitchFamily="2" charset="0"/>
              </a:rPr>
              <a:t>2</a:t>
            </a:r>
            <a:r>
              <a:rPr lang="en-IN" b="0" i="0" dirty="0">
                <a:solidFill>
                  <a:srgbClr val="333333"/>
                </a:solidFill>
                <a:effectLst/>
                <a:latin typeface="Roboto" panose="02000000000000000000" pitchFamily="2" charset="0"/>
              </a:rPr>
              <a:t>+11(20−16)</a:t>
            </a:r>
            <a:r>
              <a:rPr lang="en-IN" b="0" i="0" baseline="30000" dirty="0">
                <a:solidFill>
                  <a:srgbClr val="333333"/>
                </a:solidFill>
                <a:effectLst/>
                <a:latin typeface="Roboto" panose="02000000000000000000" pitchFamily="2" charset="0"/>
              </a:rPr>
              <a:t>2</a:t>
            </a:r>
            <a:br>
              <a:rPr lang="en-IN" b="0" i="0" baseline="30000" dirty="0">
                <a:solidFill>
                  <a:srgbClr val="333333"/>
                </a:solidFill>
                <a:effectLst/>
                <a:latin typeface="Roboto" panose="02000000000000000000" pitchFamily="2" charset="0"/>
              </a:rPr>
            </a:br>
            <a:r>
              <a:rPr lang="en-IN" b="0" i="0" dirty="0">
                <a:solidFill>
                  <a:srgbClr val="333333"/>
                </a:solidFill>
                <a:effectLst/>
                <a:latin typeface="Roboto" panose="02000000000000000000" pitchFamily="2" charset="0"/>
              </a:rPr>
              <a:t>= 160</a:t>
            </a:r>
            <a:endParaRPr lang="en-IN" dirty="0"/>
          </a:p>
        </p:txBody>
      </p:sp>
    </p:spTree>
    <p:extLst>
      <p:ext uri="{BB962C8B-B14F-4D97-AF65-F5344CB8AC3E}">
        <p14:creationId xmlns:p14="http://schemas.microsoft.com/office/powerpoint/2010/main" val="3537268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CF7664-BB14-41D9-853D-0C20EC1D8AA1}"/>
              </a:ext>
            </a:extLst>
          </p:cNvPr>
          <p:cNvSpPr>
            <a:spLocks noGrp="1"/>
          </p:cNvSpPr>
          <p:nvPr>
            <p:ph type="title"/>
          </p:nvPr>
        </p:nvSpPr>
        <p:spPr/>
        <p:txBody>
          <a:bodyPr/>
          <a:lstStyle/>
          <a:p>
            <a:r>
              <a:rPr lang="en-US" dirty="0"/>
              <a:t>Step3:Computation of MST</a:t>
            </a:r>
            <a:endParaRPr lang="en-IN" dirty="0"/>
          </a:p>
        </p:txBody>
      </p:sp>
      <p:pic>
        <p:nvPicPr>
          <p:cNvPr id="5" name="Picture 4">
            <a:extLst>
              <a:ext uri="{FF2B5EF4-FFF2-40B4-BE49-F238E27FC236}">
                <a16:creationId xmlns:a16="http://schemas.microsoft.com/office/drawing/2014/main" xmlns="" id="{DD236C58-847C-42BF-92EA-34C881F2944F}"/>
              </a:ext>
            </a:extLst>
          </p:cNvPr>
          <p:cNvPicPr>
            <a:picLocks noChangeAspect="1"/>
          </p:cNvPicPr>
          <p:nvPr/>
        </p:nvPicPr>
        <p:blipFill>
          <a:blip r:embed="rId2"/>
          <a:stretch>
            <a:fillRect/>
          </a:stretch>
        </p:blipFill>
        <p:spPr>
          <a:xfrm>
            <a:off x="1724025" y="1538287"/>
            <a:ext cx="4914900" cy="3281363"/>
          </a:xfrm>
          <a:prstGeom prst="rect">
            <a:avLst/>
          </a:prstGeom>
        </p:spPr>
      </p:pic>
    </p:spTree>
    <p:extLst>
      <p:ext uri="{BB962C8B-B14F-4D97-AF65-F5344CB8AC3E}">
        <p14:creationId xmlns:p14="http://schemas.microsoft.com/office/powerpoint/2010/main" val="2539666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5747A1-768F-40CF-98CD-26BEED1EFBB7}"/>
              </a:ext>
            </a:extLst>
          </p:cNvPr>
          <p:cNvSpPr>
            <a:spLocks noGrp="1"/>
          </p:cNvSpPr>
          <p:nvPr>
            <p:ph type="title"/>
          </p:nvPr>
        </p:nvSpPr>
        <p:spPr/>
        <p:txBody>
          <a:bodyPr/>
          <a:lstStyle/>
          <a:p>
            <a:r>
              <a:rPr lang="en-US" dirty="0"/>
              <a:t>Step 4: Computation of SSE</a:t>
            </a:r>
            <a:endParaRPr lang="en-IN" dirty="0"/>
          </a:p>
        </p:txBody>
      </p:sp>
      <p:pic>
        <p:nvPicPr>
          <p:cNvPr id="5" name="Picture 4">
            <a:extLst>
              <a:ext uri="{FF2B5EF4-FFF2-40B4-BE49-F238E27FC236}">
                <a16:creationId xmlns:a16="http://schemas.microsoft.com/office/drawing/2014/main" xmlns="" id="{2D1C6FF5-51EA-426B-B6A6-B20B73660C23}"/>
              </a:ext>
            </a:extLst>
          </p:cNvPr>
          <p:cNvPicPr>
            <a:picLocks noChangeAspect="1"/>
          </p:cNvPicPr>
          <p:nvPr/>
        </p:nvPicPr>
        <p:blipFill>
          <a:blip r:embed="rId2"/>
          <a:stretch>
            <a:fillRect/>
          </a:stretch>
        </p:blipFill>
        <p:spPr>
          <a:xfrm>
            <a:off x="2457450" y="1933576"/>
            <a:ext cx="5114925" cy="2576512"/>
          </a:xfrm>
          <a:prstGeom prst="rect">
            <a:avLst/>
          </a:prstGeom>
        </p:spPr>
      </p:pic>
    </p:spTree>
    <p:extLst>
      <p:ext uri="{BB962C8B-B14F-4D97-AF65-F5344CB8AC3E}">
        <p14:creationId xmlns:p14="http://schemas.microsoft.com/office/powerpoint/2010/main" val="3923737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85EA2C-F774-4ADB-8E19-768CBC8AC332}"/>
              </a:ext>
            </a:extLst>
          </p:cNvPr>
          <p:cNvSpPr>
            <a:spLocks noGrp="1"/>
          </p:cNvSpPr>
          <p:nvPr>
            <p:ph type="title"/>
          </p:nvPr>
        </p:nvSpPr>
        <p:spPr/>
        <p:txBody>
          <a:bodyPr/>
          <a:lstStyle/>
          <a:p>
            <a:r>
              <a:rPr lang="en-US" dirty="0"/>
              <a:t>Step 5: Computation of MSE</a:t>
            </a:r>
            <a:endParaRPr lang="en-IN" dirty="0"/>
          </a:p>
        </p:txBody>
      </p:sp>
      <p:sp>
        <p:nvSpPr>
          <p:cNvPr id="3" name="Content Placeholder 2">
            <a:extLst>
              <a:ext uri="{FF2B5EF4-FFF2-40B4-BE49-F238E27FC236}">
                <a16:creationId xmlns:a16="http://schemas.microsoft.com/office/drawing/2014/main" xmlns="" id="{2A52EE6A-4A3D-4A21-90ED-C51272710A00}"/>
              </a:ext>
            </a:extLst>
          </p:cNvPr>
          <p:cNvSpPr>
            <a:spLocks noGrp="1"/>
          </p:cNvSpPr>
          <p:nvPr>
            <p:ph idx="1"/>
          </p:nvPr>
        </p:nvSpPr>
        <p:spPr/>
        <p:txBody>
          <a:bodyPr/>
          <a:lstStyle/>
          <a:p>
            <a:r>
              <a:rPr lang="en-US" dirty="0"/>
              <a:t>MSE = SSE/ (N-p)</a:t>
            </a:r>
          </a:p>
          <a:p>
            <a:pPr marL="0" indent="0">
              <a:buNone/>
            </a:pPr>
            <a:r>
              <a:rPr lang="en-US" dirty="0"/>
              <a:t>            =84/(15- 3)</a:t>
            </a:r>
          </a:p>
          <a:p>
            <a:pPr marL="0" indent="0">
              <a:buNone/>
            </a:pPr>
            <a:r>
              <a:rPr lang="en-US" dirty="0"/>
              <a:t>            </a:t>
            </a:r>
          </a:p>
          <a:p>
            <a:pPr marL="0" indent="0">
              <a:buNone/>
            </a:pPr>
            <a:r>
              <a:rPr lang="en-US" dirty="0"/>
              <a:t>             =84/12</a:t>
            </a:r>
          </a:p>
          <a:p>
            <a:pPr marL="0" indent="0">
              <a:buNone/>
            </a:pPr>
            <a:endParaRPr lang="en-US" dirty="0"/>
          </a:p>
          <a:p>
            <a:pPr marL="0" indent="0">
              <a:buNone/>
            </a:pPr>
            <a:r>
              <a:rPr lang="en-US" dirty="0"/>
              <a:t>             =7</a:t>
            </a:r>
          </a:p>
          <a:p>
            <a:endParaRPr lang="en-US" dirty="0"/>
          </a:p>
          <a:p>
            <a:endParaRPr lang="en-IN" dirty="0"/>
          </a:p>
        </p:txBody>
      </p:sp>
    </p:spTree>
    <p:extLst>
      <p:ext uri="{BB962C8B-B14F-4D97-AF65-F5344CB8AC3E}">
        <p14:creationId xmlns:p14="http://schemas.microsoft.com/office/powerpoint/2010/main" val="9319198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935AA9-D4E1-42F0-9E73-0920E2C136B8}"/>
              </a:ext>
            </a:extLst>
          </p:cNvPr>
          <p:cNvSpPr>
            <a:spLocks noGrp="1"/>
          </p:cNvSpPr>
          <p:nvPr>
            <p:ph type="title"/>
          </p:nvPr>
        </p:nvSpPr>
        <p:spPr>
          <a:xfrm>
            <a:off x="838200" y="365125"/>
            <a:ext cx="10763250" cy="1325563"/>
          </a:xfrm>
        </p:spPr>
        <p:txBody>
          <a:bodyPr/>
          <a:lstStyle/>
          <a:p>
            <a:r>
              <a:rPr lang="en-US" dirty="0"/>
              <a:t>Final step  6: </a:t>
            </a:r>
            <a:r>
              <a:rPr lang="en-US" sz="4000" dirty="0"/>
              <a:t>Computation of </a:t>
            </a:r>
            <a:r>
              <a:rPr lang="en-IN" sz="4000" b="0" i="0" dirty="0">
                <a:solidFill>
                  <a:srgbClr val="333333"/>
                </a:solidFill>
                <a:effectLst/>
                <a:latin typeface="Roboto" panose="02000000000000000000" pitchFamily="2" charset="0"/>
              </a:rPr>
              <a:t> </a:t>
            </a:r>
            <a:r>
              <a:rPr lang="en-IN" sz="4000" b="0" i="0" dirty="0" err="1">
                <a:solidFill>
                  <a:srgbClr val="333333"/>
                </a:solidFill>
                <a:effectLst/>
                <a:latin typeface="Roboto" panose="02000000000000000000" pitchFamily="2" charset="0"/>
              </a:rPr>
              <a:t>Anova</a:t>
            </a:r>
            <a:r>
              <a:rPr lang="en-IN" sz="4000" b="0" i="0" dirty="0">
                <a:solidFill>
                  <a:srgbClr val="333333"/>
                </a:solidFill>
                <a:effectLst/>
                <a:latin typeface="Roboto" panose="02000000000000000000" pitchFamily="2" charset="0"/>
              </a:rPr>
              <a:t> coefficient</a:t>
            </a:r>
            <a:endParaRPr lang="en-IN" dirty="0"/>
          </a:p>
        </p:txBody>
      </p:sp>
      <p:sp>
        <p:nvSpPr>
          <p:cNvPr id="3" name="Content Placeholder 2">
            <a:extLst>
              <a:ext uri="{FF2B5EF4-FFF2-40B4-BE49-F238E27FC236}">
                <a16:creationId xmlns:a16="http://schemas.microsoft.com/office/drawing/2014/main" xmlns="" id="{578D6AAB-1F57-4BFC-98D1-5D8CC296D074}"/>
              </a:ext>
            </a:extLst>
          </p:cNvPr>
          <p:cNvSpPr>
            <a:spLocks noGrp="1"/>
          </p:cNvSpPr>
          <p:nvPr>
            <p:ph idx="1"/>
          </p:nvPr>
        </p:nvSpPr>
        <p:spPr/>
        <p:txBody>
          <a:bodyPr/>
          <a:lstStyle/>
          <a:p>
            <a:r>
              <a:rPr lang="en-US" b="1" i="0" dirty="0">
                <a:solidFill>
                  <a:srgbClr val="333333"/>
                </a:solidFill>
                <a:effectLst/>
                <a:latin typeface="Times New Roman" panose="02020603050405020304" pitchFamily="18" charset="0"/>
                <a:cs typeface="Times New Roman" panose="02020603050405020304" pitchFamily="18" charset="0"/>
              </a:rPr>
              <a:t>F = MST/MSE</a:t>
            </a:r>
          </a:p>
          <a:p>
            <a:r>
              <a:rPr lang="en-US" b="1" dirty="0">
                <a:solidFill>
                  <a:srgbClr val="333333"/>
                </a:solidFill>
                <a:latin typeface="Times New Roman" panose="02020603050405020304" pitchFamily="18" charset="0"/>
                <a:cs typeface="Times New Roman" panose="02020603050405020304" pitchFamily="18" charset="0"/>
              </a:rPr>
              <a:t>F=80/7</a:t>
            </a:r>
          </a:p>
          <a:p>
            <a:r>
              <a:rPr lang="en-US" b="1" i="0" dirty="0">
                <a:solidFill>
                  <a:srgbClr val="333333"/>
                </a:solidFill>
                <a:effectLst/>
                <a:latin typeface="Times New Roman" panose="02020603050405020304" pitchFamily="18" charset="0"/>
                <a:cs typeface="Times New Roman" panose="02020603050405020304" pitchFamily="18" charset="0"/>
              </a:rPr>
              <a:t>F=11.429</a:t>
            </a:r>
          </a:p>
          <a:p>
            <a:endParaRPr lang="en-US" b="0" i="0" dirty="0">
              <a:solidFill>
                <a:srgbClr val="333333"/>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7321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483576-D150-4DEA-B9E8-2BC06D6E14A0}"/>
              </a:ext>
            </a:extLst>
          </p:cNvPr>
          <p:cNvSpPr>
            <a:spLocks noGrp="1"/>
          </p:cNvSpPr>
          <p:nvPr>
            <p:ph type="title"/>
          </p:nvPr>
        </p:nvSpPr>
        <p:spPr/>
        <p:txBody>
          <a:bodyPr/>
          <a:lstStyle/>
          <a:p>
            <a:r>
              <a:rPr lang="en-US" dirty="0"/>
              <a:t>Additional Question  T Test</a:t>
            </a:r>
            <a:endParaRPr lang="en-IN" dirty="0"/>
          </a:p>
        </p:txBody>
      </p:sp>
      <p:sp>
        <p:nvSpPr>
          <p:cNvPr id="3" name="Content Placeholder 2">
            <a:extLst>
              <a:ext uri="{FF2B5EF4-FFF2-40B4-BE49-F238E27FC236}">
                <a16:creationId xmlns:a16="http://schemas.microsoft.com/office/drawing/2014/main" xmlns="" id="{6906D929-749B-4DE7-AB37-7B889C3FB610}"/>
              </a:ext>
            </a:extLst>
          </p:cNvPr>
          <p:cNvSpPr>
            <a:spLocks noGrp="1"/>
          </p:cNvSpPr>
          <p:nvPr>
            <p:ph idx="1"/>
          </p:nvPr>
        </p:nvSpPr>
        <p:spPr/>
        <p:txBody>
          <a:bodyPr/>
          <a:lstStyle/>
          <a:p>
            <a:r>
              <a:rPr lang="en-US" b="0" i="0" dirty="0">
                <a:solidFill>
                  <a:srgbClr val="333333"/>
                </a:solidFill>
                <a:effectLst/>
                <a:latin typeface="Roboto" panose="02000000000000000000" pitchFamily="2" charset="0"/>
              </a:rPr>
              <a:t>The CEO of light bulbs manufacturing company claims that an average light bulb lasts 300 days. A researcher randomly selects 15 bulbs for testing. The sampled bulbs last an average of 290 days, with a standard deviation of 50 days. If the CEO’s claim were true, what is the probability that 15 randomly selected bulbs would have an average life of no more than 290 days?</a:t>
            </a:r>
            <a:endParaRPr lang="en-IN" dirty="0"/>
          </a:p>
        </p:txBody>
      </p:sp>
    </p:spTree>
    <p:extLst>
      <p:ext uri="{BB962C8B-B14F-4D97-AF65-F5344CB8AC3E}">
        <p14:creationId xmlns:p14="http://schemas.microsoft.com/office/powerpoint/2010/main" val="1410996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0E16E2C-DBA2-4D60-AB59-CE75045161AE}"/>
              </a:ext>
            </a:extLst>
          </p:cNvPr>
          <p:cNvPicPr>
            <a:picLocks noChangeAspect="1"/>
          </p:cNvPicPr>
          <p:nvPr/>
        </p:nvPicPr>
        <p:blipFill>
          <a:blip r:embed="rId2"/>
          <a:stretch>
            <a:fillRect/>
          </a:stretch>
        </p:blipFill>
        <p:spPr>
          <a:xfrm>
            <a:off x="0" y="0"/>
            <a:ext cx="12115800" cy="6858000"/>
          </a:xfrm>
          <a:prstGeom prst="rect">
            <a:avLst/>
          </a:prstGeom>
        </p:spPr>
      </p:pic>
    </p:spTree>
    <p:extLst>
      <p:ext uri="{BB962C8B-B14F-4D97-AF65-F5344CB8AC3E}">
        <p14:creationId xmlns:p14="http://schemas.microsoft.com/office/powerpoint/2010/main" val="30156863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59AE44-97A4-4D26-85C0-B378D514619E}"/>
              </a:ext>
            </a:extLst>
          </p:cNvPr>
          <p:cNvSpPr>
            <a:spLocks noGrp="1"/>
          </p:cNvSpPr>
          <p:nvPr>
            <p:ph type="title"/>
          </p:nvPr>
        </p:nvSpPr>
        <p:spPr/>
        <p:txBody>
          <a:bodyPr/>
          <a:lstStyle/>
          <a:p>
            <a:r>
              <a:rPr lang="en-US" dirty="0"/>
              <a:t>Thanks !!!</a:t>
            </a:r>
            <a:endParaRPr lang="en-IN" dirty="0"/>
          </a:p>
        </p:txBody>
      </p:sp>
    </p:spTree>
    <p:extLst>
      <p:ext uri="{BB962C8B-B14F-4D97-AF65-F5344CB8AC3E}">
        <p14:creationId xmlns:p14="http://schemas.microsoft.com/office/powerpoint/2010/main" val="3928232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2025</Words>
  <Application>Microsoft Office PowerPoint</Application>
  <PresentationFormat>Custom</PresentationFormat>
  <Paragraphs>190</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Lecture 13: ANOVA and Standard Deviation</vt:lpstr>
      <vt:lpstr>What is Analysis of Variance (ANOVA)? </vt:lpstr>
      <vt:lpstr>History of ANOVA</vt:lpstr>
      <vt:lpstr>T Test</vt:lpstr>
      <vt:lpstr>PowerPoint Presentation</vt:lpstr>
      <vt:lpstr>Key Differences Between T-test and ANOVA </vt:lpstr>
      <vt:lpstr>T Test</vt:lpstr>
      <vt:lpstr>Formula T Test</vt:lpstr>
      <vt:lpstr>Standard Deviation</vt:lpstr>
      <vt:lpstr>Example of T Test</vt:lpstr>
      <vt:lpstr>Standard  Deviation</vt:lpstr>
      <vt:lpstr>Standard Deviation</vt:lpstr>
      <vt:lpstr>Standard deviation</vt:lpstr>
      <vt:lpstr>T Test Formula and solution</vt:lpstr>
      <vt:lpstr>Z-Test </vt:lpstr>
      <vt:lpstr>Features of Z Test</vt:lpstr>
      <vt:lpstr>Understanding Z-Tests </vt:lpstr>
      <vt:lpstr>Central Limit Theorem (CLT)</vt:lpstr>
      <vt:lpstr>Z Test</vt:lpstr>
      <vt:lpstr>Z Score</vt:lpstr>
      <vt:lpstr>Revision of Z Score</vt:lpstr>
      <vt:lpstr>Formula Z Score</vt:lpstr>
      <vt:lpstr>Example 1:</vt:lpstr>
      <vt:lpstr>Computation of Z Score</vt:lpstr>
      <vt:lpstr>Example 2: Z score Computation</vt:lpstr>
      <vt:lpstr>Step 1: Z score computation for Quiz 1</vt:lpstr>
      <vt:lpstr>Step 2: Z score Computation for second Quiz</vt:lpstr>
      <vt:lpstr>Step 3: Comparison of Scores</vt:lpstr>
      <vt:lpstr>Example of Z Test</vt:lpstr>
      <vt:lpstr>Key Features of ANOVA</vt:lpstr>
      <vt:lpstr>PowerPoint Presentation</vt:lpstr>
      <vt:lpstr>What Does the Analysis of Variance Reveal? </vt:lpstr>
      <vt:lpstr>ANOVA Test Reveals </vt:lpstr>
      <vt:lpstr>ANOVA Reveals</vt:lpstr>
      <vt:lpstr>Example of How to Use ANOVA </vt:lpstr>
      <vt:lpstr>ANOVA Test </vt:lpstr>
      <vt:lpstr>ANOVA Test</vt:lpstr>
      <vt:lpstr>One-Way ANOVA Versus Two-Way ANOVA </vt:lpstr>
      <vt:lpstr>A Two-Way ANOVA</vt:lpstr>
      <vt:lpstr>ANOVA Revision</vt:lpstr>
      <vt:lpstr>ANOVA Formula</vt:lpstr>
      <vt:lpstr>Terminologies used in Formula</vt:lpstr>
      <vt:lpstr>EXAMPLE</vt:lpstr>
      <vt:lpstr>Step1:</vt:lpstr>
      <vt:lpstr>Step 2: Computation of SST</vt:lpstr>
      <vt:lpstr>Step3:Computation of MST</vt:lpstr>
      <vt:lpstr>Step 4: Computation of SSE</vt:lpstr>
      <vt:lpstr>Step 5: Computation of MSE</vt:lpstr>
      <vt:lpstr>Final step  6: Computation of  Anova coefficient</vt:lpstr>
      <vt:lpstr>Additional Question  T Test</vt:lpstr>
      <vt:lpstr>PowerPoint Presentation</vt:lpstr>
      <vt:lpstr>Thanks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Shreeya Chunekar</dc:creator>
  <cp:lastModifiedBy>Admin</cp:lastModifiedBy>
  <cp:revision>8</cp:revision>
  <dcterms:created xsi:type="dcterms:W3CDTF">2022-02-08T17:06:00Z</dcterms:created>
  <dcterms:modified xsi:type="dcterms:W3CDTF">2023-08-17T19:25:36Z</dcterms:modified>
</cp:coreProperties>
</file>