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6"/>
  </p:notesMasterIdLst>
  <p:sldIdLst>
    <p:sldId id="258" r:id="rId2"/>
    <p:sldId id="284" r:id="rId3"/>
    <p:sldId id="353" r:id="rId4"/>
    <p:sldId id="327" r:id="rId5"/>
    <p:sldId id="356" r:id="rId6"/>
    <p:sldId id="329" r:id="rId7"/>
    <p:sldId id="330" r:id="rId8"/>
    <p:sldId id="331" r:id="rId9"/>
    <p:sldId id="332" r:id="rId10"/>
    <p:sldId id="333" r:id="rId11"/>
    <p:sldId id="334" r:id="rId12"/>
    <p:sldId id="335" r:id="rId13"/>
    <p:sldId id="336" r:id="rId14"/>
    <p:sldId id="337" r:id="rId15"/>
    <p:sldId id="338" r:id="rId16"/>
    <p:sldId id="339" r:id="rId17"/>
    <p:sldId id="369" r:id="rId18"/>
    <p:sldId id="370" r:id="rId19"/>
    <p:sldId id="371" r:id="rId20"/>
    <p:sldId id="372" r:id="rId21"/>
    <p:sldId id="373" r:id="rId22"/>
    <p:sldId id="374" r:id="rId23"/>
    <p:sldId id="375" r:id="rId24"/>
    <p:sldId id="376" r:id="rId25"/>
    <p:sldId id="377" r:id="rId26"/>
    <p:sldId id="367" r:id="rId27"/>
    <p:sldId id="355" r:id="rId28"/>
    <p:sldId id="340" r:id="rId29"/>
    <p:sldId id="341" r:id="rId30"/>
    <p:sldId id="342" r:id="rId31"/>
    <p:sldId id="344" r:id="rId32"/>
    <p:sldId id="345" r:id="rId33"/>
    <p:sldId id="346" r:id="rId34"/>
    <p:sldId id="347" r:id="rId35"/>
    <p:sldId id="348" r:id="rId36"/>
    <p:sldId id="349" r:id="rId37"/>
    <p:sldId id="350" r:id="rId38"/>
    <p:sldId id="351" r:id="rId39"/>
    <p:sldId id="285" r:id="rId40"/>
    <p:sldId id="286" r:id="rId41"/>
    <p:sldId id="287" r:id="rId42"/>
    <p:sldId id="288" r:id="rId43"/>
    <p:sldId id="289" r:id="rId44"/>
    <p:sldId id="290" r:id="rId45"/>
    <p:sldId id="291" r:id="rId46"/>
    <p:sldId id="292" r:id="rId47"/>
    <p:sldId id="293" r:id="rId48"/>
    <p:sldId id="294" r:id="rId49"/>
    <p:sldId id="295" r:id="rId50"/>
    <p:sldId id="296" r:id="rId51"/>
    <p:sldId id="297" r:id="rId52"/>
    <p:sldId id="298" r:id="rId53"/>
    <p:sldId id="299" r:id="rId54"/>
    <p:sldId id="300" r:id="rId5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4" d="100"/>
          <a:sy n="64" d="100"/>
        </p:scale>
        <p:origin x="-1336" y="-6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CA93C22-9FE4-4A3C-8795-E31492582099}" type="datetimeFigureOut">
              <a:rPr lang="en-IN" smtClean="0"/>
              <a:t>11-08-2023</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A3651FC-5E70-4525-9139-EDFE8965C78A}" type="slidenum">
              <a:rPr lang="en-IN" smtClean="0"/>
              <a:t>‹#›</a:t>
            </a:fld>
            <a:endParaRPr lang="en-IN"/>
          </a:p>
        </p:txBody>
      </p:sp>
    </p:spTree>
    <p:extLst>
      <p:ext uri="{BB962C8B-B14F-4D97-AF65-F5344CB8AC3E}">
        <p14:creationId xmlns:p14="http://schemas.microsoft.com/office/powerpoint/2010/main" val="10166350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0A3651FC-5E70-4525-9139-EDFE8965C78A}" type="slidenum">
              <a:rPr lang="en-IN" smtClean="0"/>
              <a:t>31</a:t>
            </a:fld>
            <a:endParaRPr lang="en-IN"/>
          </a:p>
        </p:txBody>
      </p:sp>
    </p:spTree>
    <p:extLst>
      <p:ext uri="{BB962C8B-B14F-4D97-AF65-F5344CB8AC3E}">
        <p14:creationId xmlns:p14="http://schemas.microsoft.com/office/powerpoint/2010/main" val="15589680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11290417-FD3E-440D-A56F-F79B18916855}" type="datetimeFigureOut">
              <a:rPr lang="en-IN" smtClean="0"/>
              <a:t>11-08-2023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C4E1718-3B32-43F0-B675-ACE1151C5542}" type="slidenum">
              <a:rPr lang="en-IN" smtClean="0"/>
              <a:t>‹#›</a:t>
            </a:fld>
            <a:endParaRPr lang="en-IN"/>
          </a:p>
        </p:txBody>
      </p:sp>
    </p:spTree>
    <p:extLst>
      <p:ext uri="{BB962C8B-B14F-4D97-AF65-F5344CB8AC3E}">
        <p14:creationId xmlns:p14="http://schemas.microsoft.com/office/powerpoint/2010/main" val="18086543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11290417-FD3E-440D-A56F-F79B18916855}" type="datetimeFigureOut">
              <a:rPr lang="en-IN" smtClean="0"/>
              <a:t>11-08-2023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C4E1718-3B32-43F0-B675-ACE1151C5542}" type="slidenum">
              <a:rPr lang="en-IN" smtClean="0"/>
              <a:t>‹#›</a:t>
            </a:fld>
            <a:endParaRPr lang="en-IN"/>
          </a:p>
        </p:txBody>
      </p:sp>
    </p:spTree>
    <p:extLst>
      <p:ext uri="{BB962C8B-B14F-4D97-AF65-F5344CB8AC3E}">
        <p14:creationId xmlns:p14="http://schemas.microsoft.com/office/powerpoint/2010/main" val="6013804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1290417-FD3E-440D-A56F-F79B18916855}" type="datetimeFigureOut">
              <a:rPr lang="en-IN" smtClean="0"/>
              <a:t>11-08-2023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C4E1718-3B32-43F0-B675-ACE1151C5542}" type="slidenum">
              <a:rPr lang="en-IN" smtClean="0"/>
              <a:t>‹#›</a:t>
            </a:fld>
            <a:endParaRPr lang="en-IN"/>
          </a:p>
        </p:txBody>
      </p:sp>
    </p:spTree>
    <p:extLst>
      <p:ext uri="{BB962C8B-B14F-4D97-AF65-F5344CB8AC3E}">
        <p14:creationId xmlns:p14="http://schemas.microsoft.com/office/powerpoint/2010/main" val="23300148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11290417-FD3E-440D-A56F-F79B18916855}" type="datetimeFigureOut">
              <a:rPr lang="en-IN" smtClean="0"/>
              <a:t>11-08-2023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C4E1718-3B32-43F0-B675-ACE1151C5542}" type="slidenum">
              <a:rPr lang="en-IN" smtClean="0"/>
              <a:t>‹#›</a:t>
            </a:fld>
            <a:endParaRPr lang="en-IN"/>
          </a:p>
        </p:txBody>
      </p:sp>
    </p:spTree>
    <p:extLst>
      <p:ext uri="{BB962C8B-B14F-4D97-AF65-F5344CB8AC3E}">
        <p14:creationId xmlns:p14="http://schemas.microsoft.com/office/powerpoint/2010/main" val="31222001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11290417-FD3E-440D-A56F-F79B18916855}" type="datetimeFigureOut">
              <a:rPr lang="en-IN" smtClean="0"/>
              <a:t>11-08-2023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C4E1718-3B32-43F0-B675-ACE1151C5542}" type="slidenum">
              <a:rPr lang="en-IN" smtClean="0"/>
              <a:t>‹#›</a:t>
            </a:fld>
            <a:endParaRPr lang="en-IN"/>
          </a:p>
        </p:txBody>
      </p:sp>
    </p:spTree>
    <p:extLst>
      <p:ext uri="{BB962C8B-B14F-4D97-AF65-F5344CB8AC3E}">
        <p14:creationId xmlns:p14="http://schemas.microsoft.com/office/powerpoint/2010/main" val="27594861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11290417-FD3E-440D-A56F-F79B18916855}" type="datetimeFigureOut">
              <a:rPr lang="en-IN" smtClean="0"/>
              <a:t>11-08-2023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C4E1718-3B32-43F0-B675-ACE1151C5542}" type="slidenum">
              <a:rPr lang="en-IN" smtClean="0"/>
              <a:t>‹#›</a:t>
            </a:fld>
            <a:endParaRPr lang="en-IN"/>
          </a:p>
        </p:txBody>
      </p:sp>
    </p:spTree>
    <p:extLst>
      <p:ext uri="{BB962C8B-B14F-4D97-AF65-F5344CB8AC3E}">
        <p14:creationId xmlns:p14="http://schemas.microsoft.com/office/powerpoint/2010/main" val="40503838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1290417-FD3E-440D-A56F-F79B18916855}" type="datetimeFigureOut">
              <a:rPr lang="en-IN" smtClean="0"/>
              <a:t>11-08-2023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C4E1718-3B32-43F0-B675-ACE1151C5542}" type="slidenum">
              <a:rPr lang="en-IN" smtClean="0"/>
              <a:t>‹#›</a:t>
            </a:fld>
            <a:endParaRPr lang="en-IN"/>
          </a:p>
        </p:txBody>
      </p:sp>
    </p:spTree>
    <p:extLst>
      <p:ext uri="{BB962C8B-B14F-4D97-AF65-F5344CB8AC3E}">
        <p14:creationId xmlns:p14="http://schemas.microsoft.com/office/powerpoint/2010/main" val="39250471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1290417-FD3E-440D-A56F-F79B18916855}" type="datetimeFigureOut">
              <a:rPr lang="en-IN" smtClean="0"/>
              <a:t>11-08-2023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C4E1718-3B32-43F0-B675-ACE1151C5542}" type="slidenum">
              <a:rPr lang="en-IN" smtClean="0"/>
              <a:t>‹#›</a:t>
            </a:fld>
            <a:endParaRPr lang="en-IN"/>
          </a:p>
        </p:txBody>
      </p:sp>
    </p:spTree>
    <p:extLst>
      <p:ext uri="{BB962C8B-B14F-4D97-AF65-F5344CB8AC3E}">
        <p14:creationId xmlns:p14="http://schemas.microsoft.com/office/powerpoint/2010/main" val="33044782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1290417-FD3E-440D-A56F-F79B18916855}" type="datetimeFigureOut">
              <a:rPr lang="en-IN" smtClean="0"/>
              <a:t>11-08-2023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C4E1718-3B32-43F0-B675-ACE1151C5542}" type="slidenum">
              <a:rPr lang="en-IN" smtClean="0"/>
              <a:t>‹#›</a:t>
            </a:fld>
            <a:endParaRPr lang="en-IN"/>
          </a:p>
        </p:txBody>
      </p:sp>
    </p:spTree>
    <p:extLst>
      <p:ext uri="{BB962C8B-B14F-4D97-AF65-F5344CB8AC3E}">
        <p14:creationId xmlns:p14="http://schemas.microsoft.com/office/powerpoint/2010/main" val="26643533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11290417-FD3E-440D-A56F-F79B18916855}" type="datetimeFigureOut">
              <a:rPr lang="en-IN" smtClean="0"/>
              <a:t>11-08-2023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C4E1718-3B32-43F0-B675-ACE1151C5542}" type="slidenum">
              <a:rPr lang="en-IN" smtClean="0"/>
              <a:t>‹#›</a:t>
            </a:fld>
            <a:endParaRPr lang="en-IN"/>
          </a:p>
        </p:txBody>
      </p:sp>
    </p:spTree>
    <p:extLst>
      <p:ext uri="{BB962C8B-B14F-4D97-AF65-F5344CB8AC3E}">
        <p14:creationId xmlns:p14="http://schemas.microsoft.com/office/powerpoint/2010/main" val="18422405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11290417-FD3E-440D-A56F-F79B18916855}" type="datetimeFigureOut">
              <a:rPr lang="en-IN" smtClean="0"/>
              <a:t>11-08-2023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C4E1718-3B32-43F0-B675-ACE1151C5542}" type="slidenum">
              <a:rPr lang="en-IN" smtClean="0"/>
              <a:t>‹#›</a:t>
            </a:fld>
            <a:endParaRPr lang="en-IN"/>
          </a:p>
        </p:txBody>
      </p:sp>
    </p:spTree>
    <p:extLst>
      <p:ext uri="{BB962C8B-B14F-4D97-AF65-F5344CB8AC3E}">
        <p14:creationId xmlns:p14="http://schemas.microsoft.com/office/powerpoint/2010/main" val="40802531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1290417-FD3E-440D-A56F-F79B18916855}" type="datetimeFigureOut">
              <a:rPr lang="en-IN" smtClean="0"/>
              <a:t>11-08-2023</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C4E1718-3B32-43F0-B675-ACE1151C5542}" type="slidenum">
              <a:rPr lang="en-IN" smtClean="0"/>
              <a:t>‹#›</a:t>
            </a:fld>
            <a:endParaRPr lang="en-IN"/>
          </a:p>
        </p:txBody>
      </p:sp>
    </p:spTree>
    <p:extLst>
      <p:ext uri="{BB962C8B-B14F-4D97-AF65-F5344CB8AC3E}">
        <p14:creationId xmlns:p14="http://schemas.microsoft.com/office/powerpoint/2010/main" val="268363133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3.png"/><Relationship Id="rId18" Type="http://schemas.openxmlformats.org/officeDocument/2006/relationships/image" Target="../media/image28.png"/><Relationship Id="rId26" Type="http://schemas.openxmlformats.org/officeDocument/2006/relationships/image" Target="../media/image36.png"/><Relationship Id="rId3" Type="http://schemas.openxmlformats.org/officeDocument/2006/relationships/image" Target="../media/image13.png"/><Relationship Id="rId21" Type="http://schemas.openxmlformats.org/officeDocument/2006/relationships/image" Target="../media/image31.png"/><Relationship Id="rId34" Type="http://schemas.openxmlformats.org/officeDocument/2006/relationships/image" Target="../media/image44.png"/><Relationship Id="rId7" Type="http://schemas.openxmlformats.org/officeDocument/2006/relationships/image" Target="../media/image17.png"/><Relationship Id="rId12" Type="http://schemas.openxmlformats.org/officeDocument/2006/relationships/image" Target="../media/image22.png"/><Relationship Id="rId17" Type="http://schemas.openxmlformats.org/officeDocument/2006/relationships/image" Target="../media/image27.png"/><Relationship Id="rId25" Type="http://schemas.openxmlformats.org/officeDocument/2006/relationships/image" Target="../media/image35.png"/><Relationship Id="rId33" Type="http://schemas.openxmlformats.org/officeDocument/2006/relationships/image" Target="../media/image43.png"/><Relationship Id="rId38" Type="http://schemas.openxmlformats.org/officeDocument/2006/relationships/image" Target="../media/image48.png"/><Relationship Id="rId2" Type="http://schemas.openxmlformats.org/officeDocument/2006/relationships/image" Target="../media/image12.png"/><Relationship Id="rId16" Type="http://schemas.openxmlformats.org/officeDocument/2006/relationships/image" Target="../media/image26.png"/><Relationship Id="rId20" Type="http://schemas.openxmlformats.org/officeDocument/2006/relationships/image" Target="../media/image30.png"/><Relationship Id="rId29" Type="http://schemas.openxmlformats.org/officeDocument/2006/relationships/image" Target="../media/image39.png"/><Relationship Id="rId1" Type="http://schemas.openxmlformats.org/officeDocument/2006/relationships/slideLayout" Target="../slideLayouts/slideLayout6.xml"/><Relationship Id="rId6" Type="http://schemas.openxmlformats.org/officeDocument/2006/relationships/image" Target="../media/image16.png"/><Relationship Id="rId11" Type="http://schemas.openxmlformats.org/officeDocument/2006/relationships/image" Target="../media/image21.png"/><Relationship Id="rId24" Type="http://schemas.openxmlformats.org/officeDocument/2006/relationships/image" Target="../media/image34.png"/><Relationship Id="rId32" Type="http://schemas.openxmlformats.org/officeDocument/2006/relationships/image" Target="../media/image42.png"/><Relationship Id="rId37" Type="http://schemas.openxmlformats.org/officeDocument/2006/relationships/image" Target="../media/image47.png"/><Relationship Id="rId5" Type="http://schemas.openxmlformats.org/officeDocument/2006/relationships/image" Target="../media/image15.png"/><Relationship Id="rId15" Type="http://schemas.openxmlformats.org/officeDocument/2006/relationships/image" Target="../media/image25.png"/><Relationship Id="rId23" Type="http://schemas.openxmlformats.org/officeDocument/2006/relationships/image" Target="../media/image33.png"/><Relationship Id="rId28" Type="http://schemas.openxmlformats.org/officeDocument/2006/relationships/image" Target="../media/image38.png"/><Relationship Id="rId36" Type="http://schemas.openxmlformats.org/officeDocument/2006/relationships/image" Target="../media/image46.png"/><Relationship Id="rId10" Type="http://schemas.openxmlformats.org/officeDocument/2006/relationships/image" Target="../media/image20.png"/><Relationship Id="rId19" Type="http://schemas.openxmlformats.org/officeDocument/2006/relationships/image" Target="../media/image29.png"/><Relationship Id="rId31" Type="http://schemas.openxmlformats.org/officeDocument/2006/relationships/image" Target="../media/image41.png"/><Relationship Id="rId4" Type="http://schemas.openxmlformats.org/officeDocument/2006/relationships/image" Target="../media/image14.png"/><Relationship Id="rId9" Type="http://schemas.openxmlformats.org/officeDocument/2006/relationships/image" Target="../media/image19.png"/><Relationship Id="rId14" Type="http://schemas.openxmlformats.org/officeDocument/2006/relationships/image" Target="../media/image24.png"/><Relationship Id="rId22" Type="http://schemas.openxmlformats.org/officeDocument/2006/relationships/image" Target="../media/image32.png"/><Relationship Id="rId27" Type="http://schemas.openxmlformats.org/officeDocument/2006/relationships/image" Target="../media/image37.png"/><Relationship Id="rId30" Type="http://schemas.openxmlformats.org/officeDocument/2006/relationships/image" Target="../media/image40.png"/><Relationship Id="rId35" Type="http://schemas.openxmlformats.org/officeDocument/2006/relationships/image" Target="../media/image45.png"/></Relationships>
</file>

<file path=ppt/slides/_rels/slide14.xml.rels><?xml version="1.0" encoding="UTF-8" standalone="yes"?>
<Relationships xmlns="http://schemas.openxmlformats.org/package/2006/relationships"><Relationship Id="rId2" Type="http://schemas.openxmlformats.org/officeDocument/2006/relationships/image" Target="../media/image49.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0.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image" Target="../media/image52.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53.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2.xml"/><Relationship Id="rId4" Type="http://schemas.openxmlformats.org/officeDocument/2006/relationships/image" Target="../media/image56.png"/></Relationships>
</file>

<file path=ppt/slides/_rels/slide31.xml.rels><?xml version="1.0" encoding="UTF-8" standalone="yes"?>
<Relationships xmlns="http://schemas.openxmlformats.org/package/2006/relationships"><Relationship Id="rId3" Type="http://schemas.openxmlformats.org/officeDocument/2006/relationships/image" Target="../media/image57.jpg"/><Relationship Id="rId7" Type="http://schemas.openxmlformats.org/officeDocument/2006/relationships/image" Target="../media/image61.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60.jpg"/><Relationship Id="rId5" Type="http://schemas.openxmlformats.org/officeDocument/2006/relationships/image" Target="../media/image59.jpg"/><Relationship Id="rId4" Type="http://schemas.openxmlformats.org/officeDocument/2006/relationships/image" Target="../media/image58.jpg"/></Relationships>
</file>

<file path=ppt/slides/_rels/slide32.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2.xml"/><Relationship Id="rId4" Type="http://schemas.openxmlformats.org/officeDocument/2006/relationships/image" Target="../media/image66.png"/></Relationships>
</file>

<file path=ppt/slides/_rels/slide34.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jp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7.xml"/><Relationship Id="rId4" Type="http://schemas.openxmlformats.org/officeDocument/2006/relationships/image" Target="../media/image72.png"/></Relationships>
</file>

<file path=ppt/slides/_rels/slide37.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73.jp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491E3A8-CFF6-472F-BF91-FCBFD1725058}"/>
              </a:ext>
            </a:extLst>
          </p:cNvPr>
          <p:cNvSpPr>
            <a:spLocks noGrp="1"/>
          </p:cNvSpPr>
          <p:nvPr>
            <p:ph type="ctrTitle"/>
          </p:nvPr>
        </p:nvSpPr>
        <p:spPr>
          <a:xfrm>
            <a:off x="50007" y="1122363"/>
            <a:ext cx="8672512" cy="2387600"/>
          </a:xfrm>
        </p:spPr>
        <p:txBody>
          <a:bodyPr/>
          <a:lstStyle/>
          <a:p>
            <a:r>
              <a:rPr lang="en-US" dirty="0"/>
              <a:t>Lecture </a:t>
            </a:r>
            <a:r>
              <a:rPr lang="en-US" dirty="0" smtClean="0"/>
              <a:t>9:  Frequency Distribution</a:t>
            </a:r>
            <a:endParaRPr lang="en-IN" dirty="0"/>
          </a:p>
        </p:txBody>
      </p:sp>
      <p:sp>
        <p:nvSpPr>
          <p:cNvPr id="3" name="Subtitle 2">
            <a:extLst>
              <a:ext uri="{FF2B5EF4-FFF2-40B4-BE49-F238E27FC236}">
                <a16:creationId xmlns="" xmlns:a16="http://schemas.microsoft.com/office/drawing/2014/main" id="{CE49D4E4-71EB-47D8-A218-87AB8961DE8D}"/>
              </a:ext>
            </a:extLst>
          </p:cNvPr>
          <p:cNvSpPr>
            <a:spLocks noGrp="1"/>
          </p:cNvSpPr>
          <p:nvPr>
            <p:ph type="subTitle" idx="1"/>
          </p:nvPr>
        </p:nvSpPr>
        <p:spPr>
          <a:xfrm>
            <a:off x="1143000" y="4548188"/>
            <a:ext cx="6858000" cy="1655762"/>
          </a:xfrm>
        </p:spPr>
        <p:txBody>
          <a:bodyPr/>
          <a:lstStyle/>
          <a:p>
            <a:r>
              <a:rPr lang="en-US" dirty="0"/>
              <a:t>Vaibhav Chunekar</a:t>
            </a:r>
          </a:p>
          <a:p>
            <a:r>
              <a:rPr lang="en-US" dirty="0" smtClean="0"/>
              <a:t>11 August 2023</a:t>
            </a:r>
            <a:endParaRPr lang="en-IN" dirty="0"/>
          </a:p>
        </p:txBody>
      </p:sp>
    </p:spTree>
    <p:extLst>
      <p:ext uri="{BB962C8B-B14F-4D97-AF65-F5344CB8AC3E}">
        <p14:creationId xmlns:p14="http://schemas.microsoft.com/office/powerpoint/2010/main" val="27083191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statistics cheat sheet">
            <a:extLst>
              <a:ext uri="{FF2B5EF4-FFF2-40B4-BE49-F238E27FC236}">
                <a16:creationId xmlns="" xmlns:a16="http://schemas.microsoft.com/office/drawing/2014/main" id="{6B31404D-6646-4E2F-BC1C-3AFD4D6F8E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7704" y="0"/>
            <a:ext cx="6120679" cy="66294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80537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Agenda – Exploring Data Using Descriptive Measures</a:t>
            </a:r>
            <a:endParaRPr lang="en-IN" dirty="0"/>
          </a:p>
        </p:txBody>
      </p:sp>
      <p:sp>
        <p:nvSpPr>
          <p:cNvPr id="3" name="Content Placeholder 2"/>
          <p:cNvSpPr>
            <a:spLocks noGrp="1"/>
          </p:cNvSpPr>
          <p:nvPr>
            <p:ph idx="1"/>
          </p:nvPr>
        </p:nvSpPr>
        <p:spPr/>
        <p:txBody>
          <a:bodyPr>
            <a:normAutofit fontScale="92500" lnSpcReduction="10000"/>
          </a:bodyPr>
          <a:lstStyle/>
          <a:p>
            <a:r>
              <a:rPr lang="en-US" dirty="0" smtClean="0"/>
              <a:t>Frequency distribution</a:t>
            </a:r>
          </a:p>
          <a:p>
            <a:pPr lvl="1"/>
            <a:r>
              <a:rPr lang="en-US" dirty="0" smtClean="0"/>
              <a:t> Types of Frequency Distribution </a:t>
            </a:r>
          </a:p>
          <a:p>
            <a:pPr lvl="2"/>
            <a:r>
              <a:rPr lang="en-US" dirty="0" smtClean="0"/>
              <a:t>Simple</a:t>
            </a:r>
            <a:endParaRPr lang="en-US" dirty="0"/>
          </a:p>
          <a:p>
            <a:pPr lvl="2"/>
            <a:r>
              <a:rPr lang="en-US" dirty="0" smtClean="0"/>
              <a:t> grouped </a:t>
            </a:r>
          </a:p>
          <a:p>
            <a:pPr lvl="2"/>
            <a:r>
              <a:rPr lang="en-US" dirty="0" smtClean="0"/>
              <a:t>cumulative and </a:t>
            </a:r>
          </a:p>
          <a:p>
            <a:pPr lvl="2"/>
            <a:r>
              <a:rPr lang="en-US" dirty="0" smtClean="0"/>
              <a:t>relative frequency</a:t>
            </a:r>
          </a:p>
          <a:p>
            <a:pPr lvl="1"/>
            <a:r>
              <a:rPr lang="en-US" dirty="0" smtClean="0"/>
              <a:t>Graphs for frequency distribution </a:t>
            </a:r>
          </a:p>
          <a:p>
            <a:pPr lvl="2"/>
            <a:r>
              <a:rPr lang="en-US" dirty="0" smtClean="0"/>
              <a:t>Histogram</a:t>
            </a:r>
          </a:p>
          <a:p>
            <a:pPr lvl="2"/>
            <a:r>
              <a:rPr lang="en-US" dirty="0" smtClean="0"/>
              <a:t>frequency polygon</a:t>
            </a:r>
          </a:p>
          <a:p>
            <a:pPr lvl="2"/>
            <a:r>
              <a:rPr lang="en-US" dirty="0" smtClean="0"/>
              <a:t>frequency curve</a:t>
            </a:r>
          </a:p>
          <a:p>
            <a:pPr lvl="2"/>
            <a:r>
              <a:rPr lang="en-US" dirty="0" smtClean="0"/>
              <a:t> cumulative frequency curve</a:t>
            </a:r>
            <a:endParaRPr lang="en-IN" dirty="0"/>
          </a:p>
        </p:txBody>
      </p:sp>
    </p:spTree>
    <p:extLst>
      <p:ext uri="{BB962C8B-B14F-4D97-AF65-F5344CB8AC3E}">
        <p14:creationId xmlns:p14="http://schemas.microsoft.com/office/powerpoint/2010/main" val="20461997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 y="1"/>
            <a:ext cx="9143975" cy="6857997"/>
          </a:xfrm>
          <a:prstGeom prst="rect">
            <a:avLst/>
          </a:prstGeom>
        </p:spPr>
      </p:pic>
      <p:sp>
        <p:nvSpPr>
          <p:cNvPr id="3" name="object 3"/>
          <p:cNvSpPr txBox="1"/>
          <p:nvPr/>
        </p:nvSpPr>
        <p:spPr>
          <a:xfrm>
            <a:off x="7009448" y="5341925"/>
            <a:ext cx="721995" cy="1143903"/>
          </a:xfrm>
          <a:prstGeom prst="rect">
            <a:avLst/>
          </a:prstGeom>
        </p:spPr>
        <p:txBody>
          <a:bodyPr vert="horz" wrap="square" lIns="0" tIns="116840" rIns="0" bIns="0" rtlCol="0">
            <a:spAutoFit/>
          </a:bodyPr>
          <a:lstStyle/>
          <a:p>
            <a:pPr marL="12700">
              <a:lnSpc>
                <a:spcPct val="100000"/>
              </a:lnSpc>
              <a:spcBef>
                <a:spcPts val="920"/>
              </a:spcBef>
            </a:pPr>
            <a:r>
              <a:rPr sz="1500" spc="10" dirty="0">
                <a:solidFill>
                  <a:srgbClr val="FFFFFF"/>
                </a:solidFill>
                <a:latin typeface="Calibri"/>
                <a:cs typeface="Calibri"/>
              </a:rPr>
              <a:t>P</a:t>
            </a:r>
            <a:r>
              <a:rPr sz="1500" spc="-20" dirty="0">
                <a:solidFill>
                  <a:srgbClr val="FFFFFF"/>
                </a:solidFill>
                <a:latin typeface="Calibri"/>
                <a:cs typeface="Calibri"/>
              </a:rPr>
              <a:t>r</a:t>
            </a:r>
            <a:r>
              <a:rPr sz="1500" spc="-5" dirty="0">
                <a:solidFill>
                  <a:srgbClr val="FFFFFF"/>
                </a:solidFill>
                <a:latin typeface="Calibri"/>
                <a:cs typeface="Calibri"/>
              </a:rPr>
              <a:t>e</a:t>
            </a:r>
            <a:r>
              <a:rPr sz="1500" dirty="0">
                <a:solidFill>
                  <a:srgbClr val="FFFFFF"/>
                </a:solidFill>
                <a:latin typeface="Calibri"/>
                <a:cs typeface="Calibri"/>
              </a:rPr>
              <a:t>p</a:t>
            </a:r>
            <a:r>
              <a:rPr sz="1500" spc="-5" dirty="0">
                <a:solidFill>
                  <a:srgbClr val="FFFFFF"/>
                </a:solidFill>
                <a:latin typeface="Calibri"/>
                <a:cs typeface="Calibri"/>
              </a:rPr>
              <a:t>a</a:t>
            </a:r>
            <a:r>
              <a:rPr sz="1500" spc="-20" dirty="0">
                <a:solidFill>
                  <a:srgbClr val="FFFFFF"/>
                </a:solidFill>
                <a:latin typeface="Calibri"/>
                <a:cs typeface="Calibri"/>
              </a:rPr>
              <a:t>r</a:t>
            </a:r>
            <a:r>
              <a:rPr sz="1500" spc="-5" dirty="0">
                <a:solidFill>
                  <a:srgbClr val="FFFFFF"/>
                </a:solidFill>
                <a:latin typeface="Calibri"/>
                <a:cs typeface="Calibri"/>
              </a:rPr>
              <a:t>e</a:t>
            </a:r>
            <a:r>
              <a:rPr sz="1500" spc="5" dirty="0">
                <a:solidFill>
                  <a:srgbClr val="FFFFFF"/>
                </a:solidFill>
                <a:latin typeface="Calibri"/>
                <a:cs typeface="Calibri"/>
              </a:rPr>
              <a:t>d</a:t>
            </a:r>
            <a:r>
              <a:rPr sz="1500" spc="-35" dirty="0">
                <a:solidFill>
                  <a:srgbClr val="FFFFFF"/>
                </a:solidFill>
                <a:latin typeface="Calibri"/>
                <a:cs typeface="Calibri"/>
              </a:rPr>
              <a:t> </a:t>
            </a:r>
            <a:r>
              <a:rPr sz="1500" spc="-30" dirty="0">
                <a:solidFill>
                  <a:srgbClr val="FFFFFF"/>
                </a:solidFill>
                <a:latin typeface="Calibri"/>
                <a:cs typeface="Calibri"/>
              </a:rPr>
              <a:t>B</a:t>
            </a:r>
            <a:r>
              <a:rPr sz="1500" spc="5" dirty="0">
                <a:solidFill>
                  <a:srgbClr val="FFFFFF"/>
                </a:solidFill>
                <a:latin typeface="Calibri"/>
                <a:cs typeface="Calibri"/>
              </a:rPr>
              <a:t>y</a:t>
            </a:r>
            <a:endParaRPr sz="1500">
              <a:latin typeface="Calibri"/>
              <a:cs typeface="Calibri"/>
            </a:endParaRPr>
          </a:p>
          <a:p>
            <a:pPr marL="33655">
              <a:lnSpc>
                <a:spcPct val="100000"/>
              </a:lnSpc>
              <a:spcBef>
                <a:spcPts val="815"/>
              </a:spcBef>
            </a:pPr>
            <a:r>
              <a:rPr sz="1500" spc="-10" dirty="0">
                <a:solidFill>
                  <a:srgbClr val="FFFFFF"/>
                </a:solidFill>
                <a:latin typeface="Calibri"/>
                <a:cs typeface="Calibri"/>
              </a:rPr>
              <a:t>-A</a:t>
            </a:r>
            <a:r>
              <a:rPr sz="1500" dirty="0">
                <a:solidFill>
                  <a:srgbClr val="FFFFFF"/>
                </a:solidFill>
                <a:latin typeface="Calibri"/>
                <a:cs typeface="Calibri"/>
              </a:rPr>
              <a:t>n</a:t>
            </a:r>
            <a:r>
              <a:rPr sz="1500" spc="-5" dirty="0">
                <a:solidFill>
                  <a:srgbClr val="FFFFFF"/>
                </a:solidFill>
                <a:latin typeface="Calibri"/>
                <a:cs typeface="Calibri"/>
              </a:rPr>
              <a:t>ooj</a:t>
            </a:r>
            <a:r>
              <a:rPr sz="1500" spc="5" dirty="0">
                <a:solidFill>
                  <a:srgbClr val="FFFFFF"/>
                </a:solidFill>
                <a:latin typeface="Calibri"/>
                <a:cs typeface="Calibri"/>
              </a:rPr>
              <a:t>a</a:t>
            </a:r>
            <a:r>
              <a:rPr sz="1500" spc="-10" dirty="0">
                <a:solidFill>
                  <a:srgbClr val="FFFFFF"/>
                </a:solidFill>
                <a:latin typeface="Calibri"/>
                <a:cs typeface="Calibri"/>
              </a:rPr>
              <a:t> </a:t>
            </a:r>
            <a:r>
              <a:rPr sz="1500" dirty="0">
                <a:solidFill>
                  <a:srgbClr val="FFFFFF"/>
                </a:solidFill>
                <a:latin typeface="Calibri"/>
                <a:cs typeface="Calibri"/>
              </a:rPr>
              <a:t>J</a:t>
            </a:r>
            <a:r>
              <a:rPr sz="1500" spc="-5" dirty="0">
                <a:solidFill>
                  <a:srgbClr val="FFFFFF"/>
                </a:solidFill>
                <a:latin typeface="Calibri"/>
                <a:cs typeface="Calibri"/>
              </a:rPr>
              <a:t>o</a:t>
            </a:r>
            <a:r>
              <a:rPr sz="1500" spc="5" dirty="0">
                <a:solidFill>
                  <a:srgbClr val="FFFFFF"/>
                </a:solidFill>
                <a:latin typeface="Calibri"/>
                <a:cs typeface="Calibri"/>
              </a:rPr>
              <a:t>y</a:t>
            </a:r>
            <a:endParaRPr sz="1500">
              <a:latin typeface="Calibri"/>
              <a:cs typeface="Calibri"/>
            </a:endParaRPr>
          </a:p>
        </p:txBody>
      </p:sp>
    </p:spTree>
    <p:extLst>
      <p:ext uri="{BB962C8B-B14F-4D97-AF65-F5344CB8AC3E}">
        <p14:creationId xmlns:p14="http://schemas.microsoft.com/office/powerpoint/2010/main" val="4351828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pc="-5" dirty="0" smtClean="0">
                <a:solidFill>
                  <a:srgbClr val="000000"/>
                </a:solidFill>
                <a:latin typeface="Calibri Light"/>
                <a:cs typeface="Calibri Light"/>
              </a:rPr>
              <a:t>Exploring </a:t>
            </a:r>
            <a:r>
              <a:rPr lang="en-US" spc="-20" dirty="0" smtClean="0">
                <a:solidFill>
                  <a:srgbClr val="000000"/>
                </a:solidFill>
                <a:latin typeface="Calibri Light"/>
                <a:cs typeface="Calibri Light"/>
              </a:rPr>
              <a:t>data</a:t>
            </a:r>
            <a:r>
              <a:rPr lang="en-US" spc="-15" dirty="0" smtClean="0">
                <a:solidFill>
                  <a:srgbClr val="000000"/>
                </a:solidFill>
                <a:latin typeface="Calibri Light"/>
                <a:cs typeface="Calibri Light"/>
              </a:rPr>
              <a:t> </a:t>
            </a:r>
            <a:r>
              <a:rPr lang="en-US" dirty="0" smtClean="0">
                <a:solidFill>
                  <a:srgbClr val="000000"/>
                </a:solidFill>
                <a:latin typeface="Calibri Light"/>
                <a:cs typeface="Calibri Light"/>
              </a:rPr>
              <a:t>using </a:t>
            </a:r>
            <a:r>
              <a:rPr lang="en-US" spc="5" dirty="0" smtClean="0">
                <a:solidFill>
                  <a:srgbClr val="000000"/>
                </a:solidFill>
                <a:latin typeface="Calibri Light"/>
                <a:cs typeface="Calibri Light"/>
              </a:rPr>
              <a:t> </a:t>
            </a:r>
            <a:r>
              <a:rPr lang="en-US" spc="-5" dirty="0" smtClean="0">
                <a:solidFill>
                  <a:srgbClr val="000000"/>
                </a:solidFill>
                <a:latin typeface="Calibri Light"/>
                <a:cs typeface="Calibri Light"/>
              </a:rPr>
              <a:t>descriptive</a:t>
            </a:r>
            <a:r>
              <a:rPr lang="en-US" spc="-80" dirty="0" smtClean="0">
                <a:solidFill>
                  <a:srgbClr val="000000"/>
                </a:solidFill>
                <a:latin typeface="Calibri Light"/>
                <a:cs typeface="Calibri Light"/>
              </a:rPr>
              <a:t> </a:t>
            </a:r>
            <a:r>
              <a:rPr lang="en-US" spc="-10" dirty="0" smtClean="0">
                <a:solidFill>
                  <a:srgbClr val="000000"/>
                </a:solidFill>
                <a:latin typeface="Calibri Light"/>
                <a:cs typeface="Calibri Light"/>
              </a:rPr>
              <a:t>measures</a:t>
            </a:r>
            <a:endParaRPr lang="en-IN" dirty="0"/>
          </a:p>
        </p:txBody>
      </p:sp>
      <p:sp>
        <p:nvSpPr>
          <p:cNvPr id="3" name="Content Placeholder 2"/>
          <p:cNvSpPr>
            <a:spLocks noGrp="1"/>
          </p:cNvSpPr>
          <p:nvPr>
            <p:ph idx="1"/>
          </p:nvPr>
        </p:nvSpPr>
        <p:spPr/>
        <p:txBody>
          <a:bodyPr/>
          <a:lstStyle/>
          <a:p>
            <a:pPr marL="12700">
              <a:spcBef>
                <a:spcPts val="600"/>
              </a:spcBef>
              <a:spcAft>
                <a:spcPts val="600"/>
              </a:spcAft>
              <a:tabLst>
                <a:tab pos="299085" algn="l"/>
              </a:tabLst>
            </a:pPr>
            <a:r>
              <a:rPr lang="en-US" b="1" spc="175" dirty="0" smtClean="0">
                <a:solidFill>
                  <a:srgbClr val="C00000"/>
                </a:solidFill>
                <a:latin typeface="Arial"/>
                <a:cs typeface="Arial"/>
              </a:rPr>
              <a:t>Descriptive</a:t>
            </a:r>
            <a:r>
              <a:rPr lang="en-US" dirty="0">
                <a:latin typeface="Arial"/>
                <a:cs typeface="Arial"/>
              </a:rPr>
              <a:t> </a:t>
            </a:r>
            <a:r>
              <a:rPr lang="en-US" b="1" spc="170" dirty="0" smtClean="0">
                <a:solidFill>
                  <a:srgbClr val="C00000"/>
                </a:solidFill>
                <a:latin typeface="Arial"/>
                <a:cs typeface="Arial"/>
              </a:rPr>
              <a:t>statistics</a:t>
            </a:r>
            <a:r>
              <a:rPr lang="en-US" b="1" spc="175" dirty="0" smtClean="0">
                <a:solidFill>
                  <a:srgbClr val="C00000"/>
                </a:solidFill>
                <a:latin typeface="Arial"/>
                <a:cs typeface="Arial"/>
              </a:rPr>
              <a:t> </a:t>
            </a:r>
            <a:r>
              <a:rPr lang="en-US" spc="165" dirty="0">
                <a:cs typeface="Calibri"/>
              </a:rPr>
              <a:t>summarize</a:t>
            </a:r>
            <a:r>
              <a:rPr lang="en-US" spc="170" dirty="0">
                <a:cs typeface="Calibri"/>
              </a:rPr>
              <a:t> </a:t>
            </a:r>
            <a:r>
              <a:rPr lang="en-US" spc="135" dirty="0">
                <a:cs typeface="Calibri"/>
              </a:rPr>
              <a:t>and</a:t>
            </a:r>
            <a:r>
              <a:rPr lang="en-US" spc="680" dirty="0">
                <a:cs typeface="Calibri"/>
              </a:rPr>
              <a:t> </a:t>
            </a:r>
            <a:r>
              <a:rPr lang="en-US" spc="170" dirty="0">
                <a:cs typeface="Calibri"/>
              </a:rPr>
              <a:t>describe  </a:t>
            </a:r>
            <a:r>
              <a:rPr lang="en-US" spc="135" dirty="0">
                <a:cs typeface="Calibri"/>
              </a:rPr>
              <a:t>the </a:t>
            </a:r>
            <a:r>
              <a:rPr lang="en-US" spc="140" dirty="0">
                <a:cs typeface="Calibri"/>
              </a:rPr>
              <a:t> </a:t>
            </a:r>
            <a:r>
              <a:rPr lang="en-US" spc="130" dirty="0">
                <a:cs typeface="Calibri"/>
              </a:rPr>
              <a:t>data</a:t>
            </a:r>
            <a:r>
              <a:rPr lang="en-US" spc="135" dirty="0">
                <a:cs typeface="Calibri"/>
              </a:rPr>
              <a:t> </a:t>
            </a:r>
            <a:r>
              <a:rPr lang="en-US" spc="90" dirty="0">
                <a:cs typeface="Calibri"/>
              </a:rPr>
              <a:t>by</a:t>
            </a:r>
            <a:r>
              <a:rPr lang="en-US" spc="95" dirty="0">
                <a:cs typeface="Calibri"/>
              </a:rPr>
              <a:t> </a:t>
            </a:r>
            <a:r>
              <a:rPr lang="en-US" spc="160" dirty="0">
                <a:cs typeface="Calibri"/>
              </a:rPr>
              <a:t>making</a:t>
            </a:r>
            <a:r>
              <a:rPr lang="en-US" spc="165" dirty="0">
                <a:cs typeface="Calibri"/>
              </a:rPr>
              <a:t> </a:t>
            </a:r>
            <a:r>
              <a:rPr lang="en-US" b="1" spc="165" dirty="0">
                <a:cs typeface="Calibri"/>
              </a:rPr>
              <a:t>inferences</a:t>
            </a:r>
            <a:r>
              <a:rPr lang="en-US" b="1" spc="170" dirty="0">
                <a:cs typeface="Calibri"/>
              </a:rPr>
              <a:t> </a:t>
            </a:r>
            <a:r>
              <a:rPr lang="en-US" spc="155" dirty="0">
                <a:cs typeface="Calibri"/>
              </a:rPr>
              <a:t>based</a:t>
            </a:r>
            <a:r>
              <a:rPr lang="en-US" spc="160" dirty="0">
                <a:cs typeface="Calibri"/>
              </a:rPr>
              <a:t> </a:t>
            </a:r>
            <a:r>
              <a:rPr lang="en-US" spc="110" dirty="0">
                <a:cs typeface="Calibri"/>
              </a:rPr>
              <a:t>on</a:t>
            </a:r>
            <a:r>
              <a:rPr lang="en-US" spc="114" dirty="0">
                <a:cs typeface="Calibri"/>
              </a:rPr>
              <a:t> </a:t>
            </a:r>
            <a:r>
              <a:rPr lang="en-US" spc="130" dirty="0">
                <a:cs typeface="Calibri"/>
              </a:rPr>
              <a:t>the </a:t>
            </a:r>
            <a:r>
              <a:rPr lang="en-US" spc="135" dirty="0">
                <a:cs typeface="Calibri"/>
              </a:rPr>
              <a:t> </a:t>
            </a:r>
            <a:r>
              <a:rPr lang="en-US" spc="155" dirty="0">
                <a:cs typeface="Calibri"/>
              </a:rPr>
              <a:t>whole</a:t>
            </a:r>
            <a:r>
              <a:rPr lang="en-US" spc="459" dirty="0">
                <a:cs typeface="Calibri"/>
              </a:rPr>
              <a:t> </a:t>
            </a:r>
            <a:r>
              <a:rPr lang="en-US" spc="170" dirty="0">
                <a:cs typeface="Calibri"/>
              </a:rPr>
              <a:t>population</a:t>
            </a:r>
            <a:r>
              <a:rPr lang="en-US" spc="455" dirty="0">
                <a:cs typeface="Calibri"/>
              </a:rPr>
              <a:t> </a:t>
            </a:r>
            <a:r>
              <a:rPr lang="en-US" spc="155" dirty="0">
                <a:cs typeface="Calibri"/>
              </a:rPr>
              <a:t>based</a:t>
            </a:r>
            <a:r>
              <a:rPr lang="en-US" spc="455" dirty="0">
                <a:cs typeface="Calibri"/>
              </a:rPr>
              <a:t> </a:t>
            </a:r>
            <a:r>
              <a:rPr lang="en-US" spc="100" dirty="0">
                <a:cs typeface="Calibri"/>
              </a:rPr>
              <a:t>on</a:t>
            </a:r>
            <a:r>
              <a:rPr lang="en-US" spc="484" dirty="0">
                <a:cs typeface="Calibri"/>
              </a:rPr>
              <a:t> </a:t>
            </a:r>
            <a:r>
              <a:rPr lang="en-US" spc="175" dirty="0" smtClean="0">
                <a:cs typeface="Calibri"/>
              </a:rPr>
              <a:t>probabilistic approach.</a:t>
            </a:r>
          </a:p>
          <a:p>
            <a:pPr marL="12700">
              <a:spcBef>
                <a:spcPts val="600"/>
              </a:spcBef>
              <a:spcAft>
                <a:spcPts val="600"/>
              </a:spcAft>
              <a:tabLst>
                <a:tab pos="299085" algn="l"/>
              </a:tabLst>
            </a:pPr>
            <a:r>
              <a:rPr lang="en-US" b="1" spc="165" dirty="0">
                <a:cs typeface="Calibri"/>
              </a:rPr>
              <a:t>Inferential	</a:t>
            </a:r>
            <a:r>
              <a:rPr lang="en-US" b="1" spc="160" dirty="0">
                <a:cs typeface="Calibri"/>
              </a:rPr>
              <a:t>statistics	</a:t>
            </a:r>
            <a:r>
              <a:rPr lang="en-US" spc="90" dirty="0" smtClean="0">
                <a:cs typeface="Calibri"/>
              </a:rPr>
              <a:t>tries  </a:t>
            </a:r>
            <a:r>
              <a:rPr lang="en-US" spc="80" dirty="0" smtClean="0">
                <a:cs typeface="Calibri"/>
              </a:rPr>
              <a:t>to</a:t>
            </a:r>
            <a:r>
              <a:rPr lang="en-US" spc="-245" dirty="0" smtClean="0">
                <a:cs typeface="Calibri"/>
              </a:rPr>
              <a:t>  </a:t>
            </a:r>
            <a:r>
              <a:rPr lang="en-US" spc="140" dirty="0" smtClean="0">
                <a:cs typeface="Calibri"/>
              </a:rPr>
              <a:t>Infer information about population by using</a:t>
            </a:r>
            <a:r>
              <a:rPr lang="en-US" spc="475" dirty="0" smtClean="0">
                <a:cs typeface="Calibri"/>
              </a:rPr>
              <a:t> </a:t>
            </a:r>
            <a:r>
              <a:rPr lang="en-US" spc="160" dirty="0">
                <a:cs typeface="Calibri"/>
              </a:rPr>
              <a:t>information</a:t>
            </a:r>
            <a:r>
              <a:rPr lang="en-US" spc="515" dirty="0">
                <a:cs typeface="Calibri"/>
              </a:rPr>
              <a:t> </a:t>
            </a:r>
            <a:r>
              <a:rPr lang="en-US" spc="150" dirty="0">
                <a:cs typeface="Calibri"/>
              </a:rPr>
              <a:t>gathered</a:t>
            </a:r>
            <a:r>
              <a:rPr lang="en-US" spc="530" dirty="0">
                <a:cs typeface="Calibri"/>
              </a:rPr>
              <a:t> </a:t>
            </a:r>
            <a:r>
              <a:rPr lang="en-US" spc="90" dirty="0">
                <a:cs typeface="Calibri"/>
              </a:rPr>
              <a:t>by</a:t>
            </a:r>
            <a:r>
              <a:rPr lang="en-US" spc="409" dirty="0">
                <a:cs typeface="Calibri"/>
              </a:rPr>
              <a:t> </a:t>
            </a:r>
            <a:r>
              <a:rPr lang="en-US" spc="160" dirty="0">
                <a:cs typeface="Calibri"/>
              </a:rPr>
              <a:t>sampling.</a:t>
            </a:r>
            <a:endParaRPr lang="en-US" dirty="0">
              <a:cs typeface="Calibri"/>
            </a:endParaRPr>
          </a:p>
          <a:p>
            <a:pPr marL="12700">
              <a:spcBef>
                <a:spcPts val="600"/>
              </a:spcBef>
              <a:spcAft>
                <a:spcPts val="600"/>
              </a:spcAft>
              <a:tabLst>
                <a:tab pos="299085" algn="l"/>
              </a:tabLst>
            </a:pPr>
            <a:endParaRPr lang="en-US" dirty="0">
              <a:cs typeface="Calibri"/>
            </a:endParaRPr>
          </a:p>
          <a:p>
            <a:endParaRPr lang="en-IN" dirty="0"/>
          </a:p>
        </p:txBody>
      </p:sp>
    </p:spTree>
    <p:extLst>
      <p:ext uri="{BB962C8B-B14F-4D97-AF65-F5344CB8AC3E}">
        <p14:creationId xmlns:p14="http://schemas.microsoft.com/office/powerpoint/2010/main" val="23534082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532572"/>
            <a:ext cx="8229600" cy="2757421"/>
          </a:xfrm>
          <a:prstGeom prst="rect">
            <a:avLst/>
          </a:prstGeom>
        </p:spPr>
        <p:txBody>
          <a:bodyPr vert="horz" wrap="square" lIns="0" tIns="495553" rIns="0" bIns="0" rtlCol="0">
            <a:spAutoFit/>
          </a:bodyPr>
          <a:lstStyle/>
          <a:p>
            <a:pPr marL="4704080" marR="5080">
              <a:lnSpc>
                <a:spcPts val="4440"/>
              </a:lnSpc>
              <a:spcBef>
                <a:spcPts val="655"/>
              </a:spcBef>
            </a:pPr>
            <a:r>
              <a:rPr sz="4100" spc="-5" dirty="0">
                <a:solidFill>
                  <a:srgbClr val="000000"/>
                </a:solidFill>
                <a:latin typeface="Calibri Light"/>
                <a:cs typeface="Calibri Light"/>
              </a:rPr>
              <a:t>Descriptive</a:t>
            </a:r>
            <a:r>
              <a:rPr sz="4100" spc="-90" dirty="0">
                <a:solidFill>
                  <a:srgbClr val="000000"/>
                </a:solidFill>
                <a:latin typeface="Calibri Light"/>
                <a:cs typeface="Calibri Light"/>
              </a:rPr>
              <a:t> </a:t>
            </a:r>
            <a:r>
              <a:rPr sz="4100" spc="-20" dirty="0">
                <a:solidFill>
                  <a:srgbClr val="000000"/>
                </a:solidFill>
                <a:latin typeface="Calibri Light"/>
                <a:cs typeface="Calibri Light"/>
              </a:rPr>
              <a:t>Statistics</a:t>
            </a:r>
            <a:r>
              <a:rPr sz="4100" spc="-35" dirty="0">
                <a:solidFill>
                  <a:srgbClr val="000000"/>
                </a:solidFill>
                <a:latin typeface="Calibri Light"/>
                <a:cs typeface="Calibri Light"/>
              </a:rPr>
              <a:t> for </a:t>
            </a:r>
            <a:r>
              <a:rPr sz="4100" spc="-915" dirty="0">
                <a:solidFill>
                  <a:srgbClr val="000000"/>
                </a:solidFill>
                <a:latin typeface="Calibri Light"/>
                <a:cs typeface="Calibri Light"/>
              </a:rPr>
              <a:t> </a:t>
            </a:r>
            <a:r>
              <a:rPr sz="4100" spc="-5" dirty="0">
                <a:solidFill>
                  <a:srgbClr val="000000"/>
                </a:solidFill>
                <a:latin typeface="Calibri Light"/>
                <a:cs typeface="Calibri Light"/>
              </a:rPr>
              <a:t>Continuous</a:t>
            </a:r>
            <a:r>
              <a:rPr sz="4100" spc="-55" dirty="0">
                <a:solidFill>
                  <a:srgbClr val="000000"/>
                </a:solidFill>
                <a:latin typeface="Calibri Light"/>
                <a:cs typeface="Calibri Light"/>
              </a:rPr>
              <a:t> </a:t>
            </a:r>
            <a:r>
              <a:rPr sz="4100" spc="-30" dirty="0">
                <a:solidFill>
                  <a:srgbClr val="000000"/>
                </a:solidFill>
                <a:latin typeface="Calibri Light"/>
                <a:cs typeface="Calibri Light"/>
              </a:rPr>
              <a:t>Variables</a:t>
            </a:r>
            <a:endParaRPr sz="4100" dirty="0">
              <a:latin typeface="Calibri Light"/>
              <a:cs typeface="Calibri Light"/>
            </a:endParaRPr>
          </a:p>
        </p:txBody>
      </p:sp>
      <p:sp>
        <p:nvSpPr>
          <p:cNvPr id="3" name="object 3"/>
          <p:cNvSpPr txBox="1"/>
          <p:nvPr/>
        </p:nvSpPr>
        <p:spPr>
          <a:xfrm>
            <a:off x="3154489" y="2225421"/>
            <a:ext cx="5755005" cy="6564618"/>
          </a:xfrm>
          <a:prstGeom prst="rect">
            <a:avLst/>
          </a:prstGeom>
        </p:spPr>
        <p:txBody>
          <a:bodyPr vert="horz" wrap="square" lIns="0" tIns="11430" rIns="0" bIns="0" rtlCol="0">
            <a:spAutoFit/>
          </a:bodyPr>
          <a:lstStyle/>
          <a:p>
            <a:pPr marL="241300" indent="-228600">
              <a:lnSpc>
                <a:spcPts val="2280"/>
              </a:lnSpc>
              <a:spcBef>
                <a:spcPts val="90"/>
              </a:spcBef>
              <a:buFont typeface="Arial MT"/>
              <a:buChar char="•"/>
              <a:tabLst>
                <a:tab pos="240665" algn="l"/>
                <a:tab pos="241300" algn="l"/>
              </a:tabLst>
            </a:pPr>
            <a:r>
              <a:rPr sz="2000" spc="-5" dirty="0">
                <a:latin typeface="Calibri"/>
                <a:cs typeface="Calibri"/>
              </a:rPr>
              <a:t>When</a:t>
            </a:r>
            <a:r>
              <a:rPr sz="2000" spc="20" dirty="0">
                <a:latin typeface="Calibri"/>
                <a:cs typeface="Calibri"/>
              </a:rPr>
              <a:t> </a:t>
            </a:r>
            <a:r>
              <a:rPr sz="2000" spc="-10" dirty="0">
                <a:latin typeface="Calibri"/>
                <a:cs typeface="Calibri"/>
              </a:rPr>
              <a:t>summarizing</a:t>
            </a:r>
            <a:r>
              <a:rPr sz="2000" spc="60" dirty="0">
                <a:latin typeface="Calibri"/>
                <a:cs typeface="Calibri"/>
              </a:rPr>
              <a:t> </a:t>
            </a:r>
            <a:r>
              <a:rPr sz="2000" spc="-5" dirty="0">
                <a:latin typeface="Calibri"/>
                <a:cs typeface="Calibri"/>
              </a:rPr>
              <a:t>a</a:t>
            </a:r>
            <a:r>
              <a:rPr sz="2000" spc="40" dirty="0">
                <a:latin typeface="Calibri"/>
                <a:cs typeface="Calibri"/>
              </a:rPr>
              <a:t> </a:t>
            </a:r>
            <a:r>
              <a:rPr sz="2000" b="1" spc="-15" dirty="0">
                <a:latin typeface="Calibri"/>
                <a:cs typeface="Calibri"/>
              </a:rPr>
              <a:t>quantitative</a:t>
            </a:r>
            <a:r>
              <a:rPr sz="2000" b="1" spc="15" dirty="0">
                <a:latin typeface="Calibri"/>
                <a:cs typeface="Calibri"/>
              </a:rPr>
              <a:t> </a:t>
            </a:r>
            <a:r>
              <a:rPr sz="2000" b="1" spc="-10" dirty="0">
                <a:latin typeface="Calibri"/>
                <a:cs typeface="Calibri"/>
              </a:rPr>
              <a:t>(continuous/interval/ratio)</a:t>
            </a:r>
            <a:r>
              <a:rPr sz="2000" b="1" dirty="0">
                <a:latin typeface="Calibri"/>
                <a:cs typeface="Calibri"/>
              </a:rPr>
              <a:t> </a:t>
            </a:r>
            <a:r>
              <a:rPr sz="2000" b="1" spc="-10" dirty="0">
                <a:latin typeface="Calibri"/>
                <a:cs typeface="Calibri"/>
              </a:rPr>
              <a:t>variable,</a:t>
            </a:r>
            <a:endParaRPr sz="2000" dirty="0">
              <a:latin typeface="Calibri"/>
              <a:cs typeface="Calibri"/>
            </a:endParaRPr>
          </a:p>
          <a:p>
            <a:pPr marL="241300">
              <a:lnSpc>
                <a:spcPts val="2280"/>
              </a:lnSpc>
            </a:pPr>
            <a:r>
              <a:rPr sz="2000" spc="-25" dirty="0">
                <a:latin typeface="Calibri"/>
                <a:cs typeface="Calibri"/>
              </a:rPr>
              <a:t>we</a:t>
            </a:r>
            <a:r>
              <a:rPr sz="2000" spc="10" dirty="0">
                <a:latin typeface="Calibri"/>
                <a:cs typeface="Calibri"/>
              </a:rPr>
              <a:t> </a:t>
            </a:r>
            <a:r>
              <a:rPr sz="2000" spc="-10" dirty="0">
                <a:latin typeface="Calibri"/>
                <a:cs typeface="Calibri"/>
              </a:rPr>
              <a:t>are</a:t>
            </a:r>
            <a:r>
              <a:rPr sz="2000" spc="10" dirty="0">
                <a:latin typeface="Calibri"/>
                <a:cs typeface="Calibri"/>
              </a:rPr>
              <a:t> </a:t>
            </a:r>
            <a:r>
              <a:rPr sz="2000" spc="-5" dirty="0">
                <a:latin typeface="Calibri"/>
                <a:cs typeface="Calibri"/>
              </a:rPr>
              <a:t>typically </a:t>
            </a:r>
            <a:r>
              <a:rPr sz="2000" spc="-20" dirty="0">
                <a:latin typeface="Calibri"/>
                <a:cs typeface="Calibri"/>
              </a:rPr>
              <a:t>interested</a:t>
            </a:r>
            <a:r>
              <a:rPr sz="2000" spc="70" dirty="0">
                <a:latin typeface="Calibri"/>
                <a:cs typeface="Calibri"/>
              </a:rPr>
              <a:t> </a:t>
            </a:r>
            <a:r>
              <a:rPr sz="2000" spc="-5" dirty="0">
                <a:latin typeface="Calibri"/>
                <a:cs typeface="Calibri"/>
              </a:rPr>
              <a:t>in </a:t>
            </a:r>
            <a:r>
              <a:rPr sz="2000" dirty="0">
                <a:latin typeface="Calibri"/>
                <a:cs typeface="Calibri"/>
              </a:rPr>
              <a:t>things</a:t>
            </a:r>
            <a:r>
              <a:rPr sz="2000" spc="-25" dirty="0">
                <a:latin typeface="Calibri"/>
                <a:cs typeface="Calibri"/>
              </a:rPr>
              <a:t> </a:t>
            </a:r>
            <a:r>
              <a:rPr sz="2000" spc="-20" dirty="0">
                <a:latin typeface="Calibri"/>
                <a:cs typeface="Calibri"/>
              </a:rPr>
              <a:t>like:</a:t>
            </a:r>
            <a:endParaRPr sz="2000" dirty="0">
              <a:latin typeface="Calibri"/>
              <a:cs typeface="Calibri"/>
            </a:endParaRPr>
          </a:p>
          <a:p>
            <a:pPr marL="241300" indent="-228600">
              <a:lnSpc>
                <a:spcPct val="100000"/>
              </a:lnSpc>
              <a:spcBef>
                <a:spcPts val="770"/>
              </a:spcBef>
              <a:buFont typeface="Wingdings"/>
              <a:buChar char=""/>
              <a:tabLst>
                <a:tab pos="241300" algn="l"/>
              </a:tabLst>
            </a:pPr>
            <a:r>
              <a:rPr sz="2000" spc="-5" dirty="0">
                <a:latin typeface="Calibri"/>
                <a:cs typeface="Calibri"/>
              </a:rPr>
              <a:t>How</a:t>
            </a:r>
            <a:r>
              <a:rPr sz="2000" spc="-25" dirty="0">
                <a:latin typeface="Calibri"/>
                <a:cs typeface="Calibri"/>
              </a:rPr>
              <a:t> </a:t>
            </a:r>
            <a:r>
              <a:rPr sz="2000" spc="-15" dirty="0">
                <a:latin typeface="Calibri"/>
                <a:cs typeface="Calibri"/>
              </a:rPr>
              <a:t>many</a:t>
            </a:r>
            <a:r>
              <a:rPr sz="2000" spc="5" dirty="0">
                <a:latin typeface="Calibri"/>
                <a:cs typeface="Calibri"/>
              </a:rPr>
              <a:t> </a:t>
            </a:r>
            <a:r>
              <a:rPr sz="2000" b="1" spc="-5" dirty="0">
                <a:solidFill>
                  <a:srgbClr val="C00000"/>
                </a:solidFill>
                <a:latin typeface="Calibri"/>
                <a:cs typeface="Calibri"/>
              </a:rPr>
              <a:t>observations</a:t>
            </a:r>
            <a:r>
              <a:rPr sz="2000" b="1" spc="-25" dirty="0">
                <a:solidFill>
                  <a:srgbClr val="C00000"/>
                </a:solidFill>
                <a:latin typeface="Calibri"/>
                <a:cs typeface="Calibri"/>
              </a:rPr>
              <a:t> </a:t>
            </a:r>
            <a:r>
              <a:rPr sz="2000" spc="-25" dirty="0">
                <a:latin typeface="Calibri"/>
                <a:cs typeface="Calibri"/>
              </a:rPr>
              <a:t>were</a:t>
            </a:r>
            <a:r>
              <a:rPr sz="2000" spc="30" dirty="0">
                <a:latin typeface="Calibri"/>
                <a:cs typeface="Calibri"/>
              </a:rPr>
              <a:t> </a:t>
            </a:r>
            <a:r>
              <a:rPr sz="2000" spc="-10" dirty="0">
                <a:latin typeface="Calibri"/>
                <a:cs typeface="Calibri"/>
              </a:rPr>
              <a:t>there?</a:t>
            </a:r>
            <a:endParaRPr sz="2000" dirty="0">
              <a:latin typeface="Calibri"/>
              <a:cs typeface="Calibri"/>
            </a:endParaRPr>
          </a:p>
          <a:p>
            <a:pPr marL="241300" indent="-228600">
              <a:lnSpc>
                <a:spcPct val="100000"/>
              </a:lnSpc>
              <a:spcBef>
                <a:spcPts val="750"/>
              </a:spcBef>
              <a:buFont typeface="Wingdings"/>
              <a:buChar char=""/>
              <a:tabLst>
                <a:tab pos="241300" algn="l"/>
              </a:tabLst>
            </a:pPr>
            <a:r>
              <a:rPr sz="2000" spc="-5" dirty="0">
                <a:latin typeface="Calibri"/>
                <a:cs typeface="Calibri"/>
              </a:rPr>
              <a:t>How</a:t>
            </a:r>
            <a:r>
              <a:rPr sz="2000" spc="-10" dirty="0">
                <a:latin typeface="Calibri"/>
                <a:cs typeface="Calibri"/>
              </a:rPr>
              <a:t> </a:t>
            </a:r>
            <a:r>
              <a:rPr sz="2000" spc="-15" dirty="0">
                <a:latin typeface="Calibri"/>
                <a:cs typeface="Calibri"/>
              </a:rPr>
              <a:t>many</a:t>
            </a:r>
            <a:r>
              <a:rPr sz="2000" spc="5" dirty="0">
                <a:latin typeface="Calibri"/>
                <a:cs typeface="Calibri"/>
              </a:rPr>
              <a:t> </a:t>
            </a:r>
            <a:r>
              <a:rPr sz="2000" spc="-15" dirty="0">
                <a:latin typeface="Calibri"/>
                <a:cs typeface="Calibri"/>
              </a:rPr>
              <a:t>cases</a:t>
            </a:r>
            <a:r>
              <a:rPr sz="2000" spc="60" dirty="0">
                <a:latin typeface="Calibri"/>
                <a:cs typeface="Calibri"/>
              </a:rPr>
              <a:t> </a:t>
            </a:r>
            <a:r>
              <a:rPr sz="2000" spc="-5" dirty="0">
                <a:latin typeface="Calibri"/>
                <a:cs typeface="Calibri"/>
              </a:rPr>
              <a:t>had</a:t>
            </a:r>
            <a:r>
              <a:rPr sz="2000" spc="5" dirty="0">
                <a:latin typeface="Calibri"/>
                <a:cs typeface="Calibri"/>
              </a:rPr>
              <a:t> </a:t>
            </a:r>
            <a:r>
              <a:rPr sz="2000" b="1" spc="-10" dirty="0">
                <a:solidFill>
                  <a:srgbClr val="C00000"/>
                </a:solidFill>
                <a:latin typeface="Calibri"/>
                <a:cs typeface="Calibri"/>
              </a:rPr>
              <a:t>missing</a:t>
            </a:r>
            <a:r>
              <a:rPr sz="2000" b="1" spc="15" dirty="0">
                <a:solidFill>
                  <a:srgbClr val="C00000"/>
                </a:solidFill>
                <a:latin typeface="Calibri"/>
                <a:cs typeface="Calibri"/>
              </a:rPr>
              <a:t> </a:t>
            </a:r>
            <a:r>
              <a:rPr sz="2000" b="1" spc="-10" dirty="0">
                <a:solidFill>
                  <a:srgbClr val="C00000"/>
                </a:solidFill>
                <a:latin typeface="Calibri"/>
                <a:cs typeface="Calibri"/>
              </a:rPr>
              <a:t>values</a:t>
            </a:r>
            <a:r>
              <a:rPr sz="2000" spc="-10" dirty="0">
                <a:latin typeface="Calibri"/>
                <a:cs typeface="Calibri"/>
              </a:rPr>
              <a:t>?</a:t>
            </a:r>
            <a:r>
              <a:rPr sz="2000" spc="35" dirty="0">
                <a:latin typeface="Calibri"/>
                <a:cs typeface="Calibri"/>
              </a:rPr>
              <a:t> </a:t>
            </a:r>
            <a:r>
              <a:rPr sz="2000" spc="-10" dirty="0">
                <a:latin typeface="Calibri"/>
                <a:cs typeface="Calibri"/>
              </a:rPr>
              <a:t>(</a:t>
            </a:r>
            <a:r>
              <a:rPr sz="2000" b="1" spc="-10" dirty="0">
                <a:latin typeface="Calibri"/>
                <a:cs typeface="Calibri"/>
              </a:rPr>
              <a:t>N</a:t>
            </a:r>
            <a:r>
              <a:rPr sz="2000" b="1" dirty="0">
                <a:latin typeface="Calibri"/>
                <a:cs typeface="Calibri"/>
              </a:rPr>
              <a:t> </a:t>
            </a:r>
            <a:r>
              <a:rPr sz="2000" b="1" spc="-10" dirty="0">
                <a:latin typeface="Calibri"/>
                <a:cs typeface="Calibri"/>
              </a:rPr>
              <a:t>valid;</a:t>
            </a:r>
            <a:r>
              <a:rPr sz="2000" b="1" dirty="0">
                <a:latin typeface="Calibri"/>
                <a:cs typeface="Calibri"/>
              </a:rPr>
              <a:t> </a:t>
            </a:r>
            <a:r>
              <a:rPr sz="2000" b="1" spc="-10" dirty="0">
                <a:latin typeface="Calibri"/>
                <a:cs typeface="Calibri"/>
              </a:rPr>
              <a:t>N</a:t>
            </a:r>
            <a:r>
              <a:rPr sz="2000" b="1" dirty="0">
                <a:latin typeface="Calibri"/>
                <a:cs typeface="Calibri"/>
              </a:rPr>
              <a:t> </a:t>
            </a:r>
            <a:r>
              <a:rPr sz="2000" b="1" spc="-5" dirty="0">
                <a:latin typeface="Calibri"/>
                <a:cs typeface="Calibri"/>
              </a:rPr>
              <a:t>missin</a:t>
            </a:r>
            <a:r>
              <a:rPr sz="2000" spc="-5" dirty="0">
                <a:latin typeface="Calibri"/>
                <a:cs typeface="Calibri"/>
              </a:rPr>
              <a:t>g)</a:t>
            </a:r>
            <a:endParaRPr sz="2000" dirty="0">
              <a:latin typeface="Calibri"/>
              <a:cs typeface="Calibri"/>
            </a:endParaRPr>
          </a:p>
          <a:p>
            <a:pPr marL="241300" indent="-228600">
              <a:lnSpc>
                <a:spcPct val="100000"/>
              </a:lnSpc>
              <a:spcBef>
                <a:spcPts val="765"/>
              </a:spcBef>
              <a:buFont typeface="Wingdings"/>
              <a:buChar char=""/>
              <a:tabLst>
                <a:tab pos="241300" algn="l"/>
              </a:tabLst>
            </a:pPr>
            <a:r>
              <a:rPr sz="2000" spc="-10" dirty="0">
                <a:latin typeface="Calibri"/>
                <a:cs typeface="Calibri"/>
              </a:rPr>
              <a:t>Where</a:t>
            </a:r>
            <a:r>
              <a:rPr sz="2000" spc="15" dirty="0">
                <a:latin typeface="Calibri"/>
                <a:cs typeface="Calibri"/>
              </a:rPr>
              <a:t> </a:t>
            </a:r>
            <a:r>
              <a:rPr sz="2000" spc="-5" dirty="0">
                <a:latin typeface="Calibri"/>
                <a:cs typeface="Calibri"/>
              </a:rPr>
              <a:t>is</a:t>
            </a:r>
            <a:r>
              <a:rPr sz="2000" spc="10" dirty="0">
                <a:latin typeface="Calibri"/>
                <a:cs typeface="Calibri"/>
              </a:rPr>
              <a:t> </a:t>
            </a:r>
            <a:r>
              <a:rPr sz="2000" spc="-5" dirty="0">
                <a:latin typeface="Calibri"/>
                <a:cs typeface="Calibri"/>
              </a:rPr>
              <a:t>the</a:t>
            </a:r>
            <a:r>
              <a:rPr sz="2000" spc="-10" dirty="0">
                <a:latin typeface="Calibri"/>
                <a:cs typeface="Calibri"/>
              </a:rPr>
              <a:t> </a:t>
            </a:r>
            <a:r>
              <a:rPr sz="2000" spc="-5" dirty="0">
                <a:latin typeface="Calibri"/>
                <a:cs typeface="Calibri"/>
              </a:rPr>
              <a:t>"</a:t>
            </a:r>
            <a:r>
              <a:rPr sz="2000" b="1" spc="-5" dirty="0">
                <a:solidFill>
                  <a:srgbClr val="C00000"/>
                </a:solidFill>
                <a:latin typeface="Calibri"/>
                <a:cs typeface="Calibri"/>
              </a:rPr>
              <a:t>center</a:t>
            </a:r>
            <a:r>
              <a:rPr sz="2000" spc="-5" dirty="0">
                <a:latin typeface="Calibri"/>
                <a:cs typeface="Calibri"/>
              </a:rPr>
              <a:t>"</a:t>
            </a:r>
            <a:r>
              <a:rPr sz="2000" spc="-10" dirty="0">
                <a:latin typeface="Calibri"/>
                <a:cs typeface="Calibri"/>
              </a:rPr>
              <a:t> </a:t>
            </a:r>
            <a:r>
              <a:rPr sz="2000" spc="-5" dirty="0">
                <a:latin typeface="Calibri"/>
                <a:cs typeface="Calibri"/>
              </a:rPr>
              <a:t>of</a:t>
            </a:r>
            <a:r>
              <a:rPr sz="2000" spc="-15" dirty="0">
                <a:latin typeface="Calibri"/>
                <a:cs typeface="Calibri"/>
              </a:rPr>
              <a:t> </a:t>
            </a:r>
            <a:r>
              <a:rPr sz="2000" spc="-5" dirty="0">
                <a:latin typeface="Calibri"/>
                <a:cs typeface="Calibri"/>
              </a:rPr>
              <a:t>the</a:t>
            </a:r>
            <a:r>
              <a:rPr sz="2000" spc="-10" dirty="0">
                <a:latin typeface="Calibri"/>
                <a:cs typeface="Calibri"/>
              </a:rPr>
              <a:t> data?</a:t>
            </a:r>
            <a:r>
              <a:rPr sz="2000" spc="25" dirty="0">
                <a:latin typeface="Calibri"/>
                <a:cs typeface="Calibri"/>
              </a:rPr>
              <a:t> </a:t>
            </a:r>
            <a:r>
              <a:rPr sz="2000" spc="-5" dirty="0">
                <a:latin typeface="Calibri"/>
                <a:cs typeface="Calibri"/>
              </a:rPr>
              <a:t>(</a:t>
            </a:r>
            <a:r>
              <a:rPr sz="2000" b="1" spc="-5" dirty="0">
                <a:latin typeface="Calibri"/>
                <a:cs typeface="Calibri"/>
              </a:rPr>
              <a:t>Mean,</a:t>
            </a:r>
            <a:r>
              <a:rPr sz="2000" b="1" spc="15" dirty="0">
                <a:latin typeface="Calibri"/>
                <a:cs typeface="Calibri"/>
              </a:rPr>
              <a:t> </a:t>
            </a:r>
            <a:r>
              <a:rPr sz="2000" b="1" spc="-5" dirty="0">
                <a:latin typeface="Calibri"/>
                <a:cs typeface="Calibri"/>
              </a:rPr>
              <a:t>median</a:t>
            </a:r>
            <a:r>
              <a:rPr sz="2000" spc="-5" dirty="0">
                <a:latin typeface="Calibri"/>
                <a:cs typeface="Calibri"/>
              </a:rPr>
              <a:t>)</a:t>
            </a:r>
            <a:endParaRPr sz="2000" dirty="0">
              <a:latin typeface="Calibri"/>
              <a:cs typeface="Calibri"/>
            </a:endParaRPr>
          </a:p>
          <a:p>
            <a:pPr marL="241300" indent="-228600">
              <a:lnSpc>
                <a:spcPct val="100000"/>
              </a:lnSpc>
              <a:spcBef>
                <a:spcPts val="770"/>
              </a:spcBef>
              <a:buFont typeface="Wingdings"/>
              <a:buChar char=""/>
              <a:tabLst>
                <a:tab pos="241300" algn="l"/>
              </a:tabLst>
            </a:pPr>
            <a:r>
              <a:rPr sz="2000" spc="-10" dirty="0">
                <a:latin typeface="Calibri"/>
                <a:cs typeface="Calibri"/>
              </a:rPr>
              <a:t>Where</a:t>
            </a:r>
            <a:r>
              <a:rPr sz="2000" spc="15" dirty="0">
                <a:latin typeface="Calibri"/>
                <a:cs typeface="Calibri"/>
              </a:rPr>
              <a:t> </a:t>
            </a:r>
            <a:r>
              <a:rPr sz="2000" spc="-10" dirty="0">
                <a:latin typeface="Calibri"/>
                <a:cs typeface="Calibri"/>
              </a:rPr>
              <a:t>are </a:t>
            </a:r>
            <a:r>
              <a:rPr sz="2000" dirty="0">
                <a:latin typeface="Calibri"/>
                <a:cs typeface="Calibri"/>
              </a:rPr>
              <a:t>the</a:t>
            </a:r>
            <a:r>
              <a:rPr sz="2000" spc="15" dirty="0">
                <a:latin typeface="Calibri"/>
                <a:cs typeface="Calibri"/>
              </a:rPr>
              <a:t> </a:t>
            </a:r>
            <a:r>
              <a:rPr sz="2000" spc="-5" dirty="0">
                <a:latin typeface="Calibri"/>
                <a:cs typeface="Calibri"/>
              </a:rPr>
              <a:t>"</a:t>
            </a:r>
            <a:r>
              <a:rPr sz="2000" b="1" spc="-5" dirty="0">
                <a:solidFill>
                  <a:srgbClr val="C00000"/>
                </a:solidFill>
                <a:latin typeface="Calibri"/>
                <a:cs typeface="Calibri"/>
              </a:rPr>
              <a:t>benchmarks</a:t>
            </a:r>
            <a:r>
              <a:rPr sz="2000" spc="-5" dirty="0">
                <a:latin typeface="Calibri"/>
                <a:cs typeface="Calibri"/>
              </a:rPr>
              <a:t>" </a:t>
            </a:r>
            <a:r>
              <a:rPr sz="2000" dirty="0">
                <a:latin typeface="Calibri"/>
                <a:cs typeface="Calibri"/>
              </a:rPr>
              <a:t>of</a:t>
            </a:r>
            <a:r>
              <a:rPr sz="2000" spc="-10" dirty="0">
                <a:latin typeface="Calibri"/>
                <a:cs typeface="Calibri"/>
              </a:rPr>
              <a:t> </a:t>
            </a:r>
            <a:r>
              <a:rPr sz="2000" dirty="0">
                <a:latin typeface="Calibri"/>
                <a:cs typeface="Calibri"/>
              </a:rPr>
              <a:t>the</a:t>
            </a:r>
            <a:r>
              <a:rPr sz="2000" spc="-10" dirty="0">
                <a:latin typeface="Calibri"/>
                <a:cs typeface="Calibri"/>
              </a:rPr>
              <a:t> data?</a:t>
            </a:r>
            <a:r>
              <a:rPr sz="2000" spc="20" dirty="0">
                <a:latin typeface="Calibri"/>
                <a:cs typeface="Calibri"/>
              </a:rPr>
              <a:t> </a:t>
            </a:r>
            <a:r>
              <a:rPr sz="2000" spc="-5" dirty="0">
                <a:latin typeface="Calibri"/>
                <a:cs typeface="Calibri"/>
              </a:rPr>
              <a:t>(</a:t>
            </a:r>
            <a:r>
              <a:rPr sz="2000" b="1" spc="-5" dirty="0">
                <a:latin typeface="Calibri"/>
                <a:cs typeface="Calibri"/>
              </a:rPr>
              <a:t>Quartiles,</a:t>
            </a:r>
            <a:r>
              <a:rPr sz="2000" b="1" spc="20" dirty="0">
                <a:latin typeface="Calibri"/>
                <a:cs typeface="Calibri"/>
              </a:rPr>
              <a:t> </a:t>
            </a:r>
            <a:r>
              <a:rPr sz="2000" b="1" spc="-10" dirty="0">
                <a:latin typeface="Calibri"/>
                <a:cs typeface="Calibri"/>
              </a:rPr>
              <a:t>percentiles</a:t>
            </a:r>
            <a:r>
              <a:rPr sz="2000" spc="-10" dirty="0">
                <a:latin typeface="Calibri"/>
                <a:cs typeface="Calibri"/>
              </a:rPr>
              <a:t>)</a:t>
            </a:r>
            <a:endParaRPr sz="2000" dirty="0">
              <a:latin typeface="Calibri"/>
              <a:cs typeface="Calibri"/>
            </a:endParaRPr>
          </a:p>
          <a:p>
            <a:pPr marL="241300" indent="-228600">
              <a:lnSpc>
                <a:spcPct val="100000"/>
              </a:lnSpc>
              <a:spcBef>
                <a:spcPts val="745"/>
              </a:spcBef>
              <a:buFont typeface="Wingdings"/>
              <a:buChar char=""/>
              <a:tabLst>
                <a:tab pos="241300" algn="l"/>
              </a:tabLst>
            </a:pPr>
            <a:r>
              <a:rPr sz="2000" spc="-5" dirty="0">
                <a:latin typeface="Calibri"/>
                <a:cs typeface="Calibri"/>
              </a:rPr>
              <a:t>How</a:t>
            </a:r>
            <a:r>
              <a:rPr sz="2000" dirty="0">
                <a:latin typeface="Calibri"/>
                <a:cs typeface="Calibri"/>
              </a:rPr>
              <a:t> </a:t>
            </a:r>
            <a:r>
              <a:rPr sz="2000" b="1" spc="-10" dirty="0">
                <a:solidFill>
                  <a:srgbClr val="C00000"/>
                </a:solidFill>
                <a:latin typeface="Calibri"/>
                <a:cs typeface="Calibri"/>
              </a:rPr>
              <a:t>spread</a:t>
            </a:r>
            <a:r>
              <a:rPr sz="2000" b="1" spc="-5" dirty="0">
                <a:solidFill>
                  <a:srgbClr val="C00000"/>
                </a:solidFill>
                <a:latin typeface="Calibri"/>
                <a:cs typeface="Calibri"/>
              </a:rPr>
              <a:t> </a:t>
            </a:r>
            <a:r>
              <a:rPr sz="2000" spc="-5" dirty="0">
                <a:latin typeface="Calibri"/>
                <a:cs typeface="Calibri"/>
              </a:rPr>
              <a:t>out</a:t>
            </a:r>
            <a:r>
              <a:rPr sz="2000" spc="5" dirty="0">
                <a:latin typeface="Calibri"/>
                <a:cs typeface="Calibri"/>
              </a:rPr>
              <a:t> </a:t>
            </a:r>
            <a:r>
              <a:rPr sz="2000" spc="-5" dirty="0">
                <a:latin typeface="Calibri"/>
                <a:cs typeface="Calibri"/>
              </a:rPr>
              <a:t>is</a:t>
            </a:r>
            <a:r>
              <a:rPr sz="2000" spc="10" dirty="0">
                <a:latin typeface="Calibri"/>
                <a:cs typeface="Calibri"/>
              </a:rPr>
              <a:t> </a:t>
            </a:r>
            <a:r>
              <a:rPr sz="2000" spc="-5" dirty="0">
                <a:latin typeface="Calibri"/>
                <a:cs typeface="Calibri"/>
              </a:rPr>
              <a:t>the</a:t>
            </a:r>
            <a:r>
              <a:rPr sz="2000" spc="-10" dirty="0">
                <a:latin typeface="Calibri"/>
                <a:cs typeface="Calibri"/>
              </a:rPr>
              <a:t> data?</a:t>
            </a:r>
            <a:r>
              <a:rPr sz="2000" spc="-5" dirty="0">
                <a:latin typeface="Calibri"/>
                <a:cs typeface="Calibri"/>
              </a:rPr>
              <a:t> </a:t>
            </a:r>
            <a:r>
              <a:rPr sz="2000" spc="-10" dirty="0">
                <a:latin typeface="Calibri"/>
                <a:cs typeface="Calibri"/>
              </a:rPr>
              <a:t>(</a:t>
            </a:r>
            <a:r>
              <a:rPr sz="2000" b="1" spc="-10" dirty="0">
                <a:latin typeface="Calibri"/>
                <a:cs typeface="Calibri"/>
              </a:rPr>
              <a:t>Standard</a:t>
            </a:r>
            <a:r>
              <a:rPr sz="2000" b="1" spc="5" dirty="0">
                <a:latin typeface="Calibri"/>
                <a:cs typeface="Calibri"/>
              </a:rPr>
              <a:t> </a:t>
            </a:r>
            <a:r>
              <a:rPr sz="2000" b="1" spc="-5" dirty="0">
                <a:latin typeface="Calibri"/>
                <a:cs typeface="Calibri"/>
              </a:rPr>
              <a:t>deviation/variance</a:t>
            </a:r>
            <a:r>
              <a:rPr sz="2000" spc="-5" dirty="0">
                <a:latin typeface="Calibri"/>
                <a:cs typeface="Calibri"/>
              </a:rPr>
              <a:t>)</a:t>
            </a:r>
            <a:endParaRPr sz="2000" dirty="0">
              <a:latin typeface="Calibri"/>
              <a:cs typeface="Calibri"/>
            </a:endParaRPr>
          </a:p>
          <a:p>
            <a:pPr marL="241300" indent="-228600">
              <a:lnSpc>
                <a:spcPct val="100000"/>
              </a:lnSpc>
              <a:spcBef>
                <a:spcPts val="770"/>
              </a:spcBef>
              <a:buFont typeface="Wingdings"/>
              <a:buChar char=""/>
              <a:tabLst>
                <a:tab pos="241300" algn="l"/>
              </a:tabLst>
            </a:pPr>
            <a:r>
              <a:rPr sz="2000" spc="-10" dirty="0">
                <a:latin typeface="Calibri"/>
                <a:cs typeface="Calibri"/>
              </a:rPr>
              <a:t>What</a:t>
            </a:r>
            <a:r>
              <a:rPr sz="2000" spc="5" dirty="0">
                <a:latin typeface="Calibri"/>
                <a:cs typeface="Calibri"/>
              </a:rPr>
              <a:t> </a:t>
            </a:r>
            <a:r>
              <a:rPr sz="2000" spc="-10" dirty="0">
                <a:latin typeface="Calibri"/>
                <a:cs typeface="Calibri"/>
              </a:rPr>
              <a:t>are</a:t>
            </a:r>
            <a:r>
              <a:rPr sz="2000" spc="15" dirty="0">
                <a:latin typeface="Calibri"/>
                <a:cs typeface="Calibri"/>
              </a:rPr>
              <a:t> </a:t>
            </a:r>
            <a:r>
              <a:rPr sz="2000" dirty="0">
                <a:latin typeface="Calibri"/>
                <a:cs typeface="Calibri"/>
              </a:rPr>
              <a:t>the</a:t>
            </a:r>
            <a:r>
              <a:rPr sz="2000" spc="5" dirty="0">
                <a:latin typeface="Calibri"/>
                <a:cs typeface="Calibri"/>
              </a:rPr>
              <a:t> </a:t>
            </a:r>
            <a:r>
              <a:rPr sz="2000" b="1" spc="-10" dirty="0">
                <a:solidFill>
                  <a:srgbClr val="C00000"/>
                </a:solidFill>
                <a:latin typeface="Calibri"/>
                <a:cs typeface="Calibri"/>
              </a:rPr>
              <a:t>extremes</a:t>
            </a:r>
            <a:r>
              <a:rPr sz="2000" b="1" spc="10" dirty="0">
                <a:solidFill>
                  <a:srgbClr val="C00000"/>
                </a:solidFill>
                <a:latin typeface="Calibri"/>
                <a:cs typeface="Calibri"/>
              </a:rPr>
              <a:t> </a:t>
            </a:r>
            <a:r>
              <a:rPr sz="2000" spc="-5" dirty="0">
                <a:latin typeface="Calibri"/>
                <a:cs typeface="Calibri"/>
              </a:rPr>
              <a:t>of </a:t>
            </a:r>
            <a:r>
              <a:rPr sz="2000" dirty="0">
                <a:latin typeface="Calibri"/>
                <a:cs typeface="Calibri"/>
              </a:rPr>
              <a:t>the</a:t>
            </a:r>
            <a:r>
              <a:rPr sz="2000" spc="-15" dirty="0">
                <a:latin typeface="Calibri"/>
                <a:cs typeface="Calibri"/>
              </a:rPr>
              <a:t> </a:t>
            </a:r>
            <a:r>
              <a:rPr sz="2000" spc="-10" dirty="0">
                <a:latin typeface="Calibri"/>
                <a:cs typeface="Calibri"/>
              </a:rPr>
              <a:t>data?</a:t>
            </a:r>
            <a:r>
              <a:rPr sz="2000" spc="20" dirty="0">
                <a:latin typeface="Calibri"/>
                <a:cs typeface="Calibri"/>
              </a:rPr>
              <a:t> </a:t>
            </a:r>
            <a:r>
              <a:rPr sz="2000" spc="-5" dirty="0">
                <a:latin typeface="Calibri"/>
                <a:cs typeface="Calibri"/>
              </a:rPr>
              <a:t>(</a:t>
            </a:r>
            <a:r>
              <a:rPr sz="2000" b="1" spc="-5" dirty="0">
                <a:latin typeface="Calibri"/>
                <a:cs typeface="Calibri"/>
              </a:rPr>
              <a:t>Minimum,</a:t>
            </a:r>
            <a:r>
              <a:rPr sz="2000" b="1" spc="-15" dirty="0">
                <a:latin typeface="Calibri"/>
                <a:cs typeface="Calibri"/>
              </a:rPr>
              <a:t> </a:t>
            </a:r>
            <a:r>
              <a:rPr sz="2000" b="1" spc="-10" dirty="0">
                <a:latin typeface="Calibri"/>
                <a:cs typeface="Calibri"/>
              </a:rPr>
              <a:t>maximum;</a:t>
            </a:r>
            <a:r>
              <a:rPr sz="2000" b="1" dirty="0">
                <a:latin typeface="Calibri"/>
                <a:cs typeface="Calibri"/>
              </a:rPr>
              <a:t> </a:t>
            </a:r>
            <a:r>
              <a:rPr sz="2000" b="1" spc="-5" dirty="0">
                <a:latin typeface="Calibri"/>
                <a:cs typeface="Calibri"/>
              </a:rPr>
              <a:t>Outliers</a:t>
            </a:r>
            <a:r>
              <a:rPr sz="2000" spc="-5" dirty="0">
                <a:latin typeface="Calibri"/>
                <a:cs typeface="Calibri"/>
              </a:rPr>
              <a:t>)</a:t>
            </a:r>
            <a:endParaRPr sz="2000" dirty="0">
              <a:latin typeface="Calibri"/>
              <a:cs typeface="Calibri"/>
            </a:endParaRPr>
          </a:p>
          <a:p>
            <a:pPr marL="241300" indent="-228600">
              <a:lnSpc>
                <a:spcPct val="100000"/>
              </a:lnSpc>
              <a:spcBef>
                <a:spcPts val="770"/>
              </a:spcBef>
              <a:buFont typeface="Wingdings"/>
              <a:buChar char=""/>
              <a:tabLst>
                <a:tab pos="241300" algn="l"/>
              </a:tabLst>
            </a:pPr>
            <a:r>
              <a:rPr sz="2000" spc="-10" dirty="0">
                <a:latin typeface="Calibri"/>
                <a:cs typeface="Calibri"/>
              </a:rPr>
              <a:t>What</a:t>
            </a:r>
            <a:r>
              <a:rPr sz="2000" spc="10" dirty="0">
                <a:latin typeface="Calibri"/>
                <a:cs typeface="Calibri"/>
              </a:rPr>
              <a:t> </a:t>
            </a:r>
            <a:r>
              <a:rPr sz="2000" spc="-5" dirty="0">
                <a:latin typeface="Calibri"/>
                <a:cs typeface="Calibri"/>
              </a:rPr>
              <a:t>is</a:t>
            </a:r>
            <a:r>
              <a:rPr sz="2000" spc="15" dirty="0">
                <a:latin typeface="Calibri"/>
                <a:cs typeface="Calibri"/>
              </a:rPr>
              <a:t> </a:t>
            </a:r>
            <a:r>
              <a:rPr sz="2000" spc="-5" dirty="0">
                <a:latin typeface="Calibri"/>
                <a:cs typeface="Calibri"/>
              </a:rPr>
              <a:t>the "</a:t>
            </a:r>
            <a:r>
              <a:rPr sz="2000" b="1" spc="-5" dirty="0">
                <a:solidFill>
                  <a:srgbClr val="C00000"/>
                </a:solidFill>
                <a:latin typeface="Calibri"/>
                <a:cs typeface="Calibri"/>
              </a:rPr>
              <a:t>shape</a:t>
            </a:r>
            <a:r>
              <a:rPr sz="2000" spc="-5" dirty="0">
                <a:latin typeface="Calibri"/>
                <a:cs typeface="Calibri"/>
              </a:rPr>
              <a:t>"</a:t>
            </a:r>
            <a:r>
              <a:rPr sz="2000" spc="25" dirty="0">
                <a:latin typeface="Calibri"/>
                <a:cs typeface="Calibri"/>
              </a:rPr>
              <a:t> </a:t>
            </a:r>
            <a:r>
              <a:rPr sz="2000" spc="-5" dirty="0">
                <a:latin typeface="Calibri"/>
                <a:cs typeface="Calibri"/>
              </a:rPr>
              <a:t>of</a:t>
            </a:r>
            <a:r>
              <a:rPr sz="2000" spc="-10" dirty="0">
                <a:latin typeface="Calibri"/>
                <a:cs typeface="Calibri"/>
              </a:rPr>
              <a:t> </a:t>
            </a:r>
            <a:r>
              <a:rPr sz="2000" spc="-5" dirty="0">
                <a:latin typeface="Calibri"/>
                <a:cs typeface="Calibri"/>
              </a:rPr>
              <a:t>the</a:t>
            </a:r>
            <a:r>
              <a:rPr sz="2000" spc="10" dirty="0">
                <a:latin typeface="Calibri"/>
                <a:cs typeface="Calibri"/>
              </a:rPr>
              <a:t> </a:t>
            </a:r>
            <a:r>
              <a:rPr sz="2000" b="1" spc="-5" dirty="0">
                <a:solidFill>
                  <a:srgbClr val="C00000"/>
                </a:solidFill>
                <a:latin typeface="Calibri"/>
                <a:cs typeface="Calibri"/>
              </a:rPr>
              <a:t>distribution</a:t>
            </a:r>
            <a:r>
              <a:rPr sz="2000" spc="-5" dirty="0">
                <a:latin typeface="Calibri"/>
                <a:cs typeface="Calibri"/>
              </a:rPr>
              <a:t>?</a:t>
            </a:r>
            <a:r>
              <a:rPr sz="2000" spc="-10" dirty="0">
                <a:latin typeface="Calibri"/>
                <a:cs typeface="Calibri"/>
              </a:rPr>
              <a:t> </a:t>
            </a:r>
            <a:r>
              <a:rPr sz="2000" spc="-5" dirty="0">
                <a:latin typeface="Calibri"/>
                <a:cs typeface="Calibri"/>
              </a:rPr>
              <a:t>Is it</a:t>
            </a:r>
            <a:r>
              <a:rPr sz="2000" spc="15" dirty="0">
                <a:latin typeface="Calibri"/>
                <a:cs typeface="Calibri"/>
              </a:rPr>
              <a:t> </a:t>
            </a:r>
            <a:r>
              <a:rPr sz="2000" b="1" spc="-10" dirty="0">
                <a:latin typeface="Calibri"/>
                <a:cs typeface="Calibri"/>
              </a:rPr>
              <a:t>symmetric</a:t>
            </a:r>
            <a:r>
              <a:rPr sz="2000" b="1" spc="20" dirty="0">
                <a:latin typeface="Calibri"/>
                <a:cs typeface="Calibri"/>
              </a:rPr>
              <a:t> </a:t>
            </a:r>
            <a:r>
              <a:rPr sz="2000" spc="-5" dirty="0">
                <a:latin typeface="Calibri"/>
                <a:cs typeface="Calibri"/>
              </a:rPr>
              <a:t>or</a:t>
            </a:r>
            <a:r>
              <a:rPr sz="2000" spc="10" dirty="0">
                <a:latin typeface="Calibri"/>
                <a:cs typeface="Calibri"/>
              </a:rPr>
              <a:t> </a:t>
            </a:r>
            <a:r>
              <a:rPr sz="2000" b="1" spc="-10" dirty="0">
                <a:latin typeface="Calibri"/>
                <a:cs typeface="Calibri"/>
              </a:rPr>
              <a:t>asymmetric</a:t>
            </a:r>
            <a:r>
              <a:rPr sz="2000" spc="-10" dirty="0">
                <a:latin typeface="Calibri"/>
                <a:cs typeface="Calibri"/>
              </a:rPr>
              <a:t>?</a:t>
            </a:r>
            <a:endParaRPr sz="2000" dirty="0">
              <a:latin typeface="Calibri"/>
              <a:cs typeface="Calibri"/>
            </a:endParaRPr>
          </a:p>
          <a:p>
            <a:pPr marL="241300" indent="-228600">
              <a:lnSpc>
                <a:spcPts val="2280"/>
              </a:lnSpc>
              <a:spcBef>
                <a:spcPts val="745"/>
              </a:spcBef>
              <a:buFont typeface="Wingdings"/>
              <a:buChar char=""/>
              <a:tabLst>
                <a:tab pos="241300" algn="l"/>
              </a:tabLst>
            </a:pPr>
            <a:r>
              <a:rPr sz="2000" spc="-15" dirty="0">
                <a:latin typeface="Calibri"/>
                <a:cs typeface="Calibri"/>
              </a:rPr>
              <a:t>Are</a:t>
            </a:r>
            <a:r>
              <a:rPr sz="2000" spc="15" dirty="0">
                <a:latin typeface="Calibri"/>
                <a:cs typeface="Calibri"/>
              </a:rPr>
              <a:t> </a:t>
            </a:r>
            <a:r>
              <a:rPr sz="2000" dirty="0">
                <a:latin typeface="Calibri"/>
                <a:cs typeface="Calibri"/>
              </a:rPr>
              <a:t>the</a:t>
            </a:r>
            <a:r>
              <a:rPr sz="2000" spc="-15" dirty="0">
                <a:latin typeface="Calibri"/>
                <a:cs typeface="Calibri"/>
              </a:rPr>
              <a:t> </a:t>
            </a:r>
            <a:r>
              <a:rPr sz="2000" spc="-10" dirty="0">
                <a:latin typeface="Calibri"/>
                <a:cs typeface="Calibri"/>
              </a:rPr>
              <a:t>values</a:t>
            </a:r>
            <a:r>
              <a:rPr sz="2000" spc="50" dirty="0">
                <a:latin typeface="Calibri"/>
                <a:cs typeface="Calibri"/>
              </a:rPr>
              <a:t> </a:t>
            </a:r>
            <a:r>
              <a:rPr sz="2000" b="1" spc="-10" dirty="0">
                <a:solidFill>
                  <a:srgbClr val="C00000"/>
                </a:solidFill>
                <a:latin typeface="Calibri"/>
                <a:cs typeface="Calibri"/>
              </a:rPr>
              <a:t>mostly</a:t>
            </a:r>
            <a:r>
              <a:rPr sz="2000" b="1" spc="-15" dirty="0">
                <a:solidFill>
                  <a:srgbClr val="C00000"/>
                </a:solidFill>
                <a:latin typeface="Calibri"/>
                <a:cs typeface="Calibri"/>
              </a:rPr>
              <a:t> clustered</a:t>
            </a:r>
            <a:r>
              <a:rPr sz="2000" b="1" spc="10" dirty="0">
                <a:solidFill>
                  <a:srgbClr val="C00000"/>
                </a:solidFill>
                <a:latin typeface="Calibri"/>
                <a:cs typeface="Calibri"/>
              </a:rPr>
              <a:t> </a:t>
            </a:r>
            <a:r>
              <a:rPr sz="2000" b="1" dirty="0">
                <a:solidFill>
                  <a:srgbClr val="C00000"/>
                </a:solidFill>
                <a:latin typeface="Calibri"/>
                <a:cs typeface="Calibri"/>
              </a:rPr>
              <a:t>about</a:t>
            </a:r>
            <a:r>
              <a:rPr sz="2000" b="1" spc="-15" dirty="0">
                <a:solidFill>
                  <a:srgbClr val="C00000"/>
                </a:solidFill>
                <a:latin typeface="Calibri"/>
                <a:cs typeface="Calibri"/>
              </a:rPr>
              <a:t> </a:t>
            </a:r>
            <a:r>
              <a:rPr sz="2000" b="1" dirty="0">
                <a:solidFill>
                  <a:srgbClr val="C00000"/>
                </a:solidFill>
                <a:latin typeface="Calibri"/>
                <a:cs typeface="Calibri"/>
              </a:rPr>
              <a:t>the</a:t>
            </a:r>
            <a:r>
              <a:rPr sz="2000" b="1" spc="-20" dirty="0">
                <a:solidFill>
                  <a:srgbClr val="C00000"/>
                </a:solidFill>
                <a:latin typeface="Calibri"/>
                <a:cs typeface="Calibri"/>
              </a:rPr>
              <a:t> </a:t>
            </a:r>
            <a:r>
              <a:rPr sz="2000" b="1" dirty="0">
                <a:solidFill>
                  <a:srgbClr val="C00000"/>
                </a:solidFill>
                <a:latin typeface="Calibri"/>
                <a:cs typeface="Calibri"/>
              </a:rPr>
              <a:t>mean</a:t>
            </a:r>
            <a:r>
              <a:rPr sz="2000" dirty="0">
                <a:latin typeface="Calibri"/>
                <a:cs typeface="Calibri"/>
              </a:rPr>
              <a:t>,</a:t>
            </a:r>
            <a:r>
              <a:rPr sz="2000" spc="-15" dirty="0">
                <a:latin typeface="Calibri"/>
                <a:cs typeface="Calibri"/>
              </a:rPr>
              <a:t> </a:t>
            </a:r>
            <a:r>
              <a:rPr sz="2000" spc="-5" dirty="0">
                <a:latin typeface="Calibri"/>
                <a:cs typeface="Calibri"/>
              </a:rPr>
              <a:t>or</a:t>
            </a:r>
            <a:r>
              <a:rPr sz="2000" spc="10" dirty="0">
                <a:latin typeface="Calibri"/>
                <a:cs typeface="Calibri"/>
              </a:rPr>
              <a:t> </a:t>
            </a:r>
            <a:r>
              <a:rPr sz="2000" spc="-10" dirty="0">
                <a:latin typeface="Calibri"/>
                <a:cs typeface="Calibri"/>
              </a:rPr>
              <a:t>are</a:t>
            </a:r>
            <a:r>
              <a:rPr sz="2000" spc="15" dirty="0">
                <a:latin typeface="Calibri"/>
                <a:cs typeface="Calibri"/>
              </a:rPr>
              <a:t> </a:t>
            </a:r>
            <a:r>
              <a:rPr sz="2000" spc="-10" dirty="0">
                <a:latin typeface="Calibri"/>
                <a:cs typeface="Calibri"/>
              </a:rPr>
              <a:t>there</a:t>
            </a:r>
            <a:r>
              <a:rPr sz="2000" spc="15" dirty="0">
                <a:latin typeface="Calibri"/>
                <a:cs typeface="Calibri"/>
              </a:rPr>
              <a:t> </a:t>
            </a:r>
            <a:r>
              <a:rPr sz="2000" spc="-15" dirty="0">
                <a:latin typeface="Calibri"/>
                <a:cs typeface="Calibri"/>
              </a:rPr>
              <a:t>many</a:t>
            </a:r>
            <a:endParaRPr sz="2000" dirty="0">
              <a:latin typeface="Calibri"/>
              <a:cs typeface="Calibri"/>
            </a:endParaRPr>
          </a:p>
          <a:p>
            <a:pPr marL="241300">
              <a:lnSpc>
                <a:spcPts val="2280"/>
              </a:lnSpc>
            </a:pPr>
            <a:r>
              <a:rPr sz="2000" spc="-15" dirty="0">
                <a:latin typeface="Calibri"/>
                <a:cs typeface="Calibri"/>
              </a:rPr>
              <a:t>values</a:t>
            </a:r>
            <a:r>
              <a:rPr sz="2000" spc="45" dirty="0">
                <a:latin typeface="Calibri"/>
                <a:cs typeface="Calibri"/>
              </a:rPr>
              <a:t> </a:t>
            </a:r>
            <a:r>
              <a:rPr sz="2000" spc="-5" dirty="0">
                <a:latin typeface="Calibri"/>
                <a:cs typeface="Calibri"/>
              </a:rPr>
              <a:t>in </a:t>
            </a:r>
            <a:r>
              <a:rPr sz="2000" b="1" spc="-5" dirty="0">
                <a:solidFill>
                  <a:srgbClr val="C00000"/>
                </a:solidFill>
                <a:latin typeface="Calibri"/>
                <a:cs typeface="Calibri"/>
              </a:rPr>
              <a:t>the</a:t>
            </a:r>
            <a:r>
              <a:rPr sz="2000" b="1" spc="10" dirty="0">
                <a:solidFill>
                  <a:srgbClr val="C00000"/>
                </a:solidFill>
                <a:latin typeface="Calibri"/>
                <a:cs typeface="Calibri"/>
              </a:rPr>
              <a:t> </a:t>
            </a:r>
            <a:r>
              <a:rPr sz="2000" b="1" spc="-15" dirty="0">
                <a:solidFill>
                  <a:srgbClr val="C00000"/>
                </a:solidFill>
                <a:latin typeface="Calibri"/>
                <a:cs typeface="Calibri"/>
              </a:rPr>
              <a:t>"tails"</a:t>
            </a:r>
            <a:r>
              <a:rPr sz="2000" b="1" spc="20" dirty="0">
                <a:solidFill>
                  <a:srgbClr val="C00000"/>
                </a:solidFill>
                <a:latin typeface="Calibri"/>
                <a:cs typeface="Calibri"/>
              </a:rPr>
              <a:t> </a:t>
            </a:r>
            <a:r>
              <a:rPr sz="2000" b="1" spc="-5" dirty="0">
                <a:solidFill>
                  <a:srgbClr val="C00000"/>
                </a:solidFill>
                <a:latin typeface="Calibri"/>
                <a:cs typeface="Calibri"/>
              </a:rPr>
              <a:t>of</a:t>
            </a:r>
            <a:r>
              <a:rPr sz="2000" b="1" spc="5" dirty="0">
                <a:solidFill>
                  <a:srgbClr val="C00000"/>
                </a:solidFill>
                <a:latin typeface="Calibri"/>
                <a:cs typeface="Calibri"/>
              </a:rPr>
              <a:t> </a:t>
            </a:r>
            <a:r>
              <a:rPr sz="2000" b="1" spc="-5" dirty="0">
                <a:solidFill>
                  <a:srgbClr val="C00000"/>
                </a:solidFill>
                <a:latin typeface="Calibri"/>
                <a:cs typeface="Calibri"/>
              </a:rPr>
              <a:t>the</a:t>
            </a:r>
            <a:r>
              <a:rPr sz="2000" b="1" spc="10" dirty="0">
                <a:solidFill>
                  <a:srgbClr val="C00000"/>
                </a:solidFill>
                <a:latin typeface="Calibri"/>
                <a:cs typeface="Calibri"/>
              </a:rPr>
              <a:t> </a:t>
            </a:r>
            <a:r>
              <a:rPr sz="2000" b="1" spc="-5" dirty="0">
                <a:solidFill>
                  <a:srgbClr val="C00000"/>
                </a:solidFill>
                <a:latin typeface="Calibri"/>
                <a:cs typeface="Calibri"/>
              </a:rPr>
              <a:t>distribution</a:t>
            </a:r>
            <a:r>
              <a:rPr sz="2000" spc="-5" dirty="0">
                <a:latin typeface="Calibri"/>
                <a:cs typeface="Calibri"/>
              </a:rPr>
              <a:t>?</a:t>
            </a:r>
            <a:r>
              <a:rPr sz="2000" spc="-25" dirty="0">
                <a:latin typeface="Calibri"/>
                <a:cs typeface="Calibri"/>
              </a:rPr>
              <a:t> </a:t>
            </a:r>
            <a:r>
              <a:rPr sz="2000" spc="-10" dirty="0">
                <a:latin typeface="Calibri"/>
                <a:cs typeface="Calibri"/>
              </a:rPr>
              <a:t>(</a:t>
            </a:r>
            <a:r>
              <a:rPr sz="2000" b="1" spc="-10" dirty="0">
                <a:latin typeface="Calibri"/>
                <a:cs typeface="Calibri"/>
              </a:rPr>
              <a:t>Skewness,</a:t>
            </a:r>
            <a:r>
              <a:rPr sz="2000" b="1" spc="40" dirty="0">
                <a:latin typeface="Calibri"/>
                <a:cs typeface="Calibri"/>
              </a:rPr>
              <a:t> </a:t>
            </a:r>
            <a:r>
              <a:rPr sz="2000" b="1" spc="-10" dirty="0">
                <a:latin typeface="Calibri"/>
                <a:cs typeface="Calibri"/>
              </a:rPr>
              <a:t>kurtosis</a:t>
            </a:r>
            <a:r>
              <a:rPr sz="2000" spc="-10" dirty="0">
                <a:latin typeface="Calibri"/>
                <a:cs typeface="Calibri"/>
              </a:rPr>
              <a:t>)</a:t>
            </a:r>
            <a:endParaRPr sz="2000" dirty="0">
              <a:latin typeface="Calibri"/>
              <a:cs typeface="Calibri"/>
            </a:endParaRPr>
          </a:p>
        </p:txBody>
      </p:sp>
      <p:pic>
        <p:nvPicPr>
          <p:cNvPr id="4" name="object 4"/>
          <p:cNvPicPr/>
          <p:nvPr/>
        </p:nvPicPr>
        <p:blipFill>
          <a:blip r:embed="rId2" cstate="print"/>
          <a:stretch>
            <a:fillRect/>
          </a:stretch>
        </p:blipFill>
        <p:spPr>
          <a:xfrm>
            <a:off x="14" y="47"/>
            <a:ext cx="2862072" cy="6857746"/>
          </a:xfrm>
          <a:prstGeom prst="rect">
            <a:avLst/>
          </a:prstGeom>
        </p:spPr>
      </p:pic>
      <p:sp>
        <p:nvSpPr>
          <p:cNvPr id="5" name="object 5"/>
          <p:cNvSpPr/>
          <p:nvPr/>
        </p:nvSpPr>
        <p:spPr>
          <a:xfrm>
            <a:off x="3810667" y="2115057"/>
            <a:ext cx="4732020" cy="0"/>
          </a:xfrm>
          <a:custGeom>
            <a:avLst/>
            <a:gdLst/>
            <a:ahLst/>
            <a:cxnLst/>
            <a:rect l="l" t="t" r="r" b="b"/>
            <a:pathLst>
              <a:path w="6309359">
                <a:moveTo>
                  <a:pt x="0" y="0"/>
                </a:moveTo>
                <a:lnTo>
                  <a:pt x="6309360" y="0"/>
                </a:lnTo>
              </a:path>
            </a:pathLst>
          </a:custGeom>
          <a:ln w="19050">
            <a:solidFill>
              <a:srgbClr val="4E85B8"/>
            </a:solidFill>
          </a:ln>
        </p:spPr>
        <p:txBody>
          <a:bodyPr wrap="square" lIns="0" tIns="0" rIns="0" bIns="0" rtlCol="0"/>
          <a:lstStyle/>
          <a:p>
            <a:endParaRPr/>
          </a:p>
        </p:txBody>
      </p:sp>
    </p:spTree>
    <p:extLst>
      <p:ext uri="{BB962C8B-B14F-4D97-AF65-F5344CB8AC3E}">
        <p14:creationId xmlns:p14="http://schemas.microsoft.com/office/powerpoint/2010/main" val="29413922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11560" y="214904"/>
            <a:ext cx="2880320" cy="2517099"/>
          </a:xfrm>
          <a:prstGeom prst="rect">
            <a:avLst/>
          </a:prstGeom>
        </p:spPr>
        <p:txBody>
          <a:bodyPr vert="horz" wrap="square" lIns="0" tIns="78740" rIns="0" bIns="0" rtlCol="0">
            <a:spAutoFit/>
          </a:bodyPr>
          <a:lstStyle/>
          <a:p>
            <a:pPr marL="12700" marR="5080">
              <a:lnSpc>
                <a:spcPct val="90000"/>
              </a:lnSpc>
              <a:spcBef>
                <a:spcPts val="620"/>
              </a:spcBef>
            </a:pPr>
            <a:r>
              <a:rPr sz="4400" spc="-15" dirty="0">
                <a:latin typeface="Calibri Light"/>
                <a:cs typeface="Calibri Light"/>
              </a:rPr>
              <a:t>Descriptive </a:t>
            </a:r>
            <a:r>
              <a:rPr sz="4400" spc="-10" dirty="0">
                <a:latin typeface="Calibri Light"/>
                <a:cs typeface="Calibri Light"/>
              </a:rPr>
              <a:t> </a:t>
            </a:r>
            <a:r>
              <a:rPr sz="4400" spc="-25" dirty="0">
                <a:latin typeface="Calibri Light"/>
                <a:cs typeface="Calibri Light"/>
              </a:rPr>
              <a:t>Statistics</a:t>
            </a:r>
            <a:r>
              <a:rPr sz="4400" spc="10" dirty="0">
                <a:latin typeface="Calibri Light"/>
                <a:cs typeface="Calibri Light"/>
              </a:rPr>
              <a:t> </a:t>
            </a:r>
            <a:r>
              <a:rPr sz="4400" spc="-40" dirty="0">
                <a:latin typeface="Calibri Light"/>
                <a:cs typeface="Calibri Light"/>
              </a:rPr>
              <a:t>for </a:t>
            </a:r>
            <a:r>
              <a:rPr sz="4400" spc="-980" dirty="0">
                <a:latin typeface="Calibri Light"/>
                <a:cs typeface="Calibri Light"/>
              </a:rPr>
              <a:t> </a:t>
            </a:r>
            <a:r>
              <a:rPr sz="4400" spc="-25" dirty="0">
                <a:latin typeface="Calibri Light"/>
                <a:cs typeface="Calibri Light"/>
              </a:rPr>
              <a:t>Categorical </a:t>
            </a:r>
            <a:r>
              <a:rPr sz="4400" spc="-20" dirty="0">
                <a:latin typeface="Calibri Light"/>
                <a:cs typeface="Calibri Light"/>
              </a:rPr>
              <a:t> </a:t>
            </a:r>
            <a:r>
              <a:rPr sz="4400" spc="-40" dirty="0">
                <a:latin typeface="Calibri Light"/>
                <a:cs typeface="Calibri Light"/>
              </a:rPr>
              <a:t>Variables</a:t>
            </a:r>
            <a:endParaRPr sz="4400" dirty="0">
              <a:latin typeface="Calibri Light"/>
              <a:cs typeface="Calibri Light"/>
            </a:endParaRPr>
          </a:p>
        </p:txBody>
      </p:sp>
      <p:grpSp>
        <p:nvGrpSpPr>
          <p:cNvPr id="3" name="object 3"/>
          <p:cNvGrpSpPr/>
          <p:nvPr/>
        </p:nvGrpSpPr>
        <p:grpSpPr>
          <a:xfrm>
            <a:off x="315022" y="383985"/>
            <a:ext cx="8826341" cy="5967984"/>
            <a:chOff x="423951" y="573023"/>
            <a:chExt cx="11768455" cy="5967984"/>
          </a:xfrm>
        </p:grpSpPr>
        <p:sp>
          <p:nvSpPr>
            <p:cNvPr id="4" name="object 4"/>
            <p:cNvSpPr/>
            <p:nvPr/>
          </p:nvSpPr>
          <p:spPr>
            <a:xfrm>
              <a:off x="423951" y="4415282"/>
              <a:ext cx="11768455" cy="2087880"/>
            </a:xfrm>
            <a:custGeom>
              <a:avLst/>
              <a:gdLst/>
              <a:ahLst/>
              <a:cxnLst/>
              <a:rect l="l" t="t" r="r" b="b"/>
              <a:pathLst>
                <a:path w="11768455" h="2087879">
                  <a:moveTo>
                    <a:pt x="11768074" y="0"/>
                  </a:moveTo>
                  <a:lnTo>
                    <a:pt x="0" y="0"/>
                  </a:lnTo>
                  <a:lnTo>
                    <a:pt x="0" y="2087752"/>
                  </a:lnTo>
                  <a:lnTo>
                    <a:pt x="11768074" y="2087752"/>
                  </a:lnTo>
                  <a:lnTo>
                    <a:pt x="11768074" y="0"/>
                  </a:lnTo>
                  <a:close/>
                </a:path>
              </a:pathLst>
            </a:custGeom>
            <a:solidFill>
              <a:srgbClr val="FFC000"/>
            </a:solidFill>
          </p:spPr>
          <p:txBody>
            <a:bodyPr wrap="square" lIns="0" tIns="0" rIns="0" bIns="0" rtlCol="0"/>
            <a:lstStyle/>
            <a:p>
              <a:endParaRPr/>
            </a:p>
          </p:txBody>
        </p:sp>
        <p:pic>
          <p:nvPicPr>
            <p:cNvPr id="5" name="object 5"/>
            <p:cNvPicPr/>
            <p:nvPr/>
          </p:nvPicPr>
          <p:blipFill>
            <a:blip r:embed="rId2" cstate="print"/>
            <a:stretch>
              <a:fillRect/>
            </a:stretch>
          </p:blipFill>
          <p:spPr>
            <a:xfrm>
              <a:off x="4989575" y="573023"/>
              <a:ext cx="6793992" cy="5967984"/>
            </a:xfrm>
            <a:prstGeom prst="rect">
              <a:avLst/>
            </a:prstGeom>
          </p:spPr>
        </p:pic>
        <p:sp>
          <p:nvSpPr>
            <p:cNvPr id="6" name="object 6"/>
            <p:cNvSpPr/>
            <p:nvPr/>
          </p:nvSpPr>
          <p:spPr>
            <a:xfrm>
              <a:off x="5184251" y="587807"/>
              <a:ext cx="6455044" cy="3827476"/>
            </a:xfrm>
            <a:custGeom>
              <a:avLst/>
              <a:gdLst/>
              <a:ahLst/>
              <a:cxnLst/>
              <a:rect l="l" t="t" r="r" b="b"/>
              <a:pathLst>
                <a:path w="6505575" h="5682615">
                  <a:moveTo>
                    <a:pt x="6505321" y="0"/>
                  </a:moveTo>
                  <a:lnTo>
                    <a:pt x="0" y="0"/>
                  </a:lnTo>
                  <a:lnTo>
                    <a:pt x="0" y="5682361"/>
                  </a:lnTo>
                  <a:lnTo>
                    <a:pt x="6505321" y="5682361"/>
                  </a:lnTo>
                  <a:lnTo>
                    <a:pt x="6505321" y="0"/>
                  </a:lnTo>
                  <a:close/>
                </a:path>
              </a:pathLst>
            </a:custGeom>
            <a:solidFill>
              <a:srgbClr val="FFFFFF"/>
            </a:solidFill>
          </p:spPr>
          <p:txBody>
            <a:bodyPr wrap="square" lIns="0" tIns="0" rIns="0" bIns="0" rtlCol="0"/>
            <a:lstStyle/>
            <a:p>
              <a:endParaRPr/>
            </a:p>
          </p:txBody>
        </p:sp>
      </p:grpSp>
      <p:sp>
        <p:nvSpPr>
          <p:cNvPr id="7" name="object 7"/>
          <p:cNvSpPr/>
          <p:nvPr/>
        </p:nvSpPr>
        <p:spPr>
          <a:xfrm>
            <a:off x="90573" y="4415282"/>
            <a:ext cx="133350" cy="2087880"/>
          </a:xfrm>
          <a:custGeom>
            <a:avLst/>
            <a:gdLst/>
            <a:ahLst/>
            <a:cxnLst/>
            <a:rect l="l" t="t" r="r" b="b"/>
            <a:pathLst>
              <a:path w="177800" h="2087879">
                <a:moveTo>
                  <a:pt x="0" y="2087753"/>
                </a:moveTo>
                <a:lnTo>
                  <a:pt x="177800" y="2087753"/>
                </a:lnTo>
                <a:lnTo>
                  <a:pt x="177800" y="0"/>
                </a:lnTo>
                <a:lnTo>
                  <a:pt x="0" y="0"/>
                </a:lnTo>
                <a:lnTo>
                  <a:pt x="0" y="2087753"/>
                </a:lnTo>
                <a:close/>
              </a:path>
            </a:pathLst>
          </a:custGeom>
          <a:solidFill>
            <a:srgbClr val="FFC000"/>
          </a:solidFill>
        </p:spPr>
        <p:txBody>
          <a:bodyPr wrap="square" lIns="0" tIns="0" rIns="0" bIns="0" rtlCol="0"/>
          <a:lstStyle/>
          <a:p>
            <a:endParaRPr/>
          </a:p>
        </p:txBody>
      </p:sp>
      <p:sp>
        <p:nvSpPr>
          <p:cNvPr id="8" name="object 8"/>
          <p:cNvSpPr txBox="1"/>
          <p:nvPr/>
        </p:nvSpPr>
        <p:spPr>
          <a:xfrm>
            <a:off x="3885247" y="214904"/>
            <a:ext cx="4437698" cy="1742144"/>
          </a:xfrm>
          <a:prstGeom prst="rect">
            <a:avLst/>
          </a:prstGeom>
        </p:spPr>
        <p:txBody>
          <a:bodyPr vert="horz" wrap="square" lIns="0" tIns="51435" rIns="0" bIns="0" rtlCol="0">
            <a:spAutoFit/>
          </a:bodyPr>
          <a:lstStyle/>
          <a:p>
            <a:pPr marL="241300" marR="5080" indent="-228600" algn="just">
              <a:lnSpc>
                <a:spcPts val="2380"/>
              </a:lnSpc>
              <a:spcBef>
                <a:spcPts val="405"/>
              </a:spcBef>
              <a:buFont typeface="Arial MT"/>
              <a:buChar char="•"/>
              <a:tabLst>
                <a:tab pos="241300" algn="l"/>
              </a:tabLst>
            </a:pPr>
            <a:r>
              <a:rPr sz="2200" dirty="0">
                <a:latin typeface="Calibri"/>
                <a:cs typeface="Calibri"/>
              </a:rPr>
              <a:t>When</a:t>
            </a:r>
            <a:r>
              <a:rPr sz="2200" spc="5" dirty="0">
                <a:latin typeface="Calibri"/>
                <a:cs typeface="Calibri"/>
              </a:rPr>
              <a:t> </a:t>
            </a:r>
            <a:r>
              <a:rPr sz="2200" spc="-5" dirty="0">
                <a:latin typeface="Calibri"/>
                <a:cs typeface="Calibri"/>
              </a:rPr>
              <a:t>summarizing</a:t>
            </a:r>
            <a:r>
              <a:rPr sz="2200" dirty="0">
                <a:latin typeface="Calibri"/>
                <a:cs typeface="Calibri"/>
              </a:rPr>
              <a:t> </a:t>
            </a:r>
            <a:r>
              <a:rPr sz="2200" b="1" spc="-10" dirty="0">
                <a:solidFill>
                  <a:srgbClr val="6F2F9F"/>
                </a:solidFill>
                <a:latin typeface="Calibri"/>
                <a:cs typeface="Calibri"/>
              </a:rPr>
              <a:t>qualitative</a:t>
            </a:r>
            <a:r>
              <a:rPr sz="2200" b="1" spc="-5" dirty="0">
                <a:solidFill>
                  <a:srgbClr val="6F2F9F"/>
                </a:solidFill>
                <a:latin typeface="Calibri"/>
                <a:cs typeface="Calibri"/>
              </a:rPr>
              <a:t> (nominal</a:t>
            </a:r>
            <a:r>
              <a:rPr sz="2200" b="1" dirty="0">
                <a:solidFill>
                  <a:srgbClr val="6F2F9F"/>
                </a:solidFill>
                <a:latin typeface="Calibri"/>
                <a:cs typeface="Calibri"/>
              </a:rPr>
              <a:t> </a:t>
            </a:r>
            <a:r>
              <a:rPr sz="2200" b="1" spc="-15" dirty="0">
                <a:solidFill>
                  <a:srgbClr val="6F2F9F"/>
                </a:solidFill>
                <a:latin typeface="Calibri"/>
                <a:cs typeface="Calibri"/>
              </a:rPr>
              <a:t>or </a:t>
            </a:r>
            <a:r>
              <a:rPr sz="2200" b="1" spc="-484" dirty="0">
                <a:solidFill>
                  <a:srgbClr val="6F2F9F"/>
                </a:solidFill>
                <a:latin typeface="Calibri"/>
                <a:cs typeface="Calibri"/>
              </a:rPr>
              <a:t> </a:t>
            </a:r>
            <a:r>
              <a:rPr sz="2200" b="1" spc="-5" dirty="0">
                <a:solidFill>
                  <a:srgbClr val="6F2F9F"/>
                </a:solidFill>
                <a:latin typeface="Calibri"/>
                <a:cs typeface="Calibri"/>
              </a:rPr>
              <a:t>ordinal) variables</a:t>
            </a:r>
            <a:r>
              <a:rPr sz="2200" spc="-5" dirty="0">
                <a:latin typeface="Calibri"/>
                <a:cs typeface="Calibri"/>
              </a:rPr>
              <a:t>, </a:t>
            </a:r>
            <a:r>
              <a:rPr sz="2200" spc="-10" dirty="0">
                <a:latin typeface="Calibri"/>
                <a:cs typeface="Calibri"/>
              </a:rPr>
              <a:t>we </a:t>
            </a:r>
            <a:r>
              <a:rPr sz="2200" spc="-20" dirty="0">
                <a:latin typeface="Calibri"/>
                <a:cs typeface="Calibri"/>
              </a:rPr>
              <a:t>are </a:t>
            </a:r>
            <a:r>
              <a:rPr sz="2200" spc="-10" dirty="0">
                <a:latin typeface="Calibri"/>
                <a:cs typeface="Calibri"/>
              </a:rPr>
              <a:t>typically </a:t>
            </a:r>
            <a:r>
              <a:rPr sz="2200" spc="-15" dirty="0">
                <a:latin typeface="Calibri"/>
                <a:cs typeface="Calibri"/>
              </a:rPr>
              <a:t>interested </a:t>
            </a:r>
            <a:r>
              <a:rPr sz="2200" spc="-5" dirty="0">
                <a:latin typeface="Calibri"/>
                <a:cs typeface="Calibri"/>
              </a:rPr>
              <a:t>in </a:t>
            </a:r>
            <a:r>
              <a:rPr sz="2200" dirty="0">
                <a:latin typeface="Calibri"/>
                <a:cs typeface="Calibri"/>
              </a:rPr>
              <a:t> </a:t>
            </a:r>
            <a:r>
              <a:rPr sz="2200" spc="-5" dirty="0">
                <a:latin typeface="Calibri"/>
                <a:cs typeface="Calibri"/>
              </a:rPr>
              <a:t>things</a:t>
            </a:r>
            <a:r>
              <a:rPr sz="2200" spc="-25" dirty="0">
                <a:latin typeface="Calibri"/>
                <a:cs typeface="Calibri"/>
              </a:rPr>
              <a:t> </a:t>
            </a:r>
            <a:r>
              <a:rPr sz="2200" spc="-15" dirty="0">
                <a:latin typeface="Calibri"/>
                <a:cs typeface="Calibri"/>
              </a:rPr>
              <a:t>like:</a:t>
            </a:r>
            <a:endParaRPr sz="2200" dirty="0">
              <a:latin typeface="Calibri"/>
              <a:cs typeface="Calibri"/>
            </a:endParaRPr>
          </a:p>
          <a:p>
            <a:pPr marL="241300" indent="-228600" algn="just">
              <a:lnSpc>
                <a:spcPct val="100000"/>
              </a:lnSpc>
              <a:spcBef>
                <a:spcPts val="680"/>
              </a:spcBef>
              <a:buSzPct val="95454"/>
              <a:buFont typeface="Wingdings"/>
              <a:buChar char=""/>
              <a:tabLst>
                <a:tab pos="241300" algn="l"/>
              </a:tabLst>
            </a:pPr>
            <a:r>
              <a:rPr sz="2200" spc="5" dirty="0">
                <a:latin typeface="Calibri"/>
                <a:cs typeface="Calibri"/>
              </a:rPr>
              <a:t>How</a:t>
            </a:r>
            <a:r>
              <a:rPr sz="2200" spc="-20" dirty="0">
                <a:latin typeface="Calibri"/>
                <a:cs typeface="Calibri"/>
              </a:rPr>
              <a:t> </a:t>
            </a:r>
            <a:r>
              <a:rPr sz="2200" spc="-10" dirty="0">
                <a:latin typeface="Calibri"/>
                <a:cs typeface="Calibri"/>
              </a:rPr>
              <a:t>many</a:t>
            </a:r>
            <a:r>
              <a:rPr sz="2200" spc="-15" dirty="0">
                <a:latin typeface="Calibri"/>
                <a:cs typeface="Calibri"/>
              </a:rPr>
              <a:t> </a:t>
            </a:r>
            <a:r>
              <a:rPr sz="2200" b="1" spc="-5" dirty="0">
                <a:latin typeface="Calibri"/>
                <a:cs typeface="Calibri"/>
              </a:rPr>
              <a:t>cases</a:t>
            </a:r>
            <a:r>
              <a:rPr sz="2200" b="1" spc="-15" dirty="0">
                <a:latin typeface="Calibri"/>
                <a:cs typeface="Calibri"/>
              </a:rPr>
              <a:t> </a:t>
            </a:r>
            <a:r>
              <a:rPr sz="2200" b="1" spc="-10" dirty="0">
                <a:latin typeface="Calibri"/>
                <a:cs typeface="Calibri"/>
              </a:rPr>
              <a:t>were </a:t>
            </a:r>
            <a:r>
              <a:rPr sz="2200" b="1" spc="5" dirty="0">
                <a:latin typeface="Calibri"/>
                <a:cs typeface="Calibri"/>
              </a:rPr>
              <a:t>in</a:t>
            </a:r>
            <a:r>
              <a:rPr sz="2200" b="1" spc="-30" dirty="0">
                <a:latin typeface="Calibri"/>
                <a:cs typeface="Calibri"/>
              </a:rPr>
              <a:t> </a:t>
            </a:r>
            <a:r>
              <a:rPr sz="2200" b="1" dirty="0">
                <a:latin typeface="Calibri"/>
                <a:cs typeface="Calibri"/>
              </a:rPr>
              <a:t>each</a:t>
            </a:r>
            <a:r>
              <a:rPr sz="2200" b="1" spc="-5" dirty="0">
                <a:latin typeface="Calibri"/>
                <a:cs typeface="Calibri"/>
              </a:rPr>
              <a:t> </a:t>
            </a:r>
            <a:r>
              <a:rPr sz="2200" b="1" spc="-10" dirty="0">
                <a:latin typeface="Calibri"/>
                <a:cs typeface="Calibri"/>
              </a:rPr>
              <a:t>category</a:t>
            </a:r>
            <a:r>
              <a:rPr sz="2200" spc="-10" dirty="0">
                <a:latin typeface="Calibri"/>
                <a:cs typeface="Calibri"/>
              </a:rPr>
              <a:t>?</a:t>
            </a:r>
            <a:r>
              <a:rPr sz="2200" spc="-15" dirty="0">
                <a:latin typeface="Calibri"/>
                <a:cs typeface="Calibri"/>
              </a:rPr>
              <a:t> </a:t>
            </a:r>
            <a:r>
              <a:rPr sz="2200" spc="-5" dirty="0">
                <a:latin typeface="Calibri"/>
                <a:cs typeface="Calibri"/>
              </a:rPr>
              <a:t>(</a:t>
            </a:r>
            <a:r>
              <a:rPr sz="2200" b="1" spc="-5" dirty="0">
                <a:solidFill>
                  <a:srgbClr val="6F2F9F"/>
                </a:solidFill>
                <a:latin typeface="Calibri"/>
                <a:cs typeface="Calibri"/>
              </a:rPr>
              <a:t>Counts</a:t>
            </a:r>
            <a:r>
              <a:rPr sz="2200" spc="-5" dirty="0">
                <a:latin typeface="Calibri"/>
                <a:cs typeface="Calibri"/>
              </a:rPr>
              <a:t>)</a:t>
            </a:r>
            <a:endParaRPr sz="2200" dirty="0">
              <a:latin typeface="Calibri"/>
              <a:cs typeface="Calibri"/>
            </a:endParaRPr>
          </a:p>
        </p:txBody>
      </p:sp>
      <p:sp>
        <p:nvSpPr>
          <p:cNvPr id="9" name="object 9"/>
          <p:cNvSpPr txBox="1"/>
          <p:nvPr/>
        </p:nvSpPr>
        <p:spPr>
          <a:xfrm>
            <a:off x="3937178" y="1998963"/>
            <a:ext cx="4437221" cy="965835"/>
          </a:xfrm>
          <a:prstGeom prst="rect">
            <a:avLst/>
          </a:prstGeom>
        </p:spPr>
        <p:txBody>
          <a:bodyPr vert="horz" wrap="square" lIns="0" tIns="51435" rIns="0" bIns="0" rtlCol="0">
            <a:spAutoFit/>
          </a:bodyPr>
          <a:lstStyle/>
          <a:p>
            <a:pPr marL="241300" marR="5080" indent="-228600" algn="just">
              <a:lnSpc>
                <a:spcPts val="2380"/>
              </a:lnSpc>
              <a:spcBef>
                <a:spcPts val="405"/>
              </a:spcBef>
              <a:buSzPct val="95454"/>
              <a:buFont typeface="Wingdings"/>
              <a:buChar char=""/>
              <a:tabLst>
                <a:tab pos="241300" algn="l"/>
              </a:tabLst>
            </a:pPr>
            <a:r>
              <a:rPr sz="2200" spc="-5" dirty="0">
                <a:latin typeface="Calibri"/>
                <a:cs typeface="Calibri"/>
              </a:rPr>
              <a:t>What</a:t>
            </a:r>
            <a:r>
              <a:rPr sz="2200" dirty="0">
                <a:latin typeface="Calibri"/>
                <a:cs typeface="Calibri"/>
              </a:rPr>
              <a:t> </a:t>
            </a:r>
            <a:r>
              <a:rPr sz="2200" b="1" spc="-10" dirty="0">
                <a:latin typeface="Calibri"/>
                <a:cs typeface="Calibri"/>
              </a:rPr>
              <a:t>proportion</a:t>
            </a:r>
            <a:r>
              <a:rPr sz="2200" b="1" spc="-5" dirty="0">
                <a:latin typeface="Calibri"/>
                <a:cs typeface="Calibri"/>
              </a:rPr>
              <a:t> of</a:t>
            </a:r>
            <a:r>
              <a:rPr sz="2200" b="1" dirty="0">
                <a:latin typeface="Calibri"/>
                <a:cs typeface="Calibri"/>
              </a:rPr>
              <a:t> </a:t>
            </a:r>
            <a:r>
              <a:rPr sz="2200" b="1" spc="-5" dirty="0">
                <a:latin typeface="Calibri"/>
                <a:cs typeface="Calibri"/>
              </a:rPr>
              <a:t>the</a:t>
            </a:r>
            <a:r>
              <a:rPr sz="2200" b="1" dirty="0">
                <a:latin typeface="Calibri"/>
                <a:cs typeface="Calibri"/>
              </a:rPr>
              <a:t> </a:t>
            </a:r>
            <a:r>
              <a:rPr sz="2200" b="1" spc="-5" dirty="0">
                <a:latin typeface="Calibri"/>
                <a:cs typeface="Calibri"/>
              </a:rPr>
              <a:t>cases</a:t>
            </a:r>
            <a:r>
              <a:rPr sz="2200" b="1" dirty="0">
                <a:latin typeface="Calibri"/>
                <a:cs typeface="Calibri"/>
              </a:rPr>
              <a:t> </a:t>
            </a:r>
            <a:r>
              <a:rPr sz="2200" b="1" spc="-10" dirty="0">
                <a:latin typeface="Calibri"/>
                <a:cs typeface="Calibri"/>
              </a:rPr>
              <a:t>were</a:t>
            </a:r>
            <a:r>
              <a:rPr sz="2200" b="1" spc="-5" dirty="0">
                <a:latin typeface="Calibri"/>
                <a:cs typeface="Calibri"/>
              </a:rPr>
              <a:t> </a:t>
            </a:r>
            <a:r>
              <a:rPr sz="2200" b="1" spc="5" dirty="0">
                <a:latin typeface="Calibri"/>
                <a:cs typeface="Calibri"/>
              </a:rPr>
              <a:t>in</a:t>
            </a:r>
            <a:r>
              <a:rPr sz="2200" b="1" spc="10" dirty="0">
                <a:latin typeface="Calibri"/>
                <a:cs typeface="Calibri"/>
              </a:rPr>
              <a:t> </a:t>
            </a:r>
            <a:r>
              <a:rPr sz="2200" b="1" dirty="0">
                <a:latin typeface="Calibri"/>
                <a:cs typeface="Calibri"/>
              </a:rPr>
              <a:t>each </a:t>
            </a:r>
            <a:r>
              <a:rPr sz="2200" b="1" spc="5" dirty="0">
                <a:latin typeface="Calibri"/>
                <a:cs typeface="Calibri"/>
              </a:rPr>
              <a:t> </a:t>
            </a:r>
            <a:r>
              <a:rPr sz="2200" b="1" spc="-10" dirty="0">
                <a:latin typeface="Calibri"/>
                <a:cs typeface="Calibri"/>
              </a:rPr>
              <a:t>category</a:t>
            </a:r>
            <a:r>
              <a:rPr sz="2200" spc="-10" dirty="0">
                <a:latin typeface="Calibri"/>
                <a:cs typeface="Calibri"/>
              </a:rPr>
              <a:t>? </a:t>
            </a:r>
            <a:r>
              <a:rPr sz="2200" spc="-15" dirty="0">
                <a:latin typeface="Calibri"/>
                <a:cs typeface="Calibri"/>
              </a:rPr>
              <a:t>(</a:t>
            </a:r>
            <a:r>
              <a:rPr sz="2200" b="1" spc="-15" dirty="0">
                <a:solidFill>
                  <a:srgbClr val="6F2F9F"/>
                </a:solidFill>
                <a:latin typeface="Calibri"/>
                <a:cs typeface="Calibri"/>
              </a:rPr>
              <a:t>Percentage, </a:t>
            </a:r>
            <a:r>
              <a:rPr sz="2200" b="1" spc="-5" dirty="0">
                <a:solidFill>
                  <a:srgbClr val="6F2F9F"/>
                </a:solidFill>
                <a:latin typeface="Calibri"/>
                <a:cs typeface="Calibri"/>
              </a:rPr>
              <a:t>valid </a:t>
            </a:r>
            <a:r>
              <a:rPr sz="2200" b="1" spc="-10" dirty="0">
                <a:solidFill>
                  <a:srgbClr val="6F2F9F"/>
                </a:solidFill>
                <a:latin typeface="Calibri"/>
                <a:cs typeface="Calibri"/>
              </a:rPr>
              <a:t>percent, cumulative </a:t>
            </a:r>
            <a:r>
              <a:rPr sz="2200" b="1" spc="-484" dirty="0">
                <a:solidFill>
                  <a:srgbClr val="6F2F9F"/>
                </a:solidFill>
                <a:latin typeface="Calibri"/>
                <a:cs typeface="Calibri"/>
              </a:rPr>
              <a:t> </a:t>
            </a:r>
            <a:r>
              <a:rPr sz="2200" b="1" spc="-5" dirty="0">
                <a:solidFill>
                  <a:srgbClr val="6F2F9F"/>
                </a:solidFill>
                <a:latin typeface="Calibri"/>
                <a:cs typeface="Calibri"/>
              </a:rPr>
              <a:t>percent</a:t>
            </a:r>
            <a:r>
              <a:rPr sz="2200" spc="-5" dirty="0">
                <a:latin typeface="Calibri"/>
                <a:cs typeface="Calibri"/>
              </a:rPr>
              <a:t>)</a:t>
            </a:r>
            <a:endParaRPr sz="2200" dirty="0">
              <a:latin typeface="Calibri"/>
              <a:cs typeface="Calibri"/>
            </a:endParaRPr>
          </a:p>
        </p:txBody>
      </p:sp>
      <p:sp>
        <p:nvSpPr>
          <p:cNvPr id="10" name="object 10"/>
          <p:cNvSpPr txBox="1"/>
          <p:nvPr/>
        </p:nvSpPr>
        <p:spPr>
          <a:xfrm>
            <a:off x="3984721" y="3043820"/>
            <a:ext cx="4435316" cy="1380506"/>
          </a:xfrm>
          <a:prstGeom prst="rect">
            <a:avLst/>
          </a:prstGeom>
        </p:spPr>
        <p:txBody>
          <a:bodyPr vert="horz" wrap="square" lIns="0" tIns="13335" rIns="0" bIns="0" rtlCol="0">
            <a:spAutoFit/>
          </a:bodyPr>
          <a:lstStyle/>
          <a:p>
            <a:pPr marL="241300" indent="-228600">
              <a:spcBef>
                <a:spcPts val="105"/>
              </a:spcBef>
              <a:buSzPct val="95454"/>
              <a:buFont typeface="Wingdings"/>
              <a:buChar char=""/>
              <a:tabLst>
                <a:tab pos="241300" algn="l"/>
                <a:tab pos="1130935" algn="l"/>
                <a:tab pos="1838325" algn="l"/>
                <a:tab pos="2487930" algn="l"/>
                <a:tab pos="3335654" algn="l"/>
                <a:tab pos="4817110" algn="l"/>
              </a:tabLst>
            </a:pPr>
            <a:r>
              <a:rPr sz="2200" spc="-5" dirty="0">
                <a:latin typeface="Calibri"/>
                <a:cs typeface="Calibri"/>
              </a:rPr>
              <a:t>What	was	</a:t>
            </a:r>
            <a:r>
              <a:rPr sz="2200" dirty="0">
                <a:latin typeface="Calibri"/>
                <a:cs typeface="Calibri"/>
              </a:rPr>
              <a:t>the	</a:t>
            </a:r>
            <a:r>
              <a:rPr sz="2200" b="1" spc="-15" dirty="0">
                <a:latin typeface="Calibri"/>
                <a:cs typeface="Calibri"/>
              </a:rPr>
              <a:t>most	</a:t>
            </a:r>
            <a:r>
              <a:rPr sz="2200" b="1" spc="-10" dirty="0">
                <a:latin typeface="Calibri"/>
                <a:cs typeface="Calibri"/>
              </a:rPr>
              <a:t>frequently	</a:t>
            </a:r>
            <a:r>
              <a:rPr sz="2200" b="1" spc="-5" dirty="0" smtClean="0">
                <a:latin typeface="Calibri"/>
                <a:cs typeface="Calibri"/>
              </a:rPr>
              <a:t>occurring</a:t>
            </a:r>
            <a:r>
              <a:rPr lang="en-US" sz="2200" b="1" spc="-5" dirty="0" smtClean="0">
                <a:latin typeface="Calibri"/>
                <a:cs typeface="Calibri"/>
              </a:rPr>
              <a:t> </a:t>
            </a:r>
            <a:r>
              <a:rPr lang="en-IN" sz="2200" spc="-5" dirty="0">
                <a:cs typeface="Calibri"/>
              </a:rPr>
              <a:t>observations)?</a:t>
            </a:r>
            <a:r>
              <a:rPr lang="en-IN" sz="2200" spc="-100" dirty="0">
                <a:cs typeface="Calibri"/>
              </a:rPr>
              <a:t> </a:t>
            </a:r>
            <a:r>
              <a:rPr lang="en-IN" sz="2200" spc="-5" dirty="0">
                <a:cs typeface="Calibri"/>
              </a:rPr>
              <a:t>(</a:t>
            </a:r>
            <a:r>
              <a:rPr lang="en-IN" sz="2200" b="1" spc="-5" dirty="0">
                <a:solidFill>
                  <a:srgbClr val="6F2F9F"/>
                </a:solidFill>
                <a:cs typeface="Calibri"/>
              </a:rPr>
              <a:t>Mode</a:t>
            </a:r>
            <a:r>
              <a:rPr lang="en-IN" sz="2200" spc="-5" dirty="0">
                <a:cs typeface="Calibri"/>
              </a:rPr>
              <a:t>)</a:t>
            </a:r>
            <a:endParaRPr lang="en-IN" sz="2200" dirty="0">
              <a:cs typeface="Calibri"/>
            </a:endParaRPr>
          </a:p>
          <a:p>
            <a:pPr marL="241300" indent="-228600">
              <a:lnSpc>
                <a:spcPct val="100000"/>
              </a:lnSpc>
              <a:spcBef>
                <a:spcPts val="105"/>
              </a:spcBef>
              <a:buSzPct val="95454"/>
              <a:buFont typeface="Wingdings"/>
              <a:buChar char=""/>
              <a:tabLst>
                <a:tab pos="241300" algn="l"/>
                <a:tab pos="1130935" algn="l"/>
                <a:tab pos="1838325" algn="l"/>
                <a:tab pos="2487930" algn="l"/>
                <a:tab pos="3335654" algn="l"/>
                <a:tab pos="4817110" algn="l"/>
              </a:tabLst>
            </a:pPr>
            <a:endParaRPr sz="2200" dirty="0">
              <a:latin typeface="Calibri"/>
              <a:cs typeface="Calibri"/>
            </a:endParaRPr>
          </a:p>
        </p:txBody>
      </p:sp>
    </p:spTree>
    <p:extLst>
      <p:ext uri="{BB962C8B-B14F-4D97-AF65-F5344CB8AC3E}">
        <p14:creationId xmlns:p14="http://schemas.microsoft.com/office/powerpoint/2010/main" val="6696495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921966" y="116632"/>
            <a:ext cx="4602480" cy="1275349"/>
          </a:xfrm>
          <a:prstGeom prst="rect">
            <a:avLst/>
          </a:prstGeom>
        </p:spPr>
        <p:txBody>
          <a:bodyPr vert="horz" wrap="square" lIns="0" tIns="13335" rIns="0" bIns="0" rtlCol="0">
            <a:spAutoFit/>
          </a:bodyPr>
          <a:lstStyle/>
          <a:p>
            <a:pPr marL="12700">
              <a:lnSpc>
                <a:spcPct val="100000"/>
              </a:lnSpc>
              <a:spcBef>
                <a:spcPts val="105"/>
              </a:spcBef>
            </a:pPr>
            <a:r>
              <a:rPr sz="4100" spc="-40" dirty="0">
                <a:solidFill>
                  <a:srgbClr val="000000"/>
                </a:solidFill>
                <a:latin typeface="Calibri Light"/>
                <a:cs typeface="Calibri Light"/>
              </a:rPr>
              <a:t>Types</a:t>
            </a:r>
            <a:r>
              <a:rPr sz="4100" spc="-50" dirty="0">
                <a:solidFill>
                  <a:srgbClr val="000000"/>
                </a:solidFill>
                <a:latin typeface="Calibri Light"/>
                <a:cs typeface="Calibri Light"/>
              </a:rPr>
              <a:t> </a:t>
            </a:r>
            <a:r>
              <a:rPr sz="4100" dirty="0">
                <a:solidFill>
                  <a:srgbClr val="000000"/>
                </a:solidFill>
                <a:latin typeface="Calibri Light"/>
                <a:cs typeface="Calibri Light"/>
              </a:rPr>
              <a:t>of</a:t>
            </a:r>
            <a:r>
              <a:rPr sz="4100" spc="-50" dirty="0">
                <a:solidFill>
                  <a:srgbClr val="000000"/>
                </a:solidFill>
                <a:latin typeface="Calibri Light"/>
                <a:cs typeface="Calibri Light"/>
              </a:rPr>
              <a:t> </a:t>
            </a:r>
            <a:r>
              <a:rPr sz="4100" spc="-5" dirty="0">
                <a:solidFill>
                  <a:srgbClr val="000000"/>
                </a:solidFill>
                <a:latin typeface="Calibri Light"/>
                <a:cs typeface="Calibri Light"/>
              </a:rPr>
              <a:t>Descriptive</a:t>
            </a:r>
            <a:r>
              <a:rPr sz="4100" spc="-80" dirty="0">
                <a:solidFill>
                  <a:srgbClr val="000000"/>
                </a:solidFill>
                <a:latin typeface="Calibri Light"/>
                <a:cs typeface="Calibri Light"/>
              </a:rPr>
              <a:t> </a:t>
            </a:r>
            <a:r>
              <a:rPr sz="4100" spc="-20" dirty="0">
                <a:solidFill>
                  <a:srgbClr val="000000"/>
                </a:solidFill>
                <a:latin typeface="Calibri Light"/>
                <a:cs typeface="Calibri Light"/>
              </a:rPr>
              <a:t>Statistics</a:t>
            </a:r>
            <a:endParaRPr sz="4100" dirty="0">
              <a:latin typeface="Calibri Light"/>
              <a:cs typeface="Calibri Light"/>
            </a:endParaRPr>
          </a:p>
        </p:txBody>
      </p:sp>
      <p:sp>
        <p:nvSpPr>
          <p:cNvPr id="3" name="object 3"/>
          <p:cNvSpPr txBox="1"/>
          <p:nvPr/>
        </p:nvSpPr>
        <p:spPr>
          <a:xfrm>
            <a:off x="3815330" y="1484784"/>
            <a:ext cx="5007769" cy="5166799"/>
          </a:xfrm>
          <a:prstGeom prst="rect">
            <a:avLst/>
          </a:prstGeom>
        </p:spPr>
        <p:txBody>
          <a:bodyPr vert="horz" wrap="square" lIns="0" tIns="11430" rIns="0" bIns="0" rtlCol="0">
            <a:spAutoFit/>
          </a:bodyPr>
          <a:lstStyle/>
          <a:p>
            <a:pPr marL="299085" marR="5080" indent="-287020" algn="just">
              <a:lnSpc>
                <a:spcPct val="100000"/>
              </a:lnSpc>
              <a:spcBef>
                <a:spcPts val="90"/>
              </a:spcBef>
            </a:pPr>
            <a:r>
              <a:rPr sz="2000" spc="-5" dirty="0">
                <a:solidFill>
                  <a:srgbClr val="404040"/>
                </a:solidFill>
                <a:latin typeface="Calibri"/>
                <a:cs typeface="Calibri"/>
              </a:rPr>
              <a:t>v</a:t>
            </a:r>
            <a:r>
              <a:rPr sz="2000" spc="445" dirty="0">
                <a:solidFill>
                  <a:srgbClr val="404040"/>
                </a:solidFill>
                <a:latin typeface="Calibri"/>
                <a:cs typeface="Calibri"/>
              </a:rPr>
              <a:t> </a:t>
            </a:r>
            <a:r>
              <a:rPr sz="2000" spc="-5" dirty="0">
                <a:solidFill>
                  <a:srgbClr val="404040"/>
                </a:solidFill>
                <a:latin typeface="Calibri"/>
                <a:cs typeface="Calibri"/>
              </a:rPr>
              <a:t>Descriptive</a:t>
            </a:r>
            <a:r>
              <a:rPr sz="2000" spc="445" dirty="0">
                <a:solidFill>
                  <a:srgbClr val="404040"/>
                </a:solidFill>
                <a:latin typeface="Calibri"/>
                <a:cs typeface="Calibri"/>
              </a:rPr>
              <a:t> </a:t>
            </a:r>
            <a:r>
              <a:rPr sz="2000" spc="-10" dirty="0">
                <a:solidFill>
                  <a:srgbClr val="404040"/>
                </a:solidFill>
                <a:latin typeface="Calibri"/>
                <a:cs typeface="Calibri"/>
              </a:rPr>
              <a:t>statistics</a:t>
            </a:r>
            <a:r>
              <a:rPr sz="2000" spc="434" dirty="0">
                <a:solidFill>
                  <a:srgbClr val="404040"/>
                </a:solidFill>
                <a:latin typeface="Calibri"/>
                <a:cs typeface="Calibri"/>
              </a:rPr>
              <a:t> </a:t>
            </a:r>
            <a:r>
              <a:rPr sz="2000" spc="-5" dirty="0">
                <a:solidFill>
                  <a:srgbClr val="404040"/>
                </a:solidFill>
                <a:latin typeface="Calibri"/>
                <a:cs typeface="Calibri"/>
              </a:rPr>
              <a:t>are</a:t>
            </a:r>
            <a:r>
              <a:rPr sz="2000" spc="890" dirty="0">
                <a:solidFill>
                  <a:srgbClr val="404040"/>
                </a:solidFill>
                <a:latin typeface="Calibri"/>
                <a:cs typeface="Calibri"/>
              </a:rPr>
              <a:t> </a:t>
            </a:r>
            <a:r>
              <a:rPr sz="2000" spc="-20" dirty="0">
                <a:solidFill>
                  <a:srgbClr val="404040"/>
                </a:solidFill>
                <a:latin typeface="Calibri"/>
                <a:cs typeface="Calibri"/>
              </a:rPr>
              <a:t>broken</a:t>
            </a:r>
            <a:r>
              <a:rPr sz="2000" spc="844" dirty="0">
                <a:solidFill>
                  <a:srgbClr val="404040"/>
                </a:solidFill>
                <a:latin typeface="Calibri"/>
                <a:cs typeface="Calibri"/>
              </a:rPr>
              <a:t> </a:t>
            </a:r>
            <a:r>
              <a:rPr sz="2000" spc="-15" dirty="0">
                <a:solidFill>
                  <a:srgbClr val="404040"/>
                </a:solidFill>
                <a:latin typeface="Calibri"/>
                <a:cs typeface="Calibri"/>
              </a:rPr>
              <a:t>down</a:t>
            </a:r>
            <a:r>
              <a:rPr sz="2000" spc="860" dirty="0">
                <a:solidFill>
                  <a:srgbClr val="404040"/>
                </a:solidFill>
                <a:latin typeface="Calibri"/>
                <a:cs typeface="Calibri"/>
              </a:rPr>
              <a:t> </a:t>
            </a:r>
            <a:r>
              <a:rPr sz="2000" spc="-15" dirty="0">
                <a:solidFill>
                  <a:srgbClr val="404040"/>
                </a:solidFill>
                <a:latin typeface="Calibri"/>
                <a:cs typeface="Calibri"/>
              </a:rPr>
              <a:t>into</a:t>
            </a:r>
            <a:r>
              <a:rPr sz="2000" spc="860" dirty="0">
                <a:solidFill>
                  <a:srgbClr val="404040"/>
                </a:solidFill>
                <a:latin typeface="Calibri"/>
                <a:cs typeface="Calibri"/>
              </a:rPr>
              <a:t> </a:t>
            </a:r>
            <a:r>
              <a:rPr sz="2000" spc="-25" dirty="0">
                <a:solidFill>
                  <a:srgbClr val="404040"/>
                </a:solidFill>
                <a:latin typeface="Calibri"/>
                <a:cs typeface="Calibri"/>
              </a:rPr>
              <a:t>two </a:t>
            </a:r>
            <a:r>
              <a:rPr sz="2000" spc="-20" dirty="0">
                <a:solidFill>
                  <a:srgbClr val="404040"/>
                </a:solidFill>
                <a:latin typeface="Calibri"/>
                <a:cs typeface="Calibri"/>
              </a:rPr>
              <a:t> </a:t>
            </a:r>
            <a:r>
              <a:rPr sz="2000" spc="-10" dirty="0">
                <a:solidFill>
                  <a:srgbClr val="404040"/>
                </a:solidFill>
                <a:latin typeface="Calibri"/>
                <a:cs typeface="Calibri"/>
              </a:rPr>
              <a:t>categories. </a:t>
            </a:r>
            <a:r>
              <a:rPr sz="2000" b="1" spc="-10" dirty="0">
                <a:solidFill>
                  <a:srgbClr val="404040"/>
                </a:solidFill>
                <a:latin typeface="Calibri"/>
                <a:cs typeface="Calibri"/>
              </a:rPr>
              <a:t>Measures </a:t>
            </a:r>
            <a:r>
              <a:rPr sz="2000" b="1" spc="10" dirty="0">
                <a:solidFill>
                  <a:srgbClr val="404040"/>
                </a:solidFill>
                <a:latin typeface="Calibri"/>
                <a:cs typeface="Calibri"/>
              </a:rPr>
              <a:t>of </a:t>
            </a:r>
            <a:r>
              <a:rPr sz="2000" b="1" spc="-15" dirty="0">
                <a:solidFill>
                  <a:srgbClr val="404040"/>
                </a:solidFill>
                <a:latin typeface="Calibri"/>
                <a:cs typeface="Calibri"/>
              </a:rPr>
              <a:t>central </a:t>
            </a:r>
            <a:r>
              <a:rPr sz="2000" b="1" spc="-5" dirty="0">
                <a:solidFill>
                  <a:srgbClr val="404040"/>
                </a:solidFill>
                <a:latin typeface="Calibri"/>
                <a:cs typeface="Calibri"/>
              </a:rPr>
              <a:t>tendency </a:t>
            </a:r>
            <a:r>
              <a:rPr sz="2000" dirty="0">
                <a:solidFill>
                  <a:srgbClr val="404040"/>
                </a:solidFill>
                <a:latin typeface="Calibri"/>
                <a:cs typeface="Calibri"/>
              </a:rPr>
              <a:t>and </a:t>
            </a:r>
            <a:r>
              <a:rPr sz="2000" b="1" spc="-10" dirty="0">
                <a:solidFill>
                  <a:srgbClr val="404040"/>
                </a:solidFill>
                <a:latin typeface="Calibri"/>
                <a:cs typeface="Calibri"/>
              </a:rPr>
              <a:t>measures </a:t>
            </a:r>
            <a:r>
              <a:rPr sz="2000" b="1" dirty="0">
                <a:solidFill>
                  <a:srgbClr val="404040"/>
                </a:solidFill>
                <a:latin typeface="Calibri"/>
                <a:cs typeface="Calibri"/>
              </a:rPr>
              <a:t>of </a:t>
            </a:r>
            <a:r>
              <a:rPr sz="2000" b="1" spc="5" dirty="0">
                <a:solidFill>
                  <a:srgbClr val="404040"/>
                </a:solidFill>
                <a:latin typeface="Calibri"/>
                <a:cs typeface="Calibri"/>
              </a:rPr>
              <a:t> </a:t>
            </a:r>
            <a:r>
              <a:rPr sz="2000" b="1" spc="-10" dirty="0">
                <a:solidFill>
                  <a:srgbClr val="404040"/>
                </a:solidFill>
                <a:latin typeface="Calibri"/>
                <a:cs typeface="Calibri"/>
              </a:rPr>
              <a:t>variability</a:t>
            </a:r>
            <a:r>
              <a:rPr sz="2000" b="1" spc="25" dirty="0">
                <a:solidFill>
                  <a:srgbClr val="404040"/>
                </a:solidFill>
                <a:latin typeface="Calibri"/>
                <a:cs typeface="Calibri"/>
              </a:rPr>
              <a:t> </a:t>
            </a:r>
            <a:r>
              <a:rPr sz="2000" b="1" spc="-5" dirty="0">
                <a:solidFill>
                  <a:srgbClr val="404040"/>
                </a:solidFill>
                <a:latin typeface="Calibri"/>
                <a:cs typeface="Calibri"/>
              </a:rPr>
              <a:t>(spread)</a:t>
            </a:r>
            <a:r>
              <a:rPr sz="2000" spc="-5" dirty="0">
                <a:solidFill>
                  <a:srgbClr val="404040"/>
                </a:solidFill>
                <a:latin typeface="Calibri"/>
                <a:cs typeface="Calibri"/>
              </a:rPr>
              <a:t>.</a:t>
            </a:r>
            <a:endParaRPr sz="2000" dirty="0">
              <a:latin typeface="Calibri"/>
              <a:cs typeface="Calibri"/>
            </a:endParaRPr>
          </a:p>
          <a:p>
            <a:pPr marL="299085" marR="5715" indent="-287020" algn="just">
              <a:lnSpc>
                <a:spcPct val="100000"/>
              </a:lnSpc>
              <a:spcBef>
                <a:spcPts val="605"/>
              </a:spcBef>
            </a:pPr>
            <a:r>
              <a:rPr sz="2000" spc="-5" dirty="0">
                <a:solidFill>
                  <a:srgbClr val="C00000"/>
                </a:solidFill>
                <a:latin typeface="Calibri"/>
                <a:cs typeface="Calibri"/>
              </a:rPr>
              <a:t>v</a:t>
            </a:r>
            <a:r>
              <a:rPr sz="2000" dirty="0">
                <a:solidFill>
                  <a:srgbClr val="C00000"/>
                </a:solidFill>
                <a:latin typeface="Calibri"/>
                <a:cs typeface="Calibri"/>
              </a:rPr>
              <a:t> </a:t>
            </a:r>
            <a:r>
              <a:rPr sz="2000" b="1" spc="-10" dirty="0">
                <a:solidFill>
                  <a:srgbClr val="C00000"/>
                </a:solidFill>
                <a:latin typeface="Calibri"/>
                <a:cs typeface="Calibri"/>
              </a:rPr>
              <a:t>Measure </a:t>
            </a:r>
            <a:r>
              <a:rPr sz="2000" b="1" dirty="0">
                <a:solidFill>
                  <a:srgbClr val="C00000"/>
                </a:solidFill>
                <a:latin typeface="Calibri"/>
                <a:cs typeface="Calibri"/>
              </a:rPr>
              <a:t>of </a:t>
            </a:r>
            <a:r>
              <a:rPr sz="2000" b="1" spc="-15" dirty="0">
                <a:solidFill>
                  <a:srgbClr val="C00000"/>
                </a:solidFill>
                <a:latin typeface="Calibri"/>
                <a:cs typeface="Calibri"/>
              </a:rPr>
              <a:t>Central </a:t>
            </a:r>
            <a:r>
              <a:rPr sz="2000" b="1" spc="-20" dirty="0">
                <a:solidFill>
                  <a:srgbClr val="C00000"/>
                </a:solidFill>
                <a:latin typeface="Calibri"/>
                <a:cs typeface="Calibri"/>
              </a:rPr>
              <a:t>Tendency: </a:t>
            </a:r>
            <a:r>
              <a:rPr sz="2000" spc="-15" dirty="0">
                <a:solidFill>
                  <a:srgbClr val="404040"/>
                </a:solidFill>
                <a:latin typeface="Calibri"/>
                <a:cs typeface="Calibri"/>
              </a:rPr>
              <a:t>Central </a:t>
            </a:r>
            <a:r>
              <a:rPr sz="2000" spc="-5" dirty="0">
                <a:solidFill>
                  <a:srgbClr val="404040"/>
                </a:solidFill>
                <a:latin typeface="Calibri"/>
                <a:cs typeface="Calibri"/>
              </a:rPr>
              <a:t>tendency </a:t>
            </a:r>
            <a:r>
              <a:rPr sz="2000" spc="-25" dirty="0">
                <a:solidFill>
                  <a:srgbClr val="404040"/>
                </a:solidFill>
                <a:latin typeface="Calibri"/>
                <a:cs typeface="Calibri"/>
              </a:rPr>
              <a:t>refers </a:t>
            </a:r>
            <a:r>
              <a:rPr sz="2000" spc="-15" dirty="0">
                <a:solidFill>
                  <a:srgbClr val="404040"/>
                </a:solidFill>
                <a:latin typeface="Calibri"/>
                <a:cs typeface="Calibri"/>
              </a:rPr>
              <a:t>to </a:t>
            </a:r>
            <a:r>
              <a:rPr sz="2000" dirty="0">
                <a:solidFill>
                  <a:srgbClr val="404040"/>
                </a:solidFill>
                <a:latin typeface="Calibri"/>
                <a:cs typeface="Calibri"/>
              </a:rPr>
              <a:t>the </a:t>
            </a:r>
            <a:r>
              <a:rPr sz="2000" spc="5" dirty="0">
                <a:solidFill>
                  <a:srgbClr val="404040"/>
                </a:solidFill>
                <a:latin typeface="Calibri"/>
                <a:cs typeface="Calibri"/>
              </a:rPr>
              <a:t> </a:t>
            </a:r>
            <a:r>
              <a:rPr sz="2000" spc="-5" dirty="0">
                <a:solidFill>
                  <a:srgbClr val="404040"/>
                </a:solidFill>
                <a:latin typeface="Calibri"/>
                <a:cs typeface="Calibri"/>
              </a:rPr>
              <a:t>idea</a:t>
            </a:r>
            <a:r>
              <a:rPr sz="2000" dirty="0">
                <a:solidFill>
                  <a:srgbClr val="404040"/>
                </a:solidFill>
                <a:latin typeface="Calibri"/>
                <a:cs typeface="Calibri"/>
              </a:rPr>
              <a:t> </a:t>
            </a:r>
            <a:r>
              <a:rPr sz="2000" spc="-10" dirty="0">
                <a:solidFill>
                  <a:srgbClr val="404040"/>
                </a:solidFill>
                <a:latin typeface="Calibri"/>
                <a:cs typeface="Calibri"/>
              </a:rPr>
              <a:t>that</a:t>
            </a:r>
            <a:r>
              <a:rPr sz="2000" spc="-5" dirty="0">
                <a:solidFill>
                  <a:srgbClr val="404040"/>
                </a:solidFill>
                <a:latin typeface="Calibri"/>
                <a:cs typeface="Calibri"/>
              </a:rPr>
              <a:t> there</a:t>
            </a:r>
            <a:r>
              <a:rPr sz="2000" dirty="0">
                <a:solidFill>
                  <a:srgbClr val="404040"/>
                </a:solidFill>
                <a:latin typeface="Calibri"/>
                <a:cs typeface="Calibri"/>
              </a:rPr>
              <a:t> </a:t>
            </a:r>
            <a:r>
              <a:rPr sz="2000" spc="5" dirty="0">
                <a:solidFill>
                  <a:srgbClr val="404040"/>
                </a:solidFill>
                <a:latin typeface="Calibri"/>
                <a:cs typeface="Calibri"/>
              </a:rPr>
              <a:t>is</a:t>
            </a:r>
            <a:r>
              <a:rPr sz="2000" spc="10" dirty="0">
                <a:solidFill>
                  <a:srgbClr val="404040"/>
                </a:solidFill>
                <a:latin typeface="Calibri"/>
                <a:cs typeface="Calibri"/>
              </a:rPr>
              <a:t> </a:t>
            </a:r>
            <a:r>
              <a:rPr sz="2000" spc="-5" dirty="0">
                <a:solidFill>
                  <a:srgbClr val="404040"/>
                </a:solidFill>
                <a:latin typeface="Calibri"/>
                <a:cs typeface="Calibri"/>
              </a:rPr>
              <a:t>one</a:t>
            </a:r>
            <a:r>
              <a:rPr sz="2000" dirty="0">
                <a:solidFill>
                  <a:srgbClr val="404040"/>
                </a:solidFill>
                <a:latin typeface="Calibri"/>
                <a:cs typeface="Calibri"/>
              </a:rPr>
              <a:t> </a:t>
            </a:r>
            <a:r>
              <a:rPr sz="2000" spc="-5" dirty="0">
                <a:solidFill>
                  <a:srgbClr val="404040"/>
                </a:solidFill>
                <a:latin typeface="Calibri"/>
                <a:cs typeface="Calibri"/>
              </a:rPr>
              <a:t>number</a:t>
            </a:r>
            <a:r>
              <a:rPr sz="2000" dirty="0">
                <a:solidFill>
                  <a:srgbClr val="404040"/>
                </a:solidFill>
                <a:latin typeface="Calibri"/>
                <a:cs typeface="Calibri"/>
              </a:rPr>
              <a:t> </a:t>
            </a:r>
            <a:r>
              <a:rPr sz="2000" spc="-10" dirty="0">
                <a:solidFill>
                  <a:srgbClr val="404040"/>
                </a:solidFill>
                <a:latin typeface="Calibri"/>
                <a:cs typeface="Calibri"/>
              </a:rPr>
              <a:t>that</a:t>
            </a:r>
            <a:r>
              <a:rPr sz="2000" spc="-5" dirty="0">
                <a:solidFill>
                  <a:srgbClr val="404040"/>
                </a:solidFill>
                <a:latin typeface="Calibri"/>
                <a:cs typeface="Calibri"/>
              </a:rPr>
              <a:t> </a:t>
            </a:r>
            <a:r>
              <a:rPr sz="2000" spc="-10" dirty="0">
                <a:solidFill>
                  <a:srgbClr val="404040"/>
                </a:solidFill>
                <a:latin typeface="Calibri"/>
                <a:cs typeface="Calibri"/>
              </a:rPr>
              <a:t>best</a:t>
            </a:r>
            <a:r>
              <a:rPr sz="2000" spc="-5" dirty="0">
                <a:solidFill>
                  <a:srgbClr val="404040"/>
                </a:solidFill>
                <a:latin typeface="Calibri"/>
                <a:cs typeface="Calibri"/>
              </a:rPr>
              <a:t> </a:t>
            </a:r>
            <a:r>
              <a:rPr sz="2000" spc="-10" dirty="0">
                <a:solidFill>
                  <a:srgbClr val="404040"/>
                </a:solidFill>
                <a:latin typeface="Calibri"/>
                <a:cs typeface="Calibri"/>
              </a:rPr>
              <a:t>summarizes</a:t>
            </a:r>
            <a:r>
              <a:rPr sz="2000" spc="430" dirty="0">
                <a:solidFill>
                  <a:srgbClr val="404040"/>
                </a:solidFill>
                <a:latin typeface="Calibri"/>
                <a:cs typeface="Calibri"/>
              </a:rPr>
              <a:t> </a:t>
            </a:r>
            <a:r>
              <a:rPr sz="2000" spc="5" dirty="0">
                <a:solidFill>
                  <a:srgbClr val="404040"/>
                </a:solidFill>
                <a:latin typeface="Calibri"/>
                <a:cs typeface="Calibri"/>
              </a:rPr>
              <a:t>the </a:t>
            </a:r>
            <a:r>
              <a:rPr sz="2000" spc="10" dirty="0">
                <a:solidFill>
                  <a:srgbClr val="404040"/>
                </a:solidFill>
                <a:latin typeface="Calibri"/>
                <a:cs typeface="Calibri"/>
              </a:rPr>
              <a:t> </a:t>
            </a:r>
            <a:r>
              <a:rPr sz="2000" spc="-10" dirty="0">
                <a:solidFill>
                  <a:srgbClr val="404040"/>
                </a:solidFill>
                <a:latin typeface="Calibri"/>
                <a:cs typeface="Calibri"/>
              </a:rPr>
              <a:t>entire </a:t>
            </a:r>
            <a:r>
              <a:rPr sz="2000" spc="-15" dirty="0">
                <a:solidFill>
                  <a:srgbClr val="404040"/>
                </a:solidFill>
                <a:latin typeface="Calibri"/>
                <a:cs typeface="Calibri"/>
              </a:rPr>
              <a:t>set </a:t>
            </a:r>
            <a:r>
              <a:rPr sz="2000" spc="-5" dirty="0">
                <a:solidFill>
                  <a:srgbClr val="404040"/>
                </a:solidFill>
                <a:latin typeface="Calibri"/>
                <a:cs typeface="Calibri"/>
              </a:rPr>
              <a:t>of measurements, a number that is in </a:t>
            </a:r>
            <a:r>
              <a:rPr sz="2000" spc="-10" dirty="0">
                <a:solidFill>
                  <a:srgbClr val="404040"/>
                </a:solidFill>
                <a:latin typeface="Calibri"/>
                <a:cs typeface="Calibri"/>
              </a:rPr>
              <a:t>some </a:t>
            </a:r>
            <a:r>
              <a:rPr sz="2000" spc="-25" dirty="0">
                <a:solidFill>
                  <a:srgbClr val="404040"/>
                </a:solidFill>
                <a:latin typeface="Calibri"/>
                <a:cs typeface="Calibri"/>
              </a:rPr>
              <a:t>way </a:t>
            </a:r>
            <a:r>
              <a:rPr sz="2000" spc="-20" dirty="0">
                <a:solidFill>
                  <a:srgbClr val="404040"/>
                </a:solidFill>
                <a:latin typeface="Calibri"/>
                <a:cs typeface="Calibri"/>
              </a:rPr>
              <a:t> “central” </a:t>
            </a:r>
            <a:r>
              <a:rPr sz="2000" spc="-15" dirty="0">
                <a:solidFill>
                  <a:srgbClr val="404040"/>
                </a:solidFill>
                <a:latin typeface="Calibri"/>
                <a:cs typeface="Calibri"/>
              </a:rPr>
              <a:t>to </a:t>
            </a:r>
            <a:r>
              <a:rPr sz="2000" spc="-5" dirty="0">
                <a:solidFill>
                  <a:srgbClr val="404040"/>
                </a:solidFill>
                <a:latin typeface="Calibri"/>
                <a:cs typeface="Calibri"/>
              </a:rPr>
              <a:t>the </a:t>
            </a:r>
            <a:r>
              <a:rPr sz="2000" spc="-10" dirty="0">
                <a:solidFill>
                  <a:srgbClr val="404040"/>
                </a:solidFill>
                <a:latin typeface="Calibri"/>
                <a:cs typeface="Calibri"/>
              </a:rPr>
              <a:t>set. </a:t>
            </a:r>
            <a:r>
              <a:rPr sz="2000" spc="-10" dirty="0">
                <a:latin typeface="Calibri"/>
                <a:cs typeface="Calibri"/>
              </a:rPr>
              <a:t>They </a:t>
            </a:r>
            <a:r>
              <a:rPr sz="2000" spc="-15" dirty="0">
                <a:latin typeface="Calibri"/>
                <a:cs typeface="Calibri"/>
              </a:rPr>
              <a:t>are </a:t>
            </a:r>
            <a:r>
              <a:rPr sz="2000" spc="-10" dirty="0">
                <a:latin typeface="Calibri"/>
                <a:cs typeface="Calibri"/>
              </a:rPr>
              <a:t>computed </a:t>
            </a:r>
            <a:r>
              <a:rPr sz="2000" spc="-15" dirty="0">
                <a:latin typeface="Calibri"/>
                <a:cs typeface="Calibri"/>
              </a:rPr>
              <a:t>to give </a:t>
            </a:r>
            <a:r>
              <a:rPr sz="2000" spc="-5" dirty="0">
                <a:latin typeface="Calibri"/>
                <a:cs typeface="Calibri"/>
              </a:rPr>
              <a:t>a </a:t>
            </a:r>
            <a:r>
              <a:rPr sz="2000" spc="-10" dirty="0">
                <a:latin typeface="Calibri"/>
                <a:cs typeface="Calibri"/>
              </a:rPr>
              <a:t>“center” </a:t>
            </a:r>
            <a:r>
              <a:rPr sz="2000" spc="-5" dirty="0">
                <a:latin typeface="Calibri"/>
                <a:cs typeface="Calibri"/>
              </a:rPr>
              <a:t> </a:t>
            </a:r>
            <a:r>
              <a:rPr sz="2000" spc="-10" dirty="0">
                <a:latin typeface="Calibri"/>
                <a:cs typeface="Calibri"/>
              </a:rPr>
              <a:t>around</a:t>
            </a:r>
            <a:r>
              <a:rPr sz="2000" dirty="0">
                <a:latin typeface="Calibri"/>
                <a:cs typeface="Calibri"/>
              </a:rPr>
              <a:t> </a:t>
            </a:r>
            <a:r>
              <a:rPr sz="2000" spc="-5" dirty="0">
                <a:latin typeface="Calibri"/>
                <a:cs typeface="Calibri"/>
              </a:rPr>
              <a:t>which</a:t>
            </a:r>
            <a:r>
              <a:rPr sz="2000" spc="15" dirty="0">
                <a:latin typeface="Calibri"/>
                <a:cs typeface="Calibri"/>
              </a:rPr>
              <a:t> </a:t>
            </a:r>
            <a:r>
              <a:rPr sz="2000" spc="-5" dirty="0">
                <a:latin typeface="Calibri"/>
                <a:cs typeface="Calibri"/>
              </a:rPr>
              <a:t>the</a:t>
            </a:r>
            <a:r>
              <a:rPr sz="2000" dirty="0">
                <a:latin typeface="Calibri"/>
                <a:cs typeface="Calibri"/>
              </a:rPr>
              <a:t> </a:t>
            </a:r>
            <a:r>
              <a:rPr sz="2000" spc="-15" dirty="0">
                <a:latin typeface="Calibri"/>
                <a:cs typeface="Calibri"/>
              </a:rPr>
              <a:t>measurements</a:t>
            </a:r>
            <a:r>
              <a:rPr sz="2000" spc="130" dirty="0">
                <a:latin typeface="Calibri"/>
                <a:cs typeface="Calibri"/>
              </a:rPr>
              <a:t> </a:t>
            </a:r>
            <a:r>
              <a:rPr sz="2000" spc="-10" dirty="0">
                <a:latin typeface="Calibri"/>
                <a:cs typeface="Calibri"/>
              </a:rPr>
              <a:t>in</a:t>
            </a:r>
            <a:r>
              <a:rPr sz="2000" spc="20" dirty="0">
                <a:latin typeface="Calibri"/>
                <a:cs typeface="Calibri"/>
              </a:rPr>
              <a:t> </a:t>
            </a:r>
            <a:r>
              <a:rPr sz="2000" spc="-5" dirty="0">
                <a:latin typeface="Calibri"/>
                <a:cs typeface="Calibri"/>
              </a:rPr>
              <a:t>the</a:t>
            </a:r>
            <a:r>
              <a:rPr sz="2000" dirty="0">
                <a:latin typeface="Calibri"/>
                <a:cs typeface="Calibri"/>
              </a:rPr>
              <a:t> </a:t>
            </a:r>
            <a:r>
              <a:rPr sz="2000" spc="-15" dirty="0">
                <a:latin typeface="Calibri"/>
                <a:cs typeface="Calibri"/>
              </a:rPr>
              <a:t>data</a:t>
            </a:r>
            <a:r>
              <a:rPr sz="2000" spc="20" dirty="0">
                <a:latin typeface="Calibri"/>
                <a:cs typeface="Calibri"/>
              </a:rPr>
              <a:t> </a:t>
            </a:r>
            <a:r>
              <a:rPr sz="2000" spc="-15" dirty="0">
                <a:latin typeface="Calibri"/>
                <a:cs typeface="Calibri"/>
              </a:rPr>
              <a:t>are</a:t>
            </a:r>
            <a:r>
              <a:rPr sz="2000" spc="30" dirty="0">
                <a:latin typeface="Calibri"/>
                <a:cs typeface="Calibri"/>
              </a:rPr>
              <a:t> </a:t>
            </a:r>
            <a:r>
              <a:rPr sz="2000" spc="-10" dirty="0">
                <a:latin typeface="Calibri"/>
                <a:cs typeface="Calibri"/>
              </a:rPr>
              <a:t>distributed.</a:t>
            </a:r>
            <a:endParaRPr sz="2000" dirty="0">
              <a:latin typeface="Calibri"/>
              <a:cs typeface="Calibri"/>
            </a:endParaRPr>
          </a:p>
          <a:p>
            <a:pPr marL="299085" indent="-287020" algn="just">
              <a:lnSpc>
                <a:spcPct val="100000"/>
              </a:lnSpc>
              <a:spcBef>
                <a:spcPts val="605"/>
              </a:spcBef>
              <a:buFont typeface="Arial MT"/>
              <a:buChar char="•"/>
              <a:tabLst>
                <a:tab pos="299720" algn="l"/>
              </a:tabLst>
            </a:pPr>
            <a:r>
              <a:rPr sz="2000" b="1" spc="-15" dirty="0">
                <a:solidFill>
                  <a:srgbClr val="6F2F9F"/>
                </a:solidFill>
                <a:latin typeface="Calibri"/>
                <a:cs typeface="Calibri"/>
              </a:rPr>
              <a:t>Eg:</a:t>
            </a:r>
            <a:r>
              <a:rPr sz="2000" b="1" spc="15" dirty="0">
                <a:solidFill>
                  <a:srgbClr val="6F2F9F"/>
                </a:solidFill>
                <a:latin typeface="Calibri"/>
                <a:cs typeface="Calibri"/>
              </a:rPr>
              <a:t> </a:t>
            </a:r>
            <a:r>
              <a:rPr sz="2000" spc="-5" dirty="0">
                <a:solidFill>
                  <a:srgbClr val="404040"/>
                </a:solidFill>
                <a:latin typeface="Calibri"/>
                <a:cs typeface="Calibri"/>
              </a:rPr>
              <a:t>Mean,</a:t>
            </a:r>
            <a:r>
              <a:rPr sz="2000" dirty="0">
                <a:solidFill>
                  <a:srgbClr val="404040"/>
                </a:solidFill>
                <a:latin typeface="Calibri"/>
                <a:cs typeface="Calibri"/>
              </a:rPr>
              <a:t> </a:t>
            </a:r>
            <a:r>
              <a:rPr sz="2000" spc="-5" dirty="0">
                <a:solidFill>
                  <a:srgbClr val="404040"/>
                </a:solidFill>
                <a:latin typeface="Calibri"/>
                <a:cs typeface="Calibri"/>
              </a:rPr>
              <a:t>Median,</a:t>
            </a:r>
            <a:r>
              <a:rPr sz="2000" spc="20" dirty="0">
                <a:solidFill>
                  <a:srgbClr val="404040"/>
                </a:solidFill>
                <a:latin typeface="Calibri"/>
                <a:cs typeface="Calibri"/>
              </a:rPr>
              <a:t> </a:t>
            </a:r>
            <a:r>
              <a:rPr sz="2000" spc="-5" dirty="0">
                <a:solidFill>
                  <a:srgbClr val="404040"/>
                </a:solidFill>
                <a:latin typeface="Calibri"/>
                <a:cs typeface="Calibri"/>
              </a:rPr>
              <a:t>Mode</a:t>
            </a:r>
            <a:endParaRPr sz="2000" dirty="0">
              <a:latin typeface="Calibri"/>
              <a:cs typeface="Calibri"/>
            </a:endParaRPr>
          </a:p>
          <a:p>
            <a:pPr marL="299085" marR="9525" indent="-287020" algn="just">
              <a:lnSpc>
                <a:spcPct val="100000"/>
              </a:lnSpc>
              <a:spcBef>
                <a:spcPts val="600"/>
              </a:spcBef>
            </a:pPr>
            <a:r>
              <a:rPr sz="2000" spc="-5" dirty="0">
                <a:solidFill>
                  <a:srgbClr val="C00000"/>
                </a:solidFill>
                <a:latin typeface="Calibri"/>
                <a:cs typeface="Calibri"/>
              </a:rPr>
              <a:t>v</a:t>
            </a:r>
            <a:r>
              <a:rPr sz="2000" dirty="0">
                <a:solidFill>
                  <a:srgbClr val="C00000"/>
                </a:solidFill>
                <a:latin typeface="Calibri"/>
                <a:cs typeface="Calibri"/>
              </a:rPr>
              <a:t> </a:t>
            </a:r>
            <a:r>
              <a:rPr sz="2000" b="1" spc="-5" dirty="0">
                <a:solidFill>
                  <a:srgbClr val="C00000"/>
                </a:solidFill>
                <a:latin typeface="Calibri"/>
                <a:cs typeface="Calibri"/>
              </a:rPr>
              <a:t>Measure of </a:t>
            </a:r>
            <a:r>
              <a:rPr sz="2000" b="1" spc="-10" dirty="0">
                <a:solidFill>
                  <a:srgbClr val="C00000"/>
                </a:solidFill>
                <a:latin typeface="Calibri"/>
                <a:cs typeface="Calibri"/>
              </a:rPr>
              <a:t>Spread </a:t>
            </a:r>
            <a:r>
              <a:rPr sz="2000" b="1" spc="-5" dirty="0">
                <a:solidFill>
                  <a:srgbClr val="C00000"/>
                </a:solidFill>
                <a:latin typeface="Calibri"/>
                <a:cs typeface="Calibri"/>
              </a:rPr>
              <a:t>/ </a:t>
            </a:r>
            <a:r>
              <a:rPr sz="2000" b="1" spc="-10" dirty="0">
                <a:solidFill>
                  <a:srgbClr val="C00000"/>
                </a:solidFill>
                <a:latin typeface="Calibri"/>
                <a:cs typeface="Calibri"/>
              </a:rPr>
              <a:t>Dispersion: </a:t>
            </a:r>
            <a:r>
              <a:rPr sz="2000" spc="-10" dirty="0">
                <a:latin typeface="Calibri"/>
                <a:cs typeface="Calibri"/>
              </a:rPr>
              <a:t>Measure </a:t>
            </a:r>
            <a:r>
              <a:rPr sz="2000" spc="-5" dirty="0">
                <a:latin typeface="Calibri"/>
                <a:cs typeface="Calibri"/>
              </a:rPr>
              <a:t>of </a:t>
            </a:r>
            <a:r>
              <a:rPr sz="2000" spc="-10" dirty="0">
                <a:latin typeface="Calibri"/>
                <a:cs typeface="Calibri"/>
              </a:rPr>
              <a:t>Spread </a:t>
            </a:r>
            <a:r>
              <a:rPr sz="2000" spc="-25" dirty="0">
                <a:latin typeface="Calibri"/>
                <a:cs typeface="Calibri"/>
              </a:rPr>
              <a:t>refers to </a:t>
            </a:r>
            <a:r>
              <a:rPr sz="2000" spc="-20" dirty="0">
                <a:latin typeface="Calibri"/>
                <a:cs typeface="Calibri"/>
              </a:rPr>
              <a:t> </a:t>
            </a:r>
            <a:r>
              <a:rPr sz="2000" spc="-5" dirty="0">
                <a:latin typeface="Calibri"/>
                <a:cs typeface="Calibri"/>
              </a:rPr>
              <a:t>the idea</a:t>
            </a:r>
            <a:r>
              <a:rPr sz="2000" spc="35" dirty="0">
                <a:latin typeface="Calibri"/>
                <a:cs typeface="Calibri"/>
              </a:rPr>
              <a:t> </a:t>
            </a:r>
            <a:r>
              <a:rPr sz="2000" spc="-5" dirty="0">
                <a:latin typeface="Calibri"/>
                <a:cs typeface="Calibri"/>
              </a:rPr>
              <a:t>of </a:t>
            </a:r>
            <a:r>
              <a:rPr sz="2000" spc="-10" dirty="0">
                <a:latin typeface="Calibri"/>
                <a:cs typeface="Calibri"/>
              </a:rPr>
              <a:t>variability</a:t>
            </a:r>
            <a:r>
              <a:rPr sz="2000" spc="45" dirty="0">
                <a:latin typeface="Calibri"/>
                <a:cs typeface="Calibri"/>
              </a:rPr>
              <a:t> </a:t>
            </a:r>
            <a:r>
              <a:rPr sz="2000" spc="-5" dirty="0">
                <a:latin typeface="Calibri"/>
                <a:cs typeface="Calibri"/>
              </a:rPr>
              <a:t>within</a:t>
            </a:r>
            <a:r>
              <a:rPr sz="2000" spc="10" dirty="0">
                <a:latin typeface="Calibri"/>
                <a:cs typeface="Calibri"/>
              </a:rPr>
              <a:t> </a:t>
            </a:r>
            <a:r>
              <a:rPr sz="2000" spc="-10" dirty="0">
                <a:latin typeface="Calibri"/>
                <a:cs typeface="Calibri"/>
              </a:rPr>
              <a:t>your</a:t>
            </a:r>
            <a:r>
              <a:rPr sz="2000" spc="-15" dirty="0">
                <a:latin typeface="Calibri"/>
                <a:cs typeface="Calibri"/>
              </a:rPr>
              <a:t> data</a:t>
            </a:r>
            <a:endParaRPr sz="2000" dirty="0">
              <a:latin typeface="Calibri"/>
              <a:cs typeface="Calibri"/>
            </a:endParaRPr>
          </a:p>
          <a:p>
            <a:pPr marL="299085" indent="-287020" algn="just">
              <a:lnSpc>
                <a:spcPct val="100000"/>
              </a:lnSpc>
              <a:buFont typeface="Arial MT"/>
              <a:buChar char="•"/>
              <a:tabLst>
                <a:tab pos="299720" algn="l"/>
              </a:tabLst>
            </a:pPr>
            <a:r>
              <a:rPr sz="2000" b="1" spc="-15" dirty="0">
                <a:solidFill>
                  <a:srgbClr val="6F2F9F"/>
                </a:solidFill>
                <a:latin typeface="Calibri"/>
                <a:cs typeface="Calibri"/>
              </a:rPr>
              <a:t>Eg:</a:t>
            </a:r>
            <a:r>
              <a:rPr sz="2000" b="1" spc="20" dirty="0">
                <a:solidFill>
                  <a:srgbClr val="6F2F9F"/>
                </a:solidFill>
                <a:latin typeface="Calibri"/>
                <a:cs typeface="Calibri"/>
              </a:rPr>
              <a:t> </a:t>
            </a:r>
            <a:r>
              <a:rPr sz="2000" spc="-10" dirty="0">
                <a:latin typeface="Calibri"/>
                <a:cs typeface="Calibri"/>
              </a:rPr>
              <a:t>Standard</a:t>
            </a:r>
            <a:r>
              <a:rPr sz="2000" spc="10" dirty="0">
                <a:latin typeface="Calibri"/>
                <a:cs typeface="Calibri"/>
              </a:rPr>
              <a:t> </a:t>
            </a:r>
            <a:r>
              <a:rPr sz="2000" spc="-10" dirty="0">
                <a:latin typeface="Calibri"/>
                <a:cs typeface="Calibri"/>
              </a:rPr>
              <a:t>Deviation,</a:t>
            </a:r>
            <a:r>
              <a:rPr sz="2000" spc="35" dirty="0">
                <a:latin typeface="Calibri"/>
                <a:cs typeface="Calibri"/>
              </a:rPr>
              <a:t> </a:t>
            </a:r>
            <a:r>
              <a:rPr sz="2000" spc="-20" dirty="0">
                <a:latin typeface="Calibri"/>
                <a:cs typeface="Calibri"/>
              </a:rPr>
              <a:t>Variance</a:t>
            </a:r>
            <a:endParaRPr sz="2000" dirty="0">
              <a:latin typeface="Calibri"/>
              <a:cs typeface="Calibri"/>
            </a:endParaRPr>
          </a:p>
        </p:txBody>
      </p:sp>
      <p:pic>
        <p:nvPicPr>
          <p:cNvPr id="4" name="object 4"/>
          <p:cNvPicPr/>
          <p:nvPr/>
        </p:nvPicPr>
        <p:blipFill>
          <a:blip r:embed="rId2" cstate="print"/>
          <a:stretch>
            <a:fillRect/>
          </a:stretch>
        </p:blipFill>
        <p:spPr>
          <a:xfrm>
            <a:off x="15" y="59"/>
            <a:ext cx="3476720" cy="6857873"/>
          </a:xfrm>
          <a:prstGeom prst="rect">
            <a:avLst/>
          </a:prstGeom>
        </p:spPr>
      </p:pic>
      <p:sp>
        <p:nvSpPr>
          <p:cNvPr id="5" name="object 5"/>
          <p:cNvSpPr/>
          <p:nvPr/>
        </p:nvSpPr>
        <p:spPr>
          <a:xfrm>
            <a:off x="3953204" y="1412776"/>
            <a:ext cx="4732020" cy="0"/>
          </a:xfrm>
          <a:custGeom>
            <a:avLst/>
            <a:gdLst/>
            <a:ahLst/>
            <a:cxnLst/>
            <a:rect l="l" t="t" r="r" b="b"/>
            <a:pathLst>
              <a:path w="6309359">
                <a:moveTo>
                  <a:pt x="0" y="0"/>
                </a:moveTo>
                <a:lnTo>
                  <a:pt x="6309360" y="0"/>
                </a:lnTo>
              </a:path>
            </a:pathLst>
          </a:custGeom>
          <a:ln w="19050">
            <a:solidFill>
              <a:srgbClr val="7BB4F4"/>
            </a:solidFill>
          </a:ln>
        </p:spPr>
        <p:txBody>
          <a:bodyPr wrap="square" lIns="0" tIns="0" rIns="0" bIns="0" rtlCol="0"/>
          <a:lstStyle/>
          <a:p>
            <a:endParaRPr/>
          </a:p>
        </p:txBody>
      </p:sp>
    </p:spTree>
    <p:extLst>
      <p:ext uri="{BB962C8B-B14F-4D97-AF65-F5344CB8AC3E}">
        <p14:creationId xmlns:p14="http://schemas.microsoft.com/office/powerpoint/2010/main" val="19444556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9144000" cy="6858000"/>
            <a:chOff x="0" y="0"/>
            <a:chExt cx="12192000" cy="6858000"/>
          </a:xfrm>
        </p:grpSpPr>
        <p:pic>
          <p:nvPicPr>
            <p:cNvPr id="3" name="object 3"/>
            <p:cNvPicPr/>
            <p:nvPr/>
          </p:nvPicPr>
          <p:blipFill>
            <a:blip r:embed="rId2" cstate="print"/>
            <a:stretch>
              <a:fillRect/>
            </a:stretch>
          </p:blipFill>
          <p:spPr>
            <a:xfrm>
              <a:off x="19" y="0"/>
              <a:ext cx="12191980" cy="6857996"/>
            </a:xfrm>
            <a:prstGeom prst="rect">
              <a:avLst/>
            </a:prstGeom>
          </p:spPr>
        </p:pic>
        <p:sp>
          <p:nvSpPr>
            <p:cNvPr id="4" name="object 4"/>
            <p:cNvSpPr/>
            <p:nvPr/>
          </p:nvSpPr>
          <p:spPr>
            <a:xfrm>
              <a:off x="0" y="5320144"/>
              <a:ext cx="12192000" cy="736600"/>
            </a:xfrm>
            <a:custGeom>
              <a:avLst/>
              <a:gdLst/>
              <a:ahLst/>
              <a:cxnLst/>
              <a:rect l="l" t="t" r="r" b="b"/>
              <a:pathLst>
                <a:path w="12192000" h="736600">
                  <a:moveTo>
                    <a:pt x="12192000" y="0"/>
                  </a:moveTo>
                  <a:lnTo>
                    <a:pt x="0" y="0"/>
                  </a:lnTo>
                  <a:lnTo>
                    <a:pt x="0" y="736549"/>
                  </a:lnTo>
                  <a:lnTo>
                    <a:pt x="12192000" y="736549"/>
                  </a:lnTo>
                  <a:lnTo>
                    <a:pt x="12192000" y="0"/>
                  </a:lnTo>
                  <a:close/>
                </a:path>
              </a:pathLst>
            </a:custGeom>
            <a:solidFill>
              <a:srgbClr val="FFFFFF">
                <a:alpha val="92939"/>
              </a:srgbClr>
            </a:solidFill>
          </p:spPr>
          <p:txBody>
            <a:bodyPr wrap="square" lIns="0" tIns="0" rIns="0" bIns="0" rtlCol="0"/>
            <a:lstStyle/>
            <a:p>
              <a:endParaRPr/>
            </a:p>
          </p:txBody>
        </p:sp>
      </p:grpSp>
      <p:sp>
        <p:nvSpPr>
          <p:cNvPr id="5" name="object 5"/>
          <p:cNvSpPr txBox="1">
            <a:spLocks noGrp="1"/>
          </p:cNvSpPr>
          <p:nvPr>
            <p:ph type="title"/>
          </p:nvPr>
        </p:nvSpPr>
        <p:spPr>
          <a:xfrm>
            <a:off x="1619672" y="5350831"/>
            <a:ext cx="6840760" cy="566822"/>
          </a:xfrm>
          <a:prstGeom prst="rect">
            <a:avLst/>
          </a:prstGeom>
        </p:spPr>
        <p:txBody>
          <a:bodyPr vert="horz" wrap="square" lIns="0" tIns="12700" rIns="0" bIns="0" rtlCol="0">
            <a:spAutoFit/>
          </a:bodyPr>
          <a:lstStyle/>
          <a:p>
            <a:pPr marL="12700">
              <a:lnSpc>
                <a:spcPct val="100000"/>
              </a:lnSpc>
              <a:spcBef>
                <a:spcPts val="100"/>
              </a:spcBef>
            </a:pPr>
            <a:r>
              <a:rPr sz="3600" spc="-10" dirty="0">
                <a:solidFill>
                  <a:srgbClr val="252525"/>
                </a:solidFill>
                <a:latin typeface="Calibri Light"/>
                <a:cs typeface="Calibri Light"/>
              </a:rPr>
              <a:t>Frequency</a:t>
            </a:r>
            <a:r>
              <a:rPr sz="3600" spc="-55" dirty="0">
                <a:solidFill>
                  <a:srgbClr val="252525"/>
                </a:solidFill>
                <a:latin typeface="Calibri Light"/>
                <a:cs typeface="Calibri Light"/>
              </a:rPr>
              <a:t> </a:t>
            </a:r>
            <a:r>
              <a:rPr sz="3600" spc="-10" dirty="0">
                <a:solidFill>
                  <a:srgbClr val="252525"/>
                </a:solidFill>
                <a:latin typeface="Calibri Light"/>
                <a:cs typeface="Calibri Light"/>
              </a:rPr>
              <a:t>distribution</a:t>
            </a:r>
            <a:endParaRPr sz="3600" dirty="0">
              <a:latin typeface="Calibri Light"/>
              <a:cs typeface="Calibri Light"/>
            </a:endParaRPr>
          </a:p>
        </p:txBody>
      </p:sp>
      <p:sp>
        <p:nvSpPr>
          <p:cNvPr id="6" name="object 6"/>
          <p:cNvSpPr/>
          <p:nvPr/>
        </p:nvSpPr>
        <p:spPr>
          <a:xfrm>
            <a:off x="0" y="5241925"/>
            <a:ext cx="9144000" cy="893444"/>
          </a:xfrm>
          <a:custGeom>
            <a:avLst/>
            <a:gdLst/>
            <a:ahLst/>
            <a:cxnLst/>
            <a:rect l="l" t="t" r="r" b="b"/>
            <a:pathLst>
              <a:path w="12192000" h="893445">
                <a:moveTo>
                  <a:pt x="0" y="0"/>
                </a:moveTo>
                <a:lnTo>
                  <a:pt x="12192000" y="0"/>
                </a:lnTo>
              </a:path>
              <a:path w="12192000" h="893445">
                <a:moveTo>
                  <a:pt x="0" y="892924"/>
                </a:moveTo>
                <a:lnTo>
                  <a:pt x="12192000" y="892924"/>
                </a:lnTo>
              </a:path>
            </a:pathLst>
          </a:custGeom>
          <a:ln w="41275">
            <a:solidFill>
              <a:srgbClr val="FFFFFF"/>
            </a:solidFill>
          </a:ln>
        </p:spPr>
        <p:txBody>
          <a:bodyPr wrap="square" lIns="0" tIns="0" rIns="0" bIns="0" rtlCol="0"/>
          <a:lstStyle/>
          <a:p>
            <a:endParaRPr/>
          </a:p>
        </p:txBody>
      </p:sp>
    </p:spTree>
    <p:extLst>
      <p:ext uri="{BB962C8B-B14F-4D97-AF65-F5344CB8AC3E}">
        <p14:creationId xmlns:p14="http://schemas.microsoft.com/office/powerpoint/2010/main" val="9044874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784092" y="885767"/>
            <a:ext cx="4835366" cy="1275349"/>
          </a:xfrm>
          <a:prstGeom prst="rect">
            <a:avLst/>
          </a:prstGeom>
        </p:spPr>
        <p:txBody>
          <a:bodyPr vert="horz" wrap="square" lIns="0" tIns="13335" rIns="0" bIns="0" rtlCol="0">
            <a:spAutoFit/>
          </a:bodyPr>
          <a:lstStyle/>
          <a:p>
            <a:pPr marL="12700">
              <a:lnSpc>
                <a:spcPct val="100000"/>
              </a:lnSpc>
              <a:spcBef>
                <a:spcPts val="105"/>
              </a:spcBef>
            </a:pPr>
            <a:r>
              <a:rPr sz="4100" spc="-5" dirty="0">
                <a:solidFill>
                  <a:srgbClr val="000000"/>
                </a:solidFill>
                <a:latin typeface="Calibri Light"/>
                <a:cs typeface="Calibri Light"/>
              </a:rPr>
              <a:t>Frequency</a:t>
            </a:r>
            <a:r>
              <a:rPr sz="4100" spc="-100" dirty="0">
                <a:solidFill>
                  <a:srgbClr val="000000"/>
                </a:solidFill>
                <a:latin typeface="Calibri Light"/>
                <a:cs typeface="Calibri Light"/>
              </a:rPr>
              <a:t> </a:t>
            </a:r>
            <a:r>
              <a:rPr sz="4100" spc="-5" dirty="0">
                <a:solidFill>
                  <a:srgbClr val="000000"/>
                </a:solidFill>
                <a:latin typeface="Calibri Light"/>
                <a:cs typeface="Calibri Light"/>
              </a:rPr>
              <a:t>Distribution:</a:t>
            </a:r>
            <a:r>
              <a:rPr sz="4100" spc="-110" dirty="0">
                <a:solidFill>
                  <a:srgbClr val="000000"/>
                </a:solidFill>
                <a:latin typeface="Calibri Light"/>
                <a:cs typeface="Calibri Light"/>
              </a:rPr>
              <a:t> </a:t>
            </a:r>
            <a:r>
              <a:rPr sz="4100" dirty="0">
                <a:solidFill>
                  <a:srgbClr val="000000"/>
                </a:solidFill>
                <a:latin typeface="Calibri Light"/>
                <a:cs typeface="Calibri Light"/>
              </a:rPr>
              <a:t>Simple</a:t>
            </a:r>
            <a:endParaRPr sz="4100">
              <a:latin typeface="Calibri Light"/>
              <a:cs typeface="Calibri Light"/>
            </a:endParaRPr>
          </a:p>
        </p:txBody>
      </p:sp>
      <p:sp>
        <p:nvSpPr>
          <p:cNvPr id="3" name="object 3"/>
          <p:cNvSpPr txBox="1"/>
          <p:nvPr/>
        </p:nvSpPr>
        <p:spPr>
          <a:xfrm>
            <a:off x="3715511" y="2170938"/>
            <a:ext cx="5273993" cy="5260030"/>
          </a:xfrm>
          <a:prstGeom prst="rect">
            <a:avLst/>
          </a:prstGeom>
        </p:spPr>
        <p:txBody>
          <a:bodyPr vert="horz" wrap="square" lIns="0" tIns="43815" rIns="0" bIns="0" rtlCol="0">
            <a:spAutoFit/>
          </a:bodyPr>
          <a:lstStyle/>
          <a:p>
            <a:pPr marL="241300" marR="10160" indent="-228600" algn="just">
              <a:lnSpc>
                <a:spcPts val="1939"/>
              </a:lnSpc>
              <a:spcBef>
                <a:spcPts val="345"/>
              </a:spcBef>
              <a:buFont typeface="Wingdings"/>
              <a:buChar char=""/>
              <a:tabLst>
                <a:tab pos="241300" algn="l"/>
              </a:tabLst>
            </a:pPr>
            <a:r>
              <a:rPr sz="1800" spc="-5" dirty="0">
                <a:latin typeface="Calibri"/>
                <a:cs typeface="Calibri"/>
              </a:rPr>
              <a:t>When</a:t>
            </a:r>
            <a:r>
              <a:rPr sz="1800" dirty="0">
                <a:latin typeface="Calibri"/>
                <a:cs typeface="Calibri"/>
              </a:rPr>
              <a:t> </a:t>
            </a:r>
            <a:r>
              <a:rPr sz="1800" spc="-5" dirty="0">
                <a:latin typeface="Calibri"/>
                <a:cs typeface="Calibri"/>
              </a:rPr>
              <a:t>observations</a:t>
            </a:r>
            <a:r>
              <a:rPr sz="1800" dirty="0">
                <a:latin typeface="Calibri"/>
                <a:cs typeface="Calibri"/>
              </a:rPr>
              <a:t> are</a:t>
            </a:r>
            <a:r>
              <a:rPr sz="1800" spc="5" dirty="0">
                <a:latin typeface="Calibri"/>
                <a:cs typeface="Calibri"/>
              </a:rPr>
              <a:t> </a:t>
            </a:r>
            <a:r>
              <a:rPr sz="1800" spc="-10" dirty="0">
                <a:latin typeface="Calibri"/>
                <a:cs typeface="Calibri"/>
              </a:rPr>
              <a:t>available</a:t>
            </a:r>
            <a:r>
              <a:rPr sz="1800" spc="-5" dirty="0">
                <a:latin typeface="Calibri"/>
                <a:cs typeface="Calibri"/>
              </a:rPr>
              <a:t> </a:t>
            </a:r>
            <a:r>
              <a:rPr sz="1800" spc="5" dirty="0">
                <a:latin typeface="Calibri"/>
                <a:cs typeface="Calibri"/>
              </a:rPr>
              <a:t>on</a:t>
            </a:r>
            <a:r>
              <a:rPr sz="1800" spc="10" dirty="0">
                <a:latin typeface="Calibri"/>
                <a:cs typeface="Calibri"/>
              </a:rPr>
              <a:t> </a:t>
            </a:r>
            <a:r>
              <a:rPr sz="1800" dirty="0">
                <a:latin typeface="Calibri"/>
                <a:cs typeface="Calibri"/>
              </a:rPr>
              <a:t>a</a:t>
            </a:r>
            <a:r>
              <a:rPr sz="1800" spc="5" dirty="0">
                <a:latin typeface="Calibri"/>
                <a:cs typeface="Calibri"/>
              </a:rPr>
              <a:t> </a:t>
            </a:r>
            <a:r>
              <a:rPr sz="1800" dirty="0">
                <a:latin typeface="Calibri"/>
                <a:cs typeface="Calibri"/>
              </a:rPr>
              <a:t>single</a:t>
            </a:r>
            <a:r>
              <a:rPr sz="1800" spc="5" dirty="0">
                <a:latin typeface="Calibri"/>
                <a:cs typeface="Calibri"/>
              </a:rPr>
              <a:t> </a:t>
            </a:r>
            <a:r>
              <a:rPr sz="1800" spc="-10" dirty="0">
                <a:latin typeface="Calibri"/>
                <a:cs typeface="Calibri"/>
              </a:rPr>
              <a:t>characteristics</a:t>
            </a:r>
            <a:r>
              <a:rPr sz="1800" spc="-5" dirty="0">
                <a:latin typeface="Calibri"/>
                <a:cs typeface="Calibri"/>
              </a:rPr>
              <a:t> </a:t>
            </a:r>
            <a:r>
              <a:rPr sz="1800" spc="5" dirty="0">
                <a:latin typeface="Calibri"/>
                <a:cs typeface="Calibri"/>
              </a:rPr>
              <a:t>of</a:t>
            </a:r>
            <a:r>
              <a:rPr sz="1800" spc="10" dirty="0">
                <a:latin typeface="Calibri"/>
                <a:cs typeface="Calibri"/>
              </a:rPr>
              <a:t> </a:t>
            </a:r>
            <a:r>
              <a:rPr sz="1800" spc="-15" dirty="0">
                <a:latin typeface="Calibri"/>
                <a:cs typeface="Calibri"/>
              </a:rPr>
              <a:t>large </a:t>
            </a:r>
            <a:r>
              <a:rPr sz="1800" spc="-10" dirty="0">
                <a:latin typeface="Calibri"/>
                <a:cs typeface="Calibri"/>
              </a:rPr>
              <a:t> </a:t>
            </a:r>
            <a:r>
              <a:rPr sz="1800" spc="-5" dirty="0">
                <a:latin typeface="Calibri"/>
                <a:cs typeface="Calibri"/>
              </a:rPr>
              <a:t>number </a:t>
            </a:r>
            <a:r>
              <a:rPr sz="1800" dirty="0">
                <a:latin typeface="Calibri"/>
                <a:cs typeface="Calibri"/>
              </a:rPr>
              <a:t>of </a:t>
            </a:r>
            <a:r>
              <a:rPr sz="1800" spc="-5" dirty="0">
                <a:latin typeface="Calibri"/>
                <a:cs typeface="Calibri"/>
              </a:rPr>
              <a:t>individuals it is </a:t>
            </a:r>
            <a:r>
              <a:rPr sz="1800" dirty="0">
                <a:latin typeface="Calibri"/>
                <a:cs typeface="Calibri"/>
              </a:rPr>
              <a:t>necessary </a:t>
            </a:r>
            <a:r>
              <a:rPr sz="1800" spc="-15" dirty="0">
                <a:latin typeface="Calibri"/>
                <a:cs typeface="Calibri"/>
              </a:rPr>
              <a:t>to </a:t>
            </a:r>
            <a:r>
              <a:rPr sz="1800" spc="-5" dirty="0">
                <a:latin typeface="Calibri"/>
                <a:cs typeface="Calibri"/>
              </a:rPr>
              <a:t>condense </a:t>
            </a:r>
            <a:r>
              <a:rPr sz="1800" spc="-15" dirty="0">
                <a:latin typeface="Calibri"/>
                <a:cs typeface="Calibri"/>
              </a:rPr>
              <a:t>data </a:t>
            </a:r>
            <a:r>
              <a:rPr sz="1800" spc="-5" dirty="0">
                <a:latin typeface="Calibri"/>
                <a:cs typeface="Calibri"/>
              </a:rPr>
              <a:t>without </a:t>
            </a:r>
            <a:r>
              <a:rPr sz="1800" spc="-10" dirty="0">
                <a:latin typeface="Calibri"/>
                <a:cs typeface="Calibri"/>
              </a:rPr>
              <a:t>losing </a:t>
            </a:r>
            <a:r>
              <a:rPr sz="1800" spc="-5" dirty="0">
                <a:latin typeface="Calibri"/>
                <a:cs typeface="Calibri"/>
              </a:rPr>
              <a:t> </a:t>
            </a:r>
            <a:r>
              <a:rPr sz="1800" spc="-10" dirty="0">
                <a:latin typeface="Calibri"/>
                <a:cs typeface="Calibri"/>
              </a:rPr>
              <a:t>information.</a:t>
            </a:r>
            <a:endParaRPr sz="1800">
              <a:latin typeface="Calibri"/>
              <a:cs typeface="Calibri"/>
            </a:endParaRPr>
          </a:p>
          <a:p>
            <a:pPr marL="241300" marR="7620" indent="-228600" algn="just">
              <a:lnSpc>
                <a:spcPct val="90100"/>
              </a:lnSpc>
              <a:spcBef>
                <a:spcPts val="990"/>
              </a:spcBef>
              <a:buFont typeface="Wingdings"/>
              <a:buChar char=""/>
              <a:tabLst>
                <a:tab pos="241300" algn="l"/>
              </a:tabLst>
            </a:pPr>
            <a:r>
              <a:rPr sz="1800" b="1" spc="-10" dirty="0">
                <a:solidFill>
                  <a:srgbClr val="C00000"/>
                </a:solidFill>
                <a:latin typeface="Calibri"/>
                <a:cs typeface="Calibri"/>
              </a:rPr>
              <a:t>Frequency</a:t>
            </a:r>
            <a:r>
              <a:rPr sz="1800" b="1" spc="-5" dirty="0">
                <a:solidFill>
                  <a:srgbClr val="C00000"/>
                </a:solidFill>
                <a:latin typeface="Calibri"/>
                <a:cs typeface="Calibri"/>
              </a:rPr>
              <a:t> </a:t>
            </a:r>
            <a:r>
              <a:rPr sz="1800" b="1" spc="-10" dirty="0">
                <a:solidFill>
                  <a:srgbClr val="C00000"/>
                </a:solidFill>
                <a:latin typeface="Calibri"/>
                <a:cs typeface="Calibri"/>
              </a:rPr>
              <a:t>distributions</a:t>
            </a:r>
            <a:r>
              <a:rPr sz="1800" b="1" spc="-5" dirty="0">
                <a:solidFill>
                  <a:srgbClr val="C00000"/>
                </a:solidFill>
                <a:latin typeface="Calibri"/>
                <a:cs typeface="Calibri"/>
              </a:rPr>
              <a:t> </a:t>
            </a:r>
            <a:r>
              <a:rPr sz="1800" spc="-10" dirty="0">
                <a:latin typeface="Calibri"/>
                <a:cs typeface="Calibri"/>
              </a:rPr>
              <a:t>summarize </a:t>
            </a:r>
            <a:r>
              <a:rPr sz="1800" dirty="0">
                <a:latin typeface="Calibri"/>
                <a:cs typeface="Calibri"/>
              </a:rPr>
              <a:t>and </a:t>
            </a:r>
            <a:r>
              <a:rPr sz="1800" spc="-10" dirty="0">
                <a:latin typeface="Calibri"/>
                <a:cs typeface="Calibri"/>
              </a:rPr>
              <a:t>compress</a:t>
            </a:r>
            <a:r>
              <a:rPr sz="1800" spc="-5" dirty="0">
                <a:latin typeface="Calibri"/>
                <a:cs typeface="Calibri"/>
              </a:rPr>
              <a:t> </a:t>
            </a:r>
            <a:r>
              <a:rPr sz="1800" spc="-15" dirty="0">
                <a:latin typeface="Calibri"/>
                <a:cs typeface="Calibri"/>
              </a:rPr>
              <a:t>data</a:t>
            </a:r>
            <a:r>
              <a:rPr sz="1800" spc="375" dirty="0">
                <a:latin typeface="Calibri"/>
                <a:cs typeface="Calibri"/>
              </a:rPr>
              <a:t> </a:t>
            </a:r>
            <a:r>
              <a:rPr sz="1800" spc="-5" dirty="0">
                <a:latin typeface="Calibri"/>
                <a:cs typeface="Calibri"/>
              </a:rPr>
              <a:t>by grouping </a:t>
            </a:r>
            <a:r>
              <a:rPr sz="1800" spc="-10" dirty="0">
                <a:latin typeface="Calibri"/>
                <a:cs typeface="Calibri"/>
              </a:rPr>
              <a:t>it </a:t>
            </a:r>
            <a:r>
              <a:rPr sz="1800" spc="-5" dirty="0">
                <a:latin typeface="Calibri"/>
                <a:cs typeface="Calibri"/>
              </a:rPr>
              <a:t> </a:t>
            </a:r>
            <a:r>
              <a:rPr sz="1800" spc="-20" dirty="0">
                <a:latin typeface="Calibri"/>
                <a:cs typeface="Calibri"/>
              </a:rPr>
              <a:t>into</a:t>
            </a:r>
            <a:r>
              <a:rPr sz="1800" spc="-15" dirty="0">
                <a:latin typeface="Calibri"/>
                <a:cs typeface="Calibri"/>
              </a:rPr>
              <a:t> </a:t>
            </a:r>
            <a:r>
              <a:rPr sz="1800" spc="-5" dirty="0">
                <a:latin typeface="Calibri"/>
                <a:cs typeface="Calibri"/>
              </a:rPr>
              <a:t>classes </a:t>
            </a:r>
            <a:r>
              <a:rPr sz="1800" spc="10" dirty="0">
                <a:latin typeface="Calibri"/>
                <a:cs typeface="Calibri"/>
              </a:rPr>
              <a:t>and </a:t>
            </a:r>
            <a:r>
              <a:rPr sz="1800" spc="-10" dirty="0">
                <a:latin typeface="Calibri"/>
                <a:cs typeface="Calibri"/>
              </a:rPr>
              <a:t>recording</a:t>
            </a:r>
            <a:r>
              <a:rPr sz="1800" spc="-5" dirty="0">
                <a:latin typeface="Calibri"/>
                <a:cs typeface="Calibri"/>
              </a:rPr>
              <a:t> how </a:t>
            </a:r>
            <a:r>
              <a:rPr sz="1800" spc="-10" dirty="0">
                <a:latin typeface="Calibri"/>
                <a:cs typeface="Calibri"/>
              </a:rPr>
              <a:t>many </a:t>
            </a:r>
            <a:r>
              <a:rPr sz="1800" spc="-20" dirty="0">
                <a:latin typeface="Calibri"/>
                <a:cs typeface="Calibri"/>
              </a:rPr>
              <a:t>data</a:t>
            </a:r>
            <a:r>
              <a:rPr sz="1800" spc="-15" dirty="0">
                <a:latin typeface="Calibri"/>
                <a:cs typeface="Calibri"/>
              </a:rPr>
              <a:t> </a:t>
            </a:r>
            <a:r>
              <a:rPr sz="1800" spc="-5" dirty="0">
                <a:latin typeface="Calibri"/>
                <a:cs typeface="Calibri"/>
              </a:rPr>
              <a:t>points </a:t>
            </a:r>
            <a:r>
              <a:rPr sz="1800" spc="-10" dirty="0">
                <a:latin typeface="Calibri"/>
                <a:cs typeface="Calibri"/>
              </a:rPr>
              <a:t>fall </a:t>
            </a:r>
            <a:r>
              <a:rPr sz="1800" spc="-15" dirty="0">
                <a:latin typeface="Calibri"/>
                <a:cs typeface="Calibri"/>
              </a:rPr>
              <a:t>into</a:t>
            </a:r>
            <a:r>
              <a:rPr sz="1800" spc="-10" dirty="0">
                <a:latin typeface="Calibri"/>
                <a:cs typeface="Calibri"/>
              </a:rPr>
              <a:t> </a:t>
            </a:r>
            <a:r>
              <a:rPr sz="1800" spc="5" dirty="0">
                <a:latin typeface="Calibri"/>
                <a:cs typeface="Calibri"/>
              </a:rPr>
              <a:t>each </a:t>
            </a:r>
            <a:r>
              <a:rPr sz="1800" spc="-5" dirty="0">
                <a:latin typeface="Calibri"/>
                <a:cs typeface="Calibri"/>
              </a:rPr>
              <a:t>class. </a:t>
            </a:r>
            <a:r>
              <a:rPr sz="1800" dirty="0">
                <a:latin typeface="Calibri"/>
                <a:cs typeface="Calibri"/>
              </a:rPr>
              <a:t> </a:t>
            </a:r>
            <a:r>
              <a:rPr sz="1800" b="1" i="1" spc="-5" dirty="0">
                <a:solidFill>
                  <a:srgbClr val="6F2F9F"/>
                </a:solidFill>
                <a:latin typeface="Calibri"/>
                <a:cs typeface="Calibri"/>
              </a:rPr>
              <a:t>Frequency</a:t>
            </a:r>
            <a:r>
              <a:rPr sz="1800" b="1" i="1" dirty="0">
                <a:solidFill>
                  <a:srgbClr val="6F2F9F"/>
                </a:solidFill>
                <a:latin typeface="Calibri"/>
                <a:cs typeface="Calibri"/>
              </a:rPr>
              <a:t> </a:t>
            </a:r>
            <a:r>
              <a:rPr sz="1800" b="1" i="1" spc="-5" dirty="0">
                <a:solidFill>
                  <a:srgbClr val="6F2F9F"/>
                </a:solidFill>
                <a:latin typeface="Calibri"/>
                <a:cs typeface="Calibri"/>
              </a:rPr>
              <a:t>refers</a:t>
            </a:r>
            <a:r>
              <a:rPr sz="1800" b="1" i="1" dirty="0">
                <a:solidFill>
                  <a:srgbClr val="6F2F9F"/>
                </a:solidFill>
                <a:latin typeface="Calibri"/>
                <a:cs typeface="Calibri"/>
              </a:rPr>
              <a:t> </a:t>
            </a:r>
            <a:r>
              <a:rPr sz="1800" b="1" i="1" spc="5" dirty="0">
                <a:solidFill>
                  <a:srgbClr val="6F2F9F"/>
                </a:solidFill>
                <a:latin typeface="Calibri"/>
                <a:cs typeface="Calibri"/>
              </a:rPr>
              <a:t>how</a:t>
            </a:r>
            <a:r>
              <a:rPr sz="1800" b="1" i="1" spc="10" dirty="0">
                <a:solidFill>
                  <a:srgbClr val="6F2F9F"/>
                </a:solidFill>
                <a:latin typeface="Calibri"/>
                <a:cs typeface="Calibri"/>
              </a:rPr>
              <a:t> </a:t>
            </a:r>
            <a:r>
              <a:rPr sz="1800" b="1" i="1" spc="-10" dirty="0">
                <a:solidFill>
                  <a:srgbClr val="6F2F9F"/>
                </a:solidFill>
                <a:latin typeface="Calibri"/>
                <a:cs typeface="Calibri"/>
              </a:rPr>
              <a:t>frequently</a:t>
            </a:r>
            <a:r>
              <a:rPr sz="1800" b="1" i="1" spc="-5" dirty="0">
                <a:solidFill>
                  <a:srgbClr val="6F2F9F"/>
                </a:solidFill>
                <a:latin typeface="Calibri"/>
                <a:cs typeface="Calibri"/>
              </a:rPr>
              <a:t> </a:t>
            </a:r>
            <a:r>
              <a:rPr sz="1800" b="1" i="1" dirty="0">
                <a:solidFill>
                  <a:srgbClr val="6F2F9F"/>
                </a:solidFill>
                <a:latin typeface="Calibri"/>
                <a:cs typeface="Calibri"/>
              </a:rPr>
              <a:t>a</a:t>
            </a:r>
            <a:r>
              <a:rPr sz="1800" b="1" i="1" spc="5" dirty="0">
                <a:solidFill>
                  <a:srgbClr val="6F2F9F"/>
                </a:solidFill>
                <a:latin typeface="Calibri"/>
                <a:cs typeface="Calibri"/>
              </a:rPr>
              <a:t> </a:t>
            </a:r>
            <a:r>
              <a:rPr sz="1800" b="1" i="1" spc="-5" dirty="0">
                <a:solidFill>
                  <a:srgbClr val="6F2F9F"/>
                </a:solidFill>
                <a:latin typeface="Calibri"/>
                <a:cs typeface="Calibri"/>
              </a:rPr>
              <a:t>variable</a:t>
            </a:r>
            <a:r>
              <a:rPr sz="1800" b="1" i="1" dirty="0">
                <a:solidFill>
                  <a:srgbClr val="6F2F9F"/>
                </a:solidFill>
                <a:latin typeface="Calibri"/>
                <a:cs typeface="Calibri"/>
              </a:rPr>
              <a:t> </a:t>
            </a:r>
            <a:r>
              <a:rPr sz="1800" b="1" i="1" spc="-5" dirty="0">
                <a:solidFill>
                  <a:srgbClr val="6F2F9F"/>
                </a:solidFill>
                <a:latin typeface="Calibri"/>
                <a:cs typeface="Calibri"/>
              </a:rPr>
              <a:t>occurs.</a:t>
            </a:r>
            <a:r>
              <a:rPr sz="1800" b="1" i="1" dirty="0">
                <a:solidFill>
                  <a:srgbClr val="6F2F9F"/>
                </a:solidFill>
                <a:latin typeface="Calibri"/>
                <a:cs typeface="Calibri"/>
              </a:rPr>
              <a:t> </a:t>
            </a:r>
            <a:r>
              <a:rPr sz="1800" spc="-5" dirty="0">
                <a:latin typeface="Calibri"/>
                <a:cs typeface="Calibri"/>
              </a:rPr>
              <a:t>The</a:t>
            </a:r>
            <a:r>
              <a:rPr sz="1800" dirty="0">
                <a:latin typeface="Calibri"/>
                <a:cs typeface="Calibri"/>
              </a:rPr>
              <a:t> </a:t>
            </a:r>
            <a:r>
              <a:rPr sz="1800" b="1" spc="-5" dirty="0">
                <a:latin typeface="Calibri"/>
                <a:cs typeface="Calibri"/>
              </a:rPr>
              <a:t>frequency </a:t>
            </a:r>
            <a:r>
              <a:rPr sz="1800" b="1" dirty="0">
                <a:latin typeface="Calibri"/>
                <a:cs typeface="Calibri"/>
              </a:rPr>
              <a:t> </a:t>
            </a:r>
            <a:r>
              <a:rPr sz="1800" b="1" spc="-10" dirty="0">
                <a:latin typeface="Calibri"/>
                <a:cs typeface="Calibri"/>
              </a:rPr>
              <a:t>distribution</a:t>
            </a:r>
            <a:r>
              <a:rPr sz="1800" b="1" spc="15" dirty="0">
                <a:latin typeface="Calibri"/>
                <a:cs typeface="Calibri"/>
              </a:rPr>
              <a:t> </a:t>
            </a:r>
            <a:r>
              <a:rPr sz="1800" spc="-5" dirty="0">
                <a:latin typeface="Calibri"/>
                <a:cs typeface="Calibri"/>
              </a:rPr>
              <a:t>is</a:t>
            </a:r>
            <a:r>
              <a:rPr sz="1800" spc="-10" dirty="0">
                <a:latin typeface="Calibri"/>
                <a:cs typeface="Calibri"/>
              </a:rPr>
              <a:t> </a:t>
            </a:r>
            <a:r>
              <a:rPr sz="1800" spc="-5" dirty="0">
                <a:latin typeface="Calibri"/>
                <a:cs typeface="Calibri"/>
              </a:rPr>
              <a:t>the</a:t>
            </a:r>
            <a:r>
              <a:rPr sz="1800" spc="35" dirty="0">
                <a:latin typeface="Calibri"/>
                <a:cs typeface="Calibri"/>
              </a:rPr>
              <a:t> </a:t>
            </a:r>
            <a:r>
              <a:rPr sz="1800" spc="-15" dirty="0">
                <a:latin typeface="Calibri"/>
                <a:cs typeface="Calibri"/>
              </a:rPr>
              <a:t>foundation</a:t>
            </a:r>
            <a:r>
              <a:rPr sz="1800" spc="45" dirty="0">
                <a:latin typeface="Calibri"/>
                <a:cs typeface="Calibri"/>
              </a:rPr>
              <a:t> </a:t>
            </a:r>
            <a:r>
              <a:rPr sz="1800" dirty="0">
                <a:latin typeface="Calibri"/>
                <a:cs typeface="Calibri"/>
              </a:rPr>
              <a:t>of </a:t>
            </a:r>
            <a:r>
              <a:rPr sz="1800" b="1" spc="-10" dirty="0">
                <a:latin typeface="Calibri"/>
                <a:cs typeface="Calibri"/>
              </a:rPr>
              <a:t>descriptive</a:t>
            </a:r>
            <a:r>
              <a:rPr sz="1800" b="1" spc="5" dirty="0">
                <a:latin typeface="Calibri"/>
                <a:cs typeface="Calibri"/>
              </a:rPr>
              <a:t> </a:t>
            </a:r>
            <a:r>
              <a:rPr sz="1800" b="1" spc="-15" dirty="0">
                <a:latin typeface="Calibri"/>
                <a:cs typeface="Calibri"/>
              </a:rPr>
              <a:t>statistics.</a:t>
            </a:r>
            <a:endParaRPr sz="1800">
              <a:latin typeface="Calibri"/>
              <a:cs typeface="Calibri"/>
            </a:endParaRPr>
          </a:p>
          <a:p>
            <a:pPr marL="241300" marR="5080" indent="-228600" algn="just">
              <a:lnSpc>
                <a:spcPts val="1939"/>
              </a:lnSpc>
              <a:spcBef>
                <a:spcPts val="1040"/>
              </a:spcBef>
              <a:buFont typeface="Wingdings"/>
              <a:buChar char=""/>
              <a:tabLst>
                <a:tab pos="241300" algn="l"/>
              </a:tabLst>
            </a:pPr>
            <a:r>
              <a:rPr sz="1800" spc="-5" dirty="0">
                <a:latin typeface="Calibri"/>
                <a:cs typeface="Calibri"/>
              </a:rPr>
              <a:t>The</a:t>
            </a:r>
            <a:r>
              <a:rPr sz="1800" dirty="0">
                <a:latin typeface="Calibri"/>
                <a:cs typeface="Calibri"/>
              </a:rPr>
              <a:t> </a:t>
            </a:r>
            <a:r>
              <a:rPr sz="1800" spc="-5" dirty="0">
                <a:latin typeface="Calibri"/>
                <a:cs typeface="Calibri"/>
              </a:rPr>
              <a:t>table</a:t>
            </a:r>
            <a:r>
              <a:rPr sz="1800" dirty="0">
                <a:latin typeface="Calibri"/>
                <a:cs typeface="Calibri"/>
              </a:rPr>
              <a:t> </a:t>
            </a:r>
            <a:r>
              <a:rPr sz="1800" spc="-5" dirty="0">
                <a:latin typeface="Calibri"/>
                <a:cs typeface="Calibri"/>
              </a:rPr>
              <a:t>showing</a:t>
            </a:r>
            <a:r>
              <a:rPr sz="1800" dirty="0">
                <a:latin typeface="Calibri"/>
                <a:cs typeface="Calibri"/>
              </a:rPr>
              <a:t> </a:t>
            </a:r>
            <a:r>
              <a:rPr sz="1800" spc="-5" dirty="0">
                <a:latin typeface="Calibri"/>
                <a:cs typeface="Calibri"/>
              </a:rPr>
              <a:t>distribution</a:t>
            </a:r>
            <a:r>
              <a:rPr sz="1800" dirty="0">
                <a:latin typeface="Calibri"/>
                <a:cs typeface="Calibri"/>
              </a:rPr>
              <a:t> </a:t>
            </a:r>
            <a:r>
              <a:rPr sz="1800" spc="5" dirty="0">
                <a:latin typeface="Calibri"/>
                <a:cs typeface="Calibri"/>
              </a:rPr>
              <a:t>of</a:t>
            </a:r>
            <a:r>
              <a:rPr sz="1800" spc="10" dirty="0">
                <a:latin typeface="Calibri"/>
                <a:cs typeface="Calibri"/>
              </a:rPr>
              <a:t> </a:t>
            </a:r>
            <a:r>
              <a:rPr sz="1800" spc="-5" dirty="0">
                <a:latin typeface="Calibri"/>
                <a:cs typeface="Calibri"/>
              </a:rPr>
              <a:t>frequencies</a:t>
            </a:r>
            <a:r>
              <a:rPr sz="1800" dirty="0">
                <a:latin typeface="Calibri"/>
                <a:cs typeface="Calibri"/>
              </a:rPr>
              <a:t> </a:t>
            </a:r>
            <a:r>
              <a:rPr sz="1800" spc="-5" dirty="0">
                <a:latin typeface="Calibri"/>
                <a:cs typeface="Calibri"/>
              </a:rPr>
              <a:t>in</a:t>
            </a:r>
            <a:r>
              <a:rPr sz="1800" dirty="0">
                <a:latin typeface="Calibri"/>
                <a:cs typeface="Calibri"/>
              </a:rPr>
              <a:t> </a:t>
            </a:r>
            <a:r>
              <a:rPr sz="1800" spc="-15" dirty="0">
                <a:latin typeface="Calibri"/>
                <a:cs typeface="Calibri"/>
              </a:rPr>
              <a:t>different</a:t>
            </a:r>
            <a:r>
              <a:rPr sz="1800" spc="375" dirty="0">
                <a:latin typeface="Calibri"/>
                <a:cs typeface="Calibri"/>
              </a:rPr>
              <a:t> </a:t>
            </a:r>
            <a:r>
              <a:rPr sz="1800" spc="-5" dirty="0">
                <a:latin typeface="Calibri"/>
                <a:cs typeface="Calibri"/>
              </a:rPr>
              <a:t>classes</a:t>
            </a:r>
            <a:r>
              <a:rPr sz="1800" spc="395" dirty="0">
                <a:latin typeface="Calibri"/>
                <a:cs typeface="Calibri"/>
              </a:rPr>
              <a:t> </a:t>
            </a:r>
            <a:r>
              <a:rPr sz="1800" spc="15" dirty="0">
                <a:latin typeface="Calibri"/>
                <a:cs typeface="Calibri"/>
              </a:rPr>
              <a:t>is </a:t>
            </a:r>
            <a:r>
              <a:rPr sz="1800" spc="20" dirty="0">
                <a:latin typeface="Calibri"/>
                <a:cs typeface="Calibri"/>
              </a:rPr>
              <a:t> </a:t>
            </a:r>
            <a:r>
              <a:rPr sz="1800" spc="-10" dirty="0">
                <a:latin typeface="Calibri"/>
                <a:cs typeface="Calibri"/>
              </a:rPr>
              <a:t>called</a:t>
            </a:r>
            <a:r>
              <a:rPr sz="1800" spc="35" dirty="0">
                <a:latin typeface="Calibri"/>
                <a:cs typeface="Calibri"/>
              </a:rPr>
              <a:t> </a:t>
            </a:r>
            <a:r>
              <a:rPr sz="1800" b="1" spc="-10" dirty="0">
                <a:solidFill>
                  <a:srgbClr val="C00000"/>
                </a:solidFill>
                <a:latin typeface="Calibri"/>
                <a:cs typeface="Calibri"/>
              </a:rPr>
              <a:t>frequency</a:t>
            </a:r>
            <a:r>
              <a:rPr sz="1800" b="1" spc="-5" dirty="0">
                <a:solidFill>
                  <a:srgbClr val="C00000"/>
                </a:solidFill>
                <a:latin typeface="Calibri"/>
                <a:cs typeface="Calibri"/>
              </a:rPr>
              <a:t> </a:t>
            </a:r>
            <a:r>
              <a:rPr sz="1800" b="1" spc="-10" dirty="0">
                <a:solidFill>
                  <a:srgbClr val="C00000"/>
                </a:solidFill>
                <a:latin typeface="Calibri"/>
                <a:cs typeface="Calibri"/>
              </a:rPr>
              <a:t>table.</a:t>
            </a:r>
            <a:endParaRPr sz="1800">
              <a:latin typeface="Calibri"/>
              <a:cs typeface="Calibri"/>
            </a:endParaRPr>
          </a:p>
          <a:p>
            <a:pPr marL="241300" marR="6350" indent="-228600" algn="just">
              <a:lnSpc>
                <a:spcPct val="90100"/>
              </a:lnSpc>
              <a:spcBef>
                <a:spcPts val="960"/>
              </a:spcBef>
              <a:buFont typeface="Wingdings"/>
              <a:buChar char=""/>
              <a:tabLst>
                <a:tab pos="241300" algn="l"/>
              </a:tabLst>
            </a:pPr>
            <a:r>
              <a:rPr sz="1800" dirty="0">
                <a:latin typeface="Calibri"/>
                <a:cs typeface="Calibri"/>
              </a:rPr>
              <a:t>It </a:t>
            </a:r>
            <a:r>
              <a:rPr sz="1800" spc="-5" dirty="0">
                <a:latin typeface="Calibri"/>
                <a:cs typeface="Calibri"/>
              </a:rPr>
              <a:t>is </a:t>
            </a:r>
            <a:r>
              <a:rPr sz="1800" dirty="0">
                <a:latin typeface="Calibri"/>
                <a:cs typeface="Calibri"/>
              </a:rPr>
              <a:t>a </a:t>
            </a:r>
            <a:r>
              <a:rPr sz="1800" spc="-10" dirty="0">
                <a:latin typeface="Calibri"/>
                <a:cs typeface="Calibri"/>
              </a:rPr>
              <a:t>prerequisite </a:t>
            </a:r>
            <a:r>
              <a:rPr sz="1800" spc="-15" dirty="0">
                <a:latin typeface="Calibri"/>
                <a:cs typeface="Calibri"/>
              </a:rPr>
              <a:t>for </a:t>
            </a:r>
            <a:r>
              <a:rPr sz="1800" spc="-5" dirty="0">
                <a:latin typeface="Calibri"/>
                <a:cs typeface="Calibri"/>
              </a:rPr>
              <a:t>both </a:t>
            </a:r>
            <a:r>
              <a:rPr sz="1800" dirty="0">
                <a:latin typeface="Calibri"/>
                <a:cs typeface="Calibri"/>
              </a:rPr>
              <a:t>the </a:t>
            </a:r>
            <a:r>
              <a:rPr sz="1800" spc="-5" dirty="0">
                <a:latin typeface="Calibri"/>
                <a:cs typeface="Calibri"/>
              </a:rPr>
              <a:t>various </a:t>
            </a:r>
            <a:r>
              <a:rPr sz="1800" spc="-10" dirty="0">
                <a:latin typeface="Calibri"/>
                <a:cs typeface="Calibri"/>
              </a:rPr>
              <a:t>graphs </a:t>
            </a:r>
            <a:r>
              <a:rPr sz="1800" dirty="0">
                <a:latin typeface="Calibri"/>
                <a:cs typeface="Calibri"/>
              </a:rPr>
              <a:t>used </a:t>
            </a:r>
            <a:r>
              <a:rPr sz="1800" spc="-15" dirty="0">
                <a:latin typeface="Calibri"/>
                <a:cs typeface="Calibri"/>
              </a:rPr>
              <a:t>to </a:t>
            </a:r>
            <a:r>
              <a:rPr sz="1800" spc="-10" dirty="0">
                <a:latin typeface="Calibri"/>
                <a:cs typeface="Calibri"/>
              </a:rPr>
              <a:t>display </a:t>
            </a:r>
            <a:r>
              <a:rPr sz="1800" spc="-5" dirty="0">
                <a:latin typeface="Calibri"/>
                <a:cs typeface="Calibri"/>
              </a:rPr>
              <a:t>data and </a:t>
            </a:r>
            <a:r>
              <a:rPr sz="1800" dirty="0">
                <a:latin typeface="Calibri"/>
                <a:cs typeface="Calibri"/>
              </a:rPr>
              <a:t> </a:t>
            </a:r>
            <a:r>
              <a:rPr sz="1800" spc="-5" dirty="0">
                <a:latin typeface="Calibri"/>
                <a:cs typeface="Calibri"/>
              </a:rPr>
              <a:t>the basic </a:t>
            </a:r>
            <a:r>
              <a:rPr sz="1800" spc="-15" dirty="0">
                <a:latin typeface="Calibri"/>
                <a:cs typeface="Calibri"/>
              </a:rPr>
              <a:t>statistics </a:t>
            </a:r>
            <a:r>
              <a:rPr sz="1800" spc="-5" dirty="0">
                <a:latin typeface="Calibri"/>
                <a:cs typeface="Calibri"/>
              </a:rPr>
              <a:t>used </a:t>
            </a:r>
            <a:r>
              <a:rPr sz="1800" spc="-15" dirty="0">
                <a:latin typeface="Calibri"/>
                <a:cs typeface="Calibri"/>
              </a:rPr>
              <a:t>to </a:t>
            </a:r>
            <a:r>
              <a:rPr sz="1800" spc="-5" dirty="0">
                <a:latin typeface="Calibri"/>
                <a:cs typeface="Calibri"/>
              </a:rPr>
              <a:t>describe </a:t>
            </a:r>
            <a:r>
              <a:rPr sz="1800" dirty="0">
                <a:latin typeface="Calibri"/>
                <a:cs typeface="Calibri"/>
              </a:rPr>
              <a:t>a </a:t>
            </a:r>
            <a:r>
              <a:rPr sz="1800" spc="-20" dirty="0">
                <a:latin typeface="Calibri"/>
                <a:cs typeface="Calibri"/>
              </a:rPr>
              <a:t>data </a:t>
            </a:r>
            <a:r>
              <a:rPr sz="1800" spc="-10" dirty="0">
                <a:latin typeface="Calibri"/>
                <a:cs typeface="Calibri"/>
              </a:rPr>
              <a:t>set </a:t>
            </a:r>
            <a:r>
              <a:rPr sz="1800" dirty="0">
                <a:latin typeface="Calibri"/>
                <a:cs typeface="Calibri"/>
              </a:rPr>
              <a:t>-- mean, median, </a:t>
            </a:r>
            <a:r>
              <a:rPr sz="1800" spc="-5" dirty="0">
                <a:latin typeface="Calibri"/>
                <a:cs typeface="Calibri"/>
              </a:rPr>
              <a:t>mode, </a:t>
            </a:r>
            <a:r>
              <a:rPr sz="1800" dirty="0">
                <a:latin typeface="Calibri"/>
                <a:cs typeface="Calibri"/>
              </a:rPr>
              <a:t> </a:t>
            </a:r>
            <a:r>
              <a:rPr sz="1800" spc="-10" dirty="0">
                <a:latin typeface="Calibri"/>
                <a:cs typeface="Calibri"/>
              </a:rPr>
              <a:t>variance,</a:t>
            </a:r>
            <a:r>
              <a:rPr sz="1800" spc="25" dirty="0">
                <a:latin typeface="Calibri"/>
                <a:cs typeface="Calibri"/>
              </a:rPr>
              <a:t> </a:t>
            </a:r>
            <a:r>
              <a:rPr sz="1800" spc="-15" dirty="0">
                <a:latin typeface="Calibri"/>
                <a:cs typeface="Calibri"/>
              </a:rPr>
              <a:t>standard</a:t>
            </a:r>
            <a:r>
              <a:rPr sz="1800" spc="35" dirty="0">
                <a:latin typeface="Calibri"/>
                <a:cs typeface="Calibri"/>
              </a:rPr>
              <a:t> </a:t>
            </a:r>
            <a:r>
              <a:rPr sz="1800" spc="-10" dirty="0">
                <a:latin typeface="Calibri"/>
                <a:cs typeface="Calibri"/>
              </a:rPr>
              <a:t>deviation,</a:t>
            </a:r>
            <a:r>
              <a:rPr sz="1800" spc="35" dirty="0">
                <a:latin typeface="Calibri"/>
                <a:cs typeface="Calibri"/>
              </a:rPr>
              <a:t> </a:t>
            </a:r>
            <a:r>
              <a:rPr sz="1800" spc="-5" dirty="0">
                <a:latin typeface="Calibri"/>
                <a:cs typeface="Calibri"/>
              </a:rPr>
              <a:t>and</a:t>
            </a:r>
            <a:r>
              <a:rPr sz="1800" spc="10" dirty="0">
                <a:latin typeface="Calibri"/>
                <a:cs typeface="Calibri"/>
              </a:rPr>
              <a:t> </a:t>
            </a:r>
            <a:r>
              <a:rPr sz="1800" spc="-5" dirty="0">
                <a:latin typeface="Calibri"/>
                <a:cs typeface="Calibri"/>
              </a:rPr>
              <a:t>so</a:t>
            </a:r>
            <a:r>
              <a:rPr sz="1800" spc="10" dirty="0">
                <a:latin typeface="Calibri"/>
                <a:cs typeface="Calibri"/>
              </a:rPr>
              <a:t> </a:t>
            </a:r>
            <a:r>
              <a:rPr sz="1800" spc="-10" dirty="0">
                <a:latin typeface="Calibri"/>
                <a:cs typeface="Calibri"/>
              </a:rPr>
              <a:t>forth.</a:t>
            </a:r>
            <a:endParaRPr sz="1800">
              <a:latin typeface="Calibri"/>
              <a:cs typeface="Calibri"/>
            </a:endParaRPr>
          </a:p>
          <a:p>
            <a:pPr marL="241300" marR="7620" indent="-228600" algn="just">
              <a:lnSpc>
                <a:spcPct val="90100"/>
              </a:lnSpc>
              <a:spcBef>
                <a:spcPts val="1005"/>
              </a:spcBef>
              <a:buFont typeface="Wingdings"/>
              <a:buChar char=""/>
              <a:tabLst>
                <a:tab pos="241300" algn="l"/>
              </a:tabLst>
            </a:pPr>
            <a:r>
              <a:rPr sz="1800" spc="-5" dirty="0">
                <a:latin typeface="Calibri"/>
                <a:cs typeface="Calibri"/>
              </a:rPr>
              <a:t>Frequency</a:t>
            </a:r>
            <a:r>
              <a:rPr sz="1800" dirty="0">
                <a:latin typeface="Calibri"/>
                <a:cs typeface="Calibri"/>
              </a:rPr>
              <a:t> </a:t>
            </a:r>
            <a:r>
              <a:rPr sz="1800" spc="-5" dirty="0">
                <a:latin typeface="Calibri"/>
                <a:cs typeface="Calibri"/>
              </a:rPr>
              <a:t>distributions</a:t>
            </a:r>
            <a:r>
              <a:rPr sz="1800" dirty="0">
                <a:latin typeface="Calibri"/>
                <a:cs typeface="Calibri"/>
              </a:rPr>
              <a:t> </a:t>
            </a:r>
            <a:r>
              <a:rPr sz="1800" spc="-10" dirty="0">
                <a:latin typeface="Calibri"/>
                <a:cs typeface="Calibri"/>
              </a:rPr>
              <a:t>are</a:t>
            </a:r>
            <a:r>
              <a:rPr sz="1800" spc="-5" dirty="0">
                <a:latin typeface="Calibri"/>
                <a:cs typeface="Calibri"/>
              </a:rPr>
              <a:t> </a:t>
            </a:r>
            <a:r>
              <a:rPr sz="1800" spc="-10" dirty="0">
                <a:latin typeface="Calibri"/>
                <a:cs typeface="Calibri"/>
              </a:rPr>
              <a:t>generally</a:t>
            </a:r>
            <a:r>
              <a:rPr sz="1800" spc="-5" dirty="0">
                <a:latin typeface="Calibri"/>
                <a:cs typeface="Calibri"/>
              </a:rPr>
              <a:t> used</a:t>
            </a:r>
            <a:r>
              <a:rPr sz="1800" dirty="0">
                <a:latin typeface="Calibri"/>
                <a:cs typeface="Calibri"/>
              </a:rPr>
              <a:t> </a:t>
            </a:r>
            <a:r>
              <a:rPr sz="1800" spc="-15" dirty="0">
                <a:latin typeface="Calibri"/>
                <a:cs typeface="Calibri"/>
              </a:rPr>
              <a:t>to</a:t>
            </a:r>
            <a:r>
              <a:rPr sz="1800" spc="-10" dirty="0">
                <a:latin typeface="Calibri"/>
                <a:cs typeface="Calibri"/>
              </a:rPr>
              <a:t> </a:t>
            </a:r>
            <a:r>
              <a:rPr sz="1800" spc="-5" dirty="0">
                <a:latin typeface="Calibri"/>
                <a:cs typeface="Calibri"/>
              </a:rPr>
              <a:t>describe</a:t>
            </a:r>
            <a:r>
              <a:rPr sz="1800" dirty="0">
                <a:latin typeface="Calibri"/>
                <a:cs typeface="Calibri"/>
              </a:rPr>
              <a:t> both </a:t>
            </a:r>
            <a:r>
              <a:rPr sz="1800" spc="5" dirty="0">
                <a:latin typeface="Calibri"/>
                <a:cs typeface="Calibri"/>
              </a:rPr>
              <a:t> </a:t>
            </a:r>
            <a:r>
              <a:rPr sz="1800" b="1" spc="-15" dirty="0">
                <a:latin typeface="Calibri"/>
                <a:cs typeface="Calibri"/>
              </a:rPr>
              <a:t>nominal/categorical </a:t>
            </a:r>
            <a:r>
              <a:rPr sz="1800" b="1" spc="-10" dirty="0">
                <a:latin typeface="Calibri"/>
                <a:cs typeface="Calibri"/>
              </a:rPr>
              <a:t>data </a:t>
            </a:r>
            <a:r>
              <a:rPr sz="1800" dirty="0">
                <a:latin typeface="Calibri"/>
                <a:cs typeface="Calibri"/>
              </a:rPr>
              <a:t>and </a:t>
            </a:r>
            <a:r>
              <a:rPr sz="1800" b="1" spc="-5" dirty="0">
                <a:latin typeface="Calibri"/>
                <a:cs typeface="Calibri"/>
              </a:rPr>
              <a:t>interval </a:t>
            </a:r>
            <a:r>
              <a:rPr sz="1800" b="1" spc="-15" dirty="0">
                <a:latin typeface="Calibri"/>
                <a:cs typeface="Calibri"/>
              </a:rPr>
              <a:t>data</a:t>
            </a:r>
            <a:r>
              <a:rPr sz="1800" spc="-15" dirty="0">
                <a:latin typeface="Calibri"/>
                <a:cs typeface="Calibri"/>
              </a:rPr>
              <a:t>, </a:t>
            </a:r>
            <a:r>
              <a:rPr sz="1800" spc="-5" dirty="0">
                <a:latin typeface="Calibri"/>
                <a:cs typeface="Calibri"/>
              </a:rPr>
              <a:t>though </a:t>
            </a:r>
            <a:r>
              <a:rPr sz="1800" spc="-10" dirty="0">
                <a:latin typeface="Calibri"/>
                <a:cs typeface="Calibri"/>
              </a:rPr>
              <a:t>they </a:t>
            </a:r>
            <a:r>
              <a:rPr sz="1800" dirty="0">
                <a:latin typeface="Calibri"/>
                <a:cs typeface="Calibri"/>
              </a:rPr>
              <a:t>can </a:t>
            </a:r>
            <a:r>
              <a:rPr sz="1800" spc="-5" dirty="0">
                <a:latin typeface="Calibri"/>
                <a:cs typeface="Calibri"/>
              </a:rPr>
              <a:t>describe </a:t>
            </a:r>
            <a:r>
              <a:rPr sz="1800" dirty="0">
                <a:latin typeface="Calibri"/>
                <a:cs typeface="Calibri"/>
              </a:rPr>
              <a:t> </a:t>
            </a:r>
            <a:r>
              <a:rPr sz="1800" b="1" spc="-10" dirty="0">
                <a:latin typeface="Calibri"/>
                <a:cs typeface="Calibri"/>
              </a:rPr>
              <a:t>ordinal</a:t>
            </a:r>
            <a:r>
              <a:rPr sz="1800" b="1" spc="15" dirty="0">
                <a:latin typeface="Calibri"/>
                <a:cs typeface="Calibri"/>
              </a:rPr>
              <a:t> </a:t>
            </a:r>
            <a:r>
              <a:rPr sz="1800" b="1" spc="-15" dirty="0">
                <a:latin typeface="Calibri"/>
                <a:cs typeface="Calibri"/>
              </a:rPr>
              <a:t>data</a:t>
            </a:r>
            <a:r>
              <a:rPr sz="1800" spc="-15" dirty="0">
                <a:latin typeface="Calibri"/>
                <a:cs typeface="Calibri"/>
              </a:rPr>
              <a:t>.</a:t>
            </a:r>
            <a:r>
              <a:rPr sz="1800" spc="5" dirty="0">
                <a:latin typeface="Calibri"/>
                <a:cs typeface="Calibri"/>
              </a:rPr>
              <a:t> </a:t>
            </a:r>
            <a:r>
              <a:rPr sz="1800" dirty="0">
                <a:latin typeface="Calibri"/>
                <a:cs typeface="Calibri"/>
              </a:rPr>
              <a:t>If </a:t>
            </a:r>
            <a:r>
              <a:rPr sz="1800" spc="-5" dirty="0">
                <a:latin typeface="Calibri"/>
                <a:cs typeface="Calibri"/>
              </a:rPr>
              <a:t>the</a:t>
            </a:r>
            <a:r>
              <a:rPr sz="1800" spc="20" dirty="0">
                <a:latin typeface="Calibri"/>
                <a:cs typeface="Calibri"/>
              </a:rPr>
              <a:t> </a:t>
            </a:r>
            <a:r>
              <a:rPr sz="1800" spc="-20" dirty="0">
                <a:latin typeface="Calibri"/>
                <a:cs typeface="Calibri"/>
              </a:rPr>
              <a:t>data</a:t>
            </a:r>
            <a:r>
              <a:rPr sz="1800" spc="30" dirty="0">
                <a:latin typeface="Calibri"/>
                <a:cs typeface="Calibri"/>
              </a:rPr>
              <a:t> </a:t>
            </a:r>
            <a:r>
              <a:rPr sz="1800" spc="-10" dirty="0">
                <a:latin typeface="Calibri"/>
                <a:cs typeface="Calibri"/>
              </a:rPr>
              <a:t>are</a:t>
            </a:r>
            <a:r>
              <a:rPr sz="1800" spc="15" dirty="0">
                <a:latin typeface="Calibri"/>
                <a:cs typeface="Calibri"/>
              </a:rPr>
              <a:t> </a:t>
            </a:r>
            <a:r>
              <a:rPr sz="1800" spc="-5" dirty="0">
                <a:latin typeface="Calibri"/>
                <a:cs typeface="Calibri"/>
              </a:rPr>
              <a:t>nominal,</a:t>
            </a:r>
            <a:r>
              <a:rPr sz="1800" spc="35" dirty="0">
                <a:latin typeface="Calibri"/>
                <a:cs typeface="Calibri"/>
              </a:rPr>
              <a:t> </a:t>
            </a:r>
            <a:r>
              <a:rPr sz="1800" dirty="0">
                <a:latin typeface="Calibri"/>
                <a:cs typeface="Calibri"/>
              </a:rPr>
              <a:t>a</a:t>
            </a:r>
            <a:r>
              <a:rPr sz="1800" spc="5" dirty="0">
                <a:latin typeface="Calibri"/>
                <a:cs typeface="Calibri"/>
              </a:rPr>
              <a:t> </a:t>
            </a:r>
            <a:r>
              <a:rPr sz="1800" spc="-15" dirty="0">
                <a:latin typeface="Calibri"/>
                <a:cs typeface="Calibri"/>
              </a:rPr>
              <a:t>contingency</a:t>
            </a:r>
            <a:r>
              <a:rPr sz="1800" spc="80" dirty="0">
                <a:latin typeface="Calibri"/>
                <a:cs typeface="Calibri"/>
              </a:rPr>
              <a:t> </a:t>
            </a:r>
            <a:r>
              <a:rPr sz="1800" spc="-10" dirty="0">
                <a:latin typeface="Calibri"/>
                <a:cs typeface="Calibri"/>
              </a:rPr>
              <a:t>table</a:t>
            </a:r>
            <a:r>
              <a:rPr sz="1800" spc="45" dirty="0">
                <a:latin typeface="Calibri"/>
                <a:cs typeface="Calibri"/>
              </a:rPr>
              <a:t> </a:t>
            </a:r>
            <a:r>
              <a:rPr sz="1800" spc="-10" dirty="0">
                <a:latin typeface="Calibri"/>
                <a:cs typeface="Calibri"/>
              </a:rPr>
              <a:t>may</a:t>
            </a:r>
            <a:r>
              <a:rPr sz="1800" spc="-20" dirty="0">
                <a:latin typeface="Calibri"/>
                <a:cs typeface="Calibri"/>
              </a:rPr>
              <a:t> </a:t>
            </a:r>
            <a:r>
              <a:rPr sz="1800" spc="-5" dirty="0">
                <a:latin typeface="Calibri"/>
                <a:cs typeface="Calibri"/>
              </a:rPr>
              <a:t>be</a:t>
            </a:r>
            <a:r>
              <a:rPr sz="1800" spc="15" dirty="0">
                <a:latin typeface="Calibri"/>
                <a:cs typeface="Calibri"/>
              </a:rPr>
              <a:t> </a:t>
            </a:r>
            <a:r>
              <a:rPr sz="1800" spc="-15" dirty="0">
                <a:latin typeface="Calibri"/>
                <a:cs typeface="Calibri"/>
              </a:rPr>
              <a:t>useful.</a:t>
            </a:r>
            <a:endParaRPr sz="1800">
              <a:latin typeface="Calibri"/>
              <a:cs typeface="Calibri"/>
            </a:endParaRPr>
          </a:p>
        </p:txBody>
      </p:sp>
      <p:pic>
        <p:nvPicPr>
          <p:cNvPr id="4" name="object 4"/>
          <p:cNvPicPr/>
          <p:nvPr/>
        </p:nvPicPr>
        <p:blipFill>
          <a:blip r:embed="rId2" cstate="print"/>
          <a:stretch>
            <a:fillRect/>
          </a:stretch>
        </p:blipFill>
        <p:spPr>
          <a:xfrm>
            <a:off x="15" y="1"/>
            <a:ext cx="3476720" cy="6857451"/>
          </a:xfrm>
          <a:prstGeom prst="rect">
            <a:avLst/>
          </a:prstGeom>
        </p:spPr>
      </p:pic>
      <p:sp>
        <p:nvSpPr>
          <p:cNvPr id="5" name="object 5"/>
          <p:cNvSpPr/>
          <p:nvPr/>
        </p:nvSpPr>
        <p:spPr>
          <a:xfrm>
            <a:off x="3810667" y="2115057"/>
            <a:ext cx="4732020" cy="0"/>
          </a:xfrm>
          <a:custGeom>
            <a:avLst/>
            <a:gdLst/>
            <a:ahLst/>
            <a:cxnLst/>
            <a:rect l="l" t="t" r="r" b="b"/>
            <a:pathLst>
              <a:path w="6309359">
                <a:moveTo>
                  <a:pt x="0" y="0"/>
                </a:moveTo>
                <a:lnTo>
                  <a:pt x="6309360" y="0"/>
                </a:lnTo>
              </a:path>
            </a:pathLst>
          </a:custGeom>
          <a:ln w="19050">
            <a:solidFill>
              <a:srgbClr val="D3DF16"/>
            </a:solidFill>
          </a:ln>
        </p:spPr>
        <p:txBody>
          <a:bodyPr wrap="square" lIns="0" tIns="0" rIns="0" bIns="0" rtlCol="0"/>
          <a:lstStyle/>
          <a:p>
            <a:endParaRPr/>
          </a:p>
        </p:txBody>
      </p:sp>
    </p:spTree>
    <p:extLst>
      <p:ext uri="{BB962C8B-B14F-4D97-AF65-F5344CB8AC3E}">
        <p14:creationId xmlns:p14="http://schemas.microsoft.com/office/powerpoint/2010/main" val="3823024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397765" y="341382"/>
            <a:ext cx="8450580" cy="2192020"/>
            <a:chOff x="530353" y="341382"/>
            <a:chExt cx="11267440" cy="2192020"/>
          </a:xfrm>
        </p:grpSpPr>
        <p:pic>
          <p:nvPicPr>
            <p:cNvPr id="3" name="object 3"/>
            <p:cNvPicPr/>
            <p:nvPr/>
          </p:nvPicPr>
          <p:blipFill>
            <a:blip r:embed="rId2" cstate="print"/>
            <a:stretch>
              <a:fillRect/>
            </a:stretch>
          </p:blipFill>
          <p:spPr>
            <a:xfrm>
              <a:off x="530353" y="341382"/>
              <a:ext cx="11266928" cy="2191499"/>
            </a:xfrm>
            <a:prstGeom prst="rect">
              <a:avLst/>
            </a:prstGeom>
          </p:spPr>
        </p:pic>
        <p:sp>
          <p:nvSpPr>
            <p:cNvPr id="4" name="object 4"/>
            <p:cNvSpPr/>
            <p:nvPr/>
          </p:nvSpPr>
          <p:spPr>
            <a:xfrm>
              <a:off x="554418" y="365125"/>
              <a:ext cx="11167745" cy="2089785"/>
            </a:xfrm>
            <a:custGeom>
              <a:avLst/>
              <a:gdLst/>
              <a:ahLst/>
              <a:cxnLst/>
              <a:rect l="l" t="t" r="r" b="b"/>
              <a:pathLst>
                <a:path w="11167745" h="2089785">
                  <a:moveTo>
                    <a:pt x="11167491" y="0"/>
                  </a:moveTo>
                  <a:lnTo>
                    <a:pt x="0" y="0"/>
                  </a:lnTo>
                  <a:lnTo>
                    <a:pt x="0" y="2089277"/>
                  </a:lnTo>
                  <a:lnTo>
                    <a:pt x="11167491" y="2089277"/>
                  </a:lnTo>
                  <a:lnTo>
                    <a:pt x="11167491" y="0"/>
                  </a:lnTo>
                  <a:close/>
                </a:path>
              </a:pathLst>
            </a:custGeom>
            <a:solidFill>
              <a:srgbClr val="FFFFFF"/>
            </a:solidFill>
          </p:spPr>
          <p:txBody>
            <a:bodyPr wrap="square" lIns="0" tIns="0" rIns="0" bIns="0" rtlCol="0"/>
            <a:lstStyle/>
            <a:p>
              <a:endParaRPr/>
            </a:p>
          </p:txBody>
        </p:sp>
        <p:sp>
          <p:nvSpPr>
            <p:cNvPr id="5" name="object 5"/>
            <p:cNvSpPr/>
            <p:nvPr/>
          </p:nvSpPr>
          <p:spPr>
            <a:xfrm>
              <a:off x="554418" y="365125"/>
              <a:ext cx="11167745" cy="2089785"/>
            </a:xfrm>
            <a:custGeom>
              <a:avLst/>
              <a:gdLst/>
              <a:ahLst/>
              <a:cxnLst/>
              <a:rect l="l" t="t" r="r" b="b"/>
              <a:pathLst>
                <a:path w="11167745" h="2089785">
                  <a:moveTo>
                    <a:pt x="0" y="2089277"/>
                  </a:moveTo>
                  <a:lnTo>
                    <a:pt x="11167491" y="2089277"/>
                  </a:lnTo>
                  <a:lnTo>
                    <a:pt x="11167491" y="0"/>
                  </a:lnTo>
                  <a:lnTo>
                    <a:pt x="0" y="0"/>
                  </a:lnTo>
                  <a:lnTo>
                    <a:pt x="0" y="2089277"/>
                  </a:lnTo>
                  <a:close/>
                </a:path>
              </a:pathLst>
            </a:custGeom>
            <a:ln w="12700">
              <a:solidFill>
                <a:srgbClr val="DEDEDE"/>
              </a:solidFill>
            </a:ln>
          </p:spPr>
          <p:txBody>
            <a:bodyPr wrap="square" lIns="0" tIns="0" rIns="0" bIns="0" rtlCol="0"/>
            <a:lstStyle/>
            <a:p>
              <a:endParaRPr/>
            </a:p>
          </p:txBody>
        </p:sp>
      </p:grpSp>
      <p:sp>
        <p:nvSpPr>
          <p:cNvPr id="6" name="object 6"/>
          <p:cNvSpPr txBox="1"/>
          <p:nvPr/>
        </p:nvSpPr>
        <p:spPr>
          <a:xfrm>
            <a:off x="847952" y="1105027"/>
            <a:ext cx="2283887" cy="503984"/>
          </a:xfrm>
          <a:prstGeom prst="rect">
            <a:avLst/>
          </a:prstGeom>
        </p:spPr>
        <p:txBody>
          <a:bodyPr vert="horz" wrap="square" lIns="0" tIns="11430" rIns="0" bIns="0" rtlCol="0">
            <a:spAutoFit/>
          </a:bodyPr>
          <a:lstStyle/>
          <a:p>
            <a:pPr marL="12700">
              <a:lnSpc>
                <a:spcPct val="100000"/>
              </a:lnSpc>
              <a:spcBef>
                <a:spcPts val="90"/>
              </a:spcBef>
            </a:pPr>
            <a:r>
              <a:rPr sz="3200" spc="-5" dirty="0">
                <a:latin typeface="Calibri Light"/>
                <a:cs typeface="Calibri Light"/>
              </a:rPr>
              <a:t>EX</a:t>
            </a:r>
            <a:r>
              <a:rPr sz="3200" dirty="0">
                <a:latin typeface="Calibri Light"/>
                <a:cs typeface="Calibri Light"/>
              </a:rPr>
              <a:t>A</a:t>
            </a:r>
            <a:r>
              <a:rPr sz="3200" spc="-5" dirty="0">
                <a:latin typeface="Calibri Light"/>
                <a:cs typeface="Calibri Light"/>
              </a:rPr>
              <a:t>MPLE</a:t>
            </a:r>
            <a:endParaRPr sz="3200" dirty="0">
              <a:latin typeface="Calibri Light"/>
              <a:cs typeface="Calibri Light"/>
            </a:endParaRPr>
          </a:p>
        </p:txBody>
      </p:sp>
      <p:grpSp>
        <p:nvGrpSpPr>
          <p:cNvPr id="7" name="object 7"/>
          <p:cNvGrpSpPr/>
          <p:nvPr/>
        </p:nvGrpSpPr>
        <p:grpSpPr>
          <a:xfrm>
            <a:off x="367808" y="678306"/>
            <a:ext cx="3370421" cy="1463040"/>
            <a:chOff x="490410" y="678306"/>
            <a:chExt cx="4493895" cy="1463040"/>
          </a:xfrm>
        </p:grpSpPr>
        <p:sp>
          <p:nvSpPr>
            <p:cNvPr id="8" name="object 8"/>
            <p:cNvSpPr/>
            <p:nvPr/>
          </p:nvSpPr>
          <p:spPr>
            <a:xfrm>
              <a:off x="490410" y="1057782"/>
              <a:ext cx="128270" cy="704215"/>
            </a:xfrm>
            <a:custGeom>
              <a:avLst/>
              <a:gdLst/>
              <a:ahLst/>
              <a:cxnLst/>
              <a:rect l="l" t="t" r="r" b="b"/>
              <a:pathLst>
                <a:path w="128270" h="704214">
                  <a:moveTo>
                    <a:pt x="128015" y="0"/>
                  </a:moveTo>
                  <a:lnTo>
                    <a:pt x="0" y="0"/>
                  </a:lnTo>
                  <a:lnTo>
                    <a:pt x="0" y="704088"/>
                  </a:lnTo>
                  <a:lnTo>
                    <a:pt x="128015" y="704088"/>
                  </a:lnTo>
                  <a:lnTo>
                    <a:pt x="128015" y="0"/>
                  </a:lnTo>
                  <a:close/>
                </a:path>
              </a:pathLst>
            </a:custGeom>
            <a:solidFill>
              <a:srgbClr val="EC7C30"/>
            </a:solidFill>
          </p:spPr>
          <p:txBody>
            <a:bodyPr wrap="square" lIns="0" tIns="0" rIns="0" bIns="0" rtlCol="0"/>
            <a:lstStyle/>
            <a:p>
              <a:endParaRPr/>
            </a:p>
          </p:txBody>
        </p:sp>
        <p:sp>
          <p:nvSpPr>
            <p:cNvPr id="9" name="object 9"/>
            <p:cNvSpPr/>
            <p:nvPr/>
          </p:nvSpPr>
          <p:spPr>
            <a:xfrm>
              <a:off x="4965954" y="678306"/>
              <a:ext cx="18415" cy="1463040"/>
            </a:xfrm>
            <a:custGeom>
              <a:avLst/>
              <a:gdLst/>
              <a:ahLst/>
              <a:cxnLst/>
              <a:rect l="l" t="t" r="r" b="b"/>
              <a:pathLst>
                <a:path w="18414" h="1463039">
                  <a:moveTo>
                    <a:pt x="18287" y="0"/>
                  </a:moveTo>
                  <a:lnTo>
                    <a:pt x="0" y="0"/>
                  </a:lnTo>
                  <a:lnTo>
                    <a:pt x="0" y="1463039"/>
                  </a:lnTo>
                  <a:lnTo>
                    <a:pt x="18287" y="1463039"/>
                  </a:lnTo>
                  <a:lnTo>
                    <a:pt x="18287" y="0"/>
                  </a:lnTo>
                  <a:close/>
                </a:path>
              </a:pathLst>
            </a:custGeom>
            <a:solidFill>
              <a:srgbClr val="D4D4D4"/>
            </a:solidFill>
          </p:spPr>
          <p:txBody>
            <a:bodyPr wrap="square" lIns="0" tIns="0" rIns="0" bIns="0" rtlCol="0"/>
            <a:lstStyle/>
            <a:p>
              <a:endParaRPr/>
            </a:p>
          </p:txBody>
        </p:sp>
      </p:grpSp>
      <p:sp>
        <p:nvSpPr>
          <p:cNvPr id="10" name="object 10"/>
          <p:cNvSpPr txBox="1"/>
          <p:nvPr/>
        </p:nvSpPr>
        <p:spPr>
          <a:xfrm>
            <a:off x="3777901" y="984631"/>
            <a:ext cx="5005388" cy="794385"/>
          </a:xfrm>
          <a:prstGeom prst="rect">
            <a:avLst/>
          </a:prstGeom>
        </p:spPr>
        <p:txBody>
          <a:bodyPr vert="horz" wrap="square" lIns="0" tIns="43815" rIns="0" bIns="0" rtlCol="0">
            <a:spAutoFit/>
          </a:bodyPr>
          <a:lstStyle/>
          <a:p>
            <a:pPr marL="241300" marR="5080" indent="-228600">
              <a:lnSpc>
                <a:spcPts val="1939"/>
              </a:lnSpc>
              <a:spcBef>
                <a:spcPts val="345"/>
              </a:spcBef>
              <a:buFont typeface="Arial MT"/>
              <a:buChar char="•"/>
              <a:tabLst>
                <a:tab pos="240665" algn="l"/>
                <a:tab pos="241300" algn="l"/>
              </a:tabLst>
            </a:pPr>
            <a:r>
              <a:rPr sz="1800" dirty="0">
                <a:latin typeface="Calibri"/>
                <a:cs typeface="Calibri"/>
              </a:rPr>
              <a:t>183</a:t>
            </a:r>
            <a:r>
              <a:rPr sz="1800" spc="-5" dirty="0">
                <a:latin typeface="Calibri"/>
                <a:cs typeface="Calibri"/>
              </a:rPr>
              <a:t> </a:t>
            </a:r>
            <a:r>
              <a:rPr sz="1800" spc="-15" dirty="0">
                <a:latin typeface="Calibri"/>
                <a:cs typeface="Calibri"/>
              </a:rPr>
              <a:t>students</a:t>
            </a:r>
            <a:r>
              <a:rPr sz="1800" spc="75" dirty="0">
                <a:latin typeface="Calibri"/>
                <a:cs typeface="Calibri"/>
              </a:rPr>
              <a:t> </a:t>
            </a:r>
            <a:r>
              <a:rPr sz="1800" spc="-5" dirty="0">
                <a:latin typeface="Calibri"/>
                <a:cs typeface="Calibri"/>
              </a:rPr>
              <a:t>fill </a:t>
            </a:r>
            <a:r>
              <a:rPr sz="1800" dirty="0">
                <a:latin typeface="Calibri"/>
                <a:cs typeface="Calibri"/>
              </a:rPr>
              <a:t>out</a:t>
            </a:r>
            <a:r>
              <a:rPr sz="1800" spc="10" dirty="0">
                <a:latin typeface="Calibri"/>
                <a:cs typeface="Calibri"/>
              </a:rPr>
              <a:t> </a:t>
            </a:r>
            <a:r>
              <a:rPr sz="1800" dirty="0">
                <a:latin typeface="Calibri"/>
                <a:cs typeface="Calibri"/>
              </a:rPr>
              <a:t>a</a:t>
            </a:r>
            <a:r>
              <a:rPr sz="1800" spc="-5" dirty="0">
                <a:latin typeface="Calibri"/>
                <a:cs typeface="Calibri"/>
              </a:rPr>
              <a:t> </a:t>
            </a:r>
            <a:r>
              <a:rPr sz="1800" spc="-10" dirty="0">
                <a:latin typeface="Calibri"/>
                <a:cs typeface="Calibri"/>
              </a:rPr>
              <a:t>questionnaire.</a:t>
            </a:r>
            <a:r>
              <a:rPr sz="1800" spc="65" dirty="0">
                <a:latin typeface="Calibri"/>
                <a:cs typeface="Calibri"/>
              </a:rPr>
              <a:t> </a:t>
            </a:r>
            <a:r>
              <a:rPr sz="1800" spc="-5" dirty="0">
                <a:latin typeface="Calibri"/>
                <a:cs typeface="Calibri"/>
              </a:rPr>
              <a:t>One</a:t>
            </a:r>
            <a:r>
              <a:rPr sz="1800" spc="15" dirty="0">
                <a:latin typeface="Calibri"/>
                <a:cs typeface="Calibri"/>
              </a:rPr>
              <a:t> </a:t>
            </a:r>
            <a:r>
              <a:rPr sz="1800" dirty="0">
                <a:latin typeface="Calibri"/>
                <a:cs typeface="Calibri"/>
              </a:rPr>
              <a:t>of</a:t>
            </a:r>
            <a:r>
              <a:rPr sz="1800" spc="-10" dirty="0">
                <a:latin typeface="Calibri"/>
                <a:cs typeface="Calibri"/>
              </a:rPr>
              <a:t> </a:t>
            </a:r>
            <a:r>
              <a:rPr sz="1800" spc="-5" dirty="0">
                <a:latin typeface="Calibri"/>
                <a:cs typeface="Calibri"/>
              </a:rPr>
              <a:t>the</a:t>
            </a:r>
            <a:r>
              <a:rPr sz="1800" spc="15" dirty="0">
                <a:latin typeface="Calibri"/>
                <a:cs typeface="Calibri"/>
              </a:rPr>
              <a:t> </a:t>
            </a:r>
            <a:r>
              <a:rPr sz="1800" spc="-10" dirty="0">
                <a:latin typeface="Calibri"/>
                <a:cs typeface="Calibri"/>
              </a:rPr>
              <a:t>questions</a:t>
            </a:r>
            <a:r>
              <a:rPr sz="1800" spc="55" dirty="0">
                <a:latin typeface="Calibri"/>
                <a:cs typeface="Calibri"/>
              </a:rPr>
              <a:t> </a:t>
            </a:r>
            <a:r>
              <a:rPr sz="1800" spc="-5" dirty="0">
                <a:latin typeface="Calibri"/>
                <a:cs typeface="Calibri"/>
              </a:rPr>
              <a:t>was</a:t>
            </a:r>
            <a:r>
              <a:rPr sz="1800" spc="-10" dirty="0">
                <a:latin typeface="Calibri"/>
                <a:cs typeface="Calibri"/>
              </a:rPr>
              <a:t> </a:t>
            </a:r>
            <a:r>
              <a:rPr sz="1800" spc="-5" dirty="0">
                <a:latin typeface="Calibri"/>
                <a:cs typeface="Calibri"/>
              </a:rPr>
              <a:t>which </a:t>
            </a:r>
            <a:r>
              <a:rPr sz="1800" spc="-395" dirty="0">
                <a:latin typeface="Calibri"/>
                <a:cs typeface="Calibri"/>
              </a:rPr>
              <a:t> </a:t>
            </a:r>
            <a:r>
              <a:rPr sz="1800" spc="-15" dirty="0">
                <a:latin typeface="Calibri"/>
                <a:cs typeface="Calibri"/>
              </a:rPr>
              <a:t>study</a:t>
            </a:r>
            <a:r>
              <a:rPr sz="1800" spc="45" dirty="0">
                <a:latin typeface="Calibri"/>
                <a:cs typeface="Calibri"/>
              </a:rPr>
              <a:t> </a:t>
            </a:r>
            <a:r>
              <a:rPr sz="1800" dirty="0">
                <a:latin typeface="Calibri"/>
                <a:cs typeface="Calibri"/>
              </a:rPr>
              <a:t>major</a:t>
            </a:r>
            <a:r>
              <a:rPr sz="1800" spc="-30" dirty="0">
                <a:latin typeface="Calibri"/>
                <a:cs typeface="Calibri"/>
              </a:rPr>
              <a:t> </a:t>
            </a:r>
            <a:r>
              <a:rPr sz="1800" spc="-10" dirty="0">
                <a:latin typeface="Calibri"/>
                <a:cs typeface="Calibri"/>
              </a:rPr>
              <a:t>they're</a:t>
            </a:r>
            <a:r>
              <a:rPr sz="1800" spc="20" dirty="0">
                <a:latin typeface="Calibri"/>
                <a:cs typeface="Calibri"/>
              </a:rPr>
              <a:t> </a:t>
            </a:r>
            <a:r>
              <a:rPr sz="1800" spc="-10" dirty="0">
                <a:latin typeface="Calibri"/>
                <a:cs typeface="Calibri"/>
              </a:rPr>
              <a:t>following.</a:t>
            </a:r>
            <a:r>
              <a:rPr sz="1800" spc="-5" dirty="0">
                <a:latin typeface="Calibri"/>
                <a:cs typeface="Calibri"/>
              </a:rPr>
              <a:t> </a:t>
            </a:r>
            <a:r>
              <a:rPr sz="1800" dirty="0">
                <a:latin typeface="Calibri"/>
                <a:cs typeface="Calibri"/>
              </a:rPr>
              <a:t>The</a:t>
            </a:r>
            <a:r>
              <a:rPr sz="1800" spc="15" dirty="0">
                <a:latin typeface="Calibri"/>
                <a:cs typeface="Calibri"/>
              </a:rPr>
              <a:t> </a:t>
            </a:r>
            <a:r>
              <a:rPr sz="1800" spc="-10" dirty="0">
                <a:latin typeface="Calibri"/>
                <a:cs typeface="Calibri"/>
              </a:rPr>
              <a:t>screenshot</a:t>
            </a:r>
            <a:r>
              <a:rPr sz="1800" spc="50" dirty="0">
                <a:latin typeface="Calibri"/>
                <a:cs typeface="Calibri"/>
              </a:rPr>
              <a:t> </a:t>
            </a:r>
            <a:r>
              <a:rPr sz="1800" spc="-5" dirty="0">
                <a:latin typeface="Calibri"/>
                <a:cs typeface="Calibri"/>
              </a:rPr>
              <a:t>below</a:t>
            </a:r>
            <a:r>
              <a:rPr sz="1800" spc="5" dirty="0">
                <a:latin typeface="Calibri"/>
                <a:cs typeface="Calibri"/>
              </a:rPr>
              <a:t> </a:t>
            </a:r>
            <a:r>
              <a:rPr sz="1800" spc="-10" dirty="0">
                <a:latin typeface="Calibri"/>
                <a:cs typeface="Calibri"/>
              </a:rPr>
              <a:t>shows</a:t>
            </a:r>
            <a:r>
              <a:rPr sz="1800" spc="15" dirty="0">
                <a:latin typeface="Calibri"/>
                <a:cs typeface="Calibri"/>
              </a:rPr>
              <a:t> </a:t>
            </a:r>
            <a:r>
              <a:rPr sz="1800" spc="-5" dirty="0">
                <a:latin typeface="Calibri"/>
                <a:cs typeface="Calibri"/>
              </a:rPr>
              <a:t>part </a:t>
            </a:r>
            <a:r>
              <a:rPr sz="1800" spc="5" dirty="0">
                <a:latin typeface="Calibri"/>
                <a:cs typeface="Calibri"/>
              </a:rPr>
              <a:t>of </a:t>
            </a:r>
            <a:r>
              <a:rPr sz="1800" spc="10" dirty="0">
                <a:latin typeface="Calibri"/>
                <a:cs typeface="Calibri"/>
              </a:rPr>
              <a:t> </a:t>
            </a:r>
            <a:r>
              <a:rPr sz="1800" spc="-10" dirty="0">
                <a:latin typeface="Calibri"/>
                <a:cs typeface="Calibri"/>
              </a:rPr>
              <a:t>these</a:t>
            </a:r>
            <a:r>
              <a:rPr sz="1800" spc="30" dirty="0">
                <a:latin typeface="Calibri"/>
                <a:cs typeface="Calibri"/>
              </a:rPr>
              <a:t> </a:t>
            </a:r>
            <a:r>
              <a:rPr sz="1800" spc="-15" dirty="0">
                <a:latin typeface="Calibri"/>
                <a:cs typeface="Calibri"/>
              </a:rPr>
              <a:t>data.</a:t>
            </a:r>
            <a:endParaRPr sz="1800">
              <a:latin typeface="Calibri"/>
              <a:cs typeface="Calibri"/>
            </a:endParaRPr>
          </a:p>
        </p:txBody>
      </p:sp>
      <p:pic>
        <p:nvPicPr>
          <p:cNvPr id="11" name="object 11"/>
          <p:cNvPicPr/>
          <p:nvPr/>
        </p:nvPicPr>
        <p:blipFill>
          <a:blip r:embed="rId3" cstate="print"/>
          <a:stretch>
            <a:fillRect/>
          </a:stretch>
        </p:blipFill>
        <p:spPr>
          <a:xfrm>
            <a:off x="418338" y="2984920"/>
            <a:ext cx="4111085" cy="2699639"/>
          </a:xfrm>
          <a:prstGeom prst="rect">
            <a:avLst/>
          </a:prstGeom>
        </p:spPr>
      </p:pic>
      <p:pic>
        <p:nvPicPr>
          <p:cNvPr id="12" name="object 12"/>
          <p:cNvPicPr/>
          <p:nvPr/>
        </p:nvPicPr>
        <p:blipFill>
          <a:blip r:embed="rId4" cstate="print"/>
          <a:stretch>
            <a:fillRect/>
          </a:stretch>
        </p:blipFill>
        <p:spPr>
          <a:xfrm>
            <a:off x="4821205" y="3029234"/>
            <a:ext cx="3781529" cy="2553502"/>
          </a:xfrm>
          <a:prstGeom prst="rect">
            <a:avLst/>
          </a:prstGeom>
        </p:spPr>
      </p:pic>
    </p:spTree>
    <p:extLst>
      <p:ext uri="{BB962C8B-B14F-4D97-AF65-F5344CB8AC3E}">
        <p14:creationId xmlns:p14="http://schemas.microsoft.com/office/powerpoint/2010/main" val="9996365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3045143" cy="6858000"/>
          </a:xfrm>
          <a:custGeom>
            <a:avLst/>
            <a:gdLst/>
            <a:ahLst/>
            <a:cxnLst/>
            <a:rect l="l" t="t" r="r" b="b"/>
            <a:pathLst>
              <a:path w="4060190" h="6858000">
                <a:moveTo>
                  <a:pt x="4059968" y="6857996"/>
                </a:moveTo>
                <a:lnTo>
                  <a:pt x="4059968" y="0"/>
                </a:lnTo>
                <a:lnTo>
                  <a:pt x="0" y="0"/>
                </a:lnTo>
                <a:lnTo>
                  <a:pt x="0" y="6857996"/>
                </a:lnTo>
                <a:lnTo>
                  <a:pt x="4059968" y="6857996"/>
                </a:lnTo>
                <a:close/>
              </a:path>
            </a:pathLst>
          </a:custGeom>
          <a:solidFill>
            <a:srgbClr val="4471C4"/>
          </a:solidFill>
        </p:spPr>
        <p:txBody>
          <a:bodyPr wrap="square" lIns="0" tIns="0" rIns="0" bIns="0" rtlCol="0"/>
          <a:lstStyle/>
          <a:p>
            <a:endParaRPr/>
          </a:p>
        </p:txBody>
      </p:sp>
      <p:sp>
        <p:nvSpPr>
          <p:cNvPr id="3" name="object 3"/>
          <p:cNvSpPr txBox="1"/>
          <p:nvPr/>
        </p:nvSpPr>
        <p:spPr>
          <a:xfrm>
            <a:off x="541858" y="2429382"/>
            <a:ext cx="1992630" cy="3166251"/>
          </a:xfrm>
          <a:prstGeom prst="rect">
            <a:avLst/>
          </a:prstGeom>
        </p:spPr>
        <p:txBody>
          <a:bodyPr vert="horz" wrap="square" lIns="0" tIns="87630" rIns="0" bIns="0" rtlCol="0">
            <a:spAutoFit/>
          </a:bodyPr>
          <a:lstStyle/>
          <a:p>
            <a:pPr marL="12700" marR="5080">
              <a:lnSpc>
                <a:spcPts val="4750"/>
              </a:lnSpc>
              <a:spcBef>
                <a:spcPts val="690"/>
              </a:spcBef>
            </a:pPr>
            <a:r>
              <a:rPr sz="4400" spc="-25" dirty="0">
                <a:solidFill>
                  <a:srgbClr val="FFFFFF"/>
                </a:solidFill>
                <a:latin typeface="Calibri Light"/>
                <a:cs typeface="Calibri Light"/>
              </a:rPr>
              <a:t>Grouped </a:t>
            </a:r>
            <a:r>
              <a:rPr sz="4400" spc="-20" dirty="0">
                <a:solidFill>
                  <a:srgbClr val="FFFFFF"/>
                </a:solidFill>
                <a:latin typeface="Calibri Light"/>
                <a:cs typeface="Calibri Light"/>
              </a:rPr>
              <a:t> Frequency </a:t>
            </a:r>
            <a:r>
              <a:rPr sz="4400" spc="-15" dirty="0">
                <a:solidFill>
                  <a:srgbClr val="FFFFFF"/>
                </a:solidFill>
                <a:latin typeface="Calibri Light"/>
                <a:cs typeface="Calibri Light"/>
              </a:rPr>
              <a:t> </a:t>
            </a:r>
            <a:r>
              <a:rPr sz="4400" spc="-5" dirty="0">
                <a:solidFill>
                  <a:srgbClr val="FFFFFF"/>
                </a:solidFill>
                <a:latin typeface="Calibri Light"/>
                <a:cs typeface="Calibri Light"/>
              </a:rPr>
              <a:t>D</a:t>
            </a:r>
            <a:r>
              <a:rPr sz="4400" spc="-20" dirty="0">
                <a:solidFill>
                  <a:srgbClr val="FFFFFF"/>
                </a:solidFill>
                <a:latin typeface="Calibri Light"/>
                <a:cs typeface="Calibri Light"/>
              </a:rPr>
              <a:t>i</a:t>
            </a:r>
            <a:r>
              <a:rPr sz="4400" spc="-50" dirty="0">
                <a:solidFill>
                  <a:srgbClr val="FFFFFF"/>
                </a:solidFill>
                <a:latin typeface="Calibri Light"/>
                <a:cs typeface="Calibri Light"/>
              </a:rPr>
              <a:t>s</a:t>
            </a:r>
            <a:r>
              <a:rPr sz="4400" spc="-5" dirty="0">
                <a:solidFill>
                  <a:srgbClr val="FFFFFF"/>
                </a:solidFill>
                <a:latin typeface="Calibri Light"/>
                <a:cs typeface="Calibri Light"/>
              </a:rPr>
              <a:t>tr</a:t>
            </a:r>
            <a:r>
              <a:rPr sz="4400" spc="-30" dirty="0">
                <a:solidFill>
                  <a:srgbClr val="FFFFFF"/>
                </a:solidFill>
                <a:latin typeface="Calibri Light"/>
                <a:cs typeface="Calibri Light"/>
              </a:rPr>
              <a:t>i</a:t>
            </a:r>
            <a:r>
              <a:rPr sz="4400" spc="-5" dirty="0">
                <a:solidFill>
                  <a:srgbClr val="FFFFFF"/>
                </a:solidFill>
                <a:latin typeface="Calibri Light"/>
                <a:cs typeface="Calibri Light"/>
              </a:rPr>
              <a:t>bu</a:t>
            </a:r>
            <a:r>
              <a:rPr sz="4400" spc="-25" dirty="0">
                <a:solidFill>
                  <a:srgbClr val="FFFFFF"/>
                </a:solidFill>
                <a:latin typeface="Calibri Light"/>
                <a:cs typeface="Calibri Light"/>
              </a:rPr>
              <a:t>t</a:t>
            </a:r>
            <a:r>
              <a:rPr sz="4400" spc="-5" dirty="0">
                <a:solidFill>
                  <a:srgbClr val="FFFFFF"/>
                </a:solidFill>
                <a:latin typeface="Calibri Light"/>
                <a:cs typeface="Calibri Light"/>
              </a:rPr>
              <a:t>i</a:t>
            </a:r>
            <a:r>
              <a:rPr sz="4400" spc="-30" dirty="0">
                <a:solidFill>
                  <a:srgbClr val="FFFFFF"/>
                </a:solidFill>
                <a:latin typeface="Calibri Light"/>
                <a:cs typeface="Calibri Light"/>
              </a:rPr>
              <a:t>o</a:t>
            </a:r>
            <a:r>
              <a:rPr sz="4400" spc="-5" dirty="0">
                <a:solidFill>
                  <a:srgbClr val="FFFFFF"/>
                </a:solidFill>
                <a:latin typeface="Calibri Light"/>
                <a:cs typeface="Calibri Light"/>
              </a:rPr>
              <a:t>n</a:t>
            </a:r>
            <a:endParaRPr sz="4400">
              <a:latin typeface="Calibri Light"/>
              <a:cs typeface="Calibri Light"/>
            </a:endParaRPr>
          </a:p>
        </p:txBody>
      </p:sp>
      <p:sp>
        <p:nvSpPr>
          <p:cNvPr id="4" name="object 4"/>
          <p:cNvSpPr txBox="1"/>
          <p:nvPr/>
        </p:nvSpPr>
        <p:spPr>
          <a:xfrm>
            <a:off x="3084766" y="498805"/>
            <a:ext cx="5601176" cy="4236416"/>
          </a:xfrm>
          <a:prstGeom prst="rect">
            <a:avLst/>
          </a:prstGeom>
        </p:spPr>
        <p:txBody>
          <a:bodyPr vert="horz" wrap="square" lIns="0" tIns="12065" rIns="0" bIns="0" rtlCol="0">
            <a:spAutoFit/>
          </a:bodyPr>
          <a:lstStyle/>
          <a:p>
            <a:pPr marL="241300" indent="-228600">
              <a:lnSpc>
                <a:spcPts val="2280"/>
              </a:lnSpc>
              <a:spcBef>
                <a:spcPts val="95"/>
              </a:spcBef>
              <a:buSzPct val="95000"/>
              <a:buFont typeface="Wingdings"/>
              <a:buChar char=""/>
              <a:tabLst>
                <a:tab pos="241300" algn="l"/>
              </a:tabLst>
            </a:pPr>
            <a:r>
              <a:rPr sz="2000" spc="-100" dirty="0">
                <a:latin typeface="Calibri"/>
                <a:cs typeface="Calibri"/>
              </a:rPr>
              <a:t>To</a:t>
            </a:r>
            <a:r>
              <a:rPr sz="2000" spc="5" dirty="0">
                <a:latin typeface="Calibri"/>
                <a:cs typeface="Calibri"/>
              </a:rPr>
              <a:t> </a:t>
            </a:r>
            <a:r>
              <a:rPr sz="2000" spc="-15" dirty="0">
                <a:latin typeface="Calibri"/>
                <a:cs typeface="Calibri"/>
              </a:rPr>
              <a:t>count</a:t>
            </a:r>
            <a:r>
              <a:rPr sz="2000" spc="10" dirty="0">
                <a:latin typeface="Calibri"/>
                <a:cs typeface="Calibri"/>
              </a:rPr>
              <a:t> </a:t>
            </a:r>
            <a:r>
              <a:rPr sz="2000" dirty="0">
                <a:latin typeface="Calibri"/>
                <a:cs typeface="Calibri"/>
              </a:rPr>
              <a:t>the</a:t>
            </a:r>
            <a:r>
              <a:rPr sz="2000" spc="-15" dirty="0">
                <a:latin typeface="Calibri"/>
                <a:cs typeface="Calibri"/>
              </a:rPr>
              <a:t> </a:t>
            </a:r>
            <a:r>
              <a:rPr sz="2000" spc="-10" dirty="0">
                <a:latin typeface="Calibri"/>
                <a:cs typeface="Calibri"/>
              </a:rPr>
              <a:t>frequencies</a:t>
            </a:r>
            <a:r>
              <a:rPr sz="2000" spc="65" dirty="0">
                <a:latin typeface="Calibri"/>
                <a:cs typeface="Calibri"/>
              </a:rPr>
              <a:t> </a:t>
            </a:r>
            <a:r>
              <a:rPr sz="2000" spc="-5" dirty="0">
                <a:latin typeface="Calibri"/>
                <a:cs typeface="Calibri"/>
              </a:rPr>
              <a:t>by</a:t>
            </a:r>
            <a:r>
              <a:rPr sz="2000" spc="-15" dirty="0">
                <a:latin typeface="Calibri"/>
                <a:cs typeface="Calibri"/>
              </a:rPr>
              <a:t> </a:t>
            </a:r>
            <a:r>
              <a:rPr sz="2000" spc="-5" dirty="0">
                <a:latin typeface="Calibri"/>
                <a:cs typeface="Calibri"/>
              </a:rPr>
              <a:t>grouping</a:t>
            </a:r>
            <a:r>
              <a:rPr sz="2000" spc="-20" dirty="0">
                <a:latin typeface="Calibri"/>
                <a:cs typeface="Calibri"/>
              </a:rPr>
              <a:t> </a:t>
            </a:r>
            <a:r>
              <a:rPr sz="2000" spc="-5" dirty="0">
                <a:latin typeface="Calibri"/>
                <a:cs typeface="Calibri"/>
              </a:rPr>
              <a:t>it</a:t>
            </a:r>
            <a:r>
              <a:rPr sz="2000" dirty="0">
                <a:latin typeface="Calibri"/>
                <a:cs typeface="Calibri"/>
              </a:rPr>
              <a:t> </a:t>
            </a:r>
            <a:r>
              <a:rPr sz="2000" spc="-10" dirty="0">
                <a:latin typeface="Calibri"/>
                <a:cs typeface="Calibri"/>
              </a:rPr>
              <a:t>together</a:t>
            </a:r>
            <a:r>
              <a:rPr sz="2000" spc="30" dirty="0">
                <a:latin typeface="Calibri"/>
                <a:cs typeface="Calibri"/>
              </a:rPr>
              <a:t> </a:t>
            </a:r>
            <a:r>
              <a:rPr sz="2000" spc="-5" dirty="0">
                <a:latin typeface="Calibri"/>
                <a:cs typeface="Calibri"/>
              </a:rPr>
              <a:t>is</a:t>
            </a:r>
            <a:r>
              <a:rPr sz="2000" spc="10" dirty="0">
                <a:latin typeface="Calibri"/>
                <a:cs typeface="Calibri"/>
              </a:rPr>
              <a:t> </a:t>
            </a:r>
            <a:r>
              <a:rPr sz="2000" spc="-5" dirty="0">
                <a:latin typeface="Calibri"/>
                <a:cs typeface="Calibri"/>
              </a:rPr>
              <a:t>known</a:t>
            </a:r>
            <a:r>
              <a:rPr sz="2000" spc="-15" dirty="0">
                <a:latin typeface="Calibri"/>
                <a:cs typeface="Calibri"/>
              </a:rPr>
              <a:t> </a:t>
            </a:r>
            <a:r>
              <a:rPr sz="2000" spc="-5" dirty="0">
                <a:latin typeface="Calibri"/>
                <a:cs typeface="Calibri"/>
              </a:rPr>
              <a:t>as</a:t>
            </a:r>
            <a:r>
              <a:rPr sz="2000" spc="70" dirty="0">
                <a:latin typeface="Calibri"/>
                <a:cs typeface="Calibri"/>
              </a:rPr>
              <a:t> </a:t>
            </a:r>
            <a:r>
              <a:rPr sz="2000" b="1" spc="-10" dirty="0">
                <a:latin typeface="Calibri"/>
                <a:cs typeface="Calibri"/>
              </a:rPr>
              <a:t>Grouped</a:t>
            </a:r>
            <a:endParaRPr sz="2000">
              <a:latin typeface="Calibri"/>
              <a:cs typeface="Calibri"/>
            </a:endParaRPr>
          </a:p>
          <a:p>
            <a:pPr marL="241300">
              <a:lnSpc>
                <a:spcPts val="2280"/>
              </a:lnSpc>
            </a:pPr>
            <a:r>
              <a:rPr sz="2000" b="1" spc="-5" dirty="0">
                <a:latin typeface="Calibri"/>
                <a:cs typeface="Calibri"/>
              </a:rPr>
              <a:t>Frequency</a:t>
            </a:r>
            <a:r>
              <a:rPr sz="2000" b="1" spc="-35" dirty="0">
                <a:latin typeface="Calibri"/>
                <a:cs typeface="Calibri"/>
              </a:rPr>
              <a:t> </a:t>
            </a:r>
            <a:r>
              <a:rPr sz="2000" b="1" spc="-5" dirty="0">
                <a:latin typeface="Calibri"/>
                <a:cs typeface="Calibri"/>
              </a:rPr>
              <a:t>Distribution</a:t>
            </a:r>
            <a:r>
              <a:rPr sz="2000" spc="-5" dirty="0">
                <a:latin typeface="Calibri"/>
                <a:cs typeface="Calibri"/>
              </a:rPr>
              <a:t>.</a:t>
            </a:r>
            <a:endParaRPr sz="2000">
              <a:latin typeface="Calibri"/>
              <a:cs typeface="Calibri"/>
            </a:endParaRPr>
          </a:p>
          <a:p>
            <a:pPr marL="241300" marR="187325" indent="-228600">
              <a:lnSpc>
                <a:spcPts val="2160"/>
              </a:lnSpc>
              <a:spcBef>
                <a:spcPts val="1040"/>
              </a:spcBef>
              <a:buFont typeface="Arial MT"/>
              <a:buChar char="•"/>
              <a:tabLst>
                <a:tab pos="240665" algn="l"/>
                <a:tab pos="241300" algn="l"/>
              </a:tabLst>
            </a:pPr>
            <a:r>
              <a:rPr sz="2000" b="1" spc="-15" dirty="0">
                <a:latin typeface="Calibri"/>
                <a:cs typeface="Calibri"/>
              </a:rPr>
              <a:t>EXAMPLE:</a:t>
            </a:r>
            <a:r>
              <a:rPr sz="2000" b="1" spc="65" dirty="0">
                <a:latin typeface="Calibri"/>
                <a:cs typeface="Calibri"/>
              </a:rPr>
              <a:t> </a:t>
            </a:r>
            <a:r>
              <a:rPr sz="2000" spc="-10" dirty="0">
                <a:latin typeface="Calibri"/>
                <a:cs typeface="Calibri"/>
              </a:rPr>
              <a:t>Consider</a:t>
            </a:r>
            <a:r>
              <a:rPr sz="2000" spc="30" dirty="0">
                <a:latin typeface="Calibri"/>
                <a:cs typeface="Calibri"/>
              </a:rPr>
              <a:t> </a:t>
            </a:r>
            <a:r>
              <a:rPr sz="2000" spc="-5" dirty="0">
                <a:latin typeface="Calibri"/>
                <a:cs typeface="Calibri"/>
              </a:rPr>
              <a:t>the </a:t>
            </a:r>
            <a:r>
              <a:rPr sz="2000" spc="-10" dirty="0">
                <a:latin typeface="Calibri"/>
                <a:cs typeface="Calibri"/>
              </a:rPr>
              <a:t>marks</a:t>
            </a:r>
            <a:r>
              <a:rPr sz="2000" spc="45" dirty="0">
                <a:latin typeface="Calibri"/>
                <a:cs typeface="Calibri"/>
              </a:rPr>
              <a:t> </a:t>
            </a:r>
            <a:r>
              <a:rPr sz="2000" spc="-5" dirty="0">
                <a:latin typeface="Calibri"/>
                <a:cs typeface="Calibri"/>
              </a:rPr>
              <a:t>of</a:t>
            </a:r>
            <a:r>
              <a:rPr sz="2000" spc="-10" dirty="0">
                <a:latin typeface="Calibri"/>
                <a:cs typeface="Calibri"/>
              </a:rPr>
              <a:t> </a:t>
            </a:r>
            <a:r>
              <a:rPr sz="2000" spc="-5" dirty="0">
                <a:latin typeface="Calibri"/>
                <a:cs typeface="Calibri"/>
              </a:rPr>
              <a:t>50</a:t>
            </a:r>
            <a:r>
              <a:rPr sz="2000" spc="5" dirty="0">
                <a:latin typeface="Calibri"/>
                <a:cs typeface="Calibri"/>
              </a:rPr>
              <a:t> </a:t>
            </a:r>
            <a:r>
              <a:rPr sz="2000" spc="-10" dirty="0">
                <a:latin typeface="Calibri"/>
                <a:cs typeface="Calibri"/>
              </a:rPr>
              <a:t>students</a:t>
            </a:r>
            <a:r>
              <a:rPr sz="2000" spc="50" dirty="0">
                <a:latin typeface="Calibri"/>
                <a:cs typeface="Calibri"/>
              </a:rPr>
              <a:t> </a:t>
            </a:r>
            <a:r>
              <a:rPr sz="2000" spc="-5" dirty="0">
                <a:latin typeface="Calibri"/>
                <a:cs typeface="Calibri"/>
              </a:rPr>
              <a:t>of</a:t>
            </a:r>
            <a:r>
              <a:rPr sz="2000" spc="-10" dirty="0">
                <a:latin typeface="Calibri"/>
                <a:cs typeface="Calibri"/>
              </a:rPr>
              <a:t> class</a:t>
            </a:r>
            <a:r>
              <a:rPr sz="2000" spc="40" dirty="0">
                <a:latin typeface="Calibri"/>
                <a:cs typeface="Calibri"/>
              </a:rPr>
              <a:t> </a:t>
            </a:r>
            <a:r>
              <a:rPr sz="2000" spc="-10" dirty="0">
                <a:latin typeface="Calibri"/>
                <a:cs typeface="Calibri"/>
              </a:rPr>
              <a:t>VII</a:t>
            </a:r>
            <a:r>
              <a:rPr sz="2000" spc="5" dirty="0">
                <a:latin typeface="Calibri"/>
                <a:cs typeface="Calibri"/>
              </a:rPr>
              <a:t> </a:t>
            </a:r>
            <a:r>
              <a:rPr sz="2000" spc="-10" dirty="0">
                <a:latin typeface="Calibri"/>
                <a:cs typeface="Calibri"/>
              </a:rPr>
              <a:t>obtained</a:t>
            </a:r>
            <a:r>
              <a:rPr sz="2000" spc="15" dirty="0">
                <a:latin typeface="Calibri"/>
                <a:cs typeface="Calibri"/>
              </a:rPr>
              <a:t> </a:t>
            </a:r>
            <a:r>
              <a:rPr sz="2000" spc="-5" dirty="0">
                <a:latin typeface="Calibri"/>
                <a:cs typeface="Calibri"/>
              </a:rPr>
              <a:t>in </a:t>
            </a:r>
            <a:r>
              <a:rPr sz="2000" spc="-440" dirty="0">
                <a:latin typeface="Calibri"/>
                <a:cs typeface="Calibri"/>
              </a:rPr>
              <a:t> </a:t>
            </a:r>
            <a:r>
              <a:rPr sz="2000" spc="-5" dirty="0">
                <a:latin typeface="Calibri"/>
                <a:cs typeface="Calibri"/>
              </a:rPr>
              <a:t>an</a:t>
            </a:r>
            <a:r>
              <a:rPr sz="2000" spc="10" dirty="0">
                <a:latin typeface="Calibri"/>
                <a:cs typeface="Calibri"/>
              </a:rPr>
              <a:t> </a:t>
            </a:r>
            <a:r>
              <a:rPr sz="2000" spc="-15" dirty="0">
                <a:latin typeface="Calibri"/>
                <a:cs typeface="Calibri"/>
              </a:rPr>
              <a:t>examination.</a:t>
            </a:r>
            <a:r>
              <a:rPr sz="2000" spc="25" dirty="0">
                <a:latin typeface="Calibri"/>
                <a:cs typeface="Calibri"/>
              </a:rPr>
              <a:t> </a:t>
            </a:r>
            <a:r>
              <a:rPr sz="2000" spc="-10" dirty="0">
                <a:latin typeface="Calibri"/>
                <a:cs typeface="Calibri"/>
              </a:rPr>
              <a:t>The</a:t>
            </a:r>
            <a:r>
              <a:rPr sz="2000" spc="15" dirty="0">
                <a:latin typeface="Calibri"/>
                <a:cs typeface="Calibri"/>
              </a:rPr>
              <a:t> </a:t>
            </a:r>
            <a:r>
              <a:rPr sz="2000" spc="-15" dirty="0">
                <a:latin typeface="Calibri"/>
                <a:cs typeface="Calibri"/>
              </a:rPr>
              <a:t>maximum</a:t>
            </a:r>
            <a:r>
              <a:rPr sz="2000" spc="45" dirty="0">
                <a:latin typeface="Calibri"/>
                <a:cs typeface="Calibri"/>
              </a:rPr>
              <a:t> </a:t>
            </a:r>
            <a:r>
              <a:rPr sz="2000" spc="-10" dirty="0">
                <a:latin typeface="Calibri"/>
                <a:cs typeface="Calibri"/>
              </a:rPr>
              <a:t>marks</a:t>
            </a:r>
            <a:r>
              <a:rPr sz="2000" spc="35" dirty="0">
                <a:latin typeface="Calibri"/>
                <a:cs typeface="Calibri"/>
              </a:rPr>
              <a:t> </a:t>
            </a:r>
            <a:r>
              <a:rPr sz="2000" spc="-5" dirty="0">
                <a:latin typeface="Calibri"/>
                <a:cs typeface="Calibri"/>
              </a:rPr>
              <a:t>of</a:t>
            </a:r>
            <a:r>
              <a:rPr sz="2000" spc="-15" dirty="0">
                <a:latin typeface="Calibri"/>
                <a:cs typeface="Calibri"/>
              </a:rPr>
              <a:t> </a:t>
            </a:r>
            <a:r>
              <a:rPr sz="2000" spc="-5" dirty="0">
                <a:latin typeface="Calibri"/>
                <a:cs typeface="Calibri"/>
              </a:rPr>
              <a:t>the</a:t>
            </a:r>
            <a:r>
              <a:rPr sz="2000" spc="-10" dirty="0">
                <a:latin typeface="Calibri"/>
                <a:cs typeface="Calibri"/>
              </a:rPr>
              <a:t> </a:t>
            </a:r>
            <a:r>
              <a:rPr sz="2000" spc="-25" dirty="0">
                <a:latin typeface="Calibri"/>
                <a:cs typeface="Calibri"/>
              </a:rPr>
              <a:t>exam</a:t>
            </a:r>
            <a:r>
              <a:rPr sz="2000" spc="20" dirty="0">
                <a:latin typeface="Calibri"/>
                <a:cs typeface="Calibri"/>
              </a:rPr>
              <a:t> </a:t>
            </a:r>
            <a:r>
              <a:rPr sz="2000" spc="-15" dirty="0">
                <a:latin typeface="Calibri"/>
                <a:cs typeface="Calibri"/>
              </a:rPr>
              <a:t>are</a:t>
            </a:r>
            <a:r>
              <a:rPr sz="2000" spc="20" dirty="0">
                <a:latin typeface="Calibri"/>
                <a:cs typeface="Calibri"/>
              </a:rPr>
              <a:t> </a:t>
            </a:r>
            <a:r>
              <a:rPr sz="2000" spc="-5" dirty="0">
                <a:latin typeface="Calibri"/>
                <a:cs typeface="Calibri"/>
              </a:rPr>
              <a:t>50.</a:t>
            </a:r>
            <a:endParaRPr sz="2000">
              <a:latin typeface="Calibri"/>
              <a:cs typeface="Calibri"/>
            </a:endParaRPr>
          </a:p>
          <a:p>
            <a:pPr marL="227965" marR="74930" indent="-227965" algn="r">
              <a:lnSpc>
                <a:spcPts val="2280"/>
              </a:lnSpc>
              <a:spcBef>
                <a:spcPts val="710"/>
              </a:spcBef>
              <a:buFont typeface="Arial MT"/>
              <a:buChar char="•"/>
              <a:tabLst>
                <a:tab pos="227965" algn="l"/>
                <a:tab pos="241300" algn="l"/>
              </a:tabLst>
            </a:pPr>
            <a:r>
              <a:rPr sz="2000" b="1" spc="-5" dirty="0">
                <a:latin typeface="Calibri"/>
                <a:cs typeface="Calibri"/>
              </a:rPr>
              <a:t>23,</a:t>
            </a:r>
            <a:r>
              <a:rPr sz="2000" b="1" spc="-25" dirty="0">
                <a:latin typeface="Calibri"/>
                <a:cs typeface="Calibri"/>
              </a:rPr>
              <a:t> </a:t>
            </a:r>
            <a:r>
              <a:rPr sz="2000" b="1" spc="-5" dirty="0">
                <a:latin typeface="Calibri"/>
                <a:cs typeface="Calibri"/>
              </a:rPr>
              <a:t>8,</a:t>
            </a:r>
            <a:r>
              <a:rPr sz="2000" b="1" spc="20" dirty="0">
                <a:latin typeface="Calibri"/>
                <a:cs typeface="Calibri"/>
              </a:rPr>
              <a:t> </a:t>
            </a:r>
            <a:r>
              <a:rPr sz="2000" b="1" spc="-5" dirty="0">
                <a:latin typeface="Calibri"/>
                <a:cs typeface="Calibri"/>
              </a:rPr>
              <a:t>13,</a:t>
            </a:r>
            <a:r>
              <a:rPr sz="2000" b="1" spc="-20" dirty="0">
                <a:latin typeface="Calibri"/>
                <a:cs typeface="Calibri"/>
              </a:rPr>
              <a:t> </a:t>
            </a:r>
            <a:r>
              <a:rPr sz="2000" b="1" spc="-5" dirty="0">
                <a:latin typeface="Calibri"/>
                <a:cs typeface="Calibri"/>
              </a:rPr>
              <a:t>18,</a:t>
            </a:r>
            <a:r>
              <a:rPr sz="2000" b="1" spc="15" dirty="0">
                <a:latin typeface="Calibri"/>
                <a:cs typeface="Calibri"/>
              </a:rPr>
              <a:t> </a:t>
            </a:r>
            <a:r>
              <a:rPr sz="2000" b="1" spc="-5" dirty="0">
                <a:latin typeface="Calibri"/>
                <a:cs typeface="Calibri"/>
              </a:rPr>
              <a:t>32,</a:t>
            </a:r>
            <a:r>
              <a:rPr sz="2000" b="1" spc="-20" dirty="0">
                <a:latin typeface="Calibri"/>
                <a:cs typeface="Calibri"/>
              </a:rPr>
              <a:t> </a:t>
            </a:r>
            <a:r>
              <a:rPr sz="2000" b="1" spc="-5" dirty="0">
                <a:latin typeface="Calibri"/>
                <a:cs typeface="Calibri"/>
              </a:rPr>
              <a:t>44,</a:t>
            </a:r>
            <a:r>
              <a:rPr sz="2000" b="1" spc="15" dirty="0">
                <a:latin typeface="Calibri"/>
                <a:cs typeface="Calibri"/>
              </a:rPr>
              <a:t> </a:t>
            </a:r>
            <a:r>
              <a:rPr sz="2000" b="1" spc="-5" dirty="0">
                <a:latin typeface="Calibri"/>
                <a:cs typeface="Calibri"/>
              </a:rPr>
              <a:t>19,</a:t>
            </a:r>
            <a:r>
              <a:rPr sz="2000" b="1" spc="-20" dirty="0">
                <a:latin typeface="Calibri"/>
                <a:cs typeface="Calibri"/>
              </a:rPr>
              <a:t> </a:t>
            </a:r>
            <a:r>
              <a:rPr sz="2000" b="1" spc="-5" dirty="0">
                <a:latin typeface="Calibri"/>
                <a:cs typeface="Calibri"/>
              </a:rPr>
              <a:t>8,</a:t>
            </a:r>
            <a:r>
              <a:rPr sz="2000" b="1" spc="-10" dirty="0">
                <a:latin typeface="Calibri"/>
                <a:cs typeface="Calibri"/>
              </a:rPr>
              <a:t> </a:t>
            </a:r>
            <a:r>
              <a:rPr sz="2000" b="1" spc="-5" dirty="0">
                <a:latin typeface="Calibri"/>
                <a:cs typeface="Calibri"/>
              </a:rPr>
              <a:t>25,</a:t>
            </a:r>
            <a:r>
              <a:rPr sz="2000" b="1" spc="15" dirty="0">
                <a:latin typeface="Calibri"/>
                <a:cs typeface="Calibri"/>
              </a:rPr>
              <a:t> </a:t>
            </a:r>
            <a:r>
              <a:rPr sz="2000" b="1" spc="-5" dirty="0">
                <a:latin typeface="Calibri"/>
                <a:cs typeface="Calibri"/>
              </a:rPr>
              <a:t>27,</a:t>
            </a:r>
            <a:r>
              <a:rPr sz="2000" b="1" spc="-20" dirty="0">
                <a:latin typeface="Calibri"/>
                <a:cs typeface="Calibri"/>
              </a:rPr>
              <a:t> </a:t>
            </a:r>
            <a:r>
              <a:rPr sz="2000" b="1" spc="-5" dirty="0">
                <a:latin typeface="Calibri"/>
                <a:cs typeface="Calibri"/>
              </a:rPr>
              <a:t>10,</a:t>
            </a:r>
            <a:r>
              <a:rPr sz="2000" b="1" spc="15" dirty="0">
                <a:latin typeface="Calibri"/>
                <a:cs typeface="Calibri"/>
              </a:rPr>
              <a:t> </a:t>
            </a:r>
            <a:r>
              <a:rPr sz="2000" b="1" spc="-5" dirty="0">
                <a:latin typeface="Calibri"/>
                <a:cs typeface="Calibri"/>
              </a:rPr>
              <a:t>30,</a:t>
            </a:r>
            <a:r>
              <a:rPr sz="2000" b="1" spc="-20" dirty="0">
                <a:latin typeface="Calibri"/>
                <a:cs typeface="Calibri"/>
              </a:rPr>
              <a:t> </a:t>
            </a:r>
            <a:r>
              <a:rPr sz="2000" b="1" spc="-5" dirty="0">
                <a:latin typeface="Calibri"/>
                <a:cs typeface="Calibri"/>
              </a:rPr>
              <a:t>22,</a:t>
            </a:r>
            <a:r>
              <a:rPr sz="2000" b="1" spc="15" dirty="0">
                <a:latin typeface="Calibri"/>
                <a:cs typeface="Calibri"/>
              </a:rPr>
              <a:t> </a:t>
            </a:r>
            <a:r>
              <a:rPr sz="2000" b="1" spc="-5" dirty="0">
                <a:latin typeface="Calibri"/>
                <a:cs typeface="Calibri"/>
              </a:rPr>
              <a:t>40,</a:t>
            </a:r>
            <a:r>
              <a:rPr sz="2000" b="1" spc="-20" dirty="0">
                <a:latin typeface="Calibri"/>
                <a:cs typeface="Calibri"/>
              </a:rPr>
              <a:t> </a:t>
            </a:r>
            <a:r>
              <a:rPr sz="2000" b="1" spc="-5" dirty="0">
                <a:latin typeface="Calibri"/>
                <a:cs typeface="Calibri"/>
              </a:rPr>
              <a:t>39,</a:t>
            </a:r>
            <a:r>
              <a:rPr sz="2000" b="1" spc="15" dirty="0">
                <a:latin typeface="Calibri"/>
                <a:cs typeface="Calibri"/>
              </a:rPr>
              <a:t> </a:t>
            </a:r>
            <a:r>
              <a:rPr sz="2000" b="1" spc="-5" dirty="0">
                <a:latin typeface="Calibri"/>
                <a:cs typeface="Calibri"/>
              </a:rPr>
              <a:t>17,</a:t>
            </a:r>
            <a:r>
              <a:rPr sz="2000" b="1" spc="-25" dirty="0">
                <a:latin typeface="Calibri"/>
                <a:cs typeface="Calibri"/>
              </a:rPr>
              <a:t> </a:t>
            </a:r>
            <a:r>
              <a:rPr sz="2000" b="1" spc="-5" dirty="0">
                <a:latin typeface="Calibri"/>
                <a:cs typeface="Calibri"/>
              </a:rPr>
              <a:t>25,</a:t>
            </a:r>
            <a:r>
              <a:rPr sz="2000" b="1" spc="15" dirty="0">
                <a:latin typeface="Calibri"/>
                <a:cs typeface="Calibri"/>
              </a:rPr>
              <a:t> </a:t>
            </a:r>
            <a:r>
              <a:rPr sz="2000" b="1" spc="-5" dirty="0">
                <a:latin typeface="Calibri"/>
                <a:cs typeface="Calibri"/>
              </a:rPr>
              <a:t>9,</a:t>
            </a:r>
            <a:r>
              <a:rPr sz="2000" b="1" spc="-15" dirty="0">
                <a:latin typeface="Calibri"/>
                <a:cs typeface="Calibri"/>
              </a:rPr>
              <a:t> </a:t>
            </a:r>
            <a:r>
              <a:rPr sz="2000" b="1" spc="-5" dirty="0">
                <a:latin typeface="Calibri"/>
                <a:cs typeface="Calibri"/>
              </a:rPr>
              <a:t>15,</a:t>
            </a:r>
            <a:r>
              <a:rPr sz="2000" b="1" spc="15" dirty="0">
                <a:latin typeface="Calibri"/>
                <a:cs typeface="Calibri"/>
              </a:rPr>
              <a:t> </a:t>
            </a:r>
            <a:r>
              <a:rPr sz="2000" b="1" spc="-5" dirty="0">
                <a:latin typeface="Calibri"/>
                <a:cs typeface="Calibri"/>
              </a:rPr>
              <a:t>20,</a:t>
            </a:r>
            <a:endParaRPr sz="2000">
              <a:latin typeface="Calibri"/>
              <a:cs typeface="Calibri"/>
            </a:endParaRPr>
          </a:p>
          <a:p>
            <a:pPr marR="68580" algn="r">
              <a:lnSpc>
                <a:spcPts val="2160"/>
              </a:lnSpc>
            </a:pPr>
            <a:r>
              <a:rPr sz="2000" b="1" spc="-5" dirty="0">
                <a:latin typeface="Calibri"/>
                <a:cs typeface="Calibri"/>
              </a:rPr>
              <a:t>30,</a:t>
            </a:r>
            <a:r>
              <a:rPr sz="2000" b="1" spc="-25" dirty="0">
                <a:latin typeface="Calibri"/>
                <a:cs typeface="Calibri"/>
              </a:rPr>
              <a:t> </a:t>
            </a:r>
            <a:r>
              <a:rPr sz="2000" b="1" spc="-5" dirty="0">
                <a:latin typeface="Calibri"/>
                <a:cs typeface="Calibri"/>
              </a:rPr>
              <a:t>24,</a:t>
            </a:r>
            <a:r>
              <a:rPr sz="2000" b="1" spc="15" dirty="0">
                <a:latin typeface="Calibri"/>
                <a:cs typeface="Calibri"/>
              </a:rPr>
              <a:t> </a:t>
            </a:r>
            <a:r>
              <a:rPr sz="2000" b="1" spc="-5" dirty="0">
                <a:latin typeface="Calibri"/>
                <a:cs typeface="Calibri"/>
              </a:rPr>
              <a:t>29,</a:t>
            </a:r>
            <a:r>
              <a:rPr sz="2000" b="1" spc="-20" dirty="0">
                <a:latin typeface="Calibri"/>
                <a:cs typeface="Calibri"/>
              </a:rPr>
              <a:t> </a:t>
            </a:r>
            <a:r>
              <a:rPr sz="2000" b="1" spc="-5" dirty="0">
                <a:latin typeface="Calibri"/>
                <a:cs typeface="Calibri"/>
              </a:rPr>
              <a:t>19,</a:t>
            </a:r>
            <a:r>
              <a:rPr sz="2000" b="1" spc="15" dirty="0">
                <a:latin typeface="Calibri"/>
                <a:cs typeface="Calibri"/>
              </a:rPr>
              <a:t> </a:t>
            </a:r>
            <a:r>
              <a:rPr sz="2000" b="1" spc="-5" dirty="0">
                <a:latin typeface="Calibri"/>
                <a:cs typeface="Calibri"/>
              </a:rPr>
              <a:t>16,</a:t>
            </a:r>
            <a:r>
              <a:rPr sz="2000" b="1" spc="-20" dirty="0">
                <a:latin typeface="Calibri"/>
                <a:cs typeface="Calibri"/>
              </a:rPr>
              <a:t> </a:t>
            </a:r>
            <a:r>
              <a:rPr sz="2000" b="1" spc="-5" dirty="0">
                <a:latin typeface="Calibri"/>
                <a:cs typeface="Calibri"/>
              </a:rPr>
              <a:t>33,</a:t>
            </a:r>
            <a:r>
              <a:rPr sz="2000" b="1" spc="15" dirty="0">
                <a:latin typeface="Calibri"/>
                <a:cs typeface="Calibri"/>
              </a:rPr>
              <a:t> </a:t>
            </a:r>
            <a:r>
              <a:rPr sz="2000" b="1" spc="-5" dirty="0">
                <a:latin typeface="Calibri"/>
                <a:cs typeface="Calibri"/>
              </a:rPr>
              <a:t>38,</a:t>
            </a:r>
            <a:r>
              <a:rPr sz="2000" b="1" spc="-20" dirty="0">
                <a:latin typeface="Calibri"/>
                <a:cs typeface="Calibri"/>
              </a:rPr>
              <a:t> </a:t>
            </a:r>
            <a:r>
              <a:rPr sz="2000" b="1" spc="-5" dirty="0">
                <a:latin typeface="Calibri"/>
                <a:cs typeface="Calibri"/>
              </a:rPr>
              <a:t>46,</a:t>
            </a:r>
            <a:r>
              <a:rPr sz="2000" b="1" spc="15" dirty="0">
                <a:latin typeface="Calibri"/>
                <a:cs typeface="Calibri"/>
              </a:rPr>
              <a:t> </a:t>
            </a:r>
            <a:r>
              <a:rPr sz="2000" b="1" spc="-5" dirty="0">
                <a:latin typeface="Calibri"/>
                <a:cs typeface="Calibri"/>
              </a:rPr>
              <a:t>43,</a:t>
            </a:r>
            <a:r>
              <a:rPr sz="2000" b="1" spc="-20" dirty="0">
                <a:latin typeface="Calibri"/>
                <a:cs typeface="Calibri"/>
              </a:rPr>
              <a:t> </a:t>
            </a:r>
            <a:r>
              <a:rPr sz="2000" b="1" spc="-5" dirty="0">
                <a:latin typeface="Calibri"/>
                <a:cs typeface="Calibri"/>
              </a:rPr>
              <a:t>22,</a:t>
            </a:r>
            <a:r>
              <a:rPr sz="2000" b="1" spc="15" dirty="0">
                <a:latin typeface="Calibri"/>
                <a:cs typeface="Calibri"/>
              </a:rPr>
              <a:t> </a:t>
            </a:r>
            <a:r>
              <a:rPr sz="2000" b="1" spc="-5" dirty="0">
                <a:latin typeface="Calibri"/>
                <a:cs typeface="Calibri"/>
              </a:rPr>
              <a:t>37,</a:t>
            </a:r>
            <a:r>
              <a:rPr sz="2000" b="1" spc="-20" dirty="0">
                <a:latin typeface="Calibri"/>
                <a:cs typeface="Calibri"/>
              </a:rPr>
              <a:t> </a:t>
            </a:r>
            <a:r>
              <a:rPr sz="2000" b="1" spc="-5" dirty="0">
                <a:latin typeface="Calibri"/>
                <a:cs typeface="Calibri"/>
              </a:rPr>
              <a:t>27,</a:t>
            </a:r>
            <a:r>
              <a:rPr sz="2000" b="1" spc="10" dirty="0">
                <a:latin typeface="Calibri"/>
                <a:cs typeface="Calibri"/>
              </a:rPr>
              <a:t> </a:t>
            </a:r>
            <a:r>
              <a:rPr sz="2000" b="1" spc="-5" dirty="0">
                <a:latin typeface="Calibri"/>
                <a:cs typeface="Calibri"/>
              </a:rPr>
              <a:t>17,</a:t>
            </a:r>
            <a:r>
              <a:rPr sz="2000" b="1" spc="-20" dirty="0">
                <a:latin typeface="Calibri"/>
                <a:cs typeface="Calibri"/>
              </a:rPr>
              <a:t> </a:t>
            </a:r>
            <a:r>
              <a:rPr sz="2000" b="1" spc="-5" dirty="0">
                <a:latin typeface="Calibri"/>
                <a:cs typeface="Calibri"/>
              </a:rPr>
              <a:t>11,</a:t>
            </a:r>
            <a:r>
              <a:rPr sz="2000" b="1" spc="15" dirty="0">
                <a:latin typeface="Calibri"/>
                <a:cs typeface="Calibri"/>
              </a:rPr>
              <a:t> </a:t>
            </a:r>
            <a:r>
              <a:rPr sz="2000" b="1" spc="-5" dirty="0">
                <a:latin typeface="Calibri"/>
                <a:cs typeface="Calibri"/>
              </a:rPr>
              <a:t>34,</a:t>
            </a:r>
            <a:r>
              <a:rPr sz="2000" b="1" spc="-20" dirty="0">
                <a:latin typeface="Calibri"/>
                <a:cs typeface="Calibri"/>
              </a:rPr>
              <a:t> </a:t>
            </a:r>
            <a:r>
              <a:rPr sz="2000" b="1" spc="-5" dirty="0">
                <a:latin typeface="Calibri"/>
                <a:cs typeface="Calibri"/>
              </a:rPr>
              <a:t>41,</a:t>
            </a:r>
            <a:r>
              <a:rPr sz="2000" b="1" spc="15" dirty="0">
                <a:latin typeface="Calibri"/>
                <a:cs typeface="Calibri"/>
              </a:rPr>
              <a:t> </a:t>
            </a:r>
            <a:r>
              <a:rPr sz="2000" b="1" spc="-5" dirty="0">
                <a:latin typeface="Calibri"/>
                <a:cs typeface="Calibri"/>
              </a:rPr>
              <a:t>35,</a:t>
            </a:r>
            <a:r>
              <a:rPr sz="2000" b="1" spc="-20" dirty="0">
                <a:latin typeface="Calibri"/>
                <a:cs typeface="Calibri"/>
              </a:rPr>
              <a:t> </a:t>
            </a:r>
            <a:r>
              <a:rPr sz="2000" b="1" spc="-5" dirty="0">
                <a:latin typeface="Calibri"/>
                <a:cs typeface="Calibri"/>
              </a:rPr>
              <a:t>45,</a:t>
            </a:r>
            <a:r>
              <a:rPr sz="2000" b="1" spc="15" dirty="0">
                <a:latin typeface="Calibri"/>
                <a:cs typeface="Calibri"/>
              </a:rPr>
              <a:t> </a:t>
            </a:r>
            <a:r>
              <a:rPr sz="2000" b="1" spc="-5" dirty="0">
                <a:latin typeface="Calibri"/>
                <a:cs typeface="Calibri"/>
              </a:rPr>
              <a:t>31,</a:t>
            </a:r>
            <a:endParaRPr sz="2000">
              <a:latin typeface="Calibri"/>
              <a:cs typeface="Calibri"/>
            </a:endParaRPr>
          </a:p>
          <a:p>
            <a:pPr marL="241300" marR="238760">
              <a:lnSpc>
                <a:spcPct val="90100"/>
              </a:lnSpc>
              <a:spcBef>
                <a:spcPts val="120"/>
              </a:spcBef>
            </a:pPr>
            <a:r>
              <a:rPr sz="2000" b="1" spc="-5" dirty="0">
                <a:latin typeface="Calibri"/>
                <a:cs typeface="Calibri"/>
              </a:rPr>
              <a:t>26,</a:t>
            </a:r>
            <a:r>
              <a:rPr sz="2000" b="1" spc="-20" dirty="0">
                <a:latin typeface="Calibri"/>
                <a:cs typeface="Calibri"/>
              </a:rPr>
              <a:t> </a:t>
            </a:r>
            <a:r>
              <a:rPr sz="2000" b="1" spc="-5" dirty="0">
                <a:latin typeface="Calibri"/>
                <a:cs typeface="Calibri"/>
              </a:rPr>
              <a:t>42,</a:t>
            </a:r>
            <a:r>
              <a:rPr sz="2000" b="1" spc="15" dirty="0">
                <a:latin typeface="Calibri"/>
                <a:cs typeface="Calibri"/>
              </a:rPr>
              <a:t> </a:t>
            </a:r>
            <a:r>
              <a:rPr sz="2000" b="1" spc="-5" dirty="0">
                <a:latin typeface="Calibri"/>
                <a:cs typeface="Calibri"/>
              </a:rPr>
              <a:t>18,</a:t>
            </a:r>
            <a:r>
              <a:rPr sz="2000" b="1" spc="-20" dirty="0">
                <a:latin typeface="Calibri"/>
                <a:cs typeface="Calibri"/>
              </a:rPr>
              <a:t> </a:t>
            </a:r>
            <a:r>
              <a:rPr sz="2000" b="1" spc="-5" dirty="0">
                <a:latin typeface="Calibri"/>
                <a:cs typeface="Calibri"/>
              </a:rPr>
              <a:t>28,</a:t>
            </a:r>
            <a:r>
              <a:rPr sz="2000" b="1" spc="15" dirty="0">
                <a:latin typeface="Calibri"/>
                <a:cs typeface="Calibri"/>
              </a:rPr>
              <a:t> </a:t>
            </a:r>
            <a:r>
              <a:rPr sz="2000" b="1" spc="-5" dirty="0">
                <a:latin typeface="Calibri"/>
                <a:cs typeface="Calibri"/>
              </a:rPr>
              <a:t>30,</a:t>
            </a:r>
            <a:r>
              <a:rPr sz="2000" b="1" spc="-20" dirty="0">
                <a:latin typeface="Calibri"/>
                <a:cs typeface="Calibri"/>
              </a:rPr>
              <a:t> </a:t>
            </a:r>
            <a:r>
              <a:rPr sz="2000" b="1" spc="-5" dirty="0">
                <a:latin typeface="Calibri"/>
                <a:cs typeface="Calibri"/>
              </a:rPr>
              <a:t>22,</a:t>
            </a:r>
            <a:r>
              <a:rPr sz="2000" b="1" spc="15" dirty="0">
                <a:latin typeface="Calibri"/>
                <a:cs typeface="Calibri"/>
              </a:rPr>
              <a:t> </a:t>
            </a:r>
            <a:r>
              <a:rPr sz="2000" b="1" spc="-5" dirty="0">
                <a:latin typeface="Calibri"/>
                <a:cs typeface="Calibri"/>
              </a:rPr>
              <a:t>20,</a:t>
            </a:r>
            <a:r>
              <a:rPr sz="2000" b="1" spc="-20" dirty="0">
                <a:latin typeface="Calibri"/>
                <a:cs typeface="Calibri"/>
              </a:rPr>
              <a:t> </a:t>
            </a:r>
            <a:r>
              <a:rPr sz="2000" b="1" spc="-5" dirty="0">
                <a:latin typeface="Calibri"/>
                <a:cs typeface="Calibri"/>
              </a:rPr>
              <a:t>33,</a:t>
            </a:r>
            <a:r>
              <a:rPr sz="2000" b="1" spc="15" dirty="0">
                <a:latin typeface="Calibri"/>
                <a:cs typeface="Calibri"/>
              </a:rPr>
              <a:t> </a:t>
            </a:r>
            <a:r>
              <a:rPr sz="2000" b="1" spc="-5" dirty="0">
                <a:latin typeface="Calibri"/>
                <a:cs typeface="Calibri"/>
              </a:rPr>
              <a:t>39,</a:t>
            </a:r>
            <a:r>
              <a:rPr sz="2000" b="1" spc="-20" dirty="0">
                <a:latin typeface="Calibri"/>
                <a:cs typeface="Calibri"/>
              </a:rPr>
              <a:t> </a:t>
            </a:r>
            <a:r>
              <a:rPr sz="2000" b="1" spc="-5" dirty="0">
                <a:latin typeface="Calibri"/>
                <a:cs typeface="Calibri"/>
              </a:rPr>
              <a:t>40,</a:t>
            </a:r>
            <a:r>
              <a:rPr sz="2000" b="1" spc="15" dirty="0">
                <a:latin typeface="Calibri"/>
                <a:cs typeface="Calibri"/>
              </a:rPr>
              <a:t> </a:t>
            </a:r>
            <a:r>
              <a:rPr sz="2000" b="1" spc="-5" dirty="0">
                <a:latin typeface="Calibri"/>
                <a:cs typeface="Calibri"/>
              </a:rPr>
              <a:t>32.</a:t>
            </a:r>
            <a:r>
              <a:rPr sz="2000" b="1" spc="10" dirty="0">
                <a:latin typeface="Calibri"/>
                <a:cs typeface="Calibri"/>
              </a:rPr>
              <a:t> </a:t>
            </a:r>
            <a:r>
              <a:rPr sz="2000" spc="-5" dirty="0">
                <a:latin typeface="Calibri"/>
                <a:cs typeface="Calibri"/>
              </a:rPr>
              <a:t>If </a:t>
            </a:r>
            <a:r>
              <a:rPr sz="2000" spc="-25" dirty="0">
                <a:latin typeface="Calibri"/>
                <a:cs typeface="Calibri"/>
              </a:rPr>
              <a:t>we</a:t>
            </a:r>
            <a:r>
              <a:rPr sz="2000" spc="15" dirty="0">
                <a:latin typeface="Calibri"/>
                <a:cs typeface="Calibri"/>
              </a:rPr>
              <a:t> </a:t>
            </a:r>
            <a:r>
              <a:rPr sz="2000" spc="-20" dirty="0">
                <a:latin typeface="Calibri"/>
                <a:cs typeface="Calibri"/>
              </a:rPr>
              <a:t>create</a:t>
            </a:r>
            <a:r>
              <a:rPr sz="2000" spc="65" dirty="0">
                <a:latin typeface="Calibri"/>
                <a:cs typeface="Calibri"/>
              </a:rPr>
              <a:t> </a:t>
            </a:r>
            <a:r>
              <a:rPr sz="2000" spc="-5" dirty="0">
                <a:latin typeface="Calibri"/>
                <a:cs typeface="Calibri"/>
              </a:rPr>
              <a:t>a</a:t>
            </a:r>
            <a:r>
              <a:rPr sz="2000" spc="-10" dirty="0">
                <a:latin typeface="Calibri"/>
                <a:cs typeface="Calibri"/>
              </a:rPr>
              <a:t> frequency </a:t>
            </a:r>
            <a:r>
              <a:rPr sz="2000" spc="-5" dirty="0">
                <a:latin typeface="Calibri"/>
                <a:cs typeface="Calibri"/>
              </a:rPr>
              <a:t> distribution</a:t>
            </a:r>
            <a:r>
              <a:rPr sz="2000" spc="30" dirty="0">
                <a:latin typeface="Calibri"/>
                <a:cs typeface="Calibri"/>
              </a:rPr>
              <a:t> </a:t>
            </a:r>
            <a:r>
              <a:rPr sz="2000" spc="-5" dirty="0">
                <a:latin typeface="Calibri"/>
                <a:cs typeface="Calibri"/>
              </a:rPr>
              <a:t>table</a:t>
            </a:r>
            <a:r>
              <a:rPr sz="2000" spc="10" dirty="0">
                <a:latin typeface="Calibri"/>
                <a:cs typeface="Calibri"/>
              </a:rPr>
              <a:t> </a:t>
            </a:r>
            <a:r>
              <a:rPr sz="2000" spc="-25" dirty="0">
                <a:latin typeface="Calibri"/>
                <a:cs typeface="Calibri"/>
              </a:rPr>
              <a:t>for</a:t>
            </a:r>
            <a:r>
              <a:rPr sz="2000" spc="30" dirty="0">
                <a:latin typeface="Calibri"/>
                <a:cs typeface="Calibri"/>
              </a:rPr>
              <a:t> </a:t>
            </a:r>
            <a:r>
              <a:rPr sz="2000" spc="-10" dirty="0">
                <a:latin typeface="Calibri"/>
                <a:cs typeface="Calibri"/>
              </a:rPr>
              <a:t>each</a:t>
            </a:r>
            <a:r>
              <a:rPr sz="2000" spc="5" dirty="0">
                <a:latin typeface="Calibri"/>
                <a:cs typeface="Calibri"/>
              </a:rPr>
              <a:t> </a:t>
            </a:r>
            <a:r>
              <a:rPr sz="2000" dirty="0">
                <a:latin typeface="Calibri"/>
                <a:cs typeface="Calibri"/>
              </a:rPr>
              <a:t>and </a:t>
            </a:r>
            <a:r>
              <a:rPr sz="2000" spc="-15" dirty="0">
                <a:latin typeface="Calibri"/>
                <a:cs typeface="Calibri"/>
              </a:rPr>
              <a:t>every</a:t>
            </a:r>
            <a:r>
              <a:rPr sz="2000" spc="35" dirty="0">
                <a:latin typeface="Calibri"/>
                <a:cs typeface="Calibri"/>
              </a:rPr>
              <a:t> </a:t>
            </a:r>
            <a:r>
              <a:rPr sz="2000" spc="-10" dirty="0">
                <a:latin typeface="Calibri"/>
                <a:cs typeface="Calibri"/>
              </a:rPr>
              <a:t>observation,</a:t>
            </a:r>
            <a:r>
              <a:rPr sz="2000" spc="30" dirty="0">
                <a:latin typeface="Calibri"/>
                <a:cs typeface="Calibri"/>
              </a:rPr>
              <a:t> </a:t>
            </a:r>
            <a:r>
              <a:rPr sz="2000" spc="-5" dirty="0">
                <a:latin typeface="Calibri"/>
                <a:cs typeface="Calibri"/>
              </a:rPr>
              <a:t>then</a:t>
            </a:r>
            <a:r>
              <a:rPr sz="2000" dirty="0">
                <a:latin typeface="Calibri"/>
                <a:cs typeface="Calibri"/>
              </a:rPr>
              <a:t> </a:t>
            </a:r>
            <a:r>
              <a:rPr sz="2000" spc="-5" dirty="0">
                <a:latin typeface="Calibri"/>
                <a:cs typeface="Calibri"/>
              </a:rPr>
              <a:t>it</a:t>
            </a:r>
            <a:r>
              <a:rPr sz="2000" spc="5" dirty="0">
                <a:latin typeface="Calibri"/>
                <a:cs typeface="Calibri"/>
              </a:rPr>
              <a:t> </a:t>
            </a:r>
            <a:r>
              <a:rPr sz="2000" spc="-5" dirty="0">
                <a:latin typeface="Calibri"/>
                <a:cs typeface="Calibri"/>
              </a:rPr>
              <a:t>will</a:t>
            </a:r>
            <a:r>
              <a:rPr sz="2000" spc="20" dirty="0">
                <a:latin typeface="Calibri"/>
                <a:cs typeface="Calibri"/>
              </a:rPr>
              <a:t> </a:t>
            </a:r>
            <a:r>
              <a:rPr sz="2000" spc="-25" dirty="0">
                <a:latin typeface="Calibri"/>
                <a:cs typeface="Calibri"/>
              </a:rPr>
              <a:t>form</a:t>
            </a:r>
            <a:r>
              <a:rPr sz="2000" spc="15" dirty="0">
                <a:latin typeface="Calibri"/>
                <a:cs typeface="Calibri"/>
              </a:rPr>
              <a:t> </a:t>
            </a:r>
            <a:r>
              <a:rPr sz="2000" spc="-5" dirty="0">
                <a:latin typeface="Calibri"/>
                <a:cs typeface="Calibri"/>
              </a:rPr>
              <a:t>a </a:t>
            </a:r>
            <a:r>
              <a:rPr sz="2000" spc="-434" dirty="0">
                <a:latin typeface="Calibri"/>
                <a:cs typeface="Calibri"/>
              </a:rPr>
              <a:t> </a:t>
            </a:r>
            <a:r>
              <a:rPr sz="2000" spc="-15" dirty="0">
                <a:latin typeface="Calibri"/>
                <a:cs typeface="Calibri"/>
              </a:rPr>
              <a:t>large</a:t>
            </a:r>
            <a:r>
              <a:rPr sz="2000" spc="10" dirty="0">
                <a:latin typeface="Calibri"/>
                <a:cs typeface="Calibri"/>
              </a:rPr>
              <a:t> </a:t>
            </a:r>
            <a:r>
              <a:rPr sz="2000" spc="-10" dirty="0">
                <a:latin typeface="Calibri"/>
                <a:cs typeface="Calibri"/>
              </a:rPr>
              <a:t>table.</a:t>
            </a:r>
            <a:endParaRPr sz="2000">
              <a:latin typeface="Calibri"/>
              <a:cs typeface="Calibri"/>
            </a:endParaRPr>
          </a:p>
        </p:txBody>
      </p:sp>
      <p:pic>
        <p:nvPicPr>
          <p:cNvPr id="5" name="object 5"/>
          <p:cNvPicPr/>
          <p:nvPr/>
        </p:nvPicPr>
        <p:blipFill>
          <a:blip r:embed="rId2" cstate="print"/>
          <a:stretch>
            <a:fillRect/>
          </a:stretch>
        </p:blipFill>
        <p:spPr>
          <a:xfrm>
            <a:off x="3258669" y="3473927"/>
            <a:ext cx="5451490" cy="2866839"/>
          </a:xfrm>
          <a:prstGeom prst="rect">
            <a:avLst/>
          </a:prstGeom>
        </p:spPr>
      </p:pic>
    </p:spTree>
    <p:extLst>
      <p:ext uri="{BB962C8B-B14F-4D97-AF65-F5344CB8AC3E}">
        <p14:creationId xmlns:p14="http://schemas.microsoft.com/office/powerpoint/2010/main" val="17817725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49647" y="554102"/>
            <a:ext cx="4306624" cy="5742241"/>
          </a:xfrm>
          <a:prstGeom prst="rect">
            <a:avLst/>
          </a:prstGeom>
        </p:spPr>
      </p:pic>
      <p:sp>
        <p:nvSpPr>
          <p:cNvPr id="3" name="object 3"/>
          <p:cNvSpPr txBox="1">
            <a:spLocks noGrp="1"/>
          </p:cNvSpPr>
          <p:nvPr>
            <p:ph type="title"/>
          </p:nvPr>
        </p:nvSpPr>
        <p:spPr>
          <a:xfrm>
            <a:off x="1036987" y="936209"/>
            <a:ext cx="2534603" cy="4803238"/>
          </a:xfrm>
          <a:prstGeom prst="rect">
            <a:avLst/>
          </a:prstGeom>
        </p:spPr>
        <p:txBody>
          <a:bodyPr vert="horz" wrap="square" lIns="0" tIns="108585" rIns="0" bIns="0" rtlCol="0">
            <a:spAutoFit/>
          </a:bodyPr>
          <a:lstStyle/>
          <a:p>
            <a:pPr marL="12700" marR="5080" indent="45720" algn="just">
              <a:lnSpc>
                <a:spcPts val="6050"/>
              </a:lnSpc>
              <a:spcBef>
                <a:spcPts val="855"/>
              </a:spcBef>
            </a:pPr>
            <a:r>
              <a:rPr sz="5600" spc="-10" dirty="0">
                <a:latin typeface="Calibri Light"/>
                <a:cs typeface="Calibri Light"/>
              </a:rPr>
              <a:t>Continuous </a:t>
            </a:r>
            <a:r>
              <a:rPr sz="5600" spc="-1255" dirty="0">
                <a:latin typeface="Calibri Light"/>
                <a:cs typeface="Calibri Light"/>
              </a:rPr>
              <a:t> </a:t>
            </a:r>
            <a:r>
              <a:rPr sz="5600" spc="-15" dirty="0">
                <a:latin typeface="Calibri Light"/>
                <a:cs typeface="Calibri Light"/>
              </a:rPr>
              <a:t>Frequency </a:t>
            </a:r>
            <a:r>
              <a:rPr sz="5600" spc="-10" dirty="0">
                <a:latin typeface="Calibri Light"/>
                <a:cs typeface="Calibri Light"/>
              </a:rPr>
              <a:t> </a:t>
            </a:r>
            <a:r>
              <a:rPr sz="5600" spc="-5" dirty="0">
                <a:latin typeface="Calibri Light"/>
                <a:cs typeface="Calibri Light"/>
              </a:rPr>
              <a:t>D</a:t>
            </a:r>
            <a:r>
              <a:rPr sz="5600" spc="-30" dirty="0">
                <a:latin typeface="Calibri Light"/>
                <a:cs typeface="Calibri Light"/>
              </a:rPr>
              <a:t>i</a:t>
            </a:r>
            <a:r>
              <a:rPr sz="5600" spc="-85" dirty="0">
                <a:latin typeface="Calibri Light"/>
                <a:cs typeface="Calibri Light"/>
              </a:rPr>
              <a:t>s</a:t>
            </a:r>
            <a:r>
              <a:rPr sz="5600" spc="-5" dirty="0">
                <a:latin typeface="Calibri Light"/>
                <a:cs typeface="Calibri Light"/>
              </a:rPr>
              <a:t>tri</a:t>
            </a:r>
            <a:r>
              <a:rPr sz="5600" spc="-30" dirty="0">
                <a:latin typeface="Calibri Light"/>
                <a:cs typeface="Calibri Light"/>
              </a:rPr>
              <a:t>b</a:t>
            </a:r>
            <a:r>
              <a:rPr sz="5600" spc="-5" dirty="0">
                <a:latin typeface="Calibri Light"/>
                <a:cs typeface="Calibri Light"/>
              </a:rPr>
              <a:t>ution</a:t>
            </a:r>
            <a:endParaRPr sz="5600">
              <a:latin typeface="Calibri Light"/>
              <a:cs typeface="Calibri Light"/>
            </a:endParaRPr>
          </a:p>
        </p:txBody>
      </p:sp>
      <p:grpSp>
        <p:nvGrpSpPr>
          <p:cNvPr id="4" name="object 4"/>
          <p:cNvGrpSpPr/>
          <p:nvPr/>
        </p:nvGrpSpPr>
        <p:grpSpPr>
          <a:xfrm>
            <a:off x="412585" y="374395"/>
            <a:ext cx="3749516" cy="5490210"/>
            <a:chOff x="550113" y="374395"/>
            <a:chExt cx="4999355" cy="5490210"/>
          </a:xfrm>
        </p:grpSpPr>
        <p:pic>
          <p:nvPicPr>
            <p:cNvPr id="5" name="object 5"/>
            <p:cNvPicPr/>
            <p:nvPr/>
          </p:nvPicPr>
          <p:blipFill>
            <a:blip r:embed="rId3" cstate="print"/>
            <a:stretch>
              <a:fillRect/>
            </a:stretch>
          </p:blipFill>
          <p:spPr>
            <a:xfrm>
              <a:off x="1123492" y="374395"/>
              <a:ext cx="171526" cy="171450"/>
            </a:xfrm>
            <a:prstGeom prst="rect">
              <a:avLst/>
            </a:prstGeom>
          </p:spPr>
        </p:pic>
        <p:pic>
          <p:nvPicPr>
            <p:cNvPr id="6" name="object 6"/>
            <p:cNvPicPr/>
            <p:nvPr/>
          </p:nvPicPr>
          <p:blipFill>
            <a:blip r:embed="rId4" cstate="print"/>
            <a:stretch>
              <a:fillRect/>
            </a:stretch>
          </p:blipFill>
          <p:spPr>
            <a:xfrm>
              <a:off x="550113" y="1084452"/>
              <a:ext cx="157543" cy="157607"/>
            </a:xfrm>
            <a:prstGeom prst="rect">
              <a:avLst/>
            </a:prstGeom>
          </p:spPr>
        </p:pic>
        <p:pic>
          <p:nvPicPr>
            <p:cNvPr id="7" name="object 7"/>
            <p:cNvPicPr/>
            <p:nvPr/>
          </p:nvPicPr>
          <p:blipFill>
            <a:blip r:embed="rId5" cstate="print"/>
            <a:stretch>
              <a:fillRect/>
            </a:stretch>
          </p:blipFill>
          <p:spPr>
            <a:xfrm>
              <a:off x="5436488" y="5751817"/>
              <a:ext cx="112522" cy="112433"/>
            </a:xfrm>
            <a:prstGeom prst="rect">
              <a:avLst/>
            </a:prstGeom>
          </p:spPr>
        </p:pic>
      </p:grpSp>
      <p:sp>
        <p:nvSpPr>
          <p:cNvPr id="8" name="object 8"/>
          <p:cNvSpPr/>
          <p:nvPr/>
        </p:nvSpPr>
        <p:spPr>
          <a:xfrm>
            <a:off x="4517327" y="2578990"/>
            <a:ext cx="47149" cy="62865"/>
          </a:xfrm>
          <a:custGeom>
            <a:avLst/>
            <a:gdLst/>
            <a:ahLst/>
            <a:cxnLst/>
            <a:rect l="l" t="t" r="r" b="b"/>
            <a:pathLst>
              <a:path w="62864" h="62864">
                <a:moveTo>
                  <a:pt x="40005" y="0"/>
                </a:moveTo>
                <a:lnTo>
                  <a:pt x="22733" y="0"/>
                </a:lnTo>
                <a:lnTo>
                  <a:pt x="15367" y="3048"/>
                </a:lnTo>
                <a:lnTo>
                  <a:pt x="3175" y="15239"/>
                </a:lnTo>
                <a:lnTo>
                  <a:pt x="0" y="22606"/>
                </a:lnTo>
                <a:lnTo>
                  <a:pt x="0" y="31241"/>
                </a:lnTo>
                <a:lnTo>
                  <a:pt x="0" y="39877"/>
                </a:lnTo>
                <a:lnTo>
                  <a:pt x="3175" y="47244"/>
                </a:lnTo>
                <a:lnTo>
                  <a:pt x="15367" y="59562"/>
                </a:lnTo>
                <a:lnTo>
                  <a:pt x="22733" y="62611"/>
                </a:lnTo>
                <a:lnTo>
                  <a:pt x="40005" y="62611"/>
                </a:lnTo>
                <a:lnTo>
                  <a:pt x="47371" y="59562"/>
                </a:lnTo>
                <a:lnTo>
                  <a:pt x="59562" y="47244"/>
                </a:lnTo>
                <a:lnTo>
                  <a:pt x="62737" y="39877"/>
                </a:lnTo>
                <a:lnTo>
                  <a:pt x="62737" y="22606"/>
                </a:lnTo>
                <a:lnTo>
                  <a:pt x="59562" y="15239"/>
                </a:lnTo>
                <a:lnTo>
                  <a:pt x="47371" y="3048"/>
                </a:lnTo>
                <a:lnTo>
                  <a:pt x="40005" y="0"/>
                </a:lnTo>
                <a:close/>
              </a:path>
            </a:pathLst>
          </a:custGeom>
          <a:solidFill>
            <a:srgbClr val="000000">
              <a:alpha val="79998"/>
            </a:srgbClr>
          </a:solidFill>
        </p:spPr>
        <p:txBody>
          <a:bodyPr wrap="square" lIns="0" tIns="0" rIns="0" bIns="0" rtlCol="0"/>
          <a:lstStyle/>
          <a:p>
            <a:endParaRPr/>
          </a:p>
        </p:txBody>
      </p:sp>
      <p:pic>
        <p:nvPicPr>
          <p:cNvPr id="9" name="object 9"/>
          <p:cNvPicPr/>
          <p:nvPr/>
        </p:nvPicPr>
        <p:blipFill>
          <a:blip r:embed="rId6" cstate="print"/>
          <a:stretch>
            <a:fillRect/>
          </a:stretch>
        </p:blipFill>
        <p:spPr>
          <a:xfrm>
            <a:off x="4694778" y="2538349"/>
            <a:ext cx="117824" cy="161289"/>
          </a:xfrm>
          <a:prstGeom prst="rect">
            <a:avLst/>
          </a:prstGeom>
        </p:spPr>
      </p:pic>
      <p:sp>
        <p:nvSpPr>
          <p:cNvPr id="10" name="object 10"/>
          <p:cNvSpPr/>
          <p:nvPr/>
        </p:nvSpPr>
        <p:spPr>
          <a:xfrm>
            <a:off x="4901184" y="2526793"/>
            <a:ext cx="247174" cy="174625"/>
          </a:xfrm>
          <a:custGeom>
            <a:avLst/>
            <a:gdLst/>
            <a:ahLst/>
            <a:cxnLst/>
            <a:rect l="l" t="t" r="r" b="b"/>
            <a:pathLst>
              <a:path w="329565" h="174625">
                <a:moveTo>
                  <a:pt x="40132" y="71500"/>
                </a:moveTo>
                <a:lnTo>
                  <a:pt x="19685" y="71500"/>
                </a:lnTo>
                <a:lnTo>
                  <a:pt x="19685" y="143002"/>
                </a:lnTo>
                <a:lnTo>
                  <a:pt x="46482" y="174244"/>
                </a:lnTo>
                <a:lnTo>
                  <a:pt x="54102" y="174244"/>
                </a:lnTo>
                <a:lnTo>
                  <a:pt x="56007" y="174117"/>
                </a:lnTo>
                <a:lnTo>
                  <a:pt x="59817" y="173609"/>
                </a:lnTo>
                <a:lnTo>
                  <a:pt x="61595" y="173228"/>
                </a:lnTo>
                <a:lnTo>
                  <a:pt x="63246" y="172847"/>
                </a:lnTo>
                <a:lnTo>
                  <a:pt x="64897" y="172593"/>
                </a:lnTo>
                <a:lnTo>
                  <a:pt x="66421" y="172085"/>
                </a:lnTo>
                <a:lnTo>
                  <a:pt x="67691" y="171450"/>
                </a:lnTo>
                <a:lnTo>
                  <a:pt x="69088" y="170942"/>
                </a:lnTo>
                <a:lnTo>
                  <a:pt x="70104" y="170307"/>
                </a:lnTo>
                <a:lnTo>
                  <a:pt x="71374" y="169037"/>
                </a:lnTo>
                <a:lnTo>
                  <a:pt x="71882" y="167894"/>
                </a:lnTo>
                <a:lnTo>
                  <a:pt x="72136" y="166497"/>
                </a:lnTo>
                <a:lnTo>
                  <a:pt x="72517" y="165100"/>
                </a:lnTo>
                <a:lnTo>
                  <a:pt x="72612" y="157987"/>
                </a:lnTo>
                <a:lnTo>
                  <a:pt x="72390" y="157099"/>
                </a:lnTo>
                <a:lnTo>
                  <a:pt x="72350" y="156845"/>
                </a:lnTo>
                <a:lnTo>
                  <a:pt x="49784" y="156845"/>
                </a:lnTo>
                <a:lnTo>
                  <a:pt x="45720" y="154812"/>
                </a:lnTo>
                <a:lnTo>
                  <a:pt x="43434" y="150875"/>
                </a:lnTo>
                <a:lnTo>
                  <a:pt x="41275" y="147066"/>
                </a:lnTo>
                <a:lnTo>
                  <a:pt x="40132" y="141224"/>
                </a:lnTo>
                <a:lnTo>
                  <a:pt x="40132" y="71500"/>
                </a:lnTo>
                <a:close/>
              </a:path>
              <a:path w="329565" h="174625">
                <a:moveTo>
                  <a:pt x="70231" y="153288"/>
                </a:moveTo>
                <a:lnTo>
                  <a:pt x="69215" y="153288"/>
                </a:lnTo>
                <a:lnTo>
                  <a:pt x="68453" y="153543"/>
                </a:lnTo>
                <a:lnTo>
                  <a:pt x="67691" y="153924"/>
                </a:lnTo>
                <a:lnTo>
                  <a:pt x="66802" y="154305"/>
                </a:lnTo>
                <a:lnTo>
                  <a:pt x="57531" y="156845"/>
                </a:lnTo>
                <a:lnTo>
                  <a:pt x="72350" y="156845"/>
                </a:lnTo>
                <a:lnTo>
                  <a:pt x="72136" y="155448"/>
                </a:lnTo>
                <a:lnTo>
                  <a:pt x="71628" y="154178"/>
                </a:lnTo>
                <a:lnTo>
                  <a:pt x="71374" y="153797"/>
                </a:lnTo>
                <a:lnTo>
                  <a:pt x="70993" y="153670"/>
                </a:lnTo>
                <a:lnTo>
                  <a:pt x="70612" y="153416"/>
                </a:lnTo>
                <a:lnTo>
                  <a:pt x="70231" y="153288"/>
                </a:lnTo>
                <a:close/>
              </a:path>
              <a:path w="329565" h="174625">
                <a:moveTo>
                  <a:pt x="69215" y="54610"/>
                </a:moveTo>
                <a:lnTo>
                  <a:pt x="3556" y="54610"/>
                </a:lnTo>
                <a:lnTo>
                  <a:pt x="3048" y="54737"/>
                </a:lnTo>
                <a:lnTo>
                  <a:pt x="2413" y="55118"/>
                </a:lnTo>
                <a:lnTo>
                  <a:pt x="1905" y="55372"/>
                </a:lnTo>
                <a:lnTo>
                  <a:pt x="0" y="61595"/>
                </a:lnTo>
                <a:lnTo>
                  <a:pt x="0" y="66167"/>
                </a:lnTo>
                <a:lnTo>
                  <a:pt x="381" y="68199"/>
                </a:lnTo>
                <a:lnTo>
                  <a:pt x="1143" y="69596"/>
                </a:lnTo>
                <a:lnTo>
                  <a:pt x="1905" y="70866"/>
                </a:lnTo>
                <a:lnTo>
                  <a:pt x="2921" y="71500"/>
                </a:lnTo>
                <a:lnTo>
                  <a:pt x="69850" y="71500"/>
                </a:lnTo>
                <a:lnTo>
                  <a:pt x="70866" y="70866"/>
                </a:lnTo>
                <a:lnTo>
                  <a:pt x="71628" y="69596"/>
                </a:lnTo>
                <a:lnTo>
                  <a:pt x="72263" y="68199"/>
                </a:lnTo>
                <a:lnTo>
                  <a:pt x="72644" y="66167"/>
                </a:lnTo>
                <a:lnTo>
                  <a:pt x="72644" y="60325"/>
                </a:lnTo>
                <a:lnTo>
                  <a:pt x="72390" y="59182"/>
                </a:lnTo>
                <a:lnTo>
                  <a:pt x="72263" y="58166"/>
                </a:lnTo>
                <a:lnTo>
                  <a:pt x="70358" y="55118"/>
                </a:lnTo>
                <a:lnTo>
                  <a:pt x="69850" y="54737"/>
                </a:lnTo>
                <a:lnTo>
                  <a:pt x="69215" y="54610"/>
                </a:lnTo>
                <a:close/>
              </a:path>
              <a:path w="329565" h="174625">
                <a:moveTo>
                  <a:pt x="31877" y="24257"/>
                </a:moveTo>
                <a:lnTo>
                  <a:pt x="27813" y="24257"/>
                </a:lnTo>
                <a:lnTo>
                  <a:pt x="26162" y="24384"/>
                </a:lnTo>
                <a:lnTo>
                  <a:pt x="20193" y="26543"/>
                </a:lnTo>
                <a:lnTo>
                  <a:pt x="19812" y="27050"/>
                </a:lnTo>
                <a:lnTo>
                  <a:pt x="19685" y="54610"/>
                </a:lnTo>
                <a:lnTo>
                  <a:pt x="40132" y="54610"/>
                </a:lnTo>
                <a:lnTo>
                  <a:pt x="40132" y="27559"/>
                </a:lnTo>
                <a:lnTo>
                  <a:pt x="39624" y="26543"/>
                </a:lnTo>
                <a:lnTo>
                  <a:pt x="34925" y="24511"/>
                </a:lnTo>
                <a:lnTo>
                  <a:pt x="31877" y="24257"/>
                </a:lnTo>
                <a:close/>
              </a:path>
              <a:path w="329565" h="174625">
                <a:moveTo>
                  <a:pt x="112395" y="0"/>
                </a:moveTo>
                <a:lnTo>
                  <a:pt x="108331" y="0"/>
                </a:lnTo>
                <a:lnTo>
                  <a:pt x="106680" y="127"/>
                </a:lnTo>
                <a:lnTo>
                  <a:pt x="100711" y="2286"/>
                </a:lnTo>
                <a:lnTo>
                  <a:pt x="100330" y="2794"/>
                </a:lnTo>
                <a:lnTo>
                  <a:pt x="100330" y="170180"/>
                </a:lnTo>
                <a:lnTo>
                  <a:pt x="100711" y="170687"/>
                </a:lnTo>
                <a:lnTo>
                  <a:pt x="100965" y="171196"/>
                </a:lnTo>
                <a:lnTo>
                  <a:pt x="101473" y="171577"/>
                </a:lnTo>
                <a:lnTo>
                  <a:pt x="102235" y="171831"/>
                </a:lnTo>
                <a:lnTo>
                  <a:pt x="102997" y="172212"/>
                </a:lnTo>
                <a:lnTo>
                  <a:pt x="104140" y="172466"/>
                </a:lnTo>
                <a:lnTo>
                  <a:pt x="106680" y="172720"/>
                </a:lnTo>
                <a:lnTo>
                  <a:pt x="108331" y="172847"/>
                </a:lnTo>
                <a:lnTo>
                  <a:pt x="112395" y="172847"/>
                </a:lnTo>
                <a:lnTo>
                  <a:pt x="114046" y="172720"/>
                </a:lnTo>
                <a:lnTo>
                  <a:pt x="116713" y="172466"/>
                </a:lnTo>
                <a:lnTo>
                  <a:pt x="117729" y="172212"/>
                </a:lnTo>
                <a:lnTo>
                  <a:pt x="118491" y="171831"/>
                </a:lnTo>
                <a:lnTo>
                  <a:pt x="119253" y="171577"/>
                </a:lnTo>
                <a:lnTo>
                  <a:pt x="119761" y="171196"/>
                </a:lnTo>
                <a:lnTo>
                  <a:pt x="120142" y="170687"/>
                </a:lnTo>
                <a:lnTo>
                  <a:pt x="120650" y="169672"/>
                </a:lnTo>
                <a:lnTo>
                  <a:pt x="120650" y="91312"/>
                </a:lnTo>
                <a:lnTo>
                  <a:pt x="126238" y="84328"/>
                </a:lnTo>
                <a:lnTo>
                  <a:pt x="131572" y="78994"/>
                </a:lnTo>
                <a:lnTo>
                  <a:pt x="136652" y="75437"/>
                </a:lnTo>
                <a:lnTo>
                  <a:pt x="141732" y="71755"/>
                </a:lnTo>
                <a:lnTo>
                  <a:pt x="145079" y="70612"/>
                </a:lnTo>
                <a:lnTo>
                  <a:pt x="120650" y="70612"/>
                </a:lnTo>
                <a:lnTo>
                  <a:pt x="120650" y="3302"/>
                </a:lnTo>
                <a:lnTo>
                  <a:pt x="115443" y="254"/>
                </a:lnTo>
                <a:lnTo>
                  <a:pt x="112395" y="0"/>
                </a:lnTo>
                <a:close/>
              </a:path>
              <a:path w="329565" h="174625">
                <a:moveTo>
                  <a:pt x="190084" y="69977"/>
                </a:moveTo>
                <a:lnTo>
                  <a:pt x="155956" y="69977"/>
                </a:lnTo>
                <a:lnTo>
                  <a:pt x="159385" y="70738"/>
                </a:lnTo>
                <a:lnTo>
                  <a:pt x="162433" y="72136"/>
                </a:lnTo>
                <a:lnTo>
                  <a:pt x="174117" y="88646"/>
                </a:lnTo>
                <a:lnTo>
                  <a:pt x="175133" y="92456"/>
                </a:lnTo>
                <a:lnTo>
                  <a:pt x="175514" y="97536"/>
                </a:lnTo>
                <a:lnTo>
                  <a:pt x="175514" y="169672"/>
                </a:lnTo>
                <a:lnTo>
                  <a:pt x="176022" y="170687"/>
                </a:lnTo>
                <a:lnTo>
                  <a:pt x="176403" y="171196"/>
                </a:lnTo>
                <a:lnTo>
                  <a:pt x="176911" y="171577"/>
                </a:lnTo>
                <a:lnTo>
                  <a:pt x="177673" y="171831"/>
                </a:lnTo>
                <a:lnTo>
                  <a:pt x="178435" y="172212"/>
                </a:lnTo>
                <a:lnTo>
                  <a:pt x="179451" y="172466"/>
                </a:lnTo>
                <a:lnTo>
                  <a:pt x="180721" y="172593"/>
                </a:lnTo>
                <a:lnTo>
                  <a:pt x="183769" y="172847"/>
                </a:lnTo>
                <a:lnTo>
                  <a:pt x="187833" y="172847"/>
                </a:lnTo>
                <a:lnTo>
                  <a:pt x="189484" y="172720"/>
                </a:lnTo>
                <a:lnTo>
                  <a:pt x="192151" y="172466"/>
                </a:lnTo>
                <a:lnTo>
                  <a:pt x="193167" y="172212"/>
                </a:lnTo>
                <a:lnTo>
                  <a:pt x="193802" y="171831"/>
                </a:lnTo>
                <a:lnTo>
                  <a:pt x="194564" y="171577"/>
                </a:lnTo>
                <a:lnTo>
                  <a:pt x="195072" y="171196"/>
                </a:lnTo>
                <a:lnTo>
                  <a:pt x="195834" y="170180"/>
                </a:lnTo>
                <a:lnTo>
                  <a:pt x="195772" y="91312"/>
                </a:lnTo>
                <a:lnTo>
                  <a:pt x="195326" y="86487"/>
                </a:lnTo>
                <a:lnTo>
                  <a:pt x="193929" y="80899"/>
                </a:lnTo>
                <a:lnTo>
                  <a:pt x="192532" y="75184"/>
                </a:lnTo>
                <a:lnTo>
                  <a:pt x="190373" y="70358"/>
                </a:lnTo>
                <a:lnTo>
                  <a:pt x="190084" y="69977"/>
                </a:lnTo>
                <a:close/>
              </a:path>
              <a:path w="329565" h="174625">
                <a:moveTo>
                  <a:pt x="163576" y="52324"/>
                </a:moveTo>
                <a:lnTo>
                  <a:pt x="150114" y="52324"/>
                </a:lnTo>
                <a:lnTo>
                  <a:pt x="144145" y="53848"/>
                </a:lnTo>
                <a:lnTo>
                  <a:pt x="138303" y="56769"/>
                </a:lnTo>
                <a:lnTo>
                  <a:pt x="132334" y="59817"/>
                </a:lnTo>
                <a:lnTo>
                  <a:pt x="126492" y="64388"/>
                </a:lnTo>
                <a:lnTo>
                  <a:pt x="120650" y="70612"/>
                </a:lnTo>
                <a:lnTo>
                  <a:pt x="145079" y="70612"/>
                </a:lnTo>
                <a:lnTo>
                  <a:pt x="146939" y="69977"/>
                </a:lnTo>
                <a:lnTo>
                  <a:pt x="190084" y="69977"/>
                </a:lnTo>
                <a:lnTo>
                  <a:pt x="184023" y="61975"/>
                </a:lnTo>
                <a:lnTo>
                  <a:pt x="179959" y="58547"/>
                </a:lnTo>
                <a:lnTo>
                  <a:pt x="174879" y="56007"/>
                </a:lnTo>
                <a:lnTo>
                  <a:pt x="169799" y="53594"/>
                </a:lnTo>
                <a:lnTo>
                  <a:pt x="163576" y="52324"/>
                </a:lnTo>
                <a:close/>
              </a:path>
              <a:path w="329565" h="174625">
                <a:moveTo>
                  <a:pt x="289052" y="52324"/>
                </a:moveTo>
                <a:lnTo>
                  <a:pt x="272161" y="52324"/>
                </a:lnTo>
                <a:lnTo>
                  <a:pt x="264795" y="53721"/>
                </a:lnTo>
                <a:lnTo>
                  <a:pt x="258191" y="56515"/>
                </a:lnTo>
                <a:lnTo>
                  <a:pt x="251587" y="59436"/>
                </a:lnTo>
                <a:lnTo>
                  <a:pt x="245999" y="63500"/>
                </a:lnTo>
                <a:lnTo>
                  <a:pt x="241300" y="68834"/>
                </a:lnTo>
                <a:lnTo>
                  <a:pt x="236601" y="74041"/>
                </a:lnTo>
                <a:lnTo>
                  <a:pt x="227054" y="117475"/>
                </a:lnTo>
                <a:lnTo>
                  <a:pt x="227165" y="121225"/>
                </a:lnTo>
                <a:lnTo>
                  <a:pt x="245872" y="164337"/>
                </a:lnTo>
                <a:lnTo>
                  <a:pt x="258445" y="170561"/>
                </a:lnTo>
                <a:lnTo>
                  <a:pt x="265303" y="173228"/>
                </a:lnTo>
                <a:lnTo>
                  <a:pt x="273431" y="174498"/>
                </a:lnTo>
                <a:lnTo>
                  <a:pt x="287782" y="174498"/>
                </a:lnTo>
                <a:lnTo>
                  <a:pt x="292735" y="174117"/>
                </a:lnTo>
                <a:lnTo>
                  <a:pt x="297434" y="173228"/>
                </a:lnTo>
                <a:lnTo>
                  <a:pt x="302006" y="172466"/>
                </a:lnTo>
                <a:lnTo>
                  <a:pt x="306197" y="171577"/>
                </a:lnTo>
                <a:lnTo>
                  <a:pt x="309626" y="170561"/>
                </a:lnTo>
                <a:lnTo>
                  <a:pt x="313182" y="169672"/>
                </a:lnTo>
                <a:lnTo>
                  <a:pt x="322326" y="165354"/>
                </a:lnTo>
                <a:lnTo>
                  <a:pt x="322834" y="164973"/>
                </a:lnTo>
                <a:lnTo>
                  <a:pt x="323215" y="164465"/>
                </a:lnTo>
                <a:lnTo>
                  <a:pt x="323977" y="162941"/>
                </a:lnTo>
                <a:lnTo>
                  <a:pt x="324358" y="160909"/>
                </a:lnTo>
                <a:lnTo>
                  <a:pt x="324485" y="157861"/>
                </a:lnTo>
                <a:lnTo>
                  <a:pt x="277749" y="157861"/>
                </a:lnTo>
                <a:lnTo>
                  <a:pt x="272034" y="156972"/>
                </a:lnTo>
                <a:lnTo>
                  <a:pt x="267462" y="155067"/>
                </a:lnTo>
                <a:lnTo>
                  <a:pt x="262763" y="153162"/>
                </a:lnTo>
                <a:lnTo>
                  <a:pt x="258953" y="150495"/>
                </a:lnTo>
                <a:lnTo>
                  <a:pt x="256159" y="146938"/>
                </a:lnTo>
                <a:lnTo>
                  <a:pt x="253238" y="143383"/>
                </a:lnTo>
                <a:lnTo>
                  <a:pt x="251206" y="139065"/>
                </a:lnTo>
                <a:lnTo>
                  <a:pt x="249936" y="134238"/>
                </a:lnTo>
                <a:lnTo>
                  <a:pt x="248666" y="129286"/>
                </a:lnTo>
                <a:lnTo>
                  <a:pt x="248031" y="123698"/>
                </a:lnTo>
                <a:lnTo>
                  <a:pt x="248031" y="117475"/>
                </a:lnTo>
                <a:lnTo>
                  <a:pt x="323342" y="117475"/>
                </a:lnTo>
                <a:lnTo>
                  <a:pt x="325120" y="116840"/>
                </a:lnTo>
                <a:lnTo>
                  <a:pt x="328422" y="114046"/>
                </a:lnTo>
                <a:lnTo>
                  <a:pt x="329184" y="111760"/>
                </a:lnTo>
                <a:lnTo>
                  <a:pt x="329184" y="102616"/>
                </a:lnTo>
                <a:lnTo>
                  <a:pt x="248031" y="102616"/>
                </a:lnTo>
                <a:lnTo>
                  <a:pt x="248158" y="98044"/>
                </a:lnTo>
                <a:lnTo>
                  <a:pt x="249047" y="93725"/>
                </a:lnTo>
                <a:lnTo>
                  <a:pt x="251841" y="85344"/>
                </a:lnTo>
                <a:lnTo>
                  <a:pt x="253746" y="81661"/>
                </a:lnTo>
                <a:lnTo>
                  <a:pt x="256413" y="78612"/>
                </a:lnTo>
                <a:lnTo>
                  <a:pt x="258953" y="75437"/>
                </a:lnTo>
                <a:lnTo>
                  <a:pt x="262128" y="72898"/>
                </a:lnTo>
                <a:lnTo>
                  <a:pt x="265938" y="71120"/>
                </a:lnTo>
                <a:lnTo>
                  <a:pt x="269748" y="69215"/>
                </a:lnTo>
                <a:lnTo>
                  <a:pt x="274193" y="68199"/>
                </a:lnTo>
                <a:lnTo>
                  <a:pt x="318073" y="68199"/>
                </a:lnTo>
                <a:lnTo>
                  <a:pt x="313817" y="62992"/>
                </a:lnTo>
                <a:lnTo>
                  <a:pt x="308737" y="59309"/>
                </a:lnTo>
                <a:lnTo>
                  <a:pt x="296418" y="53721"/>
                </a:lnTo>
                <a:lnTo>
                  <a:pt x="289052" y="52324"/>
                </a:lnTo>
                <a:close/>
              </a:path>
              <a:path w="329565" h="174625">
                <a:moveTo>
                  <a:pt x="321691" y="149479"/>
                </a:moveTo>
                <a:lnTo>
                  <a:pt x="320167" y="149479"/>
                </a:lnTo>
                <a:lnTo>
                  <a:pt x="318643" y="149987"/>
                </a:lnTo>
                <a:lnTo>
                  <a:pt x="316738" y="150749"/>
                </a:lnTo>
                <a:lnTo>
                  <a:pt x="314833" y="151637"/>
                </a:lnTo>
                <a:lnTo>
                  <a:pt x="312293" y="152654"/>
                </a:lnTo>
                <a:lnTo>
                  <a:pt x="309245" y="153670"/>
                </a:lnTo>
                <a:lnTo>
                  <a:pt x="306324" y="154812"/>
                </a:lnTo>
                <a:lnTo>
                  <a:pt x="302768" y="155702"/>
                </a:lnTo>
                <a:lnTo>
                  <a:pt x="294386" y="157480"/>
                </a:lnTo>
                <a:lnTo>
                  <a:pt x="289687" y="157861"/>
                </a:lnTo>
                <a:lnTo>
                  <a:pt x="324485" y="157861"/>
                </a:lnTo>
                <a:lnTo>
                  <a:pt x="324358" y="153670"/>
                </a:lnTo>
                <a:lnTo>
                  <a:pt x="324231" y="152654"/>
                </a:lnTo>
                <a:lnTo>
                  <a:pt x="323977" y="151765"/>
                </a:lnTo>
                <a:lnTo>
                  <a:pt x="323723" y="151257"/>
                </a:lnTo>
                <a:lnTo>
                  <a:pt x="323469" y="150622"/>
                </a:lnTo>
                <a:lnTo>
                  <a:pt x="323215" y="150241"/>
                </a:lnTo>
                <a:lnTo>
                  <a:pt x="322707" y="149987"/>
                </a:lnTo>
                <a:lnTo>
                  <a:pt x="322199" y="149606"/>
                </a:lnTo>
                <a:lnTo>
                  <a:pt x="321691" y="149479"/>
                </a:lnTo>
                <a:close/>
              </a:path>
              <a:path w="329565" h="174625">
                <a:moveTo>
                  <a:pt x="318073" y="68199"/>
                </a:moveTo>
                <a:lnTo>
                  <a:pt x="289052" y="68199"/>
                </a:lnTo>
                <a:lnTo>
                  <a:pt x="296545" y="71247"/>
                </a:lnTo>
                <a:lnTo>
                  <a:pt x="301498" y="77343"/>
                </a:lnTo>
                <a:lnTo>
                  <a:pt x="304807" y="82345"/>
                </a:lnTo>
                <a:lnTo>
                  <a:pt x="307117" y="88217"/>
                </a:lnTo>
                <a:lnTo>
                  <a:pt x="308427" y="94970"/>
                </a:lnTo>
                <a:lnTo>
                  <a:pt x="308737" y="102616"/>
                </a:lnTo>
                <a:lnTo>
                  <a:pt x="329184" y="102616"/>
                </a:lnTo>
                <a:lnTo>
                  <a:pt x="329184" y="97662"/>
                </a:lnTo>
                <a:lnTo>
                  <a:pt x="328295" y="90805"/>
                </a:lnTo>
                <a:lnTo>
                  <a:pt x="326390" y="84455"/>
                </a:lnTo>
                <a:lnTo>
                  <a:pt x="324612" y="78105"/>
                </a:lnTo>
                <a:lnTo>
                  <a:pt x="321691" y="72517"/>
                </a:lnTo>
                <a:lnTo>
                  <a:pt x="318073" y="68199"/>
                </a:lnTo>
                <a:close/>
              </a:path>
            </a:pathLst>
          </a:custGeom>
          <a:solidFill>
            <a:srgbClr val="000000">
              <a:alpha val="79998"/>
            </a:srgbClr>
          </a:solidFill>
        </p:spPr>
        <p:txBody>
          <a:bodyPr wrap="square" lIns="0" tIns="0" rIns="0" bIns="0" rtlCol="0"/>
          <a:lstStyle/>
          <a:p>
            <a:endParaRPr/>
          </a:p>
        </p:txBody>
      </p:sp>
      <p:pic>
        <p:nvPicPr>
          <p:cNvPr id="11" name="object 11"/>
          <p:cNvPicPr/>
          <p:nvPr/>
        </p:nvPicPr>
        <p:blipFill>
          <a:blip r:embed="rId7" cstate="print"/>
          <a:stretch>
            <a:fillRect/>
          </a:stretch>
        </p:blipFill>
        <p:spPr>
          <a:xfrm>
            <a:off x="5235702" y="2526793"/>
            <a:ext cx="560927" cy="207899"/>
          </a:xfrm>
          <a:prstGeom prst="rect">
            <a:avLst/>
          </a:prstGeom>
        </p:spPr>
      </p:pic>
      <p:sp>
        <p:nvSpPr>
          <p:cNvPr id="12" name="object 12"/>
          <p:cNvSpPr/>
          <p:nvPr/>
        </p:nvSpPr>
        <p:spPr>
          <a:xfrm>
            <a:off x="5884164" y="2526793"/>
            <a:ext cx="247174" cy="174625"/>
          </a:xfrm>
          <a:custGeom>
            <a:avLst/>
            <a:gdLst/>
            <a:ahLst/>
            <a:cxnLst/>
            <a:rect l="l" t="t" r="r" b="b"/>
            <a:pathLst>
              <a:path w="329565" h="174625">
                <a:moveTo>
                  <a:pt x="40131" y="71500"/>
                </a:moveTo>
                <a:lnTo>
                  <a:pt x="19684" y="71500"/>
                </a:lnTo>
                <a:lnTo>
                  <a:pt x="19684" y="143002"/>
                </a:lnTo>
                <a:lnTo>
                  <a:pt x="46481" y="174244"/>
                </a:lnTo>
                <a:lnTo>
                  <a:pt x="54101" y="174244"/>
                </a:lnTo>
                <a:lnTo>
                  <a:pt x="56006" y="174117"/>
                </a:lnTo>
                <a:lnTo>
                  <a:pt x="59817" y="173609"/>
                </a:lnTo>
                <a:lnTo>
                  <a:pt x="61595" y="173228"/>
                </a:lnTo>
                <a:lnTo>
                  <a:pt x="63246" y="172847"/>
                </a:lnTo>
                <a:lnTo>
                  <a:pt x="64897" y="172593"/>
                </a:lnTo>
                <a:lnTo>
                  <a:pt x="66421" y="172085"/>
                </a:lnTo>
                <a:lnTo>
                  <a:pt x="67691" y="171450"/>
                </a:lnTo>
                <a:lnTo>
                  <a:pt x="69088" y="170942"/>
                </a:lnTo>
                <a:lnTo>
                  <a:pt x="70103" y="170307"/>
                </a:lnTo>
                <a:lnTo>
                  <a:pt x="71374" y="169037"/>
                </a:lnTo>
                <a:lnTo>
                  <a:pt x="71881" y="167894"/>
                </a:lnTo>
                <a:lnTo>
                  <a:pt x="72136" y="166497"/>
                </a:lnTo>
                <a:lnTo>
                  <a:pt x="72517" y="165100"/>
                </a:lnTo>
                <a:lnTo>
                  <a:pt x="72612" y="157987"/>
                </a:lnTo>
                <a:lnTo>
                  <a:pt x="72390" y="157099"/>
                </a:lnTo>
                <a:lnTo>
                  <a:pt x="72350" y="156845"/>
                </a:lnTo>
                <a:lnTo>
                  <a:pt x="49783" y="156845"/>
                </a:lnTo>
                <a:lnTo>
                  <a:pt x="45720" y="154812"/>
                </a:lnTo>
                <a:lnTo>
                  <a:pt x="43433" y="150875"/>
                </a:lnTo>
                <a:lnTo>
                  <a:pt x="41275" y="147066"/>
                </a:lnTo>
                <a:lnTo>
                  <a:pt x="40131" y="141224"/>
                </a:lnTo>
                <a:lnTo>
                  <a:pt x="40131" y="71500"/>
                </a:lnTo>
                <a:close/>
              </a:path>
              <a:path w="329565" h="174625">
                <a:moveTo>
                  <a:pt x="70230" y="153288"/>
                </a:moveTo>
                <a:lnTo>
                  <a:pt x="69215" y="153288"/>
                </a:lnTo>
                <a:lnTo>
                  <a:pt x="68452" y="153543"/>
                </a:lnTo>
                <a:lnTo>
                  <a:pt x="67564" y="153924"/>
                </a:lnTo>
                <a:lnTo>
                  <a:pt x="66801" y="154305"/>
                </a:lnTo>
                <a:lnTo>
                  <a:pt x="65786" y="154686"/>
                </a:lnTo>
                <a:lnTo>
                  <a:pt x="63500" y="155448"/>
                </a:lnTo>
                <a:lnTo>
                  <a:pt x="62229" y="155829"/>
                </a:lnTo>
                <a:lnTo>
                  <a:pt x="59181" y="156591"/>
                </a:lnTo>
                <a:lnTo>
                  <a:pt x="57530" y="156845"/>
                </a:lnTo>
                <a:lnTo>
                  <a:pt x="72350" y="156845"/>
                </a:lnTo>
                <a:lnTo>
                  <a:pt x="72136" y="155448"/>
                </a:lnTo>
                <a:lnTo>
                  <a:pt x="71627" y="154178"/>
                </a:lnTo>
                <a:lnTo>
                  <a:pt x="71374" y="153797"/>
                </a:lnTo>
                <a:lnTo>
                  <a:pt x="70993" y="153670"/>
                </a:lnTo>
                <a:lnTo>
                  <a:pt x="70612" y="153416"/>
                </a:lnTo>
                <a:lnTo>
                  <a:pt x="70230" y="153288"/>
                </a:lnTo>
                <a:close/>
              </a:path>
              <a:path w="329565" h="174625">
                <a:moveTo>
                  <a:pt x="69215" y="54610"/>
                </a:moveTo>
                <a:lnTo>
                  <a:pt x="3555" y="54610"/>
                </a:lnTo>
                <a:lnTo>
                  <a:pt x="3048" y="54737"/>
                </a:lnTo>
                <a:lnTo>
                  <a:pt x="2413" y="55118"/>
                </a:lnTo>
                <a:lnTo>
                  <a:pt x="1904" y="55372"/>
                </a:lnTo>
                <a:lnTo>
                  <a:pt x="0" y="66167"/>
                </a:lnTo>
                <a:lnTo>
                  <a:pt x="380" y="68199"/>
                </a:lnTo>
                <a:lnTo>
                  <a:pt x="1143" y="69596"/>
                </a:lnTo>
                <a:lnTo>
                  <a:pt x="1904" y="70866"/>
                </a:lnTo>
                <a:lnTo>
                  <a:pt x="2921" y="71500"/>
                </a:lnTo>
                <a:lnTo>
                  <a:pt x="69850" y="71500"/>
                </a:lnTo>
                <a:lnTo>
                  <a:pt x="70866" y="70866"/>
                </a:lnTo>
                <a:lnTo>
                  <a:pt x="71627" y="69596"/>
                </a:lnTo>
                <a:lnTo>
                  <a:pt x="72263" y="68199"/>
                </a:lnTo>
                <a:lnTo>
                  <a:pt x="72644" y="66167"/>
                </a:lnTo>
                <a:lnTo>
                  <a:pt x="72644" y="60325"/>
                </a:lnTo>
                <a:lnTo>
                  <a:pt x="72390" y="59182"/>
                </a:lnTo>
                <a:lnTo>
                  <a:pt x="72263" y="58166"/>
                </a:lnTo>
                <a:lnTo>
                  <a:pt x="70357" y="55118"/>
                </a:lnTo>
                <a:lnTo>
                  <a:pt x="69850" y="54737"/>
                </a:lnTo>
                <a:lnTo>
                  <a:pt x="69215" y="54610"/>
                </a:lnTo>
                <a:close/>
              </a:path>
              <a:path w="329565" h="174625">
                <a:moveTo>
                  <a:pt x="31876" y="24257"/>
                </a:moveTo>
                <a:lnTo>
                  <a:pt x="27813" y="24257"/>
                </a:lnTo>
                <a:lnTo>
                  <a:pt x="26162" y="24384"/>
                </a:lnTo>
                <a:lnTo>
                  <a:pt x="20193" y="26543"/>
                </a:lnTo>
                <a:lnTo>
                  <a:pt x="19812" y="27050"/>
                </a:lnTo>
                <a:lnTo>
                  <a:pt x="19684" y="27559"/>
                </a:lnTo>
                <a:lnTo>
                  <a:pt x="19684" y="54610"/>
                </a:lnTo>
                <a:lnTo>
                  <a:pt x="40131" y="54610"/>
                </a:lnTo>
                <a:lnTo>
                  <a:pt x="40131" y="27559"/>
                </a:lnTo>
                <a:lnTo>
                  <a:pt x="34925" y="24511"/>
                </a:lnTo>
                <a:lnTo>
                  <a:pt x="31876" y="24257"/>
                </a:lnTo>
                <a:close/>
              </a:path>
              <a:path w="329565" h="174625">
                <a:moveTo>
                  <a:pt x="112395" y="0"/>
                </a:moveTo>
                <a:lnTo>
                  <a:pt x="108330" y="0"/>
                </a:lnTo>
                <a:lnTo>
                  <a:pt x="106679" y="127"/>
                </a:lnTo>
                <a:lnTo>
                  <a:pt x="100711" y="2286"/>
                </a:lnTo>
                <a:lnTo>
                  <a:pt x="100329" y="2794"/>
                </a:lnTo>
                <a:lnTo>
                  <a:pt x="100329" y="170180"/>
                </a:lnTo>
                <a:lnTo>
                  <a:pt x="100711" y="170687"/>
                </a:lnTo>
                <a:lnTo>
                  <a:pt x="100965" y="171196"/>
                </a:lnTo>
                <a:lnTo>
                  <a:pt x="101473" y="171577"/>
                </a:lnTo>
                <a:lnTo>
                  <a:pt x="102234" y="171831"/>
                </a:lnTo>
                <a:lnTo>
                  <a:pt x="102997" y="172212"/>
                </a:lnTo>
                <a:lnTo>
                  <a:pt x="104140" y="172466"/>
                </a:lnTo>
                <a:lnTo>
                  <a:pt x="106679" y="172720"/>
                </a:lnTo>
                <a:lnTo>
                  <a:pt x="108330" y="172847"/>
                </a:lnTo>
                <a:lnTo>
                  <a:pt x="112395" y="172847"/>
                </a:lnTo>
                <a:lnTo>
                  <a:pt x="114046" y="172720"/>
                </a:lnTo>
                <a:lnTo>
                  <a:pt x="116713" y="172466"/>
                </a:lnTo>
                <a:lnTo>
                  <a:pt x="117728" y="172212"/>
                </a:lnTo>
                <a:lnTo>
                  <a:pt x="118491" y="171831"/>
                </a:lnTo>
                <a:lnTo>
                  <a:pt x="119252" y="171577"/>
                </a:lnTo>
                <a:lnTo>
                  <a:pt x="119761" y="171196"/>
                </a:lnTo>
                <a:lnTo>
                  <a:pt x="120142" y="170687"/>
                </a:lnTo>
                <a:lnTo>
                  <a:pt x="120650" y="169672"/>
                </a:lnTo>
                <a:lnTo>
                  <a:pt x="120650" y="91312"/>
                </a:lnTo>
                <a:lnTo>
                  <a:pt x="126238" y="84328"/>
                </a:lnTo>
                <a:lnTo>
                  <a:pt x="131572" y="78994"/>
                </a:lnTo>
                <a:lnTo>
                  <a:pt x="136651" y="75437"/>
                </a:lnTo>
                <a:lnTo>
                  <a:pt x="141731" y="71755"/>
                </a:lnTo>
                <a:lnTo>
                  <a:pt x="145079" y="70612"/>
                </a:lnTo>
                <a:lnTo>
                  <a:pt x="120650" y="70612"/>
                </a:lnTo>
                <a:lnTo>
                  <a:pt x="120650" y="3302"/>
                </a:lnTo>
                <a:lnTo>
                  <a:pt x="115443" y="254"/>
                </a:lnTo>
                <a:lnTo>
                  <a:pt x="112395" y="0"/>
                </a:lnTo>
                <a:close/>
              </a:path>
              <a:path w="329565" h="174625">
                <a:moveTo>
                  <a:pt x="190084" y="69977"/>
                </a:moveTo>
                <a:lnTo>
                  <a:pt x="155955" y="69977"/>
                </a:lnTo>
                <a:lnTo>
                  <a:pt x="159384" y="70738"/>
                </a:lnTo>
                <a:lnTo>
                  <a:pt x="162432" y="72136"/>
                </a:lnTo>
                <a:lnTo>
                  <a:pt x="174117" y="88646"/>
                </a:lnTo>
                <a:lnTo>
                  <a:pt x="175132" y="92456"/>
                </a:lnTo>
                <a:lnTo>
                  <a:pt x="175514" y="97536"/>
                </a:lnTo>
                <a:lnTo>
                  <a:pt x="175514" y="169672"/>
                </a:lnTo>
                <a:lnTo>
                  <a:pt x="176022" y="170687"/>
                </a:lnTo>
                <a:lnTo>
                  <a:pt x="176402" y="171196"/>
                </a:lnTo>
                <a:lnTo>
                  <a:pt x="176911" y="171577"/>
                </a:lnTo>
                <a:lnTo>
                  <a:pt x="177673" y="171831"/>
                </a:lnTo>
                <a:lnTo>
                  <a:pt x="178434" y="172212"/>
                </a:lnTo>
                <a:lnTo>
                  <a:pt x="179450" y="172466"/>
                </a:lnTo>
                <a:lnTo>
                  <a:pt x="180721" y="172593"/>
                </a:lnTo>
                <a:lnTo>
                  <a:pt x="183769" y="172847"/>
                </a:lnTo>
                <a:lnTo>
                  <a:pt x="187832" y="172847"/>
                </a:lnTo>
                <a:lnTo>
                  <a:pt x="189483" y="172720"/>
                </a:lnTo>
                <a:lnTo>
                  <a:pt x="192150" y="172466"/>
                </a:lnTo>
                <a:lnTo>
                  <a:pt x="193167" y="172212"/>
                </a:lnTo>
                <a:lnTo>
                  <a:pt x="193801" y="171831"/>
                </a:lnTo>
                <a:lnTo>
                  <a:pt x="194564" y="171577"/>
                </a:lnTo>
                <a:lnTo>
                  <a:pt x="195199" y="171196"/>
                </a:lnTo>
                <a:lnTo>
                  <a:pt x="195452" y="170687"/>
                </a:lnTo>
                <a:lnTo>
                  <a:pt x="195833" y="170180"/>
                </a:lnTo>
                <a:lnTo>
                  <a:pt x="195961" y="169672"/>
                </a:lnTo>
                <a:lnTo>
                  <a:pt x="195878" y="92456"/>
                </a:lnTo>
                <a:lnTo>
                  <a:pt x="195325" y="86487"/>
                </a:lnTo>
                <a:lnTo>
                  <a:pt x="193928" y="80899"/>
                </a:lnTo>
                <a:lnTo>
                  <a:pt x="192531" y="75184"/>
                </a:lnTo>
                <a:lnTo>
                  <a:pt x="190373" y="70358"/>
                </a:lnTo>
                <a:lnTo>
                  <a:pt x="190084" y="69977"/>
                </a:lnTo>
                <a:close/>
              </a:path>
              <a:path w="329565" h="174625">
                <a:moveTo>
                  <a:pt x="163575" y="52324"/>
                </a:moveTo>
                <a:lnTo>
                  <a:pt x="150114" y="52324"/>
                </a:lnTo>
                <a:lnTo>
                  <a:pt x="144145" y="53848"/>
                </a:lnTo>
                <a:lnTo>
                  <a:pt x="138302" y="56769"/>
                </a:lnTo>
                <a:lnTo>
                  <a:pt x="132333" y="59817"/>
                </a:lnTo>
                <a:lnTo>
                  <a:pt x="126492" y="64388"/>
                </a:lnTo>
                <a:lnTo>
                  <a:pt x="120650" y="70612"/>
                </a:lnTo>
                <a:lnTo>
                  <a:pt x="145079" y="70612"/>
                </a:lnTo>
                <a:lnTo>
                  <a:pt x="146939" y="69977"/>
                </a:lnTo>
                <a:lnTo>
                  <a:pt x="190084" y="69977"/>
                </a:lnTo>
                <a:lnTo>
                  <a:pt x="184023" y="61975"/>
                </a:lnTo>
                <a:lnTo>
                  <a:pt x="179958" y="58547"/>
                </a:lnTo>
                <a:lnTo>
                  <a:pt x="174878" y="56007"/>
                </a:lnTo>
                <a:lnTo>
                  <a:pt x="169799" y="53594"/>
                </a:lnTo>
                <a:lnTo>
                  <a:pt x="163575" y="52324"/>
                </a:lnTo>
                <a:close/>
              </a:path>
              <a:path w="329565" h="174625">
                <a:moveTo>
                  <a:pt x="289051" y="52324"/>
                </a:moveTo>
                <a:lnTo>
                  <a:pt x="272161" y="52324"/>
                </a:lnTo>
                <a:lnTo>
                  <a:pt x="264795" y="53721"/>
                </a:lnTo>
                <a:lnTo>
                  <a:pt x="258191" y="56515"/>
                </a:lnTo>
                <a:lnTo>
                  <a:pt x="251587" y="59436"/>
                </a:lnTo>
                <a:lnTo>
                  <a:pt x="245999" y="63500"/>
                </a:lnTo>
                <a:lnTo>
                  <a:pt x="241300" y="68834"/>
                </a:lnTo>
                <a:lnTo>
                  <a:pt x="236600" y="74041"/>
                </a:lnTo>
                <a:lnTo>
                  <a:pt x="227054" y="117475"/>
                </a:lnTo>
                <a:lnTo>
                  <a:pt x="227165" y="121225"/>
                </a:lnTo>
                <a:lnTo>
                  <a:pt x="245872" y="164337"/>
                </a:lnTo>
                <a:lnTo>
                  <a:pt x="258445" y="170561"/>
                </a:lnTo>
                <a:lnTo>
                  <a:pt x="265302" y="173228"/>
                </a:lnTo>
                <a:lnTo>
                  <a:pt x="273430" y="174498"/>
                </a:lnTo>
                <a:lnTo>
                  <a:pt x="287781" y="174498"/>
                </a:lnTo>
                <a:lnTo>
                  <a:pt x="292734" y="174117"/>
                </a:lnTo>
                <a:lnTo>
                  <a:pt x="297433" y="173228"/>
                </a:lnTo>
                <a:lnTo>
                  <a:pt x="302005" y="172466"/>
                </a:lnTo>
                <a:lnTo>
                  <a:pt x="306197" y="171577"/>
                </a:lnTo>
                <a:lnTo>
                  <a:pt x="309625" y="170561"/>
                </a:lnTo>
                <a:lnTo>
                  <a:pt x="313181" y="169672"/>
                </a:lnTo>
                <a:lnTo>
                  <a:pt x="322325" y="165354"/>
                </a:lnTo>
                <a:lnTo>
                  <a:pt x="322833" y="164973"/>
                </a:lnTo>
                <a:lnTo>
                  <a:pt x="323215" y="164465"/>
                </a:lnTo>
                <a:lnTo>
                  <a:pt x="323976" y="162941"/>
                </a:lnTo>
                <a:lnTo>
                  <a:pt x="324357" y="160909"/>
                </a:lnTo>
                <a:lnTo>
                  <a:pt x="324484" y="157861"/>
                </a:lnTo>
                <a:lnTo>
                  <a:pt x="277749" y="157861"/>
                </a:lnTo>
                <a:lnTo>
                  <a:pt x="272033" y="156972"/>
                </a:lnTo>
                <a:lnTo>
                  <a:pt x="267462" y="155067"/>
                </a:lnTo>
                <a:lnTo>
                  <a:pt x="262763" y="153162"/>
                </a:lnTo>
                <a:lnTo>
                  <a:pt x="258952" y="150495"/>
                </a:lnTo>
                <a:lnTo>
                  <a:pt x="256158" y="146938"/>
                </a:lnTo>
                <a:lnTo>
                  <a:pt x="253238" y="143383"/>
                </a:lnTo>
                <a:lnTo>
                  <a:pt x="251205" y="139065"/>
                </a:lnTo>
                <a:lnTo>
                  <a:pt x="249936" y="134238"/>
                </a:lnTo>
                <a:lnTo>
                  <a:pt x="248666" y="129286"/>
                </a:lnTo>
                <a:lnTo>
                  <a:pt x="248030" y="123698"/>
                </a:lnTo>
                <a:lnTo>
                  <a:pt x="248030" y="117475"/>
                </a:lnTo>
                <a:lnTo>
                  <a:pt x="323342" y="117475"/>
                </a:lnTo>
                <a:lnTo>
                  <a:pt x="325120" y="116840"/>
                </a:lnTo>
                <a:lnTo>
                  <a:pt x="328422" y="114046"/>
                </a:lnTo>
                <a:lnTo>
                  <a:pt x="329183" y="111760"/>
                </a:lnTo>
                <a:lnTo>
                  <a:pt x="329183" y="102616"/>
                </a:lnTo>
                <a:lnTo>
                  <a:pt x="248030" y="102616"/>
                </a:lnTo>
                <a:lnTo>
                  <a:pt x="248157" y="98044"/>
                </a:lnTo>
                <a:lnTo>
                  <a:pt x="249047" y="93725"/>
                </a:lnTo>
                <a:lnTo>
                  <a:pt x="251841" y="85344"/>
                </a:lnTo>
                <a:lnTo>
                  <a:pt x="253746" y="81661"/>
                </a:lnTo>
                <a:lnTo>
                  <a:pt x="256413" y="78612"/>
                </a:lnTo>
                <a:lnTo>
                  <a:pt x="258952" y="75437"/>
                </a:lnTo>
                <a:lnTo>
                  <a:pt x="262127" y="72898"/>
                </a:lnTo>
                <a:lnTo>
                  <a:pt x="265938" y="71120"/>
                </a:lnTo>
                <a:lnTo>
                  <a:pt x="269748" y="69215"/>
                </a:lnTo>
                <a:lnTo>
                  <a:pt x="274193" y="68199"/>
                </a:lnTo>
                <a:lnTo>
                  <a:pt x="318073" y="68199"/>
                </a:lnTo>
                <a:lnTo>
                  <a:pt x="313817" y="62992"/>
                </a:lnTo>
                <a:lnTo>
                  <a:pt x="308737" y="59309"/>
                </a:lnTo>
                <a:lnTo>
                  <a:pt x="296418" y="53721"/>
                </a:lnTo>
                <a:lnTo>
                  <a:pt x="289051" y="52324"/>
                </a:lnTo>
                <a:close/>
              </a:path>
              <a:path w="329565" h="174625">
                <a:moveTo>
                  <a:pt x="321691" y="149479"/>
                </a:moveTo>
                <a:lnTo>
                  <a:pt x="320167" y="149479"/>
                </a:lnTo>
                <a:lnTo>
                  <a:pt x="318643" y="149987"/>
                </a:lnTo>
                <a:lnTo>
                  <a:pt x="316738" y="150749"/>
                </a:lnTo>
                <a:lnTo>
                  <a:pt x="314832" y="151637"/>
                </a:lnTo>
                <a:lnTo>
                  <a:pt x="312293" y="152654"/>
                </a:lnTo>
                <a:lnTo>
                  <a:pt x="309245" y="153670"/>
                </a:lnTo>
                <a:lnTo>
                  <a:pt x="306324" y="154812"/>
                </a:lnTo>
                <a:lnTo>
                  <a:pt x="302768" y="155702"/>
                </a:lnTo>
                <a:lnTo>
                  <a:pt x="294386" y="157480"/>
                </a:lnTo>
                <a:lnTo>
                  <a:pt x="289687" y="157861"/>
                </a:lnTo>
                <a:lnTo>
                  <a:pt x="324484" y="157861"/>
                </a:lnTo>
                <a:lnTo>
                  <a:pt x="324357" y="153670"/>
                </a:lnTo>
                <a:lnTo>
                  <a:pt x="324230" y="152654"/>
                </a:lnTo>
                <a:lnTo>
                  <a:pt x="323976" y="151765"/>
                </a:lnTo>
                <a:lnTo>
                  <a:pt x="323723" y="151257"/>
                </a:lnTo>
                <a:lnTo>
                  <a:pt x="323469" y="150622"/>
                </a:lnTo>
                <a:lnTo>
                  <a:pt x="323215" y="150241"/>
                </a:lnTo>
                <a:lnTo>
                  <a:pt x="322706" y="149987"/>
                </a:lnTo>
                <a:lnTo>
                  <a:pt x="322199" y="149606"/>
                </a:lnTo>
                <a:lnTo>
                  <a:pt x="321691" y="149479"/>
                </a:lnTo>
                <a:close/>
              </a:path>
              <a:path w="329565" h="174625">
                <a:moveTo>
                  <a:pt x="318073" y="68199"/>
                </a:moveTo>
                <a:lnTo>
                  <a:pt x="289051" y="68199"/>
                </a:lnTo>
                <a:lnTo>
                  <a:pt x="296545" y="71247"/>
                </a:lnTo>
                <a:lnTo>
                  <a:pt x="301498" y="77343"/>
                </a:lnTo>
                <a:lnTo>
                  <a:pt x="304807" y="82345"/>
                </a:lnTo>
                <a:lnTo>
                  <a:pt x="307117" y="88217"/>
                </a:lnTo>
                <a:lnTo>
                  <a:pt x="308427" y="94970"/>
                </a:lnTo>
                <a:lnTo>
                  <a:pt x="308737" y="102616"/>
                </a:lnTo>
                <a:lnTo>
                  <a:pt x="329183" y="102616"/>
                </a:lnTo>
                <a:lnTo>
                  <a:pt x="329183" y="97662"/>
                </a:lnTo>
                <a:lnTo>
                  <a:pt x="328295" y="90805"/>
                </a:lnTo>
                <a:lnTo>
                  <a:pt x="326390" y="84455"/>
                </a:lnTo>
                <a:lnTo>
                  <a:pt x="324612" y="78105"/>
                </a:lnTo>
                <a:lnTo>
                  <a:pt x="321691" y="72517"/>
                </a:lnTo>
                <a:lnTo>
                  <a:pt x="318073" y="68199"/>
                </a:lnTo>
                <a:close/>
              </a:path>
            </a:pathLst>
          </a:custGeom>
          <a:solidFill>
            <a:srgbClr val="000000">
              <a:alpha val="79998"/>
            </a:srgbClr>
          </a:solidFill>
        </p:spPr>
        <p:txBody>
          <a:bodyPr wrap="square" lIns="0" tIns="0" rIns="0" bIns="0" rtlCol="0"/>
          <a:lstStyle/>
          <a:p>
            <a:endParaRPr/>
          </a:p>
        </p:txBody>
      </p:sp>
      <p:pic>
        <p:nvPicPr>
          <p:cNvPr id="13" name="object 13"/>
          <p:cNvPicPr/>
          <p:nvPr/>
        </p:nvPicPr>
        <p:blipFill>
          <a:blip r:embed="rId8" cstate="print"/>
          <a:stretch>
            <a:fillRect/>
          </a:stretch>
        </p:blipFill>
        <p:spPr>
          <a:xfrm>
            <a:off x="6224090" y="2579117"/>
            <a:ext cx="444553" cy="164719"/>
          </a:xfrm>
          <a:prstGeom prst="rect">
            <a:avLst/>
          </a:prstGeom>
        </p:spPr>
      </p:pic>
      <p:pic>
        <p:nvPicPr>
          <p:cNvPr id="14" name="object 14"/>
          <p:cNvPicPr/>
          <p:nvPr/>
        </p:nvPicPr>
        <p:blipFill>
          <a:blip r:embed="rId9" cstate="print"/>
          <a:stretch>
            <a:fillRect/>
          </a:stretch>
        </p:blipFill>
        <p:spPr>
          <a:xfrm>
            <a:off x="6757225" y="2526792"/>
            <a:ext cx="399764" cy="174498"/>
          </a:xfrm>
          <a:prstGeom prst="rect">
            <a:avLst/>
          </a:prstGeom>
        </p:spPr>
      </p:pic>
      <p:pic>
        <p:nvPicPr>
          <p:cNvPr id="15" name="object 15"/>
          <p:cNvPicPr/>
          <p:nvPr/>
        </p:nvPicPr>
        <p:blipFill>
          <a:blip r:embed="rId10" cstate="print"/>
          <a:stretch>
            <a:fillRect/>
          </a:stretch>
        </p:blipFill>
        <p:spPr>
          <a:xfrm>
            <a:off x="7242811" y="2525903"/>
            <a:ext cx="152114" cy="175387"/>
          </a:xfrm>
          <a:prstGeom prst="rect">
            <a:avLst/>
          </a:prstGeom>
        </p:spPr>
      </p:pic>
      <p:sp>
        <p:nvSpPr>
          <p:cNvPr id="16" name="object 16"/>
          <p:cNvSpPr/>
          <p:nvPr/>
        </p:nvSpPr>
        <p:spPr>
          <a:xfrm>
            <a:off x="7474061" y="2526793"/>
            <a:ext cx="342424" cy="174625"/>
          </a:xfrm>
          <a:custGeom>
            <a:avLst/>
            <a:gdLst/>
            <a:ahLst/>
            <a:cxnLst/>
            <a:rect l="l" t="t" r="r" b="b"/>
            <a:pathLst>
              <a:path w="456565" h="174625">
                <a:moveTo>
                  <a:pt x="61997" y="52324"/>
                </a:moveTo>
                <a:lnTo>
                  <a:pt x="45106" y="52324"/>
                </a:lnTo>
                <a:lnTo>
                  <a:pt x="37740" y="53721"/>
                </a:lnTo>
                <a:lnTo>
                  <a:pt x="31136" y="56515"/>
                </a:lnTo>
                <a:lnTo>
                  <a:pt x="24532" y="59436"/>
                </a:lnTo>
                <a:lnTo>
                  <a:pt x="18944" y="63500"/>
                </a:lnTo>
                <a:lnTo>
                  <a:pt x="14245" y="68834"/>
                </a:lnTo>
                <a:lnTo>
                  <a:pt x="9546" y="74041"/>
                </a:lnTo>
                <a:lnTo>
                  <a:pt x="0" y="117475"/>
                </a:lnTo>
                <a:lnTo>
                  <a:pt x="111" y="121225"/>
                </a:lnTo>
                <a:lnTo>
                  <a:pt x="18817" y="164337"/>
                </a:lnTo>
                <a:lnTo>
                  <a:pt x="31390" y="170561"/>
                </a:lnTo>
                <a:lnTo>
                  <a:pt x="38248" y="173228"/>
                </a:lnTo>
                <a:lnTo>
                  <a:pt x="46376" y="174498"/>
                </a:lnTo>
                <a:lnTo>
                  <a:pt x="60727" y="174498"/>
                </a:lnTo>
                <a:lnTo>
                  <a:pt x="65680" y="174117"/>
                </a:lnTo>
                <a:lnTo>
                  <a:pt x="70379" y="173228"/>
                </a:lnTo>
                <a:lnTo>
                  <a:pt x="74951" y="172466"/>
                </a:lnTo>
                <a:lnTo>
                  <a:pt x="79142" y="171577"/>
                </a:lnTo>
                <a:lnTo>
                  <a:pt x="82571" y="170561"/>
                </a:lnTo>
                <a:lnTo>
                  <a:pt x="86127" y="169672"/>
                </a:lnTo>
                <a:lnTo>
                  <a:pt x="95271" y="165354"/>
                </a:lnTo>
                <a:lnTo>
                  <a:pt x="95779" y="164973"/>
                </a:lnTo>
                <a:lnTo>
                  <a:pt x="96160" y="164465"/>
                </a:lnTo>
                <a:lnTo>
                  <a:pt x="96922" y="162941"/>
                </a:lnTo>
                <a:lnTo>
                  <a:pt x="97303" y="160909"/>
                </a:lnTo>
                <a:lnTo>
                  <a:pt x="97430" y="157861"/>
                </a:lnTo>
                <a:lnTo>
                  <a:pt x="50694" y="157861"/>
                </a:lnTo>
                <a:lnTo>
                  <a:pt x="44979" y="156972"/>
                </a:lnTo>
                <a:lnTo>
                  <a:pt x="40407" y="155067"/>
                </a:lnTo>
                <a:lnTo>
                  <a:pt x="35708" y="153162"/>
                </a:lnTo>
                <a:lnTo>
                  <a:pt x="31898" y="150495"/>
                </a:lnTo>
                <a:lnTo>
                  <a:pt x="29104" y="146938"/>
                </a:lnTo>
                <a:lnTo>
                  <a:pt x="26183" y="143383"/>
                </a:lnTo>
                <a:lnTo>
                  <a:pt x="24151" y="139065"/>
                </a:lnTo>
                <a:lnTo>
                  <a:pt x="22881" y="134238"/>
                </a:lnTo>
                <a:lnTo>
                  <a:pt x="21611" y="129286"/>
                </a:lnTo>
                <a:lnTo>
                  <a:pt x="20976" y="123698"/>
                </a:lnTo>
                <a:lnTo>
                  <a:pt x="20976" y="117475"/>
                </a:lnTo>
                <a:lnTo>
                  <a:pt x="96287" y="117475"/>
                </a:lnTo>
                <a:lnTo>
                  <a:pt x="98065" y="116840"/>
                </a:lnTo>
                <a:lnTo>
                  <a:pt x="101367" y="114046"/>
                </a:lnTo>
                <a:lnTo>
                  <a:pt x="102129" y="111760"/>
                </a:lnTo>
                <a:lnTo>
                  <a:pt x="102129" y="102616"/>
                </a:lnTo>
                <a:lnTo>
                  <a:pt x="20976" y="102616"/>
                </a:lnTo>
                <a:lnTo>
                  <a:pt x="21103" y="98044"/>
                </a:lnTo>
                <a:lnTo>
                  <a:pt x="21992" y="93725"/>
                </a:lnTo>
                <a:lnTo>
                  <a:pt x="24786" y="85344"/>
                </a:lnTo>
                <a:lnTo>
                  <a:pt x="26691" y="81661"/>
                </a:lnTo>
                <a:lnTo>
                  <a:pt x="29358" y="78612"/>
                </a:lnTo>
                <a:lnTo>
                  <a:pt x="31898" y="75437"/>
                </a:lnTo>
                <a:lnTo>
                  <a:pt x="35073" y="72898"/>
                </a:lnTo>
                <a:lnTo>
                  <a:pt x="38883" y="71120"/>
                </a:lnTo>
                <a:lnTo>
                  <a:pt x="42693" y="69215"/>
                </a:lnTo>
                <a:lnTo>
                  <a:pt x="47138" y="68199"/>
                </a:lnTo>
                <a:lnTo>
                  <a:pt x="91018" y="68199"/>
                </a:lnTo>
                <a:lnTo>
                  <a:pt x="86762" y="62992"/>
                </a:lnTo>
                <a:lnTo>
                  <a:pt x="81682" y="59309"/>
                </a:lnTo>
                <a:lnTo>
                  <a:pt x="69363" y="53721"/>
                </a:lnTo>
                <a:lnTo>
                  <a:pt x="61997" y="52324"/>
                </a:lnTo>
                <a:close/>
              </a:path>
              <a:path w="456565" h="174625">
                <a:moveTo>
                  <a:pt x="94636" y="149479"/>
                </a:moveTo>
                <a:lnTo>
                  <a:pt x="93112" y="149479"/>
                </a:lnTo>
                <a:lnTo>
                  <a:pt x="91588" y="149987"/>
                </a:lnTo>
                <a:lnTo>
                  <a:pt x="89683" y="150749"/>
                </a:lnTo>
                <a:lnTo>
                  <a:pt x="87778" y="151637"/>
                </a:lnTo>
                <a:lnTo>
                  <a:pt x="85238" y="152654"/>
                </a:lnTo>
                <a:lnTo>
                  <a:pt x="82190" y="153670"/>
                </a:lnTo>
                <a:lnTo>
                  <a:pt x="79269" y="154812"/>
                </a:lnTo>
                <a:lnTo>
                  <a:pt x="75713" y="155702"/>
                </a:lnTo>
                <a:lnTo>
                  <a:pt x="67331" y="157480"/>
                </a:lnTo>
                <a:lnTo>
                  <a:pt x="62632" y="157861"/>
                </a:lnTo>
                <a:lnTo>
                  <a:pt x="97430" y="157861"/>
                </a:lnTo>
                <a:lnTo>
                  <a:pt x="97303" y="153670"/>
                </a:lnTo>
                <a:lnTo>
                  <a:pt x="97176" y="152654"/>
                </a:lnTo>
                <a:lnTo>
                  <a:pt x="96922" y="151765"/>
                </a:lnTo>
                <a:lnTo>
                  <a:pt x="96668" y="151257"/>
                </a:lnTo>
                <a:lnTo>
                  <a:pt x="96414" y="150622"/>
                </a:lnTo>
                <a:lnTo>
                  <a:pt x="96160" y="150241"/>
                </a:lnTo>
                <a:lnTo>
                  <a:pt x="95652" y="149987"/>
                </a:lnTo>
                <a:lnTo>
                  <a:pt x="95144" y="149606"/>
                </a:lnTo>
                <a:lnTo>
                  <a:pt x="94636" y="149479"/>
                </a:lnTo>
                <a:close/>
              </a:path>
              <a:path w="456565" h="174625">
                <a:moveTo>
                  <a:pt x="91018" y="68199"/>
                </a:moveTo>
                <a:lnTo>
                  <a:pt x="61997" y="68199"/>
                </a:lnTo>
                <a:lnTo>
                  <a:pt x="69490" y="71247"/>
                </a:lnTo>
                <a:lnTo>
                  <a:pt x="74443" y="77343"/>
                </a:lnTo>
                <a:lnTo>
                  <a:pt x="77753" y="82345"/>
                </a:lnTo>
                <a:lnTo>
                  <a:pt x="80063" y="88217"/>
                </a:lnTo>
                <a:lnTo>
                  <a:pt x="81373" y="94970"/>
                </a:lnTo>
                <a:lnTo>
                  <a:pt x="81682" y="102616"/>
                </a:lnTo>
                <a:lnTo>
                  <a:pt x="102129" y="102616"/>
                </a:lnTo>
                <a:lnTo>
                  <a:pt x="102129" y="97662"/>
                </a:lnTo>
                <a:lnTo>
                  <a:pt x="101240" y="90805"/>
                </a:lnTo>
                <a:lnTo>
                  <a:pt x="99335" y="84455"/>
                </a:lnTo>
                <a:lnTo>
                  <a:pt x="97557" y="78105"/>
                </a:lnTo>
                <a:lnTo>
                  <a:pt x="94636" y="72517"/>
                </a:lnTo>
                <a:lnTo>
                  <a:pt x="91018" y="68199"/>
                </a:lnTo>
                <a:close/>
              </a:path>
              <a:path w="456565" h="174625">
                <a:moveTo>
                  <a:pt x="210950" y="68834"/>
                </a:moveTo>
                <a:lnTo>
                  <a:pt x="175027" y="68834"/>
                </a:lnTo>
                <a:lnTo>
                  <a:pt x="178964" y="69342"/>
                </a:lnTo>
                <a:lnTo>
                  <a:pt x="185314" y="71628"/>
                </a:lnTo>
                <a:lnTo>
                  <a:pt x="187981" y="73279"/>
                </a:lnTo>
                <a:lnTo>
                  <a:pt x="192045" y="77597"/>
                </a:lnTo>
                <a:lnTo>
                  <a:pt x="193442" y="80391"/>
                </a:lnTo>
                <a:lnTo>
                  <a:pt x="194331" y="83693"/>
                </a:lnTo>
                <a:lnTo>
                  <a:pt x="195347" y="86995"/>
                </a:lnTo>
                <a:lnTo>
                  <a:pt x="195728" y="90678"/>
                </a:lnTo>
                <a:lnTo>
                  <a:pt x="195728" y="103632"/>
                </a:lnTo>
                <a:lnTo>
                  <a:pt x="171725" y="103632"/>
                </a:lnTo>
                <a:lnTo>
                  <a:pt x="163978" y="104394"/>
                </a:lnTo>
                <a:lnTo>
                  <a:pt x="150135" y="107442"/>
                </a:lnTo>
                <a:lnTo>
                  <a:pt x="144293" y="109728"/>
                </a:lnTo>
                <a:lnTo>
                  <a:pt x="139594" y="112775"/>
                </a:lnTo>
                <a:lnTo>
                  <a:pt x="134768" y="115824"/>
                </a:lnTo>
                <a:lnTo>
                  <a:pt x="131085" y="119634"/>
                </a:lnTo>
                <a:lnTo>
                  <a:pt x="128545" y="124333"/>
                </a:lnTo>
                <a:lnTo>
                  <a:pt x="126005" y="128905"/>
                </a:lnTo>
                <a:lnTo>
                  <a:pt x="124735" y="134366"/>
                </a:lnTo>
                <a:lnTo>
                  <a:pt x="124735" y="145923"/>
                </a:lnTo>
                <a:lnTo>
                  <a:pt x="125624" y="150749"/>
                </a:lnTo>
                <a:lnTo>
                  <a:pt x="127529" y="154940"/>
                </a:lnTo>
                <a:lnTo>
                  <a:pt x="129307" y="159131"/>
                </a:lnTo>
                <a:lnTo>
                  <a:pt x="157374" y="174498"/>
                </a:lnTo>
                <a:lnTo>
                  <a:pt x="169947" y="174498"/>
                </a:lnTo>
                <a:lnTo>
                  <a:pt x="198039" y="158496"/>
                </a:lnTo>
                <a:lnTo>
                  <a:pt x="159914" y="158496"/>
                </a:lnTo>
                <a:lnTo>
                  <a:pt x="154707" y="156845"/>
                </a:lnTo>
                <a:lnTo>
                  <a:pt x="151151" y="153416"/>
                </a:lnTo>
                <a:lnTo>
                  <a:pt x="147468" y="149987"/>
                </a:lnTo>
                <a:lnTo>
                  <a:pt x="145563" y="145415"/>
                </a:lnTo>
                <a:lnTo>
                  <a:pt x="145563" y="136271"/>
                </a:lnTo>
                <a:lnTo>
                  <a:pt x="146198" y="133223"/>
                </a:lnTo>
                <a:lnTo>
                  <a:pt x="147468" y="130683"/>
                </a:lnTo>
                <a:lnTo>
                  <a:pt x="148738" y="128016"/>
                </a:lnTo>
                <a:lnTo>
                  <a:pt x="172741" y="118363"/>
                </a:lnTo>
                <a:lnTo>
                  <a:pt x="216048" y="118363"/>
                </a:lnTo>
                <a:lnTo>
                  <a:pt x="216011" y="86995"/>
                </a:lnTo>
                <a:lnTo>
                  <a:pt x="215159" y="81153"/>
                </a:lnTo>
                <a:lnTo>
                  <a:pt x="212111" y="70866"/>
                </a:lnTo>
                <a:lnTo>
                  <a:pt x="210950" y="68834"/>
                </a:lnTo>
                <a:close/>
              </a:path>
              <a:path w="456565" h="174625">
                <a:moveTo>
                  <a:pt x="216048" y="157987"/>
                </a:moveTo>
                <a:lnTo>
                  <a:pt x="198522" y="157987"/>
                </a:lnTo>
                <a:lnTo>
                  <a:pt x="198522" y="170180"/>
                </a:lnTo>
                <a:lnTo>
                  <a:pt x="205126" y="172847"/>
                </a:lnTo>
                <a:lnTo>
                  <a:pt x="209444" y="172847"/>
                </a:lnTo>
                <a:lnTo>
                  <a:pt x="211095" y="172720"/>
                </a:lnTo>
                <a:lnTo>
                  <a:pt x="212238" y="172466"/>
                </a:lnTo>
                <a:lnTo>
                  <a:pt x="213508" y="172212"/>
                </a:lnTo>
                <a:lnTo>
                  <a:pt x="214397" y="171831"/>
                </a:lnTo>
                <a:lnTo>
                  <a:pt x="215667" y="170815"/>
                </a:lnTo>
                <a:lnTo>
                  <a:pt x="216048" y="170180"/>
                </a:lnTo>
                <a:lnTo>
                  <a:pt x="216048" y="157987"/>
                </a:lnTo>
                <a:close/>
              </a:path>
              <a:path w="456565" h="174625">
                <a:moveTo>
                  <a:pt x="216048" y="118363"/>
                </a:moveTo>
                <a:lnTo>
                  <a:pt x="195728" y="118363"/>
                </a:lnTo>
                <a:lnTo>
                  <a:pt x="195728" y="141986"/>
                </a:lnTo>
                <a:lnTo>
                  <a:pt x="190775" y="147574"/>
                </a:lnTo>
                <a:lnTo>
                  <a:pt x="185949" y="151765"/>
                </a:lnTo>
                <a:lnTo>
                  <a:pt x="176805" y="157099"/>
                </a:lnTo>
                <a:lnTo>
                  <a:pt x="171852" y="158496"/>
                </a:lnTo>
                <a:lnTo>
                  <a:pt x="198039" y="158496"/>
                </a:lnTo>
                <a:lnTo>
                  <a:pt x="198522" y="157987"/>
                </a:lnTo>
                <a:lnTo>
                  <a:pt x="216048" y="157987"/>
                </a:lnTo>
                <a:lnTo>
                  <a:pt x="216048" y="118363"/>
                </a:lnTo>
                <a:close/>
              </a:path>
              <a:path w="456565" h="174625">
                <a:moveTo>
                  <a:pt x="180107" y="52324"/>
                </a:moveTo>
                <a:lnTo>
                  <a:pt x="167915" y="52324"/>
                </a:lnTo>
                <a:lnTo>
                  <a:pt x="163597" y="52705"/>
                </a:lnTo>
                <a:lnTo>
                  <a:pt x="132736" y="64135"/>
                </a:lnTo>
                <a:lnTo>
                  <a:pt x="131593" y="65150"/>
                </a:lnTo>
                <a:lnTo>
                  <a:pt x="130831" y="66294"/>
                </a:lnTo>
                <a:lnTo>
                  <a:pt x="130577" y="67563"/>
                </a:lnTo>
                <a:lnTo>
                  <a:pt x="130323" y="68707"/>
                </a:lnTo>
                <a:lnTo>
                  <a:pt x="130196" y="74803"/>
                </a:lnTo>
                <a:lnTo>
                  <a:pt x="130450" y="75819"/>
                </a:lnTo>
                <a:lnTo>
                  <a:pt x="130577" y="76835"/>
                </a:lnTo>
                <a:lnTo>
                  <a:pt x="133625" y="80263"/>
                </a:lnTo>
                <a:lnTo>
                  <a:pt x="135276" y="80263"/>
                </a:lnTo>
                <a:lnTo>
                  <a:pt x="136673" y="79756"/>
                </a:lnTo>
                <a:lnTo>
                  <a:pt x="138705" y="78486"/>
                </a:lnTo>
                <a:lnTo>
                  <a:pt x="140737" y="77343"/>
                </a:lnTo>
                <a:lnTo>
                  <a:pt x="165248" y="68834"/>
                </a:lnTo>
                <a:lnTo>
                  <a:pt x="210950" y="68834"/>
                </a:lnTo>
                <a:lnTo>
                  <a:pt x="209571" y="66421"/>
                </a:lnTo>
                <a:lnTo>
                  <a:pt x="206142" y="62992"/>
                </a:lnTo>
                <a:lnTo>
                  <a:pt x="202713" y="59436"/>
                </a:lnTo>
                <a:lnTo>
                  <a:pt x="198141" y="56769"/>
                </a:lnTo>
                <a:lnTo>
                  <a:pt x="186965" y="53212"/>
                </a:lnTo>
                <a:lnTo>
                  <a:pt x="180107" y="52324"/>
                </a:lnTo>
                <a:close/>
              </a:path>
              <a:path w="456565" h="174625">
                <a:moveTo>
                  <a:pt x="301773" y="52450"/>
                </a:moveTo>
                <a:lnTo>
                  <a:pt x="290978" y="52450"/>
                </a:lnTo>
                <a:lnTo>
                  <a:pt x="284120" y="53594"/>
                </a:lnTo>
                <a:lnTo>
                  <a:pt x="253132" y="78740"/>
                </a:lnTo>
                <a:lnTo>
                  <a:pt x="246401" y="114808"/>
                </a:lnTo>
                <a:lnTo>
                  <a:pt x="246596" y="121832"/>
                </a:lnTo>
                <a:lnTo>
                  <a:pt x="263292" y="163957"/>
                </a:lnTo>
                <a:lnTo>
                  <a:pt x="287930" y="174498"/>
                </a:lnTo>
                <a:lnTo>
                  <a:pt x="299741" y="174498"/>
                </a:lnTo>
                <a:lnTo>
                  <a:pt x="325522" y="166370"/>
                </a:lnTo>
                <a:lnTo>
                  <a:pt x="328062" y="164846"/>
                </a:lnTo>
                <a:lnTo>
                  <a:pt x="329840" y="163575"/>
                </a:lnTo>
                <a:lnTo>
                  <a:pt x="331872" y="161544"/>
                </a:lnTo>
                <a:lnTo>
                  <a:pt x="332507" y="160655"/>
                </a:lnTo>
                <a:lnTo>
                  <a:pt x="332761" y="160147"/>
                </a:lnTo>
                <a:lnTo>
                  <a:pt x="333142" y="159638"/>
                </a:lnTo>
                <a:lnTo>
                  <a:pt x="333269" y="159004"/>
                </a:lnTo>
                <a:lnTo>
                  <a:pt x="333523" y="158369"/>
                </a:lnTo>
                <a:lnTo>
                  <a:pt x="333777" y="157607"/>
                </a:lnTo>
                <a:lnTo>
                  <a:pt x="333879" y="156845"/>
                </a:lnTo>
                <a:lnTo>
                  <a:pt x="293518" y="156845"/>
                </a:lnTo>
                <a:lnTo>
                  <a:pt x="289200" y="155956"/>
                </a:lnTo>
                <a:lnTo>
                  <a:pt x="267737" y="121832"/>
                </a:lnTo>
                <a:lnTo>
                  <a:pt x="267610" y="113665"/>
                </a:lnTo>
                <a:lnTo>
                  <a:pt x="268108" y="103544"/>
                </a:lnTo>
                <a:lnTo>
                  <a:pt x="288184" y="69596"/>
                </a:lnTo>
                <a:lnTo>
                  <a:pt x="333422" y="69596"/>
                </a:lnTo>
                <a:lnTo>
                  <a:pt x="333269" y="68453"/>
                </a:lnTo>
                <a:lnTo>
                  <a:pt x="332761" y="66929"/>
                </a:lnTo>
                <a:lnTo>
                  <a:pt x="332380" y="66167"/>
                </a:lnTo>
                <a:lnTo>
                  <a:pt x="331999" y="65659"/>
                </a:lnTo>
                <a:lnTo>
                  <a:pt x="331745" y="65024"/>
                </a:lnTo>
                <a:lnTo>
                  <a:pt x="329967" y="63246"/>
                </a:lnTo>
                <a:lnTo>
                  <a:pt x="329078" y="62230"/>
                </a:lnTo>
                <a:lnTo>
                  <a:pt x="327427" y="61087"/>
                </a:lnTo>
                <a:lnTo>
                  <a:pt x="323109" y="58293"/>
                </a:lnTo>
                <a:lnTo>
                  <a:pt x="320569" y="57023"/>
                </a:lnTo>
                <a:lnTo>
                  <a:pt x="317775" y="56007"/>
                </a:lnTo>
                <a:lnTo>
                  <a:pt x="314981" y="54863"/>
                </a:lnTo>
                <a:lnTo>
                  <a:pt x="311933" y="54102"/>
                </a:lnTo>
                <a:lnTo>
                  <a:pt x="308631" y="53340"/>
                </a:lnTo>
                <a:lnTo>
                  <a:pt x="305202" y="52705"/>
                </a:lnTo>
                <a:lnTo>
                  <a:pt x="301773" y="52450"/>
                </a:lnTo>
                <a:close/>
              </a:path>
              <a:path w="456565" h="174625">
                <a:moveTo>
                  <a:pt x="331364" y="142748"/>
                </a:moveTo>
                <a:lnTo>
                  <a:pt x="329713" y="142748"/>
                </a:lnTo>
                <a:lnTo>
                  <a:pt x="328443" y="143383"/>
                </a:lnTo>
                <a:lnTo>
                  <a:pt x="326665" y="144907"/>
                </a:lnTo>
                <a:lnTo>
                  <a:pt x="324887" y="146304"/>
                </a:lnTo>
                <a:lnTo>
                  <a:pt x="322728" y="147955"/>
                </a:lnTo>
                <a:lnTo>
                  <a:pt x="320061" y="149733"/>
                </a:lnTo>
                <a:lnTo>
                  <a:pt x="317521" y="151511"/>
                </a:lnTo>
                <a:lnTo>
                  <a:pt x="314473" y="153035"/>
                </a:lnTo>
                <a:lnTo>
                  <a:pt x="307361" y="156083"/>
                </a:lnTo>
                <a:lnTo>
                  <a:pt x="303170" y="156845"/>
                </a:lnTo>
                <a:lnTo>
                  <a:pt x="333879" y="156845"/>
                </a:lnTo>
                <a:lnTo>
                  <a:pt x="333997" y="155956"/>
                </a:lnTo>
                <a:lnTo>
                  <a:pt x="333890" y="147700"/>
                </a:lnTo>
                <a:lnTo>
                  <a:pt x="333777" y="146685"/>
                </a:lnTo>
                <a:lnTo>
                  <a:pt x="333523" y="145669"/>
                </a:lnTo>
                <a:lnTo>
                  <a:pt x="333015" y="144145"/>
                </a:lnTo>
                <a:lnTo>
                  <a:pt x="332634" y="143510"/>
                </a:lnTo>
                <a:lnTo>
                  <a:pt x="332253" y="143256"/>
                </a:lnTo>
                <a:lnTo>
                  <a:pt x="331872" y="142875"/>
                </a:lnTo>
                <a:lnTo>
                  <a:pt x="331364" y="142748"/>
                </a:lnTo>
                <a:close/>
              </a:path>
              <a:path w="456565" h="174625">
                <a:moveTo>
                  <a:pt x="333422" y="69596"/>
                </a:moveTo>
                <a:lnTo>
                  <a:pt x="302789" y="69596"/>
                </a:lnTo>
                <a:lnTo>
                  <a:pt x="306980" y="70231"/>
                </a:lnTo>
                <a:lnTo>
                  <a:pt x="310409" y="71628"/>
                </a:lnTo>
                <a:lnTo>
                  <a:pt x="327173" y="82042"/>
                </a:lnTo>
                <a:lnTo>
                  <a:pt x="328570" y="82677"/>
                </a:lnTo>
                <a:lnTo>
                  <a:pt x="330856" y="82677"/>
                </a:lnTo>
                <a:lnTo>
                  <a:pt x="331745" y="82042"/>
                </a:lnTo>
                <a:lnTo>
                  <a:pt x="333269" y="79502"/>
                </a:lnTo>
                <a:lnTo>
                  <a:pt x="333566" y="77724"/>
                </a:lnTo>
                <a:lnTo>
                  <a:pt x="333506" y="70231"/>
                </a:lnTo>
                <a:lnTo>
                  <a:pt x="333422" y="69596"/>
                </a:lnTo>
                <a:close/>
              </a:path>
              <a:path w="456565" h="174625">
                <a:moveTo>
                  <a:pt x="373020" y="0"/>
                </a:moveTo>
                <a:lnTo>
                  <a:pt x="368956" y="0"/>
                </a:lnTo>
                <a:lnTo>
                  <a:pt x="367305" y="127"/>
                </a:lnTo>
                <a:lnTo>
                  <a:pt x="361336" y="2286"/>
                </a:lnTo>
                <a:lnTo>
                  <a:pt x="360955" y="2794"/>
                </a:lnTo>
                <a:lnTo>
                  <a:pt x="360955" y="170180"/>
                </a:lnTo>
                <a:lnTo>
                  <a:pt x="361336" y="170687"/>
                </a:lnTo>
                <a:lnTo>
                  <a:pt x="361590" y="171196"/>
                </a:lnTo>
                <a:lnTo>
                  <a:pt x="362098" y="171577"/>
                </a:lnTo>
                <a:lnTo>
                  <a:pt x="362860" y="171831"/>
                </a:lnTo>
                <a:lnTo>
                  <a:pt x="363622" y="172212"/>
                </a:lnTo>
                <a:lnTo>
                  <a:pt x="364765" y="172466"/>
                </a:lnTo>
                <a:lnTo>
                  <a:pt x="367305" y="172720"/>
                </a:lnTo>
                <a:lnTo>
                  <a:pt x="368956" y="172847"/>
                </a:lnTo>
                <a:lnTo>
                  <a:pt x="373020" y="172847"/>
                </a:lnTo>
                <a:lnTo>
                  <a:pt x="374671" y="172720"/>
                </a:lnTo>
                <a:lnTo>
                  <a:pt x="377338" y="172466"/>
                </a:lnTo>
                <a:lnTo>
                  <a:pt x="378354" y="172212"/>
                </a:lnTo>
                <a:lnTo>
                  <a:pt x="379116" y="171831"/>
                </a:lnTo>
                <a:lnTo>
                  <a:pt x="379878" y="171577"/>
                </a:lnTo>
                <a:lnTo>
                  <a:pt x="380386" y="171196"/>
                </a:lnTo>
                <a:lnTo>
                  <a:pt x="380767" y="170687"/>
                </a:lnTo>
                <a:lnTo>
                  <a:pt x="381275" y="169672"/>
                </a:lnTo>
                <a:lnTo>
                  <a:pt x="381275" y="91312"/>
                </a:lnTo>
                <a:lnTo>
                  <a:pt x="386863" y="84328"/>
                </a:lnTo>
                <a:lnTo>
                  <a:pt x="392197" y="78994"/>
                </a:lnTo>
                <a:lnTo>
                  <a:pt x="397277" y="75437"/>
                </a:lnTo>
                <a:lnTo>
                  <a:pt x="402357" y="71755"/>
                </a:lnTo>
                <a:lnTo>
                  <a:pt x="405705" y="70612"/>
                </a:lnTo>
                <a:lnTo>
                  <a:pt x="381275" y="70612"/>
                </a:lnTo>
                <a:lnTo>
                  <a:pt x="381275" y="3302"/>
                </a:lnTo>
                <a:lnTo>
                  <a:pt x="376068" y="254"/>
                </a:lnTo>
                <a:lnTo>
                  <a:pt x="373020" y="0"/>
                </a:lnTo>
                <a:close/>
              </a:path>
              <a:path w="456565" h="174625">
                <a:moveTo>
                  <a:pt x="450710" y="69977"/>
                </a:moveTo>
                <a:lnTo>
                  <a:pt x="416581" y="69977"/>
                </a:lnTo>
                <a:lnTo>
                  <a:pt x="420010" y="70738"/>
                </a:lnTo>
                <a:lnTo>
                  <a:pt x="423058" y="72136"/>
                </a:lnTo>
                <a:lnTo>
                  <a:pt x="434742" y="88646"/>
                </a:lnTo>
                <a:lnTo>
                  <a:pt x="435758" y="92456"/>
                </a:lnTo>
                <a:lnTo>
                  <a:pt x="436139" y="97536"/>
                </a:lnTo>
                <a:lnTo>
                  <a:pt x="436139" y="169672"/>
                </a:lnTo>
                <a:lnTo>
                  <a:pt x="436647" y="170687"/>
                </a:lnTo>
                <a:lnTo>
                  <a:pt x="437028" y="171196"/>
                </a:lnTo>
                <a:lnTo>
                  <a:pt x="437536" y="171577"/>
                </a:lnTo>
                <a:lnTo>
                  <a:pt x="438298" y="171831"/>
                </a:lnTo>
                <a:lnTo>
                  <a:pt x="439060" y="172212"/>
                </a:lnTo>
                <a:lnTo>
                  <a:pt x="440076" y="172466"/>
                </a:lnTo>
                <a:lnTo>
                  <a:pt x="441346" y="172593"/>
                </a:lnTo>
                <a:lnTo>
                  <a:pt x="444394" y="172847"/>
                </a:lnTo>
                <a:lnTo>
                  <a:pt x="448458" y="172847"/>
                </a:lnTo>
                <a:lnTo>
                  <a:pt x="450109" y="172720"/>
                </a:lnTo>
                <a:lnTo>
                  <a:pt x="452776" y="172466"/>
                </a:lnTo>
                <a:lnTo>
                  <a:pt x="453792" y="172212"/>
                </a:lnTo>
                <a:lnTo>
                  <a:pt x="454427" y="171831"/>
                </a:lnTo>
                <a:lnTo>
                  <a:pt x="455189" y="171577"/>
                </a:lnTo>
                <a:lnTo>
                  <a:pt x="455697" y="171196"/>
                </a:lnTo>
                <a:lnTo>
                  <a:pt x="456459" y="170180"/>
                </a:lnTo>
                <a:lnTo>
                  <a:pt x="456398" y="91312"/>
                </a:lnTo>
                <a:lnTo>
                  <a:pt x="455951" y="86487"/>
                </a:lnTo>
                <a:lnTo>
                  <a:pt x="454554" y="80899"/>
                </a:lnTo>
                <a:lnTo>
                  <a:pt x="453157" y="75184"/>
                </a:lnTo>
                <a:lnTo>
                  <a:pt x="450998" y="70358"/>
                </a:lnTo>
                <a:lnTo>
                  <a:pt x="450710" y="69977"/>
                </a:lnTo>
                <a:close/>
              </a:path>
              <a:path w="456565" h="174625">
                <a:moveTo>
                  <a:pt x="424201" y="52324"/>
                </a:moveTo>
                <a:lnTo>
                  <a:pt x="410739" y="52324"/>
                </a:lnTo>
                <a:lnTo>
                  <a:pt x="404770" y="53848"/>
                </a:lnTo>
                <a:lnTo>
                  <a:pt x="398928" y="56769"/>
                </a:lnTo>
                <a:lnTo>
                  <a:pt x="392959" y="59817"/>
                </a:lnTo>
                <a:lnTo>
                  <a:pt x="387117" y="64388"/>
                </a:lnTo>
                <a:lnTo>
                  <a:pt x="381275" y="70612"/>
                </a:lnTo>
                <a:lnTo>
                  <a:pt x="405705" y="70612"/>
                </a:lnTo>
                <a:lnTo>
                  <a:pt x="407564" y="69977"/>
                </a:lnTo>
                <a:lnTo>
                  <a:pt x="450710" y="69977"/>
                </a:lnTo>
                <a:lnTo>
                  <a:pt x="444648" y="61975"/>
                </a:lnTo>
                <a:lnTo>
                  <a:pt x="440584" y="58547"/>
                </a:lnTo>
                <a:lnTo>
                  <a:pt x="435504" y="56007"/>
                </a:lnTo>
                <a:lnTo>
                  <a:pt x="430424" y="53594"/>
                </a:lnTo>
                <a:lnTo>
                  <a:pt x="424201" y="52324"/>
                </a:lnTo>
                <a:close/>
              </a:path>
            </a:pathLst>
          </a:custGeom>
          <a:solidFill>
            <a:srgbClr val="000000">
              <a:alpha val="79998"/>
            </a:srgbClr>
          </a:solidFill>
        </p:spPr>
        <p:txBody>
          <a:bodyPr wrap="square" lIns="0" tIns="0" rIns="0" bIns="0" rtlCol="0"/>
          <a:lstStyle/>
          <a:p>
            <a:endParaRPr/>
          </a:p>
        </p:txBody>
      </p:sp>
      <p:pic>
        <p:nvPicPr>
          <p:cNvPr id="17" name="object 17"/>
          <p:cNvPicPr/>
          <p:nvPr/>
        </p:nvPicPr>
        <p:blipFill>
          <a:blip r:embed="rId11" cstate="print"/>
          <a:stretch>
            <a:fillRect/>
          </a:stretch>
        </p:blipFill>
        <p:spPr>
          <a:xfrm>
            <a:off x="7910321" y="2526792"/>
            <a:ext cx="350805" cy="174498"/>
          </a:xfrm>
          <a:prstGeom prst="rect">
            <a:avLst/>
          </a:prstGeom>
        </p:spPr>
      </p:pic>
      <p:sp>
        <p:nvSpPr>
          <p:cNvPr id="18" name="object 18"/>
          <p:cNvSpPr/>
          <p:nvPr/>
        </p:nvSpPr>
        <p:spPr>
          <a:xfrm>
            <a:off x="8347139" y="2579117"/>
            <a:ext cx="234791" cy="122555"/>
          </a:xfrm>
          <a:custGeom>
            <a:avLst/>
            <a:gdLst/>
            <a:ahLst/>
            <a:cxnLst/>
            <a:rect l="l" t="t" r="r" b="b"/>
            <a:pathLst>
              <a:path w="313054" h="122555">
                <a:moveTo>
                  <a:pt x="86214" y="16510"/>
                </a:moveTo>
                <a:lnTo>
                  <a:pt x="50291" y="16510"/>
                </a:lnTo>
                <a:lnTo>
                  <a:pt x="54228" y="17018"/>
                </a:lnTo>
                <a:lnTo>
                  <a:pt x="60578" y="19304"/>
                </a:lnTo>
                <a:lnTo>
                  <a:pt x="63246" y="20955"/>
                </a:lnTo>
                <a:lnTo>
                  <a:pt x="67309" y="25273"/>
                </a:lnTo>
                <a:lnTo>
                  <a:pt x="68706" y="28067"/>
                </a:lnTo>
                <a:lnTo>
                  <a:pt x="69596" y="31369"/>
                </a:lnTo>
                <a:lnTo>
                  <a:pt x="70611" y="34671"/>
                </a:lnTo>
                <a:lnTo>
                  <a:pt x="70992" y="38354"/>
                </a:lnTo>
                <a:lnTo>
                  <a:pt x="70992" y="51308"/>
                </a:lnTo>
                <a:lnTo>
                  <a:pt x="46989" y="51308"/>
                </a:lnTo>
                <a:lnTo>
                  <a:pt x="39242" y="52070"/>
                </a:lnTo>
                <a:lnTo>
                  <a:pt x="25400" y="55118"/>
                </a:lnTo>
                <a:lnTo>
                  <a:pt x="19557" y="57404"/>
                </a:lnTo>
                <a:lnTo>
                  <a:pt x="14858" y="60451"/>
                </a:lnTo>
                <a:lnTo>
                  <a:pt x="10032" y="63500"/>
                </a:lnTo>
                <a:lnTo>
                  <a:pt x="6350" y="67310"/>
                </a:lnTo>
                <a:lnTo>
                  <a:pt x="3809" y="72009"/>
                </a:lnTo>
                <a:lnTo>
                  <a:pt x="1270" y="76581"/>
                </a:lnTo>
                <a:lnTo>
                  <a:pt x="0" y="82042"/>
                </a:lnTo>
                <a:lnTo>
                  <a:pt x="0" y="93599"/>
                </a:lnTo>
                <a:lnTo>
                  <a:pt x="888" y="98425"/>
                </a:lnTo>
                <a:lnTo>
                  <a:pt x="2793" y="102616"/>
                </a:lnTo>
                <a:lnTo>
                  <a:pt x="4572" y="106807"/>
                </a:lnTo>
                <a:lnTo>
                  <a:pt x="32638" y="122174"/>
                </a:lnTo>
                <a:lnTo>
                  <a:pt x="45211" y="122174"/>
                </a:lnTo>
                <a:lnTo>
                  <a:pt x="73303" y="106172"/>
                </a:lnTo>
                <a:lnTo>
                  <a:pt x="35178" y="106172"/>
                </a:lnTo>
                <a:lnTo>
                  <a:pt x="29972" y="104521"/>
                </a:lnTo>
                <a:lnTo>
                  <a:pt x="26415" y="101092"/>
                </a:lnTo>
                <a:lnTo>
                  <a:pt x="22732" y="97662"/>
                </a:lnTo>
                <a:lnTo>
                  <a:pt x="20827" y="93091"/>
                </a:lnTo>
                <a:lnTo>
                  <a:pt x="20827" y="83947"/>
                </a:lnTo>
                <a:lnTo>
                  <a:pt x="21462" y="80899"/>
                </a:lnTo>
                <a:lnTo>
                  <a:pt x="22732" y="78359"/>
                </a:lnTo>
                <a:lnTo>
                  <a:pt x="24002" y="75692"/>
                </a:lnTo>
                <a:lnTo>
                  <a:pt x="48005" y="66039"/>
                </a:lnTo>
                <a:lnTo>
                  <a:pt x="91312" y="66039"/>
                </a:lnTo>
                <a:lnTo>
                  <a:pt x="91275" y="34671"/>
                </a:lnTo>
                <a:lnTo>
                  <a:pt x="90424" y="28829"/>
                </a:lnTo>
                <a:lnTo>
                  <a:pt x="87375" y="18542"/>
                </a:lnTo>
                <a:lnTo>
                  <a:pt x="86214" y="16510"/>
                </a:lnTo>
                <a:close/>
              </a:path>
              <a:path w="313054" h="122555">
                <a:moveTo>
                  <a:pt x="91312" y="105663"/>
                </a:moveTo>
                <a:lnTo>
                  <a:pt x="73786" y="105663"/>
                </a:lnTo>
                <a:lnTo>
                  <a:pt x="73786" y="117856"/>
                </a:lnTo>
                <a:lnTo>
                  <a:pt x="80390" y="120523"/>
                </a:lnTo>
                <a:lnTo>
                  <a:pt x="84708" y="120523"/>
                </a:lnTo>
                <a:lnTo>
                  <a:pt x="86359" y="120396"/>
                </a:lnTo>
                <a:lnTo>
                  <a:pt x="87502" y="120142"/>
                </a:lnTo>
                <a:lnTo>
                  <a:pt x="88773" y="119887"/>
                </a:lnTo>
                <a:lnTo>
                  <a:pt x="89661" y="119507"/>
                </a:lnTo>
                <a:lnTo>
                  <a:pt x="90931" y="118491"/>
                </a:lnTo>
                <a:lnTo>
                  <a:pt x="91312" y="117856"/>
                </a:lnTo>
                <a:lnTo>
                  <a:pt x="91312" y="105663"/>
                </a:lnTo>
                <a:close/>
              </a:path>
              <a:path w="313054" h="122555">
                <a:moveTo>
                  <a:pt x="91312" y="66039"/>
                </a:moveTo>
                <a:lnTo>
                  <a:pt x="70992" y="66039"/>
                </a:lnTo>
                <a:lnTo>
                  <a:pt x="70992" y="89662"/>
                </a:lnTo>
                <a:lnTo>
                  <a:pt x="66039" y="95250"/>
                </a:lnTo>
                <a:lnTo>
                  <a:pt x="61213" y="99441"/>
                </a:lnTo>
                <a:lnTo>
                  <a:pt x="52070" y="104775"/>
                </a:lnTo>
                <a:lnTo>
                  <a:pt x="47116" y="106172"/>
                </a:lnTo>
                <a:lnTo>
                  <a:pt x="73303" y="106172"/>
                </a:lnTo>
                <a:lnTo>
                  <a:pt x="73786" y="105663"/>
                </a:lnTo>
                <a:lnTo>
                  <a:pt x="91312" y="105663"/>
                </a:lnTo>
                <a:lnTo>
                  <a:pt x="91312" y="66039"/>
                </a:lnTo>
                <a:close/>
              </a:path>
              <a:path w="313054" h="122555">
                <a:moveTo>
                  <a:pt x="55372" y="0"/>
                </a:moveTo>
                <a:lnTo>
                  <a:pt x="43179" y="0"/>
                </a:lnTo>
                <a:lnTo>
                  <a:pt x="38861" y="381"/>
                </a:lnTo>
                <a:lnTo>
                  <a:pt x="8000" y="11811"/>
                </a:lnTo>
                <a:lnTo>
                  <a:pt x="6857" y="12826"/>
                </a:lnTo>
                <a:lnTo>
                  <a:pt x="6096" y="13970"/>
                </a:lnTo>
                <a:lnTo>
                  <a:pt x="5841" y="15239"/>
                </a:lnTo>
                <a:lnTo>
                  <a:pt x="5587" y="16383"/>
                </a:lnTo>
                <a:lnTo>
                  <a:pt x="5460" y="22479"/>
                </a:lnTo>
                <a:lnTo>
                  <a:pt x="5714" y="23495"/>
                </a:lnTo>
                <a:lnTo>
                  <a:pt x="5841" y="24511"/>
                </a:lnTo>
                <a:lnTo>
                  <a:pt x="8889" y="27939"/>
                </a:lnTo>
                <a:lnTo>
                  <a:pt x="10540" y="27939"/>
                </a:lnTo>
                <a:lnTo>
                  <a:pt x="11937" y="27432"/>
                </a:lnTo>
                <a:lnTo>
                  <a:pt x="13970" y="26162"/>
                </a:lnTo>
                <a:lnTo>
                  <a:pt x="16001" y="25019"/>
                </a:lnTo>
                <a:lnTo>
                  <a:pt x="40512" y="16510"/>
                </a:lnTo>
                <a:lnTo>
                  <a:pt x="86214" y="16510"/>
                </a:lnTo>
                <a:lnTo>
                  <a:pt x="84835" y="14097"/>
                </a:lnTo>
                <a:lnTo>
                  <a:pt x="81406" y="10668"/>
                </a:lnTo>
                <a:lnTo>
                  <a:pt x="77977" y="7112"/>
                </a:lnTo>
                <a:lnTo>
                  <a:pt x="73405" y="4445"/>
                </a:lnTo>
                <a:lnTo>
                  <a:pt x="62229" y="888"/>
                </a:lnTo>
                <a:lnTo>
                  <a:pt x="55372" y="0"/>
                </a:lnTo>
                <a:close/>
              </a:path>
              <a:path w="313054" h="122555">
                <a:moveTo>
                  <a:pt x="140461" y="1650"/>
                </a:moveTo>
                <a:lnTo>
                  <a:pt x="136778" y="1650"/>
                </a:lnTo>
                <a:lnTo>
                  <a:pt x="135254" y="1778"/>
                </a:lnTo>
                <a:lnTo>
                  <a:pt x="132968" y="2032"/>
                </a:lnTo>
                <a:lnTo>
                  <a:pt x="132079" y="2286"/>
                </a:lnTo>
                <a:lnTo>
                  <a:pt x="131317" y="2667"/>
                </a:lnTo>
                <a:lnTo>
                  <a:pt x="130555" y="2921"/>
                </a:lnTo>
                <a:lnTo>
                  <a:pt x="130048" y="3429"/>
                </a:lnTo>
                <a:lnTo>
                  <a:pt x="129793" y="3810"/>
                </a:lnTo>
                <a:lnTo>
                  <a:pt x="129603" y="4191"/>
                </a:lnTo>
                <a:lnTo>
                  <a:pt x="129539" y="117856"/>
                </a:lnTo>
                <a:lnTo>
                  <a:pt x="129921" y="118363"/>
                </a:lnTo>
                <a:lnTo>
                  <a:pt x="130175" y="118872"/>
                </a:lnTo>
                <a:lnTo>
                  <a:pt x="130682" y="119253"/>
                </a:lnTo>
                <a:lnTo>
                  <a:pt x="131445" y="119507"/>
                </a:lnTo>
                <a:lnTo>
                  <a:pt x="132206" y="119887"/>
                </a:lnTo>
                <a:lnTo>
                  <a:pt x="133350" y="120142"/>
                </a:lnTo>
                <a:lnTo>
                  <a:pt x="135889" y="120396"/>
                </a:lnTo>
                <a:lnTo>
                  <a:pt x="137540" y="120523"/>
                </a:lnTo>
                <a:lnTo>
                  <a:pt x="141604" y="120523"/>
                </a:lnTo>
                <a:lnTo>
                  <a:pt x="143255" y="120396"/>
                </a:lnTo>
                <a:lnTo>
                  <a:pt x="145923" y="120142"/>
                </a:lnTo>
                <a:lnTo>
                  <a:pt x="146938" y="119887"/>
                </a:lnTo>
                <a:lnTo>
                  <a:pt x="147700" y="119507"/>
                </a:lnTo>
                <a:lnTo>
                  <a:pt x="148462" y="119253"/>
                </a:lnTo>
                <a:lnTo>
                  <a:pt x="148971" y="118872"/>
                </a:lnTo>
                <a:lnTo>
                  <a:pt x="149351" y="118363"/>
                </a:lnTo>
                <a:lnTo>
                  <a:pt x="149859" y="117348"/>
                </a:lnTo>
                <a:lnTo>
                  <a:pt x="149859" y="43561"/>
                </a:lnTo>
                <a:lnTo>
                  <a:pt x="152653" y="38988"/>
                </a:lnTo>
                <a:lnTo>
                  <a:pt x="155321" y="35179"/>
                </a:lnTo>
                <a:lnTo>
                  <a:pt x="157733" y="32131"/>
                </a:lnTo>
                <a:lnTo>
                  <a:pt x="160147" y="28956"/>
                </a:lnTo>
                <a:lnTo>
                  <a:pt x="162432" y="26416"/>
                </a:lnTo>
                <a:lnTo>
                  <a:pt x="166750" y="22606"/>
                </a:lnTo>
                <a:lnTo>
                  <a:pt x="168173" y="21717"/>
                </a:lnTo>
                <a:lnTo>
                  <a:pt x="147827" y="21717"/>
                </a:lnTo>
                <a:lnTo>
                  <a:pt x="147700" y="4318"/>
                </a:lnTo>
                <a:lnTo>
                  <a:pt x="147447" y="3810"/>
                </a:lnTo>
                <a:lnTo>
                  <a:pt x="147065" y="3429"/>
                </a:lnTo>
                <a:lnTo>
                  <a:pt x="146684" y="2921"/>
                </a:lnTo>
                <a:lnTo>
                  <a:pt x="146050" y="2667"/>
                </a:lnTo>
                <a:lnTo>
                  <a:pt x="145287" y="2286"/>
                </a:lnTo>
                <a:lnTo>
                  <a:pt x="144399" y="2032"/>
                </a:lnTo>
                <a:lnTo>
                  <a:pt x="143255" y="1905"/>
                </a:lnTo>
                <a:lnTo>
                  <a:pt x="140461" y="1650"/>
                </a:lnTo>
                <a:close/>
              </a:path>
              <a:path w="313054" h="122555">
                <a:moveTo>
                  <a:pt x="194110" y="19176"/>
                </a:moveTo>
                <a:lnTo>
                  <a:pt x="178561" y="19176"/>
                </a:lnTo>
                <a:lnTo>
                  <a:pt x="181736" y="19685"/>
                </a:lnTo>
                <a:lnTo>
                  <a:pt x="184530" y="20447"/>
                </a:lnTo>
                <a:lnTo>
                  <a:pt x="185674" y="20828"/>
                </a:lnTo>
                <a:lnTo>
                  <a:pt x="186943" y="21082"/>
                </a:lnTo>
                <a:lnTo>
                  <a:pt x="188975" y="21844"/>
                </a:lnTo>
                <a:lnTo>
                  <a:pt x="189864" y="22225"/>
                </a:lnTo>
                <a:lnTo>
                  <a:pt x="190626" y="22479"/>
                </a:lnTo>
                <a:lnTo>
                  <a:pt x="192024" y="22479"/>
                </a:lnTo>
                <a:lnTo>
                  <a:pt x="194013" y="19685"/>
                </a:lnTo>
                <a:lnTo>
                  <a:pt x="194110" y="19176"/>
                </a:lnTo>
                <a:close/>
              </a:path>
              <a:path w="313054" h="122555">
                <a:moveTo>
                  <a:pt x="180466" y="0"/>
                </a:moveTo>
                <a:lnTo>
                  <a:pt x="175895" y="0"/>
                </a:lnTo>
                <a:lnTo>
                  <a:pt x="173481" y="254"/>
                </a:lnTo>
                <a:lnTo>
                  <a:pt x="147827" y="21717"/>
                </a:lnTo>
                <a:lnTo>
                  <a:pt x="168173" y="21717"/>
                </a:lnTo>
                <a:lnTo>
                  <a:pt x="168782" y="21336"/>
                </a:lnTo>
                <a:lnTo>
                  <a:pt x="170814" y="20447"/>
                </a:lnTo>
                <a:lnTo>
                  <a:pt x="172847" y="19685"/>
                </a:lnTo>
                <a:lnTo>
                  <a:pt x="174751" y="19176"/>
                </a:lnTo>
                <a:lnTo>
                  <a:pt x="194110" y="19176"/>
                </a:lnTo>
                <a:lnTo>
                  <a:pt x="194182" y="18669"/>
                </a:lnTo>
                <a:lnTo>
                  <a:pt x="194309" y="16129"/>
                </a:lnTo>
                <a:lnTo>
                  <a:pt x="194182" y="6350"/>
                </a:lnTo>
                <a:lnTo>
                  <a:pt x="194055" y="5714"/>
                </a:lnTo>
                <a:lnTo>
                  <a:pt x="190118" y="1905"/>
                </a:lnTo>
                <a:lnTo>
                  <a:pt x="188975" y="1524"/>
                </a:lnTo>
                <a:lnTo>
                  <a:pt x="186181" y="762"/>
                </a:lnTo>
                <a:lnTo>
                  <a:pt x="183260" y="254"/>
                </a:lnTo>
                <a:lnTo>
                  <a:pt x="180466" y="0"/>
                </a:lnTo>
                <a:close/>
              </a:path>
              <a:path w="313054" h="122555">
                <a:moveTo>
                  <a:pt x="272541" y="0"/>
                </a:moveTo>
                <a:lnTo>
                  <a:pt x="255650" y="0"/>
                </a:lnTo>
                <a:lnTo>
                  <a:pt x="248284" y="1397"/>
                </a:lnTo>
                <a:lnTo>
                  <a:pt x="241680" y="4191"/>
                </a:lnTo>
                <a:lnTo>
                  <a:pt x="235076" y="7112"/>
                </a:lnTo>
                <a:lnTo>
                  <a:pt x="229488" y="11175"/>
                </a:lnTo>
                <a:lnTo>
                  <a:pt x="224789" y="16510"/>
                </a:lnTo>
                <a:lnTo>
                  <a:pt x="220090" y="21717"/>
                </a:lnTo>
                <a:lnTo>
                  <a:pt x="210544" y="65150"/>
                </a:lnTo>
                <a:lnTo>
                  <a:pt x="210655" y="68901"/>
                </a:lnTo>
                <a:lnTo>
                  <a:pt x="229361" y="112013"/>
                </a:lnTo>
                <a:lnTo>
                  <a:pt x="241934" y="118237"/>
                </a:lnTo>
                <a:lnTo>
                  <a:pt x="248792" y="120904"/>
                </a:lnTo>
                <a:lnTo>
                  <a:pt x="256921" y="122174"/>
                </a:lnTo>
                <a:lnTo>
                  <a:pt x="271272" y="122174"/>
                </a:lnTo>
                <a:lnTo>
                  <a:pt x="276225" y="121793"/>
                </a:lnTo>
                <a:lnTo>
                  <a:pt x="280924" y="120904"/>
                </a:lnTo>
                <a:lnTo>
                  <a:pt x="285496" y="120142"/>
                </a:lnTo>
                <a:lnTo>
                  <a:pt x="289686" y="119253"/>
                </a:lnTo>
                <a:lnTo>
                  <a:pt x="293115" y="118237"/>
                </a:lnTo>
                <a:lnTo>
                  <a:pt x="296672" y="117348"/>
                </a:lnTo>
                <a:lnTo>
                  <a:pt x="305815" y="113030"/>
                </a:lnTo>
                <a:lnTo>
                  <a:pt x="306324" y="112649"/>
                </a:lnTo>
                <a:lnTo>
                  <a:pt x="306704" y="112141"/>
                </a:lnTo>
                <a:lnTo>
                  <a:pt x="307466" y="110617"/>
                </a:lnTo>
                <a:lnTo>
                  <a:pt x="307848" y="108585"/>
                </a:lnTo>
                <a:lnTo>
                  <a:pt x="307975" y="105537"/>
                </a:lnTo>
                <a:lnTo>
                  <a:pt x="261238" y="105537"/>
                </a:lnTo>
                <a:lnTo>
                  <a:pt x="255524" y="104648"/>
                </a:lnTo>
                <a:lnTo>
                  <a:pt x="250951" y="102743"/>
                </a:lnTo>
                <a:lnTo>
                  <a:pt x="246252" y="100837"/>
                </a:lnTo>
                <a:lnTo>
                  <a:pt x="242442" y="98171"/>
                </a:lnTo>
                <a:lnTo>
                  <a:pt x="239649" y="94614"/>
                </a:lnTo>
                <a:lnTo>
                  <a:pt x="236727" y="91059"/>
                </a:lnTo>
                <a:lnTo>
                  <a:pt x="234696" y="86741"/>
                </a:lnTo>
                <a:lnTo>
                  <a:pt x="233425" y="81914"/>
                </a:lnTo>
                <a:lnTo>
                  <a:pt x="232155" y="76962"/>
                </a:lnTo>
                <a:lnTo>
                  <a:pt x="231521" y="71374"/>
                </a:lnTo>
                <a:lnTo>
                  <a:pt x="231521" y="65150"/>
                </a:lnTo>
                <a:lnTo>
                  <a:pt x="306831" y="65150"/>
                </a:lnTo>
                <a:lnTo>
                  <a:pt x="308609" y="64516"/>
                </a:lnTo>
                <a:lnTo>
                  <a:pt x="311911" y="61722"/>
                </a:lnTo>
                <a:lnTo>
                  <a:pt x="312674" y="59436"/>
                </a:lnTo>
                <a:lnTo>
                  <a:pt x="312674" y="50292"/>
                </a:lnTo>
                <a:lnTo>
                  <a:pt x="231521" y="50292"/>
                </a:lnTo>
                <a:lnTo>
                  <a:pt x="231648" y="45720"/>
                </a:lnTo>
                <a:lnTo>
                  <a:pt x="232536" y="41401"/>
                </a:lnTo>
                <a:lnTo>
                  <a:pt x="235330" y="33020"/>
                </a:lnTo>
                <a:lnTo>
                  <a:pt x="237235" y="29337"/>
                </a:lnTo>
                <a:lnTo>
                  <a:pt x="239902" y="26288"/>
                </a:lnTo>
                <a:lnTo>
                  <a:pt x="242442" y="23113"/>
                </a:lnTo>
                <a:lnTo>
                  <a:pt x="245617" y="20574"/>
                </a:lnTo>
                <a:lnTo>
                  <a:pt x="249427" y="18796"/>
                </a:lnTo>
                <a:lnTo>
                  <a:pt x="253237" y="16891"/>
                </a:lnTo>
                <a:lnTo>
                  <a:pt x="257682" y="15875"/>
                </a:lnTo>
                <a:lnTo>
                  <a:pt x="301563" y="15875"/>
                </a:lnTo>
                <a:lnTo>
                  <a:pt x="297306" y="10668"/>
                </a:lnTo>
                <a:lnTo>
                  <a:pt x="292226" y="6985"/>
                </a:lnTo>
                <a:lnTo>
                  <a:pt x="279907" y="1397"/>
                </a:lnTo>
                <a:lnTo>
                  <a:pt x="272541" y="0"/>
                </a:lnTo>
                <a:close/>
              </a:path>
              <a:path w="313054" h="122555">
                <a:moveTo>
                  <a:pt x="305180" y="97155"/>
                </a:moveTo>
                <a:lnTo>
                  <a:pt x="303656" y="97155"/>
                </a:lnTo>
                <a:lnTo>
                  <a:pt x="302132" y="97662"/>
                </a:lnTo>
                <a:lnTo>
                  <a:pt x="300227" y="98425"/>
                </a:lnTo>
                <a:lnTo>
                  <a:pt x="298323" y="99313"/>
                </a:lnTo>
                <a:lnTo>
                  <a:pt x="295782" y="100330"/>
                </a:lnTo>
                <a:lnTo>
                  <a:pt x="292734" y="101346"/>
                </a:lnTo>
                <a:lnTo>
                  <a:pt x="289813" y="102488"/>
                </a:lnTo>
                <a:lnTo>
                  <a:pt x="286257" y="103378"/>
                </a:lnTo>
                <a:lnTo>
                  <a:pt x="277875" y="105156"/>
                </a:lnTo>
                <a:lnTo>
                  <a:pt x="273176" y="105537"/>
                </a:lnTo>
                <a:lnTo>
                  <a:pt x="307975" y="105537"/>
                </a:lnTo>
                <a:lnTo>
                  <a:pt x="307848" y="101346"/>
                </a:lnTo>
                <a:lnTo>
                  <a:pt x="307721" y="100330"/>
                </a:lnTo>
                <a:lnTo>
                  <a:pt x="307466" y="99441"/>
                </a:lnTo>
                <a:lnTo>
                  <a:pt x="307212" y="98933"/>
                </a:lnTo>
                <a:lnTo>
                  <a:pt x="306958" y="98298"/>
                </a:lnTo>
                <a:lnTo>
                  <a:pt x="306704" y="97917"/>
                </a:lnTo>
                <a:lnTo>
                  <a:pt x="306197" y="97662"/>
                </a:lnTo>
                <a:lnTo>
                  <a:pt x="305688" y="97282"/>
                </a:lnTo>
                <a:lnTo>
                  <a:pt x="305180" y="97155"/>
                </a:lnTo>
                <a:close/>
              </a:path>
              <a:path w="313054" h="122555">
                <a:moveTo>
                  <a:pt x="301563" y="15875"/>
                </a:moveTo>
                <a:lnTo>
                  <a:pt x="272541" y="15875"/>
                </a:lnTo>
                <a:lnTo>
                  <a:pt x="280034" y="18923"/>
                </a:lnTo>
                <a:lnTo>
                  <a:pt x="284987" y="25019"/>
                </a:lnTo>
                <a:lnTo>
                  <a:pt x="288297" y="30021"/>
                </a:lnTo>
                <a:lnTo>
                  <a:pt x="290607" y="35893"/>
                </a:lnTo>
                <a:lnTo>
                  <a:pt x="291917" y="42646"/>
                </a:lnTo>
                <a:lnTo>
                  <a:pt x="292226" y="50292"/>
                </a:lnTo>
                <a:lnTo>
                  <a:pt x="312674" y="50292"/>
                </a:lnTo>
                <a:lnTo>
                  <a:pt x="312674" y="45338"/>
                </a:lnTo>
                <a:lnTo>
                  <a:pt x="311784" y="38481"/>
                </a:lnTo>
                <a:lnTo>
                  <a:pt x="309879" y="32131"/>
                </a:lnTo>
                <a:lnTo>
                  <a:pt x="308101" y="25781"/>
                </a:lnTo>
                <a:lnTo>
                  <a:pt x="305180" y="20193"/>
                </a:lnTo>
                <a:lnTo>
                  <a:pt x="301563" y="15875"/>
                </a:lnTo>
                <a:close/>
              </a:path>
            </a:pathLst>
          </a:custGeom>
          <a:solidFill>
            <a:srgbClr val="000000">
              <a:alpha val="79998"/>
            </a:srgbClr>
          </a:solidFill>
        </p:spPr>
        <p:txBody>
          <a:bodyPr wrap="square" lIns="0" tIns="0" rIns="0" bIns="0" rtlCol="0"/>
          <a:lstStyle/>
          <a:p>
            <a:endParaRPr/>
          </a:p>
        </p:txBody>
      </p:sp>
      <p:pic>
        <p:nvPicPr>
          <p:cNvPr id="19" name="object 19"/>
          <p:cNvPicPr/>
          <p:nvPr/>
        </p:nvPicPr>
        <p:blipFill>
          <a:blip r:embed="rId12" cstate="print"/>
          <a:stretch>
            <a:fillRect/>
          </a:stretch>
        </p:blipFill>
        <p:spPr>
          <a:xfrm>
            <a:off x="4687426" y="2801111"/>
            <a:ext cx="664385" cy="174498"/>
          </a:xfrm>
          <a:prstGeom prst="rect">
            <a:avLst/>
          </a:prstGeom>
        </p:spPr>
      </p:pic>
      <p:sp>
        <p:nvSpPr>
          <p:cNvPr id="20" name="object 20"/>
          <p:cNvSpPr/>
          <p:nvPr/>
        </p:nvSpPr>
        <p:spPr>
          <a:xfrm>
            <a:off x="5422773" y="2800224"/>
            <a:ext cx="356235" cy="175895"/>
          </a:xfrm>
          <a:custGeom>
            <a:avLst/>
            <a:gdLst/>
            <a:ahLst/>
            <a:cxnLst/>
            <a:rect l="l" t="t" r="r" b="b"/>
            <a:pathLst>
              <a:path w="474979" h="175894">
                <a:moveTo>
                  <a:pt x="40131" y="72389"/>
                </a:moveTo>
                <a:lnTo>
                  <a:pt x="19684" y="72389"/>
                </a:lnTo>
                <a:lnTo>
                  <a:pt x="19811" y="171068"/>
                </a:lnTo>
                <a:lnTo>
                  <a:pt x="20192" y="171576"/>
                </a:lnTo>
                <a:lnTo>
                  <a:pt x="20446" y="172085"/>
                </a:lnTo>
                <a:lnTo>
                  <a:pt x="21081" y="172465"/>
                </a:lnTo>
                <a:lnTo>
                  <a:pt x="21843" y="172719"/>
                </a:lnTo>
                <a:lnTo>
                  <a:pt x="22605" y="173100"/>
                </a:lnTo>
                <a:lnTo>
                  <a:pt x="23621" y="173354"/>
                </a:lnTo>
                <a:lnTo>
                  <a:pt x="26288" y="173609"/>
                </a:lnTo>
                <a:lnTo>
                  <a:pt x="27939" y="173736"/>
                </a:lnTo>
                <a:lnTo>
                  <a:pt x="31876" y="173736"/>
                </a:lnTo>
                <a:lnTo>
                  <a:pt x="33527" y="173609"/>
                </a:lnTo>
                <a:lnTo>
                  <a:pt x="36194" y="173354"/>
                </a:lnTo>
                <a:lnTo>
                  <a:pt x="37210" y="173100"/>
                </a:lnTo>
                <a:lnTo>
                  <a:pt x="37972" y="172719"/>
                </a:lnTo>
                <a:lnTo>
                  <a:pt x="38861" y="172465"/>
                </a:lnTo>
                <a:lnTo>
                  <a:pt x="39369" y="172085"/>
                </a:lnTo>
                <a:lnTo>
                  <a:pt x="39750" y="171576"/>
                </a:lnTo>
                <a:lnTo>
                  <a:pt x="40004" y="171068"/>
                </a:lnTo>
                <a:lnTo>
                  <a:pt x="40131" y="72389"/>
                </a:lnTo>
                <a:close/>
              </a:path>
              <a:path w="474979" h="175894">
                <a:moveTo>
                  <a:pt x="65658" y="55499"/>
                </a:moveTo>
                <a:lnTo>
                  <a:pt x="3301" y="55499"/>
                </a:lnTo>
                <a:lnTo>
                  <a:pt x="2793" y="55625"/>
                </a:lnTo>
                <a:lnTo>
                  <a:pt x="2285" y="56006"/>
                </a:lnTo>
                <a:lnTo>
                  <a:pt x="1777" y="56261"/>
                </a:lnTo>
                <a:lnTo>
                  <a:pt x="0" y="62484"/>
                </a:lnTo>
                <a:lnTo>
                  <a:pt x="0" y="67055"/>
                </a:lnTo>
                <a:lnTo>
                  <a:pt x="380" y="69087"/>
                </a:lnTo>
                <a:lnTo>
                  <a:pt x="1015" y="70485"/>
                </a:lnTo>
                <a:lnTo>
                  <a:pt x="1650" y="71754"/>
                </a:lnTo>
                <a:lnTo>
                  <a:pt x="2666" y="72389"/>
                </a:lnTo>
                <a:lnTo>
                  <a:pt x="66293" y="72389"/>
                </a:lnTo>
                <a:lnTo>
                  <a:pt x="67182" y="71754"/>
                </a:lnTo>
                <a:lnTo>
                  <a:pt x="67944" y="70485"/>
                </a:lnTo>
                <a:lnTo>
                  <a:pt x="68706" y="69087"/>
                </a:lnTo>
                <a:lnTo>
                  <a:pt x="69087" y="67055"/>
                </a:lnTo>
                <a:lnTo>
                  <a:pt x="69087" y="62484"/>
                </a:lnTo>
                <a:lnTo>
                  <a:pt x="66675" y="56006"/>
                </a:lnTo>
                <a:lnTo>
                  <a:pt x="66293" y="55625"/>
                </a:lnTo>
                <a:lnTo>
                  <a:pt x="65658" y="55499"/>
                </a:lnTo>
                <a:close/>
              </a:path>
              <a:path w="474979" h="175894">
                <a:moveTo>
                  <a:pt x="58419" y="0"/>
                </a:moveTo>
                <a:lnTo>
                  <a:pt x="49402" y="0"/>
                </a:lnTo>
                <a:lnTo>
                  <a:pt x="44068" y="888"/>
                </a:lnTo>
                <a:lnTo>
                  <a:pt x="21843" y="24129"/>
                </a:lnTo>
                <a:lnTo>
                  <a:pt x="20446" y="29590"/>
                </a:lnTo>
                <a:lnTo>
                  <a:pt x="19684" y="36322"/>
                </a:lnTo>
                <a:lnTo>
                  <a:pt x="19684" y="55499"/>
                </a:lnTo>
                <a:lnTo>
                  <a:pt x="40131" y="55499"/>
                </a:lnTo>
                <a:lnTo>
                  <a:pt x="40131" y="38607"/>
                </a:lnTo>
                <a:lnTo>
                  <a:pt x="40512" y="34543"/>
                </a:lnTo>
                <a:lnTo>
                  <a:pt x="41020" y="31241"/>
                </a:lnTo>
                <a:lnTo>
                  <a:pt x="41655" y="27939"/>
                </a:lnTo>
                <a:lnTo>
                  <a:pt x="42544" y="25146"/>
                </a:lnTo>
                <a:lnTo>
                  <a:pt x="43941" y="23113"/>
                </a:lnTo>
                <a:lnTo>
                  <a:pt x="45211" y="20954"/>
                </a:lnTo>
                <a:lnTo>
                  <a:pt x="46989" y="19430"/>
                </a:lnTo>
                <a:lnTo>
                  <a:pt x="49021" y="18414"/>
                </a:lnTo>
                <a:lnTo>
                  <a:pt x="51180" y="17525"/>
                </a:lnTo>
                <a:lnTo>
                  <a:pt x="53847" y="17017"/>
                </a:lnTo>
                <a:lnTo>
                  <a:pt x="74993" y="17017"/>
                </a:lnTo>
                <a:lnTo>
                  <a:pt x="75056" y="16763"/>
                </a:lnTo>
                <a:lnTo>
                  <a:pt x="75183" y="15875"/>
                </a:lnTo>
                <a:lnTo>
                  <a:pt x="75310" y="11429"/>
                </a:lnTo>
                <a:lnTo>
                  <a:pt x="74929" y="7874"/>
                </a:lnTo>
                <a:lnTo>
                  <a:pt x="61213" y="380"/>
                </a:lnTo>
                <a:lnTo>
                  <a:pt x="58419" y="0"/>
                </a:lnTo>
                <a:close/>
              </a:path>
              <a:path w="474979" h="175894">
                <a:moveTo>
                  <a:pt x="74993" y="17017"/>
                </a:moveTo>
                <a:lnTo>
                  <a:pt x="59054" y="17017"/>
                </a:lnTo>
                <a:lnTo>
                  <a:pt x="61086" y="17144"/>
                </a:lnTo>
                <a:lnTo>
                  <a:pt x="64388" y="17906"/>
                </a:lnTo>
                <a:lnTo>
                  <a:pt x="65912" y="18287"/>
                </a:lnTo>
                <a:lnTo>
                  <a:pt x="67055" y="18796"/>
                </a:lnTo>
                <a:lnTo>
                  <a:pt x="68325" y="19176"/>
                </a:lnTo>
                <a:lnTo>
                  <a:pt x="69341" y="19685"/>
                </a:lnTo>
                <a:lnTo>
                  <a:pt x="70230" y="20065"/>
                </a:lnTo>
                <a:lnTo>
                  <a:pt x="71119" y="20319"/>
                </a:lnTo>
                <a:lnTo>
                  <a:pt x="71881" y="20574"/>
                </a:lnTo>
                <a:lnTo>
                  <a:pt x="72897" y="20574"/>
                </a:lnTo>
                <a:lnTo>
                  <a:pt x="73278" y="20447"/>
                </a:lnTo>
                <a:lnTo>
                  <a:pt x="73659" y="20192"/>
                </a:lnTo>
                <a:lnTo>
                  <a:pt x="74040" y="20065"/>
                </a:lnTo>
                <a:lnTo>
                  <a:pt x="74294" y="19685"/>
                </a:lnTo>
                <a:lnTo>
                  <a:pt x="74421" y="19050"/>
                </a:lnTo>
                <a:lnTo>
                  <a:pt x="74675" y="18541"/>
                </a:lnTo>
                <a:lnTo>
                  <a:pt x="74802" y="17779"/>
                </a:lnTo>
                <a:lnTo>
                  <a:pt x="74993" y="17017"/>
                </a:lnTo>
                <a:close/>
              </a:path>
              <a:path w="474979" h="175894">
                <a:moveTo>
                  <a:pt x="101600" y="54863"/>
                </a:moveTo>
                <a:lnTo>
                  <a:pt x="97916" y="54863"/>
                </a:lnTo>
                <a:lnTo>
                  <a:pt x="96392" y="54990"/>
                </a:lnTo>
                <a:lnTo>
                  <a:pt x="94106" y="55244"/>
                </a:lnTo>
                <a:lnTo>
                  <a:pt x="93217" y="55499"/>
                </a:lnTo>
                <a:lnTo>
                  <a:pt x="92455" y="55879"/>
                </a:lnTo>
                <a:lnTo>
                  <a:pt x="91693" y="56134"/>
                </a:lnTo>
                <a:lnTo>
                  <a:pt x="91185" y="56641"/>
                </a:lnTo>
                <a:lnTo>
                  <a:pt x="90931" y="57023"/>
                </a:lnTo>
                <a:lnTo>
                  <a:pt x="90741" y="57403"/>
                </a:lnTo>
                <a:lnTo>
                  <a:pt x="90677" y="171068"/>
                </a:lnTo>
                <a:lnTo>
                  <a:pt x="91058" y="171576"/>
                </a:lnTo>
                <a:lnTo>
                  <a:pt x="91312" y="172085"/>
                </a:lnTo>
                <a:lnTo>
                  <a:pt x="91820" y="172465"/>
                </a:lnTo>
                <a:lnTo>
                  <a:pt x="92582" y="172719"/>
                </a:lnTo>
                <a:lnTo>
                  <a:pt x="93344" y="173100"/>
                </a:lnTo>
                <a:lnTo>
                  <a:pt x="94487" y="173354"/>
                </a:lnTo>
                <a:lnTo>
                  <a:pt x="97027" y="173609"/>
                </a:lnTo>
                <a:lnTo>
                  <a:pt x="98678" y="173736"/>
                </a:lnTo>
                <a:lnTo>
                  <a:pt x="102742" y="173736"/>
                </a:lnTo>
                <a:lnTo>
                  <a:pt x="104393" y="173609"/>
                </a:lnTo>
                <a:lnTo>
                  <a:pt x="107060" y="173354"/>
                </a:lnTo>
                <a:lnTo>
                  <a:pt x="108076" y="173100"/>
                </a:lnTo>
                <a:lnTo>
                  <a:pt x="108838" y="172719"/>
                </a:lnTo>
                <a:lnTo>
                  <a:pt x="109600" y="172465"/>
                </a:lnTo>
                <a:lnTo>
                  <a:pt x="110108" y="172085"/>
                </a:lnTo>
                <a:lnTo>
                  <a:pt x="110489" y="171576"/>
                </a:lnTo>
                <a:lnTo>
                  <a:pt x="110997" y="170561"/>
                </a:lnTo>
                <a:lnTo>
                  <a:pt x="110997" y="96774"/>
                </a:lnTo>
                <a:lnTo>
                  <a:pt x="113791" y="92201"/>
                </a:lnTo>
                <a:lnTo>
                  <a:pt x="116458" y="88391"/>
                </a:lnTo>
                <a:lnTo>
                  <a:pt x="118871" y="85343"/>
                </a:lnTo>
                <a:lnTo>
                  <a:pt x="121284" y="82168"/>
                </a:lnTo>
                <a:lnTo>
                  <a:pt x="123570" y="79628"/>
                </a:lnTo>
                <a:lnTo>
                  <a:pt x="127888" y="75818"/>
                </a:lnTo>
                <a:lnTo>
                  <a:pt x="129311" y="74929"/>
                </a:lnTo>
                <a:lnTo>
                  <a:pt x="108965" y="74929"/>
                </a:lnTo>
                <a:lnTo>
                  <a:pt x="108838" y="57530"/>
                </a:lnTo>
                <a:lnTo>
                  <a:pt x="108584" y="57023"/>
                </a:lnTo>
                <a:lnTo>
                  <a:pt x="108203" y="56641"/>
                </a:lnTo>
                <a:lnTo>
                  <a:pt x="107822" y="56134"/>
                </a:lnTo>
                <a:lnTo>
                  <a:pt x="107187" y="55879"/>
                </a:lnTo>
                <a:lnTo>
                  <a:pt x="106425" y="55499"/>
                </a:lnTo>
                <a:lnTo>
                  <a:pt x="105536" y="55244"/>
                </a:lnTo>
                <a:lnTo>
                  <a:pt x="104393" y="55117"/>
                </a:lnTo>
                <a:lnTo>
                  <a:pt x="101600" y="54863"/>
                </a:lnTo>
                <a:close/>
              </a:path>
              <a:path w="474979" h="175894">
                <a:moveTo>
                  <a:pt x="155248" y="72389"/>
                </a:moveTo>
                <a:lnTo>
                  <a:pt x="139700" y="72389"/>
                </a:lnTo>
                <a:lnTo>
                  <a:pt x="142875" y="72898"/>
                </a:lnTo>
                <a:lnTo>
                  <a:pt x="145668" y="73660"/>
                </a:lnTo>
                <a:lnTo>
                  <a:pt x="146811" y="74040"/>
                </a:lnTo>
                <a:lnTo>
                  <a:pt x="148081" y="74294"/>
                </a:lnTo>
                <a:lnTo>
                  <a:pt x="150113" y="75056"/>
                </a:lnTo>
                <a:lnTo>
                  <a:pt x="151002" y="75437"/>
                </a:lnTo>
                <a:lnTo>
                  <a:pt x="151764" y="75691"/>
                </a:lnTo>
                <a:lnTo>
                  <a:pt x="153161" y="75691"/>
                </a:lnTo>
                <a:lnTo>
                  <a:pt x="155151" y="72898"/>
                </a:lnTo>
                <a:lnTo>
                  <a:pt x="155248" y="72389"/>
                </a:lnTo>
                <a:close/>
              </a:path>
              <a:path w="474979" h="175894">
                <a:moveTo>
                  <a:pt x="141604" y="53212"/>
                </a:moveTo>
                <a:lnTo>
                  <a:pt x="137032" y="53212"/>
                </a:lnTo>
                <a:lnTo>
                  <a:pt x="134619" y="53466"/>
                </a:lnTo>
                <a:lnTo>
                  <a:pt x="108965" y="74929"/>
                </a:lnTo>
                <a:lnTo>
                  <a:pt x="129311" y="74929"/>
                </a:lnTo>
                <a:lnTo>
                  <a:pt x="129920" y="74549"/>
                </a:lnTo>
                <a:lnTo>
                  <a:pt x="131952" y="73660"/>
                </a:lnTo>
                <a:lnTo>
                  <a:pt x="133984" y="72898"/>
                </a:lnTo>
                <a:lnTo>
                  <a:pt x="135889" y="72389"/>
                </a:lnTo>
                <a:lnTo>
                  <a:pt x="155248" y="72389"/>
                </a:lnTo>
                <a:lnTo>
                  <a:pt x="155320" y="71881"/>
                </a:lnTo>
                <a:lnTo>
                  <a:pt x="155447" y="69341"/>
                </a:lnTo>
                <a:lnTo>
                  <a:pt x="155575" y="67817"/>
                </a:lnTo>
                <a:lnTo>
                  <a:pt x="155575" y="62611"/>
                </a:lnTo>
                <a:lnTo>
                  <a:pt x="155447" y="61467"/>
                </a:lnTo>
                <a:lnTo>
                  <a:pt x="155320" y="59562"/>
                </a:lnTo>
                <a:lnTo>
                  <a:pt x="155193" y="58927"/>
                </a:lnTo>
                <a:lnTo>
                  <a:pt x="151256" y="55117"/>
                </a:lnTo>
                <a:lnTo>
                  <a:pt x="150113" y="54737"/>
                </a:lnTo>
                <a:lnTo>
                  <a:pt x="147319" y="53975"/>
                </a:lnTo>
                <a:lnTo>
                  <a:pt x="144399" y="53466"/>
                </a:lnTo>
                <a:lnTo>
                  <a:pt x="141604" y="53212"/>
                </a:lnTo>
                <a:close/>
              </a:path>
              <a:path w="474979" h="175894">
                <a:moveTo>
                  <a:pt x="233933" y="53212"/>
                </a:moveTo>
                <a:lnTo>
                  <a:pt x="215391" y="53212"/>
                </a:lnTo>
                <a:lnTo>
                  <a:pt x="207136" y="54737"/>
                </a:lnTo>
                <a:lnTo>
                  <a:pt x="173989" y="82676"/>
                </a:lnTo>
                <a:lnTo>
                  <a:pt x="171703" y="90297"/>
                </a:lnTo>
                <a:lnTo>
                  <a:pt x="169290" y="97916"/>
                </a:lnTo>
                <a:lnTo>
                  <a:pt x="168147" y="106299"/>
                </a:lnTo>
                <a:lnTo>
                  <a:pt x="168147" y="124713"/>
                </a:lnTo>
                <a:lnTo>
                  <a:pt x="186181" y="164591"/>
                </a:lnTo>
                <a:lnTo>
                  <a:pt x="213359" y="175387"/>
                </a:lnTo>
                <a:lnTo>
                  <a:pt x="231901" y="175387"/>
                </a:lnTo>
                <a:lnTo>
                  <a:pt x="240156" y="173736"/>
                </a:lnTo>
                <a:lnTo>
                  <a:pt x="254380" y="167639"/>
                </a:lnTo>
                <a:lnTo>
                  <a:pt x="260350" y="163322"/>
                </a:lnTo>
                <a:lnTo>
                  <a:pt x="264830" y="158114"/>
                </a:lnTo>
                <a:lnTo>
                  <a:pt x="216915" y="158114"/>
                </a:lnTo>
                <a:lnTo>
                  <a:pt x="211454" y="156972"/>
                </a:lnTo>
                <a:lnTo>
                  <a:pt x="207136" y="154686"/>
                </a:lnTo>
                <a:lnTo>
                  <a:pt x="202691" y="152273"/>
                </a:lnTo>
                <a:lnTo>
                  <a:pt x="199135" y="149098"/>
                </a:lnTo>
                <a:lnTo>
                  <a:pt x="196595" y="145161"/>
                </a:lnTo>
                <a:lnTo>
                  <a:pt x="193928" y="141097"/>
                </a:lnTo>
                <a:lnTo>
                  <a:pt x="189229" y="107568"/>
                </a:lnTo>
                <a:lnTo>
                  <a:pt x="189991" y="101726"/>
                </a:lnTo>
                <a:lnTo>
                  <a:pt x="191261" y="96392"/>
                </a:lnTo>
                <a:lnTo>
                  <a:pt x="192658" y="91059"/>
                </a:lnTo>
                <a:lnTo>
                  <a:pt x="194817" y="86360"/>
                </a:lnTo>
                <a:lnTo>
                  <a:pt x="197611" y="82550"/>
                </a:lnTo>
                <a:lnTo>
                  <a:pt x="200405" y="78612"/>
                </a:lnTo>
                <a:lnTo>
                  <a:pt x="204088" y="75564"/>
                </a:lnTo>
                <a:lnTo>
                  <a:pt x="212725" y="71247"/>
                </a:lnTo>
                <a:lnTo>
                  <a:pt x="217931" y="70230"/>
                </a:lnTo>
                <a:lnTo>
                  <a:pt x="266687" y="70230"/>
                </a:lnTo>
                <a:lnTo>
                  <a:pt x="265683" y="69087"/>
                </a:lnTo>
                <a:lnTo>
                  <a:pt x="261238" y="63880"/>
                </a:lnTo>
                <a:lnTo>
                  <a:pt x="255524" y="59943"/>
                </a:lnTo>
                <a:lnTo>
                  <a:pt x="248792" y="57276"/>
                </a:lnTo>
                <a:lnTo>
                  <a:pt x="241934" y="54482"/>
                </a:lnTo>
                <a:lnTo>
                  <a:pt x="233933" y="53212"/>
                </a:lnTo>
                <a:close/>
              </a:path>
              <a:path w="474979" h="175894">
                <a:moveTo>
                  <a:pt x="266687" y="70230"/>
                </a:moveTo>
                <a:lnTo>
                  <a:pt x="230631" y="70230"/>
                </a:lnTo>
                <a:lnTo>
                  <a:pt x="236092" y="71374"/>
                </a:lnTo>
                <a:lnTo>
                  <a:pt x="240537" y="73787"/>
                </a:lnTo>
                <a:lnTo>
                  <a:pt x="258190" y="120903"/>
                </a:lnTo>
                <a:lnTo>
                  <a:pt x="257555" y="126746"/>
                </a:lnTo>
                <a:lnTo>
                  <a:pt x="256158" y="132079"/>
                </a:lnTo>
                <a:lnTo>
                  <a:pt x="254888" y="137413"/>
                </a:lnTo>
                <a:lnTo>
                  <a:pt x="252729" y="142112"/>
                </a:lnTo>
                <a:lnTo>
                  <a:pt x="249935" y="145923"/>
                </a:lnTo>
                <a:lnTo>
                  <a:pt x="247141" y="149860"/>
                </a:lnTo>
                <a:lnTo>
                  <a:pt x="243458" y="152780"/>
                </a:lnTo>
                <a:lnTo>
                  <a:pt x="239140" y="154939"/>
                </a:lnTo>
                <a:lnTo>
                  <a:pt x="234695" y="157099"/>
                </a:lnTo>
                <a:lnTo>
                  <a:pt x="229488" y="158114"/>
                </a:lnTo>
                <a:lnTo>
                  <a:pt x="264830" y="158114"/>
                </a:lnTo>
                <a:lnTo>
                  <a:pt x="269747" y="152273"/>
                </a:lnTo>
                <a:lnTo>
                  <a:pt x="273303" y="145668"/>
                </a:lnTo>
                <a:lnTo>
                  <a:pt x="278129" y="130428"/>
                </a:lnTo>
                <a:lnTo>
                  <a:pt x="279272" y="122174"/>
                </a:lnTo>
                <a:lnTo>
                  <a:pt x="279272" y="103759"/>
                </a:lnTo>
                <a:lnTo>
                  <a:pt x="278129" y="95376"/>
                </a:lnTo>
                <a:lnTo>
                  <a:pt x="275970" y="88011"/>
                </a:lnTo>
                <a:lnTo>
                  <a:pt x="273684" y="80644"/>
                </a:lnTo>
                <a:lnTo>
                  <a:pt x="270255" y="74294"/>
                </a:lnTo>
                <a:lnTo>
                  <a:pt x="266687" y="70230"/>
                </a:lnTo>
                <a:close/>
              </a:path>
              <a:path w="474979" h="175894">
                <a:moveTo>
                  <a:pt x="321055" y="54863"/>
                </a:moveTo>
                <a:lnTo>
                  <a:pt x="317372" y="54863"/>
                </a:lnTo>
                <a:lnTo>
                  <a:pt x="315849" y="54990"/>
                </a:lnTo>
                <a:lnTo>
                  <a:pt x="313562" y="55244"/>
                </a:lnTo>
                <a:lnTo>
                  <a:pt x="312674" y="55499"/>
                </a:lnTo>
                <a:lnTo>
                  <a:pt x="311911" y="55879"/>
                </a:lnTo>
                <a:lnTo>
                  <a:pt x="311150" y="56134"/>
                </a:lnTo>
                <a:lnTo>
                  <a:pt x="310641" y="56641"/>
                </a:lnTo>
                <a:lnTo>
                  <a:pt x="310387" y="57023"/>
                </a:lnTo>
                <a:lnTo>
                  <a:pt x="310197" y="57403"/>
                </a:lnTo>
                <a:lnTo>
                  <a:pt x="310133" y="171068"/>
                </a:lnTo>
                <a:lnTo>
                  <a:pt x="310514" y="171576"/>
                </a:lnTo>
                <a:lnTo>
                  <a:pt x="310768" y="172085"/>
                </a:lnTo>
                <a:lnTo>
                  <a:pt x="311276" y="172465"/>
                </a:lnTo>
                <a:lnTo>
                  <a:pt x="312038" y="172719"/>
                </a:lnTo>
                <a:lnTo>
                  <a:pt x="312800" y="173100"/>
                </a:lnTo>
                <a:lnTo>
                  <a:pt x="313943" y="173354"/>
                </a:lnTo>
                <a:lnTo>
                  <a:pt x="316483" y="173609"/>
                </a:lnTo>
                <a:lnTo>
                  <a:pt x="318134" y="173736"/>
                </a:lnTo>
                <a:lnTo>
                  <a:pt x="322199" y="173736"/>
                </a:lnTo>
                <a:lnTo>
                  <a:pt x="323850" y="173609"/>
                </a:lnTo>
                <a:lnTo>
                  <a:pt x="326516" y="173354"/>
                </a:lnTo>
                <a:lnTo>
                  <a:pt x="327532" y="173100"/>
                </a:lnTo>
                <a:lnTo>
                  <a:pt x="328294" y="172719"/>
                </a:lnTo>
                <a:lnTo>
                  <a:pt x="329056" y="172465"/>
                </a:lnTo>
                <a:lnTo>
                  <a:pt x="329564" y="172085"/>
                </a:lnTo>
                <a:lnTo>
                  <a:pt x="329945" y="171576"/>
                </a:lnTo>
                <a:lnTo>
                  <a:pt x="330453" y="170561"/>
                </a:lnTo>
                <a:lnTo>
                  <a:pt x="330453" y="92201"/>
                </a:lnTo>
                <a:lnTo>
                  <a:pt x="336041" y="85216"/>
                </a:lnTo>
                <a:lnTo>
                  <a:pt x="341249" y="79882"/>
                </a:lnTo>
                <a:lnTo>
                  <a:pt x="349771" y="73405"/>
                </a:lnTo>
                <a:lnTo>
                  <a:pt x="328421" y="73405"/>
                </a:lnTo>
                <a:lnTo>
                  <a:pt x="328294" y="57530"/>
                </a:lnTo>
                <a:lnTo>
                  <a:pt x="328040" y="57023"/>
                </a:lnTo>
                <a:lnTo>
                  <a:pt x="327659" y="56641"/>
                </a:lnTo>
                <a:lnTo>
                  <a:pt x="327278" y="56134"/>
                </a:lnTo>
                <a:lnTo>
                  <a:pt x="326643" y="55879"/>
                </a:lnTo>
                <a:lnTo>
                  <a:pt x="325881" y="55499"/>
                </a:lnTo>
                <a:lnTo>
                  <a:pt x="324992" y="55244"/>
                </a:lnTo>
                <a:lnTo>
                  <a:pt x="323850" y="55117"/>
                </a:lnTo>
                <a:lnTo>
                  <a:pt x="321055" y="54863"/>
                </a:lnTo>
                <a:close/>
              </a:path>
              <a:path w="474979" h="175894">
                <a:moveTo>
                  <a:pt x="396832" y="70865"/>
                </a:moveTo>
                <a:lnTo>
                  <a:pt x="363981" y="70865"/>
                </a:lnTo>
                <a:lnTo>
                  <a:pt x="367283" y="71627"/>
                </a:lnTo>
                <a:lnTo>
                  <a:pt x="369950" y="73025"/>
                </a:lnTo>
                <a:lnTo>
                  <a:pt x="372744" y="74549"/>
                </a:lnTo>
                <a:lnTo>
                  <a:pt x="375030" y="76707"/>
                </a:lnTo>
                <a:lnTo>
                  <a:pt x="376808" y="79501"/>
                </a:lnTo>
                <a:lnTo>
                  <a:pt x="378713" y="82296"/>
                </a:lnTo>
                <a:lnTo>
                  <a:pt x="379983" y="85598"/>
                </a:lnTo>
                <a:lnTo>
                  <a:pt x="380872" y="89535"/>
                </a:lnTo>
                <a:lnTo>
                  <a:pt x="381888" y="93344"/>
                </a:lnTo>
                <a:lnTo>
                  <a:pt x="382269" y="97662"/>
                </a:lnTo>
                <a:lnTo>
                  <a:pt x="382396" y="171068"/>
                </a:lnTo>
                <a:lnTo>
                  <a:pt x="382777" y="171576"/>
                </a:lnTo>
                <a:lnTo>
                  <a:pt x="383031" y="172085"/>
                </a:lnTo>
                <a:lnTo>
                  <a:pt x="383539" y="172465"/>
                </a:lnTo>
                <a:lnTo>
                  <a:pt x="384301" y="172719"/>
                </a:lnTo>
                <a:lnTo>
                  <a:pt x="385063" y="173100"/>
                </a:lnTo>
                <a:lnTo>
                  <a:pt x="386206" y="173354"/>
                </a:lnTo>
                <a:lnTo>
                  <a:pt x="388874" y="173609"/>
                </a:lnTo>
                <a:lnTo>
                  <a:pt x="390525" y="173736"/>
                </a:lnTo>
                <a:lnTo>
                  <a:pt x="394461" y="173736"/>
                </a:lnTo>
                <a:lnTo>
                  <a:pt x="398652" y="173354"/>
                </a:lnTo>
                <a:lnTo>
                  <a:pt x="399668" y="173100"/>
                </a:lnTo>
                <a:lnTo>
                  <a:pt x="400557" y="172719"/>
                </a:lnTo>
                <a:lnTo>
                  <a:pt x="401319" y="172465"/>
                </a:lnTo>
                <a:lnTo>
                  <a:pt x="401827" y="172085"/>
                </a:lnTo>
                <a:lnTo>
                  <a:pt x="402208" y="171576"/>
                </a:lnTo>
                <a:lnTo>
                  <a:pt x="402716" y="170561"/>
                </a:lnTo>
                <a:lnTo>
                  <a:pt x="402716" y="92201"/>
                </a:lnTo>
                <a:lnTo>
                  <a:pt x="408304" y="85216"/>
                </a:lnTo>
                <a:lnTo>
                  <a:pt x="413511" y="79882"/>
                </a:lnTo>
                <a:lnTo>
                  <a:pt x="418337" y="76326"/>
                </a:lnTo>
                <a:lnTo>
                  <a:pt x="419796" y="75184"/>
                </a:lnTo>
                <a:lnTo>
                  <a:pt x="398779" y="75184"/>
                </a:lnTo>
                <a:lnTo>
                  <a:pt x="397382" y="71881"/>
                </a:lnTo>
                <a:lnTo>
                  <a:pt x="396832" y="70865"/>
                </a:lnTo>
                <a:close/>
              </a:path>
              <a:path w="474979" h="175894">
                <a:moveTo>
                  <a:pt x="469368" y="70865"/>
                </a:moveTo>
                <a:lnTo>
                  <a:pt x="436244" y="70865"/>
                </a:lnTo>
                <a:lnTo>
                  <a:pt x="439546" y="71627"/>
                </a:lnTo>
                <a:lnTo>
                  <a:pt x="442340" y="73025"/>
                </a:lnTo>
                <a:lnTo>
                  <a:pt x="445134" y="74549"/>
                </a:lnTo>
                <a:lnTo>
                  <a:pt x="447420" y="76707"/>
                </a:lnTo>
                <a:lnTo>
                  <a:pt x="449199" y="79501"/>
                </a:lnTo>
                <a:lnTo>
                  <a:pt x="451103" y="82296"/>
                </a:lnTo>
                <a:lnTo>
                  <a:pt x="452374" y="85598"/>
                </a:lnTo>
                <a:lnTo>
                  <a:pt x="453135" y="89535"/>
                </a:lnTo>
                <a:lnTo>
                  <a:pt x="454025" y="93344"/>
                </a:lnTo>
                <a:lnTo>
                  <a:pt x="454405" y="97662"/>
                </a:lnTo>
                <a:lnTo>
                  <a:pt x="454405" y="170561"/>
                </a:lnTo>
                <a:lnTo>
                  <a:pt x="454913" y="171576"/>
                </a:lnTo>
                <a:lnTo>
                  <a:pt x="455294" y="172085"/>
                </a:lnTo>
                <a:lnTo>
                  <a:pt x="455802" y="172465"/>
                </a:lnTo>
                <a:lnTo>
                  <a:pt x="456564" y="172719"/>
                </a:lnTo>
                <a:lnTo>
                  <a:pt x="457326" y="173100"/>
                </a:lnTo>
                <a:lnTo>
                  <a:pt x="458469" y="173354"/>
                </a:lnTo>
                <a:lnTo>
                  <a:pt x="461009" y="173609"/>
                </a:lnTo>
                <a:lnTo>
                  <a:pt x="462787" y="173736"/>
                </a:lnTo>
                <a:lnTo>
                  <a:pt x="466725" y="173736"/>
                </a:lnTo>
                <a:lnTo>
                  <a:pt x="468375" y="173609"/>
                </a:lnTo>
                <a:lnTo>
                  <a:pt x="471042" y="173354"/>
                </a:lnTo>
                <a:lnTo>
                  <a:pt x="472058" y="173100"/>
                </a:lnTo>
                <a:lnTo>
                  <a:pt x="472820" y="172719"/>
                </a:lnTo>
                <a:lnTo>
                  <a:pt x="473582" y="172465"/>
                </a:lnTo>
                <a:lnTo>
                  <a:pt x="474090" y="172085"/>
                </a:lnTo>
                <a:lnTo>
                  <a:pt x="474471" y="171576"/>
                </a:lnTo>
                <a:lnTo>
                  <a:pt x="474979" y="170561"/>
                </a:lnTo>
                <a:lnTo>
                  <a:pt x="474858" y="92201"/>
                </a:lnTo>
                <a:lnTo>
                  <a:pt x="474344" y="87375"/>
                </a:lnTo>
                <a:lnTo>
                  <a:pt x="471804" y="76073"/>
                </a:lnTo>
                <a:lnTo>
                  <a:pt x="469645" y="71247"/>
                </a:lnTo>
                <a:lnTo>
                  <a:pt x="469368" y="70865"/>
                </a:lnTo>
                <a:close/>
              </a:path>
              <a:path w="474979" h="175894">
                <a:moveTo>
                  <a:pt x="443991" y="53212"/>
                </a:moveTo>
                <a:lnTo>
                  <a:pt x="433831" y="53212"/>
                </a:lnTo>
                <a:lnTo>
                  <a:pt x="430910" y="53593"/>
                </a:lnTo>
                <a:lnTo>
                  <a:pt x="425068" y="55117"/>
                </a:lnTo>
                <a:lnTo>
                  <a:pt x="422020" y="56387"/>
                </a:lnTo>
                <a:lnTo>
                  <a:pt x="418972" y="58165"/>
                </a:lnTo>
                <a:lnTo>
                  <a:pt x="415797" y="59816"/>
                </a:lnTo>
                <a:lnTo>
                  <a:pt x="412622" y="62102"/>
                </a:lnTo>
                <a:lnTo>
                  <a:pt x="409320" y="64897"/>
                </a:lnTo>
                <a:lnTo>
                  <a:pt x="405891" y="67690"/>
                </a:lnTo>
                <a:lnTo>
                  <a:pt x="402347" y="71247"/>
                </a:lnTo>
                <a:lnTo>
                  <a:pt x="398779" y="75184"/>
                </a:lnTo>
                <a:lnTo>
                  <a:pt x="419796" y="75184"/>
                </a:lnTo>
                <a:lnTo>
                  <a:pt x="423036" y="72643"/>
                </a:lnTo>
                <a:lnTo>
                  <a:pt x="427735" y="70865"/>
                </a:lnTo>
                <a:lnTo>
                  <a:pt x="469368" y="70865"/>
                </a:lnTo>
                <a:lnTo>
                  <a:pt x="463550" y="62864"/>
                </a:lnTo>
                <a:lnTo>
                  <a:pt x="459612" y="59436"/>
                </a:lnTo>
                <a:lnTo>
                  <a:pt x="454786" y="56896"/>
                </a:lnTo>
                <a:lnTo>
                  <a:pt x="449960" y="54482"/>
                </a:lnTo>
                <a:lnTo>
                  <a:pt x="443991" y="53212"/>
                </a:lnTo>
                <a:close/>
              </a:path>
              <a:path w="474979" h="175894">
                <a:moveTo>
                  <a:pt x="369061" y="53212"/>
                </a:moveTo>
                <a:lnTo>
                  <a:pt x="358520" y="53212"/>
                </a:lnTo>
                <a:lnTo>
                  <a:pt x="352551" y="54737"/>
                </a:lnTo>
                <a:lnTo>
                  <a:pt x="346709" y="58038"/>
                </a:lnTo>
                <a:lnTo>
                  <a:pt x="340740" y="61340"/>
                </a:lnTo>
                <a:lnTo>
                  <a:pt x="334644" y="66421"/>
                </a:lnTo>
                <a:lnTo>
                  <a:pt x="328421" y="73405"/>
                </a:lnTo>
                <a:lnTo>
                  <a:pt x="349771" y="73405"/>
                </a:lnTo>
                <a:lnTo>
                  <a:pt x="350774" y="72643"/>
                </a:lnTo>
                <a:lnTo>
                  <a:pt x="355472" y="70865"/>
                </a:lnTo>
                <a:lnTo>
                  <a:pt x="396832" y="70865"/>
                </a:lnTo>
                <a:lnTo>
                  <a:pt x="395731" y="68834"/>
                </a:lnTo>
                <a:lnTo>
                  <a:pt x="373252" y="53721"/>
                </a:lnTo>
                <a:lnTo>
                  <a:pt x="369061" y="53212"/>
                </a:lnTo>
                <a:close/>
              </a:path>
            </a:pathLst>
          </a:custGeom>
          <a:solidFill>
            <a:srgbClr val="000000">
              <a:alpha val="79998"/>
            </a:srgbClr>
          </a:solidFill>
        </p:spPr>
        <p:txBody>
          <a:bodyPr wrap="square" lIns="0" tIns="0" rIns="0" bIns="0" rtlCol="0"/>
          <a:lstStyle/>
          <a:p>
            <a:endParaRPr/>
          </a:p>
        </p:txBody>
      </p:sp>
      <p:sp>
        <p:nvSpPr>
          <p:cNvPr id="21" name="object 21"/>
          <p:cNvSpPr/>
          <p:nvPr/>
        </p:nvSpPr>
        <p:spPr>
          <a:xfrm>
            <a:off x="5845302" y="2801112"/>
            <a:ext cx="247174" cy="174625"/>
          </a:xfrm>
          <a:custGeom>
            <a:avLst/>
            <a:gdLst/>
            <a:ahLst/>
            <a:cxnLst/>
            <a:rect l="l" t="t" r="r" b="b"/>
            <a:pathLst>
              <a:path w="329565" h="174625">
                <a:moveTo>
                  <a:pt x="40132" y="71500"/>
                </a:moveTo>
                <a:lnTo>
                  <a:pt x="19685" y="71500"/>
                </a:lnTo>
                <a:lnTo>
                  <a:pt x="19685" y="143001"/>
                </a:lnTo>
                <a:lnTo>
                  <a:pt x="46482" y="174243"/>
                </a:lnTo>
                <a:lnTo>
                  <a:pt x="54102" y="174243"/>
                </a:lnTo>
                <a:lnTo>
                  <a:pt x="56007" y="174116"/>
                </a:lnTo>
                <a:lnTo>
                  <a:pt x="59817" y="173609"/>
                </a:lnTo>
                <a:lnTo>
                  <a:pt x="61595" y="173227"/>
                </a:lnTo>
                <a:lnTo>
                  <a:pt x="63246" y="172847"/>
                </a:lnTo>
                <a:lnTo>
                  <a:pt x="64897" y="172592"/>
                </a:lnTo>
                <a:lnTo>
                  <a:pt x="66421" y="172085"/>
                </a:lnTo>
                <a:lnTo>
                  <a:pt x="67691" y="171450"/>
                </a:lnTo>
                <a:lnTo>
                  <a:pt x="69088" y="170941"/>
                </a:lnTo>
                <a:lnTo>
                  <a:pt x="70104" y="170307"/>
                </a:lnTo>
                <a:lnTo>
                  <a:pt x="71374" y="169037"/>
                </a:lnTo>
                <a:lnTo>
                  <a:pt x="71882" y="167893"/>
                </a:lnTo>
                <a:lnTo>
                  <a:pt x="72136" y="166497"/>
                </a:lnTo>
                <a:lnTo>
                  <a:pt x="72517" y="165100"/>
                </a:lnTo>
                <a:lnTo>
                  <a:pt x="72612" y="157987"/>
                </a:lnTo>
                <a:lnTo>
                  <a:pt x="72390" y="157099"/>
                </a:lnTo>
                <a:lnTo>
                  <a:pt x="72350" y="156845"/>
                </a:lnTo>
                <a:lnTo>
                  <a:pt x="49784" y="156845"/>
                </a:lnTo>
                <a:lnTo>
                  <a:pt x="45720" y="154812"/>
                </a:lnTo>
                <a:lnTo>
                  <a:pt x="43434" y="150875"/>
                </a:lnTo>
                <a:lnTo>
                  <a:pt x="41275" y="147065"/>
                </a:lnTo>
                <a:lnTo>
                  <a:pt x="40132" y="141224"/>
                </a:lnTo>
                <a:lnTo>
                  <a:pt x="40132" y="71500"/>
                </a:lnTo>
                <a:close/>
              </a:path>
              <a:path w="329565" h="174625">
                <a:moveTo>
                  <a:pt x="70231" y="153288"/>
                </a:moveTo>
                <a:lnTo>
                  <a:pt x="69215" y="153288"/>
                </a:lnTo>
                <a:lnTo>
                  <a:pt x="68453" y="153542"/>
                </a:lnTo>
                <a:lnTo>
                  <a:pt x="67691" y="153924"/>
                </a:lnTo>
                <a:lnTo>
                  <a:pt x="66802" y="154304"/>
                </a:lnTo>
                <a:lnTo>
                  <a:pt x="57531" y="156845"/>
                </a:lnTo>
                <a:lnTo>
                  <a:pt x="72350" y="156845"/>
                </a:lnTo>
                <a:lnTo>
                  <a:pt x="72136" y="155448"/>
                </a:lnTo>
                <a:lnTo>
                  <a:pt x="71628" y="154177"/>
                </a:lnTo>
                <a:lnTo>
                  <a:pt x="71374" y="153797"/>
                </a:lnTo>
                <a:lnTo>
                  <a:pt x="70993" y="153670"/>
                </a:lnTo>
                <a:lnTo>
                  <a:pt x="70612" y="153415"/>
                </a:lnTo>
                <a:lnTo>
                  <a:pt x="70231" y="153288"/>
                </a:lnTo>
                <a:close/>
              </a:path>
              <a:path w="329565" h="174625">
                <a:moveTo>
                  <a:pt x="69215" y="54610"/>
                </a:moveTo>
                <a:lnTo>
                  <a:pt x="3556" y="54610"/>
                </a:lnTo>
                <a:lnTo>
                  <a:pt x="3048" y="54737"/>
                </a:lnTo>
                <a:lnTo>
                  <a:pt x="2413" y="55117"/>
                </a:lnTo>
                <a:lnTo>
                  <a:pt x="1905" y="55372"/>
                </a:lnTo>
                <a:lnTo>
                  <a:pt x="0" y="61595"/>
                </a:lnTo>
                <a:lnTo>
                  <a:pt x="0" y="66166"/>
                </a:lnTo>
                <a:lnTo>
                  <a:pt x="381" y="68199"/>
                </a:lnTo>
                <a:lnTo>
                  <a:pt x="1143" y="69596"/>
                </a:lnTo>
                <a:lnTo>
                  <a:pt x="1905" y="70865"/>
                </a:lnTo>
                <a:lnTo>
                  <a:pt x="2921" y="71500"/>
                </a:lnTo>
                <a:lnTo>
                  <a:pt x="69850" y="71500"/>
                </a:lnTo>
                <a:lnTo>
                  <a:pt x="70866" y="70865"/>
                </a:lnTo>
                <a:lnTo>
                  <a:pt x="71628" y="69596"/>
                </a:lnTo>
                <a:lnTo>
                  <a:pt x="72263" y="68199"/>
                </a:lnTo>
                <a:lnTo>
                  <a:pt x="72644" y="66166"/>
                </a:lnTo>
                <a:lnTo>
                  <a:pt x="72644" y="60325"/>
                </a:lnTo>
                <a:lnTo>
                  <a:pt x="72390" y="59182"/>
                </a:lnTo>
                <a:lnTo>
                  <a:pt x="72263" y="58165"/>
                </a:lnTo>
                <a:lnTo>
                  <a:pt x="70358" y="55117"/>
                </a:lnTo>
                <a:lnTo>
                  <a:pt x="69850" y="54737"/>
                </a:lnTo>
                <a:lnTo>
                  <a:pt x="69215" y="54610"/>
                </a:lnTo>
                <a:close/>
              </a:path>
              <a:path w="329565" h="174625">
                <a:moveTo>
                  <a:pt x="31877" y="24257"/>
                </a:moveTo>
                <a:lnTo>
                  <a:pt x="27813" y="24257"/>
                </a:lnTo>
                <a:lnTo>
                  <a:pt x="26162" y="24384"/>
                </a:lnTo>
                <a:lnTo>
                  <a:pt x="20193" y="26542"/>
                </a:lnTo>
                <a:lnTo>
                  <a:pt x="19812" y="27050"/>
                </a:lnTo>
                <a:lnTo>
                  <a:pt x="19685" y="54610"/>
                </a:lnTo>
                <a:lnTo>
                  <a:pt x="40132" y="54610"/>
                </a:lnTo>
                <a:lnTo>
                  <a:pt x="40132" y="27559"/>
                </a:lnTo>
                <a:lnTo>
                  <a:pt x="39624" y="26542"/>
                </a:lnTo>
                <a:lnTo>
                  <a:pt x="34925" y="24511"/>
                </a:lnTo>
                <a:lnTo>
                  <a:pt x="31877" y="24257"/>
                </a:lnTo>
                <a:close/>
              </a:path>
              <a:path w="329565" h="174625">
                <a:moveTo>
                  <a:pt x="112395" y="0"/>
                </a:moveTo>
                <a:lnTo>
                  <a:pt x="108331" y="0"/>
                </a:lnTo>
                <a:lnTo>
                  <a:pt x="106680" y="126"/>
                </a:lnTo>
                <a:lnTo>
                  <a:pt x="100711" y="2286"/>
                </a:lnTo>
                <a:lnTo>
                  <a:pt x="100330" y="2793"/>
                </a:lnTo>
                <a:lnTo>
                  <a:pt x="100330" y="170179"/>
                </a:lnTo>
                <a:lnTo>
                  <a:pt x="100711" y="170687"/>
                </a:lnTo>
                <a:lnTo>
                  <a:pt x="100965" y="171196"/>
                </a:lnTo>
                <a:lnTo>
                  <a:pt x="101473" y="171576"/>
                </a:lnTo>
                <a:lnTo>
                  <a:pt x="102235" y="171830"/>
                </a:lnTo>
                <a:lnTo>
                  <a:pt x="102997" y="172212"/>
                </a:lnTo>
                <a:lnTo>
                  <a:pt x="104140" y="172465"/>
                </a:lnTo>
                <a:lnTo>
                  <a:pt x="106680" y="172720"/>
                </a:lnTo>
                <a:lnTo>
                  <a:pt x="108331" y="172847"/>
                </a:lnTo>
                <a:lnTo>
                  <a:pt x="112395" y="172847"/>
                </a:lnTo>
                <a:lnTo>
                  <a:pt x="114046" y="172720"/>
                </a:lnTo>
                <a:lnTo>
                  <a:pt x="116713" y="172465"/>
                </a:lnTo>
                <a:lnTo>
                  <a:pt x="117729" y="172212"/>
                </a:lnTo>
                <a:lnTo>
                  <a:pt x="118491" y="171830"/>
                </a:lnTo>
                <a:lnTo>
                  <a:pt x="119253" y="171576"/>
                </a:lnTo>
                <a:lnTo>
                  <a:pt x="119761" y="171196"/>
                </a:lnTo>
                <a:lnTo>
                  <a:pt x="120142" y="170687"/>
                </a:lnTo>
                <a:lnTo>
                  <a:pt x="120650" y="169672"/>
                </a:lnTo>
                <a:lnTo>
                  <a:pt x="120650" y="91312"/>
                </a:lnTo>
                <a:lnTo>
                  <a:pt x="126238" y="84327"/>
                </a:lnTo>
                <a:lnTo>
                  <a:pt x="131572" y="78993"/>
                </a:lnTo>
                <a:lnTo>
                  <a:pt x="136652" y="75437"/>
                </a:lnTo>
                <a:lnTo>
                  <a:pt x="141732" y="71754"/>
                </a:lnTo>
                <a:lnTo>
                  <a:pt x="145079" y="70612"/>
                </a:lnTo>
                <a:lnTo>
                  <a:pt x="120650" y="70612"/>
                </a:lnTo>
                <a:lnTo>
                  <a:pt x="120650" y="3301"/>
                </a:lnTo>
                <a:lnTo>
                  <a:pt x="115443" y="253"/>
                </a:lnTo>
                <a:lnTo>
                  <a:pt x="112395" y="0"/>
                </a:lnTo>
                <a:close/>
              </a:path>
              <a:path w="329565" h="174625">
                <a:moveTo>
                  <a:pt x="190084" y="69976"/>
                </a:moveTo>
                <a:lnTo>
                  <a:pt x="155956" y="69976"/>
                </a:lnTo>
                <a:lnTo>
                  <a:pt x="159385" y="70738"/>
                </a:lnTo>
                <a:lnTo>
                  <a:pt x="162433" y="72136"/>
                </a:lnTo>
                <a:lnTo>
                  <a:pt x="174117" y="88646"/>
                </a:lnTo>
                <a:lnTo>
                  <a:pt x="175133" y="92455"/>
                </a:lnTo>
                <a:lnTo>
                  <a:pt x="175514" y="97536"/>
                </a:lnTo>
                <a:lnTo>
                  <a:pt x="175514" y="169672"/>
                </a:lnTo>
                <a:lnTo>
                  <a:pt x="176022" y="170687"/>
                </a:lnTo>
                <a:lnTo>
                  <a:pt x="176403" y="171196"/>
                </a:lnTo>
                <a:lnTo>
                  <a:pt x="176911" y="171576"/>
                </a:lnTo>
                <a:lnTo>
                  <a:pt x="177673" y="171830"/>
                </a:lnTo>
                <a:lnTo>
                  <a:pt x="178435" y="172212"/>
                </a:lnTo>
                <a:lnTo>
                  <a:pt x="179450" y="172465"/>
                </a:lnTo>
                <a:lnTo>
                  <a:pt x="180721" y="172592"/>
                </a:lnTo>
                <a:lnTo>
                  <a:pt x="183769" y="172847"/>
                </a:lnTo>
                <a:lnTo>
                  <a:pt x="187833" y="172847"/>
                </a:lnTo>
                <a:lnTo>
                  <a:pt x="189484" y="172720"/>
                </a:lnTo>
                <a:lnTo>
                  <a:pt x="192150" y="172465"/>
                </a:lnTo>
                <a:lnTo>
                  <a:pt x="193167" y="172212"/>
                </a:lnTo>
                <a:lnTo>
                  <a:pt x="193802" y="171830"/>
                </a:lnTo>
                <a:lnTo>
                  <a:pt x="194564" y="171576"/>
                </a:lnTo>
                <a:lnTo>
                  <a:pt x="195072" y="171196"/>
                </a:lnTo>
                <a:lnTo>
                  <a:pt x="195834" y="170179"/>
                </a:lnTo>
                <a:lnTo>
                  <a:pt x="195772" y="91312"/>
                </a:lnTo>
                <a:lnTo>
                  <a:pt x="195325" y="86487"/>
                </a:lnTo>
                <a:lnTo>
                  <a:pt x="193929" y="80899"/>
                </a:lnTo>
                <a:lnTo>
                  <a:pt x="192532" y="75184"/>
                </a:lnTo>
                <a:lnTo>
                  <a:pt x="190373" y="70358"/>
                </a:lnTo>
                <a:lnTo>
                  <a:pt x="190084" y="69976"/>
                </a:lnTo>
                <a:close/>
              </a:path>
              <a:path w="329565" h="174625">
                <a:moveTo>
                  <a:pt x="163575" y="52324"/>
                </a:moveTo>
                <a:lnTo>
                  <a:pt x="150114" y="52324"/>
                </a:lnTo>
                <a:lnTo>
                  <a:pt x="144145" y="53848"/>
                </a:lnTo>
                <a:lnTo>
                  <a:pt x="138303" y="56768"/>
                </a:lnTo>
                <a:lnTo>
                  <a:pt x="132334" y="59816"/>
                </a:lnTo>
                <a:lnTo>
                  <a:pt x="126492" y="64388"/>
                </a:lnTo>
                <a:lnTo>
                  <a:pt x="120650" y="70612"/>
                </a:lnTo>
                <a:lnTo>
                  <a:pt x="145079" y="70612"/>
                </a:lnTo>
                <a:lnTo>
                  <a:pt x="146939" y="69976"/>
                </a:lnTo>
                <a:lnTo>
                  <a:pt x="190084" y="69976"/>
                </a:lnTo>
                <a:lnTo>
                  <a:pt x="184023" y="61975"/>
                </a:lnTo>
                <a:lnTo>
                  <a:pt x="179959" y="58547"/>
                </a:lnTo>
                <a:lnTo>
                  <a:pt x="174879" y="56007"/>
                </a:lnTo>
                <a:lnTo>
                  <a:pt x="169799" y="53593"/>
                </a:lnTo>
                <a:lnTo>
                  <a:pt x="163575" y="52324"/>
                </a:lnTo>
                <a:close/>
              </a:path>
              <a:path w="329565" h="174625">
                <a:moveTo>
                  <a:pt x="289052" y="52324"/>
                </a:moveTo>
                <a:lnTo>
                  <a:pt x="272161" y="52324"/>
                </a:lnTo>
                <a:lnTo>
                  <a:pt x="264795" y="53721"/>
                </a:lnTo>
                <a:lnTo>
                  <a:pt x="258191" y="56514"/>
                </a:lnTo>
                <a:lnTo>
                  <a:pt x="251587" y="59436"/>
                </a:lnTo>
                <a:lnTo>
                  <a:pt x="245999" y="63500"/>
                </a:lnTo>
                <a:lnTo>
                  <a:pt x="241300" y="68834"/>
                </a:lnTo>
                <a:lnTo>
                  <a:pt x="236600" y="74040"/>
                </a:lnTo>
                <a:lnTo>
                  <a:pt x="227054" y="117475"/>
                </a:lnTo>
                <a:lnTo>
                  <a:pt x="227165" y="121225"/>
                </a:lnTo>
                <a:lnTo>
                  <a:pt x="245872" y="164337"/>
                </a:lnTo>
                <a:lnTo>
                  <a:pt x="258445" y="170561"/>
                </a:lnTo>
                <a:lnTo>
                  <a:pt x="265303" y="173227"/>
                </a:lnTo>
                <a:lnTo>
                  <a:pt x="273431" y="174498"/>
                </a:lnTo>
                <a:lnTo>
                  <a:pt x="287782" y="174498"/>
                </a:lnTo>
                <a:lnTo>
                  <a:pt x="292735" y="174116"/>
                </a:lnTo>
                <a:lnTo>
                  <a:pt x="297434" y="173227"/>
                </a:lnTo>
                <a:lnTo>
                  <a:pt x="302006" y="172465"/>
                </a:lnTo>
                <a:lnTo>
                  <a:pt x="306197" y="171576"/>
                </a:lnTo>
                <a:lnTo>
                  <a:pt x="309625" y="170561"/>
                </a:lnTo>
                <a:lnTo>
                  <a:pt x="313182" y="169672"/>
                </a:lnTo>
                <a:lnTo>
                  <a:pt x="322325" y="165353"/>
                </a:lnTo>
                <a:lnTo>
                  <a:pt x="322834" y="164973"/>
                </a:lnTo>
                <a:lnTo>
                  <a:pt x="323215" y="164464"/>
                </a:lnTo>
                <a:lnTo>
                  <a:pt x="323977" y="162940"/>
                </a:lnTo>
                <a:lnTo>
                  <a:pt x="324358" y="160909"/>
                </a:lnTo>
                <a:lnTo>
                  <a:pt x="324485" y="157861"/>
                </a:lnTo>
                <a:lnTo>
                  <a:pt x="277749" y="157861"/>
                </a:lnTo>
                <a:lnTo>
                  <a:pt x="272034" y="156972"/>
                </a:lnTo>
                <a:lnTo>
                  <a:pt x="267462" y="155066"/>
                </a:lnTo>
                <a:lnTo>
                  <a:pt x="262763" y="153162"/>
                </a:lnTo>
                <a:lnTo>
                  <a:pt x="258953" y="150495"/>
                </a:lnTo>
                <a:lnTo>
                  <a:pt x="256159" y="146938"/>
                </a:lnTo>
                <a:lnTo>
                  <a:pt x="253238" y="143383"/>
                </a:lnTo>
                <a:lnTo>
                  <a:pt x="251206" y="139064"/>
                </a:lnTo>
                <a:lnTo>
                  <a:pt x="249936" y="134238"/>
                </a:lnTo>
                <a:lnTo>
                  <a:pt x="248666" y="129286"/>
                </a:lnTo>
                <a:lnTo>
                  <a:pt x="248031" y="123698"/>
                </a:lnTo>
                <a:lnTo>
                  <a:pt x="248031" y="117475"/>
                </a:lnTo>
                <a:lnTo>
                  <a:pt x="323342" y="117475"/>
                </a:lnTo>
                <a:lnTo>
                  <a:pt x="325120" y="116839"/>
                </a:lnTo>
                <a:lnTo>
                  <a:pt x="328422" y="114046"/>
                </a:lnTo>
                <a:lnTo>
                  <a:pt x="329184" y="111760"/>
                </a:lnTo>
                <a:lnTo>
                  <a:pt x="329184" y="102615"/>
                </a:lnTo>
                <a:lnTo>
                  <a:pt x="248031" y="102615"/>
                </a:lnTo>
                <a:lnTo>
                  <a:pt x="248158" y="98043"/>
                </a:lnTo>
                <a:lnTo>
                  <a:pt x="249047" y="93725"/>
                </a:lnTo>
                <a:lnTo>
                  <a:pt x="251841" y="85343"/>
                </a:lnTo>
                <a:lnTo>
                  <a:pt x="253746" y="81661"/>
                </a:lnTo>
                <a:lnTo>
                  <a:pt x="256413" y="78612"/>
                </a:lnTo>
                <a:lnTo>
                  <a:pt x="258953" y="75437"/>
                </a:lnTo>
                <a:lnTo>
                  <a:pt x="262128" y="72898"/>
                </a:lnTo>
                <a:lnTo>
                  <a:pt x="265938" y="71120"/>
                </a:lnTo>
                <a:lnTo>
                  <a:pt x="269748" y="69214"/>
                </a:lnTo>
                <a:lnTo>
                  <a:pt x="274193" y="68199"/>
                </a:lnTo>
                <a:lnTo>
                  <a:pt x="318073" y="68199"/>
                </a:lnTo>
                <a:lnTo>
                  <a:pt x="313817" y="62991"/>
                </a:lnTo>
                <a:lnTo>
                  <a:pt x="308737" y="59309"/>
                </a:lnTo>
                <a:lnTo>
                  <a:pt x="296418" y="53721"/>
                </a:lnTo>
                <a:lnTo>
                  <a:pt x="289052" y="52324"/>
                </a:lnTo>
                <a:close/>
              </a:path>
              <a:path w="329565" h="174625">
                <a:moveTo>
                  <a:pt x="321691" y="149478"/>
                </a:moveTo>
                <a:lnTo>
                  <a:pt x="320167" y="149478"/>
                </a:lnTo>
                <a:lnTo>
                  <a:pt x="318643" y="149987"/>
                </a:lnTo>
                <a:lnTo>
                  <a:pt x="316738" y="150749"/>
                </a:lnTo>
                <a:lnTo>
                  <a:pt x="314833" y="151637"/>
                </a:lnTo>
                <a:lnTo>
                  <a:pt x="312293" y="152653"/>
                </a:lnTo>
                <a:lnTo>
                  <a:pt x="309245" y="153670"/>
                </a:lnTo>
                <a:lnTo>
                  <a:pt x="306324" y="154812"/>
                </a:lnTo>
                <a:lnTo>
                  <a:pt x="302768" y="155701"/>
                </a:lnTo>
                <a:lnTo>
                  <a:pt x="294386" y="157479"/>
                </a:lnTo>
                <a:lnTo>
                  <a:pt x="289687" y="157861"/>
                </a:lnTo>
                <a:lnTo>
                  <a:pt x="324485" y="157861"/>
                </a:lnTo>
                <a:lnTo>
                  <a:pt x="324358" y="153670"/>
                </a:lnTo>
                <a:lnTo>
                  <a:pt x="324231" y="152653"/>
                </a:lnTo>
                <a:lnTo>
                  <a:pt x="323977" y="151764"/>
                </a:lnTo>
                <a:lnTo>
                  <a:pt x="323723" y="151257"/>
                </a:lnTo>
                <a:lnTo>
                  <a:pt x="323469" y="150622"/>
                </a:lnTo>
                <a:lnTo>
                  <a:pt x="323215" y="150240"/>
                </a:lnTo>
                <a:lnTo>
                  <a:pt x="322707" y="149987"/>
                </a:lnTo>
                <a:lnTo>
                  <a:pt x="322199" y="149605"/>
                </a:lnTo>
                <a:lnTo>
                  <a:pt x="321691" y="149478"/>
                </a:lnTo>
                <a:close/>
              </a:path>
              <a:path w="329565" h="174625">
                <a:moveTo>
                  <a:pt x="318073" y="68199"/>
                </a:moveTo>
                <a:lnTo>
                  <a:pt x="289052" y="68199"/>
                </a:lnTo>
                <a:lnTo>
                  <a:pt x="296545" y="71247"/>
                </a:lnTo>
                <a:lnTo>
                  <a:pt x="301498" y="77342"/>
                </a:lnTo>
                <a:lnTo>
                  <a:pt x="304807" y="82345"/>
                </a:lnTo>
                <a:lnTo>
                  <a:pt x="307117" y="88217"/>
                </a:lnTo>
                <a:lnTo>
                  <a:pt x="308427" y="94970"/>
                </a:lnTo>
                <a:lnTo>
                  <a:pt x="308737" y="102615"/>
                </a:lnTo>
                <a:lnTo>
                  <a:pt x="329184" y="102615"/>
                </a:lnTo>
                <a:lnTo>
                  <a:pt x="329184" y="97662"/>
                </a:lnTo>
                <a:lnTo>
                  <a:pt x="328295" y="90804"/>
                </a:lnTo>
                <a:lnTo>
                  <a:pt x="326390" y="84454"/>
                </a:lnTo>
                <a:lnTo>
                  <a:pt x="324612" y="78104"/>
                </a:lnTo>
                <a:lnTo>
                  <a:pt x="321691" y="72516"/>
                </a:lnTo>
                <a:lnTo>
                  <a:pt x="318073" y="68199"/>
                </a:lnTo>
                <a:close/>
              </a:path>
            </a:pathLst>
          </a:custGeom>
          <a:solidFill>
            <a:srgbClr val="000000">
              <a:alpha val="79998"/>
            </a:srgbClr>
          </a:solidFill>
        </p:spPr>
        <p:txBody>
          <a:bodyPr wrap="square" lIns="0" tIns="0" rIns="0" bIns="0" rtlCol="0"/>
          <a:lstStyle/>
          <a:p>
            <a:endParaRPr/>
          </a:p>
        </p:txBody>
      </p:sp>
      <p:pic>
        <p:nvPicPr>
          <p:cNvPr id="22" name="object 22"/>
          <p:cNvPicPr/>
          <p:nvPr/>
        </p:nvPicPr>
        <p:blipFill>
          <a:blip r:embed="rId13" cstate="print"/>
          <a:stretch>
            <a:fillRect/>
          </a:stretch>
        </p:blipFill>
        <p:spPr>
          <a:xfrm>
            <a:off x="6165151" y="2809239"/>
            <a:ext cx="775145" cy="208914"/>
          </a:xfrm>
          <a:prstGeom prst="rect">
            <a:avLst/>
          </a:prstGeom>
        </p:spPr>
      </p:pic>
      <p:grpSp>
        <p:nvGrpSpPr>
          <p:cNvPr id="23" name="object 23"/>
          <p:cNvGrpSpPr/>
          <p:nvPr/>
        </p:nvGrpSpPr>
        <p:grpSpPr>
          <a:xfrm>
            <a:off x="7009638" y="2801112"/>
            <a:ext cx="560546" cy="174625"/>
            <a:chOff x="9346183" y="2801111"/>
            <a:chExt cx="747395" cy="174625"/>
          </a:xfrm>
        </p:grpSpPr>
        <p:pic>
          <p:nvPicPr>
            <p:cNvPr id="24" name="object 24"/>
            <p:cNvPicPr/>
            <p:nvPr/>
          </p:nvPicPr>
          <p:blipFill>
            <a:blip r:embed="rId14" cstate="print"/>
            <a:stretch>
              <a:fillRect/>
            </a:stretch>
          </p:blipFill>
          <p:spPr>
            <a:xfrm>
              <a:off x="9346183" y="2801111"/>
              <a:ext cx="693293" cy="174498"/>
            </a:xfrm>
            <a:prstGeom prst="rect">
              <a:avLst/>
            </a:prstGeom>
          </p:spPr>
        </p:pic>
        <p:sp>
          <p:nvSpPr>
            <p:cNvPr id="25" name="object 25"/>
            <p:cNvSpPr/>
            <p:nvPr/>
          </p:nvSpPr>
          <p:spPr>
            <a:xfrm>
              <a:off x="10066908" y="2945510"/>
              <a:ext cx="26670" cy="29209"/>
            </a:xfrm>
            <a:custGeom>
              <a:avLst/>
              <a:gdLst/>
              <a:ahLst/>
              <a:cxnLst/>
              <a:rect l="l" t="t" r="r" b="b"/>
              <a:pathLst>
                <a:path w="26670" h="29210">
                  <a:moveTo>
                    <a:pt x="18415" y="0"/>
                  </a:moveTo>
                  <a:lnTo>
                    <a:pt x="8382" y="0"/>
                  </a:lnTo>
                  <a:lnTo>
                    <a:pt x="4825" y="1015"/>
                  </a:lnTo>
                  <a:lnTo>
                    <a:pt x="1016" y="4825"/>
                  </a:lnTo>
                  <a:lnTo>
                    <a:pt x="0" y="8762"/>
                  </a:lnTo>
                  <a:lnTo>
                    <a:pt x="0" y="20319"/>
                  </a:lnTo>
                  <a:lnTo>
                    <a:pt x="1016" y="24129"/>
                  </a:lnTo>
                  <a:lnTo>
                    <a:pt x="2921" y="26035"/>
                  </a:lnTo>
                  <a:lnTo>
                    <a:pt x="4825" y="27812"/>
                  </a:lnTo>
                  <a:lnTo>
                    <a:pt x="8127" y="28828"/>
                  </a:lnTo>
                  <a:lnTo>
                    <a:pt x="18288" y="28828"/>
                  </a:lnTo>
                  <a:lnTo>
                    <a:pt x="21717" y="27812"/>
                  </a:lnTo>
                  <a:lnTo>
                    <a:pt x="23622" y="25908"/>
                  </a:lnTo>
                  <a:lnTo>
                    <a:pt x="25654" y="24002"/>
                  </a:lnTo>
                  <a:lnTo>
                    <a:pt x="26543" y="20065"/>
                  </a:lnTo>
                  <a:lnTo>
                    <a:pt x="26543" y="14224"/>
                  </a:lnTo>
                  <a:lnTo>
                    <a:pt x="26543" y="8509"/>
                  </a:lnTo>
                  <a:lnTo>
                    <a:pt x="25654" y="4825"/>
                  </a:lnTo>
                  <a:lnTo>
                    <a:pt x="21844" y="1015"/>
                  </a:lnTo>
                  <a:lnTo>
                    <a:pt x="18415" y="0"/>
                  </a:lnTo>
                  <a:close/>
                </a:path>
              </a:pathLst>
            </a:custGeom>
            <a:solidFill>
              <a:srgbClr val="000000">
                <a:alpha val="79998"/>
              </a:srgbClr>
            </a:solidFill>
          </p:spPr>
          <p:txBody>
            <a:bodyPr wrap="square" lIns="0" tIns="0" rIns="0" bIns="0" rtlCol="0"/>
            <a:lstStyle/>
            <a:p>
              <a:endParaRPr/>
            </a:p>
          </p:txBody>
        </p:sp>
      </p:grpSp>
      <p:pic>
        <p:nvPicPr>
          <p:cNvPr id="26" name="object 26"/>
          <p:cNvPicPr/>
          <p:nvPr/>
        </p:nvPicPr>
        <p:blipFill>
          <a:blip r:embed="rId15" cstate="print"/>
          <a:stretch>
            <a:fillRect/>
          </a:stretch>
        </p:blipFill>
        <p:spPr>
          <a:xfrm>
            <a:off x="7641122" y="2801111"/>
            <a:ext cx="346733" cy="174498"/>
          </a:xfrm>
          <a:prstGeom prst="rect">
            <a:avLst/>
          </a:prstGeom>
        </p:spPr>
      </p:pic>
      <p:pic>
        <p:nvPicPr>
          <p:cNvPr id="27" name="object 27"/>
          <p:cNvPicPr/>
          <p:nvPr/>
        </p:nvPicPr>
        <p:blipFill>
          <a:blip r:embed="rId16" cstate="print"/>
          <a:stretch>
            <a:fillRect/>
          </a:stretch>
        </p:blipFill>
        <p:spPr>
          <a:xfrm>
            <a:off x="8061198" y="2801111"/>
            <a:ext cx="522255" cy="174498"/>
          </a:xfrm>
          <a:prstGeom prst="rect">
            <a:avLst/>
          </a:prstGeom>
        </p:spPr>
      </p:pic>
      <p:pic>
        <p:nvPicPr>
          <p:cNvPr id="28" name="object 28"/>
          <p:cNvPicPr/>
          <p:nvPr/>
        </p:nvPicPr>
        <p:blipFill>
          <a:blip r:embed="rId17" cstate="print"/>
          <a:stretch>
            <a:fillRect/>
          </a:stretch>
        </p:blipFill>
        <p:spPr>
          <a:xfrm>
            <a:off x="4691063" y="3083560"/>
            <a:ext cx="117062" cy="164718"/>
          </a:xfrm>
          <a:prstGeom prst="rect">
            <a:avLst/>
          </a:prstGeom>
        </p:spPr>
      </p:pic>
      <p:pic>
        <p:nvPicPr>
          <p:cNvPr id="29" name="object 29"/>
          <p:cNvPicPr/>
          <p:nvPr/>
        </p:nvPicPr>
        <p:blipFill>
          <a:blip r:embed="rId18" cstate="print"/>
          <a:stretch>
            <a:fillRect/>
          </a:stretch>
        </p:blipFill>
        <p:spPr>
          <a:xfrm>
            <a:off x="4900803" y="3075433"/>
            <a:ext cx="439865" cy="174497"/>
          </a:xfrm>
          <a:prstGeom prst="rect">
            <a:avLst/>
          </a:prstGeom>
        </p:spPr>
      </p:pic>
      <p:sp>
        <p:nvSpPr>
          <p:cNvPr id="30" name="object 30"/>
          <p:cNvSpPr/>
          <p:nvPr/>
        </p:nvSpPr>
        <p:spPr>
          <a:xfrm>
            <a:off x="5431536" y="3075433"/>
            <a:ext cx="247174" cy="174625"/>
          </a:xfrm>
          <a:custGeom>
            <a:avLst/>
            <a:gdLst/>
            <a:ahLst/>
            <a:cxnLst/>
            <a:rect l="l" t="t" r="r" b="b"/>
            <a:pathLst>
              <a:path w="329565" h="174625">
                <a:moveTo>
                  <a:pt x="40131" y="71500"/>
                </a:moveTo>
                <a:lnTo>
                  <a:pt x="19684" y="71500"/>
                </a:lnTo>
                <a:lnTo>
                  <a:pt x="19684" y="143001"/>
                </a:lnTo>
                <a:lnTo>
                  <a:pt x="46481" y="174243"/>
                </a:lnTo>
                <a:lnTo>
                  <a:pt x="54101" y="174243"/>
                </a:lnTo>
                <a:lnTo>
                  <a:pt x="56006" y="174116"/>
                </a:lnTo>
                <a:lnTo>
                  <a:pt x="59817" y="173608"/>
                </a:lnTo>
                <a:lnTo>
                  <a:pt x="61595" y="173227"/>
                </a:lnTo>
                <a:lnTo>
                  <a:pt x="63246" y="172846"/>
                </a:lnTo>
                <a:lnTo>
                  <a:pt x="64897" y="172592"/>
                </a:lnTo>
                <a:lnTo>
                  <a:pt x="66421" y="172084"/>
                </a:lnTo>
                <a:lnTo>
                  <a:pt x="67691" y="171450"/>
                </a:lnTo>
                <a:lnTo>
                  <a:pt x="69087" y="170941"/>
                </a:lnTo>
                <a:lnTo>
                  <a:pt x="70103" y="170306"/>
                </a:lnTo>
                <a:lnTo>
                  <a:pt x="71374" y="169037"/>
                </a:lnTo>
                <a:lnTo>
                  <a:pt x="71881" y="167893"/>
                </a:lnTo>
                <a:lnTo>
                  <a:pt x="72135" y="166496"/>
                </a:lnTo>
                <a:lnTo>
                  <a:pt x="72517" y="165100"/>
                </a:lnTo>
                <a:lnTo>
                  <a:pt x="72612" y="157987"/>
                </a:lnTo>
                <a:lnTo>
                  <a:pt x="72390" y="157098"/>
                </a:lnTo>
                <a:lnTo>
                  <a:pt x="72350" y="156844"/>
                </a:lnTo>
                <a:lnTo>
                  <a:pt x="49783" y="156844"/>
                </a:lnTo>
                <a:lnTo>
                  <a:pt x="45720" y="154812"/>
                </a:lnTo>
                <a:lnTo>
                  <a:pt x="43433" y="150875"/>
                </a:lnTo>
                <a:lnTo>
                  <a:pt x="41275" y="147065"/>
                </a:lnTo>
                <a:lnTo>
                  <a:pt x="40131" y="141223"/>
                </a:lnTo>
                <a:lnTo>
                  <a:pt x="40131" y="71500"/>
                </a:lnTo>
                <a:close/>
              </a:path>
              <a:path w="329565" h="174625">
                <a:moveTo>
                  <a:pt x="70230" y="153288"/>
                </a:moveTo>
                <a:lnTo>
                  <a:pt x="69215" y="153288"/>
                </a:lnTo>
                <a:lnTo>
                  <a:pt x="68452" y="153542"/>
                </a:lnTo>
                <a:lnTo>
                  <a:pt x="67691" y="153923"/>
                </a:lnTo>
                <a:lnTo>
                  <a:pt x="66801" y="154304"/>
                </a:lnTo>
                <a:lnTo>
                  <a:pt x="57530" y="156844"/>
                </a:lnTo>
                <a:lnTo>
                  <a:pt x="72350" y="156844"/>
                </a:lnTo>
                <a:lnTo>
                  <a:pt x="72135" y="155447"/>
                </a:lnTo>
                <a:lnTo>
                  <a:pt x="71627" y="154177"/>
                </a:lnTo>
                <a:lnTo>
                  <a:pt x="71374" y="153796"/>
                </a:lnTo>
                <a:lnTo>
                  <a:pt x="70993" y="153669"/>
                </a:lnTo>
                <a:lnTo>
                  <a:pt x="70611" y="153415"/>
                </a:lnTo>
                <a:lnTo>
                  <a:pt x="70230" y="153288"/>
                </a:lnTo>
                <a:close/>
              </a:path>
              <a:path w="329565" h="174625">
                <a:moveTo>
                  <a:pt x="69215" y="54609"/>
                </a:moveTo>
                <a:lnTo>
                  <a:pt x="3555" y="54609"/>
                </a:lnTo>
                <a:lnTo>
                  <a:pt x="3048" y="54737"/>
                </a:lnTo>
                <a:lnTo>
                  <a:pt x="2412" y="55117"/>
                </a:lnTo>
                <a:lnTo>
                  <a:pt x="1904" y="55371"/>
                </a:lnTo>
                <a:lnTo>
                  <a:pt x="0" y="66166"/>
                </a:lnTo>
                <a:lnTo>
                  <a:pt x="380" y="68198"/>
                </a:lnTo>
                <a:lnTo>
                  <a:pt x="1143" y="69595"/>
                </a:lnTo>
                <a:lnTo>
                  <a:pt x="1904" y="70865"/>
                </a:lnTo>
                <a:lnTo>
                  <a:pt x="2921" y="71500"/>
                </a:lnTo>
                <a:lnTo>
                  <a:pt x="69850" y="71500"/>
                </a:lnTo>
                <a:lnTo>
                  <a:pt x="70866" y="70865"/>
                </a:lnTo>
                <a:lnTo>
                  <a:pt x="71627" y="69595"/>
                </a:lnTo>
                <a:lnTo>
                  <a:pt x="72262" y="68198"/>
                </a:lnTo>
                <a:lnTo>
                  <a:pt x="72644" y="66166"/>
                </a:lnTo>
                <a:lnTo>
                  <a:pt x="72644" y="60325"/>
                </a:lnTo>
                <a:lnTo>
                  <a:pt x="72390" y="59181"/>
                </a:lnTo>
                <a:lnTo>
                  <a:pt x="72262" y="58165"/>
                </a:lnTo>
                <a:lnTo>
                  <a:pt x="70357" y="55117"/>
                </a:lnTo>
                <a:lnTo>
                  <a:pt x="69850" y="54737"/>
                </a:lnTo>
                <a:lnTo>
                  <a:pt x="69215" y="54609"/>
                </a:lnTo>
                <a:close/>
              </a:path>
              <a:path w="329565" h="174625">
                <a:moveTo>
                  <a:pt x="31876" y="24256"/>
                </a:moveTo>
                <a:lnTo>
                  <a:pt x="27812" y="24256"/>
                </a:lnTo>
                <a:lnTo>
                  <a:pt x="26161" y="24383"/>
                </a:lnTo>
                <a:lnTo>
                  <a:pt x="20193" y="26542"/>
                </a:lnTo>
                <a:lnTo>
                  <a:pt x="19811" y="27050"/>
                </a:lnTo>
                <a:lnTo>
                  <a:pt x="19684" y="54609"/>
                </a:lnTo>
                <a:lnTo>
                  <a:pt x="40131" y="54609"/>
                </a:lnTo>
                <a:lnTo>
                  <a:pt x="40131" y="27558"/>
                </a:lnTo>
                <a:lnTo>
                  <a:pt x="39624" y="26542"/>
                </a:lnTo>
                <a:lnTo>
                  <a:pt x="34925" y="24510"/>
                </a:lnTo>
                <a:lnTo>
                  <a:pt x="31876" y="24256"/>
                </a:lnTo>
                <a:close/>
              </a:path>
              <a:path w="329565" h="174625">
                <a:moveTo>
                  <a:pt x="112395" y="0"/>
                </a:moveTo>
                <a:lnTo>
                  <a:pt x="108330" y="0"/>
                </a:lnTo>
                <a:lnTo>
                  <a:pt x="106679" y="126"/>
                </a:lnTo>
                <a:lnTo>
                  <a:pt x="100710" y="2285"/>
                </a:lnTo>
                <a:lnTo>
                  <a:pt x="100329" y="2793"/>
                </a:lnTo>
                <a:lnTo>
                  <a:pt x="100329" y="170179"/>
                </a:lnTo>
                <a:lnTo>
                  <a:pt x="100710" y="170687"/>
                </a:lnTo>
                <a:lnTo>
                  <a:pt x="100965" y="171195"/>
                </a:lnTo>
                <a:lnTo>
                  <a:pt x="101473" y="171576"/>
                </a:lnTo>
                <a:lnTo>
                  <a:pt x="102234" y="171830"/>
                </a:lnTo>
                <a:lnTo>
                  <a:pt x="102997" y="172212"/>
                </a:lnTo>
                <a:lnTo>
                  <a:pt x="104140" y="172465"/>
                </a:lnTo>
                <a:lnTo>
                  <a:pt x="106679" y="172719"/>
                </a:lnTo>
                <a:lnTo>
                  <a:pt x="108330" y="172846"/>
                </a:lnTo>
                <a:lnTo>
                  <a:pt x="112395" y="172846"/>
                </a:lnTo>
                <a:lnTo>
                  <a:pt x="114046" y="172719"/>
                </a:lnTo>
                <a:lnTo>
                  <a:pt x="116712" y="172465"/>
                </a:lnTo>
                <a:lnTo>
                  <a:pt x="117728" y="172212"/>
                </a:lnTo>
                <a:lnTo>
                  <a:pt x="118491" y="171830"/>
                </a:lnTo>
                <a:lnTo>
                  <a:pt x="119252" y="171576"/>
                </a:lnTo>
                <a:lnTo>
                  <a:pt x="119760" y="171195"/>
                </a:lnTo>
                <a:lnTo>
                  <a:pt x="120142" y="170687"/>
                </a:lnTo>
                <a:lnTo>
                  <a:pt x="120650" y="169671"/>
                </a:lnTo>
                <a:lnTo>
                  <a:pt x="120650" y="91312"/>
                </a:lnTo>
                <a:lnTo>
                  <a:pt x="126237" y="84327"/>
                </a:lnTo>
                <a:lnTo>
                  <a:pt x="131572" y="78993"/>
                </a:lnTo>
                <a:lnTo>
                  <a:pt x="136651" y="75437"/>
                </a:lnTo>
                <a:lnTo>
                  <a:pt x="141731" y="71754"/>
                </a:lnTo>
                <a:lnTo>
                  <a:pt x="145079" y="70612"/>
                </a:lnTo>
                <a:lnTo>
                  <a:pt x="120650" y="70612"/>
                </a:lnTo>
                <a:lnTo>
                  <a:pt x="120650" y="3301"/>
                </a:lnTo>
                <a:lnTo>
                  <a:pt x="115443" y="253"/>
                </a:lnTo>
                <a:lnTo>
                  <a:pt x="112395" y="0"/>
                </a:lnTo>
                <a:close/>
              </a:path>
              <a:path w="329565" h="174625">
                <a:moveTo>
                  <a:pt x="190084" y="69976"/>
                </a:moveTo>
                <a:lnTo>
                  <a:pt x="155955" y="69976"/>
                </a:lnTo>
                <a:lnTo>
                  <a:pt x="159384" y="70738"/>
                </a:lnTo>
                <a:lnTo>
                  <a:pt x="162432" y="72135"/>
                </a:lnTo>
                <a:lnTo>
                  <a:pt x="174117" y="88645"/>
                </a:lnTo>
                <a:lnTo>
                  <a:pt x="175132" y="92455"/>
                </a:lnTo>
                <a:lnTo>
                  <a:pt x="175513" y="97535"/>
                </a:lnTo>
                <a:lnTo>
                  <a:pt x="175513" y="169671"/>
                </a:lnTo>
                <a:lnTo>
                  <a:pt x="176022" y="170687"/>
                </a:lnTo>
                <a:lnTo>
                  <a:pt x="176402" y="171195"/>
                </a:lnTo>
                <a:lnTo>
                  <a:pt x="176910" y="171576"/>
                </a:lnTo>
                <a:lnTo>
                  <a:pt x="177673" y="171830"/>
                </a:lnTo>
                <a:lnTo>
                  <a:pt x="178434" y="172212"/>
                </a:lnTo>
                <a:lnTo>
                  <a:pt x="179450" y="172465"/>
                </a:lnTo>
                <a:lnTo>
                  <a:pt x="180721" y="172592"/>
                </a:lnTo>
                <a:lnTo>
                  <a:pt x="183769" y="172846"/>
                </a:lnTo>
                <a:lnTo>
                  <a:pt x="187832" y="172846"/>
                </a:lnTo>
                <a:lnTo>
                  <a:pt x="189483" y="172719"/>
                </a:lnTo>
                <a:lnTo>
                  <a:pt x="192150" y="172465"/>
                </a:lnTo>
                <a:lnTo>
                  <a:pt x="193167" y="172212"/>
                </a:lnTo>
                <a:lnTo>
                  <a:pt x="193801" y="171830"/>
                </a:lnTo>
                <a:lnTo>
                  <a:pt x="194563" y="171576"/>
                </a:lnTo>
                <a:lnTo>
                  <a:pt x="195072" y="171195"/>
                </a:lnTo>
                <a:lnTo>
                  <a:pt x="195833" y="170179"/>
                </a:lnTo>
                <a:lnTo>
                  <a:pt x="195772" y="91312"/>
                </a:lnTo>
                <a:lnTo>
                  <a:pt x="195325" y="86487"/>
                </a:lnTo>
                <a:lnTo>
                  <a:pt x="193928" y="80898"/>
                </a:lnTo>
                <a:lnTo>
                  <a:pt x="192531" y="75183"/>
                </a:lnTo>
                <a:lnTo>
                  <a:pt x="190373" y="70357"/>
                </a:lnTo>
                <a:lnTo>
                  <a:pt x="190084" y="69976"/>
                </a:lnTo>
                <a:close/>
              </a:path>
              <a:path w="329565" h="174625">
                <a:moveTo>
                  <a:pt x="163575" y="52323"/>
                </a:moveTo>
                <a:lnTo>
                  <a:pt x="150113" y="52323"/>
                </a:lnTo>
                <a:lnTo>
                  <a:pt x="144145" y="53847"/>
                </a:lnTo>
                <a:lnTo>
                  <a:pt x="138302" y="56768"/>
                </a:lnTo>
                <a:lnTo>
                  <a:pt x="132333" y="59816"/>
                </a:lnTo>
                <a:lnTo>
                  <a:pt x="126492" y="64388"/>
                </a:lnTo>
                <a:lnTo>
                  <a:pt x="120650" y="70612"/>
                </a:lnTo>
                <a:lnTo>
                  <a:pt x="145079" y="70612"/>
                </a:lnTo>
                <a:lnTo>
                  <a:pt x="146938" y="69976"/>
                </a:lnTo>
                <a:lnTo>
                  <a:pt x="190084" y="69976"/>
                </a:lnTo>
                <a:lnTo>
                  <a:pt x="184023" y="61975"/>
                </a:lnTo>
                <a:lnTo>
                  <a:pt x="179958" y="58546"/>
                </a:lnTo>
                <a:lnTo>
                  <a:pt x="174878" y="56006"/>
                </a:lnTo>
                <a:lnTo>
                  <a:pt x="169799" y="53593"/>
                </a:lnTo>
                <a:lnTo>
                  <a:pt x="163575" y="52323"/>
                </a:lnTo>
                <a:close/>
              </a:path>
              <a:path w="329565" h="174625">
                <a:moveTo>
                  <a:pt x="289051" y="52323"/>
                </a:moveTo>
                <a:lnTo>
                  <a:pt x="272160" y="52323"/>
                </a:lnTo>
                <a:lnTo>
                  <a:pt x="264795" y="53720"/>
                </a:lnTo>
                <a:lnTo>
                  <a:pt x="258191" y="56514"/>
                </a:lnTo>
                <a:lnTo>
                  <a:pt x="251586" y="59435"/>
                </a:lnTo>
                <a:lnTo>
                  <a:pt x="245999" y="63500"/>
                </a:lnTo>
                <a:lnTo>
                  <a:pt x="241300" y="68833"/>
                </a:lnTo>
                <a:lnTo>
                  <a:pt x="236600" y="74040"/>
                </a:lnTo>
                <a:lnTo>
                  <a:pt x="227054" y="117475"/>
                </a:lnTo>
                <a:lnTo>
                  <a:pt x="227165" y="121225"/>
                </a:lnTo>
                <a:lnTo>
                  <a:pt x="245872" y="164337"/>
                </a:lnTo>
                <a:lnTo>
                  <a:pt x="258445" y="170560"/>
                </a:lnTo>
                <a:lnTo>
                  <a:pt x="265302" y="173227"/>
                </a:lnTo>
                <a:lnTo>
                  <a:pt x="273430" y="174497"/>
                </a:lnTo>
                <a:lnTo>
                  <a:pt x="287781" y="174497"/>
                </a:lnTo>
                <a:lnTo>
                  <a:pt x="292734" y="174116"/>
                </a:lnTo>
                <a:lnTo>
                  <a:pt x="297433" y="173227"/>
                </a:lnTo>
                <a:lnTo>
                  <a:pt x="302005" y="172465"/>
                </a:lnTo>
                <a:lnTo>
                  <a:pt x="306197" y="171576"/>
                </a:lnTo>
                <a:lnTo>
                  <a:pt x="309625" y="170560"/>
                </a:lnTo>
                <a:lnTo>
                  <a:pt x="313181" y="169671"/>
                </a:lnTo>
                <a:lnTo>
                  <a:pt x="322325" y="165353"/>
                </a:lnTo>
                <a:lnTo>
                  <a:pt x="322833" y="164972"/>
                </a:lnTo>
                <a:lnTo>
                  <a:pt x="323215" y="164464"/>
                </a:lnTo>
                <a:lnTo>
                  <a:pt x="323976" y="162940"/>
                </a:lnTo>
                <a:lnTo>
                  <a:pt x="324357" y="160908"/>
                </a:lnTo>
                <a:lnTo>
                  <a:pt x="324484" y="157860"/>
                </a:lnTo>
                <a:lnTo>
                  <a:pt x="277749" y="157860"/>
                </a:lnTo>
                <a:lnTo>
                  <a:pt x="272033" y="156971"/>
                </a:lnTo>
                <a:lnTo>
                  <a:pt x="267461" y="155066"/>
                </a:lnTo>
                <a:lnTo>
                  <a:pt x="262762" y="153162"/>
                </a:lnTo>
                <a:lnTo>
                  <a:pt x="258952" y="150494"/>
                </a:lnTo>
                <a:lnTo>
                  <a:pt x="256158" y="146938"/>
                </a:lnTo>
                <a:lnTo>
                  <a:pt x="253237" y="143382"/>
                </a:lnTo>
                <a:lnTo>
                  <a:pt x="251205" y="139064"/>
                </a:lnTo>
                <a:lnTo>
                  <a:pt x="249935" y="134238"/>
                </a:lnTo>
                <a:lnTo>
                  <a:pt x="248666" y="129285"/>
                </a:lnTo>
                <a:lnTo>
                  <a:pt x="248030" y="123697"/>
                </a:lnTo>
                <a:lnTo>
                  <a:pt x="248030" y="117475"/>
                </a:lnTo>
                <a:lnTo>
                  <a:pt x="323342" y="117475"/>
                </a:lnTo>
                <a:lnTo>
                  <a:pt x="325120" y="116839"/>
                </a:lnTo>
                <a:lnTo>
                  <a:pt x="328422" y="114045"/>
                </a:lnTo>
                <a:lnTo>
                  <a:pt x="329183" y="111759"/>
                </a:lnTo>
                <a:lnTo>
                  <a:pt x="329183" y="102615"/>
                </a:lnTo>
                <a:lnTo>
                  <a:pt x="248030" y="102615"/>
                </a:lnTo>
                <a:lnTo>
                  <a:pt x="248157" y="98043"/>
                </a:lnTo>
                <a:lnTo>
                  <a:pt x="249047" y="93725"/>
                </a:lnTo>
                <a:lnTo>
                  <a:pt x="251841" y="85343"/>
                </a:lnTo>
                <a:lnTo>
                  <a:pt x="253746" y="81660"/>
                </a:lnTo>
                <a:lnTo>
                  <a:pt x="256412" y="78612"/>
                </a:lnTo>
                <a:lnTo>
                  <a:pt x="258952" y="75437"/>
                </a:lnTo>
                <a:lnTo>
                  <a:pt x="262127" y="72897"/>
                </a:lnTo>
                <a:lnTo>
                  <a:pt x="265937" y="71119"/>
                </a:lnTo>
                <a:lnTo>
                  <a:pt x="269748" y="69214"/>
                </a:lnTo>
                <a:lnTo>
                  <a:pt x="274193" y="68198"/>
                </a:lnTo>
                <a:lnTo>
                  <a:pt x="318073" y="68198"/>
                </a:lnTo>
                <a:lnTo>
                  <a:pt x="313817" y="62991"/>
                </a:lnTo>
                <a:lnTo>
                  <a:pt x="308736" y="59308"/>
                </a:lnTo>
                <a:lnTo>
                  <a:pt x="296418" y="53720"/>
                </a:lnTo>
                <a:lnTo>
                  <a:pt x="289051" y="52323"/>
                </a:lnTo>
                <a:close/>
              </a:path>
              <a:path w="329565" h="174625">
                <a:moveTo>
                  <a:pt x="321691" y="149478"/>
                </a:moveTo>
                <a:lnTo>
                  <a:pt x="320167" y="149478"/>
                </a:lnTo>
                <a:lnTo>
                  <a:pt x="318643" y="149987"/>
                </a:lnTo>
                <a:lnTo>
                  <a:pt x="316737" y="150748"/>
                </a:lnTo>
                <a:lnTo>
                  <a:pt x="314832" y="151637"/>
                </a:lnTo>
                <a:lnTo>
                  <a:pt x="312293" y="152653"/>
                </a:lnTo>
                <a:lnTo>
                  <a:pt x="309245" y="153669"/>
                </a:lnTo>
                <a:lnTo>
                  <a:pt x="306324" y="154812"/>
                </a:lnTo>
                <a:lnTo>
                  <a:pt x="302768" y="155701"/>
                </a:lnTo>
                <a:lnTo>
                  <a:pt x="294385" y="157479"/>
                </a:lnTo>
                <a:lnTo>
                  <a:pt x="289686" y="157860"/>
                </a:lnTo>
                <a:lnTo>
                  <a:pt x="324484" y="157860"/>
                </a:lnTo>
                <a:lnTo>
                  <a:pt x="324357" y="153669"/>
                </a:lnTo>
                <a:lnTo>
                  <a:pt x="324230" y="152653"/>
                </a:lnTo>
                <a:lnTo>
                  <a:pt x="323976" y="151764"/>
                </a:lnTo>
                <a:lnTo>
                  <a:pt x="323723" y="151256"/>
                </a:lnTo>
                <a:lnTo>
                  <a:pt x="323469" y="150621"/>
                </a:lnTo>
                <a:lnTo>
                  <a:pt x="323215" y="150240"/>
                </a:lnTo>
                <a:lnTo>
                  <a:pt x="322706" y="149987"/>
                </a:lnTo>
                <a:lnTo>
                  <a:pt x="322199" y="149605"/>
                </a:lnTo>
                <a:lnTo>
                  <a:pt x="321691" y="149478"/>
                </a:lnTo>
                <a:close/>
              </a:path>
              <a:path w="329565" h="174625">
                <a:moveTo>
                  <a:pt x="318073" y="68198"/>
                </a:moveTo>
                <a:lnTo>
                  <a:pt x="289051" y="68198"/>
                </a:lnTo>
                <a:lnTo>
                  <a:pt x="296545" y="71246"/>
                </a:lnTo>
                <a:lnTo>
                  <a:pt x="301498" y="77342"/>
                </a:lnTo>
                <a:lnTo>
                  <a:pt x="304807" y="82345"/>
                </a:lnTo>
                <a:lnTo>
                  <a:pt x="307117" y="88217"/>
                </a:lnTo>
                <a:lnTo>
                  <a:pt x="308427" y="94970"/>
                </a:lnTo>
                <a:lnTo>
                  <a:pt x="308736" y="102615"/>
                </a:lnTo>
                <a:lnTo>
                  <a:pt x="329183" y="102615"/>
                </a:lnTo>
                <a:lnTo>
                  <a:pt x="329183" y="97662"/>
                </a:lnTo>
                <a:lnTo>
                  <a:pt x="328295" y="90804"/>
                </a:lnTo>
                <a:lnTo>
                  <a:pt x="326390" y="84454"/>
                </a:lnTo>
                <a:lnTo>
                  <a:pt x="324611" y="78104"/>
                </a:lnTo>
                <a:lnTo>
                  <a:pt x="321691" y="72516"/>
                </a:lnTo>
                <a:lnTo>
                  <a:pt x="318073" y="68198"/>
                </a:lnTo>
                <a:close/>
              </a:path>
            </a:pathLst>
          </a:custGeom>
          <a:solidFill>
            <a:srgbClr val="000000">
              <a:alpha val="79998"/>
            </a:srgbClr>
          </a:solidFill>
        </p:spPr>
        <p:txBody>
          <a:bodyPr wrap="square" lIns="0" tIns="0" rIns="0" bIns="0" rtlCol="0"/>
          <a:lstStyle/>
          <a:p>
            <a:endParaRPr/>
          </a:p>
        </p:txBody>
      </p:sp>
      <p:pic>
        <p:nvPicPr>
          <p:cNvPr id="31" name="object 31"/>
          <p:cNvPicPr/>
          <p:nvPr/>
        </p:nvPicPr>
        <p:blipFill>
          <a:blip r:embed="rId19" cstate="print"/>
          <a:stretch>
            <a:fillRect/>
          </a:stretch>
        </p:blipFill>
        <p:spPr>
          <a:xfrm>
            <a:off x="5776034" y="3127756"/>
            <a:ext cx="444553" cy="164719"/>
          </a:xfrm>
          <a:prstGeom prst="rect">
            <a:avLst/>
          </a:prstGeom>
        </p:spPr>
      </p:pic>
      <p:pic>
        <p:nvPicPr>
          <p:cNvPr id="32" name="object 32"/>
          <p:cNvPicPr/>
          <p:nvPr/>
        </p:nvPicPr>
        <p:blipFill>
          <a:blip r:embed="rId20" cstate="print"/>
          <a:stretch>
            <a:fillRect/>
          </a:stretch>
        </p:blipFill>
        <p:spPr>
          <a:xfrm>
            <a:off x="6311455" y="3075433"/>
            <a:ext cx="402050" cy="174497"/>
          </a:xfrm>
          <a:prstGeom prst="rect">
            <a:avLst/>
          </a:prstGeom>
        </p:spPr>
      </p:pic>
      <p:sp>
        <p:nvSpPr>
          <p:cNvPr id="33" name="object 33"/>
          <p:cNvSpPr/>
          <p:nvPr/>
        </p:nvSpPr>
        <p:spPr>
          <a:xfrm>
            <a:off x="6801801" y="3127756"/>
            <a:ext cx="237173" cy="122555"/>
          </a:xfrm>
          <a:custGeom>
            <a:avLst/>
            <a:gdLst/>
            <a:ahLst/>
            <a:cxnLst/>
            <a:rect l="l" t="t" r="r" b="b"/>
            <a:pathLst>
              <a:path w="316229" h="122555">
                <a:moveTo>
                  <a:pt x="86214" y="16510"/>
                </a:moveTo>
                <a:lnTo>
                  <a:pt x="50291" y="16510"/>
                </a:lnTo>
                <a:lnTo>
                  <a:pt x="54228" y="17018"/>
                </a:lnTo>
                <a:lnTo>
                  <a:pt x="60578" y="19304"/>
                </a:lnTo>
                <a:lnTo>
                  <a:pt x="63246" y="20955"/>
                </a:lnTo>
                <a:lnTo>
                  <a:pt x="67309" y="25273"/>
                </a:lnTo>
                <a:lnTo>
                  <a:pt x="68706" y="28067"/>
                </a:lnTo>
                <a:lnTo>
                  <a:pt x="69596" y="31369"/>
                </a:lnTo>
                <a:lnTo>
                  <a:pt x="70611" y="34671"/>
                </a:lnTo>
                <a:lnTo>
                  <a:pt x="70993" y="38354"/>
                </a:lnTo>
                <a:lnTo>
                  <a:pt x="70993" y="51308"/>
                </a:lnTo>
                <a:lnTo>
                  <a:pt x="46989" y="51308"/>
                </a:lnTo>
                <a:lnTo>
                  <a:pt x="39243" y="52070"/>
                </a:lnTo>
                <a:lnTo>
                  <a:pt x="25400" y="55118"/>
                </a:lnTo>
                <a:lnTo>
                  <a:pt x="19557" y="57404"/>
                </a:lnTo>
                <a:lnTo>
                  <a:pt x="14858" y="60452"/>
                </a:lnTo>
                <a:lnTo>
                  <a:pt x="10032" y="63500"/>
                </a:lnTo>
                <a:lnTo>
                  <a:pt x="6350" y="67310"/>
                </a:lnTo>
                <a:lnTo>
                  <a:pt x="3809" y="72009"/>
                </a:lnTo>
                <a:lnTo>
                  <a:pt x="1270" y="76581"/>
                </a:lnTo>
                <a:lnTo>
                  <a:pt x="0" y="82042"/>
                </a:lnTo>
                <a:lnTo>
                  <a:pt x="0" y="93599"/>
                </a:lnTo>
                <a:lnTo>
                  <a:pt x="888" y="98425"/>
                </a:lnTo>
                <a:lnTo>
                  <a:pt x="2794" y="102616"/>
                </a:lnTo>
                <a:lnTo>
                  <a:pt x="4572" y="106807"/>
                </a:lnTo>
                <a:lnTo>
                  <a:pt x="32638" y="122174"/>
                </a:lnTo>
                <a:lnTo>
                  <a:pt x="45211" y="122174"/>
                </a:lnTo>
                <a:lnTo>
                  <a:pt x="73303" y="106172"/>
                </a:lnTo>
                <a:lnTo>
                  <a:pt x="35178" y="106172"/>
                </a:lnTo>
                <a:lnTo>
                  <a:pt x="29972" y="104521"/>
                </a:lnTo>
                <a:lnTo>
                  <a:pt x="26415" y="101092"/>
                </a:lnTo>
                <a:lnTo>
                  <a:pt x="22732" y="97663"/>
                </a:lnTo>
                <a:lnTo>
                  <a:pt x="20827" y="93091"/>
                </a:lnTo>
                <a:lnTo>
                  <a:pt x="20827" y="83947"/>
                </a:lnTo>
                <a:lnTo>
                  <a:pt x="21462" y="80899"/>
                </a:lnTo>
                <a:lnTo>
                  <a:pt x="22732" y="78359"/>
                </a:lnTo>
                <a:lnTo>
                  <a:pt x="24002" y="75692"/>
                </a:lnTo>
                <a:lnTo>
                  <a:pt x="48005" y="66040"/>
                </a:lnTo>
                <a:lnTo>
                  <a:pt x="91312" y="66040"/>
                </a:lnTo>
                <a:lnTo>
                  <a:pt x="91275" y="34671"/>
                </a:lnTo>
                <a:lnTo>
                  <a:pt x="90424" y="28829"/>
                </a:lnTo>
                <a:lnTo>
                  <a:pt x="87375" y="18542"/>
                </a:lnTo>
                <a:lnTo>
                  <a:pt x="86214" y="16510"/>
                </a:lnTo>
                <a:close/>
              </a:path>
              <a:path w="316229" h="122555">
                <a:moveTo>
                  <a:pt x="91312" y="105664"/>
                </a:moveTo>
                <a:lnTo>
                  <a:pt x="73786" y="105664"/>
                </a:lnTo>
                <a:lnTo>
                  <a:pt x="73786" y="117856"/>
                </a:lnTo>
                <a:lnTo>
                  <a:pt x="80390" y="120523"/>
                </a:lnTo>
                <a:lnTo>
                  <a:pt x="84708" y="120523"/>
                </a:lnTo>
                <a:lnTo>
                  <a:pt x="86359" y="120396"/>
                </a:lnTo>
                <a:lnTo>
                  <a:pt x="87502" y="120142"/>
                </a:lnTo>
                <a:lnTo>
                  <a:pt x="88773" y="119888"/>
                </a:lnTo>
                <a:lnTo>
                  <a:pt x="89661" y="119507"/>
                </a:lnTo>
                <a:lnTo>
                  <a:pt x="90931" y="118491"/>
                </a:lnTo>
                <a:lnTo>
                  <a:pt x="91312" y="117856"/>
                </a:lnTo>
                <a:lnTo>
                  <a:pt x="91312" y="105664"/>
                </a:lnTo>
                <a:close/>
              </a:path>
              <a:path w="316229" h="122555">
                <a:moveTo>
                  <a:pt x="91312" y="66040"/>
                </a:moveTo>
                <a:lnTo>
                  <a:pt x="70993" y="66040"/>
                </a:lnTo>
                <a:lnTo>
                  <a:pt x="70993" y="89662"/>
                </a:lnTo>
                <a:lnTo>
                  <a:pt x="66039" y="95250"/>
                </a:lnTo>
                <a:lnTo>
                  <a:pt x="61213" y="99441"/>
                </a:lnTo>
                <a:lnTo>
                  <a:pt x="52070" y="104775"/>
                </a:lnTo>
                <a:lnTo>
                  <a:pt x="47116" y="106172"/>
                </a:lnTo>
                <a:lnTo>
                  <a:pt x="73303" y="106172"/>
                </a:lnTo>
                <a:lnTo>
                  <a:pt x="73786" y="105664"/>
                </a:lnTo>
                <a:lnTo>
                  <a:pt x="91312" y="105664"/>
                </a:lnTo>
                <a:lnTo>
                  <a:pt x="91312" y="66040"/>
                </a:lnTo>
                <a:close/>
              </a:path>
              <a:path w="316229" h="122555">
                <a:moveTo>
                  <a:pt x="55372" y="0"/>
                </a:moveTo>
                <a:lnTo>
                  <a:pt x="43179" y="0"/>
                </a:lnTo>
                <a:lnTo>
                  <a:pt x="38861" y="381"/>
                </a:lnTo>
                <a:lnTo>
                  <a:pt x="8000" y="11811"/>
                </a:lnTo>
                <a:lnTo>
                  <a:pt x="6857" y="12827"/>
                </a:lnTo>
                <a:lnTo>
                  <a:pt x="6096" y="13970"/>
                </a:lnTo>
                <a:lnTo>
                  <a:pt x="5841" y="15240"/>
                </a:lnTo>
                <a:lnTo>
                  <a:pt x="5587" y="16383"/>
                </a:lnTo>
                <a:lnTo>
                  <a:pt x="5460" y="22479"/>
                </a:lnTo>
                <a:lnTo>
                  <a:pt x="5714" y="23495"/>
                </a:lnTo>
                <a:lnTo>
                  <a:pt x="5841" y="24511"/>
                </a:lnTo>
                <a:lnTo>
                  <a:pt x="8889" y="27940"/>
                </a:lnTo>
                <a:lnTo>
                  <a:pt x="10540" y="27940"/>
                </a:lnTo>
                <a:lnTo>
                  <a:pt x="11937" y="27432"/>
                </a:lnTo>
                <a:lnTo>
                  <a:pt x="13970" y="26162"/>
                </a:lnTo>
                <a:lnTo>
                  <a:pt x="16001" y="25019"/>
                </a:lnTo>
                <a:lnTo>
                  <a:pt x="40512" y="16510"/>
                </a:lnTo>
                <a:lnTo>
                  <a:pt x="86214" y="16510"/>
                </a:lnTo>
                <a:lnTo>
                  <a:pt x="84835" y="14097"/>
                </a:lnTo>
                <a:lnTo>
                  <a:pt x="81406" y="10668"/>
                </a:lnTo>
                <a:lnTo>
                  <a:pt x="77977" y="7112"/>
                </a:lnTo>
                <a:lnTo>
                  <a:pt x="73405" y="4445"/>
                </a:lnTo>
                <a:lnTo>
                  <a:pt x="62229" y="889"/>
                </a:lnTo>
                <a:lnTo>
                  <a:pt x="55372" y="0"/>
                </a:lnTo>
                <a:close/>
              </a:path>
              <a:path w="316229" h="122555">
                <a:moveTo>
                  <a:pt x="143509" y="1651"/>
                </a:moveTo>
                <a:lnTo>
                  <a:pt x="139826" y="1651"/>
                </a:lnTo>
                <a:lnTo>
                  <a:pt x="138302" y="1778"/>
                </a:lnTo>
                <a:lnTo>
                  <a:pt x="136016" y="2032"/>
                </a:lnTo>
                <a:lnTo>
                  <a:pt x="135127" y="2286"/>
                </a:lnTo>
                <a:lnTo>
                  <a:pt x="134365" y="2667"/>
                </a:lnTo>
                <a:lnTo>
                  <a:pt x="133603" y="2921"/>
                </a:lnTo>
                <a:lnTo>
                  <a:pt x="133096" y="3429"/>
                </a:lnTo>
                <a:lnTo>
                  <a:pt x="132841" y="3810"/>
                </a:lnTo>
                <a:lnTo>
                  <a:pt x="132651" y="4191"/>
                </a:lnTo>
                <a:lnTo>
                  <a:pt x="132587" y="117856"/>
                </a:lnTo>
                <a:lnTo>
                  <a:pt x="132969" y="118364"/>
                </a:lnTo>
                <a:lnTo>
                  <a:pt x="133223" y="118872"/>
                </a:lnTo>
                <a:lnTo>
                  <a:pt x="133730" y="119253"/>
                </a:lnTo>
                <a:lnTo>
                  <a:pt x="134493" y="119507"/>
                </a:lnTo>
                <a:lnTo>
                  <a:pt x="135254" y="119888"/>
                </a:lnTo>
                <a:lnTo>
                  <a:pt x="136398" y="120142"/>
                </a:lnTo>
                <a:lnTo>
                  <a:pt x="138937" y="120396"/>
                </a:lnTo>
                <a:lnTo>
                  <a:pt x="140588" y="120523"/>
                </a:lnTo>
                <a:lnTo>
                  <a:pt x="144652" y="120523"/>
                </a:lnTo>
                <a:lnTo>
                  <a:pt x="146303" y="120396"/>
                </a:lnTo>
                <a:lnTo>
                  <a:pt x="148971" y="120142"/>
                </a:lnTo>
                <a:lnTo>
                  <a:pt x="149986" y="119888"/>
                </a:lnTo>
                <a:lnTo>
                  <a:pt x="150749" y="119507"/>
                </a:lnTo>
                <a:lnTo>
                  <a:pt x="151510" y="119253"/>
                </a:lnTo>
                <a:lnTo>
                  <a:pt x="152019" y="118872"/>
                </a:lnTo>
                <a:lnTo>
                  <a:pt x="152400" y="118364"/>
                </a:lnTo>
                <a:lnTo>
                  <a:pt x="152907" y="117348"/>
                </a:lnTo>
                <a:lnTo>
                  <a:pt x="152907" y="43561"/>
                </a:lnTo>
                <a:lnTo>
                  <a:pt x="155701" y="38989"/>
                </a:lnTo>
                <a:lnTo>
                  <a:pt x="158369" y="35179"/>
                </a:lnTo>
                <a:lnTo>
                  <a:pt x="160781" y="32131"/>
                </a:lnTo>
                <a:lnTo>
                  <a:pt x="163195" y="28956"/>
                </a:lnTo>
                <a:lnTo>
                  <a:pt x="165480" y="26416"/>
                </a:lnTo>
                <a:lnTo>
                  <a:pt x="169799" y="22606"/>
                </a:lnTo>
                <a:lnTo>
                  <a:pt x="171221" y="21717"/>
                </a:lnTo>
                <a:lnTo>
                  <a:pt x="150875" y="21717"/>
                </a:lnTo>
                <a:lnTo>
                  <a:pt x="150749" y="4318"/>
                </a:lnTo>
                <a:lnTo>
                  <a:pt x="150495" y="3810"/>
                </a:lnTo>
                <a:lnTo>
                  <a:pt x="150113" y="3429"/>
                </a:lnTo>
                <a:lnTo>
                  <a:pt x="149732" y="2921"/>
                </a:lnTo>
                <a:lnTo>
                  <a:pt x="149098" y="2667"/>
                </a:lnTo>
                <a:lnTo>
                  <a:pt x="148335" y="2286"/>
                </a:lnTo>
                <a:lnTo>
                  <a:pt x="147447" y="2032"/>
                </a:lnTo>
                <a:lnTo>
                  <a:pt x="146303" y="1905"/>
                </a:lnTo>
                <a:lnTo>
                  <a:pt x="143509" y="1651"/>
                </a:lnTo>
                <a:close/>
              </a:path>
              <a:path w="316229" h="122555">
                <a:moveTo>
                  <a:pt x="197158" y="19177"/>
                </a:moveTo>
                <a:lnTo>
                  <a:pt x="181609" y="19177"/>
                </a:lnTo>
                <a:lnTo>
                  <a:pt x="184784" y="19685"/>
                </a:lnTo>
                <a:lnTo>
                  <a:pt x="187578" y="20447"/>
                </a:lnTo>
                <a:lnTo>
                  <a:pt x="188722" y="20828"/>
                </a:lnTo>
                <a:lnTo>
                  <a:pt x="189991" y="21082"/>
                </a:lnTo>
                <a:lnTo>
                  <a:pt x="192024" y="21844"/>
                </a:lnTo>
                <a:lnTo>
                  <a:pt x="192912" y="22225"/>
                </a:lnTo>
                <a:lnTo>
                  <a:pt x="193675" y="22479"/>
                </a:lnTo>
                <a:lnTo>
                  <a:pt x="195072" y="22479"/>
                </a:lnTo>
                <a:lnTo>
                  <a:pt x="197061" y="19685"/>
                </a:lnTo>
                <a:lnTo>
                  <a:pt x="197158" y="19177"/>
                </a:lnTo>
                <a:close/>
              </a:path>
              <a:path w="316229" h="122555">
                <a:moveTo>
                  <a:pt x="183514" y="0"/>
                </a:moveTo>
                <a:lnTo>
                  <a:pt x="178943" y="0"/>
                </a:lnTo>
                <a:lnTo>
                  <a:pt x="176529" y="254"/>
                </a:lnTo>
                <a:lnTo>
                  <a:pt x="150875" y="21717"/>
                </a:lnTo>
                <a:lnTo>
                  <a:pt x="171221" y="21717"/>
                </a:lnTo>
                <a:lnTo>
                  <a:pt x="171830" y="21336"/>
                </a:lnTo>
                <a:lnTo>
                  <a:pt x="173862" y="20447"/>
                </a:lnTo>
                <a:lnTo>
                  <a:pt x="175895" y="19685"/>
                </a:lnTo>
                <a:lnTo>
                  <a:pt x="177800" y="19177"/>
                </a:lnTo>
                <a:lnTo>
                  <a:pt x="197158" y="19177"/>
                </a:lnTo>
                <a:lnTo>
                  <a:pt x="197230" y="18669"/>
                </a:lnTo>
                <a:lnTo>
                  <a:pt x="197357" y="16129"/>
                </a:lnTo>
                <a:lnTo>
                  <a:pt x="197230" y="6350"/>
                </a:lnTo>
                <a:lnTo>
                  <a:pt x="197103" y="5715"/>
                </a:lnTo>
                <a:lnTo>
                  <a:pt x="193166" y="1905"/>
                </a:lnTo>
                <a:lnTo>
                  <a:pt x="192024" y="1524"/>
                </a:lnTo>
                <a:lnTo>
                  <a:pt x="189229" y="762"/>
                </a:lnTo>
                <a:lnTo>
                  <a:pt x="186308" y="254"/>
                </a:lnTo>
                <a:lnTo>
                  <a:pt x="183514" y="0"/>
                </a:lnTo>
                <a:close/>
              </a:path>
              <a:path w="316229" h="122555">
                <a:moveTo>
                  <a:pt x="275589" y="0"/>
                </a:moveTo>
                <a:lnTo>
                  <a:pt x="258699" y="0"/>
                </a:lnTo>
                <a:lnTo>
                  <a:pt x="251332" y="1397"/>
                </a:lnTo>
                <a:lnTo>
                  <a:pt x="244728" y="4191"/>
                </a:lnTo>
                <a:lnTo>
                  <a:pt x="238125" y="7112"/>
                </a:lnTo>
                <a:lnTo>
                  <a:pt x="232536" y="11176"/>
                </a:lnTo>
                <a:lnTo>
                  <a:pt x="227837" y="16510"/>
                </a:lnTo>
                <a:lnTo>
                  <a:pt x="223138" y="21717"/>
                </a:lnTo>
                <a:lnTo>
                  <a:pt x="213592" y="65151"/>
                </a:lnTo>
                <a:lnTo>
                  <a:pt x="213703" y="68901"/>
                </a:lnTo>
                <a:lnTo>
                  <a:pt x="232409" y="112014"/>
                </a:lnTo>
                <a:lnTo>
                  <a:pt x="244982" y="118237"/>
                </a:lnTo>
                <a:lnTo>
                  <a:pt x="251840" y="120904"/>
                </a:lnTo>
                <a:lnTo>
                  <a:pt x="259969" y="122174"/>
                </a:lnTo>
                <a:lnTo>
                  <a:pt x="274320" y="122174"/>
                </a:lnTo>
                <a:lnTo>
                  <a:pt x="279273" y="121793"/>
                </a:lnTo>
                <a:lnTo>
                  <a:pt x="283972" y="120904"/>
                </a:lnTo>
                <a:lnTo>
                  <a:pt x="288544" y="120142"/>
                </a:lnTo>
                <a:lnTo>
                  <a:pt x="292734" y="119253"/>
                </a:lnTo>
                <a:lnTo>
                  <a:pt x="296163" y="118237"/>
                </a:lnTo>
                <a:lnTo>
                  <a:pt x="299720" y="117348"/>
                </a:lnTo>
                <a:lnTo>
                  <a:pt x="308863" y="113030"/>
                </a:lnTo>
                <a:lnTo>
                  <a:pt x="309372" y="112649"/>
                </a:lnTo>
                <a:lnTo>
                  <a:pt x="309752" y="112141"/>
                </a:lnTo>
                <a:lnTo>
                  <a:pt x="310514" y="110617"/>
                </a:lnTo>
                <a:lnTo>
                  <a:pt x="310896" y="108585"/>
                </a:lnTo>
                <a:lnTo>
                  <a:pt x="311023" y="105537"/>
                </a:lnTo>
                <a:lnTo>
                  <a:pt x="264286" y="105537"/>
                </a:lnTo>
                <a:lnTo>
                  <a:pt x="258572" y="104648"/>
                </a:lnTo>
                <a:lnTo>
                  <a:pt x="254000" y="102743"/>
                </a:lnTo>
                <a:lnTo>
                  <a:pt x="249300" y="100838"/>
                </a:lnTo>
                <a:lnTo>
                  <a:pt x="245490" y="98171"/>
                </a:lnTo>
                <a:lnTo>
                  <a:pt x="242697" y="94615"/>
                </a:lnTo>
                <a:lnTo>
                  <a:pt x="239775" y="91059"/>
                </a:lnTo>
                <a:lnTo>
                  <a:pt x="237744" y="86741"/>
                </a:lnTo>
                <a:lnTo>
                  <a:pt x="236474" y="81915"/>
                </a:lnTo>
                <a:lnTo>
                  <a:pt x="235203" y="76962"/>
                </a:lnTo>
                <a:lnTo>
                  <a:pt x="234569" y="71374"/>
                </a:lnTo>
                <a:lnTo>
                  <a:pt x="234569" y="65151"/>
                </a:lnTo>
                <a:lnTo>
                  <a:pt x="309879" y="65151"/>
                </a:lnTo>
                <a:lnTo>
                  <a:pt x="311657" y="64516"/>
                </a:lnTo>
                <a:lnTo>
                  <a:pt x="314959" y="61722"/>
                </a:lnTo>
                <a:lnTo>
                  <a:pt x="315722" y="59436"/>
                </a:lnTo>
                <a:lnTo>
                  <a:pt x="315722" y="50292"/>
                </a:lnTo>
                <a:lnTo>
                  <a:pt x="234569" y="50292"/>
                </a:lnTo>
                <a:lnTo>
                  <a:pt x="234696" y="45720"/>
                </a:lnTo>
                <a:lnTo>
                  <a:pt x="235584" y="41402"/>
                </a:lnTo>
                <a:lnTo>
                  <a:pt x="238378" y="33020"/>
                </a:lnTo>
                <a:lnTo>
                  <a:pt x="240283" y="29337"/>
                </a:lnTo>
                <a:lnTo>
                  <a:pt x="242950" y="26289"/>
                </a:lnTo>
                <a:lnTo>
                  <a:pt x="245490" y="23114"/>
                </a:lnTo>
                <a:lnTo>
                  <a:pt x="248665" y="20574"/>
                </a:lnTo>
                <a:lnTo>
                  <a:pt x="252475" y="18796"/>
                </a:lnTo>
                <a:lnTo>
                  <a:pt x="256285" y="16891"/>
                </a:lnTo>
                <a:lnTo>
                  <a:pt x="260730" y="15875"/>
                </a:lnTo>
                <a:lnTo>
                  <a:pt x="304611" y="15875"/>
                </a:lnTo>
                <a:lnTo>
                  <a:pt x="300354" y="10668"/>
                </a:lnTo>
                <a:lnTo>
                  <a:pt x="295275" y="6985"/>
                </a:lnTo>
                <a:lnTo>
                  <a:pt x="282955" y="1397"/>
                </a:lnTo>
                <a:lnTo>
                  <a:pt x="275589" y="0"/>
                </a:lnTo>
                <a:close/>
              </a:path>
              <a:path w="316229" h="122555">
                <a:moveTo>
                  <a:pt x="308228" y="97155"/>
                </a:moveTo>
                <a:lnTo>
                  <a:pt x="306704" y="97155"/>
                </a:lnTo>
                <a:lnTo>
                  <a:pt x="305180" y="97663"/>
                </a:lnTo>
                <a:lnTo>
                  <a:pt x="303275" y="98425"/>
                </a:lnTo>
                <a:lnTo>
                  <a:pt x="301371" y="99314"/>
                </a:lnTo>
                <a:lnTo>
                  <a:pt x="298830" y="100330"/>
                </a:lnTo>
                <a:lnTo>
                  <a:pt x="295782" y="101346"/>
                </a:lnTo>
                <a:lnTo>
                  <a:pt x="292861" y="102489"/>
                </a:lnTo>
                <a:lnTo>
                  <a:pt x="289305" y="103378"/>
                </a:lnTo>
                <a:lnTo>
                  <a:pt x="280924" y="105156"/>
                </a:lnTo>
                <a:lnTo>
                  <a:pt x="276225" y="105537"/>
                </a:lnTo>
                <a:lnTo>
                  <a:pt x="311023" y="105537"/>
                </a:lnTo>
                <a:lnTo>
                  <a:pt x="310896" y="101346"/>
                </a:lnTo>
                <a:lnTo>
                  <a:pt x="310769" y="100330"/>
                </a:lnTo>
                <a:lnTo>
                  <a:pt x="310514" y="99441"/>
                </a:lnTo>
                <a:lnTo>
                  <a:pt x="310260" y="98933"/>
                </a:lnTo>
                <a:lnTo>
                  <a:pt x="310006" y="98298"/>
                </a:lnTo>
                <a:lnTo>
                  <a:pt x="309752" y="97917"/>
                </a:lnTo>
                <a:lnTo>
                  <a:pt x="309245" y="97663"/>
                </a:lnTo>
                <a:lnTo>
                  <a:pt x="308736" y="97282"/>
                </a:lnTo>
                <a:lnTo>
                  <a:pt x="308228" y="97155"/>
                </a:lnTo>
                <a:close/>
              </a:path>
              <a:path w="316229" h="122555">
                <a:moveTo>
                  <a:pt x="304611" y="15875"/>
                </a:moveTo>
                <a:lnTo>
                  <a:pt x="275589" y="15875"/>
                </a:lnTo>
                <a:lnTo>
                  <a:pt x="283082" y="18923"/>
                </a:lnTo>
                <a:lnTo>
                  <a:pt x="288035" y="25019"/>
                </a:lnTo>
                <a:lnTo>
                  <a:pt x="291345" y="30021"/>
                </a:lnTo>
                <a:lnTo>
                  <a:pt x="293655" y="35893"/>
                </a:lnTo>
                <a:lnTo>
                  <a:pt x="294965" y="42646"/>
                </a:lnTo>
                <a:lnTo>
                  <a:pt x="295275" y="50292"/>
                </a:lnTo>
                <a:lnTo>
                  <a:pt x="315722" y="50292"/>
                </a:lnTo>
                <a:lnTo>
                  <a:pt x="315722" y="45339"/>
                </a:lnTo>
                <a:lnTo>
                  <a:pt x="314832" y="38481"/>
                </a:lnTo>
                <a:lnTo>
                  <a:pt x="312927" y="32131"/>
                </a:lnTo>
                <a:lnTo>
                  <a:pt x="311150" y="25781"/>
                </a:lnTo>
                <a:lnTo>
                  <a:pt x="308228" y="20193"/>
                </a:lnTo>
                <a:lnTo>
                  <a:pt x="304611" y="15875"/>
                </a:lnTo>
                <a:close/>
              </a:path>
            </a:pathLst>
          </a:custGeom>
          <a:solidFill>
            <a:srgbClr val="000000">
              <a:alpha val="79998"/>
            </a:srgbClr>
          </a:solidFill>
        </p:spPr>
        <p:txBody>
          <a:bodyPr wrap="square" lIns="0" tIns="0" rIns="0" bIns="0" rtlCol="0"/>
          <a:lstStyle/>
          <a:p>
            <a:endParaRPr/>
          </a:p>
        </p:txBody>
      </p:sp>
      <p:pic>
        <p:nvPicPr>
          <p:cNvPr id="34" name="object 34"/>
          <p:cNvPicPr/>
          <p:nvPr/>
        </p:nvPicPr>
        <p:blipFill>
          <a:blip r:embed="rId21" cstate="print"/>
          <a:stretch>
            <a:fillRect/>
          </a:stretch>
        </p:blipFill>
        <p:spPr>
          <a:xfrm>
            <a:off x="7128874" y="3075433"/>
            <a:ext cx="666671" cy="174497"/>
          </a:xfrm>
          <a:prstGeom prst="rect">
            <a:avLst/>
          </a:prstGeom>
        </p:spPr>
      </p:pic>
      <p:sp>
        <p:nvSpPr>
          <p:cNvPr id="35" name="object 35"/>
          <p:cNvSpPr/>
          <p:nvPr/>
        </p:nvSpPr>
        <p:spPr>
          <a:xfrm>
            <a:off x="7889367" y="3074543"/>
            <a:ext cx="356235" cy="175895"/>
          </a:xfrm>
          <a:custGeom>
            <a:avLst/>
            <a:gdLst/>
            <a:ahLst/>
            <a:cxnLst/>
            <a:rect l="l" t="t" r="r" b="b"/>
            <a:pathLst>
              <a:path w="474979" h="175894">
                <a:moveTo>
                  <a:pt x="40132" y="72390"/>
                </a:moveTo>
                <a:lnTo>
                  <a:pt x="19685" y="72390"/>
                </a:lnTo>
                <a:lnTo>
                  <a:pt x="19812" y="171069"/>
                </a:lnTo>
                <a:lnTo>
                  <a:pt x="20193" y="171577"/>
                </a:lnTo>
                <a:lnTo>
                  <a:pt x="20447" y="172085"/>
                </a:lnTo>
                <a:lnTo>
                  <a:pt x="21082" y="172466"/>
                </a:lnTo>
                <a:lnTo>
                  <a:pt x="21844" y="172720"/>
                </a:lnTo>
                <a:lnTo>
                  <a:pt x="22605" y="173101"/>
                </a:lnTo>
                <a:lnTo>
                  <a:pt x="23622" y="173355"/>
                </a:lnTo>
                <a:lnTo>
                  <a:pt x="26289" y="173609"/>
                </a:lnTo>
                <a:lnTo>
                  <a:pt x="27940" y="173736"/>
                </a:lnTo>
                <a:lnTo>
                  <a:pt x="31876" y="173736"/>
                </a:lnTo>
                <a:lnTo>
                  <a:pt x="33527" y="173609"/>
                </a:lnTo>
                <a:lnTo>
                  <a:pt x="36195" y="173355"/>
                </a:lnTo>
                <a:lnTo>
                  <a:pt x="37211" y="173101"/>
                </a:lnTo>
                <a:lnTo>
                  <a:pt x="37973" y="172720"/>
                </a:lnTo>
                <a:lnTo>
                  <a:pt x="38862" y="172466"/>
                </a:lnTo>
                <a:lnTo>
                  <a:pt x="39370" y="172085"/>
                </a:lnTo>
                <a:lnTo>
                  <a:pt x="39750" y="171577"/>
                </a:lnTo>
                <a:lnTo>
                  <a:pt x="40004" y="171069"/>
                </a:lnTo>
                <a:lnTo>
                  <a:pt x="40132" y="170561"/>
                </a:lnTo>
                <a:lnTo>
                  <a:pt x="40132" y="72390"/>
                </a:lnTo>
                <a:close/>
              </a:path>
              <a:path w="474979" h="175894">
                <a:moveTo>
                  <a:pt x="65659" y="55499"/>
                </a:moveTo>
                <a:lnTo>
                  <a:pt x="3301" y="55499"/>
                </a:lnTo>
                <a:lnTo>
                  <a:pt x="2794" y="55626"/>
                </a:lnTo>
                <a:lnTo>
                  <a:pt x="2286" y="56007"/>
                </a:lnTo>
                <a:lnTo>
                  <a:pt x="1777" y="56261"/>
                </a:lnTo>
                <a:lnTo>
                  <a:pt x="0" y="62484"/>
                </a:lnTo>
                <a:lnTo>
                  <a:pt x="0" y="67056"/>
                </a:lnTo>
                <a:lnTo>
                  <a:pt x="380" y="69087"/>
                </a:lnTo>
                <a:lnTo>
                  <a:pt x="1016" y="70485"/>
                </a:lnTo>
                <a:lnTo>
                  <a:pt x="1650" y="71755"/>
                </a:lnTo>
                <a:lnTo>
                  <a:pt x="2667" y="72390"/>
                </a:lnTo>
                <a:lnTo>
                  <a:pt x="66294" y="72390"/>
                </a:lnTo>
                <a:lnTo>
                  <a:pt x="67183" y="71755"/>
                </a:lnTo>
                <a:lnTo>
                  <a:pt x="67945" y="70485"/>
                </a:lnTo>
                <a:lnTo>
                  <a:pt x="68707" y="69087"/>
                </a:lnTo>
                <a:lnTo>
                  <a:pt x="69088" y="67056"/>
                </a:lnTo>
                <a:lnTo>
                  <a:pt x="69088" y="62484"/>
                </a:lnTo>
                <a:lnTo>
                  <a:pt x="66675" y="56007"/>
                </a:lnTo>
                <a:lnTo>
                  <a:pt x="66294" y="55626"/>
                </a:lnTo>
                <a:lnTo>
                  <a:pt x="65659" y="55499"/>
                </a:lnTo>
                <a:close/>
              </a:path>
              <a:path w="474979" h="175894">
                <a:moveTo>
                  <a:pt x="58420" y="0"/>
                </a:moveTo>
                <a:lnTo>
                  <a:pt x="49402" y="0"/>
                </a:lnTo>
                <a:lnTo>
                  <a:pt x="44069" y="889"/>
                </a:lnTo>
                <a:lnTo>
                  <a:pt x="21844" y="24130"/>
                </a:lnTo>
                <a:lnTo>
                  <a:pt x="20447" y="29591"/>
                </a:lnTo>
                <a:lnTo>
                  <a:pt x="19685" y="36322"/>
                </a:lnTo>
                <a:lnTo>
                  <a:pt x="19685" y="55499"/>
                </a:lnTo>
                <a:lnTo>
                  <a:pt x="40132" y="55499"/>
                </a:lnTo>
                <a:lnTo>
                  <a:pt x="40132" y="38608"/>
                </a:lnTo>
                <a:lnTo>
                  <a:pt x="40513" y="34544"/>
                </a:lnTo>
                <a:lnTo>
                  <a:pt x="41021" y="31242"/>
                </a:lnTo>
                <a:lnTo>
                  <a:pt x="41655" y="27940"/>
                </a:lnTo>
                <a:lnTo>
                  <a:pt x="42545" y="25146"/>
                </a:lnTo>
                <a:lnTo>
                  <a:pt x="43942" y="23114"/>
                </a:lnTo>
                <a:lnTo>
                  <a:pt x="45212" y="20955"/>
                </a:lnTo>
                <a:lnTo>
                  <a:pt x="46990" y="19431"/>
                </a:lnTo>
                <a:lnTo>
                  <a:pt x="49022" y="18415"/>
                </a:lnTo>
                <a:lnTo>
                  <a:pt x="51180" y="17526"/>
                </a:lnTo>
                <a:lnTo>
                  <a:pt x="53848" y="17018"/>
                </a:lnTo>
                <a:lnTo>
                  <a:pt x="74993" y="17018"/>
                </a:lnTo>
                <a:lnTo>
                  <a:pt x="75057" y="16764"/>
                </a:lnTo>
                <a:lnTo>
                  <a:pt x="75184" y="15875"/>
                </a:lnTo>
                <a:lnTo>
                  <a:pt x="75311" y="11430"/>
                </a:lnTo>
                <a:lnTo>
                  <a:pt x="74929" y="7874"/>
                </a:lnTo>
                <a:lnTo>
                  <a:pt x="61214" y="381"/>
                </a:lnTo>
                <a:lnTo>
                  <a:pt x="58420" y="0"/>
                </a:lnTo>
                <a:close/>
              </a:path>
              <a:path w="474979" h="175894">
                <a:moveTo>
                  <a:pt x="74993" y="17018"/>
                </a:moveTo>
                <a:lnTo>
                  <a:pt x="59054" y="17018"/>
                </a:lnTo>
                <a:lnTo>
                  <a:pt x="61087" y="17145"/>
                </a:lnTo>
                <a:lnTo>
                  <a:pt x="64389" y="17907"/>
                </a:lnTo>
                <a:lnTo>
                  <a:pt x="65913" y="18287"/>
                </a:lnTo>
                <a:lnTo>
                  <a:pt x="67055" y="18796"/>
                </a:lnTo>
                <a:lnTo>
                  <a:pt x="68325" y="19177"/>
                </a:lnTo>
                <a:lnTo>
                  <a:pt x="69342" y="19685"/>
                </a:lnTo>
                <a:lnTo>
                  <a:pt x="70230" y="20066"/>
                </a:lnTo>
                <a:lnTo>
                  <a:pt x="71120" y="20320"/>
                </a:lnTo>
                <a:lnTo>
                  <a:pt x="71882" y="20574"/>
                </a:lnTo>
                <a:lnTo>
                  <a:pt x="72898" y="20574"/>
                </a:lnTo>
                <a:lnTo>
                  <a:pt x="73278" y="20447"/>
                </a:lnTo>
                <a:lnTo>
                  <a:pt x="73660" y="20193"/>
                </a:lnTo>
                <a:lnTo>
                  <a:pt x="74041" y="20066"/>
                </a:lnTo>
                <a:lnTo>
                  <a:pt x="74295" y="19685"/>
                </a:lnTo>
                <a:lnTo>
                  <a:pt x="74422" y="19050"/>
                </a:lnTo>
                <a:lnTo>
                  <a:pt x="74675" y="18542"/>
                </a:lnTo>
                <a:lnTo>
                  <a:pt x="74802" y="17780"/>
                </a:lnTo>
                <a:lnTo>
                  <a:pt x="74993" y="17018"/>
                </a:lnTo>
                <a:close/>
              </a:path>
              <a:path w="474979" h="175894">
                <a:moveTo>
                  <a:pt x="101600" y="54864"/>
                </a:moveTo>
                <a:lnTo>
                  <a:pt x="97917" y="54864"/>
                </a:lnTo>
                <a:lnTo>
                  <a:pt x="96393" y="54991"/>
                </a:lnTo>
                <a:lnTo>
                  <a:pt x="94107" y="55245"/>
                </a:lnTo>
                <a:lnTo>
                  <a:pt x="93218" y="55499"/>
                </a:lnTo>
                <a:lnTo>
                  <a:pt x="92455" y="55880"/>
                </a:lnTo>
                <a:lnTo>
                  <a:pt x="91694" y="56134"/>
                </a:lnTo>
                <a:lnTo>
                  <a:pt x="91186" y="56642"/>
                </a:lnTo>
                <a:lnTo>
                  <a:pt x="90932" y="57023"/>
                </a:lnTo>
                <a:lnTo>
                  <a:pt x="90741" y="57404"/>
                </a:lnTo>
                <a:lnTo>
                  <a:pt x="90677" y="171069"/>
                </a:lnTo>
                <a:lnTo>
                  <a:pt x="91059" y="171577"/>
                </a:lnTo>
                <a:lnTo>
                  <a:pt x="91313" y="172085"/>
                </a:lnTo>
                <a:lnTo>
                  <a:pt x="91821" y="172466"/>
                </a:lnTo>
                <a:lnTo>
                  <a:pt x="92583" y="172720"/>
                </a:lnTo>
                <a:lnTo>
                  <a:pt x="93345" y="173101"/>
                </a:lnTo>
                <a:lnTo>
                  <a:pt x="94488" y="173355"/>
                </a:lnTo>
                <a:lnTo>
                  <a:pt x="97027" y="173609"/>
                </a:lnTo>
                <a:lnTo>
                  <a:pt x="98678" y="173736"/>
                </a:lnTo>
                <a:lnTo>
                  <a:pt x="102743" y="173736"/>
                </a:lnTo>
                <a:lnTo>
                  <a:pt x="104394" y="173609"/>
                </a:lnTo>
                <a:lnTo>
                  <a:pt x="107061" y="173355"/>
                </a:lnTo>
                <a:lnTo>
                  <a:pt x="108076" y="173101"/>
                </a:lnTo>
                <a:lnTo>
                  <a:pt x="108839" y="172720"/>
                </a:lnTo>
                <a:lnTo>
                  <a:pt x="109600" y="172466"/>
                </a:lnTo>
                <a:lnTo>
                  <a:pt x="110109" y="172085"/>
                </a:lnTo>
                <a:lnTo>
                  <a:pt x="110490" y="171577"/>
                </a:lnTo>
                <a:lnTo>
                  <a:pt x="110998" y="170561"/>
                </a:lnTo>
                <a:lnTo>
                  <a:pt x="110998" y="96774"/>
                </a:lnTo>
                <a:lnTo>
                  <a:pt x="113792" y="92202"/>
                </a:lnTo>
                <a:lnTo>
                  <a:pt x="116459" y="88392"/>
                </a:lnTo>
                <a:lnTo>
                  <a:pt x="118872" y="85344"/>
                </a:lnTo>
                <a:lnTo>
                  <a:pt x="121285" y="82169"/>
                </a:lnTo>
                <a:lnTo>
                  <a:pt x="123571" y="79629"/>
                </a:lnTo>
                <a:lnTo>
                  <a:pt x="127889" y="75819"/>
                </a:lnTo>
                <a:lnTo>
                  <a:pt x="129311" y="74930"/>
                </a:lnTo>
                <a:lnTo>
                  <a:pt x="108966" y="74930"/>
                </a:lnTo>
                <a:lnTo>
                  <a:pt x="108839" y="57531"/>
                </a:lnTo>
                <a:lnTo>
                  <a:pt x="108585" y="57023"/>
                </a:lnTo>
                <a:lnTo>
                  <a:pt x="108203" y="56642"/>
                </a:lnTo>
                <a:lnTo>
                  <a:pt x="107823" y="56134"/>
                </a:lnTo>
                <a:lnTo>
                  <a:pt x="107188" y="55880"/>
                </a:lnTo>
                <a:lnTo>
                  <a:pt x="106425" y="55499"/>
                </a:lnTo>
                <a:lnTo>
                  <a:pt x="105537" y="55245"/>
                </a:lnTo>
                <a:lnTo>
                  <a:pt x="104394" y="55118"/>
                </a:lnTo>
                <a:lnTo>
                  <a:pt x="101600" y="54864"/>
                </a:lnTo>
                <a:close/>
              </a:path>
              <a:path w="474979" h="175894">
                <a:moveTo>
                  <a:pt x="155248" y="72390"/>
                </a:moveTo>
                <a:lnTo>
                  <a:pt x="139700" y="72390"/>
                </a:lnTo>
                <a:lnTo>
                  <a:pt x="142875" y="72898"/>
                </a:lnTo>
                <a:lnTo>
                  <a:pt x="145669" y="73660"/>
                </a:lnTo>
                <a:lnTo>
                  <a:pt x="146812" y="74041"/>
                </a:lnTo>
                <a:lnTo>
                  <a:pt x="148082" y="74295"/>
                </a:lnTo>
                <a:lnTo>
                  <a:pt x="150114" y="75057"/>
                </a:lnTo>
                <a:lnTo>
                  <a:pt x="151002" y="75437"/>
                </a:lnTo>
                <a:lnTo>
                  <a:pt x="151765" y="75692"/>
                </a:lnTo>
                <a:lnTo>
                  <a:pt x="153162" y="75692"/>
                </a:lnTo>
                <a:lnTo>
                  <a:pt x="155151" y="72898"/>
                </a:lnTo>
                <a:lnTo>
                  <a:pt x="155248" y="72390"/>
                </a:lnTo>
                <a:close/>
              </a:path>
              <a:path w="474979" h="175894">
                <a:moveTo>
                  <a:pt x="141604" y="53212"/>
                </a:moveTo>
                <a:lnTo>
                  <a:pt x="137033" y="53212"/>
                </a:lnTo>
                <a:lnTo>
                  <a:pt x="134620" y="53467"/>
                </a:lnTo>
                <a:lnTo>
                  <a:pt x="108966" y="74930"/>
                </a:lnTo>
                <a:lnTo>
                  <a:pt x="129311" y="74930"/>
                </a:lnTo>
                <a:lnTo>
                  <a:pt x="129921" y="74549"/>
                </a:lnTo>
                <a:lnTo>
                  <a:pt x="131952" y="73660"/>
                </a:lnTo>
                <a:lnTo>
                  <a:pt x="133985" y="72898"/>
                </a:lnTo>
                <a:lnTo>
                  <a:pt x="135890" y="72390"/>
                </a:lnTo>
                <a:lnTo>
                  <a:pt x="155248" y="72390"/>
                </a:lnTo>
                <a:lnTo>
                  <a:pt x="155321" y="71882"/>
                </a:lnTo>
                <a:lnTo>
                  <a:pt x="155448" y="69342"/>
                </a:lnTo>
                <a:lnTo>
                  <a:pt x="155321" y="59562"/>
                </a:lnTo>
                <a:lnTo>
                  <a:pt x="155194" y="58928"/>
                </a:lnTo>
                <a:lnTo>
                  <a:pt x="151257" y="55118"/>
                </a:lnTo>
                <a:lnTo>
                  <a:pt x="150114" y="54737"/>
                </a:lnTo>
                <a:lnTo>
                  <a:pt x="147320" y="53975"/>
                </a:lnTo>
                <a:lnTo>
                  <a:pt x="144399" y="53467"/>
                </a:lnTo>
                <a:lnTo>
                  <a:pt x="141604" y="53212"/>
                </a:lnTo>
                <a:close/>
              </a:path>
              <a:path w="474979" h="175894">
                <a:moveTo>
                  <a:pt x="233934" y="53212"/>
                </a:moveTo>
                <a:lnTo>
                  <a:pt x="215392" y="53212"/>
                </a:lnTo>
                <a:lnTo>
                  <a:pt x="207137" y="54737"/>
                </a:lnTo>
                <a:lnTo>
                  <a:pt x="173990" y="82677"/>
                </a:lnTo>
                <a:lnTo>
                  <a:pt x="171703" y="90297"/>
                </a:lnTo>
                <a:lnTo>
                  <a:pt x="169291" y="97917"/>
                </a:lnTo>
                <a:lnTo>
                  <a:pt x="168148" y="106299"/>
                </a:lnTo>
                <a:lnTo>
                  <a:pt x="168148" y="124714"/>
                </a:lnTo>
                <a:lnTo>
                  <a:pt x="186182" y="164592"/>
                </a:lnTo>
                <a:lnTo>
                  <a:pt x="213360" y="175387"/>
                </a:lnTo>
                <a:lnTo>
                  <a:pt x="231901" y="175387"/>
                </a:lnTo>
                <a:lnTo>
                  <a:pt x="240157" y="173736"/>
                </a:lnTo>
                <a:lnTo>
                  <a:pt x="254380" y="167640"/>
                </a:lnTo>
                <a:lnTo>
                  <a:pt x="260350" y="163322"/>
                </a:lnTo>
                <a:lnTo>
                  <a:pt x="264830" y="158115"/>
                </a:lnTo>
                <a:lnTo>
                  <a:pt x="216916" y="158115"/>
                </a:lnTo>
                <a:lnTo>
                  <a:pt x="211454" y="156972"/>
                </a:lnTo>
                <a:lnTo>
                  <a:pt x="207137" y="154686"/>
                </a:lnTo>
                <a:lnTo>
                  <a:pt x="202692" y="152273"/>
                </a:lnTo>
                <a:lnTo>
                  <a:pt x="199136" y="149098"/>
                </a:lnTo>
                <a:lnTo>
                  <a:pt x="196596" y="145161"/>
                </a:lnTo>
                <a:lnTo>
                  <a:pt x="193928" y="141097"/>
                </a:lnTo>
                <a:lnTo>
                  <a:pt x="189229" y="107569"/>
                </a:lnTo>
                <a:lnTo>
                  <a:pt x="189992" y="101727"/>
                </a:lnTo>
                <a:lnTo>
                  <a:pt x="191262" y="96393"/>
                </a:lnTo>
                <a:lnTo>
                  <a:pt x="192659" y="91059"/>
                </a:lnTo>
                <a:lnTo>
                  <a:pt x="194818" y="86360"/>
                </a:lnTo>
                <a:lnTo>
                  <a:pt x="197612" y="82550"/>
                </a:lnTo>
                <a:lnTo>
                  <a:pt x="200405" y="78612"/>
                </a:lnTo>
                <a:lnTo>
                  <a:pt x="204089" y="75565"/>
                </a:lnTo>
                <a:lnTo>
                  <a:pt x="212725" y="71247"/>
                </a:lnTo>
                <a:lnTo>
                  <a:pt x="217932" y="70231"/>
                </a:lnTo>
                <a:lnTo>
                  <a:pt x="266687" y="70231"/>
                </a:lnTo>
                <a:lnTo>
                  <a:pt x="265684" y="69087"/>
                </a:lnTo>
                <a:lnTo>
                  <a:pt x="261239" y="63881"/>
                </a:lnTo>
                <a:lnTo>
                  <a:pt x="255524" y="59944"/>
                </a:lnTo>
                <a:lnTo>
                  <a:pt x="248793" y="57277"/>
                </a:lnTo>
                <a:lnTo>
                  <a:pt x="241935" y="54483"/>
                </a:lnTo>
                <a:lnTo>
                  <a:pt x="233934" y="53212"/>
                </a:lnTo>
                <a:close/>
              </a:path>
              <a:path w="474979" h="175894">
                <a:moveTo>
                  <a:pt x="266687" y="70231"/>
                </a:moveTo>
                <a:lnTo>
                  <a:pt x="230632" y="70231"/>
                </a:lnTo>
                <a:lnTo>
                  <a:pt x="236093" y="71374"/>
                </a:lnTo>
                <a:lnTo>
                  <a:pt x="240538" y="73787"/>
                </a:lnTo>
                <a:lnTo>
                  <a:pt x="258191" y="120904"/>
                </a:lnTo>
                <a:lnTo>
                  <a:pt x="257555" y="126746"/>
                </a:lnTo>
                <a:lnTo>
                  <a:pt x="256159" y="132080"/>
                </a:lnTo>
                <a:lnTo>
                  <a:pt x="254889" y="137414"/>
                </a:lnTo>
                <a:lnTo>
                  <a:pt x="252729" y="142112"/>
                </a:lnTo>
                <a:lnTo>
                  <a:pt x="249936" y="145923"/>
                </a:lnTo>
                <a:lnTo>
                  <a:pt x="247142" y="149860"/>
                </a:lnTo>
                <a:lnTo>
                  <a:pt x="243459" y="152781"/>
                </a:lnTo>
                <a:lnTo>
                  <a:pt x="239141" y="154940"/>
                </a:lnTo>
                <a:lnTo>
                  <a:pt x="234696" y="157099"/>
                </a:lnTo>
                <a:lnTo>
                  <a:pt x="229489" y="158115"/>
                </a:lnTo>
                <a:lnTo>
                  <a:pt x="264830" y="158115"/>
                </a:lnTo>
                <a:lnTo>
                  <a:pt x="269748" y="152273"/>
                </a:lnTo>
                <a:lnTo>
                  <a:pt x="273303" y="145669"/>
                </a:lnTo>
                <a:lnTo>
                  <a:pt x="278129" y="130429"/>
                </a:lnTo>
                <a:lnTo>
                  <a:pt x="279273" y="122174"/>
                </a:lnTo>
                <a:lnTo>
                  <a:pt x="279273" y="103759"/>
                </a:lnTo>
                <a:lnTo>
                  <a:pt x="278129" y="95377"/>
                </a:lnTo>
                <a:lnTo>
                  <a:pt x="275971" y="88011"/>
                </a:lnTo>
                <a:lnTo>
                  <a:pt x="273685" y="80645"/>
                </a:lnTo>
                <a:lnTo>
                  <a:pt x="270255" y="74295"/>
                </a:lnTo>
                <a:lnTo>
                  <a:pt x="266687" y="70231"/>
                </a:lnTo>
                <a:close/>
              </a:path>
              <a:path w="474979" h="175894">
                <a:moveTo>
                  <a:pt x="321055" y="54864"/>
                </a:moveTo>
                <a:lnTo>
                  <a:pt x="317373" y="54864"/>
                </a:lnTo>
                <a:lnTo>
                  <a:pt x="315849" y="54991"/>
                </a:lnTo>
                <a:lnTo>
                  <a:pt x="313563" y="55245"/>
                </a:lnTo>
                <a:lnTo>
                  <a:pt x="312674" y="55499"/>
                </a:lnTo>
                <a:lnTo>
                  <a:pt x="311912" y="55880"/>
                </a:lnTo>
                <a:lnTo>
                  <a:pt x="311150" y="56134"/>
                </a:lnTo>
                <a:lnTo>
                  <a:pt x="310642" y="56642"/>
                </a:lnTo>
                <a:lnTo>
                  <a:pt x="310388" y="57023"/>
                </a:lnTo>
                <a:lnTo>
                  <a:pt x="310197" y="57404"/>
                </a:lnTo>
                <a:lnTo>
                  <a:pt x="310134" y="171069"/>
                </a:lnTo>
                <a:lnTo>
                  <a:pt x="310515" y="171577"/>
                </a:lnTo>
                <a:lnTo>
                  <a:pt x="310769" y="172085"/>
                </a:lnTo>
                <a:lnTo>
                  <a:pt x="311276" y="172466"/>
                </a:lnTo>
                <a:lnTo>
                  <a:pt x="312039" y="172720"/>
                </a:lnTo>
                <a:lnTo>
                  <a:pt x="312800" y="173101"/>
                </a:lnTo>
                <a:lnTo>
                  <a:pt x="313944" y="173355"/>
                </a:lnTo>
                <a:lnTo>
                  <a:pt x="316484" y="173609"/>
                </a:lnTo>
                <a:lnTo>
                  <a:pt x="318135" y="173736"/>
                </a:lnTo>
                <a:lnTo>
                  <a:pt x="322199" y="173736"/>
                </a:lnTo>
                <a:lnTo>
                  <a:pt x="323850" y="173609"/>
                </a:lnTo>
                <a:lnTo>
                  <a:pt x="326517" y="173355"/>
                </a:lnTo>
                <a:lnTo>
                  <a:pt x="327533" y="173101"/>
                </a:lnTo>
                <a:lnTo>
                  <a:pt x="328295" y="172720"/>
                </a:lnTo>
                <a:lnTo>
                  <a:pt x="329057" y="172466"/>
                </a:lnTo>
                <a:lnTo>
                  <a:pt x="329565" y="172085"/>
                </a:lnTo>
                <a:lnTo>
                  <a:pt x="329946" y="171577"/>
                </a:lnTo>
                <a:lnTo>
                  <a:pt x="330453" y="170561"/>
                </a:lnTo>
                <a:lnTo>
                  <a:pt x="330453" y="92202"/>
                </a:lnTo>
                <a:lnTo>
                  <a:pt x="336042" y="85217"/>
                </a:lnTo>
                <a:lnTo>
                  <a:pt x="341249" y="79883"/>
                </a:lnTo>
                <a:lnTo>
                  <a:pt x="349771" y="73406"/>
                </a:lnTo>
                <a:lnTo>
                  <a:pt x="328422" y="73406"/>
                </a:lnTo>
                <a:lnTo>
                  <a:pt x="328295" y="57531"/>
                </a:lnTo>
                <a:lnTo>
                  <a:pt x="328041" y="57023"/>
                </a:lnTo>
                <a:lnTo>
                  <a:pt x="327660" y="56642"/>
                </a:lnTo>
                <a:lnTo>
                  <a:pt x="327278" y="56134"/>
                </a:lnTo>
                <a:lnTo>
                  <a:pt x="326644" y="55880"/>
                </a:lnTo>
                <a:lnTo>
                  <a:pt x="325882" y="55499"/>
                </a:lnTo>
                <a:lnTo>
                  <a:pt x="324993" y="55245"/>
                </a:lnTo>
                <a:lnTo>
                  <a:pt x="323850" y="55118"/>
                </a:lnTo>
                <a:lnTo>
                  <a:pt x="321055" y="54864"/>
                </a:lnTo>
                <a:close/>
              </a:path>
              <a:path w="474979" h="175894">
                <a:moveTo>
                  <a:pt x="396832" y="70866"/>
                </a:moveTo>
                <a:lnTo>
                  <a:pt x="363982" y="70866"/>
                </a:lnTo>
                <a:lnTo>
                  <a:pt x="367284" y="71628"/>
                </a:lnTo>
                <a:lnTo>
                  <a:pt x="369950" y="73025"/>
                </a:lnTo>
                <a:lnTo>
                  <a:pt x="372745" y="74549"/>
                </a:lnTo>
                <a:lnTo>
                  <a:pt x="375030" y="76708"/>
                </a:lnTo>
                <a:lnTo>
                  <a:pt x="376809" y="79502"/>
                </a:lnTo>
                <a:lnTo>
                  <a:pt x="378714" y="82296"/>
                </a:lnTo>
                <a:lnTo>
                  <a:pt x="379984" y="85598"/>
                </a:lnTo>
                <a:lnTo>
                  <a:pt x="380873" y="89535"/>
                </a:lnTo>
                <a:lnTo>
                  <a:pt x="381889" y="93345"/>
                </a:lnTo>
                <a:lnTo>
                  <a:pt x="382270" y="97662"/>
                </a:lnTo>
                <a:lnTo>
                  <a:pt x="382397" y="171069"/>
                </a:lnTo>
                <a:lnTo>
                  <a:pt x="382777" y="171577"/>
                </a:lnTo>
                <a:lnTo>
                  <a:pt x="383032" y="172085"/>
                </a:lnTo>
                <a:lnTo>
                  <a:pt x="383540" y="172466"/>
                </a:lnTo>
                <a:lnTo>
                  <a:pt x="384301" y="172720"/>
                </a:lnTo>
                <a:lnTo>
                  <a:pt x="385064" y="173101"/>
                </a:lnTo>
                <a:lnTo>
                  <a:pt x="386207" y="173355"/>
                </a:lnTo>
                <a:lnTo>
                  <a:pt x="388874" y="173609"/>
                </a:lnTo>
                <a:lnTo>
                  <a:pt x="390525" y="173736"/>
                </a:lnTo>
                <a:lnTo>
                  <a:pt x="394462" y="173736"/>
                </a:lnTo>
                <a:lnTo>
                  <a:pt x="398652" y="173355"/>
                </a:lnTo>
                <a:lnTo>
                  <a:pt x="399669" y="173101"/>
                </a:lnTo>
                <a:lnTo>
                  <a:pt x="400558" y="172720"/>
                </a:lnTo>
                <a:lnTo>
                  <a:pt x="401320" y="172466"/>
                </a:lnTo>
                <a:lnTo>
                  <a:pt x="401827" y="172085"/>
                </a:lnTo>
                <a:lnTo>
                  <a:pt x="402209" y="171577"/>
                </a:lnTo>
                <a:lnTo>
                  <a:pt x="402717" y="170561"/>
                </a:lnTo>
                <a:lnTo>
                  <a:pt x="402717" y="92202"/>
                </a:lnTo>
                <a:lnTo>
                  <a:pt x="408304" y="85217"/>
                </a:lnTo>
                <a:lnTo>
                  <a:pt x="413512" y="79883"/>
                </a:lnTo>
                <a:lnTo>
                  <a:pt x="418338" y="76327"/>
                </a:lnTo>
                <a:lnTo>
                  <a:pt x="419796" y="75184"/>
                </a:lnTo>
                <a:lnTo>
                  <a:pt x="398779" y="75184"/>
                </a:lnTo>
                <a:lnTo>
                  <a:pt x="397383" y="71882"/>
                </a:lnTo>
                <a:lnTo>
                  <a:pt x="396832" y="70866"/>
                </a:lnTo>
                <a:close/>
              </a:path>
              <a:path w="474979" h="175894">
                <a:moveTo>
                  <a:pt x="469368" y="70866"/>
                </a:moveTo>
                <a:lnTo>
                  <a:pt x="436245" y="70866"/>
                </a:lnTo>
                <a:lnTo>
                  <a:pt x="439547" y="71628"/>
                </a:lnTo>
                <a:lnTo>
                  <a:pt x="442341" y="73025"/>
                </a:lnTo>
                <a:lnTo>
                  <a:pt x="445135" y="74549"/>
                </a:lnTo>
                <a:lnTo>
                  <a:pt x="447421" y="76708"/>
                </a:lnTo>
                <a:lnTo>
                  <a:pt x="449199" y="79502"/>
                </a:lnTo>
                <a:lnTo>
                  <a:pt x="451103" y="82296"/>
                </a:lnTo>
                <a:lnTo>
                  <a:pt x="452374" y="85598"/>
                </a:lnTo>
                <a:lnTo>
                  <a:pt x="453136" y="89535"/>
                </a:lnTo>
                <a:lnTo>
                  <a:pt x="454025" y="93345"/>
                </a:lnTo>
                <a:lnTo>
                  <a:pt x="454405" y="97662"/>
                </a:lnTo>
                <a:lnTo>
                  <a:pt x="454405" y="170561"/>
                </a:lnTo>
                <a:lnTo>
                  <a:pt x="454914" y="171577"/>
                </a:lnTo>
                <a:lnTo>
                  <a:pt x="455295" y="172085"/>
                </a:lnTo>
                <a:lnTo>
                  <a:pt x="455802" y="172466"/>
                </a:lnTo>
                <a:lnTo>
                  <a:pt x="456565" y="172720"/>
                </a:lnTo>
                <a:lnTo>
                  <a:pt x="457326" y="173101"/>
                </a:lnTo>
                <a:lnTo>
                  <a:pt x="458470" y="173355"/>
                </a:lnTo>
                <a:lnTo>
                  <a:pt x="461010" y="173609"/>
                </a:lnTo>
                <a:lnTo>
                  <a:pt x="462788" y="173736"/>
                </a:lnTo>
                <a:lnTo>
                  <a:pt x="466725" y="173736"/>
                </a:lnTo>
                <a:lnTo>
                  <a:pt x="468375" y="173609"/>
                </a:lnTo>
                <a:lnTo>
                  <a:pt x="471043" y="173355"/>
                </a:lnTo>
                <a:lnTo>
                  <a:pt x="472059" y="173101"/>
                </a:lnTo>
                <a:lnTo>
                  <a:pt x="472821" y="172720"/>
                </a:lnTo>
                <a:lnTo>
                  <a:pt x="473583" y="172466"/>
                </a:lnTo>
                <a:lnTo>
                  <a:pt x="474091" y="172085"/>
                </a:lnTo>
                <a:lnTo>
                  <a:pt x="474472" y="171577"/>
                </a:lnTo>
                <a:lnTo>
                  <a:pt x="474979" y="170561"/>
                </a:lnTo>
                <a:lnTo>
                  <a:pt x="474858" y="92202"/>
                </a:lnTo>
                <a:lnTo>
                  <a:pt x="474345" y="87376"/>
                </a:lnTo>
                <a:lnTo>
                  <a:pt x="471804" y="76073"/>
                </a:lnTo>
                <a:lnTo>
                  <a:pt x="469646" y="71247"/>
                </a:lnTo>
                <a:lnTo>
                  <a:pt x="469368" y="70866"/>
                </a:lnTo>
                <a:close/>
              </a:path>
              <a:path w="474979" h="175894">
                <a:moveTo>
                  <a:pt x="443992" y="53212"/>
                </a:moveTo>
                <a:lnTo>
                  <a:pt x="433832" y="53212"/>
                </a:lnTo>
                <a:lnTo>
                  <a:pt x="430911" y="53594"/>
                </a:lnTo>
                <a:lnTo>
                  <a:pt x="425069" y="55118"/>
                </a:lnTo>
                <a:lnTo>
                  <a:pt x="422021" y="56387"/>
                </a:lnTo>
                <a:lnTo>
                  <a:pt x="418973" y="58166"/>
                </a:lnTo>
                <a:lnTo>
                  <a:pt x="415798" y="59817"/>
                </a:lnTo>
                <a:lnTo>
                  <a:pt x="412623" y="62103"/>
                </a:lnTo>
                <a:lnTo>
                  <a:pt x="409321" y="64897"/>
                </a:lnTo>
                <a:lnTo>
                  <a:pt x="405892" y="67691"/>
                </a:lnTo>
                <a:lnTo>
                  <a:pt x="402347" y="71247"/>
                </a:lnTo>
                <a:lnTo>
                  <a:pt x="398779" y="75184"/>
                </a:lnTo>
                <a:lnTo>
                  <a:pt x="419796" y="75184"/>
                </a:lnTo>
                <a:lnTo>
                  <a:pt x="423037" y="72644"/>
                </a:lnTo>
                <a:lnTo>
                  <a:pt x="427736" y="70866"/>
                </a:lnTo>
                <a:lnTo>
                  <a:pt x="469368" y="70866"/>
                </a:lnTo>
                <a:lnTo>
                  <a:pt x="463550" y="62865"/>
                </a:lnTo>
                <a:lnTo>
                  <a:pt x="459613" y="59436"/>
                </a:lnTo>
                <a:lnTo>
                  <a:pt x="454787" y="56896"/>
                </a:lnTo>
                <a:lnTo>
                  <a:pt x="449961" y="54483"/>
                </a:lnTo>
                <a:lnTo>
                  <a:pt x="443992" y="53212"/>
                </a:lnTo>
                <a:close/>
              </a:path>
              <a:path w="474979" h="175894">
                <a:moveTo>
                  <a:pt x="369062" y="53212"/>
                </a:moveTo>
                <a:lnTo>
                  <a:pt x="358521" y="53212"/>
                </a:lnTo>
                <a:lnTo>
                  <a:pt x="352551" y="54737"/>
                </a:lnTo>
                <a:lnTo>
                  <a:pt x="346710" y="58039"/>
                </a:lnTo>
                <a:lnTo>
                  <a:pt x="340741" y="61341"/>
                </a:lnTo>
                <a:lnTo>
                  <a:pt x="334645" y="66421"/>
                </a:lnTo>
                <a:lnTo>
                  <a:pt x="328422" y="73406"/>
                </a:lnTo>
                <a:lnTo>
                  <a:pt x="349771" y="73406"/>
                </a:lnTo>
                <a:lnTo>
                  <a:pt x="350774" y="72644"/>
                </a:lnTo>
                <a:lnTo>
                  <a:pt x="355473" y="70866"/>
                </a:lnTo>
                <a:lnTo>
                  <a:pt x="396832" y="70866"/>
                </a:lnTo>
                <a:lnTo>
                  <a:pt x="395732" y="68834"/>
                </a:lnTo>
                <a:lnTo>
                  <a:pt x="373252" y="53721"/>
                </a:lnTo>
                <a:lnTo>
                  <a:pt x="369062" y="53212"/>
                </a:lnTo>
                <a:close/>
              </a:path>
            </a:pathLst>
          </a:custGeom>
          <a:solidFill>
            <a:srgbClr val="000000">
              <a:alpha val="79998"/>
            </a:srgbClr>
          </a:solidFill>
        </p:spPr>
        <p:txBody>
          <a:bodyPr wrap="square" lIns="0" tIns="0" rIns="0" bIns="0" rtlCol="0"/>
          <a:lstStyle/>
          <a:p>
            <a:endParaRPr/>
          </a:p>
        </p:txBody>
      </p:sp>
      <p:sp>
        <p:nvSpPr>
          <p:cNvPr id="36" name="object 36"/>
          <p:cNvSpPr/>
          <p:nvPr/>
        </p:nvSpPr>
        <p:spPr>
          <a:xfrm>
            <a:off x="8334755" y="3075433"/>
            <a:ext cx="249555" cy="174625"/>
          </a:xfrm>
          <a:custGeom>
            <a:avLst/>
            <a:gdLst/>
            <a:ahLst/>
            <a:cxnLst/>
            <a:rect l="l" t="t" r="r" b="b"/>
            <a:pathLst>
              <a:path w="332740" h="174625">
                <a:moveTo>
                  <a:pt x="40132" y="71500"/>
                </a:moveTo>
                <a:lnTo>
                  <a:pt x="19685" y="71500"/>
                </a:lnTo>
                <a:lnTo>
                  <a:pt x="19685" y="143001"/>
                </a:lnTo>
                <a:lnTo>
                  <a:pt x="46482" y="174243"/>
                </a:lnTo>
                <a:lnTo>
                  <a:pt x="54101" y="174243"/>
                </a:lnTo>
                <a:lnTo>
                  <a:pt x="56007" y="174116"/>
                </a:lnTo>
                <a:lnTo>
                  <a:pt x="59817" y="173608"/>
                </a:lnTo>
                <a:lnTo>
                  <a:pt x="61595" y="173227"/>
                </a:lnTo>
                <a:lnTo>
                  <a:pt x="63246" y="172846"/>
                </a:lnTo>
                <a:lnTo>
                  <a:pt x="64897" y="172592"/>
                </a:lnTo>
                <a:lnTo>
                  <a:pt x="66421" y="172084"/>
                </a:lnTo>
                <a:lnTo>
                  <a:pt x="67691" y="171450"/>
                </a:lnTo>
                <a:lnTo>
                  <a:pt x="69088" y="170941"/>
                </a:lnTo>
                <a:lnTo>
                  <a:pt x="70103" y="170306"/>
                </a:lnTo>
                <a:lnTo>
                  <a:pt x="71374" y="169037"/>
                </a:lnTo>
                <a:lnTo>
                  <a:pt x="71882" y="167893"/>
                </a:lnTo>
                <a:lnTo>
                  <a:pt x="72136" y="166496"/>
                </a:lnTo>
                <a:lnTo>
                  <a:pt x="72517" y="165100"/>
                </a:lnTo>
                <a:lnTo>
                  <a:pt x="72612" y="157987"/>
                </a:lnTo>
                <a:lnTo>
                  <a:pt x="72390" y="157098"/>
                </a:lnTo>
                <a:lnTo>
                  <a:pt x="72350" y="156844"/>
                </a:lnTo>
                <a:lnTo>
                  <a:pt x="49784" y="156844"/>
                </a:lnTo>
                <a:lnTo>
                  <a:pt x="45720" y="154812"/>
                </a:lnTo>
                <a:lnTo>
                  <a:pt x="43434" y="150875"/>
                </a:lnTo>
                <a:lnTo>
                  <a:pt x="41275" y="147065"/>
                </a:lnTo>
                <a:lnTo>
                  <a:pt x="40132" y="141223"/>
                </a:lnTo>
                <a:lnTo>
                  <a:pt x="40132" y="71500"/>
                </a:lnTo>
                <a:close/>
              </a:path>
              <a:path w="332740" h="174625">
                <a:moveTo>
                  <a:pt x="70231" y="153288"/>
                </a:moveTo>
                <a:lnTo>
                  <a:pt x="69215" y="153288"/>
                </a:lnTo>
                <a:lnTo>
                  <a:pt x="68452" y="153542"/>
                </a:lnTo>
                <a:lnTo>
                  <a:pt x="67564" y="153923"/>
                </a:lnTo>
                <a:lnTo>
                  <a:pt x="66801" y="154304"/>
                </a:lnTo>
                <a:lnTo>
                  <a:pt x="65786" y="154685"/>
                </a:lnTo>
                <a:lnTo>
                  <a:pt x="63500" y="155447"/>
                </a:lnTo>
                <a:lnTo>
                  <a:pt x="62230" y="155828"/>
                </a:lnTo>
                <a:lnTo>
                  <a:pt x="59182" y="156590"/>
                </a:lnTo>
                <a:lnTo>
                  <a:pt x="57531" y="156844"/>
                </a:lnTo>
                <a:lnTo>
                  <a:pt x="72350" y="156844"/>
                </a:lnTo>
                <a:lnTo>
                  <a:pt x="72136" y="155447"/>
                </a:lnTo>
                <a:lnTo>
                  <a:pt x="71627" y="154177"/>
                </a:lnTo>
                <a:lnTo>
                  <a:pt x="71374" y="153796"/>
                </a:lnTo>
                <a:lnTo>
                  <a:pt x="70993" y="153669"/>
                </a:lnTo>
                <a:lnTo>
                  <a:pt x="70612" y="153415"/>
                </a:lnTo>
                <a:lnTo>
                  <a:pt x="70231" y="153288"/>
                </a:lnTo>
                <a:close/>
              </a:path>
              <a:path w="332740" h="174625">
                <a:moveTo>
                  <a:pt x="69215" y="54609"/>
                </a:moveTo>
                <a:lnTo>
                  <a:pt x="3556" y="54609"/>
                </a:lnTo>
                <a:lnTo>
                  <a:pt x="3048" y="54737"/>
                </a:lnTo>
                <a:lnTo>
                  <a:pt x="2413" y="55117"/>
                </a:lnTo>
                <a:lnTo>
                  <a:pt x="1905" y="55371"/>
                </a:lnTo>
                <a:lnTo>
                  <a:pt x="0" y="66166"/>
                </a:lnTo>
                <a:lnTo>
                  <a:pt x="381" y="68198"/>
                </a:lnTo>
                <a:lnTo>
                  <a:pt x="1143" y="69595"/>
                </a:lnTo>
                <a:lnTo>
                  <a:pt x="1905" y="70865"/>
                </a:lnTo>
                <a:lnTo>
                  <a:pt x="2921" y="71500"/>
                </a:lnTo>
                <a:lnTo>
                  <a:pt x="69850" y="71500"/>
                </a:lnTo>
                <a:lnTo>
                  <a:pt x="70866" y="70865"/>
                </a:lnTo>
                <a:lnTo>
                  <a:pt x="71627" y="69595"/>
                </a:lnTo>
                <a:lnTo>
                  <a:pt x="72263" y="68198"/>
                </a:lnTo>
                <a:lnTo>
                  <a:pt x="72644" y="66166"/>
                </a:lnTo>
                <a:lnTo>
                  <a:pt x="72644" y="60325"/>
                </a:lnTo>
                <a:lnTo>
                  <a:pt x="72390" y="59181"/>
                </a:lnTo>
                <a:lnTo>
                  <a:pt x="72263" y="58165"/>
                </a:lnTo>
                <a:lnTo>
                  <a:pt x="70358" y="55117"/>
                </a:lnTo>
                <a:lnTo>
                  <a:pt x="69850" y="54737"/>
                </a:lnTo>
                <a:lnTo>
                  <a:pt x="69215" y="54609"/>
                </a:lnTo>
                <a:close/>
              </a:path>
              <a:path w="332740" h="174625">
                <a:moveTo>
                  <a:pt x="31876" y="24256"/>
                </a:moveTo>
                <a:lnTo>
                  <a:pt x="27813" y="24256"/>
                </a:lnTo>
                <a:lnTo>
                  <a:pt x="26162" y="24383"/>
                </a:lnTo>
                <a:lnTo>
                  <a:pt x="20193" y="26542"/>
                </a:lnTo>
                <a:lnTo>
                  <a:pt x="19812" y="27050"/>
                </a:lnTo>
                <a:lnTo>
                  <a:pt x="19685" y="54609"/>
                </a:lnTo>
                <a:lnTo>
                  <a:pt x="40132" y="54609"/>
                </a:lnTo>
                <a:lnTo>
                  <a:pt x="40132" y="27558"/>
                </a:lnTo>
                <a:lnTo>
                  <a:pt x="39624" y="26542"/>
                </a:lnTo>
                <a:lnTo>
                  <a:pt x="34925" y="24510"/>
                </a:lnTo>
                <a:lnTo>
                  <a:pt x="31876" y="24256"/>
                </a:lnTo>
                <a:close/>
              </a:path>
              <a:path w="332740" h="174625">
                <a:moveTo>
                  <a:pt x="112395" y="0"/>
                </a:moveTo>
                <a:lnTo>
                  <a:pt x="108331" y="0"/>
                </a:lnTo>
                <a:lnTo>
                  <a:pt x="106680" y="126"/>
                </a:lnTo>
                <a:lnTo>
                  <a:pt x="100711" y="2285"/>
                </a:lnTo>
                <a:lnTo>
                  <a:pt x="100330" y="2793"/>
                </a:lnTo>
                <a:lnTo>
                  <a:pt x="100202" y="3301"/>
                </a:lnTo>
                <a:lnTo>
                  <a:pt x="100202" y="169671"/>
                </a:lnTo>
                <a:lnTo>
                  <a:pt x="100330" y="170179"/>
                </a:lnTo>
                <a:lnTo>
                  <a:pt x="100711" y="170687"/>
                </a:lnTo>
                <a:lnTo>
                  <a:pt x="100965" y="171195"/>
                </a:lnTo>
                <a:lnTo>
                  <a:pt x="101473" y="171576"/>
                </a:lnTo>
                <a:lnTo>
                  <a:pt x="102235" y="171830"/>
                </a:lnTo>
                <a:lnTo>
                  <a:pt x="102997" y="172212"/>
                </a:lnTo>
                <a:lnTo>
                  <a:pt x="104140" y="172465"/>
                </a:lnTo>
                <a:lnTo>
                  <a:pt x="106680" y="172719"/>
                </a:lnTo>
                <a:lnTo>
                  <a:pt x="108331" y="172846"/>
                </a:lnTo>
                <a:lnTo>
                  <a:pt x="112395" y="172846"/>
                </a:lnTo>
                <a:lnTo>
                  <a:pt x="114046" y="172719"/>
                </a:lnTo>
                <a:lnTo>
                  <a:pt x="116713" y="172465"/>
                </a:lnTo>
                <a:lnTo>
                  <a:pt x="117728" y="172212"/>
                </a:lnTo>
                <a:lnTo>
                  <a:pt x="118491" y="171830"/>
                </a:lnTo>
                <a:lnTo>
                  <a:pt x="119252" y="171576"/>
                </a:lnTo>
                <a:lnTo>
                  <a:pt x="119761" y="171195"/>
                </a:lnTo>
                <a:lnTo>
                  <a:pt x="120142" y="170687"/>
                </a:lnTo>
                <a:lnTo>
                  <a:pt x="120650" y="169671"/>
                </a:lnTo>
                <a:lnTo>
                  <a:pt x="120650" y="91312"/>
                </a:lnTo>
                <a:lnTo>
                  <a:pt x="126238" y="84327"/>
                </a:lnTo>
                <a:lnTo>
                  <a:pt x="131572" y="78993"/>
                </a:lnTo>
                <a:lnTo>
                  <a:pt x="136651" y="75437"/>
                </a:lnTo>
                <a:lnTo>
                  <a:pt x="141732" y="71754"/>
                </a:lnTo>
                <a:lnTo>
                  <a:pt x="145079" y="70612"/>
                </a:lnTo>
                <a:lnTo>
                  <a:pt x="120650" y="70612"/>
                </a:lnTo>
                <a:lnTo>
                  <a:pt x="120650" y="3301"/>
                </a:lnTo>
                <a:lnTo>
                  <a:pt x="115443" y="253"/>
                </a:lnTo>
                <a:lnTo>
                  <a:pt x="112395" y="0"/>
                </a:lnTo>
                <a:close/>
              </a:path>
              <a:path w="332740" h="174625">
                <a:moveTo>
                  <a:pt x="190084" y="69976"/>
                </a:moveTo>
                <a:lnTo>
                  <a:pt x="155956" y="69976"/>
                </a:lnTo>
                <a:lnTo>
                  <a:pt x="159385" y="70738"/>
                </a:lnTo>
                <a:lnTo>
                  <a:pt x="162433" y="72135"/>
                </a:lnTo>
                <a:lnTo>
                  <a:pt x="174117" y="88645"/>
                </a:lnTo>
                <a:lnTo>
                  <a:pt x="175133" y="92455"/>
                </a:lnTo>
                <a:lnTo>
                  <a:pt x="175514" y="97535"/>
                </a:lnTo>
                <a:lnTo>
                  <a:pt x="175514" y="169671"/>
                </a:lnTo>
                <a:lnTo>
                  <a:pt x="176022" y="170687"/>
                </a:lnTo>
                <a:lnTo>
                  <a:pt x="176402" y="171195"/>
                </a:lnTo>
                <a:lnTo>
                  <a:pt x="176911" y="171576"/>
                </a:lnTo>
                <a:lnTo>
                  <a:pt x="177673" y="171830"/>
                </a:lnTo>
                <a:lnTo>
                  <a:pt x="178435" y="172212"/>
                </a:lnTo>
                <a:lnTo>
                  <a:pt x="179450" y="172465"/>
                </a:lnTo>
                <a:lnTo>
                  <a:pt x="180721" y="172592"/>
                </a:lnTo>
                <a:lnTo>
                  <a:pt x="183769" y="172846"/>
                </a:lnTo>
                <a:lnTo>
                  <a:pt x="187833" y="172846"/>
                </a:lnTo>
                <a:lnTo>
                  <a:pt x="189484" y="172719"/>
                </a:lnTo>
                <a:lnTo>
                  <a:pt x="192150" y="172465"/>
                </a:lnTo>
                <a:lnTo>
                  <a:pt x="193167" y="172212"/>
                </a:lnTo>
                <a:lnTo>
                  <a:pt x="193801" y="171830"/>
                </a:lnTo>
                <a:lnTo>
                  <a:pt x="194564" y="171576"/>
                </a:lnTo>
                <a:lnTo>
                  <a:pt x="195072" y="171195"/>
                </a:lnTo>
                <a:lnTo>
                  <a:pt x="195834" y="170179"/>
                </a:lnTo>
                <a:lnTo>
                  <a:pt x="195772" y="91312"/>
                </a:lnTo>
                <a:lnTo>
                  <a:pt x="195325" y="86487"/>
                </a:lnTo>
                <a:lnTo>
                  <a:pt x="193928" y="80898"/>
                </a:lnTo>
                <a:lnTo>
                  <a:pt x="192532" y="75183"/>
                </a:lnTo>
                <a:lnTo>
                  <a:pt x="190373" y="70357"/>
                </a:lnTo>
                <a:lnTo>
                  <a:pt x="190084" y="69976"/>
                </a:lnTo>
                <a:close/>
              </a:path>
              <a:path w="332740" h="174625">
                <a:moveTo>
                  <a:pt x="163575" y="52323"/>
                </a:moveTo>
                <a:lnTo>
                  <a:pt x="150114" y="52323"/>
                </a:lnTo>
                <a:lnTo>
                  <a:pt x="144145" y="53847"/>
                </a:lnTo>
                <a:lnTo>
                  <a:pt x="138302" y="56768"/>
                </a:lnTo>
                <a:lnTo>
                  <a:pt x="132334" y="59816"/>
                </a:lnTo>
                <a:lnTo>
                  <a:pt x="126492" y="64388"/>
                </a:lnTo>
                <a:lnTo>
                  <a:pt x="120650" y="70612"/>
                </a:lnTo>
                <a:lnTo>
                  <a:pt x="145079" y="70612"/>
                </a:lnTo>
                <a:lnTo>
                  <a:pt x="146939" y="69976"/>
                </a:lnTo>
                <a:lnTo>
                  <a:pt x="190084" y="69976"/>
                </a:lnTo>
                <a:lnTo>
                  <a:pt x="184023" y="61975"/>
                </a:lnTo>
                <a:lnTo>
                  <a:pt x="179959" y="58546"/>
                </a:lnTo>
                <a:lnTo>
                  <a:pt x="174878" y="56006"/>
                </a:lnTo>
                <a:lnTo>
                  <a:pt x="169799" y="53593"/>
                </a:lnTo>
                <a:lnTo>
                  <a:pt x="163575" y="52323"/>
                </a:lnTo>
                <a:close/>
              </a:path>
              <a:path w="332740" h="174625">
                <a:moveTo>
                  <a:pt x="292100" y="52323"/>
                </a:moveTo>
                <a:lnTo>
                  <a:pt x="275209" y="52323"/>
                </a:lnTo>
                <a:lnTo>
                  <a:pt x="267843" y="53720"/>
                </a:lnTo>
                <a:lnTo>
                  <a:pt x="261239" y="56514"/>
                </a:lnTo>
                <a:lnTo>
                  <a:pt x="254635" y="59435"/>
                </a:lnTo>
                <a:lnTo>
                  <a:pt x="249047" y="63500"/>
                </a:lnTo>
                <a:lnTo>
                  <a:pt x="244348" y="68833"/>
                </a:lnTo>
                <a:lnTo>
                  <a:pt x="239649" y="74040"/>
                </a:lnTo>
                <a:lnTo>
                  <a:pt x="230102" y="117475"/>
                </a:lnTo>
                <a:lnTo>
                  <a:pt x="230213" y="121225"/>
                </a:lnTo>
                <a:lnTo>
                  <a:pt x="248920" y="164337"/>
                </a:lnTo>
                <a:lnTo>
                  <a:pt x="261493" y="170560"/>
                </a:lnTo>
                <a:lnTo>
                  <a:pt x="268350" y="173227"/>
                </a:lnTo>
                <a:lnTo>
                  <a:pt x="276478" y="174497"/>
                </a:lnTo>
                <a:lnTo>
                  <a:pt x="290830" y="174497"/>
                </a:lnTo>
                <a:lnTo>
                  <a:pt x="295783" y="174116"/>
                </a:lnTo>
                <a:lnTo>
                  <a:pt x="300482" y="173227"/>
                </a:lnTo>
                <a:lnTo>
                  <a:pt x="305053" y="172465"/>
                </a:lnTo>
                <a:lnTo>
                  <a:pt x="309245" y="171576"/>
                </a:lnTo>
                <a:lnTo>
                  <a:pt x="312674" y="170560"/>
                </a:lnTo>
                <a:lnTo>
                  <a:pt x="316230" y="169671"/>
                </a:lnTo>
                <a:lnTo>
                  <a:pt x="325374" y="165353"/>
                </a:lnTo>
                <a:lnTo>
                  <a:pt x="325882" y="164972"/>
                </a:lnTo>
                <a:lnTo>
                  <a:pt x="326263" y="164464"/>
                </a:lnTo>
                <a:lnTo>
                  <a:pt x="327025" y="162940"/>
                </a:lnTo>
                <a:lnTo>
                  <a:pt x="327406" y="160908"/>
                </a:lnTo>
                <a:lnTo>
                  <a:pt x="327533" y="157860"/>
                </a:lnTo>
                <a:lnTo>
                  <a:pt x="280797" y="157860"/>
                </a:lnTo>
                <a:lnTo>
                  <a:pt x="275082" y="156971"/>
                </a:lnTo>
                <a:lnTo>
                  <a:pt x="270510" y="155066"/>
                </a:lnTo>
                <a:lnTo>
                  <a:pt x="265811" y="153162"/>
                </a:lnTo>
                <a:lnTo>
                  <a:pt x="262000" y="150494"/>
                </a:lnTo>
                <a:lnTo>
                  <a:pt x="259207" y="146938"/>
                </a:lnTo>
                <a:lnTo>
                  <a:pt x="256286" y="143382"/>
                </a:lnTo>
                <a:lnTo>
                  <a:pt x="254253" y="139064"/>
                </a:lnTo>
                <a:lnTo>
                  <a:pt x="252984" y="134238"/>
                </a:lnTo>
                <a:lnTo>
                  <a:pt x="251714" y="129285"/>
                </a:lnTo>
                <a:lnTo>
                  <a:pt x="251078" y="123697"/>
                </a:lnTo>
                <a:lnTo>
                  <a:pt x="251078" y="117475"/>
                </a:lnTo>
                <a:lnTo>
                  <a:pt x="326390" y="117475"/>
                </a:lnTo>
                <a:lnTo>
                  <a:pt x="328168" y="116839"/>
                </a:lnTo>
                <a:lnTo>
                  <a:pt x="331470" y="114045"/>
                </a:lnTo>
                <a:lnTo>
                  <a:pt x="332232" y="111759"/>
                </a:lnTo>
                <a:lnTo>
                  <a:pt x="332232" y="102615"/>
                </a:lnTo>
                <a:lnTo>
                  <a:pt x="251078" y="102615"/>
                </a:lnTo>
                <a:lnTo>
                  <a:pt x="251206" y="98043"/>
                </a:lnTo>
                <a:lnTo>
                  <a:pt x="252095" y="93725"/>
                </a:lnTo>
                <a:lnTo>
                  <a:pt x="254889" y="85343"/>
                </a:lnTo>
                <a:lnTo>
                  <a:pt x="256794" y="81660"/>
                </a:lnTo>
                <a:lnTo>
                  <a:pt x="259461" y="78612"/>
                </a:lnTo>
                <a:lnTo>
                  <a:pt x="262000" y="75437"/>
                </a:lnTo>
                <a:lnTo>
                  <a:pt x="265175" y="72897"/>
                </a:lnTo>
                <a:lnTo>
                  <a:pt x="268986" y="71119"/>
                </a:lnTo>
                <a:lnTo>
                  <a:pt x="272796" y="69214"/>
                </a:lnTo>
                <a:lnTo>
                  <a:pt x="277241" y="68198"/>
                </a:lnTo>
                <a:lnTo>
                  <a:pt x="321121" y="68198"/>
                </a:lnTo>
                <a:lnTo>
                  <a:pt x="316865" y="62991"/>
                </a:lnTo>
                <a:lnTo>
                  <a:pt x="311785" y="59308"/>
                </a:lnTo>
                <a:lnTo>
                  <a:pt x="299466" y="53720"/>
                </a:lnTo>
                <a:lnTo>
                  <a:pt x="292100" y="52323"/>
                </a:lnTo>
                <a:close/>
              </a:path>
              <a:path w="332740" h="174625">
                <a:moveTo>
                  <a:pt x="324739" y="149478"/>
                </a:moveTo>
                <a:lnTo>
                  <a:pt x="323215" y="149478"/>
                </a:lnTo>
                <a:lnTo>
                  <a:pt x="321691" y="149987"/>
                </a:lnTo>
                <a:lnTo>
                  <a:pt x="319786" y="150748"/>
                </a:lnTo>
                <a:lnTo>
                  <a:pt x="317881" y="151637"/>
                </a:lnTo>
                <a:lnTo>
                  <a:pt x="315341" y="152653"/>
                </a:lnTo>
                <a:lnTo>
                  <a:pt x="312293" y="153669"/>
                </a:lnTo>
                <a:lnTo>
                  <a:pt x="309372" y="154812"/>
                </a:lnTo>
                <a:lnTo>
                  <a:pt x="305816" y="155701"/>
                </a:lnTo>
                <a:lnTo>
                  <a:pt x="297434" y="157479"/>
                </a:lnTo>
                <a:lnTo>
                  <a:pt x="292735" y="157860"/>
                </a:lnTo>
                <a:lnTo>
                  <a:pt x="327533" y="157860"/>
                </a:lnTo>
                <a:lnTo>
                  <a:pt x="327469" y="154177"/>
                </a:lnTo>
                <a:lnTo>
                  <a:pt x="327278" y="152653"/>
                </a:lnTo>
                <a:lnTo>
                  <a:pt x="327025" y="151764"/>
                </a:lnTo>
                <a:lnTo>
                  <a:pt x="326771" y="151256"/>
                </a:lnTo>
                <a:lnTo>
                  <a:pt x="326517" y="150621"/>
                </a:lnTo>
                <a:lnTo>
                  <a:pt x="326263" y="150240"/>
                </a:lnTo>
                <a:lnTo>
                  <a:pt x="325755" y="149987"/>
                </a:lnTo>
                <a:lnTo>
                  <a:pt x="325247" y="149605"/>
                </a:lnTo>
                <a:lnTo>
                  <a:pt x="324739" y="149478"/>
                </a:lnTo>
                <a:close/>
              </a:path>
              <a:path w="332740" h="174625">
                <a:moveTo>
                  <a:pt x="321121" y="68198"/>
                </a:moveTo>
                <a:lnTo>
                  <a:pt x="292100" y="68198"/>
                </a:lnTo>
                <a:lnTo>
                  <a:pt x="299593" y="71246"/>
                </a:lnTo>
                <a:lnTo>
                  <a:pt x="304546" y="77342"/>
                </a:lnTo>
                <a:lnTo>
                  <a:pt x="307855" y="82345"/>
                </a:lnTo>
                <a:lnTo>
                  <a:pt x="310165" y="88217"/>
                </a:lnTo>
                <a:lnTo>
                  <a:pt x="311475" y="94970"/>
                </a:lnTo>
                <a:lnTo>
                  <a:pt x="311785" y="102615"/>
                </a:lnTo>
                <a:lnTo>
                  <a:pt x="332232" y="102615"/>
                </a:lnTo>
                <a:lnTo>
                  <a:pt x="332232" y="97662"/>
                </a:lnTo>
                <a:lnTo>
                  <a:pt x="331343" y="90804"/>
                </a:lnTo>
                <a:lnTo>
                  <a:pt x="329438" y="84454"/>
                </a:lnTo>
                <a:lnTo>
                  <a:pt x="327660" y="78104"/>
                </a:lnTo>
                <a:lnTo>
                  <a:pt x="324739" y="72516"/>
                </a:lnTo>
                <a:lnTo>
                  <a:pt x="321121" y="68198"/>
                </a:lnTo>
                <a:close/>
              </a:path>
            </a:pathLst>
          </a:custGeom>
          <a:solidFill>
            <a:srgbClr val="000000">
              <a:alpha val="79998"/>
            </a:srgbClr>
          </a:solidFill>
        </p:spPr>
        <p:txBody>
          <a:bodyPr wrap="square" lIns="0" tIns="0" rIns="0" bIns="0" rtlCol="0"/>
          <a:lstStyle/>
          <a:p>
            <a:endParaRPr/>
          </a:p>
        </p:txBody>
      </p:sp>
      <p:pic>
        <p:nvPicPr>
          <p:cNvPr id="37" name="object 37"/>
          <p:cNvPicPr/>
          <p:nvPr/>
        </p:nvPicPr>
        <p:blipFill>
          <a:blip r:embed="rId22" cstate="print"/>
          <a:stretch>
            <a:fillRect/>
          </a:stretch>
        </p:blipFill>
        <p:spPr>
          <a:xfrm>
            <a:off x="4692967" y="3357880"/>
            <a:ext cx="772859" cy="208915"/>
          </a:xfrm>
          <a:prstGeom prst="rect">
            <a:avLst/>
          </a:prstGeom>
        </p:spPr>
      </p:pic>
      <p:pic>
        <p:nvPicPr>
          <p:cNvPr id="38" name="object 38"/>
          <p:cNvPicPr/>
          <p:nvPr/>
        </p:nvPicPr>
        <p:blipFill>
          <a:blip r:embed="rId23" cstate="print"/>
          <a:stretch>
            <a:fillRect/>
          </a:stretch>
        </p:blipFill>
        <p:spPr>
          <a:xfrm>
            <a:off x="5644896" y="3349752"/>
            <a:ext cx="522256" cy="174498"/>
          </a:xfrm>
          <a:prstGeom prst="rect">
            <a:avLst/>
          </a:prstGeom>
        </p:spPr>
      </p:pic>
      <p:sp>
        <p:nvSpPr>
          <p:cNvPr id="39" name="object 39"/>
          <p:cNvSpPr/>
          <p:nvPr/>
        </p:nvSpPr>
        <p:spPr>
          <a:xfrm>
            <a:off x="6344602" y="3350259"/>
            <a:ext cx="269081" cy="173990"/>
          </a:xfrm>
          <a:custGeom>
            <a:avLst/>
            <a:gdLst/>
            <a:ahLst/>
            <a:cxnLst/>
            <a:rect l="l" t="t" r="r" b="b"/>
            <a:pathLst>
              <a:path w="358775" h="173989">
                <a:moveTo>
                  <a:pt x="86214" y="68325"/>
                </a:moveTo>
                <a:lnTo>
                  <a:pt x="50291" y="68325"/>
                </a:lnTo>
                <a:lnTo>
                  <a:pt x="54228" y="68834"/>
                </a:lnTo>
                <a:lnTo>
                  <a:pt x="60578" y="71119"/>
                </a:lnTo>
                <a:lnTo>
                  <a:pt x="63246" y="72770"/>
                </a:lnTo>
                <a:lnTo>
                  <a:pt x="67309" y="77088"/>
                </a:lnTo>
                <a:lnTo>
                  <a:pt x="68706" y="79882"/>
                </a:lnTo>
                <a:lnTo>
                  <a:pt x="69596" y="83185"/>
                </a:lnTo>
                <a:lnTo>
                  <a:pt x="70611" y="86487"/>
                </a:lnTo>
                <a:lnTo>
                  <a:pt x="70993" y="90169"/>
                </a:lnTo>
                <a:lnTo>
                  <a:pt x="70993" y="103124"/>
                </a:lnTo>
                <a:lnTo>
                  <a:pt x="46989" y="103124"/>
                </a:lnTo>
                <a:lnTo>
                  <a:pt x="39243" y="103886"/>
                </a:lnTo>
                <a:lnTo>
                  <a:pt x="25400" y="106934"/>
                </a:lnTo>
                <a:lnTo>
                  <a:pt x="19557" y="109219"/>
                </a:lnTo>
                <a:lnTo>
                  <a:pt x="14858" y="112267"/>
                </a:lnTo>
                <a:lnTo>
                  <a:pt x="10032" y="115315"/>
                </a:lnTo>
                <a:lnTo>
                  <a:pt x="6350" y="119125"/>
                </a:lnTo>
                <a:lnTo>
                  <a:pt x="3809" y="123825"/>
                </a:lnTo>
                <a:lnTo>
                  <a:pt x="1270" y="128397"/>
                </a:lnTo>
                <a:lnTo>
                  <a:pt x="0" y="133857"/>
                </a:lnTo>
                <a:lnTo>
                  <a:pt x="0" y="145414"/>
                </a:lnTo>
                <a:lnTo>
                  <a:pt x="888" y="150240"/>
                </a:lnTo>
                <a:lnTo>
                  <a:pt x="2794" y="154431"/>
                </a:lnTo>
                <a:lnTo>
                  <a:pt x="4572" y="158623"/>
                </a:lnTo>
                <a:lnTo>
                  <a:pt x="32638" y="173989"/>
                </a:lnTo>
                <a:lnTo>
                  <a:pt x="45211" y="173989"/>
                </a:lnTo>
                <a:lnTo>
                  <a:pt x="73303" y="157987"/>
                </a:lnTo>
                <a:lnTo>
                  <a:pt x="35178" y="157987"/>
                </a:lnTo>
                <a:lnTo>
                  <a:pt x="29972" y="156337"/>
                </a:lnTo>
                <a:lnTo>
                  <a:pt x="26415" y="152907"/>
                </a:lnTo>
                <a:lnTo>
                  <a:pt x="22732" y="149478"/>
                </a:lnTo>
                <a:lnTo>
                  <a:pt x="20827" y="144906"/>
                </a:lnTo>
                <a:lnTo>
                  <a:pt x="20827" y="135762"/>
                </a:lnTo>
                <a:lnTo>
                  <a:pt x="21462" y="132714"/>
                </a:lnTo>
                <a:lnTo>
                  <a:pt x="22732" y="130175"/>
                </a:lnTo>
                <a:lnTo>
                  <a:pt x="24002" y="127507"/>
                </a:lnTo>
                <a:lnTo>
                  <a:pt x="48005" y="117855"/>
                </a:lnTo>
                <a:lnTo>
                  <a:pt x="91312" y="117855"/>
                </a:lnTo>
                <a:lnTo>
                  <a:pt x="91275" y="86487"/>
                </a:lnTo>
                <a:lnTo>
                  <a:pt x="90424" y="80644"/>
                </a:lnTo>
                <a:lnTo>
                  <a:pt x="87375" y="70357"/>
                </a:lnTo>
                <a:lnTo>
                  <a:pt x="86214" y="68325"/>
                </a:lnTo>
                <a:close/>
              </a:path>
              <a:path w="358775" h="173989">
                <a:moveTo>
                  <a:pt x="91312" y="157479"/>
                </a:moveTo>
                <a:lnTo>
                  <a:pt x="73786" y="157479"/>
                </a:lnTo>
                <a:lnTo>
                  <a:pt x="73786" y="169672"/>
                </a:lnTo>
                <a:lnTo>
                  <a:pt x="80390" y="172338"/>
                </a:lnTo>
                <a:lnTo>
                  <a:pt x="84708" y="172338"/>
                </a:lnTo>
                <a:lnTo>
                  <a:pt x="86359" y="172212"/>
                </a:lnTo>
                <a:lnTo>
                  <a:pt x="87502" y="171957"/>
                </a:lnTo>
                <a:lnTo>
                  <a:pt x="88773" y="171703"/>
                </a:lnTo>
                <a:lnTo>
                  <a:pt x="89661" y="171323"/>
                </a:lnTo>
                <a:lnTo>
                  <a:pt x="90931" y="170306"/>
                </a:lnTo>
                <a:lnTo>
                  <a:pt x="91312" y="169672"/>
                </a:lnTo>
                <a:lnTo>
                  <a:pt x="91312" y="157479"/>
                </a:lnTo>
                <a:close/>
              </a:path>
              <a:path w="358775" h="173989">
                <a:moveTo>
                  <a:pt x="91312" y="117855"/>
                </a:moveTo>
                <a:lnTo>
                  <a:pt x="70993" y="117855"/>
                </a:lnTo>
                <a:lnTo>
                  <a:pt x="70993" y="141477"/>
                </a:lnTo>
                <a:lnTo>
                  <a:pt x="66039" y="147065"/>
                </a:lnTo>
                <a:lnTo>
                  <a:pt x="61213" y="151256"/>
                </a:lnTo>
                <a:lnTo>
                  <a:pt x="52070" y="156590"/>
                </a:lnTo>
                <a:lnTo>
                  <a:pt x="47116" y="157987"/>
                </a:lnTo>
                <a:lnTo>
                  <a:pt x="73303" y="157987"/>
                </a:lnTo>
                <a:lnTo>
                  <a:pt x="73786" y="157479"/>
                </a:lnTo>
                <a:lnTo>
                  <a:pt x="91312" y="157479"/>
                </a:lnTo>
                <a:lnTo>
                  <a:pt x="91312" y="117855"/>
                </a:lnTo>
                <a:close/>
              </a:path>
              <a:path w="358775" h="173989">
                <a:moveTo>
                  <a:pt x="55372" y="51815"/>
                </a:moveTo>
                <a:lnTo>
                  <a:pt x="43179" y="51815"/>
                </a:lnTo>
                <a:lnTo>
                  <a:pt x="38861" y="52197"/>
                </a:lnTo>
                <a:lnTo>
                  <a:pt x="8000" y="63626"/>
                </a:lnTo>
                <a:lnTo>
                  <a:pt x="6857" y="64642"/>
                </a:lnTo>
                <a:lnTo>
                  <a:pt x="6096" y="65786"/>
                </a:lnTo>
                <a:lnTo>
                  <a:pt x="5841" y="67055"/>
                </a:lnTo>
                <a:lnTo>
                  <a:pt x="5587" y="68199"/>
                </a:lnTo>
                <a:lnTo>
                  <a:pt x="5460" y="74294"/>
                </a:lnTo>
                <a:lnTo>
                  <a:pt x="5714" y="75311"/>
                </a:lnTo>
                <a:lnTo>
                  <a:pt x="5841" y="76326"/>
                </a:lnTo>
                <a:lnTo>
                  <a:pt x="8889" y="79755"/>
                </a:lnTo>
                <a:lnTo>
                  <a:pt x="10540" y="79755"/>
                </a:lnTo>
                <a:lnTo>
                  <a:pt x="11937" y="79248"/>
                </a:lnTo>
                <a:lnTo>
                  <a:pt x="13970" y="77977"/>
                </a:lnTo>
                <a:lnTo>
                  <a:pt x="16001" y="76835"/>
                </a:lnTo>
                <a:lnTo>
                  <a:pt x="40512" y="68325"/>
                </a:lnTo>
                <a:lnTo>
                  <a:pt x="86214" y="68325"/>
                </a:lnTo>
                <a:lnTo>
                  <a:pt x="84835" y="65912"/>
                </a:lnTo>
                <a:lnTo>
                  <a:pt x="81406" y="62484"/>
                </a:lnTo>
                <a:lnTo>
                  <a:pt x="77977" y="58927"/>
                </a:lnTo>
                <a:lnTo>
                  <a:pt x="73405" y="56261"/>
                </a:lnTo>
                <a:lnTo>
                  <a:pt x="62229" y="52704"/>
                </a:lnTo>
                <a:lnTo>
                  <a:pt x="55372" y="51815"/>
                </a:lnTo>
                <a:close/>
              </a:path>
              <a:path w="358775" h="173989">
                <a:moveTo>
                  <a:pt x="140461" y="53466"/>
                </a:moveTo>
                <a:lnTo>
                  <a:pt x="136778" y="53466"/>
                </a:lnTo>
                <a:lnTo>
                  <a:pt x="135254" y="53593"/>
                </a:lnTo>
                <a:lnTo>
                  <a:pt x="132969" y="53848"/>
                </a:lnTo>
                <a:lnTo>
                  <a:pt x="132079" y="54101"/>
                </a:lnTo>
                <a:lnTo>
                  <a:pt x="131318" y="54482"/>
                </a:lnTo>
                <a:lnTo>
                  <a:pt x="130555" y="54737"/>
                </a:lnTo>
                <a:lnTo>
                  <a:pt x="130048" y="55244"/>
                </a:lnTo>
                <a:lnTo>
                  <a:pt x="129794" y="55625"/>
                </a:lnTo>
                <a:lnTo>
                  <a:pt x="129539" y="56134"/>
                </a:lnTo>
                <a:lnTo>
                  <a:pt x="129539" y="169672"/>
                </a:lnTo>
                <a:lnTo>
                  <a:pt x="129921" y="170179"/>
                </a:lnTo>
                <a:lnTo>
                  <a:pt x="130175" y="170687"/>
                </a:lnTo>
                <a:lnTo>
                  <a:pt x="130682" y="171068"/>
                </a:lnTo>
                <a:lnTo>
                  <a:pt x="131445" y="171323"/>
                </a:lnTo>
                <a:lnTo>
                  <a:pt x="132206" y="171703"/>
                </a:lnTo>
                <a:lnTo>
                  <a:pt x="133350" y="171957"/>
                </a:lnTo>
                <a:lnTo>
                  <a:pt x="135889" y="172212"/>
                </a:lnTo>
                <a:lnTo>
                  <a:pt x="137540" y="172338"/>
                </a:lnTo>
                <a:lnTo>
                  <a:pt x="141604" y="172338"/>
                </a:lnTo>
                <a:lnTo>
                  <a:pt x="143255" y="172212"/>
                </a:lnTo>
                <a:lnTo>
                  <a:pt x="145923" y="171957"/>
                </a:lnTo>
                <a:lnTo>
                  <a:pt x="146938" y="171703"/>
                </a:lnTo>
                <a:lnTo>
                  <a:pt x="147700" y="171323"/>
                </a:lnTo>
                <a:lnTo>
                  <a:pt x="148462" y="171068"/>
                </a:lnTo>
                <a:lnTo>
                  <a:pt x="148971" y="170687"/>
                </a:lnTo>
                <a:lnTo>
                  <a:pt x="149351" y="170179"/>
                </a:lnTo>
                <a:lnTo>
                  <a:pt x="149859" y="169163"/>
                </a:lnTo>
                <a:lnTo>
                  <a:pt x="149859" y="90804"/>
                </a:lnTo>
                <a:lnTo>
                  <a:pt x="155448" y="83819"/>
                </a:lnTo>
                <a:lnTo>
                  <a:pt x="160781" y="78486"/>
                </a:lnTo>
                <a:lnTo>
                  <a:pt x="165861" y="74929"/>
                </a:lnTo>
                <a:lnTo>
                  <a:pt x="169890" y="72009"/>
                </a:lnTo>
                <a:lnTo>
                  <a:pt x="147827" y="72009"/>
                </a:lnTo>
                <a:lnTo>
                  <a:pt x="147700" y="56134"/>
                </a:lnTo>
                <a:lnTo>
                  <a:pt x="147447" y="55625"/>
                </a:lnTo>
                <a:lnTo>
                  <a:pt x="147065" y="55244"/>
                </a:lnTo>
                <a:lnTo>
                  <a:pt x="146684" y="54737"/>
                </a:lnTo>
                <a:lnTo>
                  <a:pt x="146050" y="54482"/>
                </a:lnTo>
                <a:lnTo>
                  <a:pt x="145287" y="54101"/>
                </a:lnTo>
                <a:lnTo>
                  <a:pt x="144399" y="53848"/>
                </a:lnTo>
                <a:lnTo>
                  <a:pt x="143255" y="53720"/>
                </a:lnTo>
                <a:lnTo>
                  <a:pt x="140461" y="53466"/>
                </a:lnTo>
                <a:close/>
              </a:path>
              <a:path w="358775" h="173989">
                <a:moveTo>
                  <a:pt x="219294" y="69468"/>
                </a:moveTo>
                <a:lnTo>
                  <a:pt x="185165" y="69468"/>
                </a:lnTo>
                <a:lnTo>
                  <a:pt x="188595" y="70230"/>
                </a:lnTo>
                <a:lnTo>
                  <a:pt x="191643" y="71627"/>
                </a:lnTo>
                <a:lnTo>
                  <a:pt x="203326" y="88137"/>
                </a:lnTo>
                <a:lnTo>
                  <a:pt x="204343" y="91948"/>
                </a:lnTo>
                <a:lnTo>
                  <a:pt x="204724" y="97027"/>
                </a:lnTo>
                <a:lnTo>
                  <a:pt x="204724" y="169163"/>
                </a:lnTo>
                <a:lnTo>
                  <a:pt x="205231" y="170179"/>
                </a:lnTo>
                <a:lnTo>
                  <a:pt x="205612" y="170687"/>
                </a:lnTo>
                <a:lnTo>
                  <a:pt x="206121" y="171068"/>
                </a:lnTo>
                <a:lnTo>
                  <a:pt x="206882" y="171323"/>
                </a:lnTo>
                <a:lnTo>
                  <a:pt x="207645" y="171703"/>
                </a:lnTo>
                <a:lnTo>
                  <a:pt x="208660" y="171957"/>
                </a:lnTo>
                <a:lnTo>
                  <a:pt x="209930" y="172085"/>
                </a:lnTo>
                <a:lnTo>
                  <a:pt x="212978" y="172338"/>
                </a:lnTo>
                <a:lnTo>
                  <a:pt x="217043" y="172338"/>
                </a:lnTo>
                <a:lnTo>
                  <a:pt x="218694" y="172212"/>
                </a:lnTo>
                <a:lnTo>
                  <a:pt x="221360" y="171957"/>
                </a:lnTo>
                <a:lnTo>
                  <a:pt x="222376" y="171703"/>
                </a:lnTo>
                <a:lnTo>
                  <a:pt x="223011" y="171323"/>
                </a:lnTo>
                <a:lnTo>
                  <a:pt x="223774" y="171068"/>
                </a:lnTo>
                <a:lnTo>
                  <a:pt x="224281" y="170687"/>
                </a:lnTo>
                <a:lnTo>
                  <a:pt x="225044" y="169672"/>
                </a:lnTo>
                <a:lnTo>
                  <a:pt x="224982" y="90804"/>
                </a:lnTo>
                <a:lnTo>
                  <a:pt x="224535" y="85978"/>
                </a:lnTo>
                <a:lnTo>
                  <a:pt x="223138" y="80390"/>
                </a:lnTo>
                <a:lnTo>
                  <a:pt x="221741" y="74675"/>
                </a:lnTo>
                <a:lnTo>
                  <a:pt x="219582" y="69850"/>
                </a:lnTo>
                <a:lnTo>
                  <a:pt x="219294" y="69468"/>
                </a:lnTo>
                <a:close/>
              </a:path>
              <a:path w="358775" h="173989">
                <a:moveTo>
                  <a:pt x="192785" y="51815"/>
                </a:moveTo>
                <a:lnTo>
                  <a:pt x="179070" y="51815"/>
                </a:lnTo>
                <a:lnTo>
                  <a:pt x="172720" y="53339"/>
                </a:lnTo>
                <a:lnTo>
                  <a:pt x="160274" y="59943"/>
                </a:lnTo>
                <a:lnTo>
                  <a:pt x="154050" y="65024"/>
                </a:lnTo>
                <a:lnTo>
                  <a:pt x="147827" y="72009"/>
                </a:lnTo>
                <a:lnTo>
                  <a:pt x="169890" y="72009"/>
                </a:lnTo>
                <a:lnTo>
                  <a:pt x="170941" y="71247"/>
                </a:lnTo>
                <a:lnTo>
                  <a:pt x="176149" y="69468"/>
                </a:lnTo>
                <a:lnTo>
                  <a:pt x="219294" y="69468"/>
                </a:lnTo>
                <a:lnTo>
                  <a:pt x="213232" y="61467"/>
                </a:lnTo>
                <a:lnTo>
                  <a:pt x="209169" y="58038"/>
                </a:lnTo>
                <a:lnTo>
                  <a:pt x="204088" y="55499"/>
                </a:lnTo>
                <a:lnTo>
                  <a:pt x="199008" y="53086"/>
                </a:lnTo>
                <a:lnTo>
                  <a:pt x="192785" y="51815"/>
                </a:lnTo>
                <a:close/>
              </a:path>
              <a:path w="358775" h="173989">
                <a:moveTo>
                  <a:pt x="310896" y="51815"/>
                </a:moveTo>
                <a:lnTo>
                  <a:pt x="296672" y="51815"/>
                </a:lnTo>
                <a:lnTo>
                  <a:pt x="289686" y="53212"/>
                </a:lnTo>
                <a:lnTo>
                  <a:pt x="261620" y="80644"/>
                </a:lnTo>
                <a:lnTo>
                  <a:pt x="256627" y="123189"/>
                </a:lnTo>
                <a:lnTo>
                  <a:pt x="257301" y="130048"/>
                </a:lnTo>
                <a:lnTo>
                  <a:pt x="275081" y="165988"/>
                </a:lnTo>
                <a:lnTo>
                  <a:pt x="293624" y="173989"/>
                </a:lnTo>
                <a:lnTo>
                  <a:pt x="309245" y="173989"/>
                </a:lnTo>
                <a:lnTo>
                  <a:pt x="338160" y="156463"/>
                </a:lnTo>
                <a:lnTo>
                  <a:pt x="299974" y="156463"/>
                </a:lnTo>
                <a:lnTo>
                  <a:pt x="295528" y="155320"/>
                </a:lnTo>
                <a:lnTo>
                  <a:pt x="277622" y="117601"/>
                </a:lnTo>
                <a:lnTo>
                  <a:pt x="277622" y="106806"/>
                </a:lnTo>
                <a:lnTo>
                  <a:pt x="292988" y="73025"/>
                </a:lnTo>
                <a:lnTo>
                  <a:pt x="296545" y="70612"/>
                </a:lnTo>
                <a:lnTo>
                  <a:pt x="300989" y="69341"/>
                </a:lnTo>
                <a:lnTo>
                  <a:pt x="358775" y="69341"/>
                </a:lnTo>
                <a:lnTo>
                  <a:pt x="358775" y="68579"/>
                </a:lnTo>
                <a:lnTo>
                  <a:pt x="338327" y="68579"/>
                </a:lnTo>
                <a:lnTo>
                  <a:pt x="332994" y="63118"/>
                </a:lnTo>
                <a:lnTo>
                  <a:pt x="327659" y="58927"/>
                </a:lnTo>
                <a:lnTo>
                  <a:pt x="322325" y="56006"/>
                </a:lnTo>
                <a:lnTo>
                  <a:pt x="316864" y="53212"/>
                </a:lnTo>
                <a:lnTo>
                  <a:pt x="310896" y="51815"/>
                </a:lnTo>
                <a:close/>
              </a:path>
              <a:path w="358775" h="173989">
                <a:moveTo>
                  <a:pt x="358775" y="153797"/>
                </a:moveTo>
                <a:lnTo>
                  <a:pt x="340613" y="153797"/>
                </a:lnTo>
                <a:lnTo>
                  <a:pt x="340740" y="169799"/>
                </a:lnTo>
                <a:lnTo>
                  <a:pt x="341122" y="170179"/>
                </a:lnTo>
                <a:lnTo>
                  <a:pt x="341502" y="170687"/>
                </a:lnTo>
                <a:lnTo>
                  <a:pt x="348106" y="172338"/>
                </a:lnTo>
                <a:lnTo>
                  <a:pt x="351535" y="172338"/>
                </a:lnTo>
                <a:lnTo>
                  <a:pt x="358648" y="169799"/>
                </a:lnTo>
                <a:lnTo>
                  <a:pt x="358775" y="153797"/>
                </a:lnTo>
                <a:close/>
              </a:path>
              <a:path w="358775" h="173989">
                <a:moveTo>
                  <a:pt x="358775" y="69341"/>
                </a:moveTo>
                <a:lnTo>
                  <a:pt x="311784" y="69341"/>
                </a:lnTo>
                <a:lnTo>
                  <a:pt x="317119" y="71119"/>
                </a:lnTo>
                <a:lnTo>
                  <a:pt x="322325" y="74675"/>
                </a:lnTo>
                <a:lnTo>
                  <a:pt x="327405" y="78231"/>
                </a:lnTo>
                <a:lnTo>
                  <a:pt x="332739" y="83438"/>
                </a:lnTo>
                <a:lnTo>
                  <a:pt x="338327" y="90297"/>
                </a:lnTo>
                <a:lnTo>
                  <a:pt x="338327" y="134747"/>
                </a:lnTo>
                <a:lnTo>
                  <a:pt x="307975" y="156463"/>
                </a:lnTo>
                <a:lnTo>
                  <a:pt x="338160" y="156463"/>
                </a:lnTo>
                <a:lnTo>
                  <a:pt x="340613" y="153797"/>
                </a:lnTo>
                <a:lnTo>
                  <a:pt x="358775" y="153797"/>
                </a:lnTo>
                <a:lnTo>
                  <a:pt x="358775" y="69341"/>
                </a:lnTo>
                <a:close/>
              </a:path>
              <a:path w="358775" h="173989">
                <a:moveTo>
                  <a:pt x="350520" y="0"/>
                </a:moveTo>
                <a:lnTo>
                  <a:pt x="346455" y="0"/>
                </a:lnTo>
                <a:lnTo>
                  <a:pt x="344804" y="126"/>
                </a:lnTo>
                <a:lnTo>
                  <a:pt x="343534" y="380"/>
                </a:lnTo>
                <a:lnTo>
                  <a:pt x="342264" y="507"/>
                </a:lnTo>
                <a:lnTo>
                  <a:pt x="338327" y="68579"/>
                </a:lnTo>
                <a:lnTo>
                  <a:pt x="358775" y="68579"/>
                </a:lnTo>
                <a:lnTo>
                  <a:pt x="358648" y="2793"/>
                </a:lnTo>
                <a:lnTo>
                  <a:pt x="353440" y="380"/>
                </a:lnTo>
                <a:lnTo>
                  <a:pt x="352171" y="126"/>
                </a:lnTo>
                <a:lnTo>
                  <a:pt x="350520" y="0"/>
                </a:lnTo>
                <a:close/>
              </a:path>
            </a:pathLst>
          </a:custGeom>
          <a:solidFill>
            <a:srgbClr val="000000">
              <a:alpha val="79998"/>
            </a:srgbClr>
          </a:solidFill>
        </p:spPr>
        <p:txBody>
          <a:bodyPr wrap="square" lIns="0" tIns="0" rIns="0" bIns="0" rtlCol="0"/>
          <a:lstStyle/>
          <a:p>
            <a:endParaRPr/>
          </a:p>
        </p:txBody>
      </p:sp>
      <p:sp>
        <p:nvSpPr>
          <p:cNvPr id="40" name="object 40"/>
          <p:cNvSpPr/>
          <p:nvPr/>
        </p:nvSpPr>
        <p:spPr>
          <a:xfrm>
            <a:off x="6799516" y="3402076"/>
            <a:ext cx="232410" cy="122555"/>
          </a:xfrm>
          <a:custGeom>
            <a:avLst/>
            <a:gdLst/>
            <a:ahLst/>
            <a:cxnLst/>
            <a:rect l="l" t="t" r="r" b="b"/>
            <a:pathLst>
              <a:path w="309879" h="122554">
                <a:moveTo>
                  <a:pt x="86214" y="16510"/>
                </a:moveTo>
                <a:lnTo>
                  <a:pt x="50292" y="16510"/>
                </a:lnTo>
                <a:lnTo>
                  <a:pt x="54228" y="17018"/>
                </a:lnTo>
                <a:lnTo>
                  <a:pt x="60578" y="19303"/>
                </a:lnTo>
                <a:lnTo>
                  <a:pt x="63246" y="20954"/>
                </a:lnTo>
                <a:lnTo>
                  <a:pt x="67309" y="25273"/>
                </a:lnTo>
                <a:lnTo>
                  <a:pt x="68706" y="28066"/>
                </a:lnTo>
                <a:lnTo>
                  <a:pt x="69596" y="31369"/>
                </a:lnTo>
                <a:lnTo>
                  <a:pt x="70611" y="34671"/>
                </a:lnTo>
                <a:lnTo>
                  <a:pt x="70993" y="38353"/>
                </a:lnTo>
                <a:lnTo>
                  <a:pt x="70993" y="51308"/>
                </a:lnTo>
                <a:lnTo>
                  <a:pt x="46989" y="51308"/>
                </a:lnTo>
                <a:lnTo>
                  <a:pt x="39243" y="52070"/>
                </a:lnTo>
                <a:lnTo>
                  <a:pt x="25400" y="55118"/>
                </a:lnTo>
                <a:lnTo>
                  <a:pt x="19557" y="57403"/>
                </a:lnTo>
                <a:lnTo>
                  <a:pt x="14858" y="60451"/>
                </a:lnTo>
                <a:lnTo>
                  <a:pt x="10032" y="63500"/>
                </a:lnTo>
                <a:lnTo>
                  <a:pt x="6350" y="67310"/>
                </a:lnTo>
                <a:lnTo>
                  <a:pt x="3809" y="72009"/>
                </a:lnTo>
                <a:lnTo>
                  <a:pt x="1270" y="76581"/>
                </a:lnTo>
                <a:lnTo>
                  <a:pt x="0" y="82041"/>
                </a:lnTo>
                <a:lnTo>
                  <a:pt x="0" y="93599"/>
                </a:lnTo>
                <a:lnTo>
                  <a:pt x="888" y="98425"/>
                </a:lnTo>
                <a:lnTo>
                  <a:pt x="2794" y="102615"/>
                </a:lnTo>
                <a:lnTo>
                  <a:pt x="4572" y="106807"/>
                </a:lnTo>
                <a:lnTo>
                  <a:pt x="32638" y="122174"/>
                </a:lnTo>
                <a:lnTo>
                  <a:pt x="45211" y="122174"/>
                </a:lnTo>
                <a:lnTo>
                  <a:pt x="73303" y="106172"/>
                </a:lnTo>
                <a:lnTo>
                  <a:pt x="35178" y="106172"/>
                </a:lnTo>
                <a:lnTo>
                  <a:pt x="29972" y="104521"/>
                </a:lnTo>
                <a:lnTo>
                  <a:pt x="26416" y="101091"/>
                </a:lnTo>
                <a:lnTo>
                  <a:pt x="22732" y="97662"/>
                </a:lnTo>
                <a:lnTo>
                  <a:pt x="20827" y="93090"/>
                </a:lnTo>
                <a:lnTo>
                  <a:pt x="20827" y="83947"/>
                </a:lnTo>
                <a:lnTo>
                  <a:pt x="21462" y="80899"/>
                </a:lnTo>
                <a:lnTo>
                  <a:pt x="22732" y="78359"/>
                </a:lnTo>
                <a:lnTo>
                  <a:pt x="24002" y="75691"/>
                </a:lnTo>
                <a:lnTo>
                  <a:pt x="48005" y="66039"/>
                </a:lnTo>
                <a:lnTo>
                  <a:pt x="91312" y="66039"/>
                </a:lnTo>
                <a:lnTo>
                  <a:pt x="91275" y="34671"/>
                </a:lnTo>
                <a:lnTo>
                  <a:pt x="90424" y="28828"/>
                </a:lnTo>
                <a:lnTo>
                  <a:pt x="87375" y="18541"/>
                </a:lnTo>
                <a:lnTo>
                  <a:pt x="86214" y="16510"/>
                </a:lnTo>
                <a:close/>
              </a:path>
              <a:path w="309879" h="122554">
                <a:moveTo>
                  <a:pt x="91312" y="105663"/>
                </a:moveTo>
                <a:lnTo>
                  <a:pt x="73786" y="105663"/>
                </a:lnTo>
                <a:lnTo>
                  <a:pt x="73786" y="117856"/>
                </a:lnTo>
                <a:lnTo>
                  <a:pt x="80391" y="120523"/>
                </a:lnTo>
                <a:lnTo>
                  <a:pt x="84708" y="120523"/>
                </a:lnTo>
                <a:lnTo>
                  <a:pt x="86359" y="120396"/>
                </a:lnTo>
                <a:lnTo>
                  <a:pt x="87502" y="120141"/>
                </a:lnTo>
                <a:lnTo>
                  <a:pt x="88773" y="119887"/>
                </a:lnTo>
                <a:lnTo>
                  <a:pt x="89661" y="119507"/>
                </a:lnTo>
                <a:lnTo>
                  <a:pt x="90931" y="118490"/>
                </a:lnTo>
                <a:lnTo>
                  <a:pt x="91312" y="117856"/>
                </a:lnTo>
                <a:lnTo>
                  <a:pt x="91312" y="105663"/>
                </a:lnTo>
                <a:close/>
              </a:path>
              <a:path w="309879" h="122554">
                <a:moveTo>
                  <a:pt x="91312" y="66039"/>
                </a:moveTo>
                <a:lnTo>
                  <a:pt x="70993" y="66039"/>
                </a:lnTo>
                <a:lnTo>
                  <a:pt x="70993" y="89662"/>
                </a:lnTo>
                <a:lnTo>
                  <a:pt x="66039" y="95250"/>
                </a:lnTo>
                <a:lnTo>
                  <a:pt x="61213" y="99440"/>
                </a:lnTo>
                <a:lnTo>
                  <a:pt x="52070" y="104775"/>
                </a:lnTo>
                <a:lnTo>
                  <a:pt x="47117" y="106172"/>
                </a:lnTo>
                <a:lnTo>
                  <a:pt x="73303" y="106172"/>
                </a:lnTo>
                <a:lnTo>
                  <a:pt x="73786" y="105663"/>
                </a:lnTo>
                <a:lnTo>
                  <a:pt x="91312" y="105663"/>
                </a:lnTo>
                <a:lnTo>
                  <a:pt x="91312" y="66039"/>
                </a:lnTo>
                <a:close/>
              </a:path>
              <a:path w="309879" h="122554">
                <a:moveTo>
                  <a:pt x="55372" y="0"/>
                </a:moveTo>
                <a:lnTo>
                  <a:pt x="43179" y="0"/>
                </a:lnTo>
                <a:lnTo>
                  <a:pt x="38861" y="381"/>
                </a:lnTo>
                <a:lnTo>
                  <a:pt x="8000" y="11811"/>
                </a:lnTo>
                <a:lnTo>
                  <a:pt x="6857" y="12826"/>
                </a:lnTo>
                <a:lnTo>
                  <a:pt x="6096" y="13970"/>
                </a:lnTo>
                <a:lnTo>
                  <a:pt x="5842" y="15239"/>
                </a:lnTo>
                <a:lnTo>
                  <a:pt x="5587" y="16383"/>
                </a:lnTo>
                <a:lnTo>
                  <a:pt x="5460" y="22478"/>
                </a:lnTo>
                <a:lnTo>
                  <a:pt x="5714" y="23495"/>
                </a:lnTo>
                <a:lnTo>
                  <a:pt x="5842" y="24511"/>
                </a:lnTo>
                <a:lnTo>
                  <a:pt x="8889" y="27939"/>
                </a:lnTo>
                <a:lnTo>
                  <a:pt x="10541" y="27939"/>
                </a:lnTo>
                <a:lnTo>
                  <a:pt x="11937" y="27432"/>
                </a:lnTo>
                <a:lnTo>
                  <a:pt x="13970" y="26162"/>
                </a:lnTo>
                <a:lnTo>
                  <a:pt x="16001" y="25019"/>
                </a:lnTo>
                <a:lnTo>
                  <a:pt x="40512" y="16510"/>
                </a:lnTo>
                <a:lnTo>
                  <a:pt x="86214" y="16510"/>
                </a:lnTo>
                <a:lnTo>
                  <a:pt x="84835" y="14097"/>
                </a:lnTo>
                <a:lnTo>
                  <a:pt x="81406" y="10668"/>
                </a:lnTo>
                <a:lnTo>
                  <a:pt x="77977" y="7112"/>
                </a:lnTo>
                <a:lnTo>
                  <a:pt x="73405" y="4445"/>
                </a:lnTo>
                <a:lnTo>
                  <a:pt x="62229" y="888"/>
                </a:lnTo>
                <a:lnTo>
                  <a:pt x="55372" y="0"/>
                </a:lnTo>
                <a:close/>
              </a:path>
              <a:path w="309879" h="122554">
                <a:moveTo>
                  <a:pt x="140461" y="1650"/>
                </a:moveTo>
                <a:lnTo>
                  <a:pt x="136778" y="1650"/>
                </a:lnTo>
                <a:lnTo>
                  <a:pt x="135254" y="1777"/>
                </a:lnTo>
                <a:lnTo>
                  <a:pt x="132969" y="2032"/>
                </a:lnTo>
                <a:lnTo>
                  <a:pt x="132079" y="2286"/>
                </a:lnTo>
                <a:lnTo>
                  <a:pt x="131318" y="2666"/>
                </a:lnTo>
                <a:lnTo>
                  <a:pt x="130555" y="2921"/>
                </a:lnTo>
                <a:lnTo>
                  <a:pt x="130048" y="3428"/>
                </a:lnTo>
                <a:lnTo>
                  <a:pt x="129794" y="3810"/>
                </a:lnTo>
                <a:lnTo>
                  <a:pt x="129603" y="4190"/>
                </a:lnTo>
                <a:lnTo>
                  <a:pt x="129539" y="117856"/>
                </a:lnTo>
                <a:lnTo>
                  <a:pt x="129921" y="118363"/>
                </a:lnTo>
                <a:lnTo>
                  <a:pt x="130175" y="118872"/>
                </a:lnTo>
                <a:lnTo>
                  <a:pt x="130682" y="119252"/>
                </a:lnTo>
                <a:lnTo>
                  <a:pt x="131445" y="119507"/>
                </a:lnTo>
                <a:lnTo>
                  <a:pt x="132206" y="119887"/>
                </a:lnTo>
                <a:lnTo>
                  <a:pt x="133350" y="120141"/>
                </a:lnTo>
                <a:lnTo>
                  <a:pt x="135889" y="120396"/>
                </a:lnTo>
                <a:lnTo>
                  <a:pt x="137541" y="120523"/>
                </a:lnTo>
                <a:lnTo>
                  <a:pt x="141604" y="120523"/>
                </a:lnTo>
                <a:lnTo>
                  <a:pt x="143255" y="120396"/>
                </a:lnTo>
                <a:lnTo>
                  <a:pt x="145923" y="120141"/>
                </a:lnTo>
                <a:lnTo>
                  <a:pt x="146938" y="119887"/>
                </a:lnTo>
                <a:lnTo>
                  <a:pt x="147700" y="119507"/>
                </a:lnTo>
                <a:lnTo>
                  <a:pt x="148462" y="119252"/>
                </a:lnTo>
                <a:lnTo>
                  <a:pt x="148971" y="118872"/>
                </a:lnTo>
                <a:lnTo>
                  <a:pt x="149351" y="118363"/>
                </a:lnTo>
                <a:lnTo>
                  <a:pt x="149859" y="117348"/>
                </a:lnTo>
                <a:lnTo>
                  <a:pt x="149859" y="43561"/>
                </a:lnTo>
                <a:lnTo>
                  <a:pt x="152653" y="38988"/>
                </a:lnTo>
                <a:lnTo>
                  <a:pt x="155321" y="35178"/>
                </a:lnTo>
                <a:lnTo>
                  <a:pt x="157733" y="32131"/>
                </a:lnTo>
                <a:lnTo>
                  <a:pt x="160147" y="28956"/>
                </a:lnTo>
                <a:lnTo>
                  <a:pt x="162432" y="26415"/>
                </a:lnTo>
                <a:lnTo>
                  <a:pt x="166750" y="22606"/>
                </a:lnTo>
                <a:lnTo>
                  <a:pt x="168173" y="21716"/>
                </a:lnTo>
                <a:lnTo>
                  <a:pt x="147827" y="21716"/>
                </a:lnTo>
                <a:lnTo>
                  <a:pt x="147700" y="4318"/>
                </a:lnTo>
                <a:lnTo>
                  <a:pt x="147447" y="3810"/>
                </a:lnTo>
                <a:lnTo>
                  <a:pt x="147066" y="3428"/>
                </a:lnTo>
                <a:lnTo>
                  <a:pt x="146684" y="2921"/>
                </a:lnTo>
                <a:lnTo>
                  <a:pt x="146050" y="2666"/>
                </a:lnTo>
                <a:lnTo>
                  <a:pt x="145287" y="2286"/>
                </a:lnTo>
                <a:lnTo>
                  <a:pt x="144399" y="2032"/>
                </a:lnTo>
                <a:lnTo>
                  <a:pt x="143255" y="1904"/>
                </a:lnTo>
                <a:lnTo>
                  <a:pt x="140461" y="1650"/>
                </a:lnTo>
                <a:close/>
              </a:path>
              <a:path w="309879" h="122554">
                <a:moveTo>
                  <a:pt x="194110" y="19176"/>
                </a:moveTo>
                <a:lnTo>
                  <a:pt x="178561" y="19176"/>
                </a:lnTo>
                <a:lnTo>
                  <a:pt x="181736" y="19685"/>
                </a:lnTo>
                <a:lnTo>
                  <a:pt x="184530" y="20447"/>
                </a:lnTo>
                <a:lnTo>
                  <a:pt x="185674" y="20827"/>
                </a:lnTo>
                <a:lnTo>
                  <a:pt x="186944" y="21082"/>
                </a:lnTo>
                <a:lnTo>
                  <a:pt x="188975" y="21844"/>
                </a:lnTo>
                <a:lnTo>
                  <a:pt x="189864" y="22225"/>
                </a:lnTo>
                <a:lnTo>
                  <a:pt x="190626" y="22478"/>
                </a:lnTo>
                <a:lnTo>
                  <a:pt x="192024" y="22478"/>
                </a:lnTo>
                <a:lnTo>
                  <a:pt x="194013" y="19685"/>
                </a:lnTo>
                <a:lnTo>
                  <a:pt x="194110" y="19176"/>
                </a:lnTo>
                <a:close/>
              </a:path>
              <a:path w="309879" h="122554">
                <a:moveTo>
                  <a:pt x="180467" y="0"/>
                </a:moveTo>
                <a:lnTo>
                  <a:pt x="175895" y="0"/>
                </a:lnTo>
                <a:lnTo>
                  <a:pt x="173481" y="253"/>
                </a:lnTo>
                <a:lnTo>
                  <a:pt x="147827" y="21716"/>
                </a:lnTo>
                <a:lnTo>
                  <a:pt x="168173" y="21716"/>
                </a:lnTo>
                <a:lnTo>
                  <a:pt x="168782" y="21336"/>
                </a:lnTo>
                <a:lnTo>
                  <a:pt x="170814" y="20447"/>
                </a:lnTo>
                <a:lnTo>
                  <a:pt x="172847" y="19685"/>
                </a:lnTo>
                <a:lnTo>
                  <a:pt x="174751" y="19176"/>
                </a:lnTo>
                <a:lnTo>
                  <a:pt x="194110" y="19176"/>
                </a:lnTo>
                <a:lnTo>
                  <a:pt x="194182" y="18669"/>
                </a:lnTo>
                <a:lnTo>
                  <a:pt x="194309" y="16128"/>
                </a:lnTo>
                <a:lnTo>
                  <a:pt x="194182" y="6350"/>
                </a:lnTo>
                <a:lnTo>
                  <a:pt x="194055" y="5714"/>
                </a:lnTo>
                <a:lnTo>
                  <a:pt x="190119" y="1904"/>
                </a:lnTo>
                <a:lnTo>
                  <a:pt x="188975" y="1524"/>
                </a:lnTo>
                <a:lnTo>
                  <a:pt x="186181" y="762"/>
                </a:lnTo>
                <a:lnTo>
                  <a:pt x="183260" y="253"/>
                </a:lnTo>
                <a:lnTo>
                  <a:pt x="180467" y="0"/>
                </a:lnTo>
                <a:close/>
              </a:path>
              <a:path w="309879" h="122554">
                <a:moveTo>
                  <a:pt x="269494" y="0"/>
                </a:moveTo>
                <a:lnTo>
                  <a:pt x="252602" y="0"/>
                </a:lnTo>
                <a:lnTo>
                  <a:pt x="245236" y="1397"/>
                </a:lnTo>
                <a:lnTo>
                  <a:pt x="238632" y="4190"/>
                </a:lnTo>
                <a:lnTo>
                  <a:pt x="232028" y="7112"/>
                </a:lnTo>
                <a:lnTo>
                  <a:pt x="226441" y="11175"/>
                </a:lnTo>
                <a:lnTo>
                  <a:pt x="221742" y="16510"/>
                </a:lnTo>
                <a:lnTo>
                  <a:pt x="217043" y="21716"/>
                </a:lnTo>
                <a:lnTo>
                  <a:pt x="207496" y="65150"/>
                </a:lnTo>
                <a:lnTo>
                  <a:pt x="207607" y="68901"/>
                </a:lnTo>
                <a:lnTo>
                  <a:pt x="226313" y="112013"/>
                </a:lnTo>
                <a:lnTo>
                  <a:pt x="238886" y="118237"/>
                </a:lnTo>
                <a:lnTo>
                  <a:pt x="245745" y="120903"/>
                </a:lnTo>
                <a:lnTo>
                  <a:pt x="253873" y="122174"/>
                </a:lnTo>
                <a:lnTo>
                  <a:pt x="268224" y="122174"/>
                </a:lnTo>
                <a:lnTo>
                  <a:pt x="273176" y="121793"/>
                </a:lnTo>
                <a:lnTo>
                  <a:pt x="277875" y="120903"/>
                </a:lnTo>
                <a:lnTo>
                  <a:pt x="282448" y="120141"/>
                </a:lnTo>
                <a:lnTo>
                  <a:pt x="286638" y="119252"/>
                </a:lnTo>
                <a:lnTo>
                  <a:pt x="290068" y="118237"/>
                </a:lnTo>
                <a:lnTo>
                  <a:pt x="293624" y="117348"/>
                </a:lnTo>
                <a:lnTo>
                  <a:pt x="302768" y="113029"/>
                </a:lnTo>
                <a:lnTo>
                  <a:pt x="303275" y="112649"/>
                </a:lnTo>
                <a:lnTo>
                  <a:pt x="303656" y="112140"/>
                </a:lnTo>
                <a:lnTo>
                  <a:pt x="304419" y="110616"/>
                </a:lnTo>
                <a:lnTo>
                  <a:pt x="304800" y="108585"/>
                </a:lnTo>
                <a:lnTo>
                  <a:pt x="304926" y="105537"/>
                </a:lnTo>
                <a:lnTo>
                  <a:pt x="258191" y="105537"/>
                </a:lnTo>
                <a:lnTo>
                  <a:pt x="252475" y="104648"/>
                </a:lnTo>
                <a:lnTo>
                  <a:pt x="247903" y="102743"/>
                </a:lnTo>
                <a:lnTo>
                  <a:pt x="243204" y="100837"/>
                </a:lnTo>
                <a:lnTo>
                  <a:pt x="239395" y="98171"/>
                </a:lnTo>
                <a:lnTo>
                  <a:pt x="236600" y="94614"/>
                </a:lnTo>
                <a:lnTo>
                  <a:pt x="233679" y="91059"/>
                </a:lnTo>
                <a:lnTo>
                  <a:pt x="231648" y="86740"/>
                </a:lnTo>
                <a:lnTo>
                  <a:pt x="230377" y="81914"/>
                </a:lnTo>
                <a:lnTo>
                  <a:pt x="229107" y="76962"/>
                </a:lnTo>
                <a:lnTo>
                  <a:pt x="228473" y="71374"/>
                </a:lnTo>
                <a:lnTo>
                  <a:pt x="228473" y="65150"/>
                </a:lnTo>
                <a:lnTo>
                  <a:pt x="303783" y="65150"/>
                </a:lnTo>
                <a:lnTo>
                  <a:pt x="305561" y="64515"/>
                </a:lnTo>
                <a:lnTo>
                  <a:pt x="308863" y="61722"/>
                </a:lnTo>
                <a:lnTo>
                  <a:pt x="309625" y="59436"/>
                </a:lnTo>
                <a:lnTo>
                  <a:pt x="309625" y="50291"/>
                </a:lnTo>
                <a:lnTo>
                  <a:pt x="228473" y="50291"/>
                </a:lnTo>
                <a:lnTo>
                  <a:pt x="228600" y="45720"/>
                </a:lnTo>
                <a:lnTo>
                  <a:pt x="229488" y="41401"/>
                </a:lnTo>
                <a:lnTo>
                  <a:pt x="232282" y="33020"/>
                </a:lnTo>
                <a:lnTo>
                  <a:pt x="234187" y="29337"/>
                </a:lnTo>
                <a:lnTo>
                  <a:pt x="236854" y="26288"/>
                </a:lnTo>
                <a:lnTo>
                  <a:pt x="239395" y="23113"/>
                </a:lnTo>
                <a:lnTo>
                  <a:pt x="242570" y="20574"/>
                </a:lnTo>
                <a:lnTo>
                  <a:pt x="246379" y="18796"/>
                </a:lnTo>
                <a:lnTo>
                  <a:pt x="250189" y="16890"/>
                </a:lnTo>
                <a:lnTo>
                  <a:pt x="254634" y="15875"/>
                </a:lnTo>
                <a:lnTo>
                  <a:pt x="298515" y="15875"/>
                </a:lnTo>
                <a:lnTo>
                  <a:pt x="294258" y="10668"/>
                </a:lnTo>
                <a:lnTo>
                  <a:pt x="289178" y="6985"/>
                </a:lnTo>
                <a:lnTo>
                  <a:pt x="276859" y="1397"/>
                </a:lnTo>
                <a:lnTo>
                  <a:pt x="269494" y="0"/>
                </a:lnTo>
                <a:close/>
              </a:path>
              <a:path w="309879" h="122554">
                <a:moveTo>
                  <a:pt x="302132" y="97154"/>
                </a:moveTo>
                <a:lnTo>
                  <a:pt x="300608" y="97154"/>
                </a:lnTo>
                <a:lnTo>
                  <a:pt x="299084" y="97662"/>
                </a:lnTo>
                <a:lnTo>
                  <a:pt x="297179" y="98425"/>
                </a:lnTo>
                <a:lnTo>
                  <a:pt x="295275" y="99313"/>
                </a:lnTo>
                <a:lnTo>
                  <a:pt x="292734" y="100329"/>
                </a:lnTo>
                <a:lnTo>
                  <a:pt x="289686" y="101346"/>
                </a:lnTo>
                <a:lnTo>
                  <a:pt x="286766" y="102488"/>
                </a:lnTo>
                <a:lnTo>
                  <a:pt x="283209" y="103377"/>
                </a:lnTo>
                <a:lnTo>
                  <a:pt x="274827" y="105156"/>
                </a:lnTo>
                <a:lnTo>
                  <a:pt x="270128" y="105537"/>
                </a:lnTo>
                <a:lnTo>
                  <a:pt x="304926" y="105537"/>
                </a:lnTo>
                <a:lnTo>
                  <a:pt x="304800" y="101346"/>
                </a:lnTo>
                <a:lnTo>
                  <a:pt x="304673" y="100329"/>
                </a:lnTo>
                <a:lnTo>
                  <a:pt x="304419" y="99440"/>
                </a:lnTo>
                <a:lnTo>
                  <a:pt x="304164" y="98933"/>
                </a:lnTo>
                <a:lnTo>
                  <a:pt x="303910" y="98298"/>
                </a:lnTo>
                <a:lnTo>
                  <a:pt x="303656" y="97916"/>
                </a:lnTo>
                <a:lnTo>
                  <a:pt x="303149" y="97662"/>
                </a:lnTo>
                <a:lnTo>
                  <a:pt x="302641" y="97282"/>
                </a:lnTo>
                <a:lnTo>
                  <a:pt x="302132" y="97154"/>
                </a:lnTo>
                <a:close/>
              </a:path>
              <a:path w="309879" h="122554">
                <a:moveTo>
                  <a:pt x="298515" y="15875"/>
                </a:moveTo>
                <a:lnTo>
                  <a:pt x="269494" y="15875"/>
                </a:lnTo>
                <a:lnTo>
                  <a:pt x="276986" y="18923"/>
                </a:lnTo>
                <a:lnTo>
                  <a:pt x="281939" y="25019"/>
                </a:lnTo>
                <a:lnTo>
                  <a:pt x="285249" y="30021"/>
                </a:lnTo>
                <a:lnTo>
                  <a:pt x="287559" y="35893"/>
                </a:lnTo>
                <a:lnTo>
                  <a:pt x="288869" y="42646"/>
                </a:lnTo>
                <a:lnTo>
                  <a:pt x="289178" y="50291"/>
                </a:lnTo>
                <a:lnTo>
                  <a:pt x="309625" y="50291"/>
                </a:lnTo>
                <a:lnTo>
                  <a:pt x="309625" y="45338"/>
                </a:lnTo>
                <a:lnTo>
                  <a:pt x="308736" y="38481"/>
                </a:lnTo>
                <a:lnTo>
                  <a:pt x="306831" y="32131"/>
                </a:lnTo>
                <a:lnTo>
                  <a:pt x="305053" y="25781"/>
                </a:lnTo>
                <a:lnTo>
                  <a:pt x="302132" y="20193"/>
                </a:lnTo>
                <a:lnTo>
                  <a:pt x="298515" y="15875"/>
                </a:lnTo>
                <a:close/>
              </a:path>
            </a:pathLst>
          </a:custGeom>
          <a:solidFill>
            <a:srgbClr val="000000">
              <a:alpha val="79998"/>
            </a:srgbClr>
          </a:solidFill>
        </p:spPr>
        <p:txBody>
          <a:bodyPr wrap="square" lIns="0" tIns="0" rIns="0" bIns="0" rtlCol="0"/>
          <a:lstStyle/>
          <a:p>
            <a:endParaRPr/>
          </a:p>
        </p:txBody>
      </p:sp>
      <p:pic>
        <p:nvPicPr>
          <p:cNvPr id="41" name="object 41"/>
          <p:cNvPicPr/>
          <p:nvPr/>
        </p:nvPicPr>
        <p:blipFill>
          <a:blip r:embed="rId24" cstate="print"/>
          <a:stretch>
            <a:fillRect/>
          </a:stretch>
        </p:blipFill>
        <p:spPr>
          <a:xfrm>
            <a:off x="7214807" y="3349752"/>
            <a:ext cx="635603" cy="174498"/>
          </a:xfrm>
          <a:prstGeom prst="rect">
            <a:avLst/>
          </a:prstGeom>
        </p:spPr>
      </p:pic>
      <p:pic>
        <p:nvPicPr>
          <p:cNvPr id="42" name="object 42"/>
          <p:cNvPicPr/>
          <p:nvPr/>
        </p:nvPicPr>
        <p:blipFill>
          <a:blip r:embed="rId25" cstate="print"/>
          <a:stretch>
            <a:fillRect/>
          </a:stretch>
        </p:blipFill>
        <p:spPr>
          <a:xfrm>
            <a:off x="8040052" y="3357880"/>
            <a:ext cx="116966" cy="164719"/>
          </a:xfrm>
          <a:prstGeom prst="rect">
            <a:avLst/>
          </a:prstGeom>
        </p:spPr>
      </p:pic>
      <p:sp>
        <p:nvSpPr>
          <p:cNvPr id="43" name="object 43"/>
          <p:cNvSpPr/>
          <p:nvPr/>
        </p:nvSpPr>
        <p:spPr>
          <a:xfrm>
            <a:off x="8337042" y="3349753"/>
            <a:ext cx="247174" cy="174625"/>
          </a:xfrm>
          <a:custGeom>
            <a:avLst/>
            <a:gdLst/>
            <a:ahLst/>
            <a:cxnLst/>
            <a:rect l="l" t="t" r="r" b="b"/>
            <a:pathLst>
              <a:path w="329565" h="174625">
                <a:moveTo>
                  <a:pt x="40132" y="71500"/>
                </a:moveTo>
                <a:lnTo>
                  <a:pt x="19685" y="71500"/>
                </a:lnTo>
                <a:lnTo>
                  <a:pt x="19685" y="143001"/>
                </a:lnTo>
                <a:lnTo>
                  <a:pt x="46482" y="174244"/>
                </a:lnTo>
                <a:lnTo>
                  <a:pt x="54101" y="174244"/>
                </a:lnTo>
                <a:lnTo>
                  <a:pt x="56007" y="174117"/>
                </a:lnTo>
                <a:lnTo>
                  <a:pt x="59817" y="173609"/>
                </a:lnTo>
                <a:lnTo>
                  <a:pt x="61595" y="173227"/>
                </a:lnTo>
                <a:lnTo>
                  <a:pt x="63246" y="172847"/>
                </a:lnTo>
                <a:lnTo>
                  <a:pt x="64897" y="172593"/>
                </a:lnTo>
                <a:lnTo>
                  <a:pt x="66421" y="172085"/>
                </a:lnTo>
                <a:lnTo>
                  <a:pt x="67691" y="171450"/>
                </a:lnTo>
                <a:lnTo>
                  <a:pt x="69088" y="170942"/>
                </a:lnTo>
                <a:lnTo>
                  <a:pt x="70103" y="170307"/>
                </a:lnTo>
                <a:lnTo>
                  <a:pt x="71374" y="169037"/>
                </a:lnTo>
                <a:lnTo>
                  <a:pt x="71882" y="167894"/>
                </a:lnTo>
                <a:lnTo>
                  <a:pt x="72136" y="166497"/>
                </a:lnTo>
                <a:lnTo>
                  <a:pt x="72517" y="165100"/>
                </a:lnTo>
                <a:lnTo>
                  <a:pt x="72612" y="157987"/>
                </a:lnTo>
                <a:lnTo>
                  <a:pt x="72390" y="157099"/>
                </a:lnTo>
                <a:lnTo>
                  <a:pt x="72350" y="156845"/>
                </a:lnTo>
                <a:lnTo>
                  <a:pt x="49784" y="156845"/>
                </a:lnTo>
                <a:lnTo>
                  <a:pt x="45720" y="154812"/>
                </a:lnTo>
                <a:lnTo>
                  <a:pt x="43434" y="150875"/>
                </a:lnTo>
                <a:lnTo>
                  <a:pt x="41275" y="147065"/>
                </a:lnTo>
                <a:lnTo>
                  <a:pt x="40132" y="141224"/>
                </a:lnTo>
                <a:lnTo>
                  <a:pt x="40132" y="71500"/>
                </a:lnTo>
                <a:close/>
              </a:path>
              <a:path w="329565" h="174625">
                <a:moveTo>
                  <a:pt x="70230" y="153288"/>
                </a:moveTo>
                <a:lnTo>
                  <a:pt x="69215" y="153288"/>
                </a:lnTo>
                <a:lnTo>
                  <a:pt x="68452" y="153543"/>
                </a:lnTo>
                <a:lnTo>
                  <a:pt x="67564" y="153924"/>
                </a:lnTo>
                <a:lnTo>
                  <a:pt x="66801" y="154305"/>
                </a:lnTo>
                <a:lnTo>
                  <a:pt x="65786" y="154686"/>
                </a:lnTo>
                <a:lnTo>
                  <a:pt x="63500" y="155448"/>
                </a:lnTo>
                <a:lnTo>
                  <a:pt x="62229" y="155828"/>
                </a:lnTo>
                <a:lnTo>
                  <a:pt x="59182" y="156590"/>
                </a:lnTo>
                <a:lnTo>
                  <a:pt x="57530" y="156845"/>
                </a:lnTo>
                <a:lnTo>
                  <a:pt x="72350" y="156845"/>
                </a:lnTo>
                <a:lnTo>
                  <a:pt x="72136" y="155448"/>
                </a:lnTo>
                <a:lnTo>
                  <a:pt x="71627" y="154177"/>
                </a:lnTo>
                <a:lnTo>
                  <a:pt x="71374" y="153797"/>
                </a:lnTo>
                <a:lnTo>
                  <a:pt x="70993" y="153670"/>
                </a:lnTo>
                <a:lnTo>
                  <a:pt x="70612" y="153415"/>
                </a:lnTo>
                <a:lnTo>
                  <a:pt x="70230" y="153288"/>
                </a:lnTo>
                <a:close/>
              </a:path>
              <a:path w="329565" h="174625">
                <a:moveTo>
                  <a:pt x="69215" y="54610"/>
                </a:moveTo>
                <a:lnTo>
                  <a:pt x="3555" y="54610"/>
                </a:lnTo>
                <a:lnTo>
                  <a:pt x="3048" y="54737"/>
                </a:lnTo>
                <a:lnTo>
                  <a:pt x="2413" y="55118"/>
                </a:lnTo>
                <a:lnTo>
                  <a:pt x="1904" y="55372"/>
                </a:lnTo>
                <a:lnTo>
                  <a:pt x="0" y="66167"/>
                </a:lnTo>
                <a:lnTo>
                  <a:pt x="380" y="68199"/>
                </a:lnTo>
                <a:lnTo>
                  <a:pt x="1143" y="69596"/>
                </a:lnTo>
                <a:lnTo>
                  <a:pt x="1904" y="70865"/>
                </a:lnTo>
                <a:lnTo>
                  <a:pt x="2921" y="71500"/>
                </a:lnTo>
                <a:lnTo>
                  <a:pt x="69850" y="71500"/>
                </a:lnTo>
                <a:lnTo>
                  <a:pt x="70866" y="70865"/>
                </a:lnTo>
                <a:lnTo>
                  <a:pt x="71627" y="69596"/>
                </a:lnTo>
                <a:lnTo>
                  <a:pt x="72263" y="68199"/>
                </a:lnTo>
                <a:lnTo>
                  <a:pt x="72644" y="66167"/>
                </a:lnTo>
                <a:lnTo>
                  <a:pt x="72644" y="60325"/>
                </a:lnTo>
                <a:lnTo>
                  <a:pt x="72390" y="59182"/>
                </a:lnTo>
                <a:lnTo>
                  <a:pt x="72263" y="58165"/>
                </a:lnTo>
                <a:lnTo>
                  <a:pt x="70358" y="55118"/>
                </a:lnTo>
                <a:lnTo>
                  <a:pt x="69850" y="54737"/>
                </a:lnTo>
                <a:lnTo>
                  <a:pt x="69215" y="54610"/>
                </a:lnTo>
                <a:close/>
              </a:path>
              <a:path w="329565" h="174625">
                <a:moveTo>
                  <a:pt x="31876" y="24257"/>
                </a:moveTo>
                <a:lnTo>
                  <a:pt x="27813" y="24257"/>
                </a:lnTo>
                <a:lnTo>
                  <a:pt x="26162" y="24384"/>
                </a:lnTo>
                <a:lnTo>
                  <a:pt x="20193" y="26543"/>
                </a:lnTo>
                <a:lnTo>
                  <a:pt x="19812" y="27050"/>
                </a:lnTo>
                <a:lnTo>
                  <a:pt x="19685" y="54610"/>
                </a:lnTo>
                <a:lnTo>
                  <a:pt x="40132" y="54610"/>
                </a:lnTo>
                <a:lnTo>
                  <a:pt x="40132" y="27559"/>
                </a:lnTo>
                <a:lnTo>
                  <a:pt x="39624" y="26543"/>
                </a:lnTo>
                <a:lnTo>
                  <a:pt x="34925" y="24511"/>
                </a:lnTo>
                <a:lnTo>
                  <a:pt x="31876" y="24257"/>
                </a:lnTo>
                <a:close/>
              </a:path>
              <a:path w="329565" h="174625">
                <a:moveTo>
                  <a:pt x="112395" y="0"/>
                </a:moveTo>
                <a:lnTo>
                  <a:pt x="108330" y="0"/>
                </a:lnTo>
                <a:lnTo>
                  <a:pt x="106679" y="126"/>
                </a:lnTo>
                <a:lnTo>
                  <a:pt x="100711" y="2286"/>
                </a:lnTo>
                <a:lnTo>
                  <a:pt x="100329" y="2794"/>
                </a:lnTo>
                <a:lnTo>
                  <a:pt x="100329" y="170180"/>
                </a:lnTo>
                <a:lnTo>
                  <a:pt x="100711" y="170687"/>
                </a:lnTo>
                <a:lnTo>
                  <a:pt x="100965" y="171196"/>
                </a:lnTo>
                <a:lnTo>
                  <a:pt x="101473" y="171576"/>
                </a:lnTo>
                <a:lnTo>
                  <a:pt x="102235" y="171831"/>
                </a:lnTo>
                <a:lnTo>
                  <a:pt x="102997" y="172212"/>
                </a:lnTo>
                <a:lnTo>
                  <a:pt x="104140" y="172465"/>
                </a:lnTo>
                <a:lnTo>
                  <a:pt x="106679" y="172720"/>
                </a:lnTo>
                <a:lnTo>
                  <a:pt x="108330" y="172847"/>
                </a:lnTo>
                <a:lnTo>
                  <a:pt x="112395" y="172847"/>
                </a:lnTo>
                <a:lnTo>
                  <a:pt x="114046" y="172720"/>
                </a:lnTo>
                <a:lnTo>
                  <a:pt x="116713" y="172465"/>
                </a:lnTo>
                <a:lnTo>
                  <a:pt x="117728" y="172212"/>
                </a:lnTo>
                <a:lnTo>
                  <a:pt x="118491" y="171831"/>
                </a:lnTo>
                <a:lnTo>
                  <a:pt x="119252" y="171576"/>
                </a:lnTo>
                <a:lnTo>
                  <a:pt x="119761" y="171196"/>
                </a:lnTo>
                <a:lnTo>
                  <a:pt x="120142" y="170687"/>
                </a:lnTo>
                <a:lnTo>
                  <a:pt x="120650" y="169672"/>
                </a:lnTo>
                <a:lnTo>
                  <a:pt x="120650" y="91312"/>
                </a:lnTo>
                <a:lnTo>
                  <a:pt x="126238" y="84327"/>
                </a:lnTo>
                <a:lnTo>
                  <a:pt x="131572" y="78994"/>
                </a:lnTo>
                <a:lnTo>
                  <a:pt x="136651" y="75437"/>
                </a:lnTo>
                <a:lnTo>
                  <a:pt x="141732" y="71755"/>
                </a:lnTo>
                <a:lnTo>
                  <a:pt x="145079" y="70612"/>
                </a:lnTo>
                <a:lnTo>
                  <a:pt x="120650" y="70612"/>
                </a:lnTo>
                <a:lnTo>
                  <a:pt x="120650" y="3301"/>
                </a:lnTo>
                <a:lnTo>
                  <a:pt x="115443" y="253"/>
                </a:lnTo>
                <a:lnTo>
                  <a:pt x="112395" y="0"/>
                </a:lnTo>
                <a:close/>
              </a:path>
              <a:path w="329565" h="174625">
                <a:moveTo>
                  <a:pt x="190084" y="69976"/>
                </a:moveTo>
                <a:lnTo>
                  <a:pt x="155955" y="69976"/>
                </a:lnTo>
                <a:lnTo>
                  <a:pt x="159385" y="70738"/>
                </a:lnTo>
                <a:lnTo>
                  <a:pt x="162433" y="72136"/>
                </a:lnTo>
                <a:lnTo>
                  <a:pt x="174117" y="88646"/>
                </a:lnTo>
                <a:lnTo>
                  <a:pt x="175133" y="92456"/>
                </a:lnTo>
                <a:lnTo>
                  <a:pt x="175514" y="97536"/>
                </a:lnTo>
                <a:lnTo>
                  <a:pt x="175514" y="169672"/>
                </a:lnTo>
                <a:lnTo>
                  <a:pt x="176022" y="170687"/>
                </a:lnTo>
                <a:lnTo>
                  <a:pt x="176402" y="171196"/>
                </a:lnTo>
                <a:lnTo>
                  <a:pt x="176911" y="171576"/>
                </a:lnTo>
                <a:lnTo>
                  <a:pt x="177673" y="171831"/>
                </a:lnTo>
                <a:lnTo>
                  <a:pt x="178435" y="172212"/>
                </a:lnTo>
                <a:lnTo>
                  <a:pt x="179450" y="172465"/>
                </a:lnTo>
                <a:lnTo>
                  <a:pt x="180721" y="172593"/>
                </a:lnTo>
                <a:lnTo>
                  <a:pt x="183769" y="172847"/>
                </a:lnTo>
                <a:lnTo>
                  <a:pt x="187833" y="172847"/>
                </a:lnTo>
                <a:lnTo>
                  <a:pt x="189484" y="172720"/>
                </a:lnTo>
                <a:lnTo>
                  <a:pt x="192150" y="172465"/>
                </a:lnTo>
                <a:lnTo>
                  <a:pt x="193167" y="172212"/>
                </a:lnTo>
                <a:lnTo>
                  <a:pt x="193801" y="171831"/>
                </a:lnTo>
                <a:lnTo>
                  <a:pt x="194564" y="171576"/>
                </a:lnTo>
                <a:lnTo>
                  <a:pt x="195072" y="171196"/>
                </a:lnTo>
                <a:lnTo>
                  <a:pt x="195834" y="170180"/>
                </a:lnTo>
                <a:lnTo>
                  <a:pt x="195772" y="91312"/>
                </a:lnTo>
                <a:lnTo>
                  <a:pt x="195325" y="86487"/>
                </a:lnTo>
                <a:lnTo>
                  <a:pt x="193928" y="80899"/>
                </a:lnTo>
                <a:lnTo>
                  <a:pt x="192532" y="75184"/>
                </a:lnTo>
                <a:lnTo>
                  <a:pt x="190373" y="70358"/>
                </a:lnTo>
                <a:lnTo>
                  <a:pt x="190084" y="69976"/>
                </a:lnTo>
                <a:close/>
              </a:path>
              <a:path w="329565" h="174625">
                <a:moveTo>
                  <a:pt x="163575" y="52324"/>
                </a:moveTo>
                <a:lnTo>
                  <a:pt x="150114" y="52324"/>
                </a:lnTo>
                <a:lnTo>
                  <a:pt x="144145" y="53848"/>
                </a:lnTo>
                <a:lnTo>
                  <a:pt x="138302" y="56769"/>
                </a:lnTo>
                <a:lnTo>
                  <a:pt x="132334" y="59817"/>
                </a:lnTo>
                <a:lnTo>
                  <a:pt x="126492" y="64388"/>
                </a:lnTo>
                <a:lnTo>
                  <a:pt x="120650" y="70612"/>
                </a:lnTo>
                <a:lnTo>
                  <a:pt x="145079" y="70612"/>
                </a:lnTo>
                <a:lnTo>
                  <a:pt x="146939" y="69976"/>
                </a:lnTo>
                <a:lnTo>
                  <a:pt x="190084" y="69976"/>
                </a:lnTo>
                <a:lnTo>
                  <a:pt x="184023" y="61975"/>
                </a:lnTo>
                <a:lnTo>
                  <a:pt x="179959" y="58547"/>
                </a:lnTo>
                <a:lnTo>
                  <a:pt x="174878" y="56007"/>
                </a:lnTo>
                <a:lnTo>
                  <a:pt x="169799" y="53594"/>
                </a:lnTo>
                <a:lnTo>
                  <a:pt x="163575" y="52324"/>
                </a:lnTo>
                <a:close/>
              </a:path>
              <a:path w="329565" h="174625">
                <a:moveTo>
                  <a:pt x="289051" y="52324"/>
                </a:moveTo>
                <a:lnTo>
                  <a:pt x="272161" y="52324"/>
                </a:lnTo>
                <a:lnTo>
                  <a:pt x="264795" y="53721"/>
                </a:lnTo>
                <a:lnTo>
                  <a:pt x="258191" y="56514"/>
                </a:lnTo>
                <a:lnTo>
                  <a:pt x="251587" y="59436"/>
                </a:lnTo>
                <a:lnTo>
                  <a:pt x="245999" y="63500"/>
                </a:lnTo>
                <a:lnTo>
                  <a:pt x="241300" y="68834"/>
                </a:lnTo>
                <a:lnTo>
                  <a:pt x="236600" y="74040"/>
                </a:lnTo>
                <a:lnTo>
                  <a:pt x="227054" y="117475"/>
                </a:lnTo>
                <a:lnTo>
                  <a:pt x="227165" y="121225"/>
                </a:lnTo>
                <a:lnTo>
                  <a:pt x="245872" y="164337"/>
                </a:lnTo>
                <a:lnTo>
                  <a:pt x="258445" y="170561"/>
                </a:lnTo>
                <a:lnTo>
                  <a:pt x="265302" y="173227"/>
                </a:lnTo>
                <a:lnTo>
                  <a:pt x="273430" y="174498"/>
                </a:lnTo>
                <a:lnTo>
                  <a:pt x="287782" y="174498"/>
                </a:lnTo>
                <a:lnTo>
                  <a:pt x="292735" y="174117"/>
                </a:lnTo>
                <a:lnTo>
                  <a:pt x="297434" y="173227"/>
                </a:lnTo>
                <a:lnTo>
                  <a:pt x="302005" y="172465"/>
                </a:lnTo>
                <a:lnTo>
                  <a:pt x="306197" y="171576"/>
                </a:lnTo>
                <a:lnTo>
                  <a:pt x="309625" y="170561"/>
                </a:lnTo>
                <a:lnTo>
                  <a:pt x="313182" y="169672"/>
                </a:lnTo>
                <a:lnTo>
                  <a:pt x="322325" y="165353"/>
                </a:lnTo>
                <a:lnTo>
                  <a:pt x="322834" y="164973"/>
                </a:lnTo>
                <a:lnTo>
                  <a:pt x="323215" y="164464"/>
                </a:lnTo>
                <a:lnTo>
                  <a:pt x="323976" y="162940"/>
                </a:lnTo>
                <a:lnTo>
                  <a:pt x="324358" y="160909"/>
                </a:lnTo>
                <a:lnTo>
                  <a:pt x="324485" y="157861"/>
                </a:lnTo>
                <a:lnTo>
                  <a:pt x="277749" y="157861"/>
                </a:lnTo>
                <a:lnTo>
                  <a:pt x="272034" y="156972"/>
                </a:lnTo>
                <a:lnTo>
                  <a:pt x="267462" y="155067"/>
                </a:lnTo>
                <a:lnTo>
                  <a:pt x="262763" y="153162"/>
                </a:lnTo>
                <a:lnTo>
                  <a:pt x="258952" y="150495"/>
                </a:lnTo>
                <a:lnTo>
                  <a:pt x="256159" y="146938"/>
                </a:lnTo>
                <a:lnTo>
                  <a:pt x="253238" y="143383"/>
                </a:lnTo>
                <a:lnTo>
                  <a:pt x="251205" y="139064"/>
                </a:lnTo>
                <a:lnTo>
                  <a:pt x="249936" y="134238"/>
                </a:lnTo>
                <a:lnTo>
                  <a:pt x="248666" y="129286"/>
                </a:lnTo>
                <a:lnTo>
                  <a:pt x="248030" y="123698"/>
                </a:lnTo>
                <a:lnTo>
                  <a:pt x="248030" y="117475"/>
                </a:lnTo>
                <a:lnTo>
                  <a:pt x="323342" y="117475"/>
                </a:lnTo>
                <a:lnTo>
                  <a:pt x="325120" y="116839"/>
                </a:lnTo>
                <a:lnTo>
                  <a:pt x="328422" y="114046"/>
                </a:lnTo>
                <a:lnTo>
                  <a:pt x="329184" y="111760"/>
                </a:lnTo>
                <a:lnTo>
                  <a:pt x="329184" y="102615"/>
                </a:lnTo>
                <a:lnTo>
                  <a:pt x="248030" y="102615"/>
                </a:lnTo>
                <a:lnTo>
                  <a:pt x="248158" y="98044"/>
                </a:lnTo>
                <a:lnTo>
                  <a:pt x="249047" y="93725"/>
                </a:lnTo>
                <a:lnTo>
                  <a:pt x="251841" y="85344"/>
                </a:lnTo>
                <a:lnTo>
                  <a:pt x="253746" y="81661"/>
                </a:lnTo>
                <a:lnTo>
                  <a:pt x="256413" y="78612"/>
                </a:lnTo>
                <a:lnTo>
                  <a:pt x="258952" y="75437"/>
                </a:lnTo>
                <a:lnTo>
                  <a:pt x="262127" y="72898"/>
                </a:lnTo>
                <a:lnTo>
                  <a:pt x="265938" y="71120"/>
                </a:lnTo>
                <a:lnTo>
                  <a:pt x="269748" y="69214"/>
                </a:lnTo>
                <a:lnTo>
                  <a:pt x="274193" y="68199"/>
                </a:lnTo>
                <a:lnTo>
                  <a:pt x="318073" y="68199"/>
                </a:lnTo>
                <a:lnTo>
                  <a:pt x="313817" y="62992"/>
                </a:lnTo>
                <a:lnTo>
                  <a:pt x="308737" y="59309"/>
                </a:lnTo>
                <a:lnTo>
                  <a:pt x="296418" y="53721"/>
                </a:lnTo>
                <a:lnTo>
                  <a:pt x="289051" y="52324"/>
                </a:lnTo>
                <a:close/>
              </a:path>
              <a:path w="329565" h="174625">
                <a:moveTo>
                  <a:pt x="321691" y="149478"/>
                </a:moveTo>
                <a:lnTo>
                  <a:pt x="320167" y="149478"/>
                </a:lnTo>
                <a:lnTo>
                  <a:pt x="318643" y="149987"/>
                </a:lnTo>
                <a:lnTo>
                  <a:pt x="316738" y="150749"/>
                </a:lnTo>
                <a:lnTo>
                  <a:pt x="314833" y="151637"/>
                </a:lnTo>
                <a:lnTo>
                  <a:pt x="312293" y="152653"/>
                </a:lnTo>
                <a:lnTo>
                  <a:pt x="309245" y="153670"/>
                </a:lnTo>
                <a:lnTo>
                  <a:pt x="306324" y="154812"/>
                </a:lnTo>
                <a:lnTo>
                  <a:pt x="302768" y="155701"/>
                </a:lnTo>
                <a:lnTo>
                  <a:pt x="294386" y="157480"/>
                </a:lnTo>
                <a:lnTo>
                  <a:pt x="289687" y="157861"/>
                </a:lnTo>
                <a:lnTo>
                  <a:pt x="324485" y="157861"/>
                </a:lnTo>
                <a:lnTo>
                  <a:pt x="324358" y="153670"/>
                </a:lnTo>
                <a:lnTo>
                  <a:pt x="324230" y="152653"/>
                </a:lnTo>
                <a:lnTo>
                  <a:pt x="323976" y="151764"/>
                </a:lnTo>
                <a:lnTo>
                  <a:pt x="323723" y="151257"/>
                </a:lnTo>
                <a:lnTo>
                  <a:pt x="323469" y="150622"/>
                </a:lnTo>
                <a:lnTo>
                  <a:pt x="323215" y="150240"/>
                </a:lnTo>
                <a:lnTo>
                  <a:pt x="322707" y="149987"/>
                </a:lnTo>
                <a:lnTo>
                  <a:pt x="322199" y="149606"/>
                </a:lnTo>
                <a:lnTo>
                  <a:pt x="321691" y="149478"/>
                </a:lnTo>
                <a:close/>
              </a:path>
              <a:path w="329565" h="174625">
                <a:moveTo>
                  <a:pt x="318073" y="68199"/>
                </a:moveTo>
                <a:lnTo>
                  <a:pt x="289051" y="68199"/>
                </a:lnTo>
                <a:lnTo>
                  <a:pt x="296545" y="71247"/>
                </a:lnTo>
                <a:lnTo>
                  <a:pt x="301498" y="77343"/>
                </a:lnTo>
                <a:lnTo>
                  <a:pt x="304807" y="82345"/>
                </a:lnTo>
                <a:lnTo>
                  <a:pt x="307117" y="88217"/>
                </a:lnTo>
                <a:lnTo>
                  <a:pt x="308427" y="94970"/>
                </a:lnTo>
                <a:lnTo>
                  <a:pt x="308737" y="102615"/>
                </a:lnTo>
                <a:lnTo>
                  <a:pt x="329184" y="102615"/>
                </a:lnTo>
                <a:lnTo>
                  <a:pt x="329184" y="97662"/>
                </a:lnTo>
                <a:lnTo>
                  <a:pt x="328295" y="90805"/>
                </a:lnTo>
                <a:lnTo>
                  <a:pt x="326390" y="84455"/>
                </a:lnTo>
                <a:lnTo>
                  <a:pt x="324612" y="78105"/>
                </a:lnTo>
                <a:lnTo>
                  <a:pt x="321691" y="72517"/>
                </a:lnTo>
                <a:lnTo>
                  <a:pt x="318073" y="68199"/>
                </a:lnTo>
                <a:close/>
              </a:path>
            </a:pathLst>
          </a:custGeom>
          <a:solidFill>
            <a:srgbClr val="000000">
              <a:alpha val="79998"/>
            </a:srgbClr>
          </a:solidFill>
        </p:spPr>
        <p:txBody>
          <a:bodyPr wrap="square" lIns="0" tIns="0" rIns="0" bIns="0" rtlCol="0"/>
          <a:lstStyle/>
          <a:p>
            <a:endParaRPr/>
          </a:p>
        </p:txBody>
      </p:sp>
      <p:pic>
        <p:nvPicPr>
          <p:cNvPr id="44" name="object 44"/>
          <p:cNvPicPr/>
          <p:nvPr/>
        </p:nvPicPr>
        <p:blipFill>
          <a:blip r:embed="rId26" cstate="print"/>
          <a:stretch>
            <a:fillRect/>
          </a:stretch>
        </p:blipFill>
        <p:spPr>
          <a:xfrm>
            <a:off x="4691063" y="3624580"/>
            <a:ext cx="813625" cy="173989"/>
          </a:xfrm>
          <a:prstGeom prst="rect">
            <a:avLst/>
          </a:prstGeom>
        </p:spPr>
      </p:pic>
      <p:sp>
        <p:nvSpPr>
          <p:cNvPr id="45" name="object 45"/>
          <p:cNvSpPr/>
          <p:nvPr/>
        </p:nvSpPr>
        <p:spPr>
          <a:xfrm>
            <a:off x="5643943" y="3648328"/>
            <a:ext cx="317659" cy="150495"/>
          </a:xfrm>
          <a:custGeom>
            <a:avLst/>
            <a:gdLst/>
            <a:ahLst/>
            <a:cxnLst/>
            <a:rect l="l" t="t" r="r" b="b"/>
            <a:pathLst>
              <a:path w="423545" h="150495">
                <a:moveTo>
                  <a:pt x="10922" y="29718"/>
                </a:moveTo>
                <a:lnTo>
                  <a:pt x="7239" y="29718"/>
                </a:lnTo>
                <a:lnTo>
                  <a:pt x="5715" y="29845"/>
                </a:lnTo>
                <a:lnTo>
                  <a:pt x="3428" y="30099"/>
                </a:lnTo>
                <a:lnTo>
                  <a:pt x="2540" y="30353"/>
                </a:lnTo>
                <a:lnTo>
                  <a:pt x="1777" y="30734"/>
                </a:lnTo>
                <a:lnTo>
                  <a:pt x="1016" y="30988"/>
                </a:lnTo>
                <a:lnTo>
                  <a:pt x="508" y="31496"/>
                </a:lnTo>
                <a:lnTo>
                  <a:pt x="253" y="31877"/>
                </a:lnTo>
                <a:lnTo>
                  <a:pt x="0" y="32385"/>
                </a:lnTo>
                <a:lnTo>
                  <a:pt x="0" y="145923"/>
                </a:lnTo>
                <a:lnTo>
                  <a:pt x="381" y="146431"/>
                </a:lnTo>
                <a:lnTo>
                  <a:pt x="635" y="146939"/>
                </a:lnTo>
                <a:lnTo>
                  <a:pt x="1143" y="147320"/>
                </a:lnTo>
                <a:lnTo>
                  <a:pt x="1905" y="147574"/>
                </a:lnTo>
                <a:lnTo>
                  <a:pt x="2667" y="147955"/>
                </a:lnTo>
                <a:lnTo>
                  <a:pt x="3810" y="148209"/>
                </a:lnTo>
                <a:lnTo>
                  <a:pt x="6350" y="148463"/>
                </a:lnTo>
                <a:lnTo>
                  <a:pt x="8000" y="148590"/>
                </a:lnTo>
                <a:lnTo>
                  <a:pt x="12065" y="148590"/>
                </a:lnTo>
                <a:lnTo>
                  <a:pt x="13716" y="148463"/>
                </a:lnTo>
                <a:lnTo>
                  <a:pt x="16383" y="148209"/>
                </a:lnTo>
                <a:lnTo>
                  <a:pt x="17399" y="147955"/>
                </a:lnTo>
                <a:lnTo>
                  <a:pt x="18161" y="147574"/>
                </a:lnTo>
                <a:lnTo>
                  <a:pt x="18923" y="147320"/>
                </a:lnTo>
                <a:lnTo>
                  <a:pt x="19431" y="146939"/>
                </a:lnTo>
                <a:lnTo>
                  <a:pt x="19812" y="146431"/>
                </a:lnTo>
                <a:lnTo>
                  <a:pt x="20320" y="145415"/>
                </a:lnTo>
                <a:lnTo>
                  <a:pt x="20320" y="67056"/>
                </a:lnTo>
                <a:lnTo>
                  <a:pt x="25908" y="60071"/>
                </a:lnTo>
                <a:lnTo>
                  <a:pt x="31242" y="54737"/>
                </a:lnTo>
                <a:lnTo>
                  <a:pt x="36322" y="51181"/>
                </a:lnTo>
                <a:lnTo>
                  <a:pt x="40350" y="48260"/>
                </a:lnTo>
                <a:lnTo>
                  <a:pt x="18288" y="48260"/>
                </a:lnTo>
                <a:lnTo>
                  <a:pt x="18161" y="32385"/>
                </a:lnTo>
                <a:lnTo>
                  <a:pt x="17907" y="31877"/>
                </a:lnTo>
                <a:lnTo>
                  <a:pt x="17525" y="31496"/>
                </a:lnTo>
                <a:lnTo>
                  <a:pt x="17145" y="30988"/>
                </a:lnTo>
                <a:lnTo>
                  <a:pt x="16510" y="30734"/>
                </a:lnTo>
                <a:lnTo>
                  <a:pt x="15748" y="30353"/>
                </a:lnTo>
                <a:lnTo>
                  <a:pt x="14859" y="30099"/>
                </a:lnTo>
                <a:lnTo>
                  <a:pt x="13716" y="29972"/>
                </a:lnTo>
                <a:lnTo>
                  <a:pt x="10922" y="29718"/>
                </a:lnTo>
                <a:close/>
              </a:path>
              <a:path w="423545" h="150495">
                <a:moveTo>
                  <a:pt x="89754" y="45720"/>
                </a:moveTo>
                <a:lnTo>
                  <a:pt x="55625" y="45720"/>
                </a:lnTo>
                <a:lnTo>
                  <a:pt x="59055" y="46482"/>
                </a:lnTo>
                <a:lnTo>
                  <a:pt x="62102" y="47879"/>
                </a:lnTo>
                <a:lnTo>
                  <a:pt x="73787" y="64389"/>
                </a:lnTo>
                <a:lnTo>
                  <a:pt x="74802" y="68199"/>
                </a:lnTo>
                <a:lnTo>
                  <a:pt x="75184" y="73279"/>
                </a:lnTo>
                <a:lnTo>
                  <a:pt x="75184" y="145415"/>
                </a:lnTo>
                <a:lnTo>
                  <a:pt x="75692" y="146431"/>
                </a:lnTo>
                <a:lnTo>
                  <a:pt x="76073" y="146939"/>
                </a:lnTo>
                <a:lnTo>
                  <a:pt x="76581" y="147320"/>
                </a:lnTo>
                <a:lnTo>
                  <a:pt x="77343" y="147574"/>
                </a:lnTo>
                <a:lnTo>
                  <a:pt x="78105" y="147955"/>
                </a:lnTo>
                <a:lnTo>
                  <a:pt x="79121" y="148209"/>
                </a:lnTo>
                <a:lnTo>
                  <a:pt x="80391" y="148336"/>
                </a:lnTo>
                <a:lnTo>
                  <a:pt x="83439" y="148590"/>
                </a:lnTo>
                <a:lnTo>
                  <a:pt x="87502" y="148590"/>
                </a:lnTo>
                <a:lnTo>
                  <a:pt x="89153" y="148463"/>
                </a:lnTo>
                <a:lnTo>
                  <a:pt x="91821" y="148209"/>
                </a:lnTo>
                <a:lnTo>
                  <a:pt x="92837" y="147955"/>
                </a:lnTo>
                <a:lnTo>
                  <a:pt x="93472" y="147574"/>
                </a:lnTo>
                <a:lnTo>
                  <a:pt x="94234" y="147320"/>
                </a:lnTo>
                <a:lnTo>
                  <a:pt x="94869" y="146939"/>
                </a:lnTo>
                <a:lnTo>
                  <a:pt x="95123" y="146431"/>
                </a:lnTo>
                <a:lnTo>
                  <a:pt x="95503" y="145923"/>
                </a:lnTo>
                <a:lnTo>
                  <a:pt x="95631" y="145415"/>
                </a:lnTo>
                <a:lnTo>
                  <a:pt x="95548" y="68199"/>
                </a:lnTo>
                <a:lnTo>
                  <a:pt x="94996" y="62230"/>
                </a:lnTo>
                <a:lnTo>
                  <a:pt x="93599" y="56642"/>
                </a:lnTo>
                <a:lnTo>
                  <a:pt x="92201" y="50927"/>
                </a:lnTo>
                <a:lnTo>
                  <a:pt x="90043" y="46101"/>
                </a:lnTo>
                <a:lnTo>
                  <a:pt x="89754" y="45720"/>
                </a:lnTo>
                <a:close/>
              </a:path>
              <a:path w="423545" h="150495">
                <a:moveTo>
                  <a:pt x="63246" y="28067"/>
                </a:moveTo>
                <a:lnTo>
                  <a:pt x="49530" y="28067"/>
                </a:lnTo>
                <a:lnTo>
                  <a:pt x="43180" y="29591"/>
                </a:lnTo>
                <a:lnTo>
                  <a:pt x="36957" y="32893"/>
                </a:lnTo>
                <a:lnTo>
                  <a:pt x="30861" y="36195"/>
                </a:lnTo>
                <a:lnTo>
                  <a:pt x="24511" y="41275"/>
                </a:lnTo>
                <a:lnTo>
                  <a:pt x="18288" y="48260"/>
                </a:lnTo>
                <a:lnTo>
                  <a:pt x="40350" y="48260"/>
                </a:lnTo>
                <a:lnTo>
                  <a:pt x="41401" y="47498"/>
                </a:lnTo>
                <a:lnTo>
                  <a:pt x="46609" y="45720"/>
                </a:lnTo>
                <a:lnTo>
                  <a:pt x="89754" y="45720"/>
                </a:lnTo>
                <a:lnTo>
                  <a:pt x="83693" y="37719"/>
                </a:lnTo>
                <a:lnTo>
                  <a:pt x="79628" y="34290"/>
                </a:lnTo>
                <a:lnTo>
                  <a:pt x="74549" y="31750"/>
                </a:lnTo>
                <a:lnTo>
                  <a:pt x="69469" y="29337"/>
                </a:lnTo>
                <a:lnTo>
                  <a:pt x="63246" y="28067"/>
                </a:lnTo>
                <a:close/>
              </a:path>
              <a:path w="423545" h="150495">
                <a:moveTo>
                  <a:pt x="188722" y="28067"/>
                </a:moveTo>
                <a:lnTo>
                  <a:pt x="171831" y="28067"/>
                </a:lnTo>
                <a:lnTo>
                  <a:pt x="164465" y="29464"/>
                </a:lnTo>
                <a:lnTo>
                  <a:pt x="157861" y="32258"/>
                </a:lnTo>
                <a:lnTo>
                  <a:pt x="151257" y="35179"/>
                </a:lnTo>
                <a:lnTo>
                  <a:pt x="145669" y="39243"/>
                </a:lnTo>
                <a:lnTo>
                  <a:pt x="140970" y="44577"/>
                </a:lnTo>
                <a:lnTo>
                  <a:pt x="136271" y="49784"/>
                </a:lnTo>
                <a:lnTo>
                  <a:pt x="126724" y="93218"/>
                </a:lnTo>
                <a:lnTo>
                  <a:pt x="126835" y="96968"/>
                </a:lnTo>
                <a:lnTo>
                  <a:pt x="145542" y="140081"/>
                </a:lnTo>
                <a:lnTo>
                  <a:pt x="158115" y="146304"/>
                </a:lnTo>
                <a:lnTo>
                  <a:pt x="164973" y="148971"/>
                </a:lnTo>
                <a:lnTo>
                  <a:pt x="173100" y="150241"/>
                </a:lnTo>
                <a:lnTo>
                  <a:pt x="187451" y="150241"/>
                </a:lnTo>
                <a:lnTo>
                  <a:pt x="192405" y="149860"/>
                </a:lnTo>
                <a:lnTo>
                  <a:pt x="197103" y="148971"/>
                </a:lnTo>
                <a:lnTo>
                  <a:pt x="201675" y="148209"/>
                </a:lnTo>
                <a:lnTo>
                  <a:pt x="205867" y="147320"/>
                </a:lnTo>
                <a:lnTo>
                  <a:pt x="209296" y="146304"/>
                </a:lnTo>
                <a:lnTo>
                  <a:pt x="212851" y="145415"/>
                </a:lnTo>
                <a:lnTo>
                  <a:pt x="221996" y="141097"/>
                </a:lnTo>
                <a:lnTo>
                  <a:pt x="222503" y="140716"/>
                </a:lnTo>
                <a:lnTo>
                  <a:pt x="222885" y="140208"/>
                </a:lnTo>
                <a:lnTo>
                  <a:pt x="223647" y="138684"/>
                </a:lnTo>
                <a:lnTo>
                  <a:pt x="224027" y="136652"/>
                </a:lnTo>
                <a:lnTo>
                  <a:pt x="224027" y="135890"/>
                </a:lnTo>
                <a:lnTo>
                  <a:pt x="224155" y="135128"/>
                </a:lnTo>
                <a:lnTo>
                  <a:pt x="224155" y="133604"/>
                </a:lnTo>
                <a:lnTo>
                  <a:pt x="177419" y="133604"/>
                </a:lnTo>
                <a:lnTo>
                  <a:pt x="171703" y="132715"/>
                </a:lnTo>
                <a:lnTo>
                  <a:pt x="167132" y="130810"/>
                </a:lnTo>
                <a:lnTo>
                  <a:pt x="162433" y="128905"/>
                </a:lnTo>
                <a:lnTo>
                  <a:pt x="158623" y="126238"/>
                </a:lnTo>
                <a:lnTo>
                  <a:pt x="155828" y="122682"/>
                </a:lnTo>
                <a:lnTo>
                  <a:pt x="152908" y="119126"/>
                </a:lnTo>
                <a:lnTo>
                  <a:pt x="150875" y="114808"/>
                </a:lnTo>
                <a:lnTo>
                  <a:pt x="149606" y="109982"/>
                </a:lnTo>
                <a:lnTo>
                  <a:pt x="148336" y="105029"/>
                </a:lnTo>
                <a:lnTo>
                  <a:pt x="147700" y="99441"/>
                </a:lnTo>
                <a:lnTo>
                  <a:pt x="147700" y="93218"/>
                </a:lnTo>
                <a:lnTo>
                  <a:pt x="223012" y="93218"/>
                </a:lnTo>
                <a:lnTo>
                  <a:pt x="224790" y="92583"/>
                </a:lnTo>
                <a:lnTo>
                  <a:pt x="228092" y="89789"/>
                </a:lnTo>
                <a:lnTo>
                  <a:pt x="228853" y="87503"/>
                </a:lnTo>
                <a:lnTo>
                  <a:pt x="228853" y="78359"/>
                </a:lnTo>
                <a:lnTo>
                  <a:pt x="147700" y="78359"/>
                </a:lnTo>
                <a:lnTo>
                  <a:pt x="147827" y="73787"/>
                </a:lnTo>
                <a:lnTo>
                  <a:pt x="148717" y="69469"/>
                </a:lnTo>
                <a:lnTo>
                  <a:pt x="151511" y="61087"/>
                </a:lnTo>
                <a:lnTo>
                  <a:pt x="153416" y="57404"/>
                </a:lnTo>
                <a:lnTo>
                  <a:pt x="156083" y="54356"/>
                </a:lnTo>
                <a:lnTo>
                  <a:pt x="158623" y="51181"/>
                </a:lnTo>
                <a:lnTo>
                  <a:pt x="161798" y="48641"/>
                </a:lnTo>
                <a:lnTo>
                  <a:pt x="165608" y="46863"/>
                </a:lnTo>
                <a:lnTo>
                  <a:pt x="169418" y="44958"/>
                </a:lnTo>
                <a:lnTo>
                  <a:pt x="173863" y="43942"/>
                </a:lnTo>
                <a:lnTo>
                  <a:pt x="217743" y="43942"/>
                </a:lnTo>
                <a:lnTo>
                  <a:pt x="213487" y="38735"/>
                </a:lnTo>
                <a:lnTo>
                  <a:pt x="208407" y="35052"/>
                </a:lnTo>
                <a:lnTo>
                  <a:pt x="196088" y="29464"/>
                </a:lnTo>
                <a:lnTo>
                  <a:pt x="188722" y="28067"/>
                </a:lnTo>
                <a:close/>
              </a:path>
              <a:path w="423545" h="150495">
                <a:moveTo>
                  <a:pt x="221361" y="125222"/>
                </a:moveTo>
                <a:lnTo>
                  <a:pt x="219837" y="125222"/>
                </a:lnTo>
                <a:lnTo>
                  <a:pt x="218313" y="125730"/>
                </a:lnTo>
                <a:lnTo>
                  <a:pt x="216408" y="126492"/>
                </a:lnTo>
                <a:lnTo>
                  <a:pt x="214502" y="127381"/>
                </a:lnTo>
                <a:lnTo>
                  <a:pt x="211963" y="128397"/>
                </a:lnTo>
                <a:lnTo>
                  <a:pt x="208915" y="129413"/>
                </a:lnTo>
                <a:lnTo>
                  <a:pt x="205994" y="130556"/>
                </a:lnTo>
                <a:lnTo>
                  <a:pt x="202438" y="131445"/>
                </a:lnTo>
                <a:lnTo>
                  <a:pt x="194056" y="133223"/>
                </a:lnTo>
                <a:lnTo>
                  <a:pt x="189357" y="133604"/>
                </a:lnTo>
                <a:lnTo>
                  <a:pt x="224155" y="133604"/>
                </a:lnTo>
                <a:lnTo>
                  <a:pt x="224028" y="129413"/>
                </a:lnTo>
                <a:lnTo>
                  <a:pt x="223900" y="128397"/>
                </a:lnTo>
                <a:lnTo>
                  <a:pt x="223647" y="127508"/>
                </a:lnTo>
                <a:lnTo>
                  <a:pt x="223393" y="127000"/>
                </a:lnTo>
                <a:lnTo>
                  <a:pt x="223139" y="126365"/>
                </a:lnTo>
                <a:lnTo>
                  <a:pt x="222885" y="125984"/>
                </a:lnTo>
                <a:lnTo>
                  <a:pt x="222376" y="125730"/>
                </a:lnTo>
                <a:lnTo>
                  <a:pt x="221869" y="125349"/>
                </a:lnTo>
                <a:lnTo>
                  <a:pt x="221361" y="125222"/>
                </a:lnTo>
                <a:close/>
              </a:path>
              <a:path w="423545" h="150495">
                <a:moveTo>
                  <a:pt x="217743" y="43942"/>
                </a:moveTo>
                <a:lnTo>
                  <a:pt x="188722" y="43942"/>
                </a:lnTo>
                <a:lnTo>
                  <a:pt x="196215" y="46990"/>
                </a:lnTo>
                <a:lnTo>
                  <a:pt x="201168" y="53086"/>
                </a:lnTo>
                <a:lnTo>
                  <a:pt x="204477" y="58088"/>
                </a:lnTo>
                <a:lnTo>
                  <a:pt x="206787" y="63960"/>
                </a:lnTo>
                <a:lnTo>
                  <a:pt x="208097" y="70713"/>
                </a:lnTo>
                <a:lnTo>
                  <a:pt x="208407" y="78359"/>
                </a:lnTo>
                <a:lnTo>
                  <a:pt x="228853" y="78359"/>
                </a:lnTo>
                <a:lnTo>
                  <a:pt x="228853" y="73406"/>
                </a:lnTo>
                <a:lnTo>
                  <a:pt x="227965" y="66548"/>
                </a:lnTo>
                <a:lnTo>
                  <a:pt x="226060" y="60198"/>
                </a:lnTo>
                <a:lnTo>
                  <a:pt x="224282" y="53848"/>
                </a:lnTo>
                <a:lnTo>
                  <a:pt x="221361" y="48260"/>
                </a:lnTo>
                <a:lnTo>
                  <a:pt x="217743" y="43942"/>
                </a:lnTo>
                <a:close/>
              </a:path>
              <a:path w="423545" h="150495">
                <a:moveTo>
                  <a:pt x="257556" y="29718"/>
                </a:moveTo>
                <a:lnTo>
                  <a:pt x="252602" y="29718"/>
                </a:lnTo>
                <a:lnTo>
                  <a:pt x="250444" y="29845"/>
                </a:lnTo>
                <a:lnTo>
                  <a:pt x="244221" y="33782"/>
                </a:lnTo>
                <a:lnTo>
                  <a:pt x="244475" y="34798"/>
                </a:lnTo>
                <a:lnTo>
                  <a:pt x="245237" y="35941"/>
                </a:lnTo>
                <a:lnTo>
                  <a:pt x="277875" y="88138"/>
                </a:lnTo>
                <a:lnTo>
                  <a:pt x="243332" y="142367"/>
                </a:lnTo>
                <a:lnTo>
                  <a:pt x="242570" y="143510"/>
                </a:lnTo>
                <a:lnTo>
                  <a:pt x="242189" y="144526"/>
                </a:lnTo>
                <a:lnTo>
                  <a:pt x="242138" y="146177"/>
                </a:lnTo>
                <a:lnTo>
                  <a:pt x="242443" y="146685"/>
                </a:lnTo>
                <a:lnTo>
                  <a:pt x="243205" y="147193"/>
                </a:lnTo>
                <a:lnTo>
                  <a:pt x="243840" y="147701"/>
                </a:lnTo>
                <a:lnTo>
                  <a:pt x="244983" y="148082"/>
                </a:lnTo>
                <a:lnTo>
                  <a:pt x="246507" y="148336"/>
                </a:lnTo>
                <a:lnTo>
                  <a:pt x="248031" y="148463"/>
                </a:lnTo>
                <a:lnTo>
                  <a:pt x="249936" y="148590"/>
                </a:lnTo>
                <a:lnTo>
                  <a:pt x="254635" y="148590"/>
                </a:lnTo>
                <a:lnTo>
                  <a:pt x="256540" y="148463"/>
                </a:lnTo>
                <a:lnTo>
                  <a:pt x="257937" y="148463"/>
                </a:lnTo>
                <a:lnTo>
                  <a:pt x="264414" y="145161"/>
                </a:lnTo>
                <a:lnTo>
                  <a:pt x="290957" y="101092"/>
                </a:lnTo>
                <a:lnTo>
                  <a:pt x="314340" y="101092"/>
                </a:lnTo>
                <a:lnTo>
                  <a:pt x="305816" y="87503"/>
                </a:lnTo>
                <a:lnTo>
                  <a:pt x="314144" y="74295"/>
                </a:lnTo>
                <a:lnTo>
                  <a:pt x="292608" y="74295"/>
                </a:lnTo>
                <a:lnTo>
                  <a:pt x="266953" y="32385"/>
                </a:lnTo>
                <a:lnTo>
                  <a:pt x="266573" y="31877"/>
                </a:lnTo>
                <a:lnTo>
                  <a:pt x="265811" y="31115"/>
                </a:lnTo>
                <a:lnTo>
                  <a:pt x="265175" y="30734"/>
                </a:lnTo>
                <a:lnTo>
                  <a:pt x="264287" y="30480"/>
                </a:lnTo>
                <a:lnTo>
                  <a:pt x="263525" y="30226"/>
                </a:lnTo>
                <a:lnTo>
                  <a:pt x="262382" y="30099"/>
                </a:lnTo>
                <a:lnTo>
                  <a:pt x="259461" y="29845"/>
                </a:lnTo>
                <a:lnTo>
                  <a:pt x="257556" y="29718"/>
                </a:lnTo>
                <a:close/>
              </a:path>
              <a:path w="423545" h="150495">
                <a:moveTo>
                  <a:pt x="314340" y="101092"/>
                </a:moveTo>
                <a:lnTo>
                  <a:pt x="290957" y="101092"/>
                </a:lnTo>
                <a:lnTo>
                  <a:pt x="317817" y="145288"/>
                </a:lnTo>
                <a:lnTo>
                  <a:pt x="318008" y="145669"/>
                </a:lnTo>
                <a:lnTo>
                  <a:pt x="324358" y="148463"/>
                </a:lnTo>
                <a:lnTo>
                  <a:pt x="325755" y="148463"/>
                </a:lnTo>
                <a:lnTo>
                  <a:pt x="327660" y="148590"/>
                </a:lnTo>
                <a:lnTo>
                  <a:pt x="332740" y="148590"/>
                </a:lnTo>
                <a:lnTo>
                  <a:pt x="334772" y="148463"/>
                </a:lnTo>
                <a:lnTo>
                  <a:pt x="341122" y="144526"/>
                </a:lnTo>
                <a:lnTo>
                  <a:pt x="340868" y="143510"/>
                </a:lnTo>
                <a:lnTo>
                  <a:pt x="340233" y="142367"/>
                </a:lnTo>
                <a:lnTo>
                  <a:pt x="314340" y="101092"/>
                </a:lnTo>
                <a:close/>
              </a:path>
              <a:path w="423545" h="150495">
                <a:moveTo>
                  <a:pt x="331724" y="29718"/>
                </a:moveTo>
                <a:lnTo>
                  <a:pt x="327025" y="29718"/>
                </a:lnTo>
                <a:lnTo>
                  <a:pt x="325374" y="29845"/>
                </a:lnTo>
                <a:lnTo>
                  <a:pt x="322834" y="30099"/>
                </a:lnTo>
                <a:lnTo>
                  <a:pt x="321818" y="30226"/>
                </a:lnTo>
                <a:lnTo>
                  <a:pt x="321056" y="30607"/>
                </a:lnTo>
                <a:lnTo>
                  <a:pt x="320421" y="30861"/>
                </a:lnTo>
                <a:lnTo>
                  <a:pt x="319786" y="31242"/>
                </a:lnTo>
                <a:lnTo>
                  <a:pt x="319024" y="32004"/>
                </a:lnTo>
                <a:lnTo>
                  <a:pt x="318262" y="33020"/>
                </a:lnTo>
                <a:lnTo>
                  <a:pt x="292608" y="74295"/>
                </a:lnTo>
                <a:lnTo>
                  <a:pt x="314144" y="74295"/>
                </a:lnTo>
                <a:lnTo>
                  <a:pt x="338327" y="35941"/>
                </a:lnTo>
                <a:lnTo>
                  <a:pt x="339090" y="34671"/>
                </a:lnTo>
                <a:lnTo>
                  <a:pt x="339471" y="33655"/>
                </a:lnTo>
                <a:lnTo>
                  <a:pt x="339344" y="31369"/>
                </a:lnTo>
                <a:lnTo>
                  <a:pt x="338582" y="30988"/>
                </a:lnTo>
                <a:lnTo>
                  <a:pt x="337820" y="30480"/>
                </a:lnTo>
                <a:lnTo>
                  <a:pt x="336676" y="30226"/>
                </a:lnTo>
                <a:lnTo>
                  <a:pt x="335152" y="29972"/>
                </a:lnTo>
                <a:lnTo>
                  <a:pt x="333628" y="29845"/>
                </a:lnTo>
                <a:lnTo>
                  <a:pt x="331724" y="29718"/>
                </a:lnTo>
                <a:close/>
              </a:path>
              <a:path w="423545" h="150495">
                <a:moveTo>
                  <a:pt x="390906" y="47244"/>
                </a:moveTo>
                <a:lnTo>
                  <a:pt x="370459" y="47244"/>
                </a:lnTo>
                <a:lnTo>
                  <a:pt x="370459" y="118745"/>
                </a:lnTo>
                <a:lnTo>
                  <a:pt x="397256" y="149987"/>
                </a:lnTo>
                <a:lnTo>
                  <a:pt x="404875" y="149987"/>
                </a:lnTo>
                <a:lnTo>
                  <a:pt x="406781" y="149860"/>
                </a:lnTo>
                <a:lnTo>
                  <a:pt x="410591" y="149352"/>
                </a:lnTo>
                <a:lnTo>
                  <a:pt x="412369" y="148971"/>
                </a:lnTo>
                <a:lnTo>
                  <a:pt x="414020" y="148590"/>
                </a:lnTo>
                <a:lnTo>
                  <a:pt x="415671" y="148336"/>
                </a:lnTo>
                <a:lnTo>
                  <a:pt x="417195" y="147828"/>
                </a:lnTo>
                <a:lnTo>
                  <a:pt x="418465" y="147193"/>
                </a:lnTo>
                <a:lnTo>
                  <a:pt x="419862" y="146685"/>
                </a:lnTo>
                <a:lnTo>
                  <a:pt x="420877" y="146050"/>
                </a:lnTo>
                <a:lnTo>
                  <a:pt x="422148" y="144780"/>
                </a:lnTo>
                <a:lnTo>
                  <a:pt x="422656" y="143637"/>
                </a:lnTo>
                <a:lnTo>
                  <a:pt x="422910" y="142240"/>
                </a:lnTo>
                <a:lnTo>
                  <a:pt x="423291" y="140843"/>
                </a:lnTo>
                <a:lnTo>
                  <a:pt x="423386" y="133731"/>
                </a:lnTo>
                <a:lnTo>
                  <a:pt x="423164" y="132842"/>
                </a:lnTo>
                <a:lnTo>
                  <a:pt x="423124" y="132588"/>
                </a:lnTo>
                <a:lnTo>
                  <a:pt x="400558" y="132588"/>
                </a:lnTo>
                <a:lnTo>
                  <a:pt x="396494" y="130556"/>
                </a:lnTo>
                <a:lnTo>
                  <a:pt x="394208" y="126619"/>
                </a:lnTo>
                <a:lnTo>
                  <a:pt x="392049" y="122809"/>
                </a:lnTo>
                <a:lnTo>
                  <a:pt x="390906" y="116967"/>
                </a:lnTo>
                <a:lnTo>
                  <a:pt x="390906" y="47244"/>
                </a:lnTo>
                <a:close/>
              </a:path>
              <a:path w="423545" h="150495">
                <a:moveTo>
                  <a:pt x="421005" y="129032"/>
                </a:moveTo>
                <a:lnTo>
                  <a:pt x="419989" y="129032"/>
                </a:lnTo>
                <a:lnTo>
                  <a:pt x="419226" y="129286"/>
                </a:lnTo>
                <a:lnTo>
                  <a:pt x="418338" y="129667"/>
                </a:lnTo>
                <a:lnTo>
                  <a:pt x="417575" y="130048"/>
                </a:lnTo>
                <a:lnTo>
                  <a:pt x="416560" y="130429"/>
                </a:lnTo>
                <a:lnTo>
                  <a:pt x="414274" y="131191"/>
                </a:lnTo>
                <a:lnTo>
                  <a:pt x="413003" y="131572"/>
                </a:lnTo>
                <a:lnTo>
                  <a:pt x="409956" y="132334"/>
                </a:lnTo>
                <a:lnTo>
                  <a:pt x="408305" y="132588"/>
                </a:lnTo>
                <a:lnTo>
                  <a:pt x="423124" y="132588"/>
                </a:lnTo>
                <a:lnTo>
                  <a:pt x="422910" y="131191"/>
                </a:lnTo>
                <a:lnTo>
                  <a:pt x="422401" y="129921"/>
                </a:lnTo>
                <a:lnTo>
                  <a:pt x="422148" y="129540"/>
                </a:lnTo>
                <a:lnTo>
                  <a:pt x="421767" y="129413"/>
                </a:lnTo>
                <a:lnTo>
                  <a:pt x="421386" y="129159"/>
                </a:lnTo>
                <a:lnTo>
                  <a:pt x="421005" y="129032"/>
                </a:lnTo>
                <a:close/>
              </a:path>
              <a:path w="423545" h="150495">
                <a:moveTo>
                  <a:pt x="419989" y="30353"/>
                </a:moveTo>
                <a:lnTo>
                  <a:pt x="354330" y="30353"/>
                </a:lnTo>
                <a:lnTo>
                  <a:pt x="353822" y="30480"/>
                </a:lnTo>
                <a:lnTo>
                  <a:pt x="353187" y="30861"/>
                </a:lnTo>
                <a:lnTo>
                  <a:pt x="352678" y="31115"/>
                </a:lnTo>
                <a:lnTo>
                  <a:pt x="350774" y="41910"/>
                </a:lnTo>
                <a:lnTo>
                  <a:pt x="351155" y="43942"/>
                </a:lnTo>
                <a:lnTo>
                  <a:pt x="351917" y="45339"/>
                </a:lnTo>
                <a:lnTo>
                  <a:pt x="352678" y="46609"/>
                </a:lnTo>
                <a:lnTo>
                  <a:pt x="353695" y="47244"/>
                </a:lnTo>
                <a:lnTo>
                  <a:pt x="420624" y="47244"/>
                </a:lnTo>
                <a:lnTo>
                  <a:pt x="421640" y="46609"/>
                </a:lnTo>
                <a:lnTo>
                  <a:pt x="422401" y="45339"/>
                </a:lnTo>
                <a:lnTo>
                  <a:pt x="423037" y="43942"/>
                </a:lnTo>
                <a:lnTo>
                  <a:pt x="423418" y="41910"/>
                </a:lnTo>
                <a:lnTo>
                  <a:pt x="423418" y="36068"/>
                </a:lnTo>
                <a:lnTo>
                  <a:pt x="423164" y="34925"/>
                </a:lnTo>
                <a:lnTo>
                  <a:pt x="423037" y="33909"/>
                </a:lnTo>
                <a:lnTo>
                  <a:pt x="421132" y="30861"/>
                </a:lnTo>
                <a:lnTo>
                  <a:pt x="420624" y="30480"/>
                </a:lnTo>
                <a:lnTo>
                  <a:pt x="419989" y="30353"/>
                </a:lnTo>
                <a:close/>
              </a:path>
              <a:path w="423545" h="150495">
                <a:moveTo>
                  <a:pt x="382650" y="0"/>
                </a:moveTo>
                <a:lnTo>
                  <a:pt x="378587" y="0"/>
                </a:lnTo>
                <a:lnTo>
                  <a:pt x="376936" y="127"/>
                </a:lnTo>
                <a:lnTo>
                  <a:pt x="370967" y="2286"/>
                </a:lnTo>
                <a:lnTo>
                  <a:pt x="370586" y="2794"/>
                </a:lnTo>
                <a:lnTo>
                  <a:pt x="370459" y="30353"/>
                </a:lnTo>
                <a:lnTo>
                  <a:pt x="390906" y="30353"/>
                </a:lnTo>
                <a:lnTo>
                  <a:pt x="390906" y="3302"/>
                </a:lnTo>
                <a:lnTo>
                  <a:pt x="390398" y="2286"/>
                </a:lnTo>
                <a:lnTo>
                  <a:pt x="385699" y="254"/>
                </a:lnTo>
                <a:lnTo>
                  <a:pt x="382650" y="0"/>
                </a:lnTo>
                <a:close/>
              </a:path>
            </a:pathLst>
          </a:custGeom>
          <a:solidFill>
            <a:srgbClr val="000000">
              <a:alpha val="79998"/>
            </a:srgbClr>
          </a:solidFill>
        </p:spPr>
        <p:txBody>
          <a:bodyPr wrap="square" lIns="0" tIns="0" rIns="0" bIns="0" rtlCol="0"/>
          <a:lstStyle/>
          <a:p>
            <a:endParaRPr/>
          </a:p>
        </p:txBody>
      </p:sp>
      <p:pic>
        <p:nvPicPr>
          <p:cNvPr id="46" name="object 46"/>
          <p:cNvPicPr/>
          <p:nvPr/>
        </p:nvPicPr>
        <p:blipFill>
          <a:blip r:embed="rId27" cstate="print"/>
          <a:stretch>
            <a:fillRect/>
          </a:stretch>
        </p:blipFill>
        <p:spPr>
          <a:xfrm>
            <a:off x="6092952" y="3624072"/>
            <a:ext cx="350806" cy="174497"/>
          </a:xfrm>
          <a:prstGeom prst="rect">
            <a:avLst/>
          </a:prstGeom>
        </p:spPr>
      </p:pic>
      <p:sp>
        <p:nvSpPr>
          <p:cNvPr id="47" name="object 47"/>
          <p:cNvSpPr/>
          <p:nvPr/>
        </p:nvSpPr>
        <p:spPr>
          <a:xfrm>
            <a:off x="6575489" y="3676397"/>
            <a:ext cx="234791" cy="122555"/>
          </a:xfrm>
          <a:custGeom>
            <a:avLst/>
            <a:gdLst/>
            <a:ahLst/>
            <a:cxnLst/>
            <a:rect l="l" t="t" r="r" b="b"/>
            <a:pathLst>
              <a:path w="313054" h="122554">
                <a:moveTo>
                  <a:pt x="86214" y="16509"/>
                </a:moveTo>
                <a:lnTo>
                  <a:pt x="50291" y="16509"/>
                </a:lnTo>
                <a:lnTo>
                  <a:pt x="54228" y="17017"/>
                </a:lnTo>
                <a:lnTo>
                  <a:pt x="60578" y="19303"/>
                </a:lnTo>
                <a:lnTo>
                  <a:pt x="63246" y="20954"/>
                </a:lnTo>
                <a:lnTo>
                  <a:pt x="67309" y="25272"/>
                </a:lnTo>
                <a:lnTo>
                  <a:pt x="68706" y="28066"/>
                </a:lnTo>
                <a:lnTo>
                  <a:pt x="69596" y="31368"/>
                </a:lnTo>
                <a:lnTo>
                  <a:pt x="70611" y="34670"/>
                </a:lnTo>
                <a:lnTo>
                  <a:pt x="70992" y="38353"/>
                </a:lnTo>
                <a:lnTo>
                  <a:pt x="70992" y="51307"/>
                </a:lnTo>
                <a:lnTo>
                  <a:pt x="46989" y="51307"/>
                </a:lnTo>
                <a:lnTo>
                  <a:pt x="39242" y="52069"/>
                </a:lnTo>
                <a:lnTo>
                  <a:pt x="25400" y="55117"/>
                </a:lnTo>
                <a:lnTo>
                  <a:pt x="19557" y="57403"/>
                </a:lnTo>
                <a:lnTo>
                  <a:pt x="14858" y="60451"/>
                </a:lnTo>
                <a:lnTo>
                  <a:pt x="10032" y="63499"/>
                </a:lnTo>
                <a:lnTo>
                  <a:pt x="6350" y="67309"/>
                </a:lnTo>
                <a:lnTo>
                  <a:pt x="3809" y="72008"/>
                </a:lnTo>
                <a:lnTo>
                  <a:pt x="1270" y="76580"/>
                </a:lnTo>
                <a:lnTo>
                  <a:pt x="0" y="82041"/>
                </a:lnTo>
                <a:lnTo>
                  <a:pt x="0" y="93598"/>
                </a:lnTo>
                <a:lnTo>
                  <a:pt x="888" y="98424"/>
                </a:lnTo>
                <a:lnTo>
                  <a:pt x="2793" y="102615"/>
                </a:lnTo>
                <a:lnTo>
                  <a:pt x="4572" y="106806"/>
                </a:lnTo>
                <a:lnTo>
                  <a:pt x="32638" y="122173"/>
                </a:lnTo>
                <a:lnTo>
                  <a:pt x="45211" y="122173"/>
                </a:lnTo>
                <a:lnTo>
                  <a:pt x="73303" y="106171"/>
                </a:lnTo>
                <a:lnTo>
                  <a:pt x="35178" y="106171"/>
                </a:lnTo>
                <a:lnTo>
                  <a:pt x="29972" y="104520"/>
                </a:lnTo>
                <a:lnTo>
                  <a:pt x="26415" y="101091"/>
                </a:lnTo>
                <a:lnTo>
                  <a:pt x="22732" y="97662"/>
                </a:lnTo>
                <a:lnTo>
                  <a:pt x="20827" y="93090"/>
                </a:lnTo>
                <a:lnTo>
                  <a:pt x="20827" y="83946"/>
                </a:lnTo>
                <a:lnTo>
                  <a:pt x="21462" y="80898"/>
                </a:lnTo>
                <a:lnTo>
                  <a:pt x="22732" y="78358"/>
                </a:lnTo>
                <a:lnTo>
                  <a:pt x="24002" y="75691"/>
                </a:lnTo>
                <a:lnTo>
                  <a:pt x="48005" y="66039"/>
                </a:lnTo>
                <a:lnTo>
                  <a:pt x="91312" y="66039"/>
                </a:lnTo>
                <a:lnTo>
                  <a:pt x="91275" y="34670"/>
                </a:lnTo>
                <a:lnTo>
                  <a:pt x="90424" y="28828"/>
                </a:lnTo>
                <a:lnTo>
                  <a:pt x="87375" y="18541"/>
                </a:lnTo>
                <a:lnTo>
                  <a:pt x="86214" y="16509"/>
                </a:lnTo>
                <a:close/>
              </a:path>
              <a:path w="313054" h="122554">
                <a:moveTo>
                  <a:pt x="91312" y="105663"/>
                </a:moveTo>
                <a:lnTo>
                  <a:pt x="73786" y="105663"/>
                </a:lnTo>
                <a:lnTo>
                  <a:pt x="73786" y="117855"/>
                </a:lnTo>
                <a:lnTo>
                  <a:pt x="80390" y="120522"/>
                </a:lnTo>
                <a:lnTo>
                  <a:pt x="84708" y="120522"/>
                </a:lnTo>
                <a:lnTo>
                  <a:pt x="86359" y="120395"/>
                </a:lnTo>
                <a:lnTo>
                  <a:pt x="87502" y="120141"/>
                </a:lnTo>
                <a:lnTo>
                  <a:pt x="88773" y="119887"/>
                </a:lnTo>
                <a:lnTo>
                  <a:pt x="89661" y="119506"/>
                </a:lnTo>
                <a:lnTo>
                  <a:pt x="90931" y="118490"/>
                </a:lnTo>
                <a:lnTo>
                  <a:pt x="91312" y="117855"/>
                </a:lnTo>
                <a:lnTo>
                  <a:pt x="91312" y="105663"/>
                </a:lnTo>
                <a:close/>
              </a:path>
              <a:path w="313054" h="122554">
                <a:moveTo>
                  <a:pt x="91312" y="66039"/>
                </a:moveTo>
                <a:lnTo>
                  <a:pt x="70992" y="66039"/>
                </a:lnTo>
                <a:lnTo>
                  <a:pt x="70992" y="89661"/>
                </a:lnTo>
                <a:lnTo>
                  <a:pt x="66039" y="95249"/>
                </a:lnTo>
                <a:lnTo>
                  <a:pt x="61213" y="99440"/>
                </a:lnTo>
                <a:lnTo>
                  <a:pt x="52070" y="104774"/>
                </a:lnTo>
                <a:lnTo>
                  <a:pt x="47116" y="106171"/>
                </a:lnTo>
                <a:lnTo>
                  <a:pt x="73303" y="106171"/>
                </a:lnTo>
                <a:lnTo>
                  <a:pt x="73786" y="105663"/>
                </a:lnTo>
                <a:lnTo>
                  <a:pt x="91312" y="105663"/>
                </a:lnTo>
                <a:lnTo>
                  <a:pt x="91312" y="66039"/>
                </a:lnTo>
                <a:close/>
              </a:path>
              <a:path w="313054" h="122554">
                <a:moveTo>
                  <a:pt x="55372" y="0"/>
                </a:moveTo>
                <a:lnTo>
                  <a:pt x="43179" y="0"/>
                </a:lnTo>
                <a:lnTo>
                  <a:pt x="38861" y="380"/>
                </a:lnTo>
                <a:lnTo>
                  <a:pt x="8000" y="11810"/>
                </a:lnTo>
                <a:lnTo>
                  <a:pt x="6857" y="12826"/>
                </a:lnTo>
                <a:lnTo>
                  <a:pt x="6096" y="13969"/>
                </a:lnTo>
                <a:lnTo>
                  <a:pt x="5841" y="15239"/>
                </a:lnTo>
                <a:lnTo>
                  <a:pt x="5587" y="16382"/>
                </a:lnTo>
                <a:lnTo>
                  <a:pt x="5460" y="22478"/>
                </a:lnTo>
                <a:lnTo>
                  <a:pt x="5714" y="23494"/>
                </a:lnTo>
                <a:lnTo>
                  <a:pt x="5841" y="24510"/>
                </a:lnTo>
                <a:lnTo>
                  <a:pt x="8889" y="27939"/>
                </a:lnTo>
                <a:lnTo>
                  <a:pt x="10540" y="27939"/>
                </a:lnTo>
                <a:lnTo>
                  <a:pt x="11937" y="27431"/>
                </a:lnTo>
                <a:lnTo>
                  <a:pt x="13970" y="26161"/>
                </a:lnTo>
                <a:lnTo>
                  <a:pt x="16001" y="25018"/>
                </a:lnTo>
                <a:lnTo>
                  <a:pt x="40512" y="16509"/>
                </a:lnTo>
                <a:lnTo>
                  <a:pt x="86214" y="16509"/>
                </a:lnTo>
                <a:lnTo>
                  <a:pt x="84835" y="14096"/>
                </a:lnTo>
                <a:lnTo>
                  <a:pt x="81406" y="10667"/>
                </a:lnTo>
                <a:lnTo>
                  <a:pt x="77977" y="7111"/>
                </a:lnTo>
                <a:lnTo>
                  <a:pt x="73405" y="4444"/>
                </a:lnTo>
                <a:lnTo>
                  <a:pt x="62229" y="888"/>
                </a:lnTo>
                <a:lnTo>
                  <a:pt x="55372" y="0"/>
                </a:lnTo>
                <a:close/>
              </a:path>
              <a:path w="313054" h="122554">
                <a:moveTo>
                  <a:pt x="140461" y="1650"/>
                </a:moveTo>
                <a:lnTo>
                  <a:pt x="136778" y="1650"/>
                </a:lnTo>
                <a:lnTo>
                  <a:pt x="135254" y="1777"/>
                </a:lnTo>
                <a:lnTo>
                  <a:pt x="132968" y="2031"/>
                </a:lnTo>
                <a:lnTo>
                  <a:pt x="132079" y="2285"/>
                </a:lnTo>
                <a:lnTo>
                  <a:pt x="131317" y="2666"/>
                </a:lnTo>
                <a:lnTo>
                  <a:pt x="130555" y="2920"/>
                </a:lnTo>
                <a:lnTo>
                  <a:pt x="130048" y="3428"/>
                </a:lnTo>
                <a:lnTo>
                  <a:pt x="129793" y="3809"/>
                </a:lnTo>
                <a:lnTo>
                  <a:pt x="129603" y="4190"/>
                </a:lnTo>
                <a:lnTo>
                  <a:pt x="129539" y="117855"/>
                </a:lnTo>
                <a:lnTo>
                  <a:pt x="129921" y="118363"/>
                </a:lnTo>
                <a:lnTo>
                  <a:pt x="130175" y="118871"/>
                </a:lnTo>
                <a:lnTo>
                  <a:pt x="130682" y="119252"/>
                </a:lnTo>
                <a:lnTo>
                  <a:pt x="131445" y="119506"/>
                </a:lnTo>
                <a:lnTo>
                  <a:pt x="132206" y="119887"/>
                </a:lnTo>
                <a:lnTo>
                  <a:pt x="133350" y="120141"/>
                </a:lnTo>
                <a:lnTo>
                  <a:pt x="135889" y="120395"/>
                </a:lnTo>
                <a:lnTo>
                  <a:pt x="137540" y="120522"/>
                </a:lnTo>
                <a:lnTo>
                  <a:pt x="141604" y="120522"/>
                </a:lnTo>
                <a:lnTo>
                  <a:pt x="143255" y="120395"/>
                </a:lnTo>
                <a:lnTo>
                  <a:pt x="145923" y="120141"/>
                </a:lnTo>
                <a:lnTo>
                  <a:pt x="146938" y="119887"/>
                </a:lnTo>
                <a:lnTo>
                  <a:pt x="147700" y="119506"/>
                </a:lnTo>
                <a:lnTo>
                  <a:pt x="148462" y="119252"/>
                </a:lnTo>
                <a:lnTo>
                  <a:pt x="148971" y="118871"/>
                </a:lnTo>
                <a:lnTo>
                  <a:pt x="149351" y="118363"/>
                </a:lnTo>
                <a:lnTo>
                  <a:pt x="149859" y="117347"/>
                </a:lnTo>
                <a:lnTo>
                  <a:pt x="149859" y="43560"/>
                </a:lnTo>
                <a:lnTo>
                  <a:pt x="152653" y="38988"/>
                </a:lnTo>
                <a:lnTo>
                  <a:pt x="155321" y="35178"/>
                </a:lnTo>
                <a:lnTo>
                  <a:pt x="157733" y="32130"/>
                </a:lnTo>
                <a:lnTo>
                  <a:pt x="160147" y="28955"/>
                </a:lnTo>
                <a:lnTo>
                  <a:pt x="162432" y="26415"/>
                </a:lnTo>
                <a:lnTo>
                  <a:pt x="166750" y="22605"/>
                </a:lnTo>
                <a:lnTo>
                  <a:pt x="168173" y="21716"/>
                </a:lnTo>
                <a:lnTo>
                  <a:pt x="147827" y="21716"/>
                </a:lnTo>
                <a:lnTo>
                  <a:pt x="147700" y="4317"/>
                </a:lnTo>
                <a:lnTo>
                  <a:pt x="147447" y="3809"/>
                </a:lnTo>
                <a:lnTo>
                  <a:pt x="147065" y="3428"/>
                </a:lnTo>
                <a:lnTo>
                  <a:pt x="146684" y="2920"/>
                </a:lnTo>
                <a:lnTo>
                  <a:pt x="146050" y="2666"/>
                </a:lnTo>
                <a:lnTo>
                  <a:pt x="145287" y="2285"/>
                </a:lnTo>
                <a:lnTo>
                  <a:pt x="144399" y="2031"/>
                </a:lnTo>
                <a:lnTo>
                  <a:pt x="143255" y="1904"/>
                </a:lnTo>
                <a:lnTo>
                  <a:pt x="140461" y="1650"/>
                </a:lnTo>
                <a:close/>
              </a:path>
              <a:path w="313054" h="122554">
                <a:moveTo>
                  <a:pt x="194110" y="19176"/>
                </a:moveTo>
                <a:lnTo>
                  <a:pt x="178561" y="19176"/>
                </a:lnTo>
                <a:lnTo>
                  <a:pt x="181736" y="19684"/>
                </a:lnTo>
                <a:lnTo>
                  <a:pt x="184530" y="20446"/>
                </a:lnTo>
                <a:lnTo>
                  <a:pt x="185674" y="20827"/>
                </a:lnTo>
                <a:lnTo>
                  <a:pt x="186943" y="21081"/>
                </a:lnTo>
                <a:lnTo>
                  <a:pt x="188975" y="21843"/>
                </a:lnTo>
                <a:lnTo>
                  <a:pt x="189864" y="22224"/>
                </a:lnTo>
                <a:lnTo>
                  <a:pt x="190626" y="22478"/>
                </a:lnTo>
                <a:lnTo>
                  <a:pt x="192024" y="22478"/>
                </a:lnTo>
                <a:lnTo>
                  <a:pt x="194013" y="19684"/>
                </a:lnTo>
                <a:lnTo>
                  <a:pt x="194110" y="19176"/>
                </a:lnTo>
                <a:close/>
              </a:path>
              <a:path w="313054" h="122554">
                <a:moveTo>
                  <a:pt x="180466" y="0"/>
                </a:moveTo>
                <a:lnTo>
                  <a:pt x="175895" y="0"/>
                </a:lnTo>
                <a:lnTo>
                  <a:pt x="173481" y="253"/>
                </a:lnTo>
                <a:lnTo>
                  <a:pt x="147827" y="21716"/>
                </a:lnTo>
                <a:lnTo>
                  <a:pt x="168173" y="21716"/>
                </a:lnTo>
                <a:lnTo>
                  <a:pt x="168782" y="21335"/>
                </a:lnTo>
                <a:lnTo>
                  <a:pt x="170814" y="20446"/>
                </a:lnTo>
                <a:lnTo>
                  <a:pt x="172847" y="19684"/>
                </a:lnTo>
                <a:lnTo>
                  <a:pt x="174751" y="19176"/>
                </a:lnTo>
                <a:lnTo>
                  <a:pt x="194110" y="19176"/>
                </a:lnTo>
                <a:lnTo>
                  <a:pt x="194182" y="18668"/>
                </a:lnTo>
                <a:lnTo>
                  <a:pt x="194309" y="16128"/>
                </a:lnTo>
                <a:lnTo>
                  <a:pt x="194182" y="6349"/>
                </a:lnTo>
                <a:lnTo>
                  <a:pt x="194055" y="5714"/>
                </a:lnTo>
                <a:lnTo>
                  <a:pt x="190118" y="1904"/>
                </a:lnTo>
                <a:lnTo>
                  <a:pt x="188975" y="1523"/>
                </a:lnTo>
                <a:lnTo>
                  <a:pt x="186181" y="761"/>
                </a:lnTo>
                <a:lnTo>
                  <a:pt x="183260" y="253"/>
                </a:lnTo>
                <a:lnTo>
                  <a:pt x="180466" y="0"/>
                </a:lnTo>
                <a:close/>
              </a:path>
              <a:path w="313054" h="122554">
                <a:moveTo>
                  <a:pt x="272541" y="0"/>
                </a:moveTo>
                <a:lnTo>
                  <a:pt x="255650" y="0"/>
                </a:lnTo>
                <a:lnTo>
                  <a:pt x="248284" y="1396"/>
                </a:lnTo>
                <a:lnTo>
                  <a:pt x="241680" y="4190"/>
                </a:lnTo>
                <a:lnTo>
                  <a:pt x="235076" y="7111"/>
                </a:lnTo>
                <a:lnTo>
                  <a:pt x="229488" y="11175"/>
                </a:lnTo>
                <a:lnTo>
                  <a:pt x="224789" y="16509"/>
                </a:lnTo>
                <a:lnTo>
                  <a:pt x="220090" y="21716"/>
                </a:lnTo>
                <a:lnTo>
                  <a:pt x="210544" y="65150"/>
                </a:lnTo>
                <a:lnTo>
                  <a:pt x="210655" y="68901"/>
                </a:lnTo>
                <a:lnTo>
                  <a:pt x="229361" y="112013"/>
                </a:lnTo>
                <a:lnTo>
                  <a:pt x="241934" y="118236"/>
                </a:lnTo>
                <a:lnTo>
                  <a:pt x="248792" y="120903"/>
                </a:lnTo>
                <a:lnTo>
                  <a:pt x="256921" y="122173"/>
                </a:lnTo>
                <a:lnTo>
                  <a:pt x="271272" y="122173"/>
                </a:lnTo>
                <a:lnTo>
                  <a:pt x="276225" y="121792"/>
                </a:lnTo>
                <a:lnTo>
                  <a:pt x="280924" y="120903"/>
                </a:lnTo>
                <a:lnTo>
                  <a:pt x="285496" y="120141"/>
                </a:lnTo>
                <a:lnTo>
                  <a:pt x="289686" y="119252"/>
                </a:lnTo>
                <a:lnTo>
                  <a:pt x="293115" y="118236"/>
                </a:lnTo>
                <a:lnTo>
                  <a:pt x="296672" y="117347"/>
                </a:lnTo>
                <a:lnTo>
                  <a:pt x="305815" y="113029"/>
                </a:lnTo>
                <a:lnTo>
                  <a:pt x="306324" y="112648"/>
                </a:lnTo>
                <a:lnTo>
                  <a:pt x="306704" y="112140"/>
                </a:lnTo>
                <a:lnTo>
                  <a:pt x="307466" y="110616"/>
                </a:lnTo>
                <a:lnTo>
                  <a:pt x="307848" y="108584"/>
                </a:lnTo>
                <a:lnTo>
                  <a:pt x="307975" y="105536"/>
                </a:lnTo>
                <a:lnTo>
                  <a:pt x="261238" y="105536"/>
                </a:lnTo>
                <a:lnTo>
                  <a:pt x="255524" y="104647"/>
                </a:lnTo>
                <a:lnTo>
                  <a:pt x="250951" y="102742"/>
                </a:lnTo>
                <a:lnTo>
                  <a:pt x="246252" y="100837"/>
                </a:lnTo>
                <a:lnTo>
                  <a:pt x="242442" y="98170"/>
                </a:lnTo>
                <a:lnTo>
                  <a:pt x="239649" y="94614"/>
                </a:lnTo>
                <a:lnTo>
                  <a:pt x="236727" y="91058"/>
                </a:lnTo>
                <a:lnTo>
                  <a:pt x="234696" y="86740"/>
                </a:lnTo>
                <a:lnTo>
                  <a:pt x="233425" y="81914"/>
                </a:lnTo>
                <a:lnTo>
                  <a:pt x="232155" y="76961"/>
                </a:lnTo>
                <a:lnTo>
                  <a:pt x="231521" y="71373"/>
                </a:lnTo>
                <a:lnTo>
                  <a:pt x="231521" y="65150"/>
                </a:lnTo>
                <a:lnTo>
                  <a:pt x="306831" y="65150"/>
                </a:lnTo>
                <a:lnTo>
                  <a:pt x="308609" y="64515"/>
                </a:lnTo>
                <a:lnTo>
                  <a:pt x="311911" y="61721"/>
                </a:lnTo>
                <a:lnTo>
                  <a:pt x="312674" y="59435"/>
                </a:lnTo>
                <a:lnTo>
                  <a:pt x="312674" y="50291"/>
                </a:lnTo>
                <a:lnTo>
                  <a:pt x="231521" y="50291"/>
                </a:lnTo>
                <a:lnTo>
                  <a:pt x="231648" y="45719"/>
                </a:lnTo>
                <a:lnTo>
                  <a:pt x="232536" y="41401"/>
                </a:lnTo>
                <a:lnTo>
                  <a:pt x="235330" y="33019"/>
                </a:lnTo>
                <a:lnTo>
                  <a:pt x="237235" y="29336"/>
                </a:lnTo>
                <a:lnTo>
                  <a:pt x="239902" y="26288"/>
                </a:lnTo>
                <a:lnTo>
                  <a:pt x="242442" y="23113"/>
                </a:lnTo>
                <a:lnTo>
                  <a:pt x="245617" y="20573"/>
                </a:lnTo>
                <a:lnTo>
                  <a:pt x="249427" y="18795"/>
                </a:lnTo>
                <a:lnTo>
                  <a:pt x="253237" y="16890"/>
                </a:lnTo>
                <a:lnTo>
                  <a:pt x="257682" y="15874"/>
                </a:lnTo>
                <a:lnTo>
                  <a:pt x="301563" y="15874"/>
                </a:lnTo>
                <a:lnTo>
                  <a:pt x="297306" y="10667"/>
                </a:lnTo>
                <a:lnTo>
                  <a:pt x="292226" y="6984"/>
                </a:lnTo>
                <a:lnTo>
                  <a:pt x="279907" y="1396"/>
                </a:lnTo>
                <a:lnTo>
                  <a:pt x="272541" y="0"/>
                </a:lnTo>
                <a:close/>
              </a:path>
              <a:path w="313054" h="122554">
                <a:moveTo>
                  <a:pt x="305180" y="97154"/>
                </a:moveTo>
                <a:lnTo>
                  <a:pt x="303656" y="97154"/>
                </a:lnTo>
                <a:lnTo>
                  <a:pt x="302132" y="97662"/>
                </a:lnTo>
                <a:lnTo>
                  <a:pt x="300227" y="98424"/>
                </a:lnTo>
                <a:lnTo>
                  <a:pt x="298323" y="99313"/>
                </a:lnTo>
                <a:lnTo>
                  <a:pt x="295782" y="100329"/>
                </a:lnTo>
                <a:lnTo>
                  <a:pt x="292734" y="101345"/>
                </a:lnTo>
                <a:lnTo>
                  <a:pt x="289813" y="102488"/>
                </a:lnTo>
                <a:lnTo>
                  <a:pt x="286257" y="103377"/>
                </a:lnTo>
                <a:lnTo>
                  <a:pt x="277875" y="105155"/>
                </a:lnTo>
                <a:lnTo>
                  <a:pt x="273176" y="105536"/>
                </a:lnTo>
                <a:lnTo>
                  <a:pt x="307975" y="105536"/>
                </a:lnTo>
                <a:lnTo>
                  <a:pt x="307848" y="101345"/>
                </a:lnTo>
                <a:lnTo>
                  <a:pt x="307721" y="100329"/>
                </a:lnTo>
                <a:lnTo>
                  <a:pt x="307466" y="99440"/>
                </a:lnTo>
                <a:lnTo>
                  <a:pt x="307212" y="98932"/>
                </a:lnTo>
                <a:lnTo>
                  <a:pt x="306958" y="98297"/>
                </a:lnTo>
                <a:lnTo>
                  <a:pt x="306704" y="97916"/>
                </a:lnTo>
                <a:lnTo>
                  <a:pt x="306197" y="97662"/>
                </a:lnTo>
                <a:lnTo>
                  <a:pt x="305688" y="97281"/>
                </a:lnTo>
                <a:lnTo>
                  <a:pt x="305180" y="97154"/>
                </a:lnTo>
                <a:close/>
              </a:path>
              <a:path w="313054" h="122554">
                <a:moveTo>
                  <a:pt x="301563" y="15874"/>
                </a:moveTo>
                <a:lnTo>
                  <a:pt x="272541" y="15874"/>
                </a:lnTo>
                <a:lnTo>
                  <a:pt x="280034" y="18922"/>
                </a:lnTo>
                <a:lnTo>
                  <a:pt x="284987" y="25018"/>
                </a:lnTo>
                <a:lnTo>
                  <a:pt x="288297" y="30021"/>
                </a:lnTo>
                <a:lnTo>
                  <a:pt x="290607" y="35893"/>
                </a:lnTo>
                <a:lnTo>
                  <a:pt x="291917" y="42646"/>
                </a:lnTo>
                <a:lnTo>
                  <a:pt x="292226" y="50291"/>
                </a:lnTo>
                <a:lnTo>
                  <a:pt x="312674" y="50291"/>
                </a:lnTo>
                <a:lnTo>
                  <a:pt x="312674" y="45338"/>
                </a:lnTo>
                <a:lnTo>
                  <a:pt x="311784" y="38480"/>
                </a:lnTo>
                <a:lnTo>
                  <a:pt x="309879" y="32130"/>
                </a:lnTo>
                <a:lnTo>
                  <a:pt x="308101" y="25780"/>
                </a:lnTo>
                <a:lnTo>
                  <a:pt x="305180" y="20192"/>
                </a:lnTo>
                <a:lnTo>
                  <a:pt x="301563" y="15874"/>
                </a:lnTo>
                <a:close/>
              </a:path>
            </a:pathLst>
          </a:custGeom>
          <a:solidFill>
            <a:srgbClr val="000000">
              <a:alpha val="79998"/>
            </a:srgbClr>
          </a:solidFill>
        </p:spPr>
        <p:txBody>
          <a:bodyPr wrap="square" lIns="0" tIns="0" rIns="0" bIns="0" rtlCol="0"/>
          <a:lstStyle/>
          <a:p>
            <a:endParaRPr/>
          </a:p>
        </p:txBody>
      </p:sp>
      <p:pic>
        <p:nvPicPr>
          <p:cNvPr id="48" name="object 48"/>
          <p:cNvPicPr/>
          <p:nvPr/>
        </p:nvPicPr>
        <p:blipFill>
          <a:blip r:embed="rId28" cstate="print"/>
          <a:stretch>
            <a:fillRect/>
          </a:stretch>
        </p:blipFill>
        <p:spPr>
          <a:xfrm>
            <a:off x="6951440" y="3624072"/>
            <a:ext cx="494633" cy="174497"/>
          </a:xfrm>
          <a:prstGeom prst="rect">
            <a:avLst/>
          </a:prstGeom>
        </p:spPr>
      </p:pic>
      <p:pic>
        <p:nvPicPr>
          <p:cNvPr id="49" name="object 49"/>
          <p:cNvPicPr/>
          <p:nvPr/>
        </p:nvPicPr>
        <p:blipFill>
          <a:blip r:embed="rId29" cstate="print"/>
          <a:stretch>
            <a:fillRect/>
          </a:stretch>
        </p:blipFill>
        <p:spPr>
          <a:xfrm>
            <a:off x="7585900" y="3676396"/>
            <a:ext cx="149447" cy="122174"/>
          </a:xfrm>
          <a:prstGeom prst="rect">
            <a:avLst/>
          </a:prstGeom>
        </p:spPr>
      </p:pic>
      <p:pic>
        <p:nvPicPr>
          <p:cNvPr id="50" name="object 50"/>
          <p:cNvPicPr/>
          <p:nvPr/>
        </p:nvPicPr>
        <p:blipFill>
          <a:blip r:embed="rId30" cstate="print"/>
          <a:stretch>
            <a:fillRect/>
          </a:stretch>
        </p:blipFill>
        <p:spPr>
          <a:xfrm>
            <a:off x="7871460" y="3623564"/>
            <a:ext cx="710184" cy="175006"/>
          </a:xfrm>
          <a:prstGeom prst="rect">
            <a:avLst/>
          </a:prstGeom>
        </p:spPr>
      </p:pic>
      <p:pic>
        <p:nvPicPr>
          <p:cNvPr id="51" name="object 51"/>
          <p:cNvPicPr/>
          <p:nvPr/>
        </p:nvPicPr>
        <p:blipFill>
          <a:blip r:embed="rId31" cstate="print"/>
          <a:stretch>
            <a:fillRect/>
          </a:stretch>
        </p:blipFill>
        <p:spPr>
          <a:xfrm>
            <a:off x="4687062" y="3897884"/>
            <a:ext cx="555497" cy="175006"/>
          </a:xfrm>
          <a:prstGeom prst="rect">
            <a:avLst/>
          </a:prstGeom>
        </p:spPr>
      </p:pic>
      <p:sp>
        <p:nvSpPr>
          <p:cNvPr id="52" name="object 52"/>
          <p:cNvSpPr/>
          <p:nvPr/>
        </p:nvSpPr>
        <p:spPr>
          <a:xfrm>
            <a:off x="5423345" y="3898900"/>
            <a:ext cx="269081" cy="173990"/>
          </a:xfrm>
          <a:custGeom>
            <a:avLst/>
            <a:gdLst/>
            <a:ahLst/>
            <a:cxnLst/>
            <a:rect l="l" t="t" r="r" b="b"/>
            <a:pathLst>
              <a:path w="358775" h="173989">
                <a:moveTo>
                  <a:pt x="86214" y="68325"/>
                </a:moveTo>
                <a:lnTo>
                  <a:pt x="50292" y="68325"/>
                </a:lnTo>
                <a:lnTo>
                  <a:pt x="54228" y="68833"/>
                </a:lnTo>
                <a:lnTo>
                  <a:pt x="60578" y="71119"/>
                </a:lnTo>
                <a:lnTo>
                  <a:pt x="63246" y="72770"/>
                </a:lnTo>
                <a:lnTo>
                  <a:pt x="67309" y="77088"/>
                </a:lnTo>
                <a:lnTo>
                  <a:pt x="68706" y="79882"/>
                </a:lnTo>
                <a:lnTo>
                  <a:pt x="69596" y="83185"/>
                </a:lnTo>
                <a:lnTo>
                  <a:pt x="70612" y="86487"/>
                </a:lnTo>
                <a:lnTo>
                  <a:pt x="70993" y="90169"/>
                </a:lnTo>
                <a:lnTo>
                  <a:pt x="70993" y="103124"/>
                </a:lnTo>
                <a:lnTo>
                  <a:pt x="46990" y="103124"/>
                </a:lnTo>
                <a:lnTo>
                  <a:pt x="39243" y="103886"/>
                </a:lnTo>
                <a:lnTo>
                  <a:pt x="25400" y="106933"/>
                </a:lnTo>
                <a:lnTo>
                  <a:pt x="19557" y="109219"/>
                </a:lnTo>
                <a:lnTo>
                  <a:pt x="14858" y="112268"/>
                </a:lnTo>
                <a:lnTo>
                  <a:pt x="10032" y="115316"/>
                </a:lnTo>
                <a:lnTo>
                  <a:pt x="6350" y="119125"/>
                </a:lnTo>
                <a:lnTo>
                  <a:pt x="3809" y="123825"/>
                </a:lnTo>
                <a:lnTo>
                  <a:pt x="1270" y="128397"/>
                </a:lnTo>
                <a:lnTo>
                  <a:pt x="0" y="133857"/>
                </a:lnTo>
                <a:lnTo>
                  <a:pt x="0" y="145414"/>
                </a:lnTo>
                <a:lnTo>
                  <a:pt x="889" y="150241"/>
                </a:lnTo>
                <a:lnTo>
                  <a:pt x="2794" y="154431"/>
                </a:lnTo>
                <a:lnTo>
                  <a:pt x="4572" y="158623"/>
                </a:lnTo>
                <a:lnTo>
                  <a:pt x="32639" y="173989"/>
                </a:lnTo>
                <a:lnTo>
                  <a:pt x="45212" y="173989"/>
                </a:lnTo>
                <a:lnTo>
                  <a:pt x="73303" y="157987"/>
                </a:lnTo>
                <a:lnTo>
                  <a:pt x="35178" y="157987"/>
                </a:lnTo>
                <a:lnTo>
                  <a:pt x="29972" y="156337"/>
                </a:lnTo>
                <a:lnTo>
                  <a:pt x="26416" y="152907"/>
                </a:lnTo>
                <a:lnTo>
                  <a:pt x="22732" y="149479"/>
                </a:lnTo>
                <a:lnTo>
                  <a:pt x="20827" y="144906"/>
                </a:lnTo>
                <a:lnTo>
                  <a:pt x="20827" y="135762"/>
                </a:lnTo>
                <a:lnTo>
                  <a:pt x="21463" y="132714"/>
                </a:lnTo>
                <a:lnTo>
                  <a:pt x="22732" y="130175"/>
                </a:lnTo>
                <a:lnTo>
                  <a:pt x="24002" y="127507"/>
                </a:lnTo>
                <a:lnTo>
                  <a:pt x="48005" y="117856"/>
                </a:lnTo>
                <a:lnTo>
                  <a:pt x="91313" y="117856"/>
                </a:lnTo>
                <a:lnTo>
                  <a:pt x="91275" y="86487"/>
                </a:lnTo>
                <a:lnTo>
                  <a:pt x="90424" y="80644"/>
                </a:lnTo>
                <a:lnTo>
                  <a:pt x="87375" y="70357"/>
                </a:lnTo>
                <a:lnTo>
                  <a:pt x="86214" y="68325"/>
                </a:lnTo>
                <a:close/>
              </a:path>
              <a:path w="358775" h="173989">
                <a:moveTo>
                  <a:pt x="91313" y="157480"/>
                </a:moveTo>
                <a:lnTo>
                  <a:pt x="73787" y="157480"/>
                </a:lnTo>
                <a:lnTo>
                  <a:pt x="73787" y="169672"/>
                </a:lnTo>
                <a:lnTo>
                  <a:pt x="80391" y="172338"/>
                </a:lnTo>
                <a:lnTo>
                  <a:pt x="84708" y="172338"/>
                </a:lnTo>
                <a:lnTo>
                  <a:pt x="86359" y="172212"/>
                </a:lnTo>
                <a:lnTo>
                  <a:pt x="87502" y="171957"/>
                </a:lnTo>
                <a:lnTo>
                  <a:pt x="88773" y="171704"/>
                </a:lnTo>
                <a:lnTo>
                  <a:pt x="89662" y="171323"/>
                </a:lnTo>
                <a:lnTo>
                  <a:pt x="90931" y="170306"/>
                </a:lnTo>
                <a:lnTo>
                  <a:pt x="91313" y="169672"/>
                </a:lnTo>
                <a:lnTo>
                  <a:pt x="91313" y="157480"/>
                </a:lnTo>
                <a:close/>
              </a:path>
              <a:path w="358775" h="173989">
                <a:moveTo>
                  <a:pt x="91313" y="117856"/>
                </a:moveTo>
                <a:lnTo>
                  <a:pt x="70993" y="117856"/>
                </a:lnTo>
                <a:lnTo>
                  <a:pt x="70993" y="141477"/>
                </a:lnTo>
                <a:lnTo>
                  <a:pt x="66040" y="147066"/>
                </a:lnTo>
                <a:lnTo>
                  <a:pt x="61214" y="151256"/>
                </a:lnTo>
                <a:lnTo>
                  <a:pt x="52070" y="156591"/>
                </a:lnTo>
                <a:lnTo>
                  <a:pt x="47117" y="157987"/>
                </a:lnTo>
                <a:lnTo>
                  <a:pt x="73303" y="157987"/>
                </a:lnTo>
                <a:lnTo>
                  <a:pt x="73787" y="157480"/>
                </a:lnTo>
                <a:lnTo>
                  <a:pt x="91313" y="157480"/>
                </a:lnTo>
                <a:lnTo>
                  <a:pt x="91313" y="117856"/>
                </a:lnTo>
                <a:close/>
              </a:path>
              <a:path w="358775" h="173989">
                <a:moveTo>
                  <a:pt x="55372" y="51816"/>
                </a:moveTo>
                <a:lnTo>
                  <a:pt x="43179" y="51816"/>
                </a:lnTo>
                <a:lnTo>
                  <a:pt x="38862" y="52197"/>
                </a:lnTo>
                <a:lnTo>
                  <a:pt x="8000" y="63626"/>
                </a:lnTo>
                <a:lnTo>
                  <a:pt x="6857" y="64643"/>
                </a:lnTo>
                <a:lnTo>
                  <a:pt x="6096" y="65786"/>
                </a:lnTo>
                <a:lnTo>
                  <a:pt x="5842" y="67056"/>
                </a:lnTo>
                <a:lnTo>
                  <a:pt x="5588" y="68199"/>
                </a:lnTo>
                <a:lnTo>
                  <a:pt x="5460" y="74294"/>
                </a:lnTo>
                <a:lnTo>
                  <a:pt x="5715" y="75311"/>
                </a:lnTo>
                <a:lnTo>
                  <a:pt x="5842" y="76326"/>
                </a:lnTo>
                <a:lnTo>
                  <a:pt x="8890" y="79756"/>
                </a:lnTo>
                <a:lnTo>
                  <a:pt x="10541" y="79756"/>
                </a:lnTo>
                <a:lnTo>
                  <a:pt x="11938" y="79248"/>
                </a:lnTo>
                <a:lnTo>
                  <a:pt x="13970" y="77977"/>
                </a:lnTo>
                <a:lnTo>
                  <a:pt x="16001" y="76835"/>
                </a:lnTo>
                <a:lnTo>
                  <a:pt x="40513" y="68325"/>
                </a:lnTo>
                <a:lnTo>
                  <a:pt x="86214" y="68325"/>
                </a:lnTo>
                <a:lnTo>
                  <a:pt x="84835" y="65912"/>
                </a:lnTo>
                <a:lnTo>
                  <a:pt x="81406" y="62483"/>
                </a:lnTo>
                <a:lnTo>
                  <a:pt x="77977" y="58927"/>
                </a:lnTo>
                <a:lnTo>
                  <a:pt x="73405" y="56261"/>
                </a:lnTo>
                <a:lnTo>
                  <a:pt x="62229" y="52705"/>
                </a:lnTo>
                <a:lnTo>
                  <a:pt x="55372" y="51816"/>
                </a:lnTo>
                <a:close/>
              </a:path>
              <a:path w="358775" h="173989">
                <a:moveTo>
                  <a:pt x="140462" y="53467"/>
                </a:moveTo>
                <a:lnTo>
                  <a:pt x="136778" y="53467"/>
                </a:lnTo>
                <a:lnTo>
                  <a:pt x="135254" y="53593"/>
                </a:lnTo>
                <a:lnTo>
                  <a:pt x="132969" y="53848"/>
                </a:lnTo>
                <a:lnTo>
                  <a:pt x="132079" y="54101"/>
                </a:lnTo>
                <a:lnTo>
                  <a:pt x="131318" y="54482"/>
                </a:lnTo>
                <a:lnTo>
                  <a:pt x="130555" y="54737"/>
                </a:lnTo>
                <a:lnTo>
                  <a:pt x="130048" y="55244"/>
                </a:lnTo>
                <a:lnTo>
                  <a:pt x="129794" y="55625"/>
                </a:lnTo>
                <a:lnTo>
                  <a:pt x="129540" y="56133"/>
                </a:lnTo>
                <a:lnTo>
                  <a:pt x="129540" y="169672"/>
                </a:lnTo>
                <a:lnTo>
                  <a:pt x="129921" y="170180"/>
                </a:lnTo>
                <a:lnTo>
                  <a:pt x="130175" y="170687"/>
                </a:lnTo>
                <a:lnTo>
                  <a:pt x="130682" y="171069"/>
                </a:lnTo>
                <a:lnTo>
                  <a:pt x="131445" y="171323"/>
                </a:lnTo>
                <a:lnTo>
                  <a:pt x="132206" y="171704"/>
                </a:lnTo>
                <a:lnTo>
                  <a:pt x="133350" y="171957"/>
                </a:lnTo>
                <a:lnTo>
                  <a:pt x="135890" y="172212"/>
                </a:lnTo>
                <a:lnTo>
                  <a:pt x="137541" y="172338"/>
                </a:lnTo>
                <a:lnTo>
                  <a:pt x="141604" y="172338"/>
                </a:lnTo>
                <a:lnTo>
                  <a:pt x="143255" y="172212"/>
                </a:lnTo>
                <a:lnTo>
                  <a:pt x="145923" y="171957"/>
                </a:lnTo>
                <a:lnTo>
                  <a:pt x="146939" y="171704"/>
                </a:lnTo>
                <a:lnTo>
                  <a:pt x="147700" y="171323"/>
                </a:lnTo>
                <a:lnTo>
                  <a:pt x="148463" y="171069"/>
                </a:lnTo>
                <a:lnTo>
                  <a:pt x="148971" y="170687"/>
                </a:lnTo>
                <a:lnTo>
                  <a:pt x="149351" y="170180"/>
                </a:lnTo>
                <a:lnTo>
                  <a:pt x="149859" y="169163"/>
                </a:lnTo>
                <a:lnTo>
                  <a:pt x="149859" y="90805"/>
                </a:lnTo>
                <a:lnTo>
                  <a:pt x="155448" y="83819"/>
                </a:lnTo>
                <a:lnTo>
                  <a:pt x="160781" y="78486"/>
                </a:lnTo>
                <a:lnTo>
                  <a:pt x="165862" y="74930"/>
                </a:lnTo>
                <a:lnTo>
                  <a:pt x="169890" y="72008"/>
                </a:lnTo>
                <a:lnTo>
                  <a:pt x="147827" y="72008"/>
                </a:lnTo>
                <a:lnTo>
                  <a:pt x="147700" y="56133"/>
                </a:lnTo>
                <a:lnTo>
                  <a:pt x="147447" y="55625"/>
                </a:lnTo>
                <a:lnTo>
                  <a:pt x="147066" y="55244"/>
                </a:lnTo>
                <a:lnTo>
                  <a:pt x="146684" y="54737"/>
                </a:lnTo>
                <a:lnTo>
                  <a:pt x="146050" y="54482"/>
                </a:lnTo>
                <a:lnTo>
                  <a:pt x="145288" y="54101"/>
                </a:lnTo>
                <a:lnTo>
                  <a:pt x="144399" y="53848"/>
                </a:lnTo>
                <a:lnTo>
                  <a:pt x="143255" y="53720"/>
                </a:lnTo>
                <a:lnTo>
                  <a:pt x="140462" y="53467"/>
                </a:lnTo>
                <a:close/>
              </a:path>
              <a:path w="358775" h="173989">
                <a:moveTo>
                  <a:pt x="219294" y="69468"/>
                </a:moveTo>
                <a:lnTo>
                  <a:pt x="185166" y="69468"/>
                </a:lnTo>
                <a:lnTo>
                  <a:pt x="188595" y="70231"/>
                </a:lnTo>
                <a:lnTo>
                  <a:pt x="191643" y="71627"/>
                </a:lnTo>
                <a:lnTo>
                  <a:pt x="203326" y="88137"/>
                </a:lnTo>
                <a:lnTo>
                  <a:pt x="204343" y="91948"/>
                </a:lnTo>
                <a:lnTo>
                  <a:pt x="204724" y="97027"/>
                </a:lnTo>
                <a:lnTo>
                  <a:pt x="204724" y="169163"/>
                </a:lnTo>
                <a:lnTo>
                  <a:pt x="205231" y="170180"/>
                </a:lnTo>
                <a:lnTo>
                  <a:pt x="205613" y="170687"/>
                </a:lnTo>
                <a:lnTo>
                  <a:pt x="206121" y="171069"/>
                </a:lnTo>
                <a:lnTo>
                  <a:pt x="206882" y="171323"/>
                </a:lnTo>
                <a:lnTo>
                  <a:pt x="207645" y="171704"/>
                </a:lnTo>
                <a:lnTo>
                  <a:pt x="208660" y="171957"/>
                </a:lnTo>
                <a:lnTo>
                  <a:pt x="209930" y="172085"/>
                </a:lnTo>
                <a:lnTo>
                  <a:pt x="212978" y="172338"/>
                </a:lnTo>
                <a:lnTo>
                  <a:pt x="217043" y="172338"/>
                </a:lnTo>
                <a:lnTo>
                  <a:pt x="218694" y="172212"/>
                </a:lnTo>
                <a:lnTo>
                  <a:pt x="221360" y="171957"/>
                </a:lnTo>
                <a:lnTo>
                  <a:pt x="222376" y="171704"/>
                </a:lnTo>
                <a:lnTo>
                  <a:pt x="223012" y="171323"/>
                </a:lnTo>
                <a:lnTo>
                  <a:pt x="223774" y="171069"/>
                </a:lnTo>
                <a:lnTo>
                  <a:pt x="224281" y="170687"/>
                </a:lnTo>
                <a:lnTo>
                  <a:pt x="225044" y="169672"/>
                </a:lnTo>
                <a:lnTo>
                  <a:pt x="224982" y="90805"/>
                </a:lnTo>
                <a:lnTo>
                  <a:pt x="224535" y="85979"/>
                </a:lnTo>
                <a:lnTo>
                  <a:pt x="223139" y="80391"/>
                </a:lnTo>
                <a:lnTo>
                  <a:pt x="221742" y="74675"/>
                </a:lnTo>
                <a:lnTo>
                  <a:pt x="219582" y="69850"/>
                </a:lnTo>
                <a:lnTo>
                  <a:pt x="219294" y="69468"/>
                </a:lnTo>
                <a:close/>
              </a:path>
              <a:path w="358775" h="173989">
                <a:moveTo>
                  <a:pt x="192785" y="51816"/>
                </a:moveTo>
                <a:lnTo>
                  <a:pt x="179070" y="51816"/>
                </a:lnTo>
                <a:lnTo>
                  <a:pt x="172720" y="53339"/>
                </a:lnTo>
                <a:lnTo>
                  <a:pt x="166497" y="56642"/>
                </a:lnTo>
                <a:lnTo>
                  <a:pt x="160400" y="59943"/>
                </a:lnTo>
                <a:lnTo>
                  <a:pt x="154050" y="65024"/>
                </a:lnTo>
                <a:lnTo>
                  <a:pt x="147827" y="72008"/>
                </a:lnTo>
                <a:lnTo>
                  <a:pt x="169890" y="72008"/>
                </a:lnTo>
                <a:lnTo>
                  <a:pt x="170942" y="71247"/>
                </a:lnTo>
                <a:lnTo>
                  <a:pt x="176149" y="69468"/>
                </a:lnTo>
                <a:lnTo>
                  <a:pt x="219294" y="69468"/>
                </a:lnTo>
                <a:lnTo>
                  <a:pt x="213232" y="61468"/>
                </a:lnTo>
                <a:lnTo>
                  <a:pt x="209169" y="58038"/>
                </a:lnTo>
                <a:lnTo>
                  <a:pt x="204089" y="55499"/>
                </a:lnTo>
                <a:lnTo>
                  <a:pt x="199008" y="53086"/>
                </a:lnTo>
                <a:lnTo>
                  <a:pt x="192785" y="51816"/>
                </a:lnTo>
                <a:close/>
              </a:path>
              <a:path w="358775" h="173989">
                <a:moveTo>
                  <a:pt x="310896" y="51816"/>
                </a:moveTo>
                <a:lnTo>
                  <a:pt x="296672" y="51816"/>
                </a:lnTo>
                <a:lnTo>
                  <a:pt x="289687" y="53212"/>
                </a:lnTo>
                <a:lnTo>
                  <a:pt x="261620" y="80644"/>
                </a:lnTo>
                <a:lnTo>
                  <a:pt x="256627" y="123189"/>
                </a:lnTo>
                <a:lnTo>
                  <a:pt x="257301" y="130048"/>
                </a:lnTo>
                <a:lnTo>
                  <a:pt x="275081" y="165988"/>
                </a:lnTo>
                <a:lnTo>
                  <a:pt x="293624" y="173989"/>
                </a:lnTo>
                <a:lnTo>
                  <a:pt x="309245" y="173989"/>
                </a:lnTo>
                <a:lnTo>
                  <a:pt x="338160" y="156463"/>
                </a:lnTo>
                <a:lnTo>
                  <a:pt x="299974" y="156463"/>
                </a:lnTo>
                <a:lnTo>
                  <a:pt x="295528" y="155320"/>
                </a:lnTo>
                <a:lnTo>
                  <a:pt x="277622" y="117601"/>
                </a:lnTo>
                <a:lnTo>
                  <a:pt x="277622" y="106806"/>
                </a:lnTo>
                <a:lnTo>
                  <a:pt x="292989" y="73025"/>
                </a:lnTo>
                <a:lnTo>
                  <a:pt x="296545" y="70612"/>
                </a:lnTo>
                <a:lnTo>
                  <a:pt x="300990" y="69342"/>
                </a:lnTo>
                <a:lnTo>
                  <a:pt x="358775" y="69342"/>
                </a:lnTo>
                <a:lnTo>
                  <a:pt x="358775" y="68580"/>
                </a:lnTo>
                <a:lnTo>
                  <a:pt x="338327" y="68580"/>
                </a:lnTo>
                <a:lnTo>
                  <a:pt x="332994" y="63118"/>
                </a:lnTo>
                <a:lnTo>
                  <a:pt x="327659" y="58927"/>
                </a:lnTo>
                <a:lnTo>
                  <a:pt x="322325" y="56006"/>
                </a:lnTo>
                <a:lnTo>
                  <a:pt x="316865" y="53212"/>
                </a:lnTo>
                <a:lnTo>
                  <a:pt x="310896" y="51816"/>
                </a:lnTo>
                <a:close/>
              </a:path>
              <a:path w="358775" h="173989">
                <a:moveTo>
                  <a:pt x="358775" y="153797"/>
                </a:moveTo>
                <a:lnTo>
                  <a:pt x="340614" y="153797"/>
                </a:lnTo>
                <a:lnTo>
                  <a:pt x="340741" y="169799"/>
                </a:lnTo>
                <a:lnTo>
                  <a:pt x="341122" y="170180"/>
                </a:lnTo>
                <a:lnTo>
                  <a:pt x="341502" y="170687"/>
                </a:lnTo>
                <a:lnTo>
                  <a:pt x="348106" y="172338"/>
                </a:lnTo>
                <a:lnTo>
                  <a:pt x="351535" y="172338"/>
                </a:lnTo>
                <a:lnTo>
                  <a:pt x="358648" y="169799"/>
                </a:lnTo>
                <a:lnTo>
                  <a:pt x="358775" y="153797"/>
                </a:lnTo>
                <a:close/>
              </a:path>
              <a:path w="358775" h="173989">
                <a:moveTo>
                  <a:pt x="358775" y="69342"/>
                </a:moveTo>
                <a:lnTo>
                  <a:pt x="311784" y="69342"/>
                </a:lnTo>
                <a:lnTo>
                  <a:pt x="317119" y="71119"/>
                </a:lnTo>
                <a:lnTo>
                  <a:pt x="322325" y="74675"/>
                </a:lnTo>
                <a:lnTo>
                  <a:pt x="327405" y="78231"/>
                </a:lnTo>
                <a:lnTo>
                  <a:pt x="332740" y="83438"/>
                </a:lnTo>
                <a:lnTo>
                  <a:pt x="338327" y="90297"/>
                </a:lnTo>
                <a:lnTo>
                  <a:pt x="338327" y="134747"/>
                </a:lnTo>
                <a:lnTo>
                  <a:pt x="307975" y="156463"/>
                </a:lnTo>
                <a:lnTo>
                  <a:pt x="338160" y="156463"/>
                </a:lnTo>
                <a:lnTo>
                  <a:pt x="340614" y="153797"/>
                </a:lnTo>
                <a:lnTo>
                  <a:pt x="358775" y="153797"/>
                </a:lnTo>
                <a:lnTo>
                  <a:pt x="358775" y="69342"/>
                </a:lnTo>
                <a:close/>
              </a:path>
              <a:path w="358775" h="173989">
                <a:moveTo>
                  <a:pt x="350520" y="0"/>
                </a:moveTo>
                <a:lnTo>
                  <a:pt x="346455" y="0"/>
                </a:lnTo>
                <a:lnTo>
                  <a:pt x="344804" y="126"/>
                </a:lnTo>
                <a:lnTo>
                  <a:pt x="343534" y="381"/>
                </a:lnTo>
                <a:lnTo>
                  <a:pt x="342265" y="507"/>
                </a:lnTo>
                <a:lnTo>
                  <a:pt x="338327" y="68580"/>
                </a:lnTo>
                <a:lnTo>
                  <a:pt x="358775" y="68580"/>
                </a:lnTo>
                <a:lnTo>
                  <a:pt x="358648" y="2793"/>
                </a:lnTo>
                <a:lnTo>
                  <a:pt x="353441" y="381"/>
                </a:lnTo>
                <a:lnTo>
                  <a:pt x="352171" y="126"/>
                </a:lnTo>
                <a:lnTo>
                  <a:pt x="350520" y="0"/>
                </a:lnTo>
                <a:close/>
              </a:path>
            </a:pathLst>
          </a:custGeom>
          <a:solidFill>
            <a:srgbClr val="000000">
              <a:alpha val="79998"/>
            </a:srgbClr>
          </a:solidFill>
        </p:spPr>
        <p:txBody>
          <a:bodyPr wrap="square" lIns="0" tIns="0" rIns="0" bIns="0" rtlCol="0"/>
          <a:lstStyle/>
          <a:p>
            <a:endParaRPr/>
          </a:p>
        </p:txBody>
      </p:sp>
      <p:sp>
        <p:nvSpPr>
          <p:cNvPr id="53" name="object 53"/>
          <p:cNvSpPr/>
          <p:nvPr/>
        </p:nvSpPr>
        <p:spPr>
          <a:xfrm>
            <a:off x="5883401" y="3898392"/>
            <a:ext cx="218123" cy="174625"/>
          </a:xfrm>
          <a:custGeom>
            <a:avLst/>
            <a:gdLst/>
            <a:ahLst/>
            <a:cxnLst/>
            <a:rect l="l" t="t" r="r" b="b"/>
            <a:pathLst>
              <a:path w="290829" h="174625">
                <a:moveTo>
                  <a:pt x="14350" y="11556"/>
                </a:moveTo>
                <a:lnTo>
                  <a:pt x="7112" y="11556"/>
                </a:lnTo>
                <a:lnTo>
                  <a:pt x="4318" y="12064"/>
                </a:lnTo>
                <a:lnTo>
                  <a:pt x="3175" y="12318"/>
                </a:lnTo>
                <a:lnTo>
                  <a:pt x="2413" y="12572"/>
                </a:lnTo>
                <a:lnTo>
                  <a:pt x="1524" y="12826"/>
                </a:lnTo>
                <a:lnTo>
                  <a:pt x="889" y="13207"/>
                </a:lnTo>
                <a:lnTo>
                  <a:pt x="127" y="14223"/>
                </a:lnTo>
                <a:lnTo>
                  <a:pt x="0" y="14858"/>
                </a:lnTo>
                <a:lnTo>
                  <a:pt x="0" y="169544"/>
                </a:lnTo>
                <a:lnTo>
                  <a:pt x="127" y="170179"/>
                </a:lnTo>
                <a:lnTo>
                  <a:pt x="508" y="170560"/>
                </a:lnTo>
                <a:lnTo>
                  <a:pt x="762" y="171068"/>
                </a:lnTo>
                <a:lnTo>
                  <a:pt x="8636" y="172846"/>
                </a:lnTo>
                <a:lnTo>
                  <a:pt x="12700" y="172846"/>
                </a:lnTo>
                <a:lnTo>
                  <a:pt x="20700" y="170560"/>
                </a:lnTo>
                <a:lnTo>
                  <a:pt x="21082" y="170179"/>
                </a:lnTo>
                <a:lnTo>
                  <a:pt x="21082" y="14223"/>
                </a:lnTo>
                <a:lnTo>
                  <a:pt x="20320" y="13207"/>
                </a:lnTo>
                <a:lnTo>
                  <a:pt x="19812" y="12826"/>
                </a:lnTo>
                <a:lnTo>
                  <a:pt x="18923" y="12572"/>
                </a:lnTo>
                <a:lnTo>
                  <a:pt x="18161" y="12318"/>
                </a:lnTo>
                <a:lnTo>
                  <a:pt x="17018" y="12064"/>
                </a:lnTo>
                <a:lnTo>
                  <a:pt x="14350" y="11556"/>
                </a:lnTo>
                <a:close/>
              </a:path>
              <a:path w="290829" h="174625">
                <a:moveTo>
                  <a:pt x="73787" y="0"/>
                </a:moveTo>
                <a:lnTo>
                  <a:pt x="69723" y="0"/>
                </a:lnTo>
                <a:lnTo>
                  <a:pt x="68072" y="126"/>
                </a:lnTo>
                <a:lnTo>
                  <a:pt x="62103" y="2285"/>
                </a:lnTo>
                <a:lnTo>
                  <a:pt x="61722" y="2793"/>
                </a:lnTo>
                <a:lnTo>
                  <a:pt x="61722" y="170179"/>
                </a:lnTo>
                <a:lnTo>
                  <a:pt x="62103" y="170687"/>
                </a:lnTo>
                <a:lnTo>
                  <a:pt x="62357" y="171195"/>
                </a:lnTo>
                <a:lnTo>
                  <a:pt x="62865" y="171576"/>
                </a:lnTo>
                <a:lnTo>
                  <a:pt x="63627" y="171830"/>
                </a:lnTo>
                <a:lnTo>
                  <a:pt x="64389" y="172211"/>
                </a:lnTo>
                <a:lnTo>
                  <a:pt x="65532" y="172465"/>
                </a:lnTo>
                <a:lnTo>
                  <a:pt x="68072" y="172719"/>
                </a:lnTo>
                <a:lnTo>
                  <a:pt x="69723" y="172846"/>
                </a:lnTo>
                <a:lnTo>
                  <a:pt x="73787" y="172846"/>
                </a:lnTo>
                <a:lnTo>
                  <a:pt x="75438" y="172719"/>
                </a:lnTo>
                <a:lnTo>
                  <a:pt x="78105" y="172465"/>
                </a:lnTo>
                <a:lnTo>
                  <a:pt x="79121" y="172211"/>
                </a:lnTo>
                <a:lnTo>
                  <a:pt x="79883" y="171830"/>
                </a:lnTo>
                <a:lnTo>
                  <a:pt x="80645" y="171576"/>
                </a:lnTo>
                <a:lnTo>
                  <a:pt x="81153" y="171195"/>
                </a:lnTo>
                <a:lnTo>
                  <a:pt x="81534" y="170687"/>
                </a:lnTo>
                <a:lnTo>
                  <a:pt x="82042" y="169671"/>
                </a:lnTo>
                <a:lnTo>
                  <a:pt x="82042" y="91312"/>
                </a:lnTo>
                <a:lnTo>
                  <a:pt x="87630" y="84327"/>
                </a:lnTo>
                <a:lnTo>
                  <a:pt x="92964" y="78993"/>
                </a:lnTo>
                <a:lnTo>
                  <a:pt x="98044" y="75437"/>
                </a:lnTo>
                <a:lnTo>
                  <a:pt x="103124" y="71754"/>
                </a:lnTo>
                <a:lnTo>
                  <a:pt x="106471" y="70611"/>
                </a:lnTo>
                <a:lnTo>
                  <a:pt x="82042" y="70611"/>
                </a:lnTo>
                <a:lnTo>
                  <a:pt x="82042" y="3301"/>
                </a:lnTo>
                <a:lnTo>
                  <a:pt x="76835" y="253"/>
                </a:lnTo>
                <a:lnTo>
                  <a:pt x="73787" y="0"/>
                </a:lnTo>
                <a:close/>
              </a:path>
              <a:path w="290829" h="174625">
                <a:moveTo>
                  <a:pt x="151476" y="69976"/>
                </a:moveTo>
                <a:lnTo>
                  <a:pt x="117348" y="69976"/>
                </a:lnTo>
                <a:lnTo>
                  <a:pt x="120777" y="70738"/>
                </a:lnTo>
                <a:lnTo>
                  <a:pt x="123825" y="72135"/>
                </a:lnTo>
                <a:lnTo>
                  <a:pt x="135509" y="88645"/>
                </a:lnTo>
                <a:lnTo>
                  <a:pt x="136525" y="92455"/>
                </a:lnTo>
                <a:lnTo>
                  <a:pt x="136906" y="97535"/>
                </a:lnTo>
                <a:lnTo>
                  <a:pt x="136906" y="169671"/>
                </a:lnTo>
                <a:lnTo>
                  <a:pt x="137414" y="170687"/>
                </a:lnTo>
                <a:lnTo>
                  <a:pt x="137795" y="171195"/>
                </a:lnTo>
                <a:lnTo>
                  <a:pt x="138303" y="171576"/>
                </a:lnTo>
                <a:lnTo>
                  <a:pt x="139065" y="171830"/>
                </a:lnTo>
                <a:lnTo>
                  <a:pt x="139827" y="172211"/>
                </a:lnTo>
                <a:lnTo>
                  <a:pt x="140843" y="172465"/>
                </a:lnTo>
                <a:lnTo>
                  <a:pt x="142113" y="172592"/>
                </a:lnTo>
                <a:lnTo>
                  <a:pt x="145161" y="172846"/>
                </a:lnTo>
                <a:lnTo>
                  <a:pt x="149225" y="172846"/>
                </a:lnTo>
                <a:lnTo>
                  <a:pt x="150875" y="172719"/>
                </a:lnTo>
                <a:lnTo>
                  <a:pt x="153543" y="172465"/>
                </a:lnTo>
                <a:lnTo>
                  <a:pt x="154559" y="172211"/>
                </a:lnTo>
                <a:lnTo>
                  <a:pt x="155194" y="171830"/>
                </a:lnTo>
                <a:lnTo>
                  <a:pt x="155956" y="171576"/>
                </a:lnTo>
                <a:lnTo>
                  <a:pt x="156591" y="171195"/>
                </a:lnTo>
                <a:lnTo>
                  <a:pt x="156845" y="170687"/>
                </a:lnTo>
                <a:lnTo>
                  <a:pt x="157225" y="170179"/>
                </a:lnTo>
                <a:lnTo>
                  <a:pt x="157353" y="169671"/>
                </a:lnTo>
                <a:lnTo>
                  <a:pt x="157270" y="92455"/>
                </a:lnTo>
                <a:lnTo>
                  <a:pt x="156718" y="86486"/>
                </a:lnTo>
                <a:lnTo>
                  <a:pt x="155321" y="80898"/>
                </a:lnTo>
                <a:lnTo>
                  <a:pt x="153924" y="75183"/>
                </a:lnTo>
                <a:lnTo>
                  <a:pt x="151765" y="70357"/>
                </a:lnTo>
                <a:lnTo>
                  <a:pt x="151476" y="69976"/>
                </a:lnTo>
                <a:close/>
              </a:path>
              <a:path w="290829" h="174625">
                <a:moveTo>
                  <a:pt x="124968" y="52323"/>
                </a:moveTo>
                <a:lnTo>
                  <a:pt x="111506" y="52323"/>
                </a:lnTo>
                <a:lnTo>
                  <a:pt x="105537" y="53847"/>
                </a:lnTo>
                <a:lnTo>
                  <a:pt x="99695" y="56768"/>
                </a:lnTo>
                <a:lnTo>
                  <a:pt x="93725" y="59816"/>
                </a:lnTo>
                <a:lnTo>
                  <a:pt x="87884" y="64388"/>
                </a:lnTo>
                <a:lnTo>
                  <a:pt x="82042" y="70611"/>
                </a:lnTo>
                <a:lnTo>
                  <a:pt x="106471" y="70611"/>
                </a:lnTo>
                <a:lnTo>
                  <a:pt x="108331" y="69976"/>
                </a:lnTo>
                <a:lnTo>
                  <a:pt x="151476" y="69976"/>
                </a:lnTo>
                <a:lnTo>
                  <a:pt x="145415" y="61975"/>
                </a:lnTo>
                <a:lnTo>
                  <a:pt x="141350" y="58546"/>
                </a:lnTo>
                <a:lnTo>
                  <a:pt x="136271" y="56006"/>
                </a:lnTo>
                <a:lnTo>
                  <a:pt x="131191" y="53593"/>
                </a:lnTo>
                <a:lnTo>
                  <a:pt x="124968" y="52323"/>
                </a:lnTo>
                <a:close/>
              </a:path>
              <a:path w="290829" h="174625">
                <a:moveTo>
                  <a:pt x="250444" y="52323"/>
                </a:moveTo>
                <a:lnTo>
                  <a:pt x="233553" y="52323"/>
                </a:lnTo>
                <a:lnTo>
                  <a:pt x="226187" y="53720"/>
                </a:lnTo>
                <a:lnTo>
                  <a:pt x="219583" y="56514"/>
                </a:lnTo>
                <a:lnTo>
                  <a:pt x="212979" y="59435"/>
                </a:lnTo>
                <a:lnTo>
                  <a:pt x="207391" y="63499"/>
                </a:lnTo>
                <a:lnTo>
                  <a:pt x="202692" y="68833"/>
                </a:lnTo>
                <a:lnTo>
                  <a:pt x="197993" y="74040"/>
                </a:lnTo>
                <a:lnTo>
                  <a:pt x="188446" y="117474"/>
                </a:lnTo>
                <a:lnTo>
                  <a:pt x="188557" y="121225"/>
                </a:lnTo>
                <a:lnTo>
                  <a:pt x="207264" y="164337"/>
                </a:lnTo>
                <a:lnTo>
                  <a:pt x="219837" y="170560"/>
                </a:lnTo>
                <a:lnTo>
                  <a:pt x="226695" y="173227"/>
                </a:lnTo>
                <a:lnTo>
                  <a:pt x="234823" y="174497"/>
                </a:lnTo>
                <a:lnTo>
                  <a:pt x="249174" y="174497"/>
                </a:lnTo>
                <a:lnTo>
                  <a:pt x="254127" y="174116"/>
                </a:lnTo>
                <a:lnTo>
                  <a:pt x="258825" y="173227"/>
                </a:lnTo>
                <a:lnTo>
                  <a:pt x="263398" y="172465"/>
                </a:lnTo>
                <a:lnTo>
                  <a:pt x="267589" y="171576"/>
                </a:lnTo>
                <a:lnTo>
                  <a:pt x="271018" y="170560"/>
                </a:lnTo>
                <a:lnTo>
                  <a:pt x="274574" y="169671"/>
                </a:lnTo>
                <a:lnTo>
                  <a:pt x="283718" y="165353"/>
                </a:lnTo>
                <a:lnTo>
                  <a:pt x="284225" y="164972"/>
                </a:lnTo>
                <a:lnTo>
                  <a:pt x="284607" y="164464"/>
                </a:lnTo>
                <a:lnTo>
                  <a:pt x="285369" y="162940"/>
                </a:lnTo>
                <a:lnTo>
                  <a:pt x="285750" y="160908"/>
                </a:lnTo>
                <a:lnTo>
                  <a:pt x="285750" y="160146"/>
                </a:lnTo>
                <a:lnTo>
                  <a:pt x="285877" y="159384"/>
                </a:lnTo>
                <a:lnTo>
                  <a:pt x="285877" y="157860"/>
                </a:lnTo>
                <a:lnTo>
                  <a:pt x="239141" y="157860"/>
                </a:lnTo>
                <a:lnTo>
                  <a:pt x="233425" y="156971"/>
                </a:lnTo>
                <a:lnTo>
                  <a:pt x="228854" y="155066"/>
                </a:lnTo>
                <a:lnTo>
                  <a:pt x="224155" y="153161"/>
                </a:lnTo>
                <a:lnTo>
                  <a:pt x="220345" y="150494"/>
                </a:lnTo>
                <a:lnTo>
                  <a:pt x="217550" y="146938"/>
                </a:lnTo>
                <a:lnTo>
                  <a:pt x="214630" y="143382"/>
                </a:lnTo>
                <a:lnTo>
                  <a:pt x="212598" y="139064"/>
                </a:lnTo>
                <a:lnTo>
                  <a:pt x="211328" y="134238"/>
                </a:lnTo>
                <a:lnTo>
                  <a:pt x="210058" y="129285"/>
                </a:lnTo>
                <a:lnTo>
                  <a:pt x="209423" y="123697"/>
                </a:lnTo>
                <a:lnTo>
                  <a:pt x="209423" y="117474"/>
                </a:lnTo>
                <a:lnTo>
                  <a:pt x="284734" y="117474"/>
                </a:lnTo>
                <a:lnTo>
                  <a:pt x="286512" y="116839"/>
                </a:lnTo>
                <a:lnTo>
                  <a:pt x="289814" y="114045"/>
                </a:lnTo>
                <a:lnTo>
                  <a:pt x="290575" y="111759"/>
                </a:lnTo>
                <a:lnTo>
                  <a:pt x="290575" y="102615"/>
                </a:lnTo>
                <a:lnTo>
                  <a:pt x="209423" y="102615"/>
                </a:lnTo>
                <a:lnTo>
                  <a:pt x="209550" y="98043"/>
                </a:lnTo>
                <a:lnTo>
                  <a:pt x="210439" y="93725"/>
                </a:lnTo>
                <a:lnTo>
                  <a:pt x="213233" y="85343"/>
                </a:lnTo>
                <a:lnTo>
                  <a:pt x="215138" y="81660"/>
                </a:lnTo>
                <a:lnTo>
                  <a:pt x="217805" y="78612"/>
                </a:lnTo>
                <a:lnTo>
                  <a:pt x="220345" y="75437"/>
                </a:lnTo>
                <a:lnTo>
                  <a:pt x="223520" y="72897"/>
                </a:lnTo>
                <a:lnTo>
                  <a:pt x="227330" y="71119"/>
                </a:lnTo>
                <a:lnTo>
                  <a:pt x="231140" y="69214"/>
                </a:lnTo>
                <a:lnTo>
                  <a:pt x="235585" y="68198"/>
                </a:lnTo>
                <a:lnTo>
                  <a:pt x="279465" y="68198"/>
                </a:lnTo>
                <a:lnTo>
                  <a:pt x="275209" y="62991"/>
                </a:lnTo>
                <a:lnTo>
                  <a:pt x="270129" y="59308"/>
                </a:lnTo>
                <a:lnTo>
                  <a:pt x="257810" y="53720"/>
                </a:lnTo>
                <a:lnTo>
                  <a:pt x="250444" y="52323"/>
                </a:lnTo>
                <a:close/>
              </a:path>
              <a:path w="290829" h="174625">
                <a:moveTo>
                  <a:pt x="283083" y="149478"/>
                </a:moveTo>
                <a:lnTo>
                  <a:pt x="281559" y="149478"/>
                </a:lnTo>
                <a:lnTo>
                  <a:pt x="280035" y="149986"/>
                </a:lnTo>
                <a:lnTo>
                  <a:pt x="278130" y="150748"/>
                </a:lnTo>
                <a:lnTo>
                  <a:pt x="276225" y="151637"/>
                </a:lnTo>
                <a:lnTo>
                  <a:pt x="273685" y="152653"/>
                </a:lnTo>
                <a:lnTo>
                  <a:pt x="270637" y="153669"/>
                </a:lnTo>
                <a:lnTo>
                  <a:pt x="267716" y="154812"/>
                </a:lnTo>
                <a:lnTo>
                  <a:pt x="264160" y="155701"/>
                </a:lnTo>
                <a:lnTo>
                  <a:pt x="255778" y="157479"/>
                </a:lnTo>
                <a:lnTo>
                  <a:pt x="251079" y="157860"/>
                </a:lnTo>
                <a:lnTo>
                  <a:pt x="285877" y="157860"/>
                </a:lnTo>
                <a:lnTo>
                  <a:pt x="285750" y="153669"/>
                </a:lnTo>
                <a:lnTo>
                  <a:pt x="285623" y="152653"/>
                </a:lnTo>
                <a:lnTo>
                  <a:pt x="285369" y="151764"/>
                </a:lnTo>
                <a:lnTo>
                  <a:pt x="285115" y="151256"/>
                </a:lnTo>
                <a:lnTo>
                  <a:pt x="284861" y="150621"/>
                </a:lnTo>
                <a:lnTo>
                  <a:pt x="284607" y="150240"/>
                </a:lnTo>
                <a:lnTo>
                  <a:pt x="284099" y="149986"/>
                </a:lnTo>
                <a:lnTo>
                  <a:pt x="283591" y="149605"/>
                </a:lnTo>
                <a:lnTo>
                  <a:pt x="283083" y="149478"/>
                </a:lnTo>
                <a:close/>
              </a:path>
              <a:path w="290829" h="174625">
                <a:moveTo>
                  <a:pt x="279465" y="68198"/>
                </a:moveTo>
                <a:lnTo>
                  <a:pt x="250444" y="68198"/>
                </a:lnTo>
                <a:lnTo>
                  <a:pt x="257937" y="71246"/>
                </a:lnTo>
                <a:lnTo>
                  <a:pt x="262890" y="77342"/>
                </a:lnTo>
                <a:lnTo>
                  <a:pt x="266199" y="82345"/>
                </a:lnTo>
                <a:lnTo>
                  <a:pt x="268509" y="88217"/>
                </a:lnTo>
                <a:lnTo>
                  <a:pt x="269819" y="94970"/>
                </a:lnTo>
                <a:lnTo>
                  <a:pt x="270129" y="102615"/>
                </a:lnTo>
                <a:lnTo>
                  <a:pt x="290575" y="102615"/>
                </a:lnTo>
                <a:lnTo>
                  <a:pt x="290575" y="97662"/>
                </a:lnTo>
                <a:lnTo>
                  <a:pt x="289687" y="90804"/>
                </a:lnTo>
                <a:lnTo>
                  <a:pt x="287782" y="84454"/>
                </a:lnTo>
                <a:lnTo>
                  <a:pt x="286004" y="78104"/>
                </a:lnTo>
                <a:lnTo>
                  <a:pt x="283083" y="72516"/>
                </a:lnTo>
                <a:lnTo>
                  <a:pt x="279465" y="68198"/>
                </a:lnTo>
                <a:close/>
              </a:path>
            </a:pathLst>
          </a:custGeom>
          <a:solidFill>
            <a:srgbClr val="000000">
              <a:alpha val="79998"/>
            </a:srgbClr>
          </a:solidFill>
        </p:spPr>
        <p:txBody>
          <a:bodyPr wrap="square" lIns="0" tIns="0" rIns="0" bIns="0" rtlCol="0"/>
          <a:lstStyle/>
          <a:p>
            <a:endParaRPr/>
          </a:p>
        </p:txBody>
      </p:sp>
      <p:pic>
        <p:nvPicPr>
          <p:cNvPr id="54" name="object 54"/>
          <p:cNvPicPr/>
          <p:nvPr/>
        </p:nvPicPr>
        <p:blipFill>
          <a:blip r:embed="rId32" cstate="print"/>
          <a:stretch>
            <a:fillRect/>
          </a:stretch>
        </p:blipFill>
        <p:spPr>
          <a:xfrm>
            <a:off x="6278117" y="3897503"/>
            <a:ext cx="966788" cy="175387"/>
          </a:xfrm>
          <a:prstGeom prst="rect">
            <a:avLst/>
          </a:prstGeom>
        </p:spPr>
      </p:pic>
      <p:pic>
        <p:nvPicPr>
          <p:cNvPr id="55" name="object 55"/>
          <p:cNvPicPr/>
          <p:nvPr/>
        </p:nvPicPr>
        <p:blipFill>
          <a:blip r:embed="rId33" cstate="print"/>
          <a:stretch>
            <a:fillRect/>
          </a:stretch>
        </p:blipFill>
        <p:spPr>
          <a:xfrm>
            <a:off x="7431977" y="3906521"/>
            <a:ext cx="97631" cy="166369"/>
          </a:xfrm>
          <a:prstGeom prst="rect">
            <a:avLst/>
          </a:prstGeom>
        </p:spPr>
      </p:pic>
      <p:pic>
        <p:nvPicPr>
          <p:cNvPr id="56" name="object 56"/>
          <p:cNvPicPr/>
          <p:nvPr/>
        </p:nvPicPr>
        <p:blipFill>
          <a:blip r:embed="rId34" cstate="print"/>
          <a:stretch>
            <a:fillRect/>
          </a:stretch>
        </p:blipFill>
        <p:spPr>
          <a:xfrm>
            <a:off x="8434006" y="3950715"/>
            <a:ext cx="149447" cy="122173"/>
          </a:xfrm>
          <a:prstGeom prst="rect">
            <a:avLst/>
          </a:prstGeom>
        </p:spPr>
      </p:pic>
      <p:pic>
        <p:nvPicPr>
          <p:cNvPr id="57" name="object 57"/>
          <p:cNvPicPr/>
          <p:nvPr/>
        </p:nvPicPr>
        <p:blipFill>
          <a:blip r:embed="rId35" cstate="print"/>
          <a:stretch>
            <a:fillRect/>
          </a:stretch>
        </p:blipFill>
        <p:spPr>
          <a:xfrm>
            <a:off x="7699248" y="3898900"/>
            <a:ext cx="551212" cy="173989"/>
          </a:xfrm>
          <a:prstGeom prst="rect">
            <a:avLst/>
          </a:prstGeom>
        </p:spPr>
      </p:pic>
      <p:pic>
        <p:nvPicPr>
          <p:cNvPr id="58" name="object 58"/>
          <p:cNvPicPr/>
          <p:nvPr/>
        </p:nvPicPr>
        <p:blipFill>
          <a:blip r:embed="rId36" cstate="print"/>
          <a:stretch>
            <a:fillRect/>
          </a:stretch>
        </p:blipFill>
        <p:spPr>
          <a:xfrm>
            <a:off x="4691634" y="4172203"/>
            <a:ext cx="705611" cy="175006"/>
          </a:xfrm>
          <a:prstGeom prst="rect">
            <a:avLst/>
          </a:prstGeom>
        </p:spPr>
      </p:pic>
      <p:sp>
        <p:nvSpPr>
          <p:cNvPr id="59" name="object 59"/>
          <p:cNvSpPr/>
          <p:nvPr/>
        </p:nvSpPr>
        <p:spPr>
          <a:xfrm>
            <a:off x="5458967" y="4196969"/>
            <a:ext cx="333851" cy="193040"/>
          </a:xfrm>
          <a:custGeom>
            <a:avLst/>
            <a:gdLst/>
            <a:ahLst/>
            <a:cxnLst/>
            <a:rect l="l" t="t" r="r" b="b"/>
            <a:pathLst>
              <a:path w="445134" h="193039">
                <a:moveTo>
                  <a:pt x="40131" y="47243"/>
                </a:moveTo>
                <a:lnTo>
                  <a:pt x="19684" y="47243"/>
                </a:lnTo>
                <a:lnTo>
                  <a:pt x="19684" y="118744"/>
                </a:lnTo>
                <a:lnTo>
                  <a:pt x="46481" y="149986"/>
                </a:lnTo>
                <a:lnTo>
                  <a:pt x="54101" y="149986"/>
                </a:lnTo>
                <a:lnTo>
                  <a:pt x="56006" y="149859"/>
                </a:lnTo>
                <a:lnTo>
                  <a:pt x="59817" y="149351"/>
                </a:lnTo>
                <a:lnTo>
                  <a:pt x="61595" y="148970"/>
                </a:lnTo>
                <a:lnTo>
                  <a:pt x="63246" y="148589"/>
                </a:lnTo>
                <a:lnTo>
                  <a:pt x="64897" y="148335"/>
                </a:lnTo>
                <a:lnTo>
                  <a:pt x="66421" y="147827"/>
                </a:lnTo>
                <a:lnTo>
                  <a:pt x="67691" y="147192"/>
                </a:lnTo>
                <a:lnTo>
                  <a:pt x="69087" y="146684"/>
                </a:lnTo>
                <a:lnTo>
                  <a:pt x="72135" y="142239"/>
                </a:lnTo>
                <a:lnTo>
                  <a:pt x="72517" y="140842"/>
                </a:lnTo>
                <a:lnTo>
                  <a:pt x="72612" y="133730"/>
                </a:lnTo>
                <a:lnTo>
                  <a:pt x="72390" y="132841"/>
                </a:lnTo>
                <a:lnTo>
                  <a:pt x="72350" y="132587"/>
                </a:lnTo>
                <a:lnTo>
                  <a:pt x="49783" y="132587"/>
                </a:lnTo>
                <a:lnTo>
                  <a:pt x="45720" y="130555"/>
                </a:lnTo>
                <a:lnTo>
                  <a:pt x="43433" y="126618"/>
                </a:lnTo>
                <a:lnTo>
                  <a:pt x="41275" y="122808"/>
                </a:lnTo>
                <a:lnTo>
                  <a:pt x="40131" y="116966"/>
                </a:lnTo>
                <a:lnTo>
                  <a:pt x="40131" y="47243"/>
                </a:lnTo>
                <a:close/>
              </a:path>
              <a:path w="445134" h="193039">
                <a:moveTo>
                  <a:pt x="70230" y="129031"/>
                </a:moveTo>
                <a:lnTo>
                  <a:pt x="69215" y="129031"/>
                </a:lnTo>
                <a:lnTo>
                  <a:pt x="68452" y="129285"/>
                </a:lnTo>
                <a:lnTo>
                  <a:pt x="67691" y="129666"/>
                </a:lnTo>
                <a:lnTo>
                  <a:pt x="66801" y="130047"/>
                </a:lnTo>
                <a:lnTo>
                  <a:pt x="57530" y="132587"/>
                </a:lnTo>
                <a:lnTo>
                  <a:pt x="72350" y="132587"/>
                </a:lnTo>
                <a:lnTo>
                  <a:pt x="72135" y="131190"/>
                </a:lnTo>
                <a:lnTo>
                  <a:pt x="71627" y="129920"/>
                </a:lnTo>
                <a:lnTo>
                  <a:pt x="71374" y="129539"/>
                </a:lnTo>
                <a:lnTo>
                  <a:pt x="70993" y="129412"/>
                </a:lnTo>
                <a:lnTo>
                  <a:pt x="70611" y="129158"/>
                </a:lnTo>
                <a:lnTo>
                  <a:pt x="70230" y="129031"/>
                </a:lnTo>
                <a:close/>
              </a:path>
              <a:path w="445134" h="193039">
                <a:moveTo>
                  <a:pt x="69215" y="30352"/>
                </a:moveTo>
                <a:lnTo>
                  <a:pt x="3555" y="30352"/>
                </a:lnTo>
                <a:lnTo>
                  <a:pt x="3048" y="30479"/>
                </a:lnTo>
                <a:lnTo>
                  <a:pt x="2412" y="30860"/>
                </a:lnTo>
                <a:lnTo>
                  <a:pt x="1904" y="31114"/>
                </a:lnTo>
                <a:lnTo>
                  <a:pt x="0" y="41909"/>
                </a:lnTo>
                <a:lnTo>
                  <a:pt x="380" y="43941"/>
                </a:lnTo>
                <a:lnTo>
                  <a:pt x="1143" y="45338"/>
                </a:lnTo>
                <a:lnTo>
                  <a:pt x="1904" y="46608"/>
                </a:lnTo>
                <a:lnTo>
                  <a:pt x="2921" y="47243"/>
                </a:lnTo>
                <a:lnTo>
                  <a:pt x="69850" y="47243"/>
                </a:lnTo>
                <a:lnTo>
                  <a:pt x="70866" y="46608"/>
                </a:lnTo>
                <a:lnTo>
                  <a:pt x="71627" y="45338"/>
                </a:lnTo>
                <a:lnTo>
                  <a:pt x="72262" y="43941"/>
                </a:lnTo>
                <a:lnTo>
                  <a:pt x="72644" y="41909"/>
                </a:lnTo>
                <a:lnTo>
                  <a:pt x="72644" y="36067"/>
                </a:lnTo>
                <a:lnTo>
                  <a:pt x="72390" y="34924"/>
                </a:lnTo>
                <a:lnTo>
                  <a:pt x="72262" y="33908"/>
                </a:lnTo>
                <a:lnTo>
                  <a:pt x="70357" y="30860"/>
                </a:lnTo>
                <a:lnTo>
                  <a:pt x="69850" y="30479"/>
                </a:lnTo>
                <a:lnTo>
                  <a:pt x="69215" y="30352"/>
                </a:lnTo>
                <a:close/>
              </a:path>
              <a:path w="445134" h="193039">
                <a:moveTo>
                  <a:pt x="31876" y="0"/>
                </a:moveTo>
                <a:lnTo>
                  <a:pt x="27812" y="0"/>
                </a:lnTo>
                <a:lnTo>
                  <a:pt x="26161" y="126"/>
                </a:lnTo>
                <a:lnTo>
                  <a:pt x="20193" y="2285"/>
                </a:lnTo>
                <a:lnTo>
                  <a:pt x="19811" y="2793"/>
                </a:lnTo>
                <a:lnTo>
                  <a:pt x="19684" y="30352"/>
                </a:lnTo>
                <a:lnTo>
                  <a:pt x="40131" y="30352"/>
                </a:lnTo>
                <a:lnTo>
                  <a:pt x="40131" y="3301"/>
                </a:lnTo>
                <a:lnTo>
                  <a:pt x="39624" y="2285"/>
                </a:lnTo>
                <a:lnTo>
                  <a:pt x="34925" y="253"/>
                </a:lnTo>
                <a:lnTo>
                  <a:pt x="31876" y="0"/>
                </a:lnTo>
                <a:close/>
              </a:path>
              <a:path w="445134" h="193039">
                <a:moveTo>
                  <a:pt x="98171" y="29717"/>
                </a:moveTo>
                <a:lnTo>
                  <a:pt x="93218" y="29717"/>
                </a:lnTo>
                <a:lnTo>
                  <a:pt x="91185" y="29844"/>
                </a:lnTo>
                <a:lnTo>
                  <a:pt x="89789" y="30098"/>
                </a:lnTo>
                <a:lnTo>
                  <a:pt x="88265" y="30225"/>
                </a:lnTo>
                <a:lnTo>
                  <a:pt x="87122" y="30606"/>
                </a:lnTo>
                <a:lnTo>
                  <a:pt x="86486" y="31241"/>
                </a:lnTo>
                <a:lnTo>
                  <a:pt x="85851" y="31749"/>
                </a:lnTo>
                <a:lnTo>
                  <a:pt x="85525" y="32511"/>
                </a:lnTo>
                <a:lnTo>
                  <a:pt x="85471" y="34543"/>
                </a:lnTo>
                <a:lnTo>
                  <a:pt x="85851" y="35940"/>
                </a:lnTo>
                <a:lnTo>
                  <a:pt x="86486" y="37718"/>
                </a:lnTo>
                <a:lnTo>
                  <a:pt x="126110" y="143890"/>
                </a:lnTo>
                <a:lnTo>
                  <a:pt x="126365" y="144652"/>
                </a:lnTo>
                <a:lnTo>
                  <a:pt x="126873" y="145541"/>
                </a:lnTo>
                <a:lnTo>
                  <a:pt x="127507" y="146176"/>
                </a:lnTo>
                <a:lnTo>
                  <a:pt x="128143" y="146938"/>
                </a:lnTo>
                <a:lnTo>
                  <a:pt x="128904" y="147573"/>
                </a:lnTo>
                <a:lnTo>
                  <a:pt x="129667" y="147827"/>
                </a:lnTo>
                <a:lnTo>
                  <a:pt x="114300" y="186562"/>
                </a:lnTo>
                <a:lnTo>
                  <a:pt x="113792" y="187705"/>
                </a:lnTo>
                <a:lnTo>
                  <a:pt x="113792" y="190245"/>
                </a:lnTo>
                <a:lnTo>
                  <a:pt x="114173" y="191007"/>
                </a:lnTo>
                <a:lnTo>
                  <a:pt x="114807" y="191388"/>
                </a:lnTo>
                <a:lnTo>
                  <a:pt x="115570" y="191896"/>
                </a:lnTo>
                <a:lnTo>
                  <a:pt x="116585" y="192277"/>
                </a:lnTo>
                <a:lnTo>
                  <a:pt x="117855" y="192531"/>
                </a:lnTo>
                <a:lnTo>
                  <a:pt x="120903" y="192785"/>
                </a:lnTo>
                <a:lnTo>
                  <a:pt x="127253" y="192785"/>
                </a:lnTo>
                <a:lnTo>
                  <a:pt x="150967" y="147573"/>
                </a:lnTo>
                <a:lnTo>
                  <a:pt x="159584" y="123697"/>
                </a:lnTo>
                <a:lnTo>
                  <a:pt x="139446" y="123697"/>
                </a:lnTo>
                <a:lnTo>
                  <a:pt x="107823" y="34543"/>
                </a:lnTo>
                <a:lnTo>
                  <a:pt x="107315" y="33527"/>
                </a:lnTo>
                <a:lnTo>
                  <a:pt x="106933" y="32638"/>
                </a:lnTo>
                <a:lnTo>
                  <a:pt x="106172" y="31368"/>
                </a:lnTo>
                <a:lnTo>
                  <a:pt x="105664" y="30987"/>
                </a:lnTo>
                <a:lnTo>
                  <a:pt x="104775" y="30606"/>
                </a:lnTo>
                <a:lnTo>
                  <a:pt x="104012" y="30225"/>
                </a:lnTo>
                <a:lnTo>
                  <a:pt x="102870" y="30098"/>
                </a:lnTo>
                <a:lnTo>
                  <a:pt x="100075" y="29844"/>
                </a:lnTo>
                <a:lnTo>
                  <a:pt x="98171" y="29717"/>
                </a:lnTo>
                <a:close/>
              </a:path>
              <a:path w="445134" h="193039">
                <a:moveTo>
                  <a:pt x="183769" y="29717"/>
                </a:moveTo>
                <a:lnTo>
                  <a:pt x="178816" y="29717"/>
                </a:lnTo>
                <a:lnTo>
                  <a:pt x="176910" y="29844"/>
                </a:lnTo>
                <a:lnTo>
                  <a:pt x="175514" y="30098"/>
                </a:lnTo>
                <a:lnTo>
                  <a:pt x="174117" y="30225"/>
                </a:lnTo>
                <a:lnTo>
                  <a:pt x="169908" y="35940"/>
                </a:lnTo>
                <a:lnTo>
                  <a:pt x="139826" y="123697"/>
                </a:lnTo>
                <a:lnTo>
                  <a:pt x="159584" y="123697"/>
                </a:lnTo>
                <a:lnTo>
                  <a:pt x="190753" y="37337"/>
                </a:lnTo>
                <a:lnTo>
                  <a:pt x="191261" y="35813"/>
                </a:lnTo>
                <a:lnTo>
                  <a:pt x="191516" y="34543"/>
                </a:lnTo>
                <a:lnTo>
                  <a:pt x="191461" y="32511"/>
                </a:lnTo>
                <a:lnTo>
                  <a:pt x="191134" y="31749"/>
                </a:lnTo>
                <a:lnTo>
                  <a:pt x="189737" y="30606"/>
                </a:lnTo>
                <a:lnTo>
                  <a:pt x="188722" y="30225"/>
                </a:lnTo>
                <a:lnTo>
                  <a:pt x="187198" y="30098"/>
                </a:lnTo>
                <a:lnTo>
                  <a:pt x="185674" y="29844"/>
                </a:lnTo>
                <a:lnTo>
                  <a:pt x="183769" y="29717"/>
                </a:lnTo>
                <a:close/>
              </a:path>
              <a:path w="445134" h="193039">
                <a:moveTo>
                  <a:pt x="226695" y="29717"/>
                </a:moveTo>
                <a:lnTo>
                  <a:pt x="223266" y="29717"/>
                </a:lnTo>
                <a:lnTo>
                  <a:pt x="221869" y="29844"/>
                </a:lnTo>
                <a:lnTo>
                  <a:pt x="216153" y="32257"/>
                </a:lnTo>
                <a:lnTo>
                  <a:pt x="216153" y="190118"/>
                </a:lnTo>
                <a:lnTo>
                  <a:pt x="216534" y="190626"/>
                </a:lnTo>
                <a:lnTo>
                  <a:pt x="216789" y="191134"/>
                </a:lnTo>
                <a:lnTo>
                  <a:pt x="217297" y="191515"/>
                </a:lnTo>
                <a:lnTo>
                  <a:pt x="218058" y="191769"/>
                </a:lnTo>
                <a:lnTo>
                  <a:pt x="218821" y="192150"/>
                </a:lnTo>
                <a:lnTo>
                  <a:pt x="219964" y="192404"/>
                </a:lnTo>
                <a:lnTo>
                  <a:pt x="221233" y="192531"/>
                </a:lnTo>
                <a:lnTo>
                  <a:pt x="222503" y="192785"/>
                </a:lnTo>
                <a:lnTo>
                  <a:pt x="229870" y="192785"/>
                </a:lnTo>
                <a:lnTo>
                  <a:pt x="231267" y="192531"/>
                </a:lnTo>
                <a:lnTo>
                  <a:pt x="232536" y="192404"/>
                </a:lnTo>
                <a:lnTo>
                  <a:pt x="233552" y="192150"/>
                </a:lnTo>
                <a:lnTo>
                  <a:pt x="234315" y="191769"/>
                </a:lnTo>
                <a:lnTo>
                  <a:pt x="235076" y="191515"/>
                </a:lnTo>
                <a:lnTo>
                  <a:pt x="235584" y="191134"/>
                </a:lnTo>
                <a:lnTo>
                  <a:pt x="235966" y="190626"/>
                </a:lnTo>
                <a:lnTo>
                  <a:pt x="236220" y="190118"/>
                </a:lnTo>
                <a:lnTo>
                  <a:pt x="236474" y="189483"/>
                </a:lnTo>
                <a:lnTo>
                  <a:pt x="236474" y="133222"/>
                </a:lnTo>
                <a:lnTo>
                  <a:pt x="306037" y="133222"/>
                </a:lnTo>
                <a:lnTo>
                  <a:pt x="306415" y="132714"/>
                </a:lnTo>
                <a:lnTo>
                  <a:pt x="262762" y="132714"/>
                </a:lnTo>
                <a:lnTo>
                  <a:pt x="257555" y="130809"/>
                </a:lnTo>
                <a:lnTo>
                  <a:pt x="252475" y="127253"/>
                </a:lnTo>
                <a:lnTo>
                  <a:pt x="247396" y="123570"/>
                </a:lnTo>
                <a:lnTo>
                  <a:pt x="242061" y="118363"/>
                </a:lnTo>
                <a:lnTo>
                  <a:pt x="236474" y="111505"/>
                </a:lnTo>
                <a:lnTo>
                  <a:pt x="236474" y="67309"/>
                </a:lnTo>
                <a:lnTo>
                  <a:pt x="239649" y="63245"/>
                </a:lnTo>
                <a:lnTo>
                  <a:pt x="242697" y="59816"/>
                </a:lnTo>
                <a:lnTo>
                  <a:pt x="245618" y="57149"/>
                </a:lnTo>
                <a:lnTo>
                  <a:pt x="248539" y="54355"/>
                </a:lnTo>
                <a:lnTo>
                  <a:pt x="251332" y="52069"/>
                </a:lnTo>
                <a:lnTo>
                  <a:pt x="256667" y="48767"/>
                </a:lnTo>
                <a:lnTo>
                  <a:pt x="257175" y="48513"/>
                </a:lnTo>
                <a:lnTo>
                  <a:pt x="233933" y="48513"/>
                </a:lnTo>
                <a:lnTo>
                  <a:pt x="230377" y="30098"/>
                </a:lnTo>
                <a:lnTo>
                  <a:pt x="226695" y="29717"/>
                </a:lnTo>
                <a:close/>
              </a:path>
              <a:path w="445134" h="193039">
                <a:moveTo>
                  <a:pt x="306037" y="133222"/>
                </a:moveTo>
                <a:lnTo>
                  <a:pt x="236474" y="133222"/>
                </a:lnTo>
                <a:lnTo>
                  <a:pt x="239395" y="136143"/>
                </a:lnTo>
                <a:lnTo>
                  <a:pt x="266826" y="150240"/>
                </a:lnTo>
                <a:lnTo>
                  <a:pt x="277875" y="150240"/>
                </a:lnTo>
                <a:lnTo>
                  <a:pt x="306037" y="133222"/>
                </a:lnTo>
                <a:close/>
              </a:path>
              <a:path w="445134" h="193039">
                <a:moveTo>
                  <a:pt x="307975" y="45592"/>
                </a:moveTo>
                <a:lnTo>
                  <a:pt x="274954" y="45592"/>
                </a:lnTo>
                <a:lnTo>
                  <a:pt x="279400" y="46862"/>
                </a:lnTo>
                <a:lnTo>
                  <a:pt x="286511" y="51688"/>
                </a:lnTo>
                <a:lnTo>
                  <a:pt x="297179" y="84073"/>
                </a:lnTo>
                <a:lnTo>
                  <a:pt x="297179" y="94995"/>
                </a:lnTo>
                <a:lnTo>
                  <a:pt x="296672" y="100075"/>
                </a:lnTo>
                <a:lnTo>
                  <a:pt x="295528" y="105282"/>
                </a:lnTo>
                <a:lnTo>
                  <a:pt x="294512" y="110362"/>
                </a:lnTo>
                <a:lnTo>
                  <a:pt x="281558" y="128904"/>
                </a:lnTo>
                <a:lnTo>
                  <a:pt x="277875" y="131444"/>
                </a:lnTo>
                <a:lnTo>
                  <a:pt x="273557" y="132714"/>
                </a:lnTo>
                <a:lnTo>
                  <a:pt x="306415" y="132714"/>
                </a:lnTo>
                <a:lnTo>
                  <a:pt x="318178" y="94573"/>
                </a:lnTo>
                <a:lnTo>
                  <a:pt x="318320" y="89788"/>
                </a:lnTo>
                <a:lnTo>
                  <a:pt x="318300" y="78612"/>
                </a:lnTo>
                <a:lnTo>
                  <a:pt x="317500" y="71754"/>
                </a:lnTo>
                <a:lnTo>
                  <a:pt x="314198" y="57276"/>
                </a:lnTo>
                <a:lnTo>
                  <a:pt x="311657" y="51053"/>
                </a:lnTo>
                <a:lnTo>
                  <a:pt x="307975" y="45592"/>
                </a:lnTo>
                <a:close/>
              </a:path>
              <a:path w="445134" h="193039">
                <a:moveTo>
                  <a:pt x="281558" y="28066"/>
                </a:moveTo>
                <a:lnTo>
                  <a:pt x="269748" y="28066"/>
                </a:lnTo>
                <a:lnTo>
                  <a:pt x="266319" y="28447"/>
                </a:lnTo>
                <a:lnTo>
                  <a:pt x="233933" y="48513"/>
                </a:lnTo>
                <a:lnTo>
                  <a:pt x="257175" y="48513"/>
                </a:lnTo>
                <a:lnTo>
                  <a:pt x="259206" y="47497"/>
                </a:lnTo>
                <a:lnTo>
                  <a:pt x="261747" y="46735"/>
                </a:lnTo>
                <a:lnTo>
                  <a:pt x="264414" y="45973"/>
                </a:lnTo>
                <a:lnTo>
                  <a:pt x="266953" y="45592"/>
                </a:lnTo>
                <a:lnTo>
                  <a:pt x="307975" y="45592"/>
                </a:lnTo>
                <a:lnTo>
                  <a:pt x="304419" y="40131"/>
                </a:lnTo>
                <a:lnTo>
                  <a:pt x="299847" y="35813"/>
                </a:lnTo>
                <a:lnTo>
                  <a:pt x="294131" y="32765"/>
                </a:lnTo>
                <a:lnTo>
                  <a:pt x="288417" y="29590"/>
                </a:lnTo>
                <a:lnTo>
                  <a:pt x="281558" y="28066"/>
                </a:lnTo>
                <a:close/>
              </a:path>
              <a:path w="445134" h="193039">
                <a:moveTo>
                  <a:pt x="404875" y="28066"/>
                </a:moveTo>
                <a:lnTo>
                  <a:pt x="387984" y="28066"/>
                </a:lnTo>
                <a:lnTo>
                  <a:pt x="380619" y="29463"/>
                </a:lnTo>
                <a:lnTo>
                  <a:pt x="374015" y="32257"/>
                </a:lnTo>
                <a:lnTo>
                  <a:pt x="367410" y="35178"/>
                </a:lnTo>
                <a:lnTo>
                  <a:pt x="361823" y="39242"/>
                </a:lnTo>
                <a:lnTo>
                  <a:pt x="357124" y="44576"/>
                </a:lnTo>
                <a:lnTo>
                  <a:pt x="352425" y="49783"/>
                </a:lnTo>
                <a:lnTo>
                  <a:pt x="342878" y="93217"/>
                </a:lnTo>
                <a:lnTo>
                  <a:pt x="342989" y="96968"/>
                </a:lnTo>
                <a:lnTo>
                  <a:pt x="361696" y="140080"/>
                </a:lnTo>
                <a:lnTo>
                  <a:pt x="374269" y="146303"/>
                </a:lnTo>
                <a:lnTo>
                  <a:pt x="381126" y="148970"/>
                </a:lnTo>
                <a:lnTo>
                  <a:pt x="389254" y="150240"/>
                </a:lnTo>
                <a:lnTo>
                  <a:pt x="403605" y="150240"/>
                </a:lnTo>
                <a:lnTo>
                  <a:pt x="408558" y="149859"/>
                </a:lnTo>
                <a:lnTo>
                  <a:pt x="413257" y="148970"/>
                </a:lnTo>
                <a:lnTo>
                  <a:pt x="417829" y="148208"/>
                </a:lnTo>
                <a:lnTo>
                  <a:pt x="422021" y="147319"/>
                </a:lnTo>
                <a:lnTo>
                  <a:pt x="425450" y="146303"/>
                </a:lnTo>
                <a:lnTo>
                  <a:pt x="429005" y="145414"/>
                </a:lnTo>
                <a:lnTo>
                  <a:pt x="438150" y="141096"/>
                </a:lnTo>
                <a:lnTo>
                  <a:pt x="438657" y="140715"/>
                </a:lnTo>
                <a:lnTo>
                  <a:pt x="439039" y="140207"/>
                </a:lnTo>
                <a:lnTo>
                  <a:pt x="439800" y="138683"/>
                </a:lnTo>
                <a:lnTo>
                  <a:pt x="440181" y="136651"/>
                </a:lnTo>
                <a:lnTo>
                  <a:pt x="440308" y="133603"/>
                </a:lnTo>
                <a:lnTo>
                  <a:pt x="393573" y="133603"/>
                </a:lnTo>
                <a:lnTo>
                  <a:pt x="387857" y="132714"/>
                </a:lnTo>
                <a:lnTo>
                  <a:pt x="383285" y="130809"/>
                </a:lnTo>
                <a:lnTo>
                  <a:pt x="378586" y="128904"/>
                </a:lnTo>
                <a:lnTo>
                  <a:pt x="374776" y="126237"/>
                </a:lnTo>
                <a:lnTo>
                  <a:pt x="371982" y="122681"/>
                </a:lnTo>
                <a:lnTo>
                  <a:pt x="369061" y="119125"/>
                </a:lnTo>
                <a:lnTo>
                  <a:pt x="367029" y="114807"/>
                </a:lnTo>
                <a:lnTo>
                  <a:pt x="365759" y="109981"/>
                </a:lnTo>
                <a:lnTo>
                  <a:pt x="364490" y="105028"/>
                </a:lnTo>
                <a:lnTo>
                  <a:pt x="363854" y="99440"/>
                </a:lnTo>
                <a:lnTo>
                  <a:pt x="363854" y="93217"/>
                </a:lnTo>
                <a:lnTo>
                  <a:pt x="439166" y="93217"/>
                </a:lnTo>
                <a:lnTo>
                  <a:pt x="440944" y="92582"/>
                </a:lnTo>
                <a:lnTo>
                  <a:pt x="444246" y="89788"/>
                </a:lnTo>
                <a:lnTo>
                  <a:pt x="445007" y="87502"/>
                </a:lnTo>
                <a:lnTo>
                  <a:pt x="445007" y="78358"/>
                </a:lnTo>
                <a:lnTo>
                  <a:pt x="363854" y="78358"/>
                </a:lnTo>
                <a:lnTo>
                  <a:pt x="363981" y="73786"/>
                </a:lnTo>
                <a:lnTo>
                  <a:pt x="364871" y="69468"/>
                </a:lnTo>
                <a:lnTo>
                  <a:pt x="367665" y="61086"/>
                </a:lnTo>
                <a:lnTo>
                  <a:pt x="369570" y="57403"/>
                </a:lnTo>
                <a:lnTo>
                  <a:pt x="372236" y="54355"/>
                </a:lnTo>
                <a:lnTo>
                  <a:pt x="374776" y="51180"/>
                </a:lnTo>
                <a:lnTo>
                  <a:pt x="377951" y="48640"/>
                </a:lnTo>
                <a:lnTo>
                  <a:pt x="381761" y="46862"/>
                </a:lnTo>
                <a:lnTo>
                  <a:pt x="385572" y="44957"/>
                </a:lnTo>
                <a:lnTo>
                  <a:pt x="390017" y="43941"/>
                </a:lnTo>
                <a:lnTo>
                  <a:pt x="433897" y="43941"/>
                </a:lnTo>
                <a:lnTo>
                  <a:pt x="429641" y="38734"/>
                </a:lnTo>
                <a:lnTo>
                  <a:pt x="424560" y="35051"/>
                </a:lnTo>
                <a:lnTo>
                  <a:pt x="412242" y="29463"/>
                </a:lnTo>
                <a:lnTo>
                  <a:pt x="404875" y="28066"/>
                </a:lnTo>
                <a:close/>
              </a:path>
              <a:path w="445134" h="193039">
                <a:moveTo>
                  <a:pt x="437515" y="125221"/>
                </a:moveTo>
                <a:lnTo>
                  <a:pt x="435991" y="125221"/>
                </a:lnTo>
                <a:lnTo>
                  <a:pt x="434467" y="125729"/>
                </a:lnTo>
                <a:lnTo>
                  <a:pt x="432561" y="126491"/>
                </a:lnTo>
                <a:lnTo>
                  <a:pt x="430656" y="127380"/>
                </a:lnTo>
                <a:lnTo>
                  <a:pt x="428117" y="128396"/>
                </a:lnTo>
                <a:lnTo>
                  <a:pt x="425069" y="129412"/>
                </a:lnTo>
                <a:lnTo>
                  <a:pt x="422148" y="130555"/>
                </a:lnTo>
                <a:lnTo>
                  <a:pt x="418592" y="131444"/>
                </a:lnTo>
                <a:lnTo>
                  <a:pt x="410209" y="133222"/>
                </a:lnTo>
                <a:lnTo>
                  <a:pt x="405510" y="133603"/>
                </a:lnTo>
                <a:lnTo>
                  <a:pt x="440308" y="133603"/>
                </a:lnTo>
                <a:lnTo>
                  <a:pt x="440181" y="129412"/>
                </a:lnTo>
                <a:lnTo>
                  <a:pt x="440054" y="128396"/>
                </a:lnTo>
                <a:lnTo>
                  <a:pt x="439800" y="127507"/>
                </a:lnTo>
                <a:lnTo>
                  <a:pt x="439547" y="126999"/>
                </a:lnTo>
                <a:lnTo>
                  <a:pt x="439293" y="126364"/>
                </a:lnTo>
                <a:lnTo>
                  <a:pt x="439039" y="125983"/>
                </a:lnTo>
                <a:lnTo>
                  <a:pt x="438530" y="125729"/>
                </a:lnTo>
                <a:lnTo>
                  <a:pt x="438023" y="125348"/>
                </a:lnTo>
                <a:lnTo>
                  <a:pt x="437515" y="125221"/>
                </a:lnTo>
                <a:close/>
              </a:path>
              <a:path w="445134" h="193039">
                <a:moveTo>
                  <a:pt x="433897" y="43941"/>
                </a:moveTo>
                <a:lnTo>
                  <a:pt x="404875" y="43941"/>
                </a:lnTo>
                <a:lnTo>
                  <a:pt x="412369" y="46989"/>
                </a:lnTo>
                <a:lnTo>
                  <a:pt x="417322" y="53085"/>
                </a:lnTo>
                <a:lnTo>
                  <a:pt x="420631" y="58088"/>
                </a:lnTo>
                <a:lnTo>
                  <a:pt x="422941" y="63960"/>
                </a:lnTo>
                <a:lnTo>
                  <a:pt x="424251" y="70713"/>
                </a:lnTo>
                <a:lnTo>
                  <a:pt x="424560" y="78358"/>
                </a:lnTo>
                <a:lnTo>
                  <a:pt x="445007" y="78358"/>
                </a:lnTo>
                <a:lnTo>
                  <a:pt x="445007" y="73405"/>
                </a:lnTo>
                <a:lnTo>
                  <a:pt x="444119" y="66547"/>
                </a:lnTo>
                <a:lnTo>
                  <a:pt x="442214" y="60197"/>
                </a:lnTo>
                <a:lnTo>
                  <a:pt x="440435" y="53847"/>
                </a:lnTo>
                <a:lnTo>
                  <a:pt x="437515" y="48259"/>
                </a:lnTo>
                <a:lnTo>
                  <a:pt x="433897" y="43941"/>
                </a:lnTo>
                <a:close/>
              </a:path>
            </a:pathLst>
          </a:custGeom>
          <a:solidFill>
            <a:srgbClr val="000000">
              <a:alpha val="79998"/>
            </a:srgbClr>
          </a:solidFill>
        </p:spPr>
        <p:txBody>
          <a:bodyPr wrap="square" lIns="0" tIns="0" rIns="0" bIns="0" rtlCol="0"/>
          <a:lstStyle/>
          <a:p>
            <a:endParaRPr/>
          </a:p>
        </p:txBody>
      </p:sp>
      <p:grpSp>
        <p:nvGrpSpPr>
          <p:cNvPr id="60" name="object 60"/>
          <p:cNvGrpSpPr/>
          <p:nvPr/>
        </p:nvGrpSpPr>
        <p:grpSpPr>
          <a:xfrm>
            <a:off x="5852921" y="4171823"/>
            <a:ext cx="1047750" cy="175895"/>
            <a:chOff x="7803895" y="4171822"/>
            <a:chExt cx="1397000" cy="175895"/>
          </a:xfrm>
        </p:grpSpPr>
        <p:pic>
          <p:nvPicPr>
            <p:cNvPr id="61" name="object 61"/>
            <p:cNvPicPr/>
            <p:nvPr/>
          </p:nvPicPr>
          <p:blipFill>
            <a:blip r:embed="rId37" cstate="print"/>
            <a:stretch>
              <a:fillRect/>
            </a:stretch>
          </p:blipFill>
          <p:spPr>
            <a:xfrm>
              <a:off x="7803895" y="4171822"/>
              <a:ext cx="1335024" cy="175387"/>
            </a:xfrm>
            <a:prstGeom prst="rect">
              <a:avLst/>
            </a:prstGeom>
          </p:spPr>
        </p:pic>
        <p:sp>
          <p:nvSpPr>
            <p:cNvPr id="62" name="object 62"/>
            <p:cNvSpPr/>
            <p:nvPr/>
          </p:nvSpPr>
          <p:spPr>
            <a:xfrm>
              <a:off x="9173844" y="4317110"/>
              <a:ext cx="26670" cy="29209"/>
            </a:xfrm>
            <a:custGeom>
              <a:avLst/>
              <a:gdLst/>
              <a:ahLst/>
              <a:cxnLst/>
              <a:rect l="l" t="t" r="r" b="b"/>
              <a:pathLst>
                <a:path w="26670" h="29210">
                  <a:moveTo>
                    <a:pt x="18414" y="0"/>
                  </a:moveTo>
                  <a:lnTo>
                    <a:pt x="8381" y="0"/>
                  </a:lnTo>
                  <a:lnTo>
                    <a:pt x="4825" y="1015"/>
                  </a:lnTo>
                  <a:lnTo>
                    <a:pt x="1015" y="4825"/>
                  </a:lnTo>
                  <a:lnTo>
                    <a:pt x="0" y="8762"/>
                  </a:lnTo>
                  <a:lnTo>
                    <a:pt x="0" y="20319"/>
                  </a:lnTo>
                  <a:lnTo>
                    <a:pt x="1015" y="24130"/>
                  </a:lnTo>
                  <a:lnTo>
                    <a:pt x="2921" y="26034"/>
                  </a:lnTo>
                  <a:lnTo>
                    <a:pt x="4825" y="27812"/>
                  </a:lnTo>
                  <a:lnTo>
                    <a:pt x="8127" y="28828"/>
                  </a:lnTo>
                  <a:lnTo>
                    <a:pt x="18287" y="28828"/>
                  </a:lnTo>
                  <a:lnTo>
                    <a:pt x="21716" y="27812"/>
                  </a:lnTo>
                  <a:lnTo>
                    <a:pt x="23622" y="25907"/>
                  </a:lnTo>
                  <a:lnTo>
                    <a:pt x="25653" y="24002"/>
                  </a:lnTo>
                  <a:lnTo>
                    <a:pt x="26543" y="20065"/>
                  </a:lnTo>
                  <a:lnTo>
                    <a:pt x="26543" y="14224"/>
                  </a:lnTo>
                  <a:lnTo>
                    <a:pt x="26543" y="8508"/>
                  </a:lnTo>
                  <a:lnTo>
                    <a:pt x="25653" y="4825"/>
                  </a:lnTo>
                  <a:lnTo>
                    <a:pt x="21844" y="1015"/>
                  </a:lnTo>
                  <a:lnTo>
                    <a:pt x="18414" y="0"/>
                  </a:lnTo>
                  <a:close/>
                </a:path>
              </a:pathLst>
            </a:custGeom>
            <a:solidFill>
              <a:srgbClr val="000000">
                <a:alpha val="79998"/>
              </a:srgbClr>
            </a:solidFill>
          </p:spPr>
          <p:txBody>
            <a:bodyPr wrap="square" lIns="0" tIns="0" rIns="0" bIns="0" rtlCol="0"/>
            <a:lstStyle/>
            <a:p>
              <a:endParaRPr/>
            </a:p>
          </p:txBody>
        </p:sp>
      </p:grpSp>
      <p:pic>
        <p:nvPicPr>
          <p:cNvPr id="63" name="object 63"/>
          <p:cNvPicPr/>
          <p:nvPr/>
        </p:nvPicPr>
        <p:blipFill>
          <a:blip r:embed="rId38" cstate="print"/>
          <a:stretch>
            <a:fillRect/>
          </a:stretch>
        </p:blipFill>
        <p:spPr>
          <a:xfrm>
            <a:off x="8680132" y="3597655"/>
            <a:ext cx="19050" cy="3260340"/>
          </a:xfrm>
          <a:prstGeom prst="rect">
            <a:avLst/>
          </a:prstGeom>
        </p:spPr>
      </p:pic>
    </p:spTree>
    <p:extLst>
      <p:ext uri="{BB962C8B-B14F-4D97-AF65-F5344CB8AC3E}">
        <p14:creationId xmlns:p14="http://schemas.microsoft.com/office/powerpoint/2010/main" val="2094254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4" y="8"/>
            <a:ext cx="9144000" cy="6857365"/>
            <a:chOff x="19" y="7"/>
            <a:chExt cx="12192000" cy="6857365"/>
          </a:xfrm>
        </p:grpSpPr>
        <p:pic>
          <p:nvPicPr>
            <p:cNvPr id="3" name="object 3"/>
            <p:cNvPicPr/>
            <p:nvPr/>
          </p:nvPicPr>
          <p:blipFill>
            <a:blip r:embed="rId2" cstate="print"/>
            <a:stretch>
              <a:fillRect/>
            </a:stretch>
          </p:blipFill>
          <p:spPr>
            <a:xfrm>
              <a:off x="19" y="7"/>
              <a:ext cx="12191980" cy="6857365"/>
            </a:xfrm>
            <a:prstGeom prst="rect">
              <a:avLst/>
            </a:prstGeom>
          </p:spPr>
        </p:pic>
        <p:sp>
          <p:nvSpPr>
            <p:cNvPr id="4" name="object 4"/>
            <p:cNvSpPr/>
            <p:nvPr/>
          </p:nvSpPr>
          <p:spPr>
            <a:xfrm>
              <a:off x="336880" y="384810"/>
              <a:ext cx="7134859" cy="5769610"/>
            </a:xfrm>
            <a:custGeom>
              <a:avLst/>
              <a:gdLst/>
              <a:ahLst/>
              <a:cxnLst/>
              <a:rect l="l" t="t" r="r" b="b"/>
              <a:pathLst>
                <a:path w="7134859" h="5769610">
                  <a:moveTo>
                    <a:pt x="0" y="5769610"/>
                  </a:moveTo>
                  <a:lnTo>
                    <a:pt x="7134275" y="5769610"/>
                  </a:lnTo>
                  <a:lnTo>
                    <a:pt x="7134275" y="0"/>
                  </a:lnTo>
                  <a:lnTo>
                    <a:pt x="0" y="0"/>
                  </a:lnTo>
                  <a:lnTo>
                    <a:pt x="0" y="5769610"/>
                  </a:lnTo>
                  <a:close/>
                </a:path>
              </a:pathLst>
            </a:custGeom>
            <a:solidFill>
              <a:srgbClr val="FFFFFF">
                <a:alpha val="90194"/>
              </a:srgbClr>
            </a:solidFill>
          </p:spPr>
          <p:txBody>
            <a:bodyPr wrap="square" lIns="0" tIns="0" rIns="0" bIns="0" rtlCol="0"/>
            <a:lstStyle/>
            <a:p>
              <a:endParaRPr/>
            </a:p>
          </p:txBody>
        </p:sp>
        <p:sp>
          <p:nvSpPr>
            <p:cNvPr id="5" name="object 5"/>
            <p:cNvSpPr/>
            <p:nvPr/>
          </p:nvSpPr>
          <p:spPr>
            <a:xfrm>
              <a:off x="273380" y="257809"/>
              <a:ext cx="7325359" cy="6023610"/>
            </a:xfrm>
            <a:custGeom>
              <a:avLst/>
              <a:gdLst/>
              <a:ahLst/>
              <a:cxnLst/>
              <a:rect l="l" t="t" r="r" b="b"/>
              <a:pathLst>
                <a:path w="7325359" h="6023610">
                  <a:moveTo>
                    <a:pt x="7273976" y="50800"/>
                  </a:moveTo>
                  <a:lnTo>
                    <a:pt x="7197776" y="50800"/>
                  </a:lnTo>
                  <a:lnTo>
                    <a:pt x="7197776" y="127000"/>
                  </a:lnTo>
                  <a:lnTo>
                    <a:pt x="7197776" y="5896610"/>
                  </a:lnTo>
                  <a:lnTo>
                    <a:pt x="127000" y="5896610"/>
                  </a:lnTo>
                  <a:lnTo>
                    <a:pt x="127000" y="127000"/>
                  </a:lnTo>
                  <a:lnTo>
                    <a:pt x="7197776" y="127000"/>
                  </a:lnTo>
                  <a:lnTo>
                    <a:pt x="7197776" y="50800"/>
                  </a:lnTo>
                  <a:lnTo>
                    <a:pt x="50800" y="50800"/>
                  </a:lnTo>
                  <a:lnTo>
                    <a:pt x="50800" y="127000"/>
                  </a:lnTo>
                  <a:lnTo>
                    <a:pt x="50800" y="5896610"/>
                  </a:lnTo>
                  <a:lnTo>
                    <a:pt x="50800" y="5972810"/>
                  </a:lnTo>
                  <a:lnTo>
                    <a:pt x="7273976" y="5972810"/>
                  </a:lnTo>
                  <a:lnTo>
                    <a:pt x="7273976" y="5896622"/>
                  </a:lnTo>
                  <a:lnTo>
                    <a:pt x="7273976" y="127000"/>
                  </a:lnTo>
                  <a:lnTo>
                    <a:pt x="7273976" y="126873"/>
                  </a:lnTo>
                  <a:lnTo>
                    <a:pt x="7273976" y="50800"/>
                  </a:lnTo>
                  <a:close/>
                </a:path>
                <a:path w="7325359" h="6023610">
                  <a:moveTo>
                    <a:pt x="7324776" y="0"/>
                  </a:moveTo>
                  <a:lnTo>
                    <a:pt x="7299376" y="0"/>
                  </a:lnTo>
                  <a:lnTo>
                    <a:pt x="7299376" y="25400"/>
                  </a:lnTo>
                  <a:lnTo>
                    <a:pt x="7299376" y="5998210"/>
                  </a:lnTo>
                  <a:lnTo>
                    <a:pt x="25400" y="5998210"/>
                  </a:lnTo>
                  <a:lnTo>
                    <a:pt x="25400" y="25400"/>
                  </a:lnTo>
                  <a:lnTo>
                    <a:pt x="7299376" y="25400"/>
                  </a:lnTo>
                  <a:lnTo>
                    <a:pt x="7299376" y="0"/>
                  </a:lnTo>
                  <a:lnTo>
                    <a:pt x="0" y="0"/>
                  </a:lnTo>
                  <a:lnTo>
                    <a:pt x="0" y="25400"/>
                  </a:lnTo>
                  <a:lnTo>
                    <a:pt x="0" y="5998210"/>
                  </a:lnTo>
                  <a:lnTo>
                    <a:pt x="0" y="6023610"/>
                  </a:lnTo>
                  <a:lnTo>
                    <a:pt x="7324776" y="6023610"/>
                  </a:lnTo>
                  <a:lnTo>
                    <a:pt x="7324776" y="5998222"/>
                  </a:lnTo>
                  <a:lnTo>
                    <a:pt x="7324776" y="25400"/>
                  </a:lnTo>
                  <a:lnTo>
                    <a:pt x="7324776" y="25273"/>
                  </a:lnTo>
                  <a:lnTo>
                    <a:pt x="7324776" y="0"/>
                  </a:lnTo>
                  <a:close/>
                </a:path>
              </a:pathLst>
            </a:custGeom>
            <a:solidFill>
              <a:srgbClr val="FFFFFF"/>
            </a:solidFill>
          </p:spPr>
          <p:txBody>
            <a:bodyPr wrap="square" lIns="0" tIns="0" rIns="0" bIns="0" rtlCol="0"/>
            <a:lstStyle/>
            <a:p>
              <a:endParaRPr/>
            </a:p>
          </p:txBody>
        </p:sp>
      </p:grpSp>
      <p:sp>
        <p:nvSpPr>
          <p:cNvPr id="6" name="object 6"/>
          <p:cNvSpPr txBox="1">
            <a:spLocks noGrp="1"/>
          </p:cNvSpPr>
          <p:nvPr>
            <p:ph type="title"/>
          </p:nvPr>
        </p:nvSpPr>
        <p:spPr>
          <a:xfrm>
            <a:off x="505282" y="627468"/>
            <a:ext cx="3551873" cy="1245213"/>
          </a:xfrm>
          <a:prstGeom prst="rect">
            <a:avLst/>
          </a:prstGeom>
        </p:spPr>
        <p:txBody>
          <a:bodyPr vert="horz" wrap="square" lIns="0" tIns="13970" rIns="0" bIns="0" rtlCol="0">
            <a:spAutoFit/>
          </a:bodyPr>
          <a:lstStyle/>
          <a:p>
            <a:pPr marL="12700">
              <a:lnSpc>
                <a:spcPct val="100000"/>
              </a:lnSpc>
              <a:spcBef>
                <a:spcPts val="110"/>
              </a:spcBef>
            </a:pPr>
            <a:r>
              <a:rPr sz="4000" dirty="0">
                <a:solidFill>
                  <a:srgbClr val="000000"/>
                </a:solidFill>
                <a:latin typeface="Calibri Light"/>
                <a:cs typeface="Calibri Light"/>
              </a:rPr>
              <a:t>Things</a:t>
            </a:r>
            <a:r>
              <a:rPr sz="4000" spc="-60" dirty="0">
                <a:solidFill>
                  <a:srgbClr val="000000"/>
                </a:solidFill>
                <a:latin typeface="Calibri Light"/>
                <a:cs typeface="Calibri Light"/>
              </a:rPr>
              <a:t> </a:t>
            </a:r>
            <a:r>
              <a:rPr sz="4000" spc="-25" dirty="0">
                <a:solidFill>
                  <a:srgbClr val="000000"/>
                </a:solidFill>
                <a:latin typeface="Calibri Light"/>
                <a:cs typeface="Calibri Light"/>
              </a:rPr>
              <a:t>to</a:t>
            </a:r>
            <a:r>
              <a:rPr sz="4000" spc="-35" dirty="0">
                <a:solidFill>
                  <a:srgbClr val="000000"/>
                </a:solidFill>
                <a:latin typeface="Calibri Light"/>
                <a:cs typeface="Calibri Light"/>
              </a:rPr>
              <a:t> </a:t>
            </a:r>
            <a:r>
              <a:rPr sz="4000" spc="5" dirty="0">
                <a:solidFill>
                  <a:srgbClr val="000000"/>
                </a:solidFill>
                <a:latin typeface="Calibri Light"/>
                <a:cs typeface="Calibri Light"/>
              </a:rPr>
              <a:t>be</a:t>
            </a:r>
            <a:r>
              <a:rPr sz="4000" spc="-20" dirty="0">
                <a:solidFill>
                  <a:srgbClr val="000000"/>
                </a:solidFill>
                <a:latin typeface="Calibri Light"/>
                <a:cs typeface="Calibri Light"/>
              </a:rPr>
              <a:t> </a:t>
            </a:r>
            <a:r>
              <a:rPr sz="4000" spc="-35" dirty="0">
                <a:solidFill>
                  <a:srgbClr val="000000"/>
                </a:solidFill>
                <a:latin typeface="Calibri Light"/>
                <a:cs typeface="Calibri Light"/>
              </a:rPr>
              <a:t>taken</a:t>
            </a:r>
            <a:r>
              <a:rPr sz="4000" spc="-75" dirty="0">
                <a:solidFill>
                  <a:srgbClr val="000000"/>
                </a:solidFill>
                <a:latin typeface="Calibri Light"/>
                <a:cs typeface="Calibri Light"/>
              </a:rPr>
              <a:t> </a:t>
            </a:r>
            <a:r>
              <a:rPr sz="4000" spc="-20" dirty="0">
                <a:solidFill>
                  <a:srgbClr val="000000"/>
                </a:solidFill>
                <a:latin typeface="Calibri Light"/>
                <a:cs typeface="Calibri Light"/>
              </a:rPr>
              <a:t>care</a:t>
            </a:r>
            <a:endParaRPr sz="4000">
              <a:latin typeface="Calibri Light"/>
              <a:cs typeface="Calibri Light"/>
            </a:endParaRPr>
          </a:p>
        </p:txBody>
      </p:sp>
      <p:grpSp>
        <p:nvGrpSpPr>
          <p:cNvPr id="7" name="object 7"/>
          <p:cNvGrpSpPr/>
          <p:nvPr/>
        </p:nvGrpSpPr>
        <p:grpSpPr>
          <a:xfrm>
            <a:off x="440817" y="2213355"/>
            <a:ext cx="4974907" cy="3590290"/>
            <a:chOff x="587755" y="2213355"/>
            <a:chExt cx="6633209" cy="3590290"/>
          </a:xfrm>
        </p:grpSpPr>
        <p:sp>
          <p:nvSpPr>
            <p:cNvPr id="8" name="object 8"/>
            <p:cNvSpPr/>
            <p:nvPr/>
          </p:nvSpPr>
          <p:spPr>
            <a:xfrm>
              <a:off x="594105" y="2219705"/>
              <a:ext cx="6620509" cy="676275"/>
            </a:xfrm>
            <a:custGeom>
              <a:avLst/>
              <a:gdLst/>
              <a:ahLst/>
              <a:cxnLst/>
              <a:rect l="l" t="t" r="r" b="b"/>
              <a:pathLst>
                <a:path w="6620509" h="676275">
                  <a:moveTo>
                    <a:pt x="6507734" y="0"/>
                  </a:moveTo>
                  <a:lnTo>
                    <a:pt x="112712" y="0"/>
                  </a:lnTo>
                  <a:lnTo>
                    <a:pt x="68842" y="8850"/>
                  </a:lnTo>
                  <a:lnTo>
                    <a:pt x="33015" y="32988"/>
                  </a:lnTo>
                  <a:lnTo>
                    <a:pt x="8858" y="68794"/>
                  </a:lnTo>
                  <a:lnTo>
                    <a:pt x="0" y="112649"/>
                  </a:lnTo>
                  <a:lnTo>
                    <a:pt x="0" y="563499"/>
                  </a:lnTo>
                  <a:lnTo>
                    <a:pt x="8858" y="607373"/>
                  </a:lnTo>
                  <a:lnTo>
                    <a:pt x="33015" y="643223"/>
                  </a:lnTo>
                  <a:lnTo>
                    <a:pt x="68842" y="667404"/>
                  </a:lnTo>
                  <a:lnTo>
                    <a:pt x="112712" y="676275"/>
                  </a:lnTo>
                  <a:lnTo>
                    <a:pt x="6507734" y="676275"/>
                  </a:lnTo>
                  <a:lnTo>
                    <a:pt x="6551662" y="667404"/>
                  </a:lnTo>
                  <a:lnTo>
                    <a:pt x="6587505" y="643223"/>
                  </a:lnTo>
                  <a:lnTo>
                    <a:pt x="6611657" y="607373"/>
                  </a:lnTo>
                  <a:lnTo>
                    <a:pt x="6620510" y="563499"/>
                  </a:lnTo>
                  <a:lnTo>
                    <a:pt x="6620510" y="112649"/>
                  </a:lnTo>
                  <a:lnTo>
                    <a:pt x="6611657" y="68794"/>
                  </a:lnTo>
                  <a:lnTo>
                    <a:pt x="6587505" y="32988"/>
                  </a:lnTo>
                  <a:lnTo>
                    <a:pt x="6551662" y="8850"/>
                  </a:lnTo>
                  <a:lnTo>
                    <a:pt x="6507734" y="0"/>
                  </a:lnTo>
                  <a:close/>
                </a:path>
              </a:pathLst>
            </a:custGeom>
            <a:solidFill>
              <a:srgbClr val="5B9BD4"/>
            </a:solidFill>
          </p:spPr>
          <p:txBody>
            <a:bodyPr wrap="square" lIns="0" tIns="0" rIns="0" bIns="0" rtlCol="0"/>
            <a:lstStyle/>
            <a:p>
              <a:endParaRPr/>
            </a:p>
          </p:txBody>
        </p:sp>
        <p:sp>
          <p:nvSpPr>
            <p:cNvPr id="9" name="object 9"/>
            <p:cNvSpPr/>
            <p:nvPr/>
          </p:nvSpPr>
          <p:spPr>
            <a:xfrm>
              <a:off x="594105" y="2219705"/>
              <a:ext cx="6620509" cy="676275"/>
            </a:xfrm>
            <a:custGeom>
              <a:avLst/>
              <a:gdLst/>
              <a:ahLst/>
              <a:cxnLst/>
              <a:rect l="l" t="t" r="r" b="b"/>
              <a:pathLst>
                <a:path w="6620509" h="676275">
                  <a:moveTo>
                    <a:pt x="0" y="112649"/>
                  </a:moveTo>
                  <a:lnTo>
                    <a:pt x="8858" y="68794"/>
                  </a:lnTo>
                  <a:lnTo>
                    <a:pt x="33015" y="32988"/>
                  </a:lnTo>
                  <a:lnTo>
                    <a:pt x="68842" y="8850"/>
                  </a:lnTo>
                  <a:lnTo>
                    <a:pt x="112712" y="0"/>
                  </a:lnTo>
                  <a:lnTo>
                    <a:pt x="6507734" y="0"/>
                  </a:lnTo>
                  <a:lnTo>
                    <a:pt x="6551662" y="8850"/>
                  </a:lnTo>
                  <a:lnTo>
                    <a:pt x="6587505" y="32988"/>
                  </a:lnTo>
                  <a:lnTo>
                    <a:pt x="6611657" y="68794"/>
                  </a:lnTo>
                  <a:lnTo>
                    <a:pt x="6620510" y="112649"/>
                  </a:lnTo>
                  <a:lnTo>
                    <a:pt x="6620510" y="563499"/>
                  </a:lnTo>
                  <a:lnTo>
                    <a:pt x="6611657" y="607373"/>
                  </a:lnTo>
                  <a:lnTo>
                    <a:pt x="6587505" y="643223"/>
                  </a:lnTo>
                  <a:lnTo>
                    <a:pt x="6551662" y="667404"/>
                  </a:lnTo>
                  <a:lnTo>
                    <a:pt x="6507734" y="676275"/>
                  </a:lnTo>
                  <a:lnTo>
                    <a:pt x="112712" y="676275"/>
                  </a:lnTo>
                  <a:lnTo>
                    <a:pt x="68842" y="667404"/>
                  </a:lnTo>
                  <a:lnTo>
                    <a:pt x="33015" y="643223"/>
                  </a:lnTo>
                  <a:lnTo>
                    <a:pt x="8858" y="607373"/>
                  </a:lnTo>
                  <a:lnTo>
                    <a:pt x="0" y="563499"/>
                  </a:lnTo>
                  <a:lnTo>
                    <a:pt x="0" y="112649"/>
                  </a:lnTo>
                  <a:close/>
                </a:path>
              </a:pathLst>
            </a:custGeom>
            <a:ln w="12700">
              <a:solidFill>
                <a:srgbClr val="FFFFFF"/>
              </a:solidFill>
            </a:ln>
          </p:spPr>
          <p:txBody>
            <a:bodyPr wrap="square" lIns="0" tIns="0" rIns="0" bIns="0" rtlCol="0"/>
            <a:lstStyle/>
            <a:p>
              <a:endParaRPr/>
            </a:p>
          </p:txBody>
        </p:sp>
        <p:sp>
          <p:nvSpPr>
            <p:cNvPr id="10" name="object 10"/>
            <p:cNvSpPr/>
            <p:nvPr/>
          </p:nvSpPr>
          <p:spPr>
            <a:xfrm>
              <a:off x="594105" y="2944875"/>
              <a:ext cx="6620509" cy="676275"/>
            </a:xfrm>
            <a:custGeom>
              <a:avLst/>
              <a:gdLst/>
              <a:ahLst/>
              <a:cxnLst/>
              <a:rect l="l" t="t" r="r" b="b"/>
              <a:pathLst>
                <a:path w="6620509" h="676275">
                  <a:moveTo>
                    <a:pt x="6507734" y="0"/>
                  </a:moveTo>
                  <a:lnTo>
                    <a:pt x="112712" y="0"/>
                  </a:lnTo>
                  <a:lnTo>
                    <a:pt x="68842" y="8870"/>
                  </a:lnTo>
                  <a:lnTo>
                    <a:pt x="33015" y="33051"/>
                  </a:lnTo>
                  <a:lnTo>
                    <a:pt x="8858" y="68901"/>
                  </a:lnTo>
                  <a:lnTo>
                    <a:pt x="0" y="112775"/>
                  </a:lnTo>
                  <a:lnTo>
                    <a:pt x="0" y="563626"/>
                  </a:lnTo>
                  <a:lnTo>
                    <a:pt x="8858" y="607480"/>
                  </a:lnTo>
                  <a:lnTo>
                    <a:pt x="33015" y="643286"/>
                  </a:lnTo>
                  <a:lnTo>
                    <a:pt x="68842" y="667424"/>
                  </a:lnTo>
                  <a:lnTo>
                    <a:pt x="112712" y="676275"/>
                  </a:lnTo>
                  <a:lnTo>
                    <a:pt x="6507734" y="676275"/>
                  </a:lnTo>
                  <a:lnTo>
                    <a:pt x="6551662" y="667424"/>
                  </a:lnTo>
                  <a:lnTo>
                    <a:pt x="6587505" y="643286"/>
                  </a:lnTo>
                  <a:lnTo>
                    <a:pt x="6611657" y="607480"/>
                  </a:lnTo>
                  <a:lnTo>
                    <a:pt x="6620510" y="563626"/>
                  </a:lnTo>
                  <a:lnTo>
                    <a:pt x="6620510" y="112775"/>
                  </a:lnTo>
                  <a:lnTo>
                    <a:pt x="6611657" y="68901"/>
                  </a:lnTo>
                  <a:lnTo>
                    <a:pt x="6587505" y="33051"/>
                  </a:lnTo>
                  <a:lnTo>
                    <a:pt x="6551662" y="8870"/>
                  </a:lnTo>
                  <a:lnTo>
                    <a:pt x="6507734" y="0"/>
                  </a:lnTo>
                  <a:close/>
                </a:path>
              </a:pathLst>
            </a:custGeom>
            <a:solidFill>
              <a:srgbClr val="53CCCD"/>
            </a:solidFill>
          </p:spPr>
          <p:txBody>
            <a:bodyPr wrap="square" lIns="0" tIns="0" rIns="0" bIns="0" rtlCol="0"/>
            <a:lstStyle/>
            <a:p>
              <a:endParaRPr/>
            </a:p>
          </p:txBody>
        </p:sp>
        <p:sp>
          <p:nvSpPr>
            <p:cNvPr id="11" name="object 11"/>
            <p:cNvSpPr/>
            <p:nvPr/>
          </p:nvSpPr>
          <p:spPr>
            <a:xfrm>
              <a:off x="594105" y="2944875"/>
              <a:ext cx="6620509" cy="676275"/>
            </a:xfrm>
            <a:custGeom>
              <a:avLst/>
              <a:gdLst/>
              <a:ahLst/>
              <a:cxnLst/>
              <a:rect l="l" t="t" r="r" b="b"/>
              <a:pathLst>
                <a:path w="6620509" h="676275">
                  <a:moveTo>
                    <a:pt x="0" y="112775"/>
                  </a:moveTo>
                  <a:lnTo>
                    <a:pt x="8858" y="68901"/>
                  </a:lnTo>
                  <a:lnTo>
                    <a:pt x="33015" y="33051"/>
                  </a:lnTo>
                  <a:lnTo>
                    <a:pt x="68842" y="8870"/>
                  </a:lnTo>
                  <a:lnTo>
                    <a:pt x="112712" y="0"/>
                  </a:lnTo>
                  <a:lnTo>
                    <a:pt x="6507734" y="0"/>
                  </a:lnTo>
                  <a:lnTo>
                    <a:pt x="6551662" y="8870"/>
                  </a:lnTo>
                  <a:lnTo>
                    <a:pt x="6587505" y="33051"/>
                  </a:lnTo>
                  <a:lnTo>
                    <a:pt x="6611657" y="68901"/>
                  </a:lnTo>
                  <a:lnTo>
                    <a:pt x="6620510" y="112775"/>
                  </a:lnTo>
                  <a:lnTo>
                    <a:pt x="6620510" y="563626"/>
                  </a:lnTo>
                  <a:lnTo>
                    <a:pt x="6611657" y="607480"/>
                  </a:lnTo>
                  <a:lnTo>
                    <a:pt x="6587505" y="643286"/>
                  </a:lnTo>
                  <a:lnTo>
                    <a:pt x="6551662" y="667424"/>
                  </a:lnTo>
                  <a:lnTo>
                    <a:pt x="6507734" y="676275"/>
                  </a:lnTo>
                  <a:lnTo>
                    <a:pt x="112712" y="676275"/>
                  </a:lnTo>
                  <a:lnTo>
                    <a:pt x="68842" y="667424"/>
                  </a:lnTo>
                  <a:lnTo>
                    <a:pt x="33015" y="643286"/>
                  </a:lnTo>
                  <a:lnTo>
                    <a:pt x="8858" y="607480"/>
                  </a:lnTo>
                  <a:lnTo>
                    <a:pt x="0" y="563626"/>
                  </a:lnTo>
                  <a:lnTo>
                    <a:pt x="0" y="112775"/>
                  </a:lnTo>
                  <a:close/>
                </a:path>
              </a:pathLst>
            </a:custGeom>
            <a:ln w="12700">
              <a:solidFill>
                <a:srgbClr val="FFFFFF"/>
              </a:solidFill>
            </a:ln>
          </p:spPr>
          <p:txBody>
            <a:bodyPr wrap="square" lIns="0" tIns="0" rIns="0" bIns="0" rtlCol="0"/>
            <a:lstStyle/>
            <a:p>
              <a:endParaRPr/>
            </a:p>
          </p:txBody>
        </p:sp>
        <p:sp>
          <p:nvSpPr>
            <p:cNvPr id="12" name="object 12"/>
            <p:cNvSpPr/>
            <p:nvPr/>
          </p:nvSpPr>
          <p:spPr>
            <a:xfrm>
              <a:off x="594105" y="3670172"/>
              <a:ext cx="6620509" cy="676275"/>
            </a:xfrm>
            <a:custGeom>
              <a:avLst/>
              <a:gdLst/>
              <a:ahLst/>
              <a:cxnLst/>
              <a:rect l="l" t="t" r="r" b="b"/>
              <a:pathLst>
                <a:path w="6620509" h="676275">
                  <a:moveTo>
                    <a:pt x="6507734" y="0"/>
                  </a:moveTo>
                  <a:lnTo>
                    <a:pt x="112712" y="0"/>
                  </a:lnTo>
                  <a:lnTo>
                    <a:pt x="68842" y="8850"/>
                  </a:lnTo>
                  <a:lnTo>
                    <a:pt x="33015" y="32988"/>
                  </a:lnTo>
                  <a:lnTo>
                    <a:pt x="8858" y="68794"/>
                  </a:lnTo>
                  <a:lnTo>
                    <a:pt x="0" y="112649"/>
                  </a:lnTo>
                  <a:lnTo>
                    <a:pt x="0" y="563499"/>
                  </a:lnTo>
                  <a:lnTo>
                    <a:pt x="8858" y="607373"/>
                  </a:lnTo>
                  <a:lnTo>
                    <a:pt x="33015" y="643223"/>
                  </a:lnTo>
                  <a:lnTo>
                    <a:pt x="68842" y="667404"/>
                  </a:lnTo>
                  <a:lnTo>
                    <a:pt x="112712" y="676275"/>
                  </a:lnTo>
                  <a:lnTo>
                    <a:pt x="6507734" y="676275"/>
                  </a:lnTo>
                  <a:lnTo>
                    <a:pt x="6551662" y="667404"/>
                  </a:lnTo>
                  <a:lnTo>
                    <a:pt x="6587505" y="643223"/>
                  </a:lnTo>
                  <a:lnTo>
                    <a:pt x="6611657" y="607373"/>
                  </a:lnTo>
                  <a:lnTo>
                    <a:pt x="6620510" y="563499"/>
                  </a:lnTo>
                  <a:lnTo>
                    <a:pt x="6620510" y="112649"/>
                  </a:lnTo>
                  <a:lnTo>
                    <a:pt x="6611657" y="68794"/>
                  </a:lnTo>
                  <a:lnTo>
                    <a:pt x="6587505" y="32988"/>
                  </a:lnTo>
                  <a:lnTo>
                    <a:pt x="6551662" y="8850"/>
                  </a:lnTo>
                  <a:lnTo>
                    <a:pt x="6507734" y="0"/>
                  </a:lnTo>
                  <a:close/>
                </a:path>
              </a:pathLst>
            </a:custGeom>
            <a:solidFill>
              <a:srgbClr val="4DC58D"/>
            </a:solidFill>
          </p:spPr>
          <p:txBody>
            <a:bodyPr wrap="square" lIns="0" tIns="0" rIns="0" bIns="0" rtlCol="0"/>
            <a:lstStyle/>
            <a:p>
              <a:endParaRPr/>
            </a:p>
          </p:txBody>
        </p:sp>
        <p:sp>
          <p:nvSpPr>
            <p:cNvPr id="13" name="object 13"/>
            <p:cNvSpPr/>
            <p:nvPr/>
          </p:nvSpPr>
          <p:spPr>
            <a:xfrm>
              <a:off x="594105" y="3670172"/>
              <a:ext cx="6620509" cy="676275"/>
            </a:xfrm>
            <a:custGeom>
              <a:avLst/>
              <a:gdLst/>
              <a:ahLst/>
              <a:cxnLst/>
              <a:rect l="l" t="t" r="r" b="b"/>
              <a:pathLst>
                <a:path w="6620509" h="676275">
                  <a:moveTo>
                    <a:pt x="0" y="112649"/>
                  </a:moveTo>
                  <a:lnTo>
                    <a:pt x="8858" y="68794"/>
                  </a:lnTo>
                  <a:lnTo>
                    <a:pt x="33015" y="32988"/>
                  </a:lnTo>
                  <a:lnTo>
                    <a:pt x="68842" y="8850"/>
                  </a:lnTo>
                  <a:lnTo>
                    <a:pt x="112712" y="0"/>
                  </a:lnTo>
                  <a:lnTo>
                    <a:pt x="6507734" y="0"/>
                  </a:lnTo>
                  <a:lnTo>
                    <a:pt x="6551662" y="8850"/>
                  </a:lnTo>
                  <a:lnTo>
                    <a:pt x="6587505" y="32988"/>
                  </a:lnTo>
                  <a:lnTo>
                    <a:pt x="6611657" y="68794"/>
                  </a:lnTo>
                  <a:lnTo>
                    <a:pt x="6620510" y="112649"/>
                  </a:lnTo>
                  <a:lnTo>
                    <a:pt x="6620510" y="563499"/>
                  </a:lnTo>
                  <a:lnTo>
                    <a:pt x="6611657" y="607373"/>
                  </a:lnTo>
                  <a:lnTo>
                    <a:pt x="6587505" y="643223"/>
                  </a:lnTo>
                  <a:lnTo>
                    <a:pt x="6551662" y="667404"/>
                  </a:lnTo>
                  <a:lnTo>
                    <a:pt x="6507734" y="676275"/>
                  </a:lnTo>
                  <a:lnTo>
                    <a:pt x="112712" y="676275"/>
                  </a:lnTo>
                  <a:lnTo>
                    <a:pt x="68842" y="667404"/>
                  </a:lnTo>
                  <a:lnTo>
                    <a:pt x="33015" y="643223"/>
                  </a:lnTo>
                  <a:lnTo>
                    <a:pt x="8858" y="607373"/>
                  </a:lnTo>
                  <a:lnTo>
                    <a:pt x="0" y="563499"/>
                  </a:lnTo>
                  <a:lnTo>
                    <a:pt x="0" y="112649"/>
                  </a:lnTo>
                  <a:close/>
                </a:path>
              </a:pathLst>
            </a:custGeom>
            <a:ln w="12700">
              <a:solidFill>
                <a:srgbClr val="FFFFFF"/>
              </a:solidFill>
            </a:ln>
          </p:spPr>
          <p:txBody>
            <a:bodyPr wrap="square" lIns="0" tIns="0" rIns="0" bIns="0" rtlCol="0"/>
            <a:lstStyle/>
            <a:p>
              <a:endParaRPr/>
            </a:p>
          </p:txBody>
        </p:sp>
        <p:sp>
          <p:nvSpPr>
            <p:cNvPr id="14" name="object 14"/>
            <p:cNvSpPr/>
            <p:nvPr/>
          </p:nvSpPr>
          <p:spPr>
            <a:xfrm>
              <a:off x="594105" y="4395342"/>
              <a:ext cx="6620509" cy="676275"/>
            </a:xfrm>
            <a:custGeom>
              <a:avLst/>
              <a:gdLst/>
              <a:ahLst/>
              <a:cxnLst/>
              <a:rect l="l" t="t" r="r" b="b"/>
              <a:pathLst>
                <a:path w="6620509" h="676275">
                  <a:moveTo>
                    <a:pt x="6507734" y="0"/>
                  </a:moveTo>
                  <a:lnTo>
                    <a:pt x="112712" y="0"/>
                  </a:lnTo>
                  <a:lnTo>
                    <a:pt x="68842" y="8852"/>
                  </a:lnTo>
                  <a:lnTo>
                    <a:pt x="33015" y="33004"/>
                  </a:lnTo>
                  <a:lnTo>
                    <a:pt x="8858" y="68847"/>
                  </a:lnTo>
                  <a:lnTo>
                    <a:pt x="0" y="112775"/>
                  </a:lnTo>
                  <a:lnTo>
                    <a:pt x="0" y="563498"/>
                  </a:lnTo>
                  <a:lnTo>
                    <a:pt x="8858" y="607427"/>
                  </a:lnTo>
                  <a:lnTo>
                    <a:pt x="33015" y="643270"/>
                  </a:lnTo>
                  <a:lnTo>
                    <a:pt x="68842" y="667422"/>
                  </a:lnTo>
                  <a:lnTo>
                    <a:pt x="112712" y="676274"/>
                  </a:lnTo>
                  <a:lnTo>
                    <a:pt x="6507734" y="676274"/>
                  </a:lnTo>
                  <a:lnTo>
                    <a:pt x="6551662" y="667422"/>
                  </a:lnTo>
                  <a:lnTo>
                    <a:pt x="6587505" y="643270"/>
                  </a:lnTo>
                  <a:lnTo>
                    <a:pt x="6611657" y="607427"/>
                  </a:lnTo>
                  <a:lnTo>
                    <a:pt x="6620510" y="563498"/>
                  </a:lnTo>
                  <a:lnTo>
                    <a:pt x="6620510" y="112775"/>
                  </a:lnTo>
                  <a:lnTo>
                    <a:pt x="6611657" y="68847"/>
                  </a:lnTo>
                  <a:lnTo>
                    <a:pt x="6587505" y="33004"/>
                  </a:lnTo>
                  <a:lnTo>
                    <a:pt x="6551662" y="8852"/>
                  </a:lnTo>
                  <a:lnTo>
                    <a:pt x="6507734" y="0"/>
                  </a:lnTo>
                  <a:close/>
                </a:path>
              </a:pathLst>
            </a:custGeom>
            <a:solidFill>
              <a:srgbClr val="47BA4F"/>
            </a:solidFill>
          </p:spPr>
          <p:txBody>
            <a:bodyPr wrap="square" lIns="0" tIns="0" rIns="0" bIns="0" rtlCol="0"/>
            <a:lstStyle/>
            <a:p>
              <a:endParaRPr/>
            </a:p>
          </p:txBody>
        </p:sp>
        <p:sp>
          <p:nvSpPr>
            <p:cNvPr id="15" name="object 15"/>
            <p:cNvSpPr/>
            <p:nvPr/>
          </p:nvSpPr>
          <p:spPr>
            <a:xfrm>
              <a:off x="594105" y="4395342"/>
              <a:ext cx="6620509" cy="676275"/>
            </a:xfrm>
            <a:custGeom>
              <a:avLst/>
              <a:gdLst/>
              <a:ahLst/>
              <a:cxnLst/>
              <a:rect l="l" t="t" r="r" b="b"/>
              <a:pathLst>
                <a:path w="6620509" h="676275">
                  <a:moveTo>
                    <a:pt x="0" y="112775"/>
                  </a:moveTo>
                  <a:lnTo>
                    <a:pt x="8858" y="68847"/>
                  </a:lnTo>
                  <a:lnTo>
                    <a:pt x="33015" y="33004"/>
                  </a:lnTo>
                  <a:lnTo>
                    <a:pt x="68842" y="8852"/>
                  </a:lnTo>
                  <a:lnTo>
                    <a:pt x="112712" y="0"/>
                  </a:lnTo>
                  <a:lnTo>
                    <a:pt x="6507734" y="0"/>
                  </a:lnTo>
                  <a:lnTo>
                    <a:pt x="6551662" y="8852"/>
                  </a:lnTo>
                  <a:lnTo>
                    <a:pt x="6587505" y="33004"/>
                  </a:lnTo>
                  <a:lnTo>
                    <a:pt x="6611657" y="68847"/>
                  </a:lnTo>
                  <a:lnTo>
                    <a:pt x="6620510" y="112775"/>
                  </a:lnTo>
                  <a:lnTo>
                    <a:pt x="6620510" y="563498"/>
                  </a:lnTo>
                  <a:lnTo>
                    <a:pt x="6611657" y="607427"/>
                  </a:lnTo>
                  <a:lnTo>
                    <a:pt x="6587505" y="643270"/>
                  </a:lnTo>
                  <a:lnTo>
                    <a:pt x="6551662" y="667422"/>
                  </a:lnTo>
                  <a:lnTo>
                    <a:pt x="6507734" y="676274"/>
                  </a:lnTo>
                  <a:lnTo>
                    <a:pt x="112712" y="676274"/>
                  </a:lnTo>
                  <a:lnTo>
                    <a:pt x="68842" y="667422"/>
                  </a:lnTo>
                  <a:lnTo>
                    <a:pt x="33015" y="643270"/>
                  </a:lnTo>
                  <a:lnTo>
                    <a:pt x="8858" y="607427"/>
                  </a:lnTo>
                  <a:lnTo>
                    <a:pt x="0" y="563498"/>
                  </a:lnTo>
                  <a:lnTo>
                    <a:pt x="0" y="112775"/>
                  </a:lnTo>
                  <a:close/>
                </a:path>
              </a:pathLst>
            </a:custGeom>
            <a:ln w="12700">
              <a:solidFill>
                <a:srgbClr val="FFFFFF"/>
              </a:solidFill>
            </a:ln>
          </p:spPr>
          <p:txBody>
            <a:bodyPr wrap="square" lIns="0" tIns="0" rIns="0" bIns="0" rtlCol="0"/>
            <a:lstStyle/>
            <a:p>
              <a:endParaRPr/>
            </a:p>
          </p:txBody>
        </p:sp>
        <p:sp>
          <p:nvSpPr>
            <p:cNvPr id="16" name="object 16"/>
            <p:cNvSpPr/>
            <p:nvPr/>
          </p:nvSpPr>
          <p:spPr>
            <a:xfrm>
              <a:off x="594105" y="5120639"/>
              <a:ext cx="6620509" cy="676275"/>
            </a:xfrm>
            <a:custGeom>
              <a:avLst/>
              <a:gdLst/>
              <a:ahLst/>
              <a:cxnLst/>
              <a:rect l="l" t="t" r="r" b="b"/>
              <a:pathLst>
                <a:path w="6620509" h="676275">
                  <a:moveTo>
                    <a:pt x="6507734" y="0"/>
                  </a:moveTo>
                  <a:lnTo>
                    <a:pt x="112712" y="0"/>
                  </a:lnTo>
                  <a:lnTo>
                    <a:pt x="68842" y="8850"/>
                  </a:lnTo>
                  <a:lnTo>
                    <a:pt x="33015" y="32988"/>
                  </a:lnTo>
                  <a:lnTo>
                    <a:pt x="8858" y="68794"/>
                  </a:lnTo>
                  <a:lnTo>
                    <a:pt x="0" y="112649"/>
                  </a:lnTo>
                  <a:lnTo>
                    <a:pt x="0" y="563486"/>
                  </a:lnTo>
                  <a:lnTo>
                    <a:pt x="8858" y="607356"/>
                  </a:lnTo>
                  <a:lnTo>
                    <a:pt x="33015" y="643183"/>
                  </a:lnTo>
                  <a:lnTo>
                    <a:pt x="68842" y="667340"/>
                  </a:lnTo>
                  <a:lnTo>
                    <a:pt x="112712" y="676198"/>
                  </a:lnTo>
                  <a:lnTo>
                    <a:pt x="6507734" y="676198"/>
                  </a:lnTo>
                  <a:lnTo>
                    <a:pt x="6551662" y="667340"/>
                  </a:lnTo>
                  <a:lnTo>
                    <a:pt x="6587505" y="643183"/>
                  </a:lnTo>
                  <a:lnTo>
                    <a:pt x="6611657" y="607356"/>
                  </a:lnTo>
                  <a:lnTo>
                    <a:pt x="6620510" y="563486"/>
                  </a:lnTo>
                  <a:lnTo>
                    <a:pt x="6620510" y="112649"/>
                  </a:lnTo>
                  <a:lnTo>
                    <a:pt x="6611657" y="68794"/>
                  </a:lnTo>
                  <a:lnTo>
                    <a:pt x="6587505" y="32988"/>
                  </a:lnTo>
                  <a:lnTo>
                    <a:pt x="6551662" y="8850"/>
                  </a:lnTo>
                  <a:lnTo>
                    <a:pt x="6507734" y="0"/>
                  </a:lnTo>
                  <a:close/>
                </a:path>
              </a:pathLst>
            </a:custGeom>
            <a:solidFill>
              <a:srgbClr val="6FAC46"/>
            </a:solidFill>
          </p:spPr>
          <p:txBody>
            <a:bodyPr wrap="square" lIns="0" tIns="0" rIns="0" bIns="0" rtlCol="0"/>
            <a:lstStyle/>
            <a:p>
              <a:endParaRPr/>
            </a:p>
          </p:txBody>
        </p:sp>
        <p:sp>
          <p:nvSpPr>
            <p:cNvPr id="17" name="object 17"/>
            <p:cNvSpPr/>
            <p:nvPr/>
          </p:nvSpPr>
          <p:spPr>
            <a:xfrm>
              <a:off x="594105" y="5120639"/>
              <a:ext cx="6620509" cy="676275"/>
            </a:xfrm>
            <a:custGeom>
              <a:avLst/>
              <a:gdLst/>
              <a:ahLst/>
              <a:cxnLst/>
              <a:rect l="l" t="t" r="r" b="b"/>
              <a:pathLst>
                <a:path w="6620509" h="676275">
                  <a:moveTo>
                    <a:pt x="0" y="112649"/>
                  </a:moveTo>
                  <a:lnTo>
                    <a:pt x="8858" y="68794"/>
                  </a:lnTo>
                  <a:lnTo>
                    <a:pt x="33015" y="32988"/>
                  </a:lnTo>
                  <a:lnTo>
                    <a:pt x="68842" y="8850"/>
                  </a:lnTo>
                  <a:lnTo>
                    <a:pt x="112712" y="0"/>
                  </a:lnTo>
                  <a:lnTo>
                    <a:pt x="6507734" y="0"/>
                  </a:lnTo>
                  <a:lnTo>
                    <a:pt x="6551662" y="8850"/>
                  </a:lnTo>
                  <a:lnTo>
                    <a:pt x="6587505" y="32988"/>
                  </a:lnTo>
                  <a:lnTo>
                    <a:pt x="6611657" y="68794"/>
                  </a:lnTo>
                  <a:lnTo>
                    <a:pt x="6620510" y="112649"/>
                  </a:lnTo>
                  <a:lnTo>
                    <a:pt x="6620510" y="563486"/>
                  </a:lnTo>
                  <a:lnTo>
                    <a:pt x="6611657" y="607356"/>
                  </a:lnTo>
                  <a:lnTo>
                    <a:pt x="6587505" y="643183"/>
                  </a:lnTo>
                  <a:lnTo>
                    <a:pt x="6551662" y="667340"/>
                  </a:lnTo>
                  <a:lnTo>
                    <a:pt x="6507734" y="676198"/>
                  </a:lnTo>
                  <a:lnTo>
                    <a:pt x="112712" y="676198"/>
                  </a:lnTo>
                  <a:lnTo>
                    <a:pt x="68842" y="667340"/>
                  </a:lnTo>
                  <a:lnTo>
                    <a:pt x="33015" y="643183"/>
                  </a:lnTo>
                  <a:lnTo>
                    <a:pt x="8858" y="607356"/>
                  </a:lnTo>
                  <a:lnTo>
                    <a:pt x="0" y="563486"/>
                  </a:lnTo>
                  <a:lnTo>
                    <a:pt x="0" y="112649"/>
                  </a:lnTo>
                  <a:close/>
                </a:path>
              </a:pathLst>
            </a:custGeom>
            <a:ln w="12699">
              <a:solidFill>
                <a:srgbClr val="FFFFFF"/>
              </a:solidFill>
            </a:ln>
          </p:spPr>
          <p:txBody>
            <a:bodyPr wrap="square" lIns="0" tIns="0" rIns="0" bIns="0" rtlCol="0"/>
            <a:lstStyle/>
            <a:p>
              <a:endParaRPr/>
            </a:p>
          </p:txBody>
        </p:sp>
      </p:grpSp>
      <p:sp>
        <p:nvSpPr>
          <p:cNvPr id="18" name="object 18"/>
          <p:cNvSpPr txBox="1"/>
          <p:nvPr/>
        </p:nvSpPr>
        <p:spPr>
          <a:xfrm>
            <a:off x="509625" y="2272411"/>
            <a:ext cx="4803934" cy="4494179"/>
          </a:xfrm>
          <a:prstGeom prst="rect">
            <a:avLst/>
          </a:prstGeom>
        </p:spPr>
        <p:txBody>
          <a:bodyPr vert="horz" wrap="square" lIns="0" tIns="13335" rIns="0" bIns="0" rtlCol="0">
            <a:spAutoFit/>
          </a:bodyPr>
          <a:lstStyle/>
          <a:p>
            <a:pPr marL="12700">
              <a:lnSpc>
                <a:spcPts val="1955"/>
              </a:lnSpc>
              <a:spcBef>
                <a:spcPts val="105"/>
              </a:spcBef>
            </a:pPr>
            <a:r>
              <a:rPr sz="1700" dirty="0">
                <a:solidFill>
                  <a:srgbClr val="FFFFFF"/>
                </a:solidFill>
                <a:latin typeface="Calibri"/>
                <a:cs typeface="Calibri"/>
              </a:rPr>
              <a:t>The</a:t>
            </a:r>
            <a:r>
              <a:rPr sz="1700" spc="-10" dirty="0">
                <a:solidFill>
                  <a:srgbClr val="FFFFFF"/>
                </a:solidFill>
                <a:latin typeface="Calibri"/>
                <a:cs typeface="Calibri"/>
              </a:rPr>
              <a:t> </a:t>
            </a:r>
            <a:r>
              <a:rPr sz="1700" spc="-5" dirty="0">
                <a:solidFill>
                  <a:srgbClr val="FFFFFF"/>
                </a:solidFill>
                <a:latin typeface="Calibri"/>
                <a:cs typeface="Calibri"/>
              </a:rPr>
              <a:t>classes</a:t>
            </a:r>
            <a:r>
              <a:rPr sz="1700" spc="5" dirty="0">
                <a:solidFill>
                  <a:srgbClr val="FFFFFF"/>
                </a:solidFill>
                <a:latin typeface="Calibri"/>
                <a:cs typeface="Calibri"/>
              </a:rPr>
              <a:t> </a:t>
            </a:r>
            <a:r>
              <a:rPr sz="1700" spc="-10" dirty="0">
                <a:solidFill>
                  <a:srgbClr val="FFFFFF"/>
                </a:solidFill>
                <a:latin typeface="Calibri"/>
                <a:cs typeface="Calibri"/>
              </a:rPr>
              <a:t>should</a:t>
            </a:r>
            <a:r>
              <a:rPr sz="1700" spc="15" dirty="0">
                <a:solidFill>
                  <a:srgbClr val="FFFFFF"/>
                </a:solidFill>
                <a:latin typeface="Calibri"/>
                <a:cs typeface="Calibri"/>
              </a:rPr>
              <a:t> </a:t>
            </a:r>
            <a:r>
              <a:rPr sz="1700" spc="-5" dirty="0">
                <a:solidFill>
                  <a:srgbClr val="FFFFFF"/>
                </a:solidFill>
                <a:latin typeface="Calibri"/>
                <a:cs typeface="Calibri"/>
              </a:rPr>
              <a:t>be clearly </a:t>
            </a:r>
            <a:r>
              <a:rPr sz="1700" spc="-10" dirty="0">
                <a:solidFill>
                  <a:srgbClr val="FFFFFF"/>
                </a:solidFill>
                <a:latin typeface="Calibri"/>
                <a:cs typeface="Calibri"/>
              </a:rPr>
              <a:t>defined</a:t>
            </a:r>
            <a:r>
              <a:rPr sz="1700" spc="40" dirty="0">
                <a:solidFill>
                  <a:srgbClr val="FFFFFF"/>
                </a:solidFill>
                <a:latin typeface="Calibri"/>
                <a:cs typeface="Calibri"/>
              </a:rPr>
              <a:t> </a:t>
            </a:r>
            <a:r>
              <a:rPr sz="1700" spc="-5" dirty="0">
                <a:solidFill>
                  <a:srgbClr val="FFFFFF"/>
                </a:solidFill>
                <a:latin typeface="Calibri"/>
                <a:cs typeface="Calibri"/>
              </a:rPr>
              <a:t>and </a:t>
            </a:r>
            <a:r>
              <a:rPr sz="1700" spc="-10" dirty="0">
                <a:solidFill>
                  <a:srgbClr val="FFFFFF"/>
                </a:solidFill>
                <a:latin typeface="Calibri"/>
                <a:cs typeface="Calibri"/>
              </a:rPr>
              <a:t>should</a:t>
            </a:r>
            <a:r>
              <a:rPr sz="1700" spc="10" dirty="0">
                <a:solidFill>
                  <a:srgbClr val="FFFFFF"/>
                </a:solidFill>
                <a:latin typeface="Calibri"/>
                <a:cs typeface="Calibri"/>
              </a:rPr>
              <a:t> </a:t>
            </a:r>
            <a:r>
              <a:rPr sz="1700" spc="-10" dirty="0">
                <a:solidFill>
                  <a:srgbClr val="FFFFFF"/>
                </a:solidFill>
                <a:latin typeface="Calibri"/>
                <a:cs typeface="Calibri"/>
              </a:rPr>
              <a:t>not</a:t>
            </a:r>
            <a:r>
              <a:rPr sz="1700" spc="5" dirty="0">
                <a:solidFill>
                  <a:srgbClr val="FFFFFF"/>
                </a:solidFill>
                <a:latin typeface="Calibri"/>
                <a:cs typeface="Calibri"/>
              </a:rPr>
              <a:t> </a:t>
            </a:r>
            <a:r>
              <a:rPr sz="1700" spc="-5" dirty="0">
                <a:solidFill>
                  <a:srgbClr val="FFFFFF"/>
                </a:solidFill>
                <a:latin typeface="Calibri"/>
                <a:cs typeface="Calibri"/>
              </a:rPr>
              <a:t>lead</a:t>
            </a:r>
            <a:r>
              <a:rPr sz="1700" spc="15" dirty="0">
                <a:solidFill>
                  <a:srgbClr val="FFFFFF"/>
                </a:solidFill>
                <a:latin typeface="Calibri"/>
                <a:cs typeface="Calibri"/>
              </a:rPr>
              <a:t> </a:t>
            </a:r>
            <a:r>
              <a:rPr sz="1700" spc="-10" dirty="0">
                <a:solidFill>
                  <a:srgbClr val="FFFFFF"/>
                </a:solidFill>
                <a:latin typeface="Calibri"/>
                <a:cs typeface="Calibri"/>
              </a:rPr>
              <a:t>to</a:t>
            </a:r>
            <a:r>
              <a:rPr sz="1700" spc="15" dirty="0">
                <a:solidFill>
                  <a:srgbClr val="FFFFFF"/>
                </a:solidFill>
                <a:latin typeface="Calibri"/>
                <a:cs typeface="Calibri"/>
              </a:rPr>
              <a:t> </a:t>
            </a:r>
            <a:r>
              <a:rPr sz="1700" spc="-10" dirty="0">
                <a:solidFill>
                  <a:srgbClr val="FFFFFF"/>
                </a:solidFill>
                <a:latin typeface="Calibri"/>
                <a:cs typeface="Calibri"/>
              </a:rPr>
              <a:t>any</a:t>
            </a:r>
            <a:endParaRPr sz="1700">
              <a:latin typeface="Calibri"/>
              <a:cs typeface="Calibri"/>
            </a:endParaRPr>
          </a:p>
          <a:p>
            <a:pPr marL="12700">
              <a:lnSpc>
                <a:spcPts val="1955"/>
              </a:lnSpc>
            </a:pPr>
            <a:r>
              <a:rPr sz="1700" spc="-15" dirty="0">
                <a:solidFill>
                  <a:srgbClr val="FFFFFF"/>
                </a:solidFill>
                <a:latin typeface="Calibri"/>
                <a:cs typeface="Calibri"/>
              </a:rPr>
              <a:t>ambiguity.</a:t>
            </a:r>
            <a:endParaRPr sz="1700">
              <a:latin typeface="Calibri"/>
              <a:cs typeface="Calibri"/>
            </a:endParaRPr>
          </a:p>
          <a:p>
            <a:pPr>
              <a:lnSpc>
                <a:spcPct val="100000"/>
              </a:lnSpc>
              <a:spcBef>
                <a:spcPts val="25"/>
              </a:spcBef>
            </a:pPr>
            <a:endParaRPr sz="1450">
              <a:latin typeface="Calibri"/>
              <a:cs typeface="Calibri"/>
            </a:endParaRPr>
          </a:p>
          <a:p>
            <a:pPr marL="12700">
              <a:lnSpc>
                <a:spcPts val="1955"/>
              </a:lnSpc>
            </a:pPr>
            <a:r>
              <a:rPr sz="1700" dirty="0">
                <a:solidFill>
                  <a:srgbClr val="FFFFFF"/>
                </a:solidFill>
                <a:latin typeface="Calibri"/>
                <a:cs typeface="Calibri"/>
              </a:rPr>
              <a:t>The</a:t>
            </a:r>
            <a:r>
              <a:rPr sz="1700" spc="-10" dirty="0">
                <a:solidFill>
                  <a:srgbClr val="FFFFFF"/>
                </a:solidFill>
                <a:latin typeface="Calibri"/>
                <a:cs typeface="Calibri"/>
              </a:rPr>
              <a:t> </a:t>
            </a:r>
            <a:r>
              <a:rPr sz="1700" spc="-5" dirty="0">
                <a:solidFill>
                  <a:srgbClr val="FFFFFF"/>
                </a:solidFill>
                <a:latin typeface="Calibri"/>
                <a:cs typeface="Calibri"/>
              </a:rPr>
              <a:t>classes</a:t>
            </a:r>
            <a:r>
              <a:rPr sz="1700" spc="5" dirty="0">
                <a:solidFill>
                  <a:srgbClr val="FFFFFF"/>
                </a:solidFill>
                <a:latin typeface="Calibri"/>
                <a:cs typeface="Calibri"/>
              </a:rPr>
              <a:t> </a:t>
            </a:r>
            <a:r>
              <a:rPr sz="1700" spc="-5" dirty="0">
                <a:solidFill>
                  <a:srgbClr val="FFFFFF"/>
                </a:solidFill>
                <a:latin typeface="Calibri"/>
                <a:cs typeface="Calibri"/>
              </a:rPr>
              <a:t>should</a:t>
            </a:r>
            <a:r>
              <a:rPr sz="1700" spc="15" dirty="0">
                <a:solidFill>
                  <a:srgbClr val="FFFFFF"/>
                </a:solidFill>
                <a:latin typeface="Calibri"/>
                <a:cs typeface="Calibri"/>
              </a:rPr>
              <a:t> </a:t>
            </a:r>
            <a:r>
              <a:rPr sz="1700" spc="-5" dirty="0">
                <a:solidFill>
                  <a:srgbClr val="FFFFFF"/>
                </a:solidFill>
                <a:latin typeface="Calibri"/>
                <a:cs typeface="Calibri"/>
              </a:rPr>
              <a:t>be</a:t>
            </a:r>
            <a:r>
              <a:rPr sz="1700" spc="-10" dirty="0">
                <a:solidFill>
                  <a:srgbClr val="FFFFFF"/>
                </a:solidFill>
                <a:latin typeface="Calibri"/>
                <a:cs typeface="Calibri"/>
              </a:rPr>
              <a:t> exhaustive,</a:t>
            </a:r>
            <a:r>
              <a:rPr sz="1700" spc="10" dirty="0">
                <a:solidFill>
                  <a:srgbClr val="FFFFFF"/>
                </a:solidFill>
                <a:latin typeface="Calibri"/>
                <a:cs typeface="Calibri"/>
              </a:rPr>
              <a:t> </a:t>
            </a:r>
            <a:r>
              <a:rPr sz="1700" spc="-5" dirty="0">
                <a:solidFill>
                  <a:srgbClr val="FFFFFF"/>
                </a:solidFill>
                <a:latin typeface="Calibri"/>
                <a:cs typeface="Calibri"/>
              </a:rPr>
              <a:t>i.e.,</a:t>
            </a:r>
            <a:r>
              <a:rPr sz="1700" spc="10" dirty="0">
                <a:solidFill>
                  <a:srgbClr val="FFFFFF"/>
                </a:solidFill>
                <a:latin typeface="Calibri"/>
                <a:cs typeface="Calibri"/>
              </a:rPr>
              <a:t> </a:t>
            </a:r>
            <a:r>
              <a:rPr sz="1700" spc="-5" dirty="0">
                <a:solidFill>
                  <a:srgbClr val="FFFFFF"/>
                </a:solidFill>
                <a:latin typeface="Calibri"/>
                <a:cs typeface="Calibri"/>
              </a:rPr>
              <a:t>each</a:t>
            </a:r>
            <a:r>
              <a:rPr sz="1700" spc="10" dirty="0">
                <a:solidFill>
                  <a:srgbClr val="FFFFFF"/>
                </a:solidFill>
                <a:latin typeface="Calibri"/>
                <a:cs typeface="Calibri"/>
              </a:rPr>
              <a:t> </a:t>
            </a:r>
            <a:r>
              <a:rPr sz="1700" spc="-5" dirty="0">
                <a:solidFill>
                  <a:srgbClr val="FFFFFF"/>
                </a:solidFill>
                <a:latin typeface="Calibri"/>
                <a:cs typeface="Calibri"/>
              </a:rPr>
              <a:t>of</a:t>
            </a:r>
            <a:r>
              <a:rPr sz="1700" spc="10" dirty="0">
                <a:solidFill>
                  <a:srgbClr val="FFFFFF"/>
                </a:solidFill>
                <a:latin typeface="Calibri"/>
                <a:cs typeface="Calibri"/>
              </a:rPr>
              <a:t> </a:t>
            </a:r>
            <a:r>
              <a:rPr sz="1700" spc="-5" dirty="0">
                <a:solidFill>
                  <a:srgbClr val="FFFFFF"/>
                </a:solidFill>
                <a:latin typeface="Calibri"/>
                <a:cs typeface="Calibri"/>
              </a:rPr>
              <a:t>the </a:t>
            </a:r>
            <a:r>
              <a:rPr sz="1700" spc="-15" dirty="0">
                <a:solidFill>
                  <a:srgbClr val="FFFFFF"/>
                </a:solidFill>
                <a:latin typeface="Calibri"/>
                <a:cs typeface="Calibri"/>
              </a:rPr>
              <a:t>given</a:t>
            </a:r>
            <a:r>
              <a:rPr sz="1700" spc="10" dirty="0">
                <a:solidFill>
                  <a:srgbClr val="FFFFFF"/>
                </a:solidFill>
                <a:latin typeface="Calibri"/>
                <a:cs typeface="Calibri"/>
              </a:rPr>
              <a:t> </a:t>
            </a:r>
            <a:r>
              <a:rPr sz="1700" spc="-10" dirty="0">
                <a:solidFill>
                  <a:srgbClr val="FFFFFF"/>
                </a:solidFill>
                <a:latin typeface="Calibri"/>
                <a:cs typeface="Calibri"/>
              </a:rPr>
              <a:t>values</a:t>
            </a:r>
            <a:r>
              <a:rPr sz="1700" spc="30" dirty="0">
                <a:solidFill>
                  <a:srgbClr val="FFFFFF"/>
                </a:solidFill>
                <a:latin typeface="Calibri"/>
                <a:cs typeface="Calibri"/>
              </a:rPr>
              <a:t> </a:t>
            </a:r>
            <a:r>
              <a:rPr sz="1700" spc="-5" dirty="0">
                <a:solidFill>
                  <a:srgbClr val="FFFFFF"/>
                </a:solidFill>
                <a:latin typeface="Calibri"/>
                <a:cs typeface="Calibri"/>
              </a:rPr>
              <a:t>should</a:t>
            </a:r>
            <a:r>
              <a:rPr sz="1700" spc="15" dirty="0">
                <a:solidFill>
                  <a:srgbClr val="FFFFFF"/>
                </a:solidFill>
                <a:latin typeface="Calibri"/>
                <a:cs typeface="Calibri"/>
              </a:rPr>
              <a:t> </a:t>
            </a:r>
            <a:r>
              <a:rPr sz="1700" spc="-5" dirty="0">
                <a:solidFill>
                  <a:srgbClr val="FFFFFF"/>
                </a:solidFill>
                <a:latin typeface="Calibri"/>
                <a:cs typeface="Calibri"/>
              </a:rPr>
              <a:t>be</a:t>
            </a:r>
            <a:endParaRPr sz="1700">
              <a:latin typeface="Calibri"/>
              <a:cs typeface="Calibri"/>
            </a:endParaRPr>
          </a:p>
          <a:p>
            <a:pPr marL="12700">
              <a:lnSpc>
                <a:spcPts val="1955"/>
              </a:lnSpc>
            </a:pPr>
            <a:r>
              <a:rPr sz="1700" spc="-10" dirty="0">
                <a:solidFill>
                  <a:srgbClr val="FFFFFF"/>
                </a:solidFill>
                <a:latin typeface="Calibri"/>
                <a:cs typeface="Calibri"/>
              </a:rPr>
              <a:t>included</a:t>
            </a:r>
            <a:r>
              <a:rPr sz="1700" spc="30" dirty="0">
                <a:solidFill>
                  <a:srgbClr val="FFFFFF"/>
                </a:solidFill>
                <a:latin typeface="Calibri"/>
                <a:cs typeface="Calibri"/>
              </a:rPr>
              <a:t> </a:t>
            </a:r>
            <a:r>
              <a:rPr sz="1700" spc="-5" dirty="0">
                <a:solidFill>
                  <a:srgbClr val="FFFFFF"/>
                </a:solidFill>
                <a:latin typeface="Calibri"/>
                <a:cs typeface="Calibri"/>
              </a:rPr>
              <a:t>in</a:t>
            </a:r>
            <a:r>
              <a:rPr sz="1700" spc="-10" dirty="0">
                <a:solidFill>
                  <a:srgbClr val="FFFFFF"/>
                </a:solidFill>
                <a:latin typeface="Calibri"/>
                <a:cs typeface="Calibri"/>
              </a:rPr>
              <a:t> one</a:t>
            </a:r>
            <a:r>
              <a:rPr sz="1700" spc="10" dirty="0">
                <a:solidFill>
                  <a:srgbClr val="FFFFFF"/>
                </a:solidFill>
                <a:latin typeface="Calibri"/>
                <a:cs typeface="Calibri"/>
              </a:rPr>
              <a:t> </a:t>
            </a:r>
            <a:r>
              <a:rPr sz="1700" spc="-10" dirty="0">
                <a:solidFill>
                  <a:srgbClr val="FFFFFF"/>
                </a:solidFill>
                <a:latin typeface="Calibri"/>
                <a:cs typeface="Calibri"/>
              </a:rPr>
              <a:t>of</a:t>
            </a:r>
            <a:r>
              <a:rPr sz="1700" spc="5" dirty="0">
                <a:solidFill>
                  <a:srgbClr val="FFFFFF"/>
                </a:solidFill>
                <a:latin typeface="Calibri"/>
                <a:cs typeface="Calibri"/>
              </a:rPr>
              <a:t> </a:t>
            </a:r>
            <a:r>
              <a:rPr sz="1700" dirty="0">
                <a:solidFill>
                  <a:srgbClr val="FFFFFF"/>
                </a:solidFill>
                <a:latin typeface="Calibri"/>
                <a:cs typeface="Calibri"/>
              </a:rPr>
              <a:t>the</a:t>
            </a:r>
            <a:r>
              <a:rPr sz="1700" spc="-15" dirty="0">
                <a:solidFill>
                  <a:srgbClr val="FFFFFF"/>
                </a:solidFill>
                <a:latin typeface="Calibri"/>
                <a:cs typeface="Calibri"/>
              </a:rPr>
              <a:t> </a:t>
            </a:r>
            <a:r>
              <a:rPr sz="1700" spc="-5" dirty="0">
                <a:solidFill>
                  <a:srgbClr val="FFFFFF"/>
                </a:solidFill>
                <a:latin typeface="Calibri"/>
                <a:cs typeface="Calibri"/>
              </a:rPr>
              <a:t>classes.</a:t>
            </a:r>
            <a:endParaRPr sz="1700">
              <a:latin typeface="Calibri"/>
              <a:cs typeface="Calibri"/>
            </a:endParaRPr>
          </a:p>
          <a:p>
            <a:pPr>
              <a:lnSpc>
                <a:spcPct val="100000"/>
              </a:lnSpc>
              <a:spcBef>
                <a:spcPts val="50"/>
              </a:spcBef>
            </a:pPr>
            <a:endParaRPr sz="2200">
              <a:latin typeface="Calibri"/>
              <a:cs typeface="Calibri"/>
            </a:endParaRPr>
          </a:p>
          <a:p>
            <a:pPr marL="12700">
              <a:lnSpc>
                <a:spcPct val="100000"/>
              </a:lnSpc>
            </a:pPr>
            <a:r>
              <a:rPr sz="1700" dirty="0">
                <a:solidFill>
                  <a:srgbClr val="FFFFFF"/>
                </a:solidFill>
                <a:latin typeface="Calibri"/>
                <a:cs typeface="Calibri"/>
              </a:rPr>
              <a:t>The</a:t>
            </a:r>
            <a:r>
              <a:rPr sz="1700" spc="-15" dirty="0">
                <a:solidFill>
                  <a:srgbClr val="FFFFFF"/>
                </a:solidFill>
                <a:latin typeface="Calibri"/>
                <a:cs typeface="Calibri"/>
              </a:rPr>
              <a:t> </a:t>
            </a:r>
            <a:r>
              <a:rPr sz="1700" spc="-5" dirty="0">
                <a:solidFill>
                  <a:srgbClr val="FFFFFF"/>
                </a:solidFill>
                <a:latin typeface="Calibri"/>
                <a:cs typeface="Calibri"/>
              </a:rPr>
              <a:t>classes</a:t>
            </a:r>
            <a:r>
              <a:rPr sz="1700" dirty="0">
                <a:solidFill>
                  <a:srgbClr val="FFFFFF"/>
                </a:solidFill>
                <a:latin typeface="Calibri"/>
                <a:cs typeface="Calibri"/>
              </a:rPr>
              <a:t> </a:t>
            </a:r>
            <a:r>
              <a:rPr sz="1700" spc="-10" dirty="0">
                <a:solidFill>
                  <a:srgbClr val="FFFFFF"/>
                </a:solidFill>
                <a:latin typeface="Calibri"/>
                <a:cs typeface="Calibri"/>
              </a:rPr>
              <a:t>should</a:t>
            </a:r>
            <a:r>
              <a:rPr sz="1700" spc="10" dirty="0">
                <a:solidFill>
                  <a:srgbClr val="FFFFFF"/>
                </a:solidFill>
                <a:latin typeface="Calibri"/>
                <a:cs typeface="Calibri"/>
              </a:rPr>
              <a:t> </a:t>
            </a:r>
            <a:r>
              <a:rPr sz="1700" spc="-5" dirty="0">
                <a:solidFill>
                  <a:srgbClr val="FFFFFF"/>
                </a:solidFill>
                <a:latin typeface="Calibri"/>
                <a:cs typeface="Calibri"/>
              </a:rPr>
              <a:t>be</a:t>
            </a:r>
            <a:r>
              <a:rPr sz="1700" spc="-10" dirty="0">
                <a:solidFill>
                  <a:srgbClr val="FFFFFF"/>
                </a:solidFill>
                <a:latin typeface="Calibri"/>
                <a:cs typeface="Calibri"/>
              </a:rPr>
              <a:t> </a:t>
            </a:r>
            <a:r>
              <a:rPr sz="1700" spc="-5" dirty="0">
                <a:solidFill>
                  <a:srgbClr val="FFFFFF"/>
                </a:solidFill>
                <a:latin typeface="Calibri"/>
                <a:cs typeface="Calibri"/>
              </a:rPr>
              <a:t>mutually</a:t>
            </a:r>
            <a:r>
              <a:rPr sz="1700" dirty="0">
                <a:solidFill>
                  <a:srgbClr val="FFFFFF"/>
                </a:solidFill>
                <a:latin typeface="Calibri"/>
                <a:cs typeface="Calibri"/>
              </a:rPr>
              <a:t> </a:t>
            </a:r>
            <a:r>
              <a:rPr sz="1700" spc="-15" dirty="0">
                <a:solidFill>
                  <a:srgbClr val="FFFFFF"/>
                </a:solidFill>
                <a:latin typeface="Calibri"/>
                <a:cs typeface="Calibri"/>
              </a:rPr>
              <a:t>exclusive</a:t>
            </a:r>
            <a:r>
              <a:rPr sz="1700" spc="10" dirty="0">
                <a:solidFill>
                  <a:srgbClr val="FFFFFF"/>
                </a:solidFill>
                <a:latin typeface="Calibri"/>
                <a:cs typeface="Calibri"/>
              </a:rPr>
              <a:t> </a:t>
            </a:r>
            <a:r>
              <a:rPr sz="1700" spc="-5" dirty="0">
                <a:solidFill>
                  <a:srgbClr val="FFFFFF"/>
                </a:solidFill>
                <a:latin typeface="Calibri"/>
                <a:cs typeface="Calibri"/>
              </a:rPr>
              <a:t>and</a:t>
            </a:r>
            <a:r>
              <a:rPr sz="1700" spc="10" dirty="0">
                <a:solidFill>
                  <a:srgbClr val="FFFFFF"/>
                </a:solidFill>
                <a:latin typeface="Calibri"/>
                <a:cs typeface="Calibri"/>
              </a:rPr>
              <a:t> </a:t>
            </a:r>
            <a:r>
              <a:rPr sz="1700" spc="-5" dirty="0">
                <a:solidFill>
                  <a:srgbClr val="FFFFFF"/>
                </a:solidFill>
                <a:latin typeface="Calibri"/>
                <a:cs typeface="Calibri"/>
              </a:rPr>
              <a:t>non-overlapping.</a:t>
            </a:r>
            <a:endParaRPr sz="1700">
              <a:latin typeface="Calibri"/>
              <a:cs typeface="Calibri"/>
            </a:endParaRPr>
          </a:p>
          <a:p>
            <a:pPr>
              <a:lnSpc>
                <a:spcPct val="100000"/>
              </a:lnSpc>
            </a:pPr>
            <a:endParaRPr sz="1700">
              <a:latin typeface="Calibri"/>
              <a:cs typeface="Calibri"/>
            </a:endParaRPr>
          </a:p>
          <a:p>
            <a:pPr>
              <a:lnSpc>
                <a:spcPct val="100000"/>
              </a:lnSpc>
              <a:spcBef>
                <a:spcPts val="10"/>
              </a:spcBef>
            </a:pPr>
            <a:endParaRPr sz="1300">
              <a:latin typeface="Calibri"/>
              <a:cs typeface="Calibri"/>
            </a:endParaRPr>
          </a:p>
          <a:p>
            <a:pPr marL="12700">
              <a:lnSpc>
                <a:spcPct val="100000"/>
              </a:lnSpc>
            </a:pPr>
            <a:r>
              <a:rPr sz="1700" dirty="0">
                <a:solidFill>
                  <a:srgbClr val="FFFFFF"/>
                </a:solidFill>
                <a:latin typeface="Calibri"/>
                <a:cs typeface="Calibri"/>
              </a:rPr>
              <a:t>The</a:t>
            </a:r>
            <a:r>
              <a:rPr sz="1700" spc="-15" dirty="0">
                <a:solidFill>
                  <a:srgbClr val="FFFFFF"/>
                </a:solidFill>
                <a:latin typeface="Calibri"/>
                <a:cs typeface="Calibri"/>
              </a:rPr>
              <a:t> </a:t>
            </a:r>
            <a:r>
              <a:rPr sz="1700" spc="-5" dirty="0">
                <a:solidFill>
                  <a:srgbClr val="FFFFFF"/>
                </a:solidFill>
                <a:latin typeface="Calibri"/>
                <a:cs typeface="Calibri"/>
              </a:rPr>
              <a:t>classes </a:t>
            </a:r>
            <a:r>
              <a:rPr sz="1700" spc="-10" dirty="0">
                <a:solidFill>
                  <a:srgbClr val="FFFFFF"/>
                </a:solidFill>
                <a:latin typeface="Calibri"/>
                <a:cs typeface="Calibri"/>
              </a:rPr>
              <a:t>should</a:t>
            </a:r>
            <a:r>
              <a:rPr sz="1700" spc="10" dirty="0">
                <a:solidFill>
                  <a:srgbClr val="FFFFFF"/>
                </a:solidFill>
                <a:latin typeface="Calibri"/>
                <a:cs typeface="Calibri"/>
              </a:rPr>
              <a:t> </a:t>
            </a:r>
            <a:r>
              <a:rPr sz="1700" spc="-5" dirty="0">
                <a:solidFill>
                  <a:srgbClr val="FFFFFF"/>
                </a:solidFill>
                <a:latin typeface="Calibri"/>
                <a:cs typeface="Calibri"/>
              </a:rPr>
              <a:t>be</a:t>
            </a:r>
            <a:r>
              <a:rPr sz="1700" spc="-15" dirty="0">
                <a:solidFill>
                  <a:srgbClr val="FFFFFF"/>
                </a:solidFill>
                <a:latin typeface="Calibri"/>
                <a:cs typeface="Calibri"/>
              </a:rPr>
              <a:t> </a:t>
            </a:r>
            <a:r>
              <a:rPr sz="1700" spc="-10" dirty="0">
                <a:solidFill>
                  <a:srgbClr val="FFFFFF"/>
                </a:solidFill>
                <a:latin typeface="Calibri"/>
                <a:cs typeface="Calibri"/>
              </a:rPr>
              <a:t>of</a:t>
            </a:r>
            <a:r>
              <a:rPr sz="1700" spc="5" dirty="0">
                <a:solidFill>
                  <a:srgbClr val="FFFFFF"/>
                </a:solidFill>
                <a:latin typeface="Calibri"/>
                <a:cs typeface="Calibri"/>
              </a:rPr>
              <a:t> </a:t>
            </a:r>
            <a:r>
              <a:rPr sz="1700" spc="-5" dirty="0">
                <a:solidFill>
                  <a:srgbClr val="FFFFFF"/>
                </a:solidFill>
                <a:latin typeface="Calibri"/>
                <a:cs typeface="Calibri"/>
              </a:rPr>
              <a:t>equal</a:t>
            </a:r>
            <a:r>
              <a:rPr sz="1700" spc="5" dirty="0">
                <a:solidFill>
                  <a:srgbClr val="FFFFFF"/>
                </a:solidFill>
                <a:latin typeface="Calibri"/>
                <a:cs typeface="Calibri"/>
              </a:rPr>
              <a:t> </a:t>
            </a:r>
            <a:r>
              <a:rPr sz="1700" spc="-5" dirty="0">
                <a:solidFill>
                  <a:srgbClr val="FFFFFF"/>
                </a:solidFill>
                <a:latin typeface="Calibri"/>
                <a:cs typeface="Calibri"/>
              </a:rPr>
              <a:t>width.</a:t>
            </a:r>
            <a:endParaRPr sz="1700">
              <a:latin typeface="Calibri"/>
              <a:cs typeface="Calibri"/>
            </a:endParaRPr>
          </a:p>
          <a:p>
            <a:pPr>
              <a:lnSpc>
                <a:spcPct val="100000"/>
              </a:lnSpc>
              <a:spcBef>
                <a:spcPts val="50"/>
              </a:spcBef>
            </a:pPr>
            <a:endParaRPr sz="2200">
              <a:latin typeface="Calibri"/>
              <a:cs typeface="Calibri"/>
            </a:endParaRPr>
          </a:p>
          <a:p>
            <a:pPr marL="12700">
              <a:lnSpc>
                <a:spcPts val="1955"/>
              </a:lnSpc>
              <a:spcBef>
                <a:spcPts val="5"/>
              </a:spcBef>
            </a:pPr>
            <a:r>
              <a:rPr sz="1700" spc="-5" dirty="0">
                <a:solidFill>
                  <a:srgbClr val="FFFFFF"/>
                </a:solidFill>
                <a:latin typeface="Calibri"/>
                <a:cs typeface="Calibri"/>
              </a:rPr>
              <a:t>Broad</a:t>
            </a:r>
            <a:r>
              <a:rPr sz="1700" spc="-10" dirty="0">
                <a:solidFill>
                  <a:srgbClr val="FFFFFF"/>
                </a:solidFill>
                <a:latin typeface="Calibri"/>
                <a:cs typeface="Calibri"/>
              </a:rPr>
              <a:t> </a:t>
            </a:r>
            <a:r>
              <a:rPr sz="1700" spc="-5" dirty="0">
                <a:solidFill>
                  <a:srgbClr val="FFFFFF"/>
                </a:solidFill>
                <a:latin typeface="Calibri"/>
                <a:cs typeface="Calibri"/>
              </a:rPr>
              <a:t>class</a:t>
            </a:r>
            <a:r>
              <a:rPr sz="1700" spc="-15" dirty="0">
                <a:solidFill>
                  <a:srgbClr val="FFFFFF"/>
                </a:solidFill>
                <a:latin typeface="Calibri"/>
                <a:cs typeface="Calibri"/>
              </a:rPr>
              <a:t> </a:t>
            </a:r>
            <a:r>
              <a:rPr sz="1700" spc="-10" dirty="0">
                <a:solidFill>
                  <a:srgbClr val="FFFFFF"/>
                </a:solidFill>
                <a:latin typeface="Calibri"/>
                <a:cs typeface="Calibri"/>
              </a:rPr>
              <a:t>intervals</a:t>
            </a:r>
            <a:r>
              <a:rPr sz="1700" spc="5" dirty="0">
                <a:solidFill>
                  <a:srgbClr val="FFFFFF"/>
                </a:solidFill>
                <a:latin typeface="Calibri"/>
                <a:cs typeface="Calibri"/>
              </a:rPr>
              <a:t> </a:t>
            </a:r>
            <a:r>
              <a:rPr sz="1700" spc="-5" dirty="0">
                <a:solidFill>
                  <a:srgbClr val="FFFFFF"/>
                </a:solidFill>
                <a:latin typeface="Calibri"/>
                <a:cs typeface="Calibri"/>
              </a:rPr>
              <a:t>will</a:t>
            </a:r>
            <a:r>
              <a:rPr sz="1700" spc="15" dirty="0">
                <a:solidFill>
                  <a:srgbClr val="FFFFFF"/>
                </a:solidFill>
                <a:latin typeface="Calibri"/>
                <a:cs typeface="Calibri"/>
              </a:rPr>
              <a:t> </a:t>
            </a:r>
            <a:r>
              <a:rPr sz="1700" spc="-5" dirty="0">
                <a:solidFill>
                  <a:srgbClr val="FFFFFF"/>
                </a:solidFill>
                <a:latin typeface="Calibri"/>
                <a:cs typeface="Calibri"/>
              </a:rPr>
              <a:t>yield</a:t>
            </a:r>
            <a:r>
              <a:rPr sz="1700" spc="10" dirty="0">
                <a:solidFill>
                  <a:srgbClr val="FFFFFF"/>
                </a:solidFill>
                <a:latin typeface="Calibri"/>
                <a:cs typeface="Calibri"/>
              </a:rPr>
              <a:t> </a:t>
            </a:r>
            <a:r>
              <a:rPr sz="1700" spc="-10" dirty="0">
                <a:solidFill>
                  <a:srgbClr val="FFFFFF"/>
                </a:solidFill>
                <a:latin typeface="Calibri"/>
                <a:cs typeface="Calibri"/>
              </a:rPr>
              <a:t>only</a:t>
            </a:r>
            <a:r>
              <a:rPr sz="1700" spc="20" dirty="0">
                <a:solidFill>
                  <a:srgbClr val="FFFFFF"/>
                </a:solidFill>
                <a:latin typeface="Calibri"/>
                <a:cs typeface="Calibri"/>
              </a:rPr>
              <a:t> </a:t>
            </a:r>
            <a:r>
              <a:rPr sz="1700" spc="-10" dirty="0">
                <a:solidFill>
                  <a:srgbClr val="FFFFFF"/>
                </a:solidFill>
                <a:latin typeface="Calibri"/>
                <a:cs typeface="Calibri"/>
              </a:rPr>
              <a:t>rough</a:t>
            </a:r>
            <a:r>
              <a:rPr sz="1700" spc="-5" dirty="0">
                <a:solidFill>
                  <a:srgbClr val="FFFFFF"/>
                </a:solidFill>
                <a:latin typeface="Calibri"/>
                <a:cs typeface="Calibri"/>
              </a:rPr>
              <a:t> </a:t>
            </a:r>
            <a:r>
              <a:rPr sz="1700" spc="-10" dirty="0">
                <a:solidFill>
                  <a:srgbClr val="FFFFFF"/>
                </a:solidFill>
                <a:latin typeface="Calibri"/>
                <a:cs typeface="Calibri"/>
              </a:rPr>
              <a:t>estimates</a:t>
            </a:r>
            <a:r>
              <a:rPr sz="1700" spc="5" dirty="0">
                <a:solidFill>
                  <a:srgbClr val="FFFFFF"/>
                </a:solidFill>
                <a:latin typeface="Calibri"/>
                <a:cs typeface="Calibri"/>
              </a:rPr>
              <a:t> </a:t>
            </a:r>
            <a:r>
              <a:rPr sz="1700" spc="-5" dirty="0">
                <a:solidFill>
                  <a:srgbClr val="FFFFFF"/>
                </a:solidFill>
                <a:latin typeface="Calibri"/>
                <a:cs typeface="Calibri"/>
              </a:rPr>
              <a:t>while</a:t>
            </a:r>
            <a:r>
              <a:rPr sz="1700" spc="10" dirty="0">
                <a:solidFill>
                  <a:srgbClr val="FFFFFF"/>
                </a:solidFill>
                <a:latin typeface="Calibri"/>
                <a:cs typeface="Calibri"/>
              </a:rPr>
              <a:t> </a:t>
            </a:r>
            <a:r>
              <a:rPr sz="1700" spc="-10" dirty="0">
                <a:solidFill>
                  <a:srgbClr val="FFFFFF"/>
                </a:solidFill>
                <a:latin typeface="Calibri"/>
                <a:cs typeface="Calibri"/>
              </a:rPr>
              <a:t>for</a:t>
            </a:r>
            <a:r>
              <a:rPr sz="1700" spc="-15" dirty="0">
                <a:solidFill>
                  <a:srgbClr val="FFFFFF"/>
                </a:solidFill>
                <a:latin typeface="Calibri"/>
                <a:cs typeface="Calibri"/>
              </a:rPr>
              <a:t> </a:t>
            </a:r>
            <a:r>
              <a:rPr sz="1700" spc="-10" dirty="0">
                <a:solidFill>
                  <a:srgbClr val="FFFFFF"/>
                </a:solidFill>
                <a:latin typeface="Calibri"/>
                <a:cs typeface="Calibri"/>
              </a:rPr>
              <a:t>high</a:t>
            </a:r>
            <a:r>
              <a:rPr sz="1700" spc="15" dirty="0">
                <a:solidFill>
                  <a:srgbClr val="FFFFFF"/>
                </a:solidFill>
                <a:latin typeface="Calibri"/>
                <a:cs typeface="Calibri"/>
              </a:rPr>
              <a:t> </a:t>
            </a:r>
            <a:r>
              <a:rPr sz="1700" spc="-10" dirty="0">
                <a:solidFill>
                  <a:srgbClr val="FFFFFF"/>
                </a:solidFill>
                <a:latin typeface="Calibri"/>
                <a:cs typeface="Calibri"/>
              </a:rPr>
              <a:t>degree</a:t>
            </a:r>
            <a:endParaRPr sz="1700">
              <a:latin typeface="Calibri"/>
              <a:cs typeface="Calibri"/>
            </a:endParaRPr>
          </a:p>
          <a:p>
            <a:pPr marL="12700">
              <a:lnSpc>
                <a:spcPts val="1955"/>
              </a:lnSpc>
            </a:pPr>
            <a:r>
              <a:rPr sz="1700" spc="-10" dirty="0">
                <a:solidFill>
                  <a:srgbClr val="FFFFFF"/>
                </a:solidFill>
                <a:latin typeface="Calibri"/>
                <a:cs typeface="Calibri"/>
              </a:rPr>
              <a:t>of</a:t>
            </a:r>
            <a:r>
              <a:rPr sz="1700" spc="5" dirty="0">
                <a:solidFill>
                  <a:srgbClr val="FFFFFF"/>
                </a:solidFill>
                <a:latin typeface="Calibri"/>
                <a:cs typeface="Calibri"/>
              </a:rPr>
              <a:t> </a:t>
            </a:r>
            <a:r>
              <a:rPr sz="1700" spc="-5" dirty="0">
                <a:solidFill>
                  <a:srgbClr val="FFFFFF"/>
                </a:solidFill>
                <a:latin typeface="Calibri"/>
                <a:cs typeface="Calibri"/>
              </a:rPr>
              <a:t>accuracy</a:t>
            </a:r>
            <a:r>
              <a:rPr sz="1700" spc="-30" dirty="0">
                <a:solidFill>
                  <a:srgbClr val="FFFFFF"/>
                </a:solidFill>
                <a:latin typeface="Calibri"/>
                <a:cs typeface="Calibri"/>
              </a:rPr>
              <a:t> </a:t>
            </a:r>
            <a:r>
              <a:rPr sz="1700" dirty="0">
                <a:solidFill>
                  <a:srgbClr val="FFFFFF"/>
                </a:solidFill>
                <a:latin typeface="Calibri"/>
                <a:cs typeface="Calibri"/>
              </a:rPr>
              <a:t>small</a:t>
            </a:r>
            <a:r>
              <a:rPr sz="1700" spc="-5" dirty="0">
                <a:solidFill>
                  <a:srgbClr val="FFFFFF"/>
                </a:solidFill>
                <a:latin typeface="Calibri"/>
                <a:cs typeface="Calibri"/>
              </a:rPr>
              <a:t> class</a:t>
            </a:r>
            <a:r>
              <a:rPr sz="1700" spc="5" dirty="0">
                <a:solidFill>
                  <a:srgbClr val="FFFFFF"/>
                </a:solidFill>
                <a:latin typeface="Calibri"/>
                <a:cs typeface="Calibri"/>
              </a:rPr>
              <a:t> </a:t>
            </a:r>
            <a:r>
              <a:rPr sz="1700" spc="-10" dirty="0">
                <a:solidFill>
                  <a:srgbClr val="FFFFFF"/>
                </a:solidFill>
                <a:latin typeface="Calibri"/>
                <a:cs typeface="Calibri"/>
              </a:rPr>
              <a:t>intervals</a:t>
            </a:r>
            <a:r>
              <a:rPr sz="1700" dirty="0">
                <a:solidFill>
                  <a:srgbClr val="FFFFFF"/>
                </a:solidFill>
                <a:latin typeface="Calibri"/>
                <a:cs typeface="Calibri"/>
              </a:rPr>
              <a:t> </a:t>
            </a:r>
            <a:r>
              <a:rPr sz="1700" spc="-10" dirty="0">
                <a:solidFill>
                  <a:srgbClr val="FFFFFF"/>
                </a:solidFill>
                <a:latin typeface="Calibri"/>
                <a:cs typeface="Calibri"/>
              </a:rPr>
              <a:t>are</a:t>
            </a:r>
            <a:r>
              <a:rPr sz="1700" spc="-5" dirty="0">
                <a:solidFill>
                  <a:srgbClr val="FFFFFF"/>
                </a:solidFill>
                <a:latin typeface="Calibri"/>
                <a:cs typeface="Calibri"/>
              </a:rPr>
              <a:t> </a:t>
            </a:r>
            <a:r>
              <a:rPr sz="1700" spc="-10" dirty="0">
                <a:solidFill>
                  <a:srgbClr val="FFFFFF"/>
                </a:solidFill>
                <a:latin typeface="Calibri"/>
                <a:cs typeface="Calibri"/>
              </a:rPr>
              <a:t>desirable.</a:t>
            </a:r>
            <a:endParaRPr sz="1700">
              <a:latin typeface="Calibri"/>
              <a:cs typeface="Calibri"/>
            </a:endParaRPr>
          </a:p>
        </p:txBody>
      </p:sp>
    </p:spTree>
    <p:extLst>
      <p:ext uri="{BB962C8B-B14F-4D97-AF65-F5344CB8AC3E}">
        <p14:creationId xmlns:p14="http://schemas.microsoft.com/office/powerpoint/2010/main" val="37260547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9144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64365C"/>
          </a:solidFill>
        </p:spPr>
        <p:txBody>
          <a:bodyPr wrap="square" lIns="0" tIns="0" rIns="0" bIns="0" rtlCol="0"/>
          <a:lstStyle/>
          <a:p>
            <a:endParaRPr/>
          </a:p>
        </p:txBody>
      </p:sp>
      <p:sp>
        <p:nvSpPr>
          <p:cNvPr id="3" name="object 3"/>
          <p:cNvSpPr/>
          <p:nvPr/>
        </p:nvSpPr>
        <p:spPr>
          <a:xfrm>
            <a:off x="175259" y="228028"/>
            <a:ext cx="8793480" cy="6377940"/>
          </a:xfrm>
          <a:custGeom>
            <a:avLst/>
            <a:gdLst/>
            <a:ahLst/>
            <a:cxnLst/>
            <a:rect l="l" t="t" r="r" b="b"/>
            <a:pathLst>
              <a:path w="11724640" h="6377940">
                <a:moveTo>
                  <a:pt x="11724640" y="0"/>
                </a:moveTo>
                <a:lnTo>
                  <a:pt x="0" y="0"/>
                </a:lnTo>
                <a:lnTo>
                  <a:pt x="0" y="6377939"/>
                </a:lnTo>
                <a:lnTo>
                  <a:pt x="11724640" y="6377939"/>
                </a:lnTo>
                <a:lnTo>
                  <a:pt x="11724640" y="0"/>
                </a:lnTo>
                <a:close/>
              </a:path>
            </a:pathLst>
          </a:custGeom>
          <a:solidFill>
            <a:srgbClr val="FFFFFF"/>
          </a:solidFill>
        </p:spPr>
        <p:txBody>
          <a:bodyPr wrap="square" lIns="0" tIns="0" rIns="0" bIns="0" rtlCol="0"/>
          <a:lstStyle/>
          <a:p>
            <a:endParaRPr/>
          </a:p>
        </p:txBody>
      </p:sp>
      <p:sp>
        <p:nvSpPr>
          <p:cNvPr id="4" name="object 4"/>
          <p:cNvSpPr txBox="1">
            <a:spLocks noGrp="1"/>
          </p:cNvSpPr>
          <p:nvPr>
            <p:ph type="title"/>
          </p:nvPr>
        </p:nvSpPr>
        <p:spPr>
          <a:xfrm>
            <a:off x="712622" y="795506"/>
            <a:ext cx="4651465" cy="1320233"/>
          </a:xfrm>
          <a:prstGeom prst="rect">
            <a:avLst/>
          </a:prstGeom>
        </p:spPr>
        <p:txBody>
          <a:bodyPr vert="horz" wrap="square" lIns="0" tIns="88265" rIns="0" bIns="0" rtlCol="0">
            <a:spAutoFit/>
          </a:bodyPr>
          <a:lstStyle/>
          <a:p>
            <a:pPr marL="12700" marR="5080" indent="127635">
              <a:lnSpc>
                <a:spcPts val="4750"/>
              </a:lnSpc>
              <a:spcBef>
                <a:spcPts val="695"/>
              </a:spcBef>
            </a:pPr>
            <a:r>
              <a:rPr sz="4400" spc="-35" dirty="0">
                <a:solidFill>
                  <a:srgbClr val="64365C"/>
                </a:solidFill>
                <a:latin typeface="Calibri Light"/>
                <a:cs typeface="Calibri Light"/>
              </a:rPr>
              <a:t>Relative</a:t>
            </a:r>
            <a:r>
              <a:rPr sz="4400" spc="25" dirty="0">
                <a:solidFill>
                  <a:srgbClr val="64365C"/>
                </a:solidFill>
                <a:latin typeface="Calibri Light"/>
                <a:cs typeface="Calibri Light"/>
              </a:rPr>
              <a:t> </a:t>
            </a:r>
            <a:r>
              <a:rPr sz="4400" spc="-20" dirty="0">
                <a:solidFill>
                  <a:srgbClr val="64365C"/>
                </a:solidFill>
                <a:latin typeface="Calibri Light"/>
                <a:cs typeface="Calibri Light"/>
              </a:rPr>
              <a:t>Frequency </a:t>
            </a:r>
            <a:r>
              <a:rPr sz="4400" spc="-980" dirty="0">
                <a:solidFill>
                  <a:srgbClr val="64365C"/>
                </a:solidFill>
                <a:latin typeface="Calibri Light"/>
                <a:cs typeface="Calibri Light"/>
              </a:rPr>
              <a:t> </a:t>
            </a:r>
            <a:r>
              <a:rPr sz="4400" spc="-15" dirty="0">
                <a:solidFill>
                  <a:srgbClr val="64365C"/>
                </a:solidFill>
                <a:latin typeface="Calibri Light"/>
                <a:cs typeface="Calibri Light"/>
              </a:rPr>
              <a:t>Distribution</a:t>
            </a:r>
            <a:endParaRPr sz="4400" dirty="0">
              <a:latin typeface="Calibri Light"/>
              <a:cs typeface="Calibri Light"/>
            </a:endParaRPr>
          </a:p>
        </p:txBody>
      </p:sp>
      <p:sp>
        <p:nvSpPr>
          <p:cNvPr id="5" name="object 5"/>
          <p:cNvSpPr txBox="1"/>
          <p:nvPr/>
        </p:nvSpPr>
        <p:spPr>
          <a:xfrm>
            <a:off x="292627" y="2060848"/>
            <a:ext cx="5940137" cy="1379608"/>
          </a:xfrm>
          <a:prstGeom prst="rect">
            <a:avLst/>
          </a:prstGeom>
        </p:spPr>
        <p:txBody>
          <a:bodyPr vert="horz" wrap="square" lIns="0" tIns="49530" rIns="0" bIns="0" rtlCol="0">
            <a:spAutoFit/>
          </a:bodyPr>
          <a:lstStyle/>
          <a:p>
            <a:pPr marL="241300" marR="5080" indent="-228600" algn="just">
              <a:lnSpc>
                <a:spcPct val="90000"/>
              </a:lnSpc>
              <a:spcBef>
                <a:spcPts val="390"/>
              </a:spcBef>
              <a:buSzPct val="95833"/>
              <a:buFont typeface="Wingdings"/>
              <a:buChar char=""/>
              <a:tabLst>
                <a:tab pos="285750" algn="l"/>
              </a:tabLst>
            </a:pPr>
            <a:r>
              <a:rPr sz="2400" b="1" spc="-15" dirty="0">
                <a:solidFill>
                  <a:srgbClr val="64365C"/>
                </a:solidFill>
                <a:latin typeface="Calibri"/>
                <a:cs typeface="Calibri"/>
              </a:rPr>
              <a:t>Relative</a:t>
            </a:r>
            <a:r>
              <a:rPr sz="2400" b="1" spc="1040" dirty="0">
                <a:solidFill>
                  <a:srgbClr val="64365C"/>
                </a:solidFill>
                <a:latin typeface="Calibri"/>
                <a:cs typeface="Calibri"/>
              </a:rPr>
              <a:t> </a:t>
            </a:r>
            <a:r>
              <a:rPr sz="2400" b="1" spc="-5" dirty="0">
                <a:solidFill>
                  <a:srgbClr val="64365C"/>
                </a:solidFill>
                <a:latin typeface="Calibri"/>
                <a:cs typeface="Calibri"/>
              </a:rPr>
              <a:t>frequencies</a:t>
            </a:r>
            <a:r>
              <a:rPr sz="2400" spc="-5" dirty="0">
                <a:solidFill>
                  <a:srgbClr val="64365C"/>
                </a:solidFill>
                <a:latin typeface="Calibri"/>
                <a:cs typeface="Calibri"/>
              </a:rPr>
              <a:t>:</a:t>
            </a:r>
            <a:r>
              <a:rPr sz="2400" spc="1070" dirty="0">
                <a:solidFill>
                  <a:srgbClr val="64365C"/>
                </a:solidFill>
                <a:latin typeface="Calibri"/>
                <a:cs typeface="Calibri"/>
              </a:rPr>
              <a:t> </a:t>
            </a:r>
            <a:r>
              <a:rPr sz="2400" spc="-5" dirty="0">
                <a:solidFill>
                  <a:srgbClr val="64365C"/>
                </a:solidFill>
                <a:latin typeface="Calibri"/>
                <a:cs typeface="Calibri"/>
              </a:rPr>
              <a:t>frequencies</a:t>
            </a:r>
            <a:r>
              <a:rPr sz="2400" spc="1070" dirty="0">
                <a:solidFill>
                  <a:srgbClr val="64365C"/>
                </a:solidFill>
                <a:latin typeface="Calibri"/>
                <a:cs typeface="Calibri"/>
              </a:rPr>
              <a:t> </a:t>
            </a:r>
            <a:r>
              <a:rPr sz="2400" i="1" spc="-5" dirty="0">
                <a:solidFill>
                  <a:srgbClr val="64365C"/>
                </a:solidFill>
                <a:latin typeface="Calibri"/>
                <a:cs typeface="Calibri"/>
              </a:rPr>
              <a:t>relative </a:t>
            </a:r>
            <a:r>
              <a:rPr sz="2400" i="1" dirty="0">
                <a:solidFill>
                  <a:srgbClr val="64365C"/>
                </a:solidFill>
                <a:latin typeface="Calibri"/>
                <a:cs typeface="Calibri"/>
              </a:rPr>
              <a:t> </a:t>
            </a:r>
            <a:r>
              <a:rPr sz="2400" i="1" spc="-10" dirty="0">
                <a:solidFill>
                  <a:srgbClr val="64365C"/>
                </a:solidFill>
                <a:latin typeface="Calibri"/>
                <a:cs typeface="Calibri"/>
              </a:rPr>
              <a:t>to</a:t>
            </a:r>
            <a:r>
              <a:rPr sz="2400" i="1" spc="-5" dirty="0">
                <a:solidFill>
                  <a:srgbClr val="64365C"/>
                </a:solidFill>
                <a:latin typeface="Calibri"/>
                <a:cs typeface="Calibri"/>
              </a:rPr>
              <a:t> </a:t>
            </a:r>
            <a:r>
              <a:rPr sz="2400" spc="-5" dirty="0">
                <a:solidFill>
                  <a:srgbClr val="64365C"/>
                </a:solidFill>
                <a:latin typeface="Calibri"/>
                <a:cs typeface="Calibri"/>
              </a:rPr>
              <a:t>(divided</a:t>
            </a:r>
            <a:r>
              <a:rPr sz="2400" dirty="0">
                <a:solidFill>
                  <a:srgbClr val="64365C"/>
                </a:solidFill>
                <a:latin typeface="Calibri"/>
                <a:cs typeface="Calibri"/>
              </a:rPr>
              <a:t> by)</a:t>
            </a:r>
            <a:r>
              <a:rPr sz="2400" spc="5" dirty="0">
                <a:solidFill>
                  <a:srgbClr val="64365C"/>
                </a:solidFill>
                <a:latin typeface="Calibri"/>
                <a:cs typeface="Calibri"/>
              </a:rPr>
              <a:t> the</a:t>
            </a:r>
            <a:r>
              <a:rPr sz="2400" spc="10" dirty="0">
                <a:solidFill>
                  <a:srgbClr val="64365C"/>
                </a:solidFill>
                <a:latin typeface="Calibri"/>
                <a:cs typeface="Calibri"/>
              </a:rPr>
              <a:t> </a:t>
            </a:r>
            <a:r>
              <a:rPr sz="2400" spc="-15" dirty="0">
                <a:solidFill>
                  <a:srgbClr val="64365C"/>
                </a:solidFill>
                <a:latin typeface="Calibri"/>
                <a:cs typeface="Calibri"/>
              </a:rPr>
              <a:t>total</a:t>
            </a:r>
            <a:r>
              <a:rPr sz="2400" spc="-10" dirty="0">
                <a:solidFill>
                  <a:srgbClr val="64365C"/>
                </a:solidFill>
                <a:latin typeface="Calibri"/>
                <a:cs typeface="Calibri"/>
              </a:rPr>
              <a:t> </a:t>
            </a:r>
            <a:r>
              <a:rPr sz="2400" spc="-5" dirty="0">
                <a:solidFill>
                  <a:srgbClr val="64365C"/>
                </a:solidFill>
                <a:latin typeface="Calibri"/>
                <a:cs typeface="Calibri"/>
              </a:rPr>
              <a:t>number</a:t>
            </a:r>
            <a:r>
              <a:rPr sz="2400" dirty="0">
                <a:solidFill>
                  <a:srgbClr val="64365C"/>
                </a:solidFill>
                <a:latin typeface="Calibri"/>
                <a:cs typeface="Calibri"/>
              </a:rPr>
              <a:t> of</a:t>
            </a:r>
            <a:r>
              <a:rPr sz="2400" spc="5" dirty="0">
                <a:solidFill>
                  <a:srgbClr val="64365C"/>
                </a:solidFill>
                <a:latin typeface="Calibri"/>
                <a:cs typeface="Calibri"/>
              </a:rPr>
              <a:t> </a:t>
            </a:r>
            <a:r>
              <a:rPr sz="2400" spc="-10" dirty="0">
                <a:solidFill>
                  <a:srgbClr val="64365C"/>
                </a:solidFill>
                <a:latin typeface="Calibri"/>
                <a:cs typeface="Calibri"/>
              </a:rPr>
              <a:t>values. </a:t>
            </a:r>
            <a:r>
              <a:rPr sz="2400" spc="-5" dirty="0">
                <a:solidFill>
                  <a:srgbClr val="64365C"/>
                </a:solidFill>
                <a:latin typeface="Calibri"/>
                <a:cs typeface="Calibri"/>
              </a:rPr>
              <a:t> </a:t>
            </a:r>
            <a:r>
              <a:rPr sz="2400" spc="-15" dirty="0">
                <a:solidFill>
                  <a:srgbClr val="64365C"/>
                </a:solidFill>
                <a:latin typeface="Calibri"/>
                <a:cs typeface="Calibri"/>
              </a:rPr>
              <a:t>Relative</a:t>
            </a:r>
            <a:r>
              <a:rPr sz="2400" spc="-10" dirty="0">
                <a:solidFill>
                  <a:srgbClr val="64365C"/>
                </a:solidFill>
                <a:latin typeface="Calibri"/>
                <a:cs typeface="Calibri"/>
              </a:rPr>
              <a:t> </a:t>
            </a:r>
            <a:r>
              <a:rPr sz="2400" spc="-5" dirty="0">
                <a:solidFill>
                  <a:srgbClr val="64365C"/>
                </a:solidFill>
                <a:latin typeface="Calibri"/>
                <a:cs typeface="Calibri"/>
              </a:rPr>
              <a:t>frequencies</a:t>
            </a:r>
            <a:r>
              <a:rPr sz="2400" dirty="0">
                <a:solidFill>
                  <a:srgbClr val="64365C"/>
                </a:solidFill>
                <a:latin typeface="Calibri"/>
                <a:cs typeface="Calibri"/>
              </a:rPr>
              <a:t> </a:t>
            </a:r>
            <a:r>
              <a:rPr sz="2400" spc="-20" dirty="0">
                <a:solidFill>
                  <a:srgbClr val="64365C"/>
                </a:solidFill>
                <a:latin typeface="Calibri"/>
                <a:cs typeface="Calibri"/>
              </a:rPr>
              <a:t>are</a:t>
            </a:r>
            <a:r>
              <a:rPr sz="2400" spc="-15" dirty="0">
                <a:solidFill>
                  <a:srgbClr val="64365C"/>
                </a:solidFill>
                <a:latin typeface="Calibri"/>
                <a:cs typeface="Calibri"/>
              </a:rPr>
              <a:t> </a:t>
            </a:r>
            <a:r>
              <a:rPr sz="2400" spc="-10" dirty="0">
                <a:solidFill>
                  <a:srgbClr val="64365C"/>
                </a:solidFill>
                <a:latin typeface="Calibri"/>
                <a:cs typeface="Calibri"/>
              </a:rPr>
              <a:t>often</a:t>
            </a:r>
            <a:r>
              <a:rPr sz="2400" spc="-5" dirty="0">
                <a:solidFill>
                  <a:srgbClr val="64365C"/>
                </a:solidFill>
                <a:latin typeface="Calibri"/>
                <a:cs typeface="Calibri"/>
              </a:rPr>
              <a:t> </a:t>
            </a:r>
            <a:r>
              <a:rPr sz="2400" spc="-10" dirty="0">
                <a:solidFill>
                  <a:srgbClr val="64365C"/>
                </a:solidFill>
                <a:latin typeface="Calibri"/>
                <a:cs typeface="Calibri"/>
              </a:rPr>
              <a:t>shown</a:t>
            </a:r>
            <a:r>
              <a:rPr sz="2400" spc="-5" dirty="0">
                <a:solidFill>
                  <a:srgbClr val="64365C"/>
                </a:solidFill>
                <a:latin typeface="Calibri"/>
                <a:cs typeface="Calibri"/>
              </a:rPr>
              <a:t> </a:t>
            </a:r>
            <a:r>
              <a:rPr sz="2400" spc="-25" dirty="0">
                <a:solidFill>
                  <a:srgbClr val="64365C"/>
                </a:solidFill>
                <a:latin typeface="Calibri"/>
                <a:cs typeface="Calibri"/>
              </a:rPr>
              <a:t>as </a:t>
            </a:r>
            <a:r>
              <a:rPr sz="2400" spc="-20" dirty="0">
                <a:solidFill>
                  <a:srgbClr val="64365C"/>
                </a:solidFill>
                <a:latin typeface="Calibri"/>
                <a:cs typeface="Calibri"/>
              </a:rPr>
              <a:t> </a:t>
            </a:r>
            <a:r>
              <a:rPr sz="2400" b="1" spc="-15" dirty="0">
                <a:solidFill>
                  <a:srgbClr val="64365C"/>
                </a:solidFill>
                <a:latin typeface="Calibri"/>
                <a:cs typeface="Calibri"/>
              </a:rPr>
              <a:t>percentages</a:t>
            </a:r>
            <a:r>
              <a:rPr sz="2400" b="1" spc="10" dirty="0">
                <a:solidFill>
                  <a:srgbClr val="64365C"/>
                </a:solidFill>
                <a:latin typeface="Calibri"/>
                <a:cs typeface="Calibri"/>
              </a:rPr>
              <a:t> </a:t>
            </a:r>
            <a:r>
              <a:rPr sz="2400" dirty="0">
                <a:solidFill>
                  <a:srgbClr val="64365C"/>
                </a:solidFill>
                <a:latin typeface="Calibri"/>
                <a:cs typeface="Calibri"/>
              </a:rPr>
              <a:t>or</a:t>
            </a:r>
            <a:r>
              <a:rPr sz="2400" spc="-10" dirty="0">
                <a:solidFill>
                  <a:srgbClr val="64365C"/>
                </a:solidFill>
                <a:latin typeface="Calibri"/>
                <a:cs typeface="Calibri"/>
              </a:rPr>
              <a:t> </a:t>
            </a:r>
            <a:r>
              <a:rPr sz="2400" b="1" dirty="0">
                <a:solidFill>
                  <a:srgbClr val="64365C"/>
                </a:solidFill>
                <a:latin typeface="Calibri"/>
                <a:cs typeface="Calibri"/>
              </a:rPr>
              <a:t>proportions</a:t>
            </a:r>
            <a:r>
              <a:rPr sz="2400" dirty="0">
                <a:solidFill>
                  <a:srgbClr val="64365C"/>
                </a:solidFill>
                <a:latin typeface="Calibri"/>
                <a:cs typeface="Calibri"/>
              </a:rPr>
              <a:t>.</a:t>
            </a:r>
            <a:endParaRPr sz="2400" dirty="0">
              <a:latin typeface="Calibri"/>
              <a:cs typeface="Calibri"/>
            </a:endParaRPr>
          </a:p>
        </p:txBody>
      </p:sp>
      <p:grpSp>
        <p:nvGrpSpPr>
          <p:cNvPr id="8" name="object 8"/>
          <p:cNvGrpSpPr/>
          <p:nvPr/>
        </p:nvGrpSpPr>
        <p:grpSpPr>
          <a:xfrm>
            <a:off x="6228184" y="691770"/>
            <a:ext cx="2384178" cy="5493385"/>
            <a:chOff x="7352474" y="691769"/>
            <a:chExt cx="4130675" cy="5493385"/>
          </a:xfrm>
        </p:grpSpPr>
        <p:sp>
          <p:nvSpPr>
            <p:cNvPr id="9" name="object 9"/>
            <p:cNvSpPr/>
            <p:nvPr/>
          </p:nvSpPr>
          <p:spPr>
            <a:xfrm>
              <a:off x="7360411" y="699706"/>
              <a:ext cx="4114800" cy="5477510"/>
            </a:xfrm>
            <a:custGeom>
              <a:avLst/>
              <a:gdLst/>
              <a:ahLst/>
              <a:cxnLst/>
              <a:rect l="l" t="t" r="r" b="b"/>
              <a:pathLst>
                <a:path w="4114800" h="5477510">
                  <a:moveTo>
                    <a:pt x="0" y="5477256"/>
                  </a:moveTo>
                  <a:lnTo>
                    <a:pt x="4114800" y="5477256"/>
                  </a:lnTo>
                  <a:lnTo>
                    <a:pt x="4114800" y="0"/>
                  </a:lnTo>
                  <a:lnTo>
                    <a:pt x="0" y="0"/>
                  </a:lnTo>
                  <a:lnTo>
                    <a:pt x="0" y="5477256"/>
                  </a:lnTo>
                  <a:close/>
                </a:path>
              </a:pathLst>
            </a:custGeom>
            <a:ln w="15875">
              <a:solidFill>
                <a:srgbClr val="64365C"/>
              </a:solidFill>
            </a:ln>
          </p:spPr>
          <p:txBody>
            <a:bodyPr wrap="square" lIns="0" tIns="0" rIns="0" bIns="0" rtlCol="0"/>
            <a:lstStyle/>
            <a:p>
              <a:endParaRPr/>
            </a:p>
          </p:txBody>
        </p:sp>
        <p:pic>
          <p:nvPicPr>
            <p:cNvPr id="10" name="object 10"/>
            <p:cNvPicPr/>
            <p:nvPr/>
          </p:nvPicPr>
          <p:blipFill>
            <a:blip r:embed="rId2" cstate="print"/>
            <a:stretch>
              <a:fillRect/>
            </a:stretch>
          </p:blipFill>
          <p:spPr>
            <a:xfrm>
              <a:off x="7523860" y="862787"/>
              <a:ext cx="3788029" cy="5151120"/>
            </a:xfrm>
            <a:prstGeom prst="rect">
              <a:avLst/>
            </a:prstGeom>
          </p:spPr>
        </p:pic>
      </p:grpSp>
    </p:spTree>
    <p:extLst>
      <p:ext uri="{BB962C8B-B14F-4D97-AF65-F5344CB8AC3E}">
        <p14:creationId xmlns:p14="http://schemas.microsoft.com/office/powerpoint/2010/main" val="36889178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526441" y="629794"/>
            <a:ext cx="4935855" cy="3894015"/>
          </a:xfrm>
          <a:prstGeom prst="rect">
            <a:avLst/>
          </a:prstGeom>
        </p:spPr>
        <p:txBody>
          <a:bodyPr vert="horz" wrap="square" lIns="0" tIns="46355" rIns="0" bIns="0" rtlCol="0">
            <a:spAutoFit/>
          </a:bodyPr>
          <a:lstStyle/>
          <a:p>
            <a:pPr marL="299085" marR="36830" indent="-287020">
              <a:lnSpc>
                <a:spcPts val="2160"/>
              </a:lnSpc>
              <a:spcBef>
                <a:spcPts val="365"/>
              </a:spcBef>
              <a:buFont typeface="Wingdings"/>
              <a:buChar char=""/>
              <a:tabLst>
                <a:tab pos="299720" algn="l"/>
              </a:tabLst>
            </a:pPr>
            <a:r>
              <a:rPr sz="2000" b="1" spc="-5" dirty="0">
                <a:latin typeface="Calibri"/>
                <a:cs typeface="Calibri"/>
              </a:rPr>
              <a:t>A</a:t>
            </a:r>
            <a:r>
              <a:rPr sz="2000" b="1" spc="-15" dirty="0">
                <a:latin typeface="Calibri"/>
                <a:cs typeface="Calibri"/>
              </a:rPr>
              <a:t> </a:t>
            </a:r>
            <a:r>
              <a:rPr sz="2000" b="1" spc="-10" dirty="0">
                <a:latin typeface="Calibri"/>
                <a:cs typeface="Calibri"/>
              </a:rPr>
              <a:t>cumulative</a:t>
            </a:r>
            <a:r>
              <a:rPr sz="2000" b="1" spc="25" dirty="0">
                <a:latin typeface="Calibri"/>
                <a:cs typeface="Calibri"/>
              </a:rPr>
              <a:t> </a:t>
            </a:r>
            <a:r>
              <a:rPr sz="2000" b="1" spc="-5" dirty="0">
                <a:latin typeface="Calibri"/>
                <a:cs typeface="Calibri"/>
              </a:rPr>
              <a:t>frequency</a:t>
            </a:r>
            <a:r>
              <a:rPr sz="2000" b="1" spc="-10" dirty="0">
                <a:latin typeface="Calibri"/>
                <a:cs typeface="Calibri"/>
              </a:rPr>
              <a:t> </a:t>
            </a:r>
            <a:r>
              <a:rPr sz="2000" b="1" spc="-5" dirty="0">
                <a:latin typeface="Calibri"/>
                <a:cs typeface="Calibri"/>
              </a:rPr>
              <a:t>is</a:t>
            </a:r>
            <a:r>
              <a:rPr sz="2000" b="1" spc="15" dirty="0">
                <a:latin typeface="Calibri"/>
                <a:cs typeface="Calibri"/>
              </a:rPr>
              <a:t> </a:t>
            </a:r>
            <a:r>
              <a:rPr sz="2000" b="1" spc="-5" dirty="0">
                <a:latin typeface="Calibri"/>
                <a:cs typeface="Calibri"/>
              </a:rPr>
              <a:t>the</a:t>
            </a:r>
            <a:r>
              <a:rPr sz="2000" b="1" spc="-20" dirty="0">
                <a:latin typeface="Calibri"/>
                <a:cs typeface="Calibri"/>
              </a:rPr>
              <a:t> </a:t>
            </a:r>
            <a:r>
              <a:rPr sz="2000" b="1" spc="-5" dirty="0">
                <a:latin typeface="Calibri"/>
                <a:cs typeface="Calibri"/>
              </a:rPr>
              <a:t>number</a:t>
            </a:r>
            <a:r>
              <a:rPr sz="2000" b="1" spc="-15" dirty="0">
                <a:latin typeface="Calibri"/>
                <a:cs typeface="Calibri"/>
              </a:rPr>
              <a:t> </a:t>
            </a:r>
            <a:r>
              <a:rPr sz="2000" b="1" spc="-5" dirty="0">
                <a:latin typeface="Calibri"/>
                <a:cs typeface="Calibri"/>
              </a:rPr>
              <a:t>of times </a:t>
            </a:r>
            <a:r>
              <a:rPr sz="2000" b="1" spc="-10" dirty="0">
                <a:latin typeface="Calibri"/>
                <a:cs typeface="Calibri"/>
              </a:rPr>
              <a:t>that</a:t>
            </a:r>
            <a:r>
              <a:rPr sz="2000" b="1" spc="45" dirty="0">
                <a:latin typeface="Calibri"/>
                <a:cs typeface="Calibri"/>
              </a:rPr>
              <a:t> </a:t>
            </a:r>
            <a:r>
              <a:rPr sz="2000" b="1" spc="-5" dirty="0">
                <a:latin typeface="Calibri"/>
                <a:cs typeface="Calibri"/>
              </a:rPr>
              <a:t>a </a:t>
            </a:r>
            <a:r>
              <a:rPr sz="2000" b="1" spc="-10" dirty="0">
                <a:latin typeface="Calibri"/>
                <a:cs typeface="Calibri"/>
              </a:rPr>
              <a:t>value </a:t>
            </a:r>
            <a:r>
              <a:rPr sz="2000" b="1" spc="-440" dirty="0">
                <a:latin typeface="Calibri"/>
                <a:cs typeface="Calibri"/>
              </a:rPr>
              <a:t> </a:t>
            </a:r>
            <a:r>
              <a:rPr sz="2000" b="1" spc="-5" dirty="0">
                <a:latin typeface="Calibri"/>
                <a:cs typeface="Calibri"/>
              </a:rPr>
              <a:t>and</a:t>
            </a:r>
            <a:r>
              <a:rPr sz="2000" b="1" spc="-15" dirty="0">
                <a:latin typeface="Calibri"/>
                <a:cs typeface="Calibri"/>
              </a:rPr>
              <a:t> </a:t>
            </a:r>
            <a:r>
              <a:rPr sz="2000" b="1" spc="-10" dirty="0">
                <a:latin typeface="Calibri"/>
                <a:cs typeface="Calibri"/>
              </a:rPr>
              <a:t>all</a:t>
            </a:r>
            <a:r>
              <a:rPr sz="2000" b="1" spc="15" dirty="0">
                <a:latin typeface="Calibri"/>
                <a:cs typeface="Calibri"/>
              </a:rPr>
              <a:t> </a:t>
            </a:r>
            <a:r>
              <a:rPr sz="2000" b="1" spc="-15" dirty="0">
                <a:latin typeface="Calibri"/>
                <a:cs typeface="Calibri"/>
              </a:rPr>
              <a:t>values</a:t>
            </a:r>
            <a:r>
              <a:rPr sz="2000" b="1" spc="20" dirty="0">
                <a:latin typeface="Calibri"/>
                <a:cs typeface="Calibri"/>
              </a:rPr>
              <a:t> </a:t>
            </a:r>
            <a:r>
              <a:rPr sz="2000" b="1" spc="-10" dirty="0">
                <a:latin typeface="Calibri"/>
                <a:cs typeface="Calibri"/>
              </a:rPr>
              <a:t>that</a:t>
            </a:r>
            <a:r>
              <a:rPr sz="2000" b="1" spc="-15" dirty="0">
                <a:latin typeface="Calibri"/>
                <a:cs typeface="Calibri"/>
              </a:rPr>
              <a:t> </a:t>
            </a:r>
            <a:r>
              <a:rPr sz="2000" b="1" spc="-5" dirty="0">
                <a:latin typeface="Calibri"/>
                <a:cs typeface="Calibri"/>
              </a:rPr>
              <a:t>precede</a:t>
            </a:r>
            <a:r>
              <a:rPr sz="2000" b="1" dirty="0">
                <a:latin typeface="Calibri"/>
                <a:cs typeface="Calibri"/>
              </a:rPr>
              <a:t> </a:t>
            </a:r>
            <a:r>
              <a:rPr sz="2000" b="1" spc="-5" dirty="0">
                <a:latin typeface="Calibri"/>
                <a:cs typeface="Calibri"/>
              </a:rPr>
              <a:t>it</a:t>
            </a:r>
            <a:r>
              <a:rPr sz="2000" b="1" spc="-20" dirty="0">
                <a:latin typeface="Calibri"/>
                <a:cs typeface="Calibri"/>
              </a:rPr>
              <a:t> </a:t>
            </a:r>
            <a:r>
              <a:rPr sz="2000" b="1" spc="-30" dirty="0">
                <a:latin typeface="Calibri"/>
                <a:cs typeface="Calibri"/>
              </a:rPr>
              <a:t>occur.</a:t>
            </a:r>
            <a:r>
              <a:rPr sz="2000" b="1" spc="-25" dirty="0">
                <a:latin typeface="Calibri"/>
                <a:cs typeface="Calibri"/>
              </a:rPr>
              <a:t> </a:t>
            </a:r>
            <a:r>
              <a:rPr sz="2000" b="1" spc="5" dirty="0">
                <a:latin typeface="Calibri"/>
                <a:cs typeface="Calibri"/>
              </a:rPr>
              <a:t>T</a:t>
            </a:r>
            <a:r>
              <a:rPr sz="2000" spc="5" dirty="0">
                <a:latin typeface="Calibri"/>
                <a:cs typeface="Calibri"/>
              </a:rPr>
              <a:t>he</a:t>
            </a:r>
            <a:endParaRPr sz="2000">
              <a:latin typeface="Calibri"/>
              <a:cs typeface="Calibri"/>
            </a:endParaRPr>
          </a:p>
          <a:p>
            <a:pPr marL="299085">
              <a:lnSpc>
                <a:spcPts val="2130"/>
              </a:lnSpc>
            </a:pPr>
            <a:r>
              <a:rPr sz="2000" spc="-10" dirty="0">
                <a:latin typeface="Calibri"/>
                <a:cs typeface="Calibri"/>
              </a:rPr>
              <a:t>frequencies</a:t>
            </a:r>
            <a:r>
              <a:rPr sz="2000" spc="85" dirty="0">
                <a:latin typeface="Calibri"/>
                <a:cs typeface="Calibri"/>
              </a:rPr>
              <a:t> </a:t>
            </a:r>
            <a:r>
              <a:rPr sz="2000" spc="-10" dirty="0">
                <a:latin typeface="Calibri"/>
                <a:cs typeface="Calibri"/>
              </a:rPr>
              <a:t>accumulate</a:t>
            </a:r>
            <a:r>
              <a:rPr sz="2000" spc="60" dirty="0">
                <a:latin typeface="Calibri"/>
                <a:cs typeface="Calibri"/>
              </a:rPr>
              <a:t> </a:t>
            </a:r>
            <a:r>
              <a:rPr sz="2000" spc="-20" dirty="0">
                <a:latin typeface="Calibri"/>
                <a:cs typeface="Calibri"/>
              </a:rPr>
              <a:t>over</a:t>
            </a:r>
            <a:r>
              <a:rPr sz="2000" spc="35" dirty="0">
                <a:latin typeface="Calibri"/>
                <a:cs typeface="Calibri"/>
              </a:rPr>
              <a:t> </a:t>
            </a:r>
            <a:r>
              <a:rPr sz="2000" spc="-15" dirty="0">
                <a:latin typeface="Calibri"/>
                <a:cs typeface="Calibri"/>
              </a:rPr>
              <a:t>values</a:t>
            </a:r>
            <a:r>
              <a:rPr sz="2000" spc="60" dirty="0">
                <a:latin typeface="Calibri"/>
                <a:cs typeface="Calibri"/>
              </a:rPr>
              <a:t> </a:t>
            </a:r>
            <a:r>
              <a:rPr sz="2000" spc="-10" dirty="0">
                <a:latin typeface="Calibri"/>
                <a:cs typeface="Calibri"/>
              </a:rPr>
              <a:t>-hence</a:t>
            </a:r>
            <a:r>
              <a:rPr sz="2000" spc="25" dirty="0">
                <a:latin typeface="Calibri"/>
                <a:cs typeface="Calibri"/>
              </a:rPr>
              <a:t> </a:t>
            </a:r>
            <a:r>
              <a:rPr sz="2000" spc="-35" dirty="0">
                <a:latin typeface="Calibri"/>
                <a:cs typeface="Calibri"/>
              </a:rPr>
              <a:t>“cumulative”.</a:t>
            </a:r>
            <a:endParaRPr sz="2000">
              <a:latin typeface="Calibri"/>
              <a:cs typeface="Calibri"/>
            </a:endParaRPr>
          </a:p>
          <a:p>
            <a:pPr marL="299085" indent="-287020">
              <a:lnSpc>
                <a:spcPts val="2280"/>
              </a:lnSpc>
              <a:spcBef>
                <a:spcPts val="770"/>
              </a:spcBef>
              <a:buFont typeface="Wingdings"/>
              <a:buChar char=""/>
              <a:tabLst>
                <a:tab pos="299720" algn="l"/>
              </a:tabLst>
            </a:pPr>
            <a:r>
              <a:rPr sz="2000" spc="-15" dirty="0">
                <a:latin typeface="Calibri"/>
                <a:cs typeface="Calibri"/>
              </a:rPr>
              <a:t>Cumulative</a:t>
            </a:r>
            <a:r>
              <a:rPr sz="2000" spc="65" dirty="0">
                <a:latin typeface="Calibri"/>
                <a:cs typeface="Calibri"/>
              </a:rPr>
              <a:t> </a:t>
            </a:r>
            <a:r>
              <a:rPr sz="2000" spc="-10" dirty="0">
                <a:latin typeface="Calibri"/>
                <a:cs typeface="Calibri"/>
              </a:rPr>
              <a:t>frequencies</a:t>
            </a:r>
            <a:r>
              <a:rPr sz="2000" spc="60" dirty="0">
                <a:latin typeface="Calibri"/>
                <a:cs typeface="Calibri"/>
              </a:rPr>
              <a:t> </a:t>
            </a:r>
            <a:r>
              <a:rPr sz="2000" spc="-5" dirty="0">
                <a:latin typeface="Calibri"/>
                <a:cs typeface="Calibri"/>
              </a:rPr>
              <a:t>depend</a:t>
            </a:r>
            <a:r>
              <a:rPr sz="2000" spc="5" dirty="0">
                <a:latin typeface="Calibri"/>
                <a:cs typeface="Calibri"/>
              </a:rPr>
              <a:t> </a:t>
            </a:r>
            <a:r>
              <a:rPr sz="2000" spc="-5" dirty="0">
                <a:latin typeface="Calibri"/>
                <a:cs typeface="Calibri"/>
              </a:rPr>
              <a:t>on</a:t>
            </a:r>
            <a:r>
              <a:rPr sz="2000" spc="-15" dirty="0">
                <a:latin typeface="Calibri"/>
                <a:cs typeface="Calibri"/>
              </a:rPr>
              <a:t> </a:t>
            </a:r>
            <a:r>
              <a:rPr sz="2000" dirty="0">
                <a:latin typeface="Calibri"/>
                <a:cs typeface="Calibri"/>
              </a:rPr>
              <a:t>the</a:t>
            </a:r>
            <a:r>
              <a:rPr sz="2000" spc="45" dirty="0">
                <a:latin typeface="Calibri"/>
                <a:cs typeface="Calibri"/>
              </a:rPr>
              <a:t> </a:t>
            </a:r>
            <a:r>
              <a:rPr sz="2000" b="1" spc="-5" dirty="0">
                <a:latin typeface="Calibri"/>
                <a:cs typeface="Calibri"/>
              </a:rPr>
              <a:t>order</a:t>
            </a:r>
            <a:r>
              <a:rPr sz="2000" b="1" dirty="0">
                <a:latin typeface="Calibri"/>
                <a:cs typeface="Calibri"/>
              </a:rPr>
              <a:t> </a:t>
            </a:r>
            <a:r>
              <a:rPr sz="2000" spc="-5" dirty="0">
                <a:latin typeface="Calibri"/>
                <a:cs typeface="Calibri"/>
              </a:rPr>
              <a:t>in</a:t>
            </a:r>
            <a:r>
              <a:rPr sz="2000" dirty="0">
                <a:latin typeface="Calibri"/>
                <a:cs typeface="Calibri"/>
              </a:rPr>
              <a:t> </a:t>
            </a:r>
            <a:r>
              <a:rPr sz="2000" spc="-5" dirty="0">
                <a:latin typeface="Calibri"/>
                <a:cs typeface="Calibri"/>
              </a:rPr>
              <a:t>which</a:t>
            </a:r>
            <a:r>
              <a:rPr sz="2000" spc="5" dirty="0">
                <a:latin typeface="Calibri"/>
                <a:cs typeface="Calibri"/>
              </a:rPr>
              <a:t> </a:t>
            </a:r>
            <a:r>
              <a:rPr sz="2000" spc="-10" dirty="0">
                <a:latin typeface="Calibri"/>
                <a:cs typeface="Calibri"/>
              </a:rPr>
              <a:t>values</a:t>
            </a:r>
            <a:endParaRPr sz="2000">
              <a:latin typeface="Calibri"/>
              <a:cs typeface="Calibri"/>
            </a:endParaRPr>
          </a:p>
          <a:p>
            <a:pPr marL="299085">
              <a:lnSpc>
                <a:spcPts val="2280"/>
              </a:lnSpc>
            </a:pPr>
            <a:r>
              <a:rPr sz="2000" spc="-15" dirty="0">
                <a:latin typeface="Calibri"/>
                <a:cs typeface="Calibri"/>
              </a:rPr>
              <a:t>are</a:t>
            </a:r>
            <a:r>
              <a:rPr sz="2000" spc="5" dirty="0">
                <a:latin typeface="Calibri"/>
                <a:cs typeface="Calibri"/>
              </a:rPr>
              <a:t> </a:t>
            </a:r>
            <a:r>
              <a:rPr sz="2000" spc="-15" dirty="0">
                <a:latin typeface="Calibri"/>
                <a:cs typeface="Calibri"/>
              </a:rPr>
              <a:t>listed</a:t>
            </a:r>
            <a:r>
              <a:rPr sz="2000" spc="25" dirty="0">
                <a:latin typeface="Calibri"/>
                <a:cs typeface="Calibri"/>
              </a:rPr>
              <a:t> </a:t>
            </a:r>
            <a:r>
              <a:rPr sz="2000" spc="-5" dirty="0">
                <a:latin typeface="Calibri"/>
                <a:cs typeface="Calibri"/>
              </a:rPr>
              <a:t>in</a:t>
            </a:r>
            <a:r>
              <a:rPr sz="2000" dirty="0">
                <a:latin typeface="Calibri"/>
                <a:cs typeface="Calibri"/>
              </a:rPr>
              <a:t> </a:t>
            </a:r>
            <a:r>
              <a:rPr sz="2000" spc="-5" dirty="0">
                <a:latin typeface="Calibri"/>
                <a:cs typeface="Calibri"/>
              </a:rPr>
              <a:t>a</a:t>
            </a:r>
            <a:r>
              <a:rPr sz="2000" dirty="0">
                <a:latin typeface="Calibri"/>
                <a:cs typeface="Calibri"/>
              </a:rPr>
              <a:t> </a:t>
            </a:r>
            <a:r>
              <a:rPr sz="2000" spc="-10" dirty="0">
                <a:latin typeface="Calibri"/>
                <a:cs typeface="Calibri"/>
              </a:rPr>
              <a:t>frequency</a:t>
            </a:r>
            <a:r>
              <a:rPr sz="2000" spc="25" dirty="0">
                <a:latin typeface="Calibri"/>
                <a:cs typeface="Calibri"/>
              </a:rPr>
              <a:t> </a:t>
            </a:r>
            <a:r>
              <a:rPr sz="2000" spc="-10" dirty="0">
                <a:latin typeface="Calibri"/>
                <a:cs typeface="Calibri"/>
              </a:rPr>
              <a:t>table</a:t>
            </a:r>
            <a:endParaRPr sz="2000">
              <a:latin typeface="Calibri"/>
              <a:cs typeface="Calibri"/>
            </a:endParaRPr>
          </a:p>
          <a:p>
            <a:pPr marL="299085" indent="-287020">
              <a:lnSpc>
                <a:spcPts val="2215"/>
              </a:lnSpc>
              <a:spcBef>
                <a:spcPts val="745"/>
              </a:spcBef>
              <a:buFont typeface="Wingdings"/>
              <a:buChar char=""/>
              <a:tabLst>
                <a:tab pos="299720" algn="l"/>
              </a:tabLst>
            </a:pPr>
            <a:r>
              <a:rPr sz="2000" spc="-10" dirty="0">
                <a:latin typeface="Calibri"/>
                <a:cs typeface="Calibri"/>
              </a:rPr>
              <a:t>cumulative</a:t>
            </a:r>
            <a:r>
              <a:rPr sz="2000" spc="70" dirty="0">
                <a:latin typeface="Calibri"/>
                <a:cs typeface="Calibri"/>
              </a:rPr>
              <a:t> </a:t>
            </a:r>
            <a:r>
              <a:rPr sz="2000" spc="-10" dirty="0">
                <a:latin typeface="Calibri"/>
                <a:cs typeface="Calibri"/>
              </a:rPr>
              <a:t>frequencies</a:t>
            </a:r>
            <a:r>
              <a:rPr sz="2000" spc="65" dirty="0">
                <a:latin typeface="Calibri"/>
                <a:cs typeface="Calibri"/>
              </a:rPr>
              <a:t> </a:t>
            </a:r>
            <a:r>
              <a:rPr sz="2000" spc="-10" dirty="0">
                <a:latin typeface="Calibri"/>
                <a:cs typeface="Calibri"/>
              </a:rPr>
              <a:t>are</a:t>
            </a:r>
            <a:r>
              <a:rPr sz="2000" spc="15" dirty="0">
                <a:latin typeface="Calibri"/>
                <a:cs typeface="Calibri"/>
              </a:rPr>
              <a:t> </a:t>
            </a:r>
            <a:r>
              <a:rPr sz="2000" b="1" dirty="0">
                <a:latin typeface="Calibri"/>
                <a:cs typeface="Calibri"/>
              </a:rPr>
              <a:t>not</a:t>
            </a:r>
            <a:r>
              <a:rPr sz="2000" b="1" spc="-10" dirty="0">
                <a:latin typeface="Calibri"/>
                <a:cs typeface="Calibri"/>
              </a:rPr>
              <a:t> useful</a:t>
            </a:r>
            <a:r>
              <a:rPr sz="2000" b="1" spc="25" dirty="0">
                <a:latin typeface="Calibri"/>
                <a:cs typeface="Calibri"/>
              </a:rPr>
              <a:t> </a:t>
            </a:r>
            <a:r>
              <a:rPr sz="2000" spc="-25" dirty="0">
                <a:latin typeface="Calibri"/>
                <a:cs typeface="Calibri"/>
              </a:rPr>
              <a:t>for</a:t>
            </a:r>
            <a:r>
              <a:rPr sz="2000" spc="40" dirty="0">
                <a:latin typeface="Calibri"/>
                <a:cs typeface="Calibri"/>
              </a:rPr>
              <a:t> </a:t>
            </a:r>
            <a:r>
              <a:rPr sz="2000" b="1" spc="-5" dirty="0">
                <a:latin typeface="Calibri"/>
                <a:cs typeface="Calibri"/>
              </a:rPr>
              <a:t>nominal</a:t>
            </a:r>
            <a:r>
              <a:rPr sz="2000" b="1" spc="-10" dirty="0">
                <a:latin typeface="Calibri"/>
                <a:cs typeface="Calibri"/>
              </a:rPr>
              <a:t> variables</a:t>
            </a:r>
            <a:r>
              <a:rPr sz="2000" spc="-10" dirty="0">
                <a:latin typeface="Calibri"/>
                <a:cs typeface="Calibri"/>
              </a:rPr>
              <a:t>.</a:t>
            </a:r>
            <a:endParaRPr sz="2000">
              <a:latin typeface="Calibri"/>
              <a:cs typeface="Calibri"/>
            </a:endParaRPr>
          </a:p>
          <a:p>
            <a:pPr marL="299085">
              <a:lnSpc>
                <a:spcPts val="3175"/>
              </a:lnSpc>
            </a:pPr>
            <a:r>
              <a:rPr sz="2000" spc="-10" dirty="0">
                <a:latin typeface="Calibri"/>
                <a:cs typeface="Calibri"/>
              </a:rPr>
              <a:t>This</a:t>
            </a:r>
            <a:r>
              <a:rPr sz="2000" spc="10" dirty="0">
                <a:latin typeface="Calibri"/>
                <a:cs typeface="Calibri"/>
              </a:rPr>
              <a:t> </a:t>
            </a:r>
            <a:r>
              <a:rPr sz="2000" spc="-5" dirty="0">
                <a:latin typeface="Calibri"/>
                <a:cs typeface="Calibri"/>
              </a:rPr>
              <a:t>is</a:t>
            </a:r>
            <a:r>
              <a:rPr sz="2000" spc="10" dirty="0">
                <a:latin typeface="Calibri"/>
                <a:cs typeface="Calibri"/>
              </a:rPr>
              <a:t> </a:t>
            </a:r>
            <a:r>
              <a:rPr sz="2000" spc="-10" dirty="0">
                <a:latin typeface="Calibri"/>
                <a:cs typeface="Calibri"/>
              </a:rPr>
              <a:t>because</a:t>
            </a:r>
            <a:r>
              <a:rPr sz="2000" spc="40" dirty="0">
                <a:latin typeface="Calibri"/>
                <a:cs typeface="Calibri"/>
              </a:rPr>
              <a:t> </a:t>
            </a:r>
            <a:r>
              <a:rPr sz="2000" spc="-5" dirty="0">
                <a:latin typeface="Calibri"/>
                <a:cs typeface="Calibri"/>
              </a:rPr>
              <a:t>their</a:t>
            </a:r>
            <a:r>
              <a:rPr sz="2000" spc="30" dirty="0">
                <a:latin typeface="Calibri"/>
                <a:cs typeface="Calibri"/>
              </a:rPr>
              <a:t> </a:t>
            </a:r>
            <a:r>
              <a:rPr sz="2000" spc="-15" dirty="0">
                <a:latin typeface="Calibri"/>
                <a:cs typeface="Calibri"/>
              </a:rPr>
              <a:t>values</a:t>
            </a:r>
            <a:r>
              <a:rPr sz="2000" spc="35" dirty="0">
                <a:latin typeface="Calibri"/>
                <a:cs typeface="Calibri"/>
              </a:rPr>
              <a:t> </a:t>
            </a:r>
            <a:r>
              <a:rPr sz="2000" spc="-5" dirty="0">
                <a:latin typeface="Calibri"/>
                <a:cs typeface="Calibri"/>
              </a:rPr>
              <a:t>don't</a:t>
            </a:r>
            <a:r>
              <a:rPr sz="2000" spc="-20" dirty="0">
                <a:latin typeface="Calibri"/>
                <a:cs typeface="Calibri"/>
              </a:rPr>
              <a:t> have</a:t>
            </a:r>
            <a:r>
              <a:rPr sz="2000" spc="15" dirty="0">
                <a:latin typeface="Calibri"/>
                <a:cs typeface="Calibri"/>
              </a:rPr>
              <a:t> </a:t>
            </a:r>
            <a:r>
              <a:rPr sz="2000" spc="-5" dirty="0">
                <a:latin typeface="Calibri"/>
                <a:cs typeface="Calibri"/>
              </a:rPr>
              <a:t>an </a:t>
            </a:r>
            <a:r>
              <a:rPr sz="2000" spc="-10" dirty="0">
                <a:latin typeface="Calibri"/>
                <a:cs typeface="Calibri"/>
              </a:rPr>
              <a:t>inherent</a:t>
            </a:r>
            <a:r>
              <a:rPr sz="2000" spc="30" dirty="0">
                <a:latin typeface="Calibri"/>
                <a:cs typeface="Calibri"/>
              </a:rPr>
              <a:t> </a:t>
            </a:r>
            <a:r>
              <a:rPr sz="2000" spc="-5" dirty="0">
                <a:latin typeface="Calibri"/>
                <a:cs typeface="Calibri"/>
              </a:rPr>
              <a:t>order</a:t>
            </a:r>
            <a:r>
              <a:rPr sz="2800" spc="-5" dirty="0">
                <a:latin typeface="Calibri"/>
                <a:cs typeface="Calibri"/>
              </a:rPr>
              <a:t>.</a:t>
            </a:r>
            <a:endParaRPr sz="2800">
              <a:latin typeface="Calibri"/>
              <a:cs typeface="Calibri"/>
            </a:endParaRPr>
          </a:p>
        </p:txBody>
      </p:sp>
      <p:pic>
        <p:nvPicPr>
          <p:cNvPr id="3" name="object 3"/>
          <p:cNvPicPr/>
          <p:nvPr/>
        </p:nvPicPr>
        <p:blipFill>
          <a:blip r:embed="rId2" cstate="print"/>
          <a:stretch>
            <a:fillRect/>
          </a:stretch>
        </p:blipFill>
        <p:spPr>
          <a:xfrm>
            <a:off x="586089" y="4326627"/>
            <a:ext cx="7677912" cy="1854537"/>
          </a:xfrm>
          <a:prstGeom prst="rect">
            <a:avLst/>
          </a:prstGeom>
        </p:spPr>
      </p:pic>
      <p:grpSp>
        <p:nvGrpSpPr>
          <p:cNvPr id="4" name="object 4"/>
          <p:cNvGrpSpPr/>
          <p:nvPr/>
        </p:nvGrpSpPr>
        <p:grpSpPr>
          <a:xfrm>
            <a:off x="426281" y="333629"/>
            <a:ext cx="3201353" cy="3463290"/>
            <a:chOff x="568375" y="333629"/>
            <a:chExt cx="4268470" cy="3463290"/>
          </a:xfrm>
        </p:grpSpPr>
        <p:sp>
          <p:nvSpPr>
            <p:cNvPr id="5" name="object 5"/>
            <p:cNvSpPr/>
            <p:nvPr/>
          </p:nvSpPr>
          <p:spPr>
            <a:xfrm>
              <a:off x="574725" y="339979"/>
              <a:ext cx="4255770" cy="3450590"/>
            </a:xfrm>
            <a:custGeom>
              <a:avLst/>
              <a:gdLst/>
              <a:ahLst/>
              <a:cxnLst/>
              <a:rect l="l" t="t" r="r" b="b"/>
              <a:pathLst>
                <a:path w="4255770" h="3450590">
                  <a:moveTo>
                    <a:pt x="2530424" y="0"/>
                  </a:moveTo>
                  <a:lnTo>
                    <a:pt x="0" y="0"/>
                  </a:lnTo>
                  <a:lnTo>
                    <a:pt x="0" y="3450590"/>
                  </a:lnTo>
                  <a:lnTo>
                    <a:pt x="2530424" y="3450590"/>
                  </a:lnTo>
                  <a:lnTo>
                    <a:pt x="4255719" y="1725295"/>
                  </a:lnTo>
                  <a:lnTo>
                    <a:pt x="2530424" y="0"/>
                  </a:lnTo>
                  <a:close/>
                </a:path>
              </a:pathLst>
            </a:custGeom>
            <a:solidFill>
              <a:srgbClr val="6F2F9F"/>
            </a:solidFill>
          </p:spPr>
          <p:txBody>
            <a:bodyPr wrap="square" lIns="0" tIns="0" rIns="0" bIns="0" rtlCol="0"/>
            <a:lstStyle/>
            <a:p>
              <a:endParaRPr/>
            </a:p>
          </p:txBody>
        </p:sp>
        <p:sp>
          <p:nvSpPr>
            <p:cNvPr id="6" name="object 6"/>
            <p:cNvSpPr/>
            <p:nvPr/>
          </p:nvSpPr>
          <p:spPr>
            <a:xfrm>
              <a:off x="574725" y="339979"/>
              <a:ext cx="4255770" cy="3450590"/>
            </a:xfrm>
            <a:custGeom>
              <a:avLst/>
              <a:gdLst/>
              <a:ahLst/>
              <a:cxnLst/>
              <a:rect l="l" t="t" r="r" b="b"/>
              <a:pathLst>
                <a:path w="4255770" h="3450590">
                  <a:moveTo>
                    <a:pt x="0" y="0"/>
                  </a:moveTo>
                  <a:lnTo>
                    <a:pt x="2530424" y="0"/>
                  </a:lnTo>
                  <a:lnTo>
                    <a:pt x="4255719" y="1725295"/>
                  </a:lnTo>
                  <a:lnTo>
                    <a:pt x="2530424" y="3450590"/>
                  </a:lnTo>
                  <a:lnTo>
                    <a:pt x="0" y="3450590"/>
                  </a:lnTo>
                  <a:lnTo>
                    <a:pt x="0" y="0"/>
                  </a:lnTo>
                  <a:close/>
                </a:path>
              </a:pathLst>
            </a:custGeom>
            <a:ln w="12700">
              <a:solidFill>
                <a:srgbClr val="2E528F"/>
              </a:solidFill>
            </a:ln>
          </p:spPr>
          <p:txBody>
            <a:bodyPr wrap="square" lIns="0" tIns="0" rIns="0" bIns="0" rtlCol="0"/>
            <a:lstStyle/>
            <a:p>
              <a:endParaRPr/>
            </a:p>
          </p:txBody>
        </p:sp>
      </p:grpSp>
      <p:sp>
        <p:nvSpPr>
          <p:cNvPr id="7" name="object 7"/>
          <p:cNvSpPr txBox="1">
            <a:spLocks noGrp="1"/>
          </p:cNvSpPr>
          <p:nvPr>
            <p:ph type="title"/>
          </p:nvPr>
        </p:nvSpPr>
        <p:spPr>
          <a:xfrm>
            <a:off x="490194" y="-332948"/>
            <a:ext cx="2358390" cy="4444807"/>
          </a:xfrm>
          <a:prstGeom prst="rect">
            <a:avLst/>
          </a:prstGeom>
        </p:spPr>
        <p:txBody>
          <a:bodyPr vert="horz" wrap="square" lIns="0" tIns="12700" rIns="0" bIns="0" rtlCol="0">
            <a:spAutoFit/>
          </a:bodyPr>
          <a:lstStyle/>
          <a:p>
            <a:pPr marL="12700" marR="5080">
              <a:lnSpc>
                <a:spcPct val="100000"/>
              </a:lnSpc>
              <a:spcBef>
                <a:spcPts val="100"/>
              </a:spcBef>
            </a:pPr>
            <a:r>
              <a:rPr sz="4800" spc="-15" dirty="0">
                <a:latin typeface="Calibri Light"/>
                <a:cs typeface="Calibri Light"/>
              </a:rPr>
              <a:t>Cumulative </a:t>
            </a:r>
            <a:r>
              <a:rPr sz="4800" spc="-10" dirty="0">
                <a:latin typeface="Calibri Light"/>
                <a:cs typeface="Calibri Light"/>
              </a:rPr>
              <a:t> </a:t>
            </a:r>
            <a:r>
              <a:rPr sz="4800" spc="-15" dirty="0">
                <a:latin typeface="Calibri Light"/>
                <a:cs typeface="Calibri Light"/>
              </a:rPr>
              <a:t>Frequency </a:t>
            </a:r>
            <a:r>
              <a:rPr sz="4800" spc="-10" dirty="0">
                <a:latin typeface="Calibri Light"/>
                <a:cs typeface="Calibri Light"/>
              </a:rPr>
              <a:t> </a:t>
            </a:r>
            <a:r>
              <a:rPr sz="4800" dirty="0">
                <a:latin typeface="Calibri Light"/>
                <a:cs typeface="Calibri Light"/>
              </a:rPr>
              <a:t>D</a:t>
            </a:r>
            <a:r>
              <a:rPr sz="4800" spc="-15" dirty="0">
                <a:latin typeface="Calibri Light"/>
                <a:cs typeface="Calibri Light"/>
              </a:rPr>
              <a:t>i</a:t>
            </a:r>
            <a:r>
              <a:rPr sz="4800" spc="-60" dirty="0">
                <a:latin typeface="Calibri Light"/>
                <a:cs typeface="Calibri Light"/>
              </a:rPr>
              <a:t>s</a:t>
            </a:r>
            <a:r>
              <a:rPr sz="4800" dirty="0">
                <a:latin typeface="Calibri Light"/>
                <a:cs typeface="Calibri Light"/>
              </a:rPr>
              <a:t>tributions</a:t>
            </a:r>
            <a:endParaRPr sz="4800">
              <a:latin typeface="Calibri Light"/>
              <a:cs typeface="Calibri Light"/>
            </a:endParaRPr>
          </a:p>
        </p:txBody>
      </p:sp>
    </p:spTree>
    <p:extLst>
      <p:ext uri="{BB962C8B-B14F-4D97-AF65-F5344CB8AC3E}">
        <p14:creationId xmlns:p14="http://schemas.microsoft.com/office/powerpoint/2010/main" val="26131627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E82DB9B-63AA-461C-80D2-30A7376A6C24}"/>
              </a:ext>
            </a:extLst>
          </p:cNvPr>
          <p:cNvSpPr>
            <a:spLocks noGrp="1"/>
          </p:cNvSpPr>
          <p:nvPr>
            <p:ph type="title"/>
          </p:nvPr>
        </p:nvSpPr>
        <p:spPr/>
        <p:txBody>
          <a:bodyPr/>
          <a:lstStyle/>
          <a:p>
            <a:r>
              <a:rPr lang="en-US" dirty="0"/>
              <a:t>Cumulative Frequency</a:t>
            </a:r>
            <a:endParaRPr lang="en-IN" dirty="0"/>
          </a:p>
        </p:txBody>
      </p:sp>
      <p:sp>
        <p:nvSpPr>
          <p:cNvPr id="3" name="Content Placeholder 2">
            <a:extLst>
              <a:ext uri="{FF2B5EF4-FFF2-40B4-BE49-F238E27FC236}">
                <a16:creationId xmlns="" xmlns:a16="http://schemas.microsoft.com/office/drawing/2014/main" id="{FCEE04C0-8E08-4A8D-A762-29771846FC8E}"/>
              </a:ext>
            </a:extLst>
          </p:cNvPr>
          <p:cNvSpPr>
            <a:spLocks noGrp="1"/>
          </p:cNvSpPr>
          <p:nvPr>
            <p:ph idx="1"/>
          </p:nvPr>
        </p:nvSpPr>
        <p:spPr/>
        <p:txBody>
          <a:bodyPr>
            <a:normAutofit fontScale="85000" lnSpcReduction="20000"/>
          </a:bodyPr>
          <a:lstStyle/>
          <a:p>
            <a:pPr>
              <a:lnSpc>
                <a:spcPct val="107000"/>
              </a:lnSpc>
              <a:spcAft>
                <a:spcPts val="800"/>
              </a:spcAft>
            </a:pPr>
            <a:r>
              <a:rPr lang="en-US" b="0" i="1" dirty="0">
                <a:solidFill>
                  <a:srgbClr val="000000"/>
                </a:solidFill>
                <a:effectLst/>
                <a:latin typeface="Tahoma" panose="020B0604030504040204" pitchFamily="34" charset="0"/>
              </a:rPr>
              <a:t>Cumulative relative frequency</a:t>
            </a:r>
            <a:r>
              <a:rPr lang="en-US" b="0" i="0" dirty="0">
                <a:solidFill>
                  <a:srgbClr val="000000"/>
                </a:solidFill>
                <a:effectLst/>
                <a:latin typeface="Tahoma" panose="020B0604030504040204" pitchFamily="34" charset="0"/>
              </a:rPr>
              <a:t> is the accumulation of the previous relative frequencies. To find the cumulative relative frequencies, add all the previous relative frequencies to the relative frequency for the current row.</a:t>
            </a:r>
            <a:r>
              <a:rPr lang="en-IN" sz="1800" dirty="0">
                <a:solidFill>
                  <a:srgbClr val="000000"/>
                </a:solidFill>
                <a:effectLst/>
                <a:latin typeface="Tahoma" panose="020B0604030504040204" pitchFamily="34" charset="0"/>
                <a:ea typeface="Times New Roman" panose="02020603050405020304" pitchFamily="18" charset="0"/>
                <a:cs typeface="Times New Roman" panose="02020603050405020304" pitchFamily="18" charset="0"/>
              </a:rPr>
              <a:t> T</a:t>
            </a:r>
          </a:p>
          <a:p>
            <a:pPr>
              <a:lnSpc>
                <a:spcPct val="107000"/>
              </a:lnSpc>
              <a:spcAft>
                <a:spcPts val="800"/>
              </a:spcAft>
            </a:pPr>
            <a:r>
              <a:rPr lang="en-IN" dirty="0">
                <a:solidFill>
                  <a:srgbClr val="000000"/>
                </a:solidFill>
                <a:latin typeface="Tahoma" panose="020B0604030504040204" pitchFamily="34" charset="0"/>
              </a:rPr>
              <a:t>Twenty students were asked how many hours they worked per day. Their responses, in hours, are as follows:</a:t>
            </a:r>
          </a:p>
          <a:p>
            <a:pPr>
              <a:lnSpc>
                <a:spcPct val="107000"/>
              </a:lnSpc>
              <a:spcAft>
                <a:spcPts val="800"/>
              </a:spcAft>
            </a:pPr>
            <a:r>
              <a:rPr lang="en-IN" dirty="0">
                <a:solidFill>
                  <a:srgbClr val="000000"/>
                </a:solidFill>
                <a:latin typeface="Tahoma" panose="020B0604030504040204" pitchFamily="34" charset="0"/>
              </a:rPr>
              <a:t>5; 6; 3; 3; 2; 4; 7; 5; 2; 3; 5; 6; 5; 4; 4; 3; 5; 2; 5; 3.</a:t>
            </a:r>
          </a:p>
          <a:p>
            <a:endParaRPr lang="en-US" b="0" i="0" dirty="0">
              <a:solidFill>
                <a:srgbClr val="000000"/>
              </a:solidFill>
              <a:effectLst/>
              <a:latin typeface="Tahoma" panose="020B0604030504040204" pitchFamily="34" charset="0"/>
            </a:endParaRPr>
          </a:p>
          <a:p>
            <a:endParaRPr lang="en-US" b="0" i="0" dirty="0">
              <a:solidFill>
                <a:srgbClr val="000000"/>
              </a:solidFill>
              <a:effectLst/>
              <a:latin typeface="Tahoma" panose="020B0604030504040204" pitchFamily="34" charset="0"/>
            </a:endParaRPr>
          </a:p>
          <a:p>
            <a:endParaRPr lang="en-IN" dirty="0"/>
          </a:p>
        </p:txBody>
      </p:sp>
    </p:spTree>
    <p:extLst>
      <p:ext uri="{BB962C8B-B14F-4D97-AF65-F5344CB8AC3E}">
        <p14:creationId xmlns:p14="http://schemas.microsoft.com/office/powerpoint/2010/main" val="36056077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2909BC6-E7FA-4F39-AB70-D2DFD12418F2}"/>
              </a:ext>
            </a:extLst>
          </p:cNvPr>
          <p:cNvSpPr>
            <a:spLocks noGrp="1"/>
          </p:cNvSpPr>
          <p:nvPr>
            <p:ph type="title"/>
          </p:nvPr>
        </p:nvSpPr>
        <p:spPr/>
        <p:txBody>
          <a:bodyPr/>
          <a:lstStyle/>
          <a:p>
            <a:r>
              <a:rPr lang="en-US" dirty="0"/>
              <a:t>Frequency Distributions</a:t>
            </a:r>
            <a:endParaRPr lang="en-IN" dirty="0"/>
          </a:p>
        </p:txBody>
      </p:sp>
      <p:graphicFrame>
        <p:nvGraphicFramePr>
          <p:cNvPr id="4" name="Table 3">
            <a:extLst>
              <a:ext uri="{FF2B5EF4-FFF2-40B4-BE49-F238E27FC236}">
                <a16:creationId xmlns="" xmlns:a16="http://schemas.microsoft.com/office/drawing/2014/main" id="{D44296E8-8D64-4BB2-B27D-DA7F274E9C66}"/>
              </a:ext>
            </a:extLst>
          </p:cNvPr>
          <p:cNvGraphicFramePr>
            <a:graphicFrameLocks noGrp="1"/>
          </p:cNvGraphicFramePr>
          <p:nvPr>
            <p:extLst>
              <p:ext uri="{D42A27DB-BD31-4B8C-83A1-F6EECF244321}">
                <p14:modId xmlns:p14="http://schemas.microsoft.com/office/powerpoint/2010/main" val="2662593731"/>
              </p:ext>
            </p:extLst>
          </p:nvPr>
        </p:nvGraphicFramePr>
        <p:xfrm>
          <a:off x="628650" y="1907412"/>
          <a:ext cx="6643688" cy="4049395"/>
        </p:xfrm>
        <a:graphic>
          <a:graphicData uri="http://schemas.openxmlformats.org/drawingml/2006/table">
            <a:tbl>
              <a:tblPr firstRow="1" firstCol="1" bandRow="1">
                <a:tableStyleId>{5C22544A-7EE6-4342-B048-85BDC9FD1C3A}</a:tableStyleId>
              </a:tblPr>
              <a:tblGrid>
                <a:gridCol w="3321844">
                  <a:extLst>
                    <a:ext uri="{9D8B030D-6E8A-4147-A177-3AD203B41FA5}">
                      <a16:colId xmlns="" xmlns:a16="http://schemas.microsoft.com/office/drawing/2014/main" val="1893690569"/>
                    </a:ext>
                  </a:extLst>
                </a:gridCol>
                <a:gridCol w="3321844">
                  <a:extLst>
                    <a:ext uri="{9D8B030D-6E8A-4147-A177-3AD203B41FA5}">
                      <a16:colId xmlns="" xmlns:a16="http://schemas.microsoft.com/office/drawing/2014/main" val="1295983611"/>
                    </a:ext>
                  </a:extLst>
                </a:gridCol>
              </a:tblGrid>
              <a:tr h="0">
                <a:tc>
                  <a:txBody>
                    <a:bodyPr/>
                    <a:lstStyle/>
                    <a:p>
                      <a:pPr algn="ctr">
                        <a:lnSpc>
                          <a:spcPct val="107000"/>
                        </a:lnSpc>
                        <a:spcAft>
                          <a:spcPts val="800"/>
                        </a:spcAft>
                      </a:pPr>
                      <a:r>
                        <a:rPr lang="en-IN" sz="2800" dirty="0">
                          <a:effectLst/>
                        </a:rPr>
                        <a:t>DATA VALUE</a:t>
                      </a:r>
                      <a:endParaRPr lang="en-IN" sz="4000" dirty="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60960" marB="60960" anchor="ctr"/>
                </a:tc>
                <a:tc>
                  <a:txBody>
                    <a:bodyPr/>
                    <a:lstStyle/>
                    <a:p>
                      <a:pPr algn="ctr">
                        <a:lnSpc>
                          <a:spcPct val="107000"/>
                        </a:lnSpc>
                        <a:spcAft>
                          <a:spcPts val="800"/>
                        </a:spcAft>
                      </a:pPr>
                      <a:r>
                        <a:rPr lang="en-IN" sz="2800" dirty="0">
                          <a:effectLst/>
                        </a:rPr>
                        <a:t>FREQUENCY</a:t>
                      </a:r>
                      <a:endParaRPr lang="en-IN" sz="4000" dirty="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60960" marB="60960" anchor="ctr"/>
                </a:tc>
                <a:extLst>
                  <a:ext uri="{0D108BD9-81ED-4DB2-BD59-A6C34878D82A}">
                    <a16:rowId xmlns="" xmlns:a16="http://schemas.microsoft.com/office/drawing/2014/main" val="1999858688"/>
                  </a:ext>
                </a:extLst>
              </a:tr>
              <a:tr h="0">
                <a:tc>
                  <a:txBody>
                    <a:bodyPr/>
                    <a:lstStyle/>
                    <a:p>
                      <a:pPr algn="ctr">
                        <a:lnSpc>
                          <a:spcPct val="107000"/>
                        </a:lnSpc>
                        <a:spcAft>
                          <a:spcPts val="800"/>
                        </a:spcAft>
                      </a:pPr>
                      <a:r>
                        <a:rPr lang="en-IN" sz="2800" dirty="0">
                          <a:effectLst/>
                        </a:rPr>
                        <a:t>2</a:t>
                      </a:r>
                      <a:endParaRPr lang="en-IN" sz="4000" dirty="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60960" marB="60960" anchor="ctr"/>
                </a:tc>
                <a:tc>
                  <a:txBody>
                    <a:bodyPr/>
                    <a:lstStyle/>
                    <a:p>
                      <a:pPr algn="ctr">
                        <a:lnSpc>
                          <a:spcPct val="107000"/>
                        </a:lnSpc>
                        <a:spcAft>
                          <a:spcPts val="800"/>
                        </a:spcAft>
                      </a:pPr>
                      <a:r>
                        <a:rPr lang="en-IN" sz="2800" dirty="0">
                          <a:effectLst/>
                        </a:rPr>
                        <a:t>3</a:t>
                      </a:r>
                      <a:endParaRPr lang="en-IN" sz="4000" dirty="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60960" marB="60960" anchor="ctr"/>
                </a:tc>
                <a:extLst>
                  <a:ext uri="{0D108BD9-81ED-4DB2-BD59-A6C34878D82A}">
                    <a16:rowId xmlns="" xmlns:a16="http://schemas.microsoft.com/office/drawing/2014/main" val="1207260436"/>
                  </a:ext>
                </a:extLst>
              </a:tr>
              <a:tr h="0">
                <a:tc>
                  <a:txBody>
                    <a:bodyPr/>
                    <a:lstStyle/>
                    <a:p>
                      <a:pPr algn="ctr">
                        <a:lnSpc>
                          <a:spcPct val="107000"/>
                        </a:lnSpc>
                        <a:spcAft>
                          <a:spcPts val="800"/>
                        </a:spcAft>
                      </a:pPr>
                      <a:r>
                        <a:rPr lang="en-IN" sz="2800" dirty="0">
                          <a:effectLst/>
                        </a:rPr>
                        <a:t>3</a:t>
                      </a:r>
                      <a:endParaRPr lang="en-IN" sz="4000" dirty="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60960" marB="60960" anchor="ctr"/>
                </a:tc>
                <a:tc>
                  <a:txBody>
                    <a:bodyPr/>
                    <a:lstStyle/>
                    <a:p>
                      <a:pPr algn="ctr">
                        <a:lnSpc>
                          <a:spcPct val="107000"/>
                        </a:lnSpc>
                        <a:spcAft>
                          <a:spcPts val="800"/>
                        </a:spcAft>
                      </a:pPr>
                      <a:r>
                        <a:rPr lang="en-IN" sz="2800" dirty="0">
                          <a:effectLst/>
                        </a:rPr>
                        <a:t>5</a:t>
                      </a:r>
                      <a:endParaRPr lang="en-IN" sz="4000" dirty="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60960" marB="60960" anchor="ctr"/>
                </a:tc>
                <a:extLst>
                  <a:ext uri="{0D108BD9-81ED-4DB2-BD59-A6C34878D82A}">
                    <a16:rowId xmlns="" xmlns:a16="http://schemas.microsoft.com/office/drawing/2014/main" val="115992986"/>
                  </a:ext>
                </a:extLst>
              </a:tr>
              <a:tr h="0">
                <a:tc>
                  <a:txBody>
                    <a:bodyPr/>
                    <a:lstStyle/>
                    <a:p>
                      <a:pPr algn="ctr">
                        <a:lnSpc>
                          <a:spcPct val="107000"/>
                        </a:lnSpc>
                        <a:spcAft>
                          <a:spcPts val="800"/>
                        </a:spcAft>
                      </a:pPr>
                      <a:r>
                        <a:rPr lang="en-IN" sz="2800">
                          <a:effectLst/>
                        </a:rPr>
                        <a:t>4</a:t>
                      </a:r>
                      <a:endParaRPr lang="en-IN" sz="400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60960" marB="60960" anchor="ctr"/>
                </a:tc>
                <a:tc>
                  <a:txBody>
                    <a:bodyPr/>
                    <a:lstStyle/>
                    <a:p>
                      <a:pPr algn="ctr">
                        <a:lnSpc>
                          <a:spcPct val="107000"/>
                        </a:lnSpc>
                        <a:spcAft>
                          <a:spcPts val="800"/>
                        </a:spcAft>
                      </a:pPr>
                      <a:r>
                        <a:rPr lang="en-IN" sz="2800">
                          <a:effectLst/>
                        </a:rPr>
                        <a:t>3</a:t>
                      </a:r>
                      <a:endParaRPr lang="en-IN" sz="400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60960" marB="60960" anchor="ctr"/>
                </a:tc>
                <a:extLst>
                  <a:ext uri="{0D108BD9-81ED-4DB2-BD59-A6C34878D82A}">
                    <a16:rowId xmlns="" xmlns:a16="http://schemas.microsoft.com/office/drawing/2014/main" val="1300989674"/>
                  </a:ext>
                </a:extLst>
              </a:tr>
              <a:tr h="0">
                <a:tc>
                  <a:txBody>
                    <a:bodyPr/>
                    <a:lstStyle/>
                    <a:p>
                      <a:pPr algn="ctr">
                        <a:lnSpc>
                          <a:spcPct val="107000"/>
                        </a:lnSpc>
                        <a:spcAft>
                          <a:spcPts val="800"/>
                        </a:spcAft>
                      </a:pPr>
                      <a:r>
                        <a:rPr lang="en-IN" sz="2800">
                          <a:effectLst/>
                        </a:rPr>
                        <a:t>5</a:t>
                      </a:r>
                      <a:endParaRPr lang="en-IN" sz="400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60960" marB="60960" anchor="ctr"/>
                </a:tc>
                <a:tc>
                  <a:txBody>
                    <a:bodyPr/>
                    <a:lstStyle/>
                    <a:p>
                      <a:pPr algn="ctr">
                        <a:lnSpc>
                          <a:spcPct val="107000"/>
                        </a:lnSpc>
                        <a:spcAft>
                          <a:spcPts val="800"/>
                        </a:spcAft>
                      </a:pPr>
                      <a:r>
                        <a:rPr lang="en-IN" sz="2800">
                          <a:effectLst/>
                        </a:rPr>
                        <a:t>6</a:t>
                      </a:r>
                      <a:endParaRPr lang="en-IN" sz="400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60960" marB="60960" anchor="ctr"/>
                </a:tc>
                <a:extLst>
                  <a:ext uri="{0D108BD9-81ED-4DB2-BD59-A6C34878D82A}">
                    <a16:rowId xmlns="" xmlns:a16="http://schemas.microsoft.com/office/drawing/2014/main" val="271870560"/>
                  </a:ext>
                </a:extLst>
              </a:tr>
              <a:tr h="0">
                <a:tc>
                  <a:txBody>
                    <a:bodyPr/>
                    <a:lstStyle/>
                    <a:p>
                      <a:pPr algn="ctr">
                        <a:lnSpc>
                          <a:spcPct val="107000"/>
                        </a:lnSpc>
                        <a:spcAft>
                          <a:spcPts val="800"/>
                        </a:spcAft>
                      </a:pPr>
                      <a:r>
                        <a:rPr lang="en-IN" sz="2800">
                          <a:effectLst/>
                        </a:rPr>
                        <a:t>6</a:t>
                      </a:r>
                      <a:endParaRPr lang="en-IN" sz="400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60960" marB="60960" anchor="ctr"/>
                </a:tc>
                <a:tc>
                  <a:txBody>
                    <a:bodyPr/>
                    <a:lstStyle/>
                    <a:p>
                      <a:pPr algn="ctr">
                        <a:lnSpc>
                          <a:spcPct val="107000"/>
                        </a:lnSpc>
                        <a:spcAft>
                          <a:spcPts val="800"/>
                        </a:spcAft>
                      </a:pPr>
                      <a:r>
                        <a:rPr lang="en-IN" sz="2800">
                          <a:effectLst/>
                        </a:rPr>
                        <a:t>2</a:t>
                      </a:r>
                      <a:endParaRPr lang="en-IN" sz="400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60960" marB="60960" anchor="ctr"/>
                </a:tc>
                <a:extLst>
                  <a:ext uri="{0D108BD9-81ED-4DB2-BD59-A6C34878D82A}">
                    <a16:rowId xmlns="" xmlns:a16="http://schemas.microsoft.com/office/drawing/2014/main" val="820514881"/>
                  </a:ext>
                </a:extLst>
              </a:tr>
              <a:tr h="0">
                <a:tc>
                  <a:txBody>
                    <a:bodyPr/>
                    <a:lstStyle/>
                    <a:p>
                      <a:pPr algn="ctr">
                        <a:lnSpc>
                          <a:spcPct val="107000"/>
                        </a:lnSpc>
                        <a:spcAft>
                          <a:spcPts val="800"/>
                        </a:spcAft>
                      </a:pPr>
                      <a:r>
                        <a:rPr lang="en-IN" sz="2800">
                          <a:effectLst/>
                        </a:rPr>
                        <a:t>7</a:t>
                      </a:r>
                      <a:endParaRPr lang="en-IN" sz="400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60960" marB="60960" anchor="ctr"/>
                </a:tc>
                <a:tc>
                  <a:txBody>
                    <a:bodyPr/>
                    <a:lstStyle/>
                    <a:p>
                      <a:pPr algn="ctr">
                        <a:lnSpc>
                          <a:spcPct val="107000"/>
                        </a:lnSpc>
                        <a:spcAft>
                          <a:spcPts val="800"/>
                        </a:spcAft>
                      </a:pPr>
                      <a:r>
                        <a:rPr lang="en-IN" sz="2800" dirty="0">
                          <a:effectLst/>
                        </a:rPr>
                        <a:t>1</a:t>
                      </a:r>
                      <a:endParaRPr lang="en-IN" sz="4000" dirty="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60960" marB="60960" anchor="ctr"/>
                </a:tc>
                <a:extLst>
                  <a:ext uri="{0D108BD9-81ED-4DB2-BD59-A6C34878D82A}">
                    <a16:rowId xmlns="" xmlns:a16="http://schemas.microsoft.com/office/drawing/2014/main" val="3151100235"/>
                  </a:ext>
                </a:extLst>
              </a:tr>
            </a:tbl>
          </a:graphicData>
        </a:graphic>
      </p:graphicFrame>
    </p:spTree>
    <p:extLst>
      <p:ext uri="{BB962C8B-B14F-4D97-AF65-F5344CB8AC3E}">
        <p14:creationId xmlns:p14="http://schemas.microsoft.com/office/powerpoint/2010/main" val="36523456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4F475C9-4CB3-4959-B9FA-98981E26D612}"/>
              </a:ext>
            </a:extLst>
          </p:cNvPr>
          <p:cNvSpPr>
            <a:spLocks noGrp="1"/>
          </p:cNvSpPr>
          <p:nvPr>
            <p:ph type="title"/>
          </p:nvPr>
        </p:nvSpPr>
        <p:spPr>
          <a:xfrm>
            <a:off x="628650" y="351000"/>
            <a:ext cx="7886700" cy="744376"/>
          </a:xfrm>
        </p:spPr>
        <p:txBody>
          <a:bodyPr>
            <a:normAutofit fontScale="90000"/>
          </a:bodyPr>
          <a:lstStyle/>
          <a:p>
            <a:r>
              <a:rPr lang="en-US" dirty="0"/>
              <a:t>Relative Frequency: Total student 20</a:t>
            </a:r>
            <a:endParaRPr lang="en-IN" dirty="0"/>
          </a:p>
        </p:txBody>
      </p:sp>
      <p:graphicFrame>
        <p:nvGraphicFramePr>
          <p:cNvPr id="5" name="Table 4">
            <a:extLst>
              <a:ext uri="{FF2B5EF4-FFF2-40B4-BE49-F238E27FC236}">
                <a16:creationId xmlns="" xmlns:a16="http://schemas.microsoft.com/office/drawing/2014/main" id="{6DA8BBB1-63B2-4E05-8FC9-1E3700FA1026}"/>
              </a:ext>
            </a:extLst>
          </p:cNvPr>
          <p:cNvGraphicFramePr>
            <a:graphicFrameLocks noGrp="1"/>
          </p:cNvGraphicFramePr>
          <p:nvPr>
            <p:extLst>
              <p:ext uri="{D42A27DB-BD31-4B8C-83A1-F6EECF244321}">
                <p14:modId xmlns:p14="http://schemas.microsoft.com/office/powerpoint/2010/main" val="2445965812"/>
              </p:ext>
            </p:extLst>
          </p:nvPr>
        </p:nvGraphicFramePr>
        <p:xfrm>
          <a:off x="0" y="996950"/>
          <a:ext cx="8343900" cy="7498080"/>
        </p:xfrm>
        <a:graphic>
          <a:graphicData uri="http://schemas.openxmlformats.org/drawingml/2006/table">
            <a:tbl>
              <a:tblPr firstRow="1" firstCol="1" bandRow="1">
                <a:tableStyleId>{5C22544A-7EE6-4342-B048-85BDC9FD1C3A}</a:tableStyleId>
              </a:tblPr>
              <a:tblGrid>
                <a:gridCol w="2781300">
                  <a:extLst>
                    <a:ext uri="{9D8B030D-6E8A-4147-A177-3AD203B41FA5}">
                      <a16:colId xmlns="" xmlns:a16="http://schemas.microsoft.com/office/drawing/2014/main" val="2487441537"/>
                    </a:ext>
                  </a:extLst>
                </a:gridCol>
                <a:gridCol w="2781300">
                  <a:extLst>
                    <a:ext uri="{9D8B030D-6E8A-4147-A177-3AD203B41FA5}">
                      <a16:colId xmlns="" xmlns:a16="http://schemas.microsoft.com/office/drawing/2014/main" val="675321142"/>
                    </a:ext>
                  </a:extLst>
                </a:gridCol>
                <a:gridCol w="2781300">
                  <a:extLst>
                    <a:ext uri="{9D8B030D-6E8A-4147-A177-3AD203B41FA5}">
                      <a16:colId xmlns="" xmlns:a16="http://schemas.microsoft.com/office/drawing/2014/main" val="1594409592"/>
                    </a:ext>
                  </a:extLst>
                </a:gridCol>
              </a:tblGrid>
              <a:tr h="0">
                <a:tc>
                  <a:txBody>
                    <a:bodyPr/>
                    <a:lstStyle/>
                    <a:p>
                      <a:pPr algn="ctr">
                        <a:lnSpc>
                          <a:spcPct val="107000"/>
                        </a:lnSpc>
                        <a:spcAft>
                          <a:spcPts val="800"/>
                        </a:spcAft>
                      </a:pPr>
                      <a:r>
                        <a:rPr lang="en-IN" sz="2800" dirty="0">
                          <a:effectLst/>
                        </a:rPr>
                        <a:t>DATA VALUE</a:t>
                      </a:r>
                      <a:endParaRPr lang="en-IN" sz="4000" dirty="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60960" marB="60960" anchor="ctr"/>
                </a:tc>
                <a:tc>
                  <a:txBody>
                    <a:bodyPr/>
                    <a:lstStyle/>
                    <a:p>
                      <a:pPr algn="ctr">
                        <a:lnSpc>
                          <a:spcPct val="107000"/>
                        </a:lnSpc>
                        <a:spcAft>
                          <a:spcPts val="800"/>
                        </a:spcAft>
                      </a:pPr>
                      <a:r>
                        <a:rPr lang="en-IN" sz="2800" dirty="0">
                          <a:effectLst/>
                        </a:rPr>
                        <a:t>FREQUENCY</a:t>
                      </a:r>
                      <a:endParaRPr lang="en-IN" sz="4000" dirty="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60960" marB="60960" anchor="ctr"/>
                </a:tc>
                <a:tc>
                  <a:txBody>
                    <a:bodyPr/>
                    <a:lstStyle/>
                    <a:p>
                      <a:pPr algn="ctr">
                        <a:lnSpc>
                          <a:spcPct val="107000"/>
                        </a:lnSpc>
                        <a:spcAft>
                          <a:spcPts val="800"/>
                        </a:spcAft>
                      </a:pPr>
                      <a:r>
                        <a:rPr lang="en-US" sz="4000" dirty="0">
                          <a:effectLst/>
                          <a:latin typeface="Calibri" panose="020F0502020204030204" pitchFamily="34" charset="0"/>
                          <a:ea typeface="Calibri" panose="020F0502020204030204" pitchFamily="34" charset="0"/>
                          <a:cs typeface="Times New Roman" panose="02020603050405020304" pitchFamily="18" charset="0"/>
                        </a:rPr>
                        <a:t>Rel Freq</a:t>
                      </a:r>
                      <a:endParaRPr lang="en-IN" sz="4000" dirty="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60960" marB="60960" anchor="ctr"/>
                </a:tc>
                <a:extLst>
                  <a:ext uri="{0D108BD9-81ED-4DB2-BD59-A6C34878D82A}">
                    <a16:rowId xmlns="" xmlns:a16="http://schemas.microsoft.com/office/drawing/2014/main" val="193765321"/>
                  </a:ext>
                </a:extLst>
              </a:tr>
              <a:tr h="0">
                <a:tc>
                  <a:txBody>
                    <a:bodyPr/>
                    <a:lstStyle/>
                    <a:p>
                      <a:pPr algn="ctr">
                        <a:lnSpc>
                          <a:spcPct val="107000"/>
                        </a:lnSpc>
                        <a:spcAft>
                          <a:spcPts val="800"/>
                        </a:spcAft>
                      </a:pPr>
                      <a:r>
                        <a:rPr lang="en-IN" sz="2800" dirty="0">
                          <a:effectLst/>
                        </a:rPr>
                        <a:t>2</a:t>
                      </a:r>
                      <a:endParaRPr lang="en-IN" sz="4000" dirty="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60960" marB="60960" anchor="ctr"/>
                </a:tc>
                <a:tc>
                  <a:txBody>
                    <a:bodyPr/>
                    <a:lstStyle/>
                    <a:p>
                      <a:pPr algn="ctr">
                        <a:lnSpc>
                          <a:spcPct val="107000"/>
                        </a:lnSpc>
                        <a:spcAft>
                          <a:spcPts val="800"/>
                        </a:spcAft>
                      </a:pPr>
                      <a:r>
                        <a:rPr lang="en-IN" sz="2800" dirty="0">
                          <a:effectLst/>
                        </a:rPr>
                        <a:t>3</a:t>
                      </a:r>
                      <a:endParaRPr lang="en-IN" sz="4000" dirty="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60960" marB="60960" anchor="ctr"/>
                </a:tc>
                <a:tc>
                  <a:txBody>
                    <a:bodyPr/>
                    <a:lstStyle/>
                    <a:p>
                      <a:pPr algn="ctr">
                        <a:lnSpc>
                          <a:spcPct val="107000"/>
                        </a:lnSpc>
                        <a:spcAft>
                          <a:spcPts val="800"/>
                        </a:spcAft>
                      </a:pPr>
                      <a:r>
                        <a:rPr lang="en-US" sz="4000" dirty="0">
                          <a:effectLst/>
                          <a:latin typeface="Calibri" panose="020F0502020204030204" pitchFamily="34" charset="0"/>
                          <a:ea typeface="Calibri" panose="020F0502020204030204" pitchFamily="34" charset="0"/>
                          <a:cs typeface="Times New Roman" panose="02020603050405020304" pitchFamily="18" charset="0"/>
                        </a:rPr>
                        <a:t>3/20*100=15</a:t>
                      </a:r>
                      <a:endParaRPr lang="en-IN" sz="4000" dirty="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60960" marB="60960" anchor="ctr"/>
                </a:tc>
                <a:extLst>
                  <a:ext uri="{0D108BD9-81ED-4DB2-BD59-A6C34878D82A}">
                    <a16:rowId xmlns="" xmlns:a16="http://schemas.microsoft.com/office/drawing/2014/main" val="4034750887"/>
                  </a:ext>
                </a:extLst>
              </a:tr>
              <a:tr h="0">
                <a:tc>
                  <a:txBody>
                    <a:bodyPr/>
                    <a:lstStyle/>
                    <a:p>
                      <a:pPr algn="ctr">
                        <a:lnSpc>
                          <a:spcPct val="107000"/>
                        </a:lnSpc>
                        <a:spcAft>
                          <a:spcPts val="800"/>
                        </a:spcAft>
                      </a:pPr>
                      <a:r>
                        <a:rPr lang="en-IN" sz="2800" dirty="0">
                          <a:effectLst/>
                        </a:rPr>
                        <a:t>3</a:t>
                      </a:r>
                      <a:endParaRPr lang="en-IN" sz="4000" dirty="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60960" marB="60960" anchor="ctr"/>
                </a:tc>
                <a:tc>
                  <a:txBody>
                    <a:bodyPr/>
                    <a:lstStyle/>
                    <a:p>
                      <a:pPr algn="ctr">
                        <a:lnSpc>
                          <a:spcPct val="107000"/>
                        </a:lnSpc>
                        <a:spcAft>
                          <a:spcPts val="800"/>
                        </a:spcAft>
                      </a:pPr>
                      <a:r>
                        <a:rPr lang="en-IN" sz="2800" dirty="0">
                          <a:effectLst/>
                        </a:rPr>
                        <a:t>5</a:t>
                      </a:r>
                      <a:endParaRPr lang="en-IN" sz="4000" dirty="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60960" marB="60960" anchor="ctr"/>
                </a:tc>
                <a:tc>
                  <a:txBody>
                    <a:bodyPr/>
                    <a:lstStyle/>
                    <a:p>
                      <a:pPr algn="ctr">
                        <a:lnSpc>
                          <a:spcPct val="107000"/>
                        </a:lnSpc>
                        <a:spcAft>
                          <a:spcPts val="800"/>
                        </a:spcAft>
                      </a:pPr>
                      <a:r>
                        <a:rPr lang="en-US" sz="4000" dirty="0">
                          <a:effectLst/>
                          <a:latin typeface="Calibri" panose="020F0502020204030204" pitchFamily="34" charset="0"/>
                          <a:ea typeface="Calibri" panose="020F0502020204030204" pitchFamily="34" charset="0"/>
                          <a:cs typeface="Times New Roman" panose="02020603050405020304" pitchFamily="18" charset="0"/>
                        </a:rPr>
                        <a:t>5/20*100=25</a:t>
                      </a:r>
                      <a:endParaRPr lang="en-IN" sz="4000" dirty="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60960" marB="60960" anchor="ctr"/>
                </a:tc>
                <a:extLst>
                  <a:ext uri="{0D108BD9-81ED-4DB2-BD59-A6C34878D82A}">
                    <a16:rowId xmlns="" xmlns:a16="http://schemas.microsoft.com/office/drawing/2014/main" val="1365765471"/>
                  </a:ext>
                </a:extLst>
              </a:tr>
              <a:tr h="0">
                <a:tc>
                  <a:txBody>
                    <a:bodyPr/>
                    <a:lstStyle/>
                    <a:p>
                      <a:pPr algn="ctr">
                        <a:lnSpc>
                          <a:spcPct val="107000"/>
                        </a:lnSpc>
                        <a:spcAft>
                          <a:spcPts val="800"/>
                        </a:spcAft>
                      </a:pPr>
                      <a:r>
                        <a:rPr lang="en-IN" sz="2800" dirty="0">
                          <a:effectLst/>
                        </a:rPr>
                        <a:t>4</a:t>
                      </a:r>
                      <a:endParaRPr lang="en-IN" sz="4000" dirty="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60960" marB="60960" anchor="ctr"/>
                </a:tc>
                <a:tc>
                  <a:txBody>
                    <a:bodyPr/>
                    <a:lstStyle/>
                    <a:p>
                      <a:pPr algn="ctr">
                        <a:lnSpc>
                          <a:spcPct val="107000"/>
                        </a:lnSpc>
                        <a:spcAft>
                          <a:spcPts val="800"/>
                        </a:spcAft>
                      </a:pPr>
                      <a:r>
                        <a:rPr lang="en-IN" sz="2800" dirty="0">
                          <a:effectLst/>
                        </a:rPr>
                        <a:t>3</a:t>
                      </a:r>
                      <a:endParaRPr lang="en-IN" sz="4000" dirty="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60960" marB="60960" anchor="ctr"/>
                </a:tc>
                <a:tc>
                  <a:txBody>
                    <a:bodyPr/>
                    <a:lstStyle/>
                    <a:p>
                      <a:pPr algn="ctr">
                        <a:lnSpc>
                          <a:spcPct val="107000"/>
                        </a:lnSpc>
                        <a:spcAft>
                          <a:spcPts val="800"/>
                        </a:spcAft>
                      </a:pPr>
                      <a:r>
                        <a:rPr lang="en-US" sz="4000" dirty="0">
                          <a:effectLst/>
                          <a:latin typeface="Calibri" panose="020F0502020204030204" pitchFamily="34" charset="0"/>
                          <a:ea typeface="Calibri" panose="020F0502020204030204" pitchFamily="34" charset="0"/>
                          <a:cs typeface="Times New Roman" panose="02020603050405020304" pitchFamily="18" charset="0"/>
                        </a:rPr>
                        <a:t>15</a:t>
                      </a:r>
                      <a:endParaRPr lang="en-IN" sz="4000" dirty="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60960" marB="60960" anchor="ctr"/>
                </a:tc>
                <a:extLst>
                  <a:ext uri="{0D108BD9-81ED-4DB2-BD59-A6C34878D82A}">
                    <a16:rowId xmlns="" xmlns:a16="http://schemas.microsoft.com/office/drawing/2014/main" val="2310532791"/>
                  </a:ext>
                </a:extLst>
              </a:tr>
              <a:tr h="0">
                <a:tc>
                  <a:txBody>
                    <a:bodyPr/>
                    <a:lstStyle/>
                    <a:p>
                      <a:pPr algn="ctr">
                        <a:lnSpc>
                          <a:spcPct val="107000"/>
                        </a:lnSpc>
                        <a:spcAft>
                          <a:spcPts val="800"/>
                        </a:spcAft>
                      </a:pPr>
                      <a:r>
                        <a:rPr lang="en-IN" sz="2800">
                          <a:effectLst/>
                        </a:rPr>
                        <a:t>5</a:t>
                      </a:r>
                      <a:endParaRPr lang="en-IN" sz="400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60960" marB="60960" anchor="ctr"/>
                </a:tc>
                <a:tc>
                  <a:txBody>
                    <a:bodyPr/>
                    <a:lstStyle/>
                    <a:p>
                      <a:pPr algn="ctr">
                        <a:lnSpc>
                          <a:spcPct val="107000"/>
                        </a:lnSpc>
                        <a:spcAft>
                          <a:spcPts val="800"/>
                        </a:spcAft>
                      </a:pPr>
                      <a:r>
                        <a:rPr lang="en-IN" sz="2800" dirty="0">
                          <a:effectLst/>
                        </a:rPr>
                        <a:t>6</a:t>
                      </a:r>
                      <a:endParaRPr lang="en-IN" sz="4000" dirty="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60960" marB="60960" anchor="ctr"/>
                </a:tc>
                <a:tc>
                  <a:txBody>
                    <a:bodyPr/>
                    <a:lstStyle/>
                    <a:p>
                      <a:pPr algn="ctr">
                        <a:lnSpc>
                          <a:spcPct val="107000"/>
                        </a:lnSpc>
                        <a:spcAft>
                          <a:spcPts val="800"/>
                        </a:spcAft>
                      </a:pPr>
                      <a:r>
                        <a:rPr lang="en-US" sz="4000" dirty="0">
                          <a:effectLst/>
                          <a:latin typeface="Calibri" panose="020F0502020204030204" pitchFamily="34" charset="0"/>
                          <a:ea typeface="Calibri" panose="020F0502020204030204" pitchFamily="34" charset="0"/>
                          <a:cs typeface="Times New Roman" panose="02020603050405020304" pitchFamily="18" charset="0"/>
                        </a:rPr>
                        <a:t>30</a:t>
                      </a:r>
                      <a:endParaRPr lang="en-IN" sz="4000" dirty="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60960" marB="60960" anchor="ctr"/>
                </a:tc>
                <a:extLst>
                  <a:ext uri="{0D108BD9-81ED-4DB2-BD59-A6C34878D82A}">
                    <a16:rowId xmlns="" xmlns:a16="http://schemas.microsoft.com/office/drawing/2014/main" val="3758687988"/>
                  </a:ext>
                </a:extLst>
              </a:tr>
              <a:tr h="0">
                <a:tc>
                  <a:txBody>
                    <a:bodyPr/>
                    <a:lstStyle/>
                    <a:p>
                      <a:pPr algn="ctr">
                        <a:lnSpc>
                          <a:spcPct val="107000"/>
                        </a:lnSpc>
                        <a:spcAft>
                          <a:spcPts val="800"/>
                        </a:spcAft>
                      </a:pPr>
                      <a:r>
                        <a:rPr lang="en-IN" sz="2800">
                          <a:effectLst/>
                        </a:rPr>
                        <a:t>6</a:t>
                      </a:r>
                      <a:endParaRPr lang="en-IN" sz="400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60960" marB="60960" anchor="ctr"/>
                </a:tc>
                <a:tc>
                  <a:txBody>
                    <a:bodyPr/>
                    <a:lstStyle/>
                    <a:p>
                      <a:pPr algn="ctr">
                        <a:lnSpc>
                          <a:spcPct val="107000"/>
                        </a:lnSpc>
                        <a:spcAft>
                          <a:spcPts val="800"/>
                        </a:spcAft>
                      </a:pPr>
                      <a:r>
                        <a:rPr lang="en-IN" sz="2800" dirty="0">
                          <a:effectLst/>
                        </a:rPr>
                        <a:t>2</a:t>
                      </a:r>
                      <a:endParaRPr lang="en-IN" sz="4000" dirty="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60960" marB="60960" anchor="ctr"/>
                </a:tc>
                <a:tc>
                  <a:txBody>
                    <a:bodyPr/>
                    <a:lstStyle/>
                    <a:p>
                      <a:pPr algn="ctr">
                        <a:lnSpc>
                          <a:spcPct val="107000"/>
                        </a:lnSpc>
                        <a:spcAft>
                          <a:spcPts val="800"/>
                        </a:spcAft>
                      </a:pPr>
                      <a:r>
                        <a:rPr lang="en-US" sz="4000" dirty="0">
                          <a:effectLst/>
                          <a:latin typeface="Calibri" panose="020F0502020204030204" pitchFamily="34" charset="0"/>
                          <a:ea typeface="Calibri" panose="020F0502020204030204" pitchFamily="34" charset="0"/>
                          <a:cs typeface="Times New Roman" panose="02020603050405020304" pitchFamily="18" charset="0"/>
                        </a:rPr>
                        <a:t>10</a:t>
                      </a:r>
                      <a:endParaRPr lang="en-IN" sz="4000" dirty="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60960" marB="60960" anchor="ctr"/>
                </a:tc>
                <a:extLst>
                  <a:ext uri="{0D108BD9-81ED-4DB2-BD59-A6C34878D82A}">
                    <a16:rowId xmlns="" xmlns:a16="http://schemas.microsoft.com/office/drawing/2014/main" val="4236960004"/>
                  </a:ext>
                </a:extLst>
              </a:tr>
              <a:tr h="0">
                <a:tc>
                  <a:txBody>
                    <a:bodyPr/>
                    <a:lstStyle/>
                    <a:p>
                      <a:pPr algn="ctr">
                        <a:lnSpc>
                          <a:spcPct val="107000"/>
                        </a:lnSpc>
                        <a:spcAft>
                          <a:spcPts val="800"/>
                        </a:spcAft>
                      </a:pPr>
                      <a:r>
                        <a:rPr lang="en-IN" sz="2800">
                          <a:effectLst/>
                        </a:rPr>
                        <a:t>7</a:t>
                      </a:r>
                      <a:endParaRPr lang="en-IN" sz="400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60960" marB="60960" anchor="ctr"/>
                </a:tc>
                <a:tc>
                  <a:txBody>
                    <a:bodyPr/>
                    <a:lstStyle/>
                    <a:p>
                      <a:pPr algn="ctr">
                        <a:lnSpc>
                          <a:spcPct val="107000"/>
                        </a:lnSpc>
                        <a:spcAft>
                          <a:spcPts val="800"/>
                        </a:spcAft>
                      </a:pPr>
                      <a:r>
                        <a:rPr lang="en-IN" sz="2800" dirty="0">
                          <a:effectLst/>
                        </a:rPr>
                        <a:t>1</a:t>
                      </a:r>
                      <a:endParaRPr lang="en-IN" sz="4000" dirty="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60960" marB="60960" anchor="ctr"/>
                </a:tc>
                <a:tc>
                  <a:txBody>
                    <a:bodyPr/>
                    <a:lstStyle/>
                    <a:p>
                      <a:pPr algn="ctr">
                        <a:lnSpc>
                          <a:spcPct val="107000"/>
                        </a:lnSpc>
                        <a:spcAft>
                          <a:spcPts val="800"/>
                        </a:spcAft>
                      </a:pPr>
                      <a:r>
                        <a:rPr lang="en-US" sz="4000" dirty="0">
                          <a:effectLst/>
                          <a:latin typeface="Calibri" panose="020F0502020204030204" pitchFamily="34" charset="0"/>
                          <a:ea typeface="Calibri" panose="020F0502020204030204" pitchFamily="34" charset="0"/>
                          <a:cs typeface="Times New Roman" panose="02020603050405020304" pitchFamily="18" charset="0"/>
                        </a:rPr>
                        <a:t>5</a:t>
                      </a:r>
                      <a:endParaRPr lang="en-IN" sz="4000" dirty="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60960" marB="60960" anchor="ctr"/>
                </a:tc>
                <a:extLst>
                  <a:ext uri="{0D108BD9-81ED-4DB2-BD59-A6C34878D82A}">
                    <a16:rowId xmlns="" xmlns:a16="http://schemas.microsoft.com/office/drawing/2014/main" val="2771441111"/>
                  </a:ext>
                </a:extLst>
              </a:tr>
              <a:tr h="0">
                <a:tc>
                  <a:txBody>
                    <a:bodyPr/>
                    <a:lstStyle/>
                    <a:p>
                      <a:pPr algn="ctr">
                        <a:lnSpc>
                          <a:spcPct val="107000"/>
                        </a:lnSpc>
                        <a:spcAft>
                          <a:spcPts val="800"/>
                        </a:spcAft>
                      </a:pPr>
                      <a:endParaRPr lang="en-IN" sz="4000" dirty="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60960" marB="60960" anchor="ctr"/>
                </a:tc>
                <a:tc>
                  <a:txBody>
                    <a:bodyPr/>
                    <a:lstStyle/>
                    <a:p>
                      <a:pPr algn="ctr">
                        <a:lnSpc>
                          <a:spcPct val="107000"/>
                        </a:lnSpc>
                        <a:spcAft>
                          <a:spcPts val="800"/>
                        </a:spcAft>
                      </a:pPr>
                      <a:r>
                        <a:rPr lang="en-US" sz="4000" dirty="0">
                          <a:effectLst/>
                          <a:latin typeface="Calibri" panose="020F0502020204030204" pitchFamily="34" charset="0"/>
                          <a:ea typeface="Calibri" panose="020F0502020204030204" pitchFamily="34" charset="0"/>
                          <a:cs typeface="Times New Roman" panose="02020603050405020304" pitchFamily="18" charset="0"/>
                        </a:rPr>
                        <a:t>20</a:t>
                      </a:r>
                      <a:endParaRPr lang="en-IN" sz="4000" dirty="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60960" marB="60960" anchor="ctr"/>
                </a:tc>
                <a:tc>
                  <a:txBody>
                    <a:bodyPr/>
                    <a:lstStyle/>
                    <a:p>
                      <a:pPr algn="ctr">
                        <a:lnSpc>
                          <a:spcPct val="107000"/>
                        </a:lnSpc>
                        <a:spcAft>
                          <a:spcPts val="800"/>
                        </a:spcAft>
                      </a:pPr>
                      <a:r>
                        <a:rPr lang="en-US" sz="4000" dirty="0">
                          <a:effectLst/>
                          <a:latin typeface="Calibri" panose="020F0502020204030204" pitchFamily="34" charset="0"/>
                          <a:ea typeface="Calibri" panose="020F0502020204030204" pitchFamily="34" charset="0"/>
                          <a:cs typeface="Times New Roman" panose="02020603050405020304" pitchFamily="18" charset="0"/>
                        </a:rPr>
                        <a:t>100%</a:t>
                      </a:r>
                      <a:endParaRPr lang="en-IN" sz="4000" dirty="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60960" marB="60960" anchor="ctr"/>
                </a:tc>
                <a:extLst>
                  <a:ext uri="{0D108BD9-81ED-4DB2-BD59-A6C34878D82A}">
                    <a16:rowId xmlns="" xmlns:a16="http://schemas.microsoft.com/office/drawing/2014/main" val="3829971060"/>
                  </a:ext>
                </a:extLst>
              </a:tr>
            </a:tbl>
          </a:graphicData>
        </a:graphic>
      </p:graphicFrame>
    </p:spTree>
    <p:extLst>
      <p:ext uri="{BB962C8B-B14F-4D97-AF65-F5344CB8AC3E}">
        <p14:creationId xmlns:p14="http://schemas.microsoft.com/office/powerpoint/2010/main" val="14118346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 xmlns:a16="http://schemas.microsoft.com/office/drawing/2014/main" id="{6C95BF7D-3073-4656-ACBB-A7ED25C9CDF3}"/>
              </a:ext>
            </a:extLst>
          </p:cNvPr>
          <p:cNvGraphicFramePr>
            <a:graphicFrameLocks noGrp="1"/>
          </p:cNvGraphicFramePr>
          <p:nvPr>
            <p:extLst>
              <p:ext uri="{D42A27DB-BD31-4B8C-83A1-F6EECF244321}">
                <p14:modId xmlns:p14="http://schemas.microsoft.com/office/powerpoint/2010/main" val="1289539459"/>
              </p:ext>
            </p:extLst>
          </p:nvPr>
        </p:nvGraphicFramePr>
        <p:xfrm>
          <a:off x="57150" y="114302"/>
          <a:ext cx="9086852" cy="7563558"/>
        </p:xfrm>
        <a:graphic>
          <a:graphicData uri="http://schemas.openxmlformats.org/drawingml/2006/table">
            <a:tbl>
              <a:tblPr firstRow="1" firstCol="1" bandRow="1">
                <a:tableStyleId>{5C22544A-7EE6-4342-B048-85BDC9FD1C3A}</a:tableStyleId>
              </a:tblPr>
              <a:tblGrid>
                <a:gridCol w="2271713">
                  <a:extLst>
                    <a:ext uri="{9D8B030D-6E8A-4147-A177-3AD203B41FA5}">
                      <a16:colId xmlns="" xmlns:a16="http://schemas.microsoft.com/office/drawing/2014/main" val="39584716"/>
                    </a:ext>
                  </a:extLst>
                </a:gridCol>
                <a:gridCol w="2271713">
                  <a:extLst>
                    <a:ext uri="{9D8B030D-6E8A-4147-A177-3AD203B41FA5}">
                      <a16:colId xmlns="" xmlns:a16="http://schemas.microsoft.com/office/drawing/2014/main" val="2930230378"/>
                    </a:ext>
                  </a:extLst>
                </a:gridCol>
                <a:gridCol w="2271713">
                  <a:extLst>
                    <a:ext uri="{9D8B030D-6E8A-4147-A177-3AD203B41FA5}">
                      <a16:colId xmlns="" xmlns:a16="http://schemas.microsoft.com/office/drawing/2014/main" val="801737015"/>
                    </a:ext>
                  </a:extLst>
                </a:gridCol>
                <a:gridCol w="2271713">
                  <a:extLst>
                    <a:ext uri="{9D8B030D-6E8A-4147-A177-3AD203B41FA5}">
                      <a16:colId xmlns="" xmlns:a16="http://schemas.microsoft.com/office/drawing/2014/main" val="50635734"/>
                    </a:ext>
                  </a:extLst>
                </a:gridCol>
              </a:tblGrid>
              <a:tr h="864676">
                <a:tc gridSpan="4">
                  <a:txBody>
                    <a:bodyPr/>
                    <a:lstStyle/>
                    <a:p>
                      <a:pPr algn="ctr">
                        <a:lnSpc>
                          <a:spcPct val="107000"/>
                        </a:lnSpc>
                        <a:spcAft>
                          <a:spcPts val="800"/>
                        </a:spcAft>
                      </a:pPr>
                      <a:r>
                        <a:rPr lang="en-IN" sz="2400" dirty="0">
                          <a:effectLst/>
                        </a:rPr>
                        <a:t>Frequency Table of Student Work Hours with Relative and Cumulative Relative Frequencies</a:t>
                      </a:r>
                      <a:endParaRPr lang="en-IN" sz="3600" dirty="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60960" marB="60960" anchor="ct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 xmlns:a16="http://schemas.microsoft.com/office/drawing/2014/main" val="624768944"/>
                  </a:ext>
                </a:extLst>
              </a:tr>
              <a:tr h="839860">
                <a:tc>
                  <a:txBody>
                    <a:bodyPr/>
                    <a:lstStyle/>
                    <a:p>
                      <a:pPr algn="ctr">
                        <a:lnSpc>
                          <a:spcPct val="107000"/>
                        </a:lnSpc>
                        <a:spcAft>
                          <a:spcPts val="800"/>
                        </a:spcAft>
                      </a:pPr>
                      <a:r>
                        <a:rPr lang="en-IN" sz="2400" dirty="0">
                          <a:effectLst/>
                        </a:rPr>
                        <a:t>DATA VALUE</a:t>
                      </a:r>
                      <a:endParaRPr lang="en-IN" sz="3600" dirty="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60960" marB="60960" anchor="ctr"/>
                </a:tc>
                <a:tc>
                  <a:txBody>
                    <a:bodyPr/>
                    <a:lstStyle/>
                    <a:p>
                      <a:pPr algn="ctr">
                        <a:lnSpc>
                          <a:spcPct val="107000"/>
                        </a:lnSpc>
                        <a:spcAft>
                          <a:spcPts val="800"/>
                        </a:spcAft>
                      </a:pPr>
                      <a:r>
                        <a:rPr lang="en-IN" sz="2400" dirty="0">
                          <a:effectLst/>
                        </a:rPr>
                        <a:t>FREQUENCY</a:t>
                      </a:r>
                      <a:endParaRPr lang="en-IN" sz="3600" dirty="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60960" marB="60960" anchor="ctr"/>
                </a:tc>
                <a:tc>
                  <a:txBody>
                    <a:bodyPr/>
                    <a:lstStyle/>
                    <a:p>
                      <a:pPr algn="ctr">
                        <a:lnSpc>
                          <a:spcPct val="107000"/>
                        </a:lnSpc>
                        <a:spcAft>
                          <a:spcPts val="800"/>
                        </a:spcAft>
                      </a:pPr>
                      <a:r>
                        <a:rPr lang="en-IN" sz="2400" dirty="0">
                          <a:effectLst/>
                        </a:rPr>
                        <a:t>RELATIVE FREQUENCY</a:t>
                      </a:r>
                      <a:endParaRPr lang="en-IN" sz="3600" dirty="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60960" marB="60960" anchor="ctr"/>
                </a:tc>
                <a:tc>
                  <a:txBody>
                    <a:bodyPr/>
                    <a:lstStyle/>
                    <a:p>
                      <a:pPr algn="ctr">
                        <a:lnSpc>
                          <a:spcPct val="107000"/>
                        </a:lnSpc>
                        <a:spcAft>
                          <a:spcPts val="800"/>
                        </a:spcAft>
                      </a:pPr>
                      <a:r>
                        <a:rPr lang="en-IN" sz="2400" dirty="0">
                          <a:effectLst/>
                        </a:rPr>
                        <a:t>CUMULATIVE RELATIVE FREQUENCY</a:t>
                      </a:r>
                      <a:endParaRPr lang="en-IN" sz="3600" dirty="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60960" marB="60960" anchor="ctr"/>
                </a:tc>
                <a:extLst>
                  <a:ext uri="{0D108BD9-81ED-4DB2-BD59-A6C34878D82A}">
                    <a16:rowId xmlns="" xmlns:a16="http://schemas.microsoft.com/office/drawing/2014/main" val="3176037048"/>
                  </a:ext>
                </a:extLst>
              </a:tr>
              <a:tr h="839860">
                <a:tc>
                  <a:txBody>
                    <a:bodyPr/>
                    <a:lstStyle/>
                    <a:p>
                      <a:pPr algn="ctr">
                        <a:lnSpc>
                          <a:spcPct val="107000"/>
                        </a:lnSpc>
                        <a:spcAft>
                          <a:spcPts val="800"/>
                        </a:spcAft>
                      </a:pPr>
                      <a:r>
                        <a:rPr lang="en-IN" sz="2400">
                          <a:effectLst/>
                        </a:rPr>
                        <a:t>2</a:t>
                      </a:r>
                      <a:endParaRPr lang="en-IN" sz="360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60960" marB="60960" anchor="ctr"/>
                </a:tc>
                <a:tc>
                  <a:txBody>
                    <a:bodyPr/>
                    <a:lstStyle/>
                    <a:p>
                      <a:pPr algn="ctr">
                        <a:lnSpc>
                          <a:spcPct val="107000"/>
                        </a:lnSpc>
                        <a:spcAft>
                          <a:spcPts val="800"/>
                        </a:spcAft>
                      </a:pPr>
                      <a:r>
                        <a:rPr lang="en-IN" sz="2400">
                          <a:effectLst/>
                        </a:rPr>
                        <a:t>3</a:t>
                      </a:r>
                      <a:endParaRPr lang="en-IN" sz="360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60960" marB="60960" anchor="ctr"/>
                </a:tc>
                <a:tc>
                  <a:txBody>
                    <a:bodyPr/>
                    <a:lstStyle/>
                    <a:p>
                      <a:pPr algn="ctr">
                        <a:lnSpc>
                          <a:spcPct val="107000"/>
                        </a:lnSpc>
                        <a:spcAft>
                          <a:spcPts val="800"/>
                        </a:spcAft>
                      </a:pPr>
                      <a:r>
                        <a:rPr lang="en-IN" sz="2400" dirty="0">
                          <a:effectLst/>
                        </a:rPr>
                        <a:t>0.15</a:t>
                      </a:r>
                      <a:endParaRPr lang="en-IN" sz="3600" dirty="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60960" marB="60960" anchor="ctr"/>
                </a:tc>
                <a:tc>
                  <a:txBody>
                    <a:bodyPr/>
                    <a:lstStyle/>
                    <a:p>
                      <a:pPr algn="ctr">
                        <a:lnSpc>
                          <a:spcPct val="107000"/>
                        </a:lnSpc>
                        <a:spcAft>
                          <a:spcPts val="800"/>
                        </a:spcAft>
                      </a:pPr>
                      <a:r>
                        <a:rPr lang="en-IN" sz="2400" dirty="0">
                          <a:effectLst/>
                        </a:rPr>
                        <a:t>0-0.15</a:t>
                      </a:r>
                      <a:endParaRPr lang="en-IN" sz="3600" dirty="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60960" marB="60960" anchor="ctr"/>
                </a:tc>
                <a:extLst>
                  <a:ext uri="{0D108BD9-81ED-4DB2-BD59-A6C34878D82A}">
                    <a16:rowId xmlns="" xmlns:a16="http://schemas.microsoft.com/office/drawing/2014/main" val="3178406870"/>
                  </a:ext>
                </a:extLst>
              </a:tr>
              <a:tr h="839860">
                <a:tc>
                  <a:txBody>
                    <a:bodyPr/>
                    <a:lstStyle/>
                    <a:p>
                      <a:pPr algn="ctr">
                        <a:lnSpc>
                          <a:spcPct val="107000"/>
                        </a:lnSpc>
                        <a:spcAft>
                          <a:spcPts val="800"/>
                        </a:spcAft>
                      </a:pPr>
                      <a:r>
                        <a:rPr lang="en-IN" sz="2400">
                          <a:effectLst/>
                        </a:rPr>
                        <a:t>3</a:t>
                      </a:r>
                      <a:endParaRPr lang="en-IN" sz="360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60960" marB="60960" anchor="ctr"/>
                </a:tc>
                <a:tc>
                  <a:txBody>
                    <a:bodyPr/>
                    <a:lstStyle/>
                    <a:p>
                      <a:pPr algn="ctr">
                        <a:lnSpc>
                          <a:spcPct val="107000"/>
                        </a:lnSpc>
                        <a:spcAft>
                          <a:spcPts val="800"/>
                        </a:spcAft>
                      </a:pPr>
                      <a:r>
                        <a:rPr lang="en-IN" sz="2400">
                          <a:effectLst/>
                        </a:rPr>
                        <a:t>5</a:t>
                      </a:r>
                      <a:endParaRPr lang="en-IN" sz="360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60960" marB="60960" anchor="ctr"/>
                </a:tc>
                <a:tc>
                  <a:txBody>
                    <a:bodyPr/>
                    <a:lstStyle/>
                    <a:p>
                      <a:pPr algn="ctr">
                        <a:lnSpc>
                          <a:spcPct val="107000"/>
                        </a:lnSpc>
                        <a:spcAft>
                          <a:spcPts val="800"/>
                        </a:spcAft>
                      </a:pPr>
                      <a:r>
                        <a:rPr lang="en-IN" sz="2400" dirty="0">
                          <a:effectLst/>
                        </a:rPr>
                        <a:t>0.25</a:t>
                      </a:r>
                      <a:endParaRPr lang="en-IN" sz="3600" dirty="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60960" marB="60960" anchor="ctr"/>
                </a:tc>
                <a:tc>
                  <a:txBody>
                    <a:bodyPr/>
                    <a:lstStyle/>
                    <a:p>
                      <a:pPr algn="ctr">
                        <a:lnSpc>
                          <a:spcPct val="107000"/>
                        </a:lnSpc>
                        <a:spcAft>
                          <a:spcPts val="800"/>
                        </a:spcAft>
                      </a:pPr>
                      <a:r>
                        <a:rPr lang="en-IN" sz="2400">
                          <a:effectLst/>
                        </a:rPr>
                        <a:t>0.15 + 0.25 = 0.40</a:t>
                      </a:r>
                      <a:endParaRPr lang="en-IN" sz="360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60960" marB="60960" anchor="ctr"/>
                </a:tc>
                <a:extLst>
                  <a:ext uri="{0D108BD9-81ED-4DB2-BD59-A6C34878D82A}">
                    <a16:rowId xmlns="" xmlns:a16="http://schemas.microsoft.com/office/drawing/2014/main" val="219411201"/>
                  </a:ext>
                </a:extLst>
              </a:tr>
              <a:tr h="839860">
                <a:tc>
                  <a:txBody>
                    <a:bodyPr/>
                    <a:lstStyle/>
                    <a:p>
                      <a:pPr algn="ctr">
                        <a:lnSpc>
                          <a:spcPct val="107000"/>
                        </a:lnSpc>
                        <a:spcAft>
                          <a:spcPts val="800"/>
                        </a:spcAft>
                      </a:pPr>
                      <a:r>
                        <a:rPr lang="en-IN" sz="2400">
                          <a:effectLst/>
                        </a:rPr>
                        <a:t>4</a:t>
                      </a:r>
                      <a:endParaRPr lang="en-IN" sz="360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60960" marB="60960" anchor="ctr"/>
                </a:tc>
                <a:tc>
                  <a:txBody>
                    <a:bodyPr/>
                    <a:lstStyle/>
                    <a:p>
                      <a:pPr algn="ctr">
                        <a:lnSpc>
                          <a:spcPct val="107000"/>
                        </a:lnSpc>
                        <a:spcAft>
                          <a:spcPts val="800"/>
                        </a:spcAft>
                      </a:pPr>
                      <a:r>
                        <a:rPr lang="en-IN" sz="2400">
                          <a:effectLst/>
                        </a:rPr>
                        <a:t>3</a:t>
                      </a:r>
                      <a:endParaRPr lang="en-IN" sz="360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60960" marB="60960" anchor="ctr"/>
                </a:tc>
                <a:tc>
                  <a:txBody>
                    <a:bodyPr/>
                    <a:lstStyle/>
                    <a:p>
                      <a:pPr algn="ctr">
                        <a:lnSpc>
                          <a:spcPct val="107000"/>
                        </a:lnSpc>
                        <a:spcAft>
                          <a:spcPts val="800"/>
                        </a:spcAft>
                      </a:pPr>
                      <a:r>
                        <a:rPr lang="en-IN" sz="2400" dirty="0">
                          <a:effectLst/>
                        </a:rPr>
                        <a:t>0.15</a:t>
                      </a:r>
                      <a:endParaRPr lang="en-IN" sz="3600" dirty="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60960" marB="60960" anchor="ctr"/>
                </a:tc>
                <a:tc>
                  <a:txBody>
                    <a:bodyPr/>
                    <a:lstStyle/>
                    <a:p>
                      <a:pPr algn="ctr">
                        <a:lnSpc>
                          <a:spcPct val="107000"/>
                        </a:lnSpc>
                        <a:spcAft>
                          <a:spcPts val="800"/>
                        </a:spcAft>
                      </a:pPr>
                      <a:r>
                        <a:rPr lang="en-IN" sz="2400">
                          <a:effectLst/>
                        </a:rPr>
                        <a:t>0.40 + 0.15 = 0.55</a:t>
                      </a:r>
                      <a:endParaRPr lang="en-IN" sz="360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60960" marB="60960" anchor="ctr"/>
                </a:tc>
                <a:extLst>
                  <a:ext uri="{0D108BD9-81ED-4DB2-BD59-A6C34878D82A}">
                    <a16:rowId xmlns="" xmlns:a16="http://schemas.microsoft.com/office/drawing/2014/main" val="201966839"/>
                  </a:ext>
                </a:extLst>
              </a:tr>
              <a:tr h="839860">
                <a:tc>
                  <a:txBody>
                    <a:bodyPr/>
                    <a:lstStyle/>
                    <a:p>
                      <a:pPr algn="ctr">
                        <a:lnSpc>
                          <a:spcPct val="107000"/>
                        </a:lnSpc>
                        <a:spcAft>
                          <a:spcPts val="800"/>
                        </a:spcAft>
                      </a:pPr>
                      <a:r>
                        <a:rPr lang="en-IN" sz="2400">
                          <a:effectLst/>
                        </a:rPr>
                        <a:t>5</a:t>
                      </a:r>
                      <a:endParaRPr lang="en-IN" sz="360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60960" marB="60960" anchor="ctr"/>
                </a:tc>
                <a:tc>
                  <a:txBody>
                    <a:bodyPr/>
                    <a:lstStyle/>
                    <a:p>
                      <a:pPr algn="ctr">
                        <a:lnSpc>
                          <a:spcPct val="107000"/>
                        </a:lnSpc>
                        <a:spcAft>
                          <a:spcPts val="800"/>
                        </a:spcAft>
                      </a:pPr>
                      <a:r>
                        <a:rPr lang="en-IN" sz="2400">
                          <a:effectLst/>
                        </a:rPr>
                        <a:t>6</a:t>
                      </a:r>
                      <a:endParaRPr lang="en-IN" sz="360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60960" marB="60960" anchor="ctr"/>
                </a:tc>
                <a:tc>
                  <a:txBody>
                    <a:bodyPr/>
                    <a:lstStyle/>
                    <a:p>
                      <a:pPr algn="ctr">
                        <a:lnSpc>
                          <a:spcPct val="107000"/>
                        </a:lnSpc>
                        <a:spcAft>
                          <a:spcPts val="800"/>
                        </a:spcAft>
                      </a:pPr>
                      <a:r>
                        <a:rPr lang="en-IN" sz="2400" dirty="0">
                          <a:effectLst/>
                        </a:rPr>
                        <a:t>0.30</a:t>
                      </a:r>
                      <a:endParaRPr lang="en-IN" sz="3600" dirty="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60960" marB="60960" anchor="ctr"/>
                </a:tc>
                <a:tc>
                  <a:txBody>
                    <a:bodyPr/>
                    <a:lstStyle/>
                    <a:p>
                      <a:pPr algn="ctr">
                        <a:lnSpc>
                          <a:spcPct val="107000"/>
                        </a:lnSpc>
                        <a:spcAft>
                          <a:spcPts val="800"/>
                        </a:spcAft>
                      </a:pPr>
                      <a:r>
                        <a:rPr lang="en-IN" sz="2400">
                          <a:effectLst/>
                        </a:rPr>
                        <a:t>0.55 + 0.30 = 0.85</a:t>
                      </a:r>
                      <a:endParaRPr lang="en-IN" sz="360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60960" marB="60960" anchor="ctr"/>
                </a:tc>
                <a:extLst>
                  <a:ext uri="{0D108BD9-81ED-4DB2-BD59-A6C34878D82A}">
                    <a16:rowId xmlns="" xmlns:a16="http://schemas.microsoft.com/office/drawing/2014/main" val="642159100"/>
                  </a:ext>
                </a:extLst>
              </a:tr>
              <a:tr h="839860">
                <a:tc>
                  <a:txBody>
                    <a:bodyPr/>
                    <a:lstStyle/>
                    <a:p>
                      <a:pPr algn="ctr">
                        <a:lnSpc>
                          <a:spcPct val="107000"/>
                        </a:lnSpc>
                        <a:spcAft>
                          <a:spcPts val="800"/>
                        </a:spcAft>
                      </a:pPr>
                      <a:r>
                        <a:rPr lang="en-IN" sz="2400">
                          <a:effectLst/>
                        </a:rPr>
                        <a:t>6</a:t>
                      </a:r>
                      <a:endParaRPr lang="en-IN" sz="360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60960" marB="60960" anchor="ctr"/>
                </a:tc>
                <a:tc>
                  <a:txBody>
                    <a:bodyPr/>
                    <a:lstStyle/>
                    <a:p>
                      <a:pPr algn="ctr">
                        <a:lnSpc>
                          <a:spcPct val="107000"/>
                        </a:lnSpc>
                        <a:spcAft>
                          <a:spcPts val="800"/>
                        </a:spcAft>
                      </a:pPr>
                      <a:r>
                        <a:rPr lang="en-IN" sz="2400">
                          <a:effectLst/>
                        </a:rPr>
                        <a:t>2</a:t>
                      </a:r>
                      <a:endParaRPr lang="en-IN" sz="360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60960" marB="60960" anchor="ctr"/>
                </a:tc>
                <a:tc>
                  <a:txBody>
                    <a:bodyPr/>
                    <a:lstStyle/>
                    <a:p>
                      <a:pPr algn="ctr">
                        <a:lnSpc>
                          <a:spcPct val="107000"/>
                        </a:lnSpc>
                        <a:spcAft>
                          <a:spcPts val="800"/>
                        </a:spcAft>
                      </a:pPr>
                      <a:r>
                        <a:rPr lang="en-IN" sz="2400" dirty="0">
                          <a:effectLst/>
                        </a:rPr>
                        <a:t>0.10</a:t>
                      </a:r>
                      <a:endParaRPr lang="en-IN" sz="3600" dirty="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60960" marB="60960" anchor="ctr"/>
                </a:tc>
                <a:tc>
                  <a:txBody>
                    <a:bodyPr/>
                    <a:lstStyle/>
                    <a:p>
                      <a:pPr algn="ctr">
                        <a:lnSpc>
                          <a:spcPct val="107000"/>
                        </a:lnSpc>
                        <a:spcAft>
                          <a:spcPts val="800"/>
                        </a:spcAft>
                      </a:pPr>
                      <a:r>
                        <a:rPr lang="en-IN" sz="2400">
                          <a:effectLst/>
                        </a:rPr>
                        <a:t>0.85 + 0.10 = 0.95</a:t>
                      </a:r>
                      <a:endParaRPr lang="en-IN" sz="360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60960" marB="60960" anchor="ctr"/>
                </a:tc>
                <a:extLst>
                  <a:ext uri="{0D108BD9-81ED-4DB2-BD59-A6C34878D82A}">
                    <a16:rowId xmlns="" xmlns:a16="http://schemas.microsoft.com/office/drawing/2014/main" val="3099149655"/>
                  </a:ext>
                </a:extLst>
              </a:tr>
              <a:tr h="839860">
                <a:tc>
                  <a:txBody>
                    <a:bodyPr/>
                    <a:lstStyle/>
                    <a:p>
                      <a:pPr algn="ctr">
                        <a:lnSpc>
                          <a:spcPct val="107000"/>
                        </a:lnSpc>
                        <a:spcAft>
                          <a:spcPts val="800"/>
                        </a:spcAft>
                      </a:pPr>
                      <a:r>
                        <a:rPr lang="en-IN" sz="2400">
                          <a:effectLst/>
                        </a:rPr>
                        <a:t>7</a:t>
                      </a:r>
                      <a:endParaRPr lang="en-IN" sz="360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60960" marB="60960" anchor="ctr"/>
                </a:tc>
                <a:tc>
                  <a:txBody>
                    <a:bodyPr/>
                    <a:lstStyle/>
                    <a:p>
                      <a:pPr algn="ctr">
                        <a:lnSpc>
                          <a:spcPct val="107000"/>
                        </a:lnSpc>
                        <a:spcAft>
                          <a:spcPts val="800"/>
                        </a:spcAft>
                      </a:pPr>
                      <a:r>
                        <a:rPr lang="en-IN" sz="2400">
                          <a:effectLst/>
                        </a:rPr>
                        <a:t>1</a:t>
                      </a:r>
                      <a:endParaRPr lang="en-IN" sz="360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60960" marB="60960" anchor="ctr"/>
                </a:tc>
                <a:tc>
                  <a:txBody>
                    <a:bodyPr/>
                    <a:lstStyle/>
                    <a:p>
                      <a:pPr algn="ctr">
                        <a:lnSpc>
                          <a:spcPct val="107000"/>
                        </a:lnSpc>
                        <a:spcAft>
                          <a:spcPts val="800"/>
                        </a:spcAft>
                      </a:pPr>
                      <a:r>
                        <a:rPr lang="en-IN" sz="2400" dirty="0">
                          <a:effectLst/>
                        </a:rPr>
                        <a:t>0.05</a:t>
                      </a:r>
                      <a:endParaRPr lang="en-IN" sz="3600" dirty="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60960" marB="60960" anchor="ctr"/>
                </a:tc>
                <a:tc>
                  <a:txBody>
                    <a:bodyPr/>
                    <a:lstStyle/>
                    <a:p>
                      <a:pPr algn="ctr">
                        <a:lnSpc>
                          <a:spcPct val="107000"/>
                        </a:lnSpc>
                        <a:spcAft>
                          <a:spcPts val="800"/>
                        </a:spcAft>
                      </a:pPr>
                      <a:r>
                        <a:rPr lang="en-IN" sz="2400" dirty="0">
                          <a:effectLst/>
                        </a:rPr>
                        <a:t>0.95 + 0.05 = 1.00</a:t>
                      </a:r>
                      <a:endParaRPr lang="en-IN" sz="3600" dirty="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60960" marB="60960" anchor="ctr"/>
                </a:tc>
                <a:extLst>
                  <a:ext uri="{0D108BD9-81ED-4DB2-BD59-A6C34878D82A}">
                    <a16:rowId xmlns="" xmlns:a16="http://schemas.microsoft.com/office/drawing/2014/main" val="3671753575"/>
                  </a:ext>
                </a:extLst>
              </a:tr>
            </a:tbl>
          </a:graphicData>
        </a:graphic>
      </p:graphicFrame>
    </p:spTree>
    <p:extLst>
      <p:ext uri="{BB962C8B-B14F-4D97-AF65-F5344CB8AC3E}">
        <p14:creationId xmlns:p14="http://schemas.microsoft.com/office/powerpoint/2010/main" val="21747942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 xmlns:a16="http://schemas.microsoft.com/office/drawing/2014/main" id="{B7FF1E17-31E1-4DC5-9676-8F41F4361BDF}"/>
              </a:ext>
            </a:extLst>
          </p:cNvPr>
          <p:cNvSpPr>
            <a:spLocks noGrp="1"/>
          </p:cNvSpPr>
          <p:nvPr>
            <p:ph type="title"/>
          </p:nvPr>
        </p:nvSpPr>
        <p:spPr/>
        <p:txBody>
          <a:bodyPr>
            <a:normAutofit fontScale="90000"/>
          </a:bodyPr>
          <a:lstStyle/>
          <a:p>
            <a:r>
              <a:rPr lang="en-IN" sz="3200" b="1" dirty="0">
                <a:effectLst/>
                <a:latin typeface="Times New Roman" panose="02020603050405020304" pitchFamily="18" charset="0"/>
                <a:ea typeface="Times New Roman" panose="02020603050405020304" pitchFamily="18" charset="0"/>
                <a:cs typeface="Times New Roman" panose="02020603050405020304" pitchFamily="18" charset="0"/>
              </a:rPr>
              <a:t>Grouped Frequency Distribution</a:t>
            </a:r>
            <a:r>
              <a:rPr lang="en-IN" sz="1800" dirty="0">
                <a:effectLst/>
                <a:latin typeface="Calibri" panose="020F0502020204030204" pitchFamily="34" charset="0"/>
                <a:ea typeface="Calibri" panose="020F0502020204030204" pitchFamily="34" charset="0"/>
                <a:cs typeface="Times New Roman" panose="02020603050405020304" pitchFamily="18" charset="0"/>
              </a:rPr>
              <a:t/>
            </a:r>
            <a:br>
              <a:rPr lang="en-IN" sz="1800" dirty="0">
                <a:effectLst/>
                <a:latin typeface="Calibri" panose="020F0502020204030204" pitchFamily="34" charset="0"/>
                <a:ea typeface="Calibri" panose="020F0502020204030204" pitchFamily="34" charset="0"/>
                <a:cs typeface="Times New Roman" panose="02020603050405020304" pitchFamily="18" charset="0"/>
              </a:rPr>
            </a:br>
            <a:endParaRPr lang="en-IN" dirty="0"/>
          </a:p>
        </p:txBody>
      </p:sp>
      <p:sp>
        <p:nvSpPr>
          <p:cNvPr id="7" name="Content Placeholder 6">
            <a:extLst>
              <a:ext uri="{FF2B5EF4-FFF2-40B4-BE49-F238E27FC236}">
                <a16:creationId xmlns="" xmlns:a16="http://schemas.microsoft.com/office/drawing/2014/main" id="{30040372-C22F-498D-9247-D6899B839E41}"/>
              </a:ext>
            </a:extLst>
          </p:cNvPr>
          <p:cNvSpPr>
            <a:spLocks noGrp="1"/>
          </p:cNvSpPr>
          <p:nvPr>
            <p:ph sz="half" idx="1"/>
          </p:nvPr>
        </p:nvSpPr>
        <p:spPr>
          <a:xfrm>
            <a:off x="628650" y="1825625"/>
            <a:ext cx="8036719" cy="4351338"/>
          </a:xfrm>
        </p:spPr>
        <p:txBody>
          <a:bodyPr/>
          <a:lstStyle/>
          <a:p>
            <a:r>
              <a:rPr lang="en-IN" sz="2400" dirty="0">
                <a:solidFill>
                  <a:srgbClr val="000000"/>
                </a:solidFill>
                <a:effectLst/>
                <a:latin typeface="Tahoma" panose="020B0604030504040204" pitchFamily="34" charset="0"/>
                <a:ea typeface="Times New Roman" panose="02020603050405020304" pitchFamily="18" charset="0"/>
                <a:cs typeface="Times New Roman" panose="02020603050405020304" pitchFamily="18" charset="0"/>
              </a:rPr>
              <a:t>A grouped frequency distribution is a table to organize data in which the data are grouped into classes with more than one unit in width. Used when the data is large, or it makes sense to group the data.</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41785111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 xmlns:a16="http://schemas.microsoft.com/office/drawing/2014/main" id="{C414A5BA-34E6-4D3C-8C7C-67E37184B986}"/>
              </a:ext>
            </a:extLst>
          </p:cNvPr>
          <p:cNvSpPr>
            <a:spLocks noGrp="1"/>
          </p:cNvSpPr>
          <p:nvPr>
            <p:ph type="sldNum" sz="quarter" idx="12"/>
          </p:nvPr>
        </p:nvSpPr>
        <p:spPr/>
        <p:txBody>
          <a:bodyPr/>
          <a:lstStyle/>
          <a:p>
            <a:fld id="{3DF6C0CF-9AA3-4713-8204-148D65A9BA9D}" type="slidenum">
              <a:rPr lang="en-US" altLang="en-US"/>
              <a:pPr/>
              <a:t>22</a:t>
            </a:fld>
            <a:endParaRPr lang="en-US" altLang="en-US"/>
          </a:p>
        </p:txBody>
      </p:sp>
      <p:sp>
        <p:nvSpPr>
          <p:cNvPr id="8194" name="Rectangle 2">
            <a:extLst>
              <a:ext uri="{FF2B5EF4-FFF2-40B4-BE49-F238E27FC236}">
                <a16:creationId xmlns="" xmlns:a16="http://schemas.microsoft.com/office/drawing/2014/main" id="{258C2A11-F7D7-4A97-A42B-C02E9AF52452}"/>
              </a:ext>
            </a:extLst>
          </p:cNvPr>
          <p:cNvSpPr>
            <a:spLocks noGrp="1" noChangeArrowheads="1"/>
          </p:cNvSpPr>
          <p:nvPr>
            <p:ph type="title"/>
          </p:nvPr>
        </p:nvSpPr>
        <p:spPr/>
        <p:txBody>
          <a:bodyPr/>
          <a:lstStyle/>
          <a:p>
            <a:r>
              <a:rPr lang="en-US" altLang="en-US"/>
              <a:t>Grouped Frequency Distribution</a:t>
            </a:r>
          </a:p>
        </p:txBody>
      </p:sp>
      <p:sp>
        <p:nvSpPr>
          <p:cNvPr id="8195" name="Rectangle 3">
            <a:extLst>
              <a:ext uri="{FF2B5EF4-FFF2-40B4-BE49-F238E27FC236}">
                <a16:creationId xmlns="" xmlns:a16="http://schemas.microsoft.com/office/drawing/2014/main" id="{F86BCDA8-0B70-4F00-82B1-A46F229187B0}"/>
              </a:ext>
            </a:extLst>
          </p:cNvPr>
          <p:cNvSpPr>
            <a:spLocks noGrp="1" noChangeArrowheads="1"/>
          </p:cNvSpPr>
          <p:nvPr>
            <p:ph type="body" idx="1"/>
          </p:nvPr>
        </p:nvSpPr>
        <p:spPr/>
        <p:txBody>
          <a:bodyPr/>
          <a:lstStyle/>
          <a:p>
            <a:r>
              <a:rPr lang="en-US" altLang="en-US"/>
              <a:t>Sometimes, however, a set of scores covers a wide range of values.  In these situations, a list of all the X values would be quite long - too long to be a “simple” presentation of the data.  </a:t>
            </a:r>
          </a:p>
          <a:p>
            <a:r>
              <a:rPr lang="en-US" altLang="en-US"/>
              <a:t>To remedy this situation, a </a:t>
            </a:r>
            <a:r>
              <a:rPr lang="en-US" altLang="en-US" b="1"/>
              <a:t>grouped frequency distribution</a:t>
            </a:r>
            <a:r>
              <a:rPr lang="en-US" altLang="en-US"/>
              <a:t> table is used.  </a:t>
            </a:r>
          </a:p>
        </p:txBody>
      </p:sp>
    </p:spTree>
    <p:extLst>
      <p:ext uri="{BB962C8B-B14F-4D97-AF65-F5344CB8AC3E}">
        <p14:creationId xmlns:p14="http://schemas.microsoft.com/office/powerpoint/2010/main" val="5090309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a:extLst>
              <a:ext uri="{FF2B5EF4-FFF2-40B4-BE49-F238E27FC236}">
                <a16:creationId xmlns="" xmlns:a16="http://schemas.microsoft.com/office/drawing/2014/main" id="{16A30CA3-D311-4858-AA46-EAF7D1392000}"/>
              </a:ext>
            </a:extLst>
          </p:cNvPr>
          <p:cNvSpPr>
            <a:spLocks noGrp="1"/>
          </p:cNvSpPr>
          <p:nvPr>
            <p:ph type="sldNum" sz="quarter" idx="12"/>
          </p:nvPr>
        </p:nvSpPr>
        <p:spPr/>
        <p:txBody>
          <a:bodyPr/>
          <a:lstStyle/>
          <a:p>
            <a:fld id="{39105803-463C-4EEC-912E-FBFA19FDE27E}" type="slidenum">
              <a:rPr lang="en-US" altLang="en-US"/>
              <a:pPr/>
              <a:t>23</a:t>
            </a:fld>
            <a:endParaRPr lang="en-US" altLang="en-US"/>
          </a:p>
        </p:txBody>
      </p:sp>
      <p:sp>
        <p:nvSpPr>
          <p:cNvPr id="9218" name="Rectangle 2">
            <a:extLst>
              <a:ext uri="{FF2B5EF4-FFF2-40B4-BE49-F238E27FC236}">
                <a16:creationId xmlns="" xmlns:a16="http://schemas.microsoft.com/office/drawing/2014/main" id="{D44A7768-29E3-4B05-BE9F-3AF0B3FEC566}"/>
              </a:ext>
            </a:extLst>
          </p:cNvPr>
          <p:cNvSpPr>
            <a:spLocks noGrp="1" noChangeArrowheads="1"/>
          </p:cNvSpPr>
          <p:nvPr>
            <p:ph type="title"/>
          </p:nvPr>
        </p:nvSpPr>
        <p:spPr/>
        <p:txBody>
          <a:bodyPr/>
          <a:lstStyle/>
          <a:p>
            <a:r>
              <a:rPr lang="en-US" altLang="en-US" sz="3600"/>
              <a:t>Grouped Frequency Distribution (cont.)</a:t>
            </a:r>
          </a:p>
        </p:txBody>
      </p:sp>
      <p:sp>
        <p:nvSpPr>
          <p:cNvPr id="9219" name="Rectangle 3">
            <a:extLst>
              <a:ext uri="{FF2B5EF4-FFF2-40B4-BE49-F238E27FC236}">
                <a16:creationId xmlns="" xmlns:a16="http://schemas.microsoft.com/office/drawing/2014/main" id="{E4DA636D-1C78-4CA6-B2DB-BA297D2C4181}"/>
              </a:ext>
            </a:extLst>
          </p:cNvPr>
          <p:cNvSpPr>
            <a:spLocks noGrp="1" noChangeArrowheads="1"/>
          </p:cNvSpPr>
          <p:nvPr>
            <p:ph type="body" idx="1"/>
          </p:nvPr>
        </p:nvSpPr>
        <p:spPr/>
        <p:txBody>
          <a:bodyPr>
            <a:normAutofit fontScale="92500"/>
          </a:bodyPr>
          <a:lstStyle/>
          <a:p>
            <a:r>
              <a:rPr lang="en-US" altLang="en-US"/>
              <a:t>In a grouped table, the X column lists groups of scores, called </a:t>
            </a:r>
            <a:r>
              <a:rPr lang="en-US" altLang="en-US" b="1"/>
              <a:t>class intervals</a:t>
            </a:r>
            <a:r>
              <a:rPr lang="en-US" altLang="en-US"/>
              <a:t>, rather than individual values.  </a:t>
            </a:r>
          </a:p>
          <a:p>
            <a:r>
              <a:rPr lang="en-US" altLang="en-US"/>
              <a:t>These intervals all have the same width, usually a simple number such as 2, 5, 10, and so on.  </a:t>
            </a:r>
          </a:p>
          <a:p>
            <a:r>
              <a:rPr lang="en-US" altLang="en-US"/>
              <a:t>Each interval begins with a value that is a multiple of the interval width.  The interval width is selected so that the table will have approximately ten intervals.</a:t>
            </a:r>
          </a:p>
          <a:p>
            <a:endParaRPr lang="en-US" altLang="en-US"/>
          </a:p>
        </p:txBody>
      </p:sp>
    </p:spTree>
    <p:extLst>
      <p:ext uri="{BB962C8B-B14F-4D97-AF65-F5344CB8AC3E}">
        <p14:creationId xmlns:p14="http://schemas.microsoft.com/office/powerpoint/2010/main" val="24366186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 xmlns:a16="http://schemas.microsoft.com/office/drawing/2014/main" id="{5C0F8980-0A77-4CE6-9E81-220ED1DB264C}"/>
              </a:ext>
            </a:extLst>
          </p:cNvPr>
          <p:cNvGraphicFramePr>
            <a:graphicFrameLocks noGrp="1"/>
          </p:cNvGraphicFramePr>
          <p:nvPr>
            <p:extLst>
              <p:ext uri="{D42A27DB-BD31-4B8C-83A1-F6EECF244321}">
                <p14:modId xmlns:p14="http://schemas.microsoft.com/office/powerpoint/2010/main" val="860761158"/>
              </p:ext>
            </p:extLst>
          </p:nvPr>
        </p:nvGraphicFramePr>
        <p:xfrm>
          <a:off x="100013" y="209550"/>
          <a:ext cx="8958264" cy="6955392"/>
        </p:xfrm>
        <a:graphic>
          <a:graphicData uri="http://schemas.openxmlformats.org/drawingml/2006/table">
            <a:tbl>
              <a:tblPr firstRow="1" firstCol="1" bandRow="1">
                <a:tableStyleId>{5C22544A-7EE6-4342-B048-85BDC9FD1C3A}</a:tableStyleId>
              </a:tblPr>
              <a:tblGrid>
                <a:gridCol w="2239566">
                  <a:extLst>
                    <a:ext uri="{9D8B030D-6E8A-4147-A177-3AD203B41FA5}">
                      <a16:colId xmlns="" xmlns:a16="http://schemas.microsoft.com/office/drawing/2014/main" val="973312524"/>
                    </a:ext>
                  </a:extLst>
                </a:gridCol>
                <a:gridCol w="2239566">
                  <a:extLst>
                    <a:ext uri="{9D8B030D-6E8A-4147-A177-3AD203B41FA5}">
                      <a16:colId xmlns="" xmlns:a16="http://schemas.microsoft.com/office/drawing/2014/main" val="4027592488"/>
                    </a:ext>
                  </a:extLst>
                </a:gridCol>
                <a:gridCol w="2239566">
                  <a:extLst>
                    <a:ext uri="{9D8B030D-6E8A-4147-A177-3AD203B41FA5}">
                      <a16:colId xmlns="" xmlns:a16="http://schemas.microsoft.com/office/drawing/2014/main" val="554898675"/>
                    </a:ext>
                  </a:extLst>
                </a:gridCol>
                <a:gridCol w="2239566">
                  <a:extLst>
                    <a:ext uri="{9D8B030D-6E8A-4147-A177-3AD203B41FA5}">
                      <a16:colId xmlns="" xmlns:a16="http://schemas.microsoft.com/office/drawing/2014/main" val="2157029693"/>
                    </a:ext>
                  </a:extLst>
                </a:gridCol>
              </a:tblGrid>
              <a:tr h="607575">
                <a:tc gridSpan="4">
                  <a:txBody>
                    <a:bodyPr/>
                    <a:lstStyle/>
                    <a:p>
                      <a:pPr algn="ctr">
                        <a:lnSpc>
                          <a:spcPct val="107000"/>
                        </a:lnSpc>
                        <a:spcAft>
                          <a:spcPts val="800"/>
                        </a:spcAft>
                      </a:pPr>
                      <a:r>
                        <a:rPr lang="en-IN" sz="1600" dirty="0">
                          <a:effectLst/>
                        </a:rPr>
                        <a:t>Frequency Table of Soccer Player Height</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60960" marB="60960" anchor="ct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 xmlns:a16="http://schemas.microsoft.com/office/drawing/2014/main" val="3860270752"/>
                  </a:ext>
                </a:extLst>
              </a:tr>
              <a:tr h="590138">
                <a:tc>
                  <a:txBody>
                    <a:bodyPr/>
                    <a:lstStyle/>
                    <a:p>
                      <a:pPr algn="ctr">
                        <a:lnSpc>
                          <a:spcPct val="107000"/>
                        </a:lnSpc>
                        <a:spcAft>
                          <a:spcPts val="800"/>
                        </a:spcAft>
                      </a:pPr>
                      <a:r>
                        <a:rPr lang="en-IN" sz="1600">
                          <a:effectLst/>
                        </a:rPr>
                        <a:t>HEIGHTS (INCHES)</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60960" marB="60960" anchor="ctr"/>
                </a:tc>
                <a:tc>
                  <a:txBody>
                    <a:bodyPr/>
                    <a:lstStyle/>
                    <a:p>
                      <a:pPr algn="ctr">
                        <a:lnSpc>
                          <a:spcPct val="107000"/>
                        </a:lnSpc>
                        <a:spcAft>
                          <a:spcPts val="800"/>
                        </a:spcAft>
                      </a:pPr>
                      <a:r>
                        <a:rPr lang="en-IN" sz="1600">
                          <a:effectLst/>
                        </a:rPr>
                        <a:t>FREQUENCY</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60960" marB="60960" anchor="ctr"/>
                </a:tc>
                <a:tc>
                  <a:txBody>
                    <a:bodyPr/>
                    <a:lstStyle/>
                    <a:p>
                      <a:pPr algn="ctr">
                        <a:lnSpc>
                          <a:spcPct val="107000"/>
                        </a:lnSpc>
                        <a:spcAft>
                          <a:spcPts val="800"/>
                        </a:spcAft>
                      </a:pPr>
                      <a:r>
                        <a:rPr lang="en-IN" sz="1600">
                          <a:effectLst/>
                        </a:rPr>
                        <a:t>RELATIVE FREQUENCY</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60960" marB="60960" anchor="ctr"/>
                </a:tc>
                <a:tc>
                  <a:txBody>
                    <a:bodyPr/>
                    <a:lstStyle/>
                    <a:p>
                      <a:pPr algn="ctr">
                        <a:lnSpc>
                          <a:spcPct val="107000"/>
                        </a:lnSpc>
                        <a:spcAft>
                          <a:spcPts val="800"/>
                        </a:spcAft>
                      </a:pPr>
                      <a:r>
                        <a:rPr lang="en-IN" sz="1600">
                          <a:effectLst/>
                        </a:rPr>
                        <a:t>CUMULATIVE RELATIVE FREQUENCY</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60960" marB="60960" anchor="ctr"/>
                </a:tc>
                <a:extLst>
                  <a:ext uri="{0D108BD9-81ED-4DB2-BD59-A6C34878D82A}">
                    <a16:rowId xmlns="" xmlns:a16="http://schemas.microsoft.com/office/drawing/2014/main" val="1472978371"/>
                  </a:ext>
                </a:extLst>
              </a:tr>
              <a:tr h="607575">
                <a:tc>
                  <a:txBody>
                    <a:bodyPr/>
                    <a:lstStyle/>
                    <a:p>
                      <a:pPr algn="ctr">
                        <a:lnSpc>
                          <a:spcPct val="107000"/>
                        </a:lnSpc>
                        <a:spcAft>
                          <a:spcPts val="800"/>
                        </a:spcAft>
                      </a:pPr>
                      <a:r>
                        <a:rPr lang="en-IN" sz="1600">
                          <a:effectLst/>
                        </a:rPr>
                        <a:t>59.95–61.95</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60960" marB="60960" anchor="ctr"/>
                </a:tc>
                <a:tc>
                  <a:txBody>
                    <a:bodyPr/>
                    <a:lstStyle/>
                    <a:p>
                      <a:pPr algn="ctr">
                        <a:lnSpc>
                          <a:spcPct val="107000"/>
                        </a:lnSpc>
                        <a:spcAft>
                          <a:spcPts val="800"/>
                        </a:spcAft>
                      </a:pPr>
                      <a:r>
                        <a:rPr lang="en-IN" sz="1600">
                          <a:effectLst/>
                        </a:rPr>
                        <a:t>5</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60960" marB="60960" anchor="ctr"/>
                </a:tc>
                <a:tc>
                  <a:txBody>
                    <a:bodyPr/>
                    <a:lstStyle/>
                    <a:p>
                      <a:pPr algn="ctr">
                        <a:lnSpc>
                          <a:spcPct val="107000"/>
                        </a:lnSpc>
                        <a:spcAft>
                          <a:spcPts val="800"/>
                        </a:spcAft>
                      </a:pPr>
                      <a:r>
                        <a:rPr lang="en-IN" sz="1200">
                          <a:effectLst/>
                        </a:rPr>
                        <a:t>5100</a:t>
                      </a:r>
                      <a:r>
                        <a:rPr lang="en-IN" sz="1600">
                          <a:effectLst/>
                        </a:rPr>
                        <a:t>=0.055100=0.05</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60960" marB="60960" anchor="ctr"/>
                </a:tc>
                <a:tc>
                  <a:txBody>
                    <a:bodyPr/>
                    <a:lstStyle/>
                    <a:p>
                      <a:pPr algn="ctr">
                        <a:lnSpc>
                          <a:spcPct val="107000"/>
                        </a:lnSpc>
                        <a:spcAft>
                          <a:spcPts val="800"/>
                        </a:spcAft>
                      </a:pPr>
                      <a:r>
                        <a:rPr lang="en-IN" sz="1600">
                          <a:effectLst/>
                        </a:rPr>
                        <a:t>0.050.05</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60960" marB="60960" anchor="ctr"/>
                </a:tc>
                <a:extLst>
                  <a:ext uri="{0D108BD9-81ED-4DB2-BD59-A6C34878D82A}">
                    <a16:rowId xmlns="" xmlns:a16="http://schemas.microsoft.com/office/drawing/2014/main" val="3049239100"/>
                  </a:ext>
                </a:extLst>
              </a:tr>
              <a:tr h="607575">
                <a:tc>
                  <a:txBody>
                    <a:bodyPr/>
                    <a:lstStyle/>
                    <a:p>
                      <a:pPr algn="ctr">
                        <a:lnSpc>
                          <a:spcPct val="107000"/>
                        </a:lnSpc>
                        <a:spcAft>
                          <a:spcPts val="800"/>
                        </a:spcAft>
                      </a:pPr>
                      <a:r>
                        <a:rPr lang="en-IN" sz="1600" dirty="0">
                          <a:effectLst/>
                        </a:rPr>
                        <a:t>61.95–63.95</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60960" marB="60960" anchor="ctr"/>
                </a:tc>
                <a:tc>
                  <a:txBody>
                    <a:bodyPr/>
                    <a:lstStyle/>
                    <a:p>
                      <a:pPr algn="ctr">
                        <a:lnSpc>
                          <a:spcPct val="107000"/>
                        </a:lnSpc>
                        <a:spcAft>
                          <a:spcPts val="800"/>
                        </a:spcAft>
                      </a:pPr>
                      <a:r>
                        <a:rPr lang="en-IN" sz="1600">
                          <a:effectLst/>
                        </a:rPr>
                        <a:t>3</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60960" marB="60960" anchor="ctr"/>
                </a:tc>
                <a:tc>
                  <a:txBody>
                    <a:bodyPr/>
                    <a:lstStyle/>
                    <a:p>
                      <a:pPr algn="ctr">
                        <a:lnSpc>
                          <a:spcPct val="107000"/>
                        </a:lnSpc>
                        <a:spcAft>
                          <a:spcPts val="800"/>
                        </a:spcAft>
                      </a:pPr>
                      <a:r>
                        <a:rPr lang="en-IN" sz="1200">
                          <a:effectLst/>
                        </a:rPr>
                        <a:t>3100</a:t>
                      </a:r>
                      <a:r>
                        <a:rPr lang="en-IN" sz="1600">
                          <a:effectLst/>
                        </a:rPr>
                        <a:t>=0.033100=0.03</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60960" marB="60960" anchor="ctr"/>
                </a:tc>
                <a:tc>
                  <a:txBody>
                    <a:bodyPr/>
                    <a:lstStyle/>
                    <a:p>
                      <a:pPr algn="ctr">
                        <a:lnSpc>
                          <a:spcPct val="107000"/>
                        </a:lnSpc>
                        <a:spcAft>
                          <a:spcPts val="800"/>
                        </a:spcAft>
                      </a:pPr>
                      <a:r>
                        <a:rPr lang="en-IN" sz="1600">
                          <a:effectLst/>
                        </a:rPr>
                        <a:t>0.05+0.03=0.080.05+0.03=0.08</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60960" marB="60960" anchor="ctr"/>
                </a:tc>
                <a:extLst>
                  <a:ext uri="{0D108BD9-81ED-4DB2-BD59-A6C34878D82A}">
                    <a16:rowId xmlns="" xmlns:a16="http://schemas.microsoft.com/office/drawing/2014/main" val="3090479176"/>
                  </a:ext>
                </a:extLst>
              </a:tr>
              <a:tr h="607575">
                <a:tc>
                  <a:txBody>
                    <a:bodyPr/>
                    <a:lstStyle/>
                    <a:p>
                      <a:pPr algn="ctr">
                        <a:lnSpc>
                          <a:spcPct val="107000"/>
                        </a:lnSpc>
                        <a:spcAft>
                          <a:spcPts val="800"/>
                        </a:spcAft>
                      </a:pPr>
                      <a:r>
                        <a:rPr lang="en-IN" sz="1600">
                          <a:effectLst/>
                        </a:rPr>
                        <a:t>63.95–65.95</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60960" marB="60960" anchor="ctr"/>
                </a:tc>
                <a:tc>
                  <a:txBody>
                    <a:bodyPr/>
                    <a:lstStyle/>
                    <a:p>
                      <a:pPr algn="ctr">
                        <a:lnSpc>
                          <a:spcPct val="107000"/>
                        </a:lnSpc>
                        <a:spcAft>
                          <a:spcPts val="800"/>
                        </a:spcAft>
                      </a:pPr>
                      <a:r>
                        <a:rPr lang="en-IN" sz="1600">
                          <a:effectLst/>
                        </a:rPr>
                        <a:t>15</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60960" marB="60960" anchor="ctr"/>
                </a:tc>
                <a:tc>
                  <a:txBody>
                    <a:bodyPr/>
                    <a:lstStyle/>
                    <a:p>
                      <a:pPr algn="ctr">
                        <a:lnSpc>
                          <a:spcPct val="107000"/>
                        </a:lnSpc>
                        <a:spcAft>
                          <a:spcPts val="800"/>
                        </a:spcAft>
                      </a:pPr>
                      <a:r>
                        <a:rPr lang="en-IN" sz="1200">
                          <a:effectLst/>
                        </a:rPr>
                        <a:t>15100</a:t>
                      </a:r>
                      <a:r>
                        <a:rPr lang="en-IN" sz="1600">
                          <a:effectLst/>
                        </a:rPr>
                        <a:t>=0.1515100=0.15</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60960" marB="60960" anchor="ctr"/>
                </a:tc>
                <a:tc>
                  <a:txBody>
                    <a:bodyPr/>
                    <a:lstStyle/>
                    <a:p>
                      <a:pPr algn="ctr">
                        <a:lnSpc>
                          <a:spcPct val="107000"/>
                        </a:lnSpc>
                        <a:spcAft>
                          <a:spcPts val="800"/>
                        </a:spcAft>
                      </a:pPr>
                      <a:r>
                        <a:rPr lang="en-IN" sz="1600">
                          <a:effectLst/>
                        </a:rPr>
                        <a:t>0.08+0.15=0.230.08+0.15=0.23</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60960" marB="60960" anchor="ctr"/>
                </a:tc>
                <a:extLst>
                  <a:ext uri="{0D108BD9-81ED-4DB2-BD59-A6C34878D82A}">
                    <a16:rowId xmlns="" xmlns:a16="http://schemas.microsoft.com/office/drawing/2014/main" val="4183166345"/>
                  </a:ext>
                </a:extLst>
              </a:tr>
              <a:tr h="607575">
                <a:tc>
                  <a:txBody>
                    <a:bodyPr/>
                    <a:lstStyle/>
                    <a:p>
                      <a:pPr algn="ctr">
                        <a:lnSpc>
                          <a:spcPct val="107000"/>
                        </a:lnSpc>
                        <a:spcAft>
                          <a:spcPts val="800"/>
                        </a:spcAft>
                      </a:pPr>
                      <a:r>
                        <a:rPr lang="en-IN" sz="1600">
                          <a:effectLst/>
                        </a:rPr>
                        <a:t>65.95–67.95</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60960" marB="60960" anchor="ctr"/>
                </a:tc>
                <a:tc>
                  <a:txBody>
                    <a:bodyPr/>
                    <a:lstStyle/>
                    <a:p>
                      <a:pPr algn="ctr">
                        <a:lnSpc>
                          <a:spcPct val="107000"/>
                        </a:lnSpc>
                        <a:spcAft>
                          <a:spcPts val="800"/>
                        </a:spcAft>
                      </a:pPr>
                      <a:r>
                        <a:rPr lang="en-IN" sz="1600">
                          <a:effectLst/>
                        </a:rPr>
                        <a:t>40</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60960" marB="60960" anchor="ctr"/>
                </a:tc>
                <a:tc>
                  <a:txBody>
                    <a:bodyPr/>
                    <a:lstStyle/>
                    <a:p>
                      <a:pPr algn="ctr">
                        <a:lnSpc>
                          <a:spcPct val="107000"/>
                        </a:lnSpc>
                        <a:spcAft>
                          <a:spcPts val="800"/>
                        </a:spcAft>
                      </a:pPr>
                      <a:r>
                        <a:rPr lang="en-IN" sz="1200">
                          <a:effectLst/>
                        </a:rPr>
                        <a:t>40100</a:t>
                      </a:r>
                      <a:r>
                        <a:rPr lang="en-IN" sz="1600">
                          <a:effectLst/>
                        </a:rPr>
                        <a:t>=0.4040100=0.40</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60960" marB="60960" anchor="ctr"/>
                </a:tc>
                <a:tc>
                  <a:txBody>
                    <a:bodyPr/>
                    <a:lstStyle/>
                    <a:p>
                      <a:pPr algn="ctr">
                        <a:lnSpc>
                          <a:spcPct val="107000"/>
                        </a:lnSpc>
                        <a:spcAft>
                          <a:spcPts val="800"/>
                        </a:spcAft>
                      </a:pPr>
                      <a:r>
                        <a:rPr lang="en-IN" sz="1600">
                          <a:effectLst/>
                        </a:rPr>
                        <a:t>0.23+0.40=0.630.23+0.40=0.63</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60960" marB="60960" anchor="ctr"/>
                </a:tc>
                <a:extLst>
                  <a:ext uri="{0D108BD9-81ED-4DB2-BD59-A6C34878D82A}">
                    <a16:rowId xmlns="" xmlns:a16="http://schemas.microsoft.com/office/drawing/2014/main" val="1797984221"/>
                  </a:ext>
                </a:extLst>
              </a:tr>
              <a:tr h="607575">
                <a:tc>
                  <a:txBody>
                    <a:bodyPr/>
                    <a:lstStyle/>
                    <a:p>
                      <a:pPr algn="ctr">
                        <a:lnSpc>
                          <a:spcPct val="107000"/>
                        </a:lnSpc>
                        <a:spcAft>
                          <a:spcPts val="800"/>
                        </a:spcAft>
                      </a:pPr>
                      <a:r>
                        <a:rPr lang="en-IN" sz="1600">
                          <a:effectLst/>
                        </a:rPr>
                        <a:t>67.95–69.95</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60960" marB="60960" anchor="ctr"/>
                </a:tc>
                <a:tc>
                  <a:txBody>
                    <a:bodyPr/>
                    <a:lstStyle/>
                    <a:p>
                      <a:pPr algn="ctr">
                        <a:lnSpc>
                          <a:spcPct val="107000"/>
                        </a:lnSpc>
                        <a:spcAft>
                          <a:spcPts val="800"/>
                        </a:spcAft>
                      </a:pPr>
                      <a:r>
                        <a:rPr lang="en-IN" sz="1600">
                          <a:effectLst/>
                        </a:rPr>
                        <a:t>17</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60960" marB="60960" anchor="ctr"/>
                </a:tc>
                <a:tc>
                  <a:txBody>
                    <a:bodyPr/>
                    <a:lstStyle/>
                    <a:p>
                      <a:pPr algn="ctr">
                        <a:lnSpc>
                          <a:spcPct val="107000"/>
                        </a:lnSpc>
                        <a:spcAft>
                          <a:spcPts val="800"/>
                        </a:spcAft>
                      </a:pPr>
                      <a:r>
                        <a:rPr lang="en-IN" sz="1200">
                          <a:effectLst/>
                        </a:rPr>
                        <a:t>17100</a:t>
                      </a:r>
                      <a:r>
                        <a:rPr lang="en-IN" sz="1600">
                          <a:effectLst/>
                        </a:rPr>
                        <a:t>=0.1717100=0.17</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60960" marB="60960" anchor="ctr"/>
                </a:tc>
                <a:tc>
                  <a:txBody>
                    <a:bodyPr/>
                    <a:lstStyle/>
                    <a:p>
                      <a:pPr algn="ctr">
                        <a:lnSpc>
                          <a:spcPct val="107000"/>
                        </a:lnSpc>
                        <a:spcAft>
                          <a:spcPts val="800"/>
                        </a:spcAft>
                      </a:pPr>
                      <a:r>
                        <a:rPr lang="en-IN" sz="1600">
                          <a:effectLst/>
                        </a:rPr>
                        <a:t>0.63+0.17=0.800.63+0.17=0.80</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60960" marB="60960" anchor="ctr"/>
                </a:tc>
                <a:extLst>
                  <a:ext uri="{0D108BD9-81ED-4DB2-BD59-A6C34878D82A}">
                    <a16:rowId xmlns="" xmlns:a16="http://schemas.microsoft.com/office/drawing/2014/main" val="952110966"/>
                  </a:ext>
                </a:extLst>
              </a:tr>
              <a:tr h="607575">
                <a:tc>
                  <a:txBody>
                    <a:bodyPr/>
                    <a:lstStyle/>
                    <a:p>
                      <a:pPr algn="ctr">
                        <a:lnSpc>
                          <a:spcPct val="107000"/>
                        </a:lnSpc>
                        <a:spcAft>
                          <a:spcPts val="800"/>
                        </a:spcAft>
                      </a:pPr>
                      <a:r>
                        <a:rPr lang="en-IN" sz="1600">
                          <a:effectLst/>
                        </a:rPr>
                        <a:t>69.95–71.95</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60960" marB="60960" anchor="ctr"/>
                </a:tc>
                <a:tc>
                  <a:txBody>
                    <a:bodyPr/>
                    <a:lstStyle/>
                    <a:p>
                      <a:pPr algn="ctr">
                        <a:lnSpc>
                          <a:spcPct val="107000"/>
                        </a:lnSpc>
                        <a:spcAft>
                          <a:spcPts val="800"/>
                        </a:spcAft>
                      </a:pPr>
                      <a:r>
                        <a:rPr lang="en-IN" sz="1600">
                          <a:effectLst/>
                        </a:rPr>
                        <a:t>12</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60960" marB="60960" anchor="ctr"/>
                </a:tc>
                <a:tc>
                  <a:txBody>
                    <a:bodyPr/>
                    <a:lstStyle/>
                    <a:p>
                      <a:pPr algn="ctr">
                        <a:lnSpc>
                          <a:spcPct val="107000"/>
                        </a:lnSpc>
                        <a:spcAft>
                          <a:spcPts val="800"/>
                        </a:spcAft>
                      </a:pPr>
                      <a:r>
                        <a:rPr lang="en-IN" sz="1200">
                          <a:effectLst/>
                        </a:rPr>
                        <a:t>12100</a:t>
                      </a:r>
                      <a:r>
                        <a:rPr lang="en-IN" sz="1600">
                          <a:effectLst/>
                        </a:rPr>
                        <a:t>=0.1212100=0.12</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60960" marB="60960" anchor="ctr"/>
                </a:tc>
                <a:tc>
                  <a:txBody>
                    <a:bodyPr/>
                    <a:lstStyle/>
                    <a:p>
                      <a:pPr algn="ctr">
                        <a:lnSpc>
                          <a:spcPct val="107000"/>
                        </a:lnSpc>
                        <a:spcAft>
                          <a:spcPts val="800"/>
                        </a:spcAft>
                      </a:pPr>
                      <a:r>
                        <a:rPr lang="en-IN" sz="1600">
                          <a:effectLst/>
                        </a:rPr>
                        <a:t>0.80+0.12=0.920.80+0.12=0.92</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60960" marB="60960" anchor="ctr"/>
                </a:tc>
                <a:extLst>
                  <a:ext uri="{0D108BD9-81ED-4DB2-BD59-A6C34878D82A}">
                    <a16:rowId xmlns="" xmlns:a16="http://schemas.microsoft.com/office/drawing/2014/main" val="1280988210"/>
                  </a:ext>
                </a:extLst>
              </a:tr>
              <a:tr h="607575">
                <a:tc>
                  <a:txBody>
                    <a:bodyPr/>
                    <a:lstStyle/>
                    <a:p>
                      <a:pPr algn="ctr">
                        <a:lnSpc>
                          <a:spcPct val="107000"/>
                        </a:lnSpc>
                        <a:spcAft>
                          <a:spcPts val="800"/>
                        </a:spcAft>
                      </a:pPr>
                      <a:r>
                        <a:rPr lang="en-IN" sz="1600">
                          <a:effectLst/>
                        </a:rPr>
                        <a:t>71.95–73.95</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60960" marB="60960" anchor="ctr"/>
                </a:tc>
                <a:tc>
                  <a:txBody>
                    <a:bodyPr/>
                    <a:lstStyle/>
                    <a:p>
                      <a:pPr algn="ctr">
                        <a:lnSpc>
                          <a:spcPct val="107000"/>
                        </a:lnSpc>
                        <a:spcAft>
                          <a:spcPts val="800"/>
                        </a:spcAft>
                      </a:pPr>
                      <a:r>
                        <a:rPr lang="en-IN" sz="1600">
                          <a:effectLst/>
                        </a:rPr>
                        <a:t>7</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60960" marB="60960" anchor="ctr"/>
                </a:tc>
                <a:tc>
                  <a:txBody>
                    <a:bodyPr/>
                    <a:lstStyle/>
                    <a:p>
                      <a:pPr algn="ctr">
                        <a:lnSpc>
                          <a:spcPct val="107000"/>
                        </a:lnSpc>
                        <a:spcAft>
                          <a:spcPts val="800"/>
                        </a:spcAft>
                      </a:pPr>
                      <a:r>
                        <a:rPr lang="en-IN" sz="1200">
                          <a:effectLst/>
                        </a:rPr>
                        <a:t>7100</a:t>
                      </a:r>
                      <a:r>
                        <a:rPr lang="en-IN" sz="1600">
                          <a:effectLst/>
                        </a:rPr>
                        <a:t>=0.077100=0.07</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60960" marB="60960" anchor="ctr"/>
                </a:tc>
                <a:tc>
                  <a:txBody>
                    <a:bodyPr/>
                    <a:lstStyle/>
                    <a:p>
                      <a:pPr algn="ctr">
                        <a:lnSpc>
                          <a:spcPct val="107000"/>
                        </a:lnSpc>
                        <a:spcAft>
                          <a:spcPts val="800"/>
                        </a:spcAft>
                      </a:pPr>
                      <a:r>
                        <a:rPr lang="en-IN" sz="1600">
                          <a:effectLst/>
                        </a:rPr>
                        <a:t>0.92+0.07=0.990.92+0.07=0.99</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60960" marB="60960" anchor="ctr"/>
                </a:tc>
                <a:extLst>
                  <a:ext uri="{0D108BD9-81ED-4DB2-BD59-A6C34878D82A}">
                    <a16:rowId xmlns="" xmlns:a16="http://schemas.microsoft.com/office/drawing/2014/main" val="2255349736"/>
                  </a:ext>
                </a:extLst>
              </a:tr>
              <a:tr h="607575">
                <a:tc>
                  <a:txBody>
                    <a:bodyPr/>
                    <a:lstStyle/>
                    <a:p>
                      <a:pPr algn="ctr">
                        <a:lnSpc>
                          <a:spcPct val="107000"/>
                        </a:lnSpc>
                        <a:spcAft>
                          <a:spcPts val="800"/>
                        </a:spcAft>
                      </a:pPr>
                      <a:r>
                        <a:rPr lang="en-IN" sz="1600">
                          <a:effectLst/>
                        </a:rPr>
                        <a:t>73.95–75.95</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60960" marB="60960" anchor="ctr"/>
                </a:tc>
                <a:tc>
                  <a:txBody>
                    <a:bodyPr/>
                    <a:lstStyle/>
                    <a:p>
                      <a:pPr algn="ctr">
                        <a:lnSpc>
                          <a:spcPct val="107000"/>
                        </a:lnSpc>
                        <a:spcAft>
                          <a:spcPts val="800"/>
                        </a:spcAft>
                      </a:pPr>
                      <a:r>
                        <a:rPr lang="en-IN" sz="1600">
                          <a:effectLst/>
                        </a:rPr>
                        <a:t>1</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60960" marB="60960" anchor="ctr"/>
                </a:tc>
                <a:tc>
                  <a:txBody>
                    <a:bodyPr/>
                    <a:lstStyle/>
                    <a:p>
                      <a:pPr algn="ctr">
                        <a:lnSpc>
                          <a:spcPct val="107000"/>
                        </a:lnSpc>
                        <a:spcAft>
                          <a:spcPts val="800"/>
                        </a:spcAft>
                      </a:pPr>
                      <a:r>
                        <a:rPr lang="en-IN" sz="1200">
                          <a:effectLst/>
                        </a:rPr>
                        <a:t>1100</a:t>
                      </a:r>
                      <a:r>
                        <a:rPr lang="en-IN" sz="1600">
                          <a:effectLst/>
                        </a:rPr>
                        <a:t>=0.011100=0.01</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60960" marB="60960" anchor="ctr"/>
                </a:tc>
                <a:tc>
                  <a:txBody>
                    <a:bodyPr/>
                    <a:lstStyle/>
                    <a:p>
                      <a:pPr algn="ctr">
                        <a:lnSpc>
                          <a:spcPct val="107000"/>
                        </a:lnSpc>
                        <a:spcAft>
                          <a:spcPts val="800"/>
                        </a:spcAft>
                      </a:pPr>
                      <a:r>
                        <a:rPr lang="en-IN" sz="1600">
                          <a:effectLst/>
                        </a:rPr>
                        <a:t>0.99+0.01=1.000.99+0.01=1.00</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60960" marB="60960" anchor="ctr"/>
                </a:tc>
                <a:extLst>
                  <a:ext uri="{0D108BD9-81ED-4DB2-BD59-A6C34878D82A}">
                    <a16:rowId xmlns="" xmlns:a16="http://schemas.microsoft.com/office/drawing/2014/main" val="679625914"/>
                  </a:ext>
                </a:extLst>
              </a:tr>
              <a:tr h="590138">
                <a:tc>
                  <a:txBody>
                    <a:bodyPr/>
                    <a:lstStyle/>
                    <a:p>
                      <a:pPr>
                        <a:lnSpc>
                          <a:spcPct val="107000"/>
                        </a:lnSpc>
                        <a:spcAft>
                          <a:spcPts val="800"/>
                        </a:spcAft>
                      </a:pPr>
                      <a:r>
                        <a:rPr lang="en-IN" sz="1600">
                          <a:effectLst/>
                        </a:rPr>
                        <a:t> </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60960" marB="60960" anchor="ctr"/>
                </a:tc>
                <a:tc>
                  <a:txBody>
                    <a:bodyPr/>
                    <a:lstStyle/>
                    <a:p>
                      <a:pPr algn="ctr">
                        <a:lnSpc>
                          <a:spcPct val="107000"/>
                        </a:lnSpc>
                        <a:spcAft>
                          <a:spcPts val="800"/>
                        </a:spcAft>
                      </a:pPr>
                      <a:r>
                        <a:rPr lang="en-IN" sz="1600">
                          <a:effectLst/>
                        </a:rPr>
                        <a:t>Total = 100</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60960" marB="60960" anchor="ctr"/>
                </a:tc>
                <a:tc>
                  <a:txBody>
                    <a:bodyPr/>
                    <a:lstStyle/>
                    <a:p>
                      <a:pPr algn="ctr">
                        <a:lnSpc>
                          <a:spcPct val="107000"/>
                        </a:lnSpc>
                        <a:spcAft>
                          <a:spcPts val="800"/>
                        </a:spcAft>
                      </a:pPr>
                      <a:r>
                        <a:rPr lang="en-IN" sz="1600">
                          <a:effectLst/>
                        </a:rPr>
                        <a:t>Total = 1.00</a:t>
                      </a:r>
                      <a:endParaRPr lang="en-IN" sz="2400">
                        <a:effectLst/>
                        <a:latin typeface="Calibri" panose="020F0502020204030204" pitchFamily="34" charset="0"/>
                        <a:ea typeface="Calibri" panose="020F0502020204030204" pitchFamily="34" charset="0"/>
                        <a:cs typeface="Times New Roman" panose="02020603050405020304" pitchFamily="18" charset="0"/>
                      </a:endParaRPr>
                    </a:p>
                  </a:txBody>
                  <a:tcPr marL="45720" marR="45720" marT="60960" marB="60960" anchor="ctr"/>
                </a:tc>
                <a:tc>
                  <a:txBody>
                    <a:bodyPr/>
                    <a:lstStyle/>
                    <a:p>
                      <a:pPr>
                        <a:lnSpc>
                          <a:spcPct val="107000"/>
                        </a:lnSpc>
                      </a:pPr>
                      <a:endParaRPr lang="en-IN" sz="2400" dirty="0">
                        <a:effectLst/>
                        <a:latin typeface="Calibri" panose="020F0502020204030204" pitchFamily="34" charset="0"/>
                        <a:cs typeface="Times New Roman" panose="02020603050405020304" pitchFamily="18" charset="0"/>
                      </a:endParaRPr>
                    </a:p>
                  </a:txBody>
                  <a:tcPr marL="7144" marR="7144" marT="9525" marB="9525" anchor="ctr"/>
                </a:tc>
                <a:extLst>
                  <a:ext uri="{0D108BD9-81ED-4DB2-BD59-A6C34878D82A}">
                    <a16:rowId xmlns="" xmlns:a16="http://schemas.microsoft.com/office/drawing/2014/main" val="2597383304"/>
                  </a:ext>
                </a:extLst>
              </a:tr>
            </a:tbl>
          </a:graphicData>
        </a:graphic>
      </p:graphicFrame>
    </p:spTree>
    <p:extLst>
      <p:ext uri="{BB962C8B-B14F-4D97-AF65-F5344CB8AC3E}">
        <p14:creationId xmlns:p14="http://schemas.microsoft.com/office/powerpoint/2010/main" val="33701655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9D59C10-3B66-4BCC-8930-98BBB48B7CDC}"/>
              </a:ext>
            </a:extLst>
          </p:cNvPr>
          <p:cNvSpPr>
            <a:spLocks noGrp="1"/>
          </p:cNvSpPr>
          <p:nvPr>
            <p:ph type="title"/>
          </p:nvPr>
        </p:nvSpPr>
        <p:spPr>
          <a:xfrm>
            <a:off x="629841" y="457200"/>
            <a:ext cx="8399859" cy="685800"/>
          </a:xfrm>
        </p:spPr>
        <p:txBody>
          <a:bodyPr/>
          <a:lstStyle/>
          <a:p>
            <a:r>
              <a:rPr lang="en-US" dirty="0"/>
              <a:t>Group Frequency Distributions </a:t>
            </a:r>
            <a:endParaRPr lang="en-IN" dirty="0"/>
          </a:p>
        </p:txBody>
      </p:sp>
      <p:sp>
        <p:nvSpPr>
          <p:cNvPr id="4" name="Text Placeholder 3">
            <a:extLst>
              <a:ext uri="{FF2B5EF4-FFF2-40B4-BE49-F238E27FC236}">
                <a16:creationId xmlns="" xmlns:a16="http://schemas.microsoft.com/office/drawing/2014/main" id="{6CB053A6-0579-4AFC-93C0-51F307B78CEC}"/>
              </a:ext>
            </a:extLst>
          </p:cNvPr>
          <p:cNvSpPr>
            <a:spLocks noGrp="1"/>
          </p:cNvSpPr>
          <p:nvPr>
            <p:ph type="body" sz="half" idx="2"/>
          </p:nvPr>
        </p:nvSpPr>
        <p:spPr>
          <a:xfrm>
            <a:off x="557212" y="1247776"/>
            <a:ext cx="8586788" cy="5486399"/>
          </a:xfrm>
        </p:spPr>
        <p:txBody>
          <a:bodyPr>
            <a:normAutofit fontScale="70000" lnSpcReduction="20000"/>
          </a:bodyPr>
          <a:lstStyle/>
          <a:p>
            <a:pPr>
              <a:lnSpc>
                <a:spcPct val="107000"/>
              </a:lnSpc>
              <a:spcAft>
                <a:spcPts val="800"/>
              </a:spcAft>
            </a:pPr>
            <a:r>
              <a:rPr lang="en-IN" sz="3000" dirty="0">
                <a:solidFill>
                  <a:srgbClr val="000000"/>
                </a:solidFill>
                <a:effectLst/>
                <a:latin typeface="Tahoma" panose="020B0604030504040204" pitchFamily="34" charset="0"/>
                <a:ea typeface="Times New Roman" panose="02020603050405020304" pitchFamily="18" charset="0"/>
                <a:cs typeface="Times New Roman" panose="02020603050405020304" pitchFamily="18" charset="0"/>
              </a:rPr>
              <a:t>In this sample, there are</a:t>
            </a:r>
          </a:p>
          <a:p>
            <a:pPr>
              <a:lnSpc>
                <a:spcPct val="107000"/>
              </a:lnSpc>
              <a:spcAft>
                <a:spcPts val="800"/>
              </a:spcAft>
            </a:pPr>
            <a:r>
              <a:rPr lang="en-IN" sz="3000" dirty="0">
                <a:solidFill>
                  <a:srgbClr val="000000"/>
                </a:solidFill>
                <a:effectLst/>
                <a:latin typeface="Tahoma" panose="020B0604030504040204" pitchFamily="34" charset="0"/>
                <a:ea typeface="Times New Roman" panose="02020603050405020304" pitchFamily="18" charset="0"/>
                <a:cs typeface="Times New Roman" panose="02020603050405020304" pitchFamily="18" charset="0"/>
              </a:rPr>
              <a:t> </a:t>
            </a:r>
            <a:r>
              <a:rPr lang="en-IN" sz="3000" b="1" dirty="0">
                <a:solidFill>
                  <a:srgbClr val="000000"/>
                </a:solidFill>
                <a:effectLst/>
                <a:latin typeface="Tahoma" panose="020B0604030504040204" pitchFamily="34" charset="0"/>
                <a:ea typeface="Times New Roman" panose="02020603050405020304" pitchFamily="18" charset="0"/>
                <a:cs typeface="Times New Roman" panose="02020603050405020304" pitchFamily="18" charset="0"/>
              </a:rPr>
              <a:t>five</a:t>
            </a:r>
            <a:r>
              <a:rPr lang="en-IN" sz="3000" dirty="0">
                <a:solidFill>
                  <a:srgbClr val="000000"/>
                </a:solidFill>
                <a:effectLst/>
                <a:latin typeface="Tahoma" panose="020B0604030504040204" pitchFamily="34" charset="0"/>
                <a:ea typeface="Times New Roman" panose="02020603050405020304" pitchFamily="18" charset="0"/>
                <a:cs typeface="Times New Roman" panose="02020603050405020304" pitchFamily="18" charset="0"/>
              </a:rPr>
              <a:t> players whose heights fall within the interval 59.95–61.95 inches,</a:t>
            </a:r>
          </a:p>
          <a:p>
            <a:pPr>
              <a:lnSpc>
                <a:spcPct val="107000"/>
              </a:lnSpc>
              <a:spcAft>
                <a:spcPts val="800"/>
              </a:spcAft>
            </a:pPr>
            <a:r>
              <a:rPr lang="en-IN" sz="3000" dirty="0">
                <a:solidFill>
                  <a:srgbClr val="000000"/>
                </a:solidFill>
                <a:effectLst/>
                <a:latin typeface="Tahoma" panose="020B0604030504040204" pitchFamily="34" charset="0"/>
                <a:ea typeface="Times New Roman" panose="02020603050405020304" pitchFamily="18" charset="0"/>
                <a:cs typeface="Times New Roman" panose="02020603050405020304" pitchFamily="18" charset="0"/>
              </a:rPr>
              <a:t> </a:t>
            </a:r>
            <a:r>
              <a:rPr lang="en-IN" sz="3000" b="1" dirty="0">
                <a:solidFill>
                  <a:srgbClr val="000000"/>
                </a:solidFill>
                <a:effectLst/>
                <a:latin typeface="Tahoma" panose="020B0604030504040204" pitchFamily="34" charset="0"/>
                <a:ea typeface="Times New Roman" panose="02020603050405020304" pitchFamily="18" charset="0"/>
                <a:cs typeface="Times New Roman" panose="02020603050405020304" pitchFamily="18" charset="0"/>
              </a:rPr>
              <a:t>three</a:t>
            </a:r>
            <a:r>
              <a:rPr lang="en-IN" sz="3000" dirty="0">
                <a:solidFill>
                  <a:srgbClr val="000000"/>
                </a:solidFill>
                <a:effectLst/>
                <a:latin typeface="Tahoma" panose="020B0604030504040204" pitchFamily="34" charset="0"/>
                <a:ea typeface="Times New Roman" panose="02020603050405020304" pitchFamily="18" charset="0"/>
                <a:cs typeface="Times New Roman" panose="02020603050405020304" pitchFamily="18" charset="0"/>
              </a:rPr>
              <a:t> players whose heights fall within the interval 61.95–63.95 inches, </a:t>
            </a:r>
          </a:p>
          <a:p>
            <a:pPr>
              <a:lnSpc>
                <a:spcPct val="107000"/>
              </a:lnSpc>
              <a:spcAft>
                <a:spcPts val="800"/>
              </a:spcAft>
            </a:pPr>
            <a:r>
              <a:rPr lang="en-IN" sz="3000" b="1" dirty="0">
                <a:solidFill>
                  <a:srgbClr val="000000"/>
                </a:solidFill>
                <a:effectLst/>
                <a:latin typeface="Tahoma" panose="020B0604030504040204" pitchFamily="34" charset="0"/>
                <a:ea typeface="Times New Roman" panose="02020603050405020304" pitchFamily="18" charset="0"/>
                <a:cs typeface="Times New Roman" panose="02020603050405020304" pitchFamily="18" charset="0"/>
              </a:rPr>
              <a:t>15</a:t>
            </a:r>
            <a:r>
              <a:rPr lang="en-IN" sz="3000" dirty="0">
                <a:solidFill>
                  <a:srgbClr val="000000"/>
                </a:solidFill>
                <a:effectLst/>
                <a:latin typeface="Tahoma" panose="020B0604030504040204" pitchFamily="34" charset="0"/>
                <a:ea typeface="Times New Roman" panose="02020603050405020304" pitchFamily="18" charset="0"/>
                <a:cs typeface="Times New Roman" panose="02020603050405020304" pitchFamily="18" charset="0"/>
              </a:rPr>
              <a:t> players whose heights fall within the interval 63.95–65.95 inches, </a:t>
            </a:r>
          </a:p>
          <a:p>
            <a:pPr>
              <a:lnSpc>
                <a:spcPct val="107000"/>
              </a:lnSpc>
              <a:spcAft>
                <a:spcPts val="800"/>
              </a:spcAft>
            </a:pPr>
            <a:r>
              <a:rPr lang="en-IN" sz="3000" b="1" dirty="0">
                <a:solidFill>
                  <a:srgbClr val="000000"/>
                </a:solidFill>
                <a:effectLst/>
                <a:latin typeface="Tahoma" panose="020B0604030504040204" pitchFamily="34" charset="0"/>
                <a:ea typeface="Times New Roman" panose="02020603050405020304" pitchFamily="18" charset="0"/>
                <a:cs typeface="Times New Roman" panose="02020603050405020304" pitchFamily="18" charset="0"/>
              </a:rPr>
              <a:t>40</a:t>
            </a:r>
            <a:r>
              <a:rPr lang="en-IN" sz="3000" dirty="0">
                <a:solidFill>
                  <a:srgbClr val="000000"/>
                </a:solidFill>
                <a:effectLst/>
                <a:latin typeface="Tahoma" panose="020B0604030504040204" pitchFamily="34" charset="0"/>
                <a:ea typeface="Times New Roman" panose="02020603050405020304" pitchFamily="18" charset="0"/>
                <a:cs typeface="Times New Roman" panose="02020603050405020304" pitchFamily="18" charset="0"/>
              </a:rPr>
              <a:t> players whose heights fall within the interval 65.95–67.95 inches,</a:t>
            </a:r>
          </a:p>
          <a:p>
            <a:pPr>
              <a:lnSpc>
                <a:spcPct val="107000"/>
              </a:lnSpc>
              <a:spcAft>
                <a:spcPts val="800"/>
              </a:spcAft>
            </a:pPr>
            <a:r>
              <a:rPr lang="en-IN" sz="3000" dirty="0">
                <a:solidFill>
                  <a:srgbClr val="000000"/>
                </a:solidFill>
                <a:effectLst/>
                <a:latin typeface="Tahoma" panose="020B0604030504040204" pitchFamily="34" charset="0"/>
                <a:ea typeface="Times New Roman" panose="02020603050405020304" pitchFamily="18" charset="0"/>
                <a:cs typeface="Times New Roman" panose="02020603050405020304" pitchFamily="18" charset="0"/>
              </a:rPr>
              <a:t> </a:t>
            </a:r>
            <a:r>
              <a:rPr lang="en-IN" sz="3000" b="1" dirty="0">
                <a:solidFill>
                  <a:srgbClr val="000000"/>
                </a:solidFill>
                <a:effectLst/>
                <a:latin typeface="Tahoma" panose="020B0604030504040204" pitchFamily="34" charset="0"/>
                <a:ea typeface="Times New Roman" panose="02020603050405020304" pitchFamily="18" charset="0"/>
                <a:cs typeface="Times New Roman" panose="02020603050405020304" pitchFamily="18" charset="0"/>
              </a:rPr>
              <a:t>17</a:t>
            </a:r>
            <a:r>
              <a:rPr lang="en-IN" sz="3000" dirty="0">
                <a:solidFill>
                  <a:srgbClr val="000000"/>
                </a:solidFill>
                <a:effectLst/>
                <a:latin typeface="Tahoma" panose="020B0604030504040204" pitchFamily="34" charset="0"/>
                <a:ea typeface="Times New Roman" panose="02020603050405020304" pitchFamily="18" charset="0"/>
                <a:cs typeface="Times New Roman" panose="02020603050405020304" pitchFamily="18" charset="0"/>
              </a:rPr>
              <a:t> players whose heights fall within the interval 67.95–69.95 inches,</a:t>
            </a:r>
          </a:p>
          <a:p>
            <a:pPr>
              <a:lnSpc>
                <a:spcPct val="107000"/>
              </a:lnSpc>
              <a:spcAft>
                <a:spcPts val="800"/>
              </a:spcAft>
            </a:pPr>
            <a:r>
              <a:rPr lang="en-IN" sz="3000" dirty="0">
                <a:solidFill>
                  <a:srgbClr val="000000"/>
                </a:solidFill>
                <a:effectLst/>
                <a:latin typeface="Tahoma" panose="020B0604030504040204" pitchFamily="34" charset="0"/>
                <a:ea typeface="Times New Roman" panose="02020603050405020304" pitchFamily="18" charset="0"/>
                <a:cs typeface="Times New Roman" panose="02020603050405020304" pitchFamily="18" charset="0"/>
              </a:rPr>
              <a:t> </a:t>
            </a:r>
            <a:r>
              <a:rPr lang="en-IN" sz="3000" b="1" dirty="0">
                <a:solidFill>
                  <a:srgbClr val="000000"/>
                </a:solidFill>
                <a:effectLst/>
                <a:latin typeface="Tahoma" panose="020B0604030504040204" pitchFamily="34" charset="0"/>
                <a:ea typeface="Times New Roman" panose="02020603050405020304" pitchFamily="18" charset="0"/>
                <a:cs typeface="Times New Roman" panose="02020603050405020304" pitchFamily="18" charset="0"/>
              </a:rPr>
              <a:t>12</a:t>
            </a:r>
            <a:r>
              <a:rPr lang="en-IN" sz="3000" dirty="0">
                <a:solidFill>
                  <a:srgbClr val="000000"/>
                </a:solidFill>
                <a:effectLst/>
                <a:latin typeface="Tahoma" panose="020B0604030504040204" pitchFamily="34" charset="0"/>
                <a:ea typeface="Times New Roman" panose="02020603050405020304" pitchFamily="18" charset="0"/>
                <a:cs typeface="Times New Roman" panose="02020603050405020304" pitchFamily="18" charset="0"/>
              </a:rPr>
              <a:t> players whose heights fall within the interval 69.95–71.95, </a:t>
            </a:r>
          </a:p>
          <a:p>
            <a:pPr>
              <a:lnSpc>
                <a:spcPct val="107000"/>
              </a:lnSpc>
              <a:spcAft>
                <a:spcPts val="800"/>
              </a:spcAft>
            </a:pPr>
            <a:r>
              <a:rPr lang="en-IN" sz="3000" b="1" dirty="0">
                <a:solidFill>
                  <a:srgbClr val="000000"/>
                </a:solidFill>
                <a:effectLst/>
                <a:latin typeface="Tahoma" panose="020B0604030504040204" pitchFamily="34" charset="0"/>
                <a:ea typeface="Times New Roman" panose="02020603050405020304" pitchFamily="18" charset="0"/>
                <a:cs typeface="Times New Roman" panose="02020603050405020304" pitchFamily="18" charset="0"/>
              </a:rPr>
              <a:t>seven</a:t>
            </a:r>
            <a:r>
              <a:rPr lang="en-IN" sz="3000" dirty="0">
                <a:solidFill>
                  <a:srgbClr val="000000"/>
                </a:solidFill>
                <a:effectLst/>
                <a:latin typeface="Tahoma" panose="020B0604030504040204" pitchFamily="34" charset="0"/>
                <a:ea typeface="Times New Roman" panose="02020603050405020304" pitchFamily="18" charset="0"/>
                <a:cs typeface="Times New Roman" panose="02020603050405020304" pitchFamily="18" charset="0"/>
              </a:rPr>
              <a:t> players whose heights fall within the interval 71.95–73.95, and</a:t>
            </a:r>
          </a:p>
          <a:p>
            <a:pPr>
              <a:lnSpc>
                <a:spcPct val="107000"/>
              </a:lnSpc>
              <a:spcAft>
                <a:spcPts val="800"/>
              </a:spcAft>
            </a:pPr>
            <a:r>
              <a:rPr lang="en-IN" sz="3000" dirty="0">
                <a:solidFill>
                  <a:srgbClr val="000000"/>
                </a:solidFill>
                <a:effectLst/>
                <a:latin typeface="Tahoma" panose="020B0604030504040204" pitchFamily="34" charset="0"/>
                <a:ea typeface="Times New Roman" panose="02020603050405020304" pitchFamily="18" charset="0"/>
                <a:cs typeface="Times New Roman" panose="02020603050405020304" pitchFamily="18" charset="0"/>
              </a:rPr>
              <a:t> </a:t>
            </a:r>
            <a:r>
              <a:rPr lang="en-IN" sz="3000" b="1" dirty="0">
                <a:solidFill>
                  <a:srgbClr val="000000"/>
                </a:solidFill>
                <a:effectLst/>
                <a:latin typeface="Tahoma" panose="020B0604030504040204" pitchFamily="34" charset="0"/>
                <a:ea typeface="Times New Roman" panose="02020603050405020304" pitchFamily="18" charset="0"/>
                <a:cs typeface="Times New Roman" panose="02020603050405020304" pitchFamily="18" charset="0"/>
              </a:rPr>
              <a:t>one</a:t>
            </a:r>
            <a:r>
              <a:rPr lang="en-IN" sz="3000" dirty="0">
                <a:solidFill>
                  <a:srgbClr val="000000"/>
                </a:solidFill>
                <a:effectLst/>
                <a:latin typeface="Tahoma" panose="020B0604030504040204" pitchFamily="34" charset="0"/>
                <a:ea typeface="Times New Roman" panose="02020603050405020304" pitchFamily="18" charset="0"/>
                <a:cs typeface="Times New Roman" panose="02020603050405020304" pitchFamily="18" charset="0"/>
              </a:rPr>
              <a:t> player whose heights fall within the interval 73.95–75.95.</a:t>
            </a:r>
          </a:p>
          <a:p>
            <a:pPr>
              <a:lnSpc>
                <a:spcPct val="107000"/>
              </a:lnSpc>
              <a:spcAft>
                <a:spcPts val="800"/>
              </a:spcAft>
            </a:pPr>
            <a:r>
              <a:rPr lang="en-IN" sz="3000" dirty="0">
                <a:solidFill>
                  <a:srgbClr val="000000"/>
                </a:solidFill>
                <a:effectLst/>
                <a:latin typeface="Tahoma" panose="020B0604030504040204" pitchFamily="34" charset="0"/>
                <a:ea typeface="Times New Roman" panose="02020603050405020304" pitchFamily="18" charset="0"/>
                <a:cs typeface="Times New Roman" panose="02020603050405020304" pitchFamily="18" charset="0"/>
              </a:rPr>
              <a:t> All heights fall between the endpoints of an interval and not at the endpoints.</a:t>
            </a:r>
            <a:endParaRPr lang="en-IN" sz="43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41817282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SUMMARY –Frequency Distribution</a:t>
            </a:r>
            <a:endParaRPr lang="en-IN" dirty="0"/>
          </a:p>
        </p:txBody>
      </p:sp>
      <p:sp>
        <p:nvSpPr>
          <p:cNvPr id="3" name="Rectangle 2"/>
          <p:cNvSpPr/>
          <p:nvPr/>
        </p:nvSpPr>
        <p:spPr>
          <a:xfrm>
            <a:off x="2286000" y="2690336"/>
            <a:ext cx="4572000" cy="1477328"/>
          </a:xfrm>
          <a:prstGeom prst="rect">
            <a:avLst/>
          </a:prstGeom>
        </p:spPr>
        <p:txBody>
          <a:bodyPr>
            <a:spAutoFit/>
          </a:bodyPr>
          <a:lstStyle/>
          <a:p>
            <a:pPr lvl="1"/>
            <a:r>
              <a:rPr lang="en-US" dirty="0" smtClean="0"/>
              <a:t> Types of Frequency Distribution </a:t>
            </a:r>
          </a:p>
          <a:p>
            <a:pPr lvl="2"/>
            <a:r>
              <a:rPr lang="en-US" dirty="0" smtClean="0"/>
              <a:t>Simple</a:t>
            </a:r>
          </a:p>
          <a:p>
            <a:pPr lvl="2"/>
            <a:r>
              <a:rPr lang="en-US" dirty="0" smtClean="0"/>
              <a:t> grouped </a:t>
            </a:r>
          </a:p>
          <a:p>
            <a:pPr lvl="2"/>
            <a:r>
              <a:rPr lang="en-US" dirty="0" smtClean="0"/>
              <a:t>cumulative and </a:t>
            </a:r>
          </a:p>
          <a:p>
            <a:pPr lvl="2"/>
            <a:r>
              <a:rPr lang="en-US" dirty="0" smtClean="0"/>
              <a:t>relative frequency</a:t>
            </a:r>
          </a:p>
        </p:txBody>
      </p:sp>
    </p:spTree>
    <p:extLst>
      <p:ext uri="{BB962C8B-B14F-4D97-AF65-F5344CB8AC3E}">
        <p14:creationId xmlns:p14="http://schemas.microsoft.com/office/powerpoint/2010/main" val="10571335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916832"/>
            <a:ext cx="7931224" cy="504056"/>
          </a:xfrm>
        </p:spPr>
        <p:txBody>
          <a:bodyPr>
            <a:noAutofit/>
          </a:bodyPr>
          <a:lstStyle/>
          <a:p>
            <a:pPr algn="ctr"/>
            <a:r>
              <a:rPr lang="en-US" sz="4400" dirty="0" smtClean="0">
                <a:latin typeface="Times New Roman" panose="02020603050405020304" pitchFamily="18" charset="0"/>
                <a:cs typeface="Times New Roman" panose="02020603050405020304" pitchFamily="18" charset="0"/>
              </a:rPr>
              <a:t>Graphs for </a:t>
            </a:r>
            <a:r>
              <a:rPr lang="en-US" sz="4400" dirty="0">
                <a:latin typeface="Times New Roman" panose="02020603050405020304" pitchFamily="18" charset="0"/>
                <a:cs typeface="Times New Roman" panose="02020603050405020304" pitchFamily="18" charset="0"/>
              </a:rPr>
              <a:t>F</a:t>
            </a:r>
            <a:r>
              <a:rPr lang="en-US" sz="4400" dirty="0" smtClean="0">
                <a:latin typeface="Times New Roman" panose="02020603050405020304" pitchFamily="18" charset="0"/>
                <a:cs typeface="Times New Roman" panose="02020603050405020304" pitchFamily="18" charset="0"/>
              </a:rPr>
              <a:t>requency Distribution</a:t>
            </a:r>
            <a:endParaRPr lang="en-IN" sz="4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407309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116632"/>
            <a:ext cx="8964501" cy="6712933"/>
            <a:chOff x="-148003" y="266908"/>
            <a:chExt cx="12340001" cy="6591091"/>
          </a:xfrm>
        </p:grpSpPr>
        <p:pic>
          <p:nvPicPr>
            <p:cNvPr id="3" name="object 3"/>
            <p:cNvPicPr/>
            <p:nvPr/>
          </p:nvPicPr>
          <p:blipFill>
            <a:blip r:embed="rId2" cstate="print"/>
            <a:stretch>
              <a:fillRect/>
            </a:stretch>
          </p:blipFill>
          <p:spPr>
            <a:xfrm>
              <a:off x="-148003" y="266908"/>
              <a:ext cx="12340001" cy="6591088"/>
            </a:xfrm>
            <a:prstGeom prst="rect">
              <a:avLst/>
            </a:prstGeom>
          </p:spPr>
        </p:pic>
        <p:sp>
          <p:nvSpPr>
            <p:cNvPr id="4" name="object 4"/>
            <p:cNvSpPr/>
            <p:nvPr/>
          </p:nvSpPr>
          <p:spPr>
            <a:xfrm>
              <a:off x="-52716" y="620413"/>
              <a:ext cx="7585965" cy="6237586"/>
            </a:xfrm>
            <a:custGeom>
              <a:avLst/>
              <a:gdLst/>
              <a:ahLst/>
              <a:cxnLst/>
              <a:rect l="l" t="t" r="r" b="b"/>
              <a:pathLst>
                <a:path w="6017260" h="5859780">
                  <a:moveTo>
                    <a:pt x="2830322" y="0"/>
                  </a:moveTo>
                  <a:lnTo>
                    <a:pt x="2779069" y="401"/>
                  </a:lnTo>
                  <a:lnTo>
                    <a:pt x="2728016" y="1601"/>
                  </a:lnTo>
                  <a:lnTo>
                    <a:pt x="2677168" y="3594"/>
                  </a:lnTo>
                  <a:lnTo>
                    <a:pt x="2626530" y="6373"/>
                  </a:lnTo>
                  <a:lnTo>
                    <a:pt x="2576110" y="9933"/>
                  </a:lnTo>
                  <a:lnTo>
                    <a:pt x="2525913" y="14269"/>
                  </a:lnTo>
                  <a:lnTo>
                    <a:pt x="2475945" y="19373"/>
                  </a:lnTo>
                  <a:lnTo>
                    <a:pt x="2426211" y="25240"/>
                  </a:lnTo>
                  <a:lnTo>
                    <a:pt x="2376717" y="31864"/>
                  </a:lnTo>
                  <a:lnTo>
                    <a:pt x="2327470" y="39239"/>
                  </a:lnTo>
                  <a:lnTo>
                    <a:pt x="2278475" y="47360"/>
                  </a:lnTo>
                  <a:lnTo>
                    <a:pt x="2229738" y="56219"/>
                  </a:lnTo>
                  <a:lnTo>
                    <a:pt x="2181265" y="65812"/>
                  </a:lnTo>
                  <a:lnTo>
                    <a:pt x="2133062" y="76132"/>
                  </a:lnTo>
                  <a:lnTo>
                    <a:pt x="2085135" y="87174"/>
                  </a:lnTo>
                  <a:lnTo>
                    <a:pt x="2037489" y="98931"/>
                  </a:lnTo>
                  <a:lnTo>
                    <a:pt x="1990131" y="111397"/>
                  </a:lnTo>
                  <a:lnTo>
                    <a:pt x="1943066" y="124567"/>
                  </a:lnTo>
                  <a:lnTo>
                    <a:pt x="1896300" y="138434"/>
                  </a:lnTo>
                  <a:lnTo>
                    <a:pt x="1849839" y="152993"/>
                  </a:lnTo>
                  <a:lnTo>
                    <a:pt x="1803689" y="168237"/>
                  </a:lnTo>
                  <a:lnTo>
                    <a:pt x="1757856" y="184162"/>
                  </a:lnTo>
                  <a:lnTo>
                    <a:pt x="1712346" y="200760"/>
                  </a:lnTo>
                  <a:lnTo>
                    <a:pt x="1667164" y="218026"/>
                  </a:lnTo>
                  <a:lnTo>
                    <a:pt x="1622317" y="235953"/>
                  </a:lnTo>
                  <a:lnTo>
                    <a:pt x="1577810" y="254537"/>
                  </a:lnTo>
                  <a:lnTo>
                    <a:pt x="1533649" y="273770"/>
                  </a:lnTo>
                  <a:lnTo>
                    <a:pt x="1489841" y="293648"/>
                  </a:lnTo>
                  <a:lnTo>
                    <a:pt x="1446390" y="314163"/>
                  </a:lnTo>
                  <a:lnTo>
                    <a:pt x="1403303" y="335311"/>
                  </a:lnTo>
                  <a:lnTo>
                    <a:pt x="1360586" y="357085"/>
                  </a:lnTo>
                  <a:lnTo>
                    <a:pt x="1318245" y="379479"/>
                  </a:lnTo>
                  <a:lnTo>
                    <a:pt x="1276284" y="402487"/>
                  </a:lnTo>
                  <a:lnTo>
                    <a:pt x="1234712" y="426104"/>
                  </a:lnTo>
                  <a:lnTo>
                    <a:pt x="1193532" y="450323"/>
                  </a:lnTo>
                  <a:lnTo>
                    <a:pt x="1152752" y="475138"/>
                  </a:lnTo>
                  <a:lnTo>
                    <a:pt x="1112376" y="500544"/>
                  </a:lnTo>
                  <a:lnTo>
                    <a:pt x="1072411" y="526534"/>
                  </a:lnTo>
                  <a:lnTo>
                    <a:pt x="1032863" y="553103"/>
                  </a:lnTo>
                  <a:lnTo>
                    <a:pt x="993738" y="580245"/>
                  </a:lnTo>
                  <a:lnTo>
                    <a:pt x="955041" y="607953"/>
                  </a:lnTo>
                  <a:lnTo>
                    <a:pt x="916778" y="636222"/>
                  </a:lnTo>
                  <a:lnTo>
                    <a:pt x="878956" y="665046"/>
                  </a:lnTo>
                  <a:lnTo>
                    <a:pt x="841579" y="694418"/>
                  </a:lnTo>
                  <a:lnTo>
                    <a:pt x="804655" y="724334"/>
                  </a:lnTo>
                  <a:lnTo>
                    <a:pt x="768188" y="754786"/>
                  </a:lnTo>
                  <a:lnTo>
                    <a:pt x="732185" y="785769"/>
                  </a:lnTo>
                  <a:lnTo>
                    <a:pt x="696652" y="817277"/>
                  </a:lnTo>
                  <a:lnTo>
                    <a:pt x="661594" y="849305"/>
                  </a:lnTo>
                  <a:lnTo>
                    <a:pt x="627017" y="881845"/>
                  </a:lnTo>
                  <a:lnTo>
                    <a:pt x="592928" y="914893"/>
                  </a:lnTo>
                  <a:lnTo>
                    <a:pt x="559332" y="948442"/>
                  </a:lnTo>
                  <a:lnTo>
                    <a:pt x="526234" y="982486"/>
                  </a:lnTo>
                  <a:lnTo>
                    <a:pt x="493642" y="1017019"/>
                  </a:lnTo>
                  <a:lnTo>
                    <a:pt x="461560" y="1052036"/>
                  </a:lnTo>
                  <a:lnTo>
                    <a:pt x="429995" y="1087531"/>
                  </a:lnTo>
                  <a:lnTo>
                    <a:pt x="398952" y="1123496"/>
                  </a:lnTo>
                  <a:lnTo>
                    <a:pt x="368438" y="1159928"/>
                  </a:lnTo>
                  <a:lnTo>
                    <a:pt x="338457" y="1196819"/>
                  </a:lnTo>
                  <a:lnTo>
                    <a:pt x="309017" y="1234163"/>
                  </a:lnTo>
                  <a:lnTo>
                    <a:pt x="280123" y="1271955"/>
                  </a:lnTo>
                  <a:lnTo>
                    <a:pt x="251781" y="1310189"/>
                  </a:lnTo>
                  <a:lnTo>
                    <a:pt x="223996" y="1348859"/>
                  </a:lnTo>
                  <a:lnTo>
                    <a:pt x="196775" y="1387959"/>
                  </a:lnTo>
                  <a:lnTo>
                    <a:pt x="170123" y="1427482"/>
                  </a:lnTo>
                  <a:lnTo>
                    <a:pt x="144047" y="1467423"/>
                  </a:lnTo>
                  <a:lnTo>
                    <a:pt x="118552" y="1507777"/>
                  </a:lnTo>
                  <a:lnTo>
                    <a:pt x="93644" y="1548536"/>
                  </a:lnTo>
                  <a:lnTo>
                    <a:pt x="69328" y="1589696"/>
                  </a:lnTo>
                  <a:lnTo>
                    <a:pt x="45612" y="1631250"/>
                  </a:lnTo>
                  <a:lnTo>
                    <a:pt x="22501" y="1673191"/>
                  </a:lnTo>
                  <a:lnTo>
                    <a:pt x="0" y="1715515"/>
                  </a:lnTo>
                  <a:lnTo>
                    <a:pt x="0" y="4654410"/>
                  </a:lnTo>
                  <a:lnTo>
                    <a:pt x="23713" y="4698931"/>
                  </a:lnTo>
                  <a:lnTo>
                    <a:pt x="48069" y="4743023"/>
                  </a:lnTo>
                  <a:lnTo>
                    <a:pt x="73062" y="4786679"/>
                  </a:lnTo>
                  <a:lnTo>
                    <a:pt x="98689" y="4829891"/>
                  </a:lnTo>
                  <a:lnTo>
                    <a:pt x="124943" y="4872654"/>
                  </a:lnTo>
                  <a:lnTo>
                    <a:pt x="151822" y="4914960"/>
                  </a:lnTo>
                  <a:lnTo>
                    <a:pt x="179321" y="4956802"/>
                  </a:lnTo>
                  <a:lnTo>
                    <a:pt x="207434" y="4998174"/>
                  </a:lnTo>
                  <a:lnTo>
                    <a:pt x="236158" y="5039069"/>
                  </a:lnTo>
                  <a:lnTo>
                    <a:pt x="265487" y="5079480"/>
                  </a:lnTo>
                  <a:lnTo>
                    <a:pt x="295418" y="5119401"/>
                  </a:lnTo>
                  <a:lnTo>
                    <a:pt x="325946" y="5158824"/>
                  </a:lnTo>
                  <a:lnTo>
                    <a:pt x="357067" y="5197742"/>
                  </a:lnTo>
                  <a:lnTo>
                    <a:pt x="388775" y="5236150"/>
                  </a:lnTo>
                  <a:lnTo>
                    <a:pt x="421066" y="5274040"/>
                  </a:lnTo>
                  <a:lnTo>
                    <a:pt x="453936" y="5311406"/>
                  </a:lnTo>
                  <a:lnTo>
                    <a:pt x="487381" y="5348240"/>
                  </a:lnTo>
                  <a:lnTo>
                    <a:pt x="521395" y="5384536"/>
                  </a:lnTo>
                  <a:lnTo>
                    <a:pt x="555974" y="5420286"/>
                  </a:lnTo>
                  <a:lnTo>
                    <a:pt x="591114" y="5455486"/>
                  </a:lnTo>
                  <a:lnTo>
                    <a:pt x="626810" y="5490126"/>
                  </a:lnTo>
                  <a:lnTo>
                    <a:pt x="663058" y="5524202"/>
                  </a:lnTo>
                  <a:lnTo>
                    <a:pt x="699853" y="5557705"/>
                  </a:lnTo>
                  <a:lnTo>
                    <a:pt x="737190" y="5590629"/>
                  </a:lnTo>
                  <a:lnTo>
                    <a:pt x="775066" y="5622968"/>
                  </a:lnTo>
                  <a:lnTo>
                    <a:pt x="813475" y="5654714"/>
                  </a:lnTo>
                  <a:lnTo>
                    <a:pt x="852413" y="5685861"/>
                  </a:lnTo>
                  <a:lnTo>
                    <a:pt x="891876" y="5716402"/>
                  </a:lnTo>
                  <a:lnTo>
                    <a:pt x="931859" y="5746331"/>
                  </a:lnTo>
                  <a:lnTo>
                    <a:pt x="972357" y="5775639"/>
                  </a:lnTo>
                  <a:lnTo>
                    <a:pt x="1013366" y="5804321"/>
                  </a:lnTo>
                  <a:lnTo>
                    <a:pt x="1054881" y="5832370"/>
                  </a:lnTo>
                  <a:lnTo>
                    <a:pt x="1096899" y="5859779"/>
                  </a:lnTo>
                  <a:lnTo>
                    <a:pt x="4559173" y="5859779"/>
                  </a:lnTo>
                  <a:lnTo>
                    <a:pt x="4599378" y="5833232"/>
                  </a:lnTo>
                  <a:lnTo>
                    <a:pt x="4639161" y="5806100"/>
                  </a:lnTo>
                  <a:lnTo>
                    <a:pt x="4678515" y="5778392"/>
                  </a:lnTo>
                  <a:lnTo>
                    <a:pt x="4717433" y="5750111"/>
                  </a:lnTo>
                  <a:lnTo>
                    <a:pt x="4755910" y="5721266"/>
                  </a:lnTo>
                  <a:lnTo>
                    <a:pt x="4793938" y="5691861"/>
                  </a:lnTo>
                  <a:lnTo>
                    <a:pt x="4831512" y="5661903"/>
                  </a:lnTo>
                  <a:lnTo>
                    <a:pt x="4868624" y="5631398"/>
                  </a:lnTo>
                  <a:lnTo>
                    <a:pt x="4905270" y="5600352"/>
                  </a:lnTo>
                  <a:lnTo>
                    <a:pt x="4941443" y="5568772"/>
                  </a:lnTo>
                  <a:lnTo>
                    <a:pt x="4977135" y="5536663"/>
                  </a:lnTo>
                  <a:lnTo>
                    <a:pt x="5012342" y="5504031"/>
                  </a:lnTo>
                  <a:lnTo>
                    <a:pt x="5047056" y="5470883"/>
                  </a:lnTo>
                  <a:lnTo>
                    <a:pt x="5081271" y="5437225"/>
                  </a:lnTo>
                  <a:lnTo>
                    <a:pt x="5114982" y="5403062"/>
                  </a:lnTo>
                  <a:lnTo>
                    <a:pt x="5148181" y="5368402"/>
                  </a:lnTo>
                  <a:lnTo>
                    <a:pt x="5180862" y="5333249"/>
                  </a:lnTo>
                  <a:lnTo>
                    <a:pt x="5213020" y="5297611"/>
                  </a:lnTo>
                  <a:lnTo>
                    <a:pt x="5244647" y="5261493"/>
                  </a:lnTo>
                  <a:lnTo>
                    <a:pt x="5275738" y="5224901"/>
                  </a:lnTo>
                  <a:lnTo>
                    <a:pt x="5306286" y="5187842"/>
                  </a:lnTo>
                  <a:lnTo>
                    <a:pt x="5336285" y="5150321"/>
                  </a:lnTo>
                  <a:lnTo>
                    <a:pt x="5365728" y="5112345"/>
                  </a:lnTo>
                  <a:lnTo>
                    <a:pt x="5394609" y="5073920"/>
                  </a:lnTo>
                  <a:lnTo>
                    <a:pt x="5422923" y="5035052"/>
                  </a:lnTo>
                  <a:lnTo>
                    <a:pt x="5450662" y="4995747"/>
                  </a:lnTo>
                  <a:lnTo>
                    <a:pt x="5477820" y="4956011"/>
                  </a:lnTo>
                  <a:lnTo>
                    <a:pt x="5504391" y="4915850"/>
                  </a:lnTo>
                  <a:lnTo>
                    <a:pt x="5530369" y="4875271"/>
                  </a:lnTo>
                  <a:lnTo>
                    <a:pt x="5555747" y="4834279"/>
                  </a:lnTo>
                  <a:lnTo>
                    <a:pt x="5580519" y="4792881"/>
                  </a:lnTo>
                  <a:lnTo>
                    <a:pt x="5604679" y="4751083"/>
                  </a:lnTo>
                  <a:lnTo>
                    <a:pt x="5628220" y="4708890"/>
                  </a:lnTo>
                  <a:lnTo>
                    <a:pt x="5651136" y="4666309"/>
                  </a:lnTo>
                  <a:lnTo>
                    <a:pt x="5673421" y="4623347"/>
                  </a:lnTo>
                  <a:lnTo>
                    <a:pt x="5695068" y="4580008"/>
                  </a:lnTo>
                  <a:lnTo>
                    <a:pt x="5716072" y="4536300"/>
                  </a:lnTo>
                  <a:lnTo>
                    <a:pt x="5736425" y="4492229"/>
                  </a:lnTo>
                  <a:lnTo>
                    <a:pt x="5756122" y="4447800"/>
                  </a:lnTo>
                  <a:lnTo>
                    <a:pt x="5775156" y="4403019"/>
                  </a:lnTo>
                  <a:lnTo>
                    <a:pt x="5793521" y="4357893"/>
                  </a:lnTo>
                  <a:lnTo>
                    <a:pt x="5811211" y="4312428"/>
                  </a:lnTo>
                  <a:lnTo>
                    <a:pt x="5828218" y="4266630"/>
                  </a:lnTo>
                  <a:lnTo>
                    <a:pt x="5844538" y="4220506"/>
                  </a:lnTo>
                  <a:lnTo>
                    <a:pt x="5860164" y="4174060"/>
                  </a:lnTo>
                  <a:lnTo>
                    <a:pt x="5875088" y="4127300"/>
                  </a:lnTo>
                  <a:lnTo>
                    <a:pt x="5889306" y="4080231"/>
                  </a:lnTo>
                  <a:lnTo>
                    <a:pt x="5902810" y="4032859"/>
                  </a:lnTo>
                  <a:lnTo>
                    <a:pt x="5915595" y="3985192"/>
                  </a:lnTo>
                  <a:lnTo>
                    <a:pt x="5927654" y="3937234"/>
                  </a:lnTo>
                  <a:lnTo>
                    <a:pt x="5938980" y="3888992"/>
                  </a:lnTo>
                  <a:lnTo>
                    <a:pt x="5949569" y="3840471"/>
                  </a:lnTo>
                  <a:lnTo>
                    <a:pt x="5959412" y="3791679"/>
                  </a:lnTo>
                  <a:lnTo>
                    <a:pt x="5968504" y="3742622"/>
                  </a:lnTo>
                  <a:lnTo>
                    <a:pt x="5976838" y="3693304"/>
                  </a:lnTo>
                  <a:lnTo>
                    <a:pt x="5984409" y="3643733"/>
                  </a:lnTo>
                  <a:lnTo>
                    <a:pt x="5991209" y="3593914"/>
                  </a:lnTo>
                  <a:lnTo>
                    <a:pt x="5997234" y="3543855"/>
                  </a:lnTo>
                  <a:lnTo>
                    <a:pt x="6002475" y="3493559"/>
                  </a:lnTo>
                  <a:lnTo>
                    <a:pt x="6006927" y="3443035"/>
                  </a:lnTo>
                  <a:lnTo>
                    <a:pt x="6010584" y="3392288"/>
                  </a:lnTo>
                  <a:lnTo>
                    <a:pt x="6013440" y="3341324"/>
                  </a:lnTo>
                  <a:lnTo>
                    <a:pt x="6015487" y="3290149"/>
                  </a:lnTo>
                  <a:lnTo>
                    <a:pt x="6016720" y="3238770"/>
                  </a:lnTo>
                  <a:lnTo>
                    <a:pt x="6017133" y="3187191"/>
                  </a:lnTo>
                  <a:lnTo>
                    <a:pt x="6016772" y="3138820"/>
                  </a:lnTo>
                  <a:lnTo>
                    <a:pt x="6015694" y="3090622"/>
                  </a:lnTo>
                  <a:lnTo>
                    <a:pt x="6013904" y="3042603"/>
                  </a:lnTo>
                  <a:lnTo>
                    <a:pt x="6011406" y="2994767"/>
                  </a:lnTo>
                  <a:lnTo>
                    <a:pt x="6008207" y="2947121"/>
                  </a:lnTo>
                  <a:lnTo>
                    <a:pt x="6004310" y="2899668"/>
                  </a:lnTo>
                  <a:lnTo>
                    <a:pt x="5999721" y="2852415"/>
                  </a:lnTo>
                  <a:lnTo>
                    <a:pt x="5994446" y="2805366"/>
                  </a:lnTo>
                  <a:lnTo>
                    <a:pt x="5988489" y="2758526"/>
                  </a:lnTo>
                  <a:lnTo>
                    <a:pt x="5981855" y="2711900"/>
                  </a:lnTo>
                  <a:lnTo>
                    <a:pt x="5974551" y="2665493"/>
                  </a:lnTo>
                  <a:lnTo>
                    <a:pt x="5966580" y="2619311"/>
                  </a:lnTo>
                  <a:lnTo>
                    <a:pt x="5957947" y="2573359"/>
                  </a:lnTo>
                  <a:lnTo>
                    <a:pt x="5948659" y="2527640"/>
                  </a:lnTo>
                  <a:lnTo>
                    <a:pt x="5938720" y="2482162"/>
                  </a:lnTo>
                  <a:lnTo>
                    <a:pt x="5928135" y="2436927"/>
                  </a:lnTo>
                  <a:lnTo>
                    <a:pt x="5916909" y="2391943"/>
                  </a:lnTo>
                  <a:lnTo>
                    <a:pt x="5905048" y="2347213"/>
                  </a:lnTo>
                  <a:lnTo>
                    <a:pt x="5892557" y="2302743"/>
                  </a:lnTo>
                  <a:lnTo>
                    <a:pt x="5879440" y="2258538"/>
                  </a:lnTo>
                  <a:lnTo>
                    <a:pt x="5865703" y="2214603"/>
                  </a:lnTo>
                  <a:lnTo>
                    <a:pt x="5851351" y="2170943"/>
                  </a:lnTo>
                  <a:lnTo>
                    <a:pt x="5836390" y="2127563"/>
                  </a:lnTo>
                  <a:lnTo>
                    <a:pt x="5820823" y="2084468"/>
                  </a:lnTo>
                  <a:lnTo>
                    <a:pt x="5804657" y="2041663"/>
                  </a:lnTo>
                  <a:lnTo>
                    <a:pt x="5787896" y="1999153"/>
                  </a:lnTo>
                  <a:lnTo>
                    <a:pt x="5770546" y="1956944"/>
                  </a:lnTo>
                  <a:lnTo>
                    <a:pt x="5752612" y="1915040"/>
                  </a:lnTo>
                  <a:lnTo>
                    <a:pt x="5734098" y="1873446"/>
                  </a:lnTo>
                  <a:lnTo>
                    <a:pt x="5715010" y="1832168"/>
                  </a:lnTo>
                  <a:lnTo>
                    <a:pt x="5695354" y="1791211"/>
                  </a:lnTo>
                  <a:lnTo>
                    <a:pt x="5675134" y="1750579"/>
                  </a:lnTo>
                  <a:lnTo>
                    <a:pt x="5654355" y="1710278"/>
                  </a:lnTo>
                  <a:lnTo>
                    <a:pt x="5633022" y="1670312"/>
                  </a:lnTo>
                  <a:lnTo>
                    <a:pt x="5611141" y="1630687"/>
                  </a:lnTo>
                  <a:lnTo>
                    <a:pt x="5588717" y="1591408"/>
                  </a:lnTo>
                  <a:lnTo>
                    <a:pt x="5565755" y="1552480"/>
                  </a:lnTo>
                  <a:lnTo>
                    <a:pt x="5542260" y="1513908"/>
                  </a:lnTo>
                  <a:lnTo>
                    <a:pt x="5518236" y="1475697"/>
                  </a:lnTo>
                  <a:lnTo>
                    <a:pt x="5493690" y="1437852"/>
                  </a:lnTo>
                  <a:lnTo>
                    <a:pt x="5468626" y="1400379"/>
                  </a:lnTo>
                  <a:lnTo>
                    <a:pt x="5443050" y="1363281"/>
                  </a:lnTo>
                  <a:lnTo>
                    <a:pt x="5416966" y="1326565"/>
                  </a:lnTo>
                  <a:lnTo>
                    <a:pt x="5390380" y="1290235"/>
                  </a:lnTo>
                  <a:lnTo>
                    <a:pt x="5363297" y="1254297"/>
                  </a:lnTo>
                  <a:lnTo>
                    <a:pt x="5335722" y="1218755"/>
                  </a:lnTo>
                  <a:lnTo>
                    <a:pt x="5307660" y="1183614"/>
                  </a:lnTo>
                  <a:lnTo>
                    <a:pt x="5279116" y="1148880"/>
                  </a:lnTo>
                  <a:lnTo>
                    <a:pt x="5250095" y="1114558"/>
                  </a:lnTo>
                  <a:lnTo>
                    <a:pt x="5220603" y="1080652"/>
                  </a:lnTo>
                  <a:lnTo>
                    <a:pt x="5190645" y="1047169"/>
                  </a:lnTo>
                  <a:lnTo>
                    <a:pt x="5160225" y="1014112"/>
                  </a:lnTo>
                  <a:lnTo>
                    <a:pt x="5129349" y="981487"/>
                  </a:lnTo>
                  <a:lnTo>
                    <a:pt x="5098021" y="949299"/>
                  </a:lnTo>
                  <a:lnTo>
                    <a:pt x="5066248" y="917553"/>
                  </a:lnTo>
                  <a:lnTo>
                    <a:pt x="5034034" y="886254"/>
                  </a:lnTo>
                  <a:lnTo>
                    <a:pt x="5001385" y="855407"/>
                  </a:lnTo>
                  <a:lnTo>
                    <a:pt x="4968305" y="825017"/>
                  </a:lnTo>
                  <a:lnTo>
                    <a:pt x="4934799" y="795090"/>
                  </a:lnTo>
                  <a:lnTo>
                    <a:pt x="4900873" y="765630"/>
                  </a:lnTo>
                  <a:lnTo>
                    <a:pt x="4866532" y="736643"/>
                  </a:lnTo>
                  <a:lnTo>
                    <a:pt x="4831781" y="708133"/>
                  </a:lnTo>
                  <a:lnTo>
                    <a:pt x="4796625" y="680105"/>
                  </a:lnTo>
                  <a:lnTo>
                    <a:pt x="4761069" y="652565"/>
                  </a:lnTo>
                  <a:lnTo>
                    <a:pt x="4725118" y="625518"/>
                  </a:lnTo>
                  <a:lnTo>
                    <a:pt x="4688778" y="598968"/>
                  </a:lnTo>
                  <a:lnTo>
                    <a:pt x="4652053" y="572921"/>
                  </a:lnTo>
                  <a:lnTo>
                    <a:pt x="4614949" y="547382"/>
                  </a:lnTo>
                  <a:lnTo>
                    <a:pt x="4577471" y="522356"/>
                  </a:lnTo>
                  <a:lnTo>
                    <a:pt x="4539624" y="497848"/>
                  </a:lnTo>
                  <a:lnTo>
                    <a:pt x="4501413" y="473863"/>
                  </a:lnTo>
                  <a:lnTo>
                    <a:pt x="4462843" y="450406"/>
                  </a:lnTo>
                  <a:lnTo>
                    <a:pt x="4423919" y="427482"/>
                  </a:lnTo>
                  <a:lnTo>
                    <a:pt x="4384647" y="405096"/>
                  </a:lnTo>
                  <a:lnTo>
                    <a:pt x="4345031" y="383254"/>
                  </a:lnTo>
                  <a:lnTo>
                    <a:pt x="4305077" y="361960"/>
                  </a:lnTo>
                  <a:lnTo>
                    <a:pt x="4264790" y="341219"/>
                  </a:lnTo>
                  <a:lnTo>
                    <a:pt x="4224174" y="321037"/>
                  </a:lnTo>
                  <a:lnTo>
                    <a:pt x="4183236" y="301418"/>
                  </a:lnTo>
                  <a:lnTo>
                    <a:pt x="4141980" y="282368"/>
                  </a:lnTo>
                  <a:lnTo>
                    <a:pt x="4100411" y="263892"/>
                  </a:lnTo>
                  <a:lnTo>
                    <a:pt x="4058534" y="245994"/>
                  </a:lnTo>
                  <a:lnTo>
                    <a:pt x="4016355" y="228680"/>
                  </a:lnTo>
                  <a:lnTo>
                    <a:pt x="3973879" y="211955"/>
                  </a:lnTo>
                  <a:lnTo>
                    <a:pt x="3931110" y="195823"/>
                  </a:lnTo>
                  <a:lnTo>
                    <a:pt x="3888055" y="180291"/>
                  </a:lnTo>
                  <a:lnTo>
                    <a:pt x="3844717" y="165363"/>
                  </a:lnTo>
                  <a:lnTo>
                    <a:pt x="3801103" y="151043"/>
                  </a:lnTo>
                  <a:lnTo>
                    <a:pt x="3757217" y="137338"/>
                  </a:lnTo>
                  <a:lnTo>
                    <a:pt x="3713064" y="124252"/>
                  </a:lnTo>
                  <a:lnTo>
                    <a:pt x="3668649" y="111790"/>
                  </a:lnTo>
                  <a:lnTo>
                    <a:pt x="3623979" y="99958"/>
                  </a:lnTo>
                  <a:lnTo>
                    <a:pt x="3579057" y="88760"/>
                  </a:lnTo>
                  <a:lnTo>
                    <a:pt x="3533889" y="78202"/>
                  </a:lnTo>
                  <a:lnTo>
                    <a:pt x="3488480" y="68288"/>
                  </a:lnTo>
                  <a:lnTo>
                    <a:pt x="3442835" y="59023"/>
                  </a:lnTo>
                  <a:lnTo>
                    <a:pt x="3396960" y="50413"/>
                  </a:lnTo>
                  <a:lnTo>
                    <a:pt x="3350859" y="42463"/>
                  </a:lnTo>
                  <a:lnTo>
                    <a:pt x="3304537" y="35178"/>
                  </a:lnTo>
                  <a:lnTo>
                    <a:pt x="3258000" y="28562"/>
                  </a:lnTo>
                  <a:lnTo>
                    <a:pt x="3211253" y="22622"/>
                  </a:lnTo>
                  <a:lnTo>
                    <a:pt x="3164301" y="17361"/>
                  </a:lnTo>
                  <a:lnTo>
                    <a:pt x="3117148" y="12785"/>
                  </a:lnTo>
                  <a:lnTo>
                    <a:pt x="3069801" y="8900"/>
                  </a:lnTo>
                  <a:lnTo>
                    <a:pt x="3022264" y="5709"/>
                  </a:lnTo>
                  <a:lnTo>
                    <a:pt x="2974543" y="3219"/>
                  </a:lnTo>
                  <a:lnTo>
                    <a:pt x="2926642" y="1434"/>
                  </a:lnTo>
                  <a:lnTo>
                    <a:pt x="2878566" y="359"/>
                  </a:lnTo>
                  <a:lnTo>
                    <a:pt x="2830322" y="0"/>
                  </a:lnTo>
                  <a:close/>
                </a:path>
              </a:pathLst>
            </a:custGeom>
            <a:solidFill>
              <a:srgbClr val="FFFFFF">
                <a:alpha val="74900"/>
              </a:srgbClr>
            </a:solidFill>
          </p:spPr>
          <p:txBody>
            <a:bodyPr wrap="square" lIns="0" tIns="0" rIns="0" bIns="0" rtlCol="0"/>
            <a:lstStyle/>
            <a:p>
              <a:endParaRPr/>
            </a:p>
          </p:txBody>
        </p:sp>
      </p:grpSp>
      <p:sp>
        <p:nvSpPr>
          <p:cNvPr id="5" name="object 5"/>
          <p:cNvSpPr txBox="1">
            <a:spLocks noGrp="1"/>
          </p:cNvSpPr>
          <p:nvPr>
            <p:ph type="title"/>
          </p:nvPr>
        </p:nvSpPr>
        <p:spPr>
          <a:xfrm>
            <a:off x="596348" y="1445507"/>
            <a:ext cx="4119668" cy="1737655"/>
          </a:xfrm>
          <a:prstGeom prst="rect">
            <a:avLst/>
          </a:prstGeom>
        </p:spPr>
        <p:txBody>
          <a:bodyPr vert="horz" wrap="square" lIns="0" tIns="74930" rIns="0" bIns="0" rtlCol="0">
            <a:spAutoFit/>
          </a:bodyPr>
          <a:lstStyle/>
          <a:p>
            <a:pPr marL="12700" marR="5080" indent="124460" algn="l">
              <a:lnSpc>
                <a:spcPct val="90000"/>
              </a:lnSpc>
              <a:spcBef>
                <a:spcPts val="590"/>
              </a:spcBef>
            </a:pPr>
            <a:r>
              <a:rPr sz="4000" spc="-40" dirty="0">
                <a:solidFill>
                  <a:srgbClr val="000000"/>
                </a:solidFill>
                <a:latin typeface="Calibri Light"/>
                <a:cs typeface="Calibri Light"/>
              </a:rPr>
              <a:t>Graphs </a:t>
            </a:r>
            <a:r>
              <a:rPr sz="4000" spc="-35" dirty="0">
                <a:solidFill>
                  <a:srgbClr val="000000"/>
                </a:solidFill>
                <a:latin typeface="Calibri Light"/>
                <a:cs typeface="Calibri Light"/>
              </a:rPr>
              <a:t>for </a:t>
            </a:r>
            <a:r>
              <a:rPr sz="4000" spc="-30" dirty="0">
                <a:solidFill>
                  <a:srgbClr val="000000"/>
                </a:solidFill>
                <a:latin typeface="Calibri Light"/>
                <a:cs typeface="Calibri Light"/>
              </a:rPr>
              <a:t> </a:t>
            </a:r>
            <a:r>
              <a:rPr sz="4000" spc="-35" dirty="0">
                <a:solidFill>
                  <a:srgbClr val="000000"/>
                </a:solidFill>
                <a:latin typeface="Calibri Light"/>
                <a:cs typeface="Calibri Light"/>
              </a:rPr>
              <a:t>Frequency </a:t>
            </a:r>
            <a:r>
              <a:rPr sz="4000" spc="-30" dirty="0">
                <a:solidFill>
                  <a:srgbClr val="000000"/>
                </a:solidFill>
                <a:latin typeface="Calibri Light"/>
                <a:cs typeface="Calibri Light"/>
              </a:rPr>
              <a:t> </a:t>
            </a:r>
            <a:r>
              <a:rPr sz="4000" dirty="0">
                <a:solidFill>
                  <a:srgbClr val="000000"/>
                </a:solidFill>
                <a:latin typeface="Calibri Light"/>
                <a:cs typeface="Calibri Light"/>
              </a:rPr>
              <a:t>Di</a:t>
            </a:r>
            <a:r>
              <a:rPr sz="4000" spc="-70" dirty="0">
                <a:solidFill>
                  <a:srgbClr val="000000"/>
                </a:solidFill>
                <a:latin typeface="Calibri Light"/>
                <a:cs typeface="Calibri Light"/>
              </a:rPr>
              <a:t>s</a:t>
            </a:r>
            <a:r>
              <a:rPr sz="4000" spc="-25" dirty="0">
                <a:solidFill>
                  <a:srgbClr val="000000"/>
                </a:solidFill>
                <a:latin typeface="Calibri Light"/>
                <a:cs typeface="Calibri Light"/>
              </a:rPr>
              <a:t>t</a:t>
            </a:r>
            <a:r>
              <a:rPr sz="4000" spc="-40" dirty="0">
                <a:solidFill>
                  <a:srgbClr val="000000"/>
                </a:solidFill>
                <a:latin typeface="Calibri Light"/>
                <a:cs typeface="Calibri Light"/>
              </a:rPr>
              <a:t>r</a:t>
            </a:r>
            <a:r>
              <a:rPr sz="4000" spc="-20" dirty="0">
                <a:solidFill>
                  <a:srgbClr val="000000"/>
                </a:solidFill>
                <a:latin typeface="Calibri Light"/>
                <a:cs typeface="Calibri Light"/>
              </a:rPr>
              <a:t>i</a:t>
            </a:r>
            <a:r>
              <a:rPr sz="4000" spc="-45" dirty="0">
                <a:solidFill>
                  <a:srgbClr val="000000"/>
                </a:solidFill>
                <a:latin typeface="Calibri Light"/>
                <a:cs typeface="Calibri Light"/>
              </a:rPr>
              <a:t>bu</a:t>
            </a:r>
            <a:r>
              <a:rPr sz="4000" spc="-50" dirty="0">
                <a:solidFill>
                  <a:srgbClr val="000000"/>
                </a:solidFill>
                <a:latin typeface="Calibri Light"/>
                <a:cs typeface="Calibri Light"/>
              </a:rPr>
              <a:t>t</a:t>
            </a:r>
            <a:r>
              <a:rPr sz="4000" spc="-20" dirty="0">
                <a:solidFill>
                  <a:srgbClr val="000000"/>
                </a:solidFill>
                <a:latin typeface="Calibri Light"/>
                <a:cs typeface="Calibri Light"/>
              </a:rPr>
              <a:t>i</a:t>
            </a:r>
            <a:r>
              <a:rPr sz="4000" spc="-30" dirty="0">
                <a:solidFill>
                  <a:srgbClr val="000000"/>
                </a:solidFill>
                <a:latin typeface="Calibri Light"/>
                <a:cs typeface="Calibri Light"/>
              </a:rPr>
              <a:t>o</a:t>
            </a:r>
            <a:r>
              <a:rPr sz="4000" dirty="0">
                <a:solidFill>
                  <a:srgbClr val="000000"/>
                </a:solidFill>
                <a:latin typeface="Calibri Light"/>
                <a:cs typeface="Calibri Light"/>
              </a:rPr>
              <a:t>n</a:t>
            </a:r>
            <a:endParaRPr sz="4000" dirty="0">
              <a:latin typeface="Calibri Light"/>
              <a:cs typeface="Calibri Light"/>
            </a:endParaRPr>
          </a:p>
        </p:txBody>
      </p:sp>
      <p:sp>
        <p:nvSpPr>
          <p:cNvPr id="6" name="object 6"/>
          <p:cNvSpPr/>
          <p:nvPr/>
        </p:nvSpPr>
        <p:spPr>
          <a:xfrm>
            <a:off x="1715262" y="3337178"/>
            <a:ext cx="701993" cy="0"/>
          </a:xfrm>
          <a:custGeom>
            <a:avLst/>
            <a:gdLst/>
            <a:ahLst/>
            <a:cxnLst/>
            <a:rect l="l" t="t" r="r" b="b"/>
            <a:pathLst>
              <a:path w="935989">
                <a:moveTo>
                  <a:pt x="0" y="0"/>
                </a:moveTo>
                <a:lnTo>
                  <a:pt x="935482" y="0"/>
                </a:lnTo>
              </a:path>
            </a:pathLst>
          </a:custGeom>
          <a:ln w="25400">
            <a:solidFill>
              <a:srgbClr val="252525"/>
            </a:solidFill>
          </a:ln>
        </p:spPr>
        <p:txBody>
          <a:bodyPr wrap="square" lIns="0" tIns="0" rIns="0" bIns="0" rtlCol="0"/>
          <a:lstStyle/>
          <a:p>
            <a:endParaRPr/>
          </a:p>
        </p:txBody>
      </p:sp>
      <p:sp>
        <p:nvSpPr>
          <p:cNvPr id="7" name="object 7"/>
          <p:cNvSpPr txBox="1"/>
          <p:nvPr/>
        </p:nvSpPr>
        <p:spPr>
          <a:xfrm>
            <a:off x="453390" y="3829235"/>
            <a:ext cx="3223736" cy="1770998"/>
          </a:xfrm>
          <a:prstGeom prst="rect">
            <a:avLst/>
          </a:prstGeom>
        </p:spPr>
        <p:txBody>
          <a:bodyPr vert="horz" wrap="square" lIns="0" tIns="113030" rIns="0" bIns="0" rtlCol="0">
            <a:spAutoFit/>
          </a:bodyPr>
          <a:lstStyle/>
          <a:p>
            <a:pPr marL="241300" indent="-228600">
              <a:lnSpc>
                <a:spcPct val="100000"/>
              </a:lnSpc>
              <a:spcBef>
                <a:spcPts val="890"/>
              </a:spcBef>
              <a:buFont typeface="Arial MT"/>
              <a:buChar char="•"/>
              <a:tabLst>
                <a:tab pos="240665" algn="l"/>
                <a:tab pos="241300" algn="l"/>
              </a:tabLst>
            </a:pPr>
            <a:r>
              <a:rPr sz="1800" b="1" i="1" spc="-5" dirty="0">
                <a:latin typeface="Calibri"/>
                <a:cs typeface="Calibri"/>
              </a:rPr>
              <a:t>"A</a:t>
            </a:r>
            <a:r>
              <a:rPr sz="1800" b="1" i="1" spc="-15" dirty="0">
                <a:latin typeface="Calibri"/>
                <a:cs typeface="Calibri"/>
              </a:rPr>
              <a:t> </a:t>
            </a:r>
            <a:r>
              <a:rPr sz="1800" b="1" i="1" dirty="0">
                <a:latin typeface="Calibri"/>
                <a:cs typeface="Calibri"/>
              </a:rPr>
              <a:t>(Good)</a:t>
            </a:r>
            <a:r>
              <a:rPr sz="1800" b="1" i="1" spc="-10" dirty="0">
                <a:latin typeface="Calibri"/>
                <a:cs typeface="Calibri"/>
              </a:rPr>
              <a:t> </a:t>
            </a:r>
            <a:r>
              <a:rPr sz="1800" b="1" i="1" spc="-5" dirty="0">
                <a:latin typeface="Calibri"/>
                <a:cs typeface="Calibri"/>
              </a:rPr>
              <a:t>Picture </a:t>
            </a:r>
            <a:r>
              <a:rPr sz="1800" b="1" i="1" dirty="0">
                <a:latin typeface="Calibri"/>
                <a:cs typeface="Calibri"/>
              </a:rPr>
              <a:t>Is</a:t>
            </a:r>
            <a:r>
              <a:rPr sz="1800" b="1" i="1" spc="5" dirty="0">
                <a:latin typeface="Calibri"/>
                <a:cs typeface="Calibri"/>
              </a:rPr>
              <a:t> </a:t>
            </a:r>
            <a:r>
              <a:rPr sz="1800" b="1" i="1" spc="-20" dirty="0">
                <a:latin typeface="Calibri"/>
                <a:cs typeface="Calibri"/>
              </a:rPr>
              <a:t>Worth</a:t>
            </a:r>
            <a:r>
              <a:rPr sz="1800" b="1" i="1" spc="25" dirty="0">
                <a:latin typeface="Calibri"/>
                <a:cs typeface="Calibri"/>
              </a:rPr>
              <a:t> </a:t>
            </a:r>
            <a:r>
              <a:rPr sz="1800" b="1" i="1" dirty="0">
                <a:latin typeface="Calibri"/>
                <a:cs typeface="Calibri"/>
              </a:rPr>
              <a:t>A</a:t>
            </a:r>
            <a:r>
              <a:rPr sz="1800" b="1" i="1" spc="-15" dirty="0">
                <a:latin typeface="Calibri"/>
                <a:cs typeface="Calibri"/>
              </a:rPr>
              <a:t> </a:t>
            </a:r>
            <a:r>
              <a:rPr sz="1800" b="1" i="1" spc="-5" dirty="0">
                <a:latin typeface="Calibri"/>
                <a:cs typeface="Calibri"/>
              </a:rPr>
              <a:t>1,000</a:t>
            </a:r>
            <a:r>
              <a:rPr sz="1800" b="1" i="1" spc="20" dirty="0">
                <a:latin typeface="Calibri"/>
                <a:cs typeface="Calibri"/>
              </a:rPr>
              <a:t> </a:t>
            </a:r>
            <a:r>
              <a:rPr sz="1800" b="1" i="1" spc="-15" dirty="0">
                <a:latin typeface="Calibri"/>
                <a:cs typeface="Calibri"/>
              </a:rPr>
              <a:t>Words"</a:t>
            </a:r>
            <a:endParaRPr sz="1800" dirty="0">
              <a:latin typeface="Calibri"/>
              <a:cs typeface="Calibri"/>
            </a:endParaRPr>
          </a:p>
          <a:p>
            <a:pPr marL="240665" marR="276225" indent="-228600" algn="just">
              <a:lnSpc>
                <a:spcPts val="1939"/>
              </a:lnSpc>
              <a:spcBef>
                <a:spcPts val="1040"/>
              </a:spcBef>
              <a:buFont typeface="Arial MT"/>
              <a:buChar char="•"/>
              <a:tabLst>
                <a:tab pos="241300" algn="l"/>
              </a:tabLst>
            </a:pPr>
            <a:r>
              <a:rPr sz="1800" b="1" spc="-10" dirty="0">
                <a:latin typeface="Calibri"/>
                <a:cs typeface="Calibri"/>
              </a:rPr>
              <a:t>CHARTS CONVEY </a:t>
            </a:r>
            <a:r>
              <a:rPr sz="1800" b="1" spc="-20" dirty="0">
                <a:latin typeface="Calibri"/>
                <a:cs typeface="Calibri"/>
              </a:rPr>
              <a:t>INFORMATION </a:t>
            </a:r>
            <a:r>
              <a:rPr sz="1800" b="1" spc="-5" dirty="0">
                <a:latin typeface="Calibri"/>
                <a:cs typeface="Calibri"/>
              </a:rPr>
              <a:t>ABOUT </a:t>
            </a:r>
            <a:r>
              <a:rPr sz="1800" b="1" spc="-395" dirty="0">
                <a:latin typeface="Calibri"/>
                <a:cs typeface="Calibri"/>
              </a:rPr>
              <a:t> </a:t>
            </a:r>
            <a:r>
              <a:rPr sz="1800" b="1" dirty="0">
                <a:latin typeface="Calibri"/>
                <a:cs typeface="Calibri"/>
              </a:rPr>
              <a:t>OUR </a:t>
            </a:r>
            <a:r>
              <a:rPr sz="1800" b="1" spc="-95" dirty="0">
                <a:latin typeface="Calibri"/>
                <a:cs typeface="Calibri"/>
              </a:rPr>
              <a:t>DATA </a:t>
            </a:r>
            <a:r>
              <a:rPr sz="1800" b="1" spc="-30" dirty="0">
                <a:latin typeface="Calibri"/>
                <a:cs typeface="Calibri"/>
              </a:rPr>
              <a:t>FASTER </a:t>
            </a:r>
            <a:r>
              <a:rPr sz="1800" spc="-5" dirty="0">
                <a:latin typeface="Calibri"/>
                <a:cs typeface="Calibri"/>
              </a:rPr>
              <a:t>THAN </a:t>
            </a:r>
            <a:r>
              <a:rPr sz="1800" spc="-30" dirty="0">
                <a:latin typeface="Calibri"/>
                <a:cs typeface="Calibri"/>
              </a:rPr>
              <a:t>TABLES </a:t>
            </a:r>
            <a:r>
              <a:rPr sz="1800" dirty="0">
                <a:latin typeface="Calibri"/>
                <a:cs typeface="Calibri"/>
              </a:rPr>
              <a:t>-ALBEIT </a:t>
            </a:r>
            <a:r>
              <a:rPr sz="1800" spc="-395" dirty="0">
                <a:latin typeface="Calibri"/>
                <a:cs typeface="Calibri"/>
              </a:rPr>
              <a:t> </a:t>
            </a:r>
            <a:r>
              <a:rPr sz="1800" spc="-10" dirty="0">
                <a:latin typeface="Calibri"/>
                <a:cs typeface="Calibri"/>
              </a:rPr>
              <a:t>LESS</a:t>
            </a:r>
            <a:r>
              <a:rPr sz="1800" spc="-20" dirty="0">
                <a:latin typeface="Calibri"/>
                <a:cs typeface="Calibri"/>
              </a:rPr>
              <a:t> </a:t>
            </a:r>
            <a:r>
              <a:rPr sz="1800" spc="-50" dirty="0">
                <a:latin typeface="Calibri"/>
                <a:cs typeface="Calibri"/>
              </a:rPr>
              <a:t>ACCURATELY.</a:t>
            </a:r>
            <a:endParaRPr sz="1800" dirty="0">
              <a:latin typeface="Calibri"/>
              <a:cs typeface="Calibri"/>
            </a:endParaRPr>
          </a:p>
        </p:txBody>
      </p:sp>
    </p:spTree>
    <p:extLst>
      <p:ext uri="{BB962C8B-B14F-4D97-AF65-F5344CB8AC3E}">
        <p14:creationId xmlns:p14="http://schemas.microsoft.com/office/powerpoint/2010/main" val="18129921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9144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3A5F85"/>
          </a:solidFill>
        </p:spPr>
        <p:txBody>
          <a:bodyPr wrap="square" lIns="0" tIns="0" rIns="0" bIns="0" rtlCol="0"/>
          <a:lstStyle/>
          <a:p>
            <a:endParaRPr/>
          </a:p>
        </p:txBody>
      </p:sp>
      <p:sp>
        <p:nvSpPr>
          <p:cNvPr id="3" name="object 3"/>
          <p:cNvSpPr/>
          <p:nvPr/>
        </p:nvSpPr>
        <p:spPr>
          <a:xfrm>
            <a:off x="175259" y="228028"/>
            <a:ext cx="8793480" cy="6377940"/>
          </a:xfrm>
          <a:custGeom>
            <a:avLst/>
            <a:gdLst/>
            <a:ahLst/>
            <a:cxnLst/>
            <a:rect l="l" t="t" r="r" b="b"/>
            <a:pathLst>
              <a:path w="11724640" h="6377940">
                <a:moveTo>
                  <a:pt x="11724640" y="0"/>
                </a:moveTo>
                <a:lnTo>
                  <a:pt x="0" y="0"/>
                </a:lnTo>
                <a:lnTo>
                  <a:pt x="0" y="6377939"/>
                </a:lnTo>
                <a:lnTo>
                  <a:pt x="11724640" y="6377939"/>
                </a:lnTo>
                <a:lnTo>
                  <a:pt x="11724640" y="0"/>
                </a:lnTo>
                <a:close/>
              </a:path>
            </a:pathLst>
          </a:custGeom>
          <a:solidFill>
            <a:srgbClr val="FFFFFF"/>
          </a:solidFill>
        </p:spPr>
        <p:txBody>
          <a:bodyPr wrap="square" lIns="0" tIns="0" rIns="0" bIns="0" rtlCol="0"/>
          <a:lstStyle/>
          <a:p>
            <a:endParaRPr/>
          </a:p>
        </p:txBody>
      </p:sp>
      <p:sp>
        <p:nvSpPr>
          <p:cNvPr id="4" name="object 4"/>
          <p:cNvSpPr txBox="1">
            <a:spLocks noGrp="1"/>
          </p:cNvSpPr>
          <p:nvPr>
            <p:ph type="title"/>
          </p:nvPr>
        </p:nvSpPr>
        <p:spPr>
          <a:xfrm>
            <a:off x="1631748" y="355382"/>
            <a:ext cx="2271977" cy="688650"/>
          </a:xfrm>
          <a:prstGeom prst="rect">
            <a:avLst/>
          </a:prstGeom>
        </p:spPr>
        <p:txBody>
          <a:bodyPr vert="horz" wrap="square" lIns="0" tIns="11430" rIns="0" bIns="0" rtlCol="0">
            <a:spAutoFit/>
          </a:bodyPr>
          <a:lstStyle/>
          <a:p>
            <a:pPr marL="12700">
              <a:lnSpc>
                <a:spcPct val="100000"/>
              </a:lnSpc>
              <a:spcBef>
                <a:spcPts val="90"/>
              </a:spcBef>
            </a:pPr>
            <a:r>
              <a:rPr sz="4400" spc="-10" dirty="0">
                <a:solidFill>
                  <a:srgbClr val="3A5F85"/>
                </a:solidFill>
                <a:latin typeface="Calibri Light"/>
                <a:cs typeface="Calibri Light"/>
              </a:rPr>
              <a:t>Bar</a:t>
            </a:r>
            <a:r>
              <a:rPr sz="4400" spc="-80" dirty="0">
                <a:solidFill>
                  <a:srgbClr val="3A5F85"/>
                </a:solidFill>
                <a:latin typeface="Calibri Light"/>
                <a:cs typeface="Calibri Light"/>
              </a:rPr>
              <a:t> </a:t>
            </a:r>
            <a:r>
              <a:rPr sz="4400" spc="-10" dirty="0">
                <a:solidFill>
                  <a:srgbClr val="3A5F85"/>
                </a:solidFill>
                <a:latin typeface="Calibri Light"/>
                <a:cs typeface="Calibri Light"/>
              </a:rPr>
              <a:t>Chart</a:t>
            </a:r>
            <a:endParaRPr sz="4400" dirty="0">
              <a:latin typeface="Calibri Light"/>
              <a:cs typeface="Calibri Light"/>
            </a:endParaRPr>
          </a:p>
        </p:txBody>
      </p:sp>
      <p:sp>
        <p:nvSpPr>
          <p:cNvPr id="5" name="object 5"/>
          <p:cNvSpPr txBox="1"/>
          <p:nvPr/>
        </p:nvSpPr>
        <p:spPr>
          <a:xfrm>
            <a:off x="395536" y="1104165"/>
            <a:ext cx="5904656" cy="1042593"/>
          </a:xfrm>
          <a:prstGeom prst="rect">
            <a:avLst/>
          </a:prstGeom>
        </p:spPr>
        <p:txBody>
          <a:bodyPr vert="horz" wrap="square" lIns="0" tIns="13970" rIns="0" bIns="0" rtlCol="0">
            <a:spAutoFit/>
          </a:bodyPr>
          <a:lstStyle/>
          <a:p>
            <a:pPr marL="262890" indent="-250825">
              <a:spcBef>
                <a:spcPts val="110"/>
              </a:spcBef>
              <a:buSzPct val="95454"/>
              <a:buFont typeface="Wingdings"/>
              <a:buChar char=""/>
              <a:tabLst>
                <a:tab pos="263525" algn="l"/>
                <a:tab pos="1069975" algn="l"/>
                <a:tab pos="2405380" algn="l"/>
                <a:tab pos="4133850" algn="l"/>
                <a:tab pos="4701540" algn="l"/>
                <a:tab pos="5167630" algn="l"/>
              </a:tabLst>
            </a:pPr>
            <a:r>
              <a:rPr sz="2200" dirty="0">
                <a:solidFill>
                  <a:srgbClr val="3A5F85"/>
                </a:solidFill>
                <a:latin typeface="Calibri"/>
                <a:cs typeface="Calibri"/>
              </a:rPr>
              <a:t>O</a:t>
            </a:r>
            <a:r>
              <a:rPr sz="2200" spc="-5" dirty="0">
                <a:solidFill>
                  <a:srgbClr val="3A5F85"/>
                </a:solidFill>
                <a:latin typeface="Calibri"/>
                <a:cs typeface="Calibri"/>
              </a:rPr>
              <a:t>n</a:t>
            </a:r>
            <a:r>
              <a:rPr sz="2200" spc="5" dirty="0">
                <a:solidFill>
                  <a:srgbClr val="3A5F85"/>
                </a:solidFill>
                <a:latin typeface="Calibri"/>
                <a:cs typeface="Calibri"/>
              </a:rPr>
              <a:t>e</a:t>
            </a:r>
            <a:r>
              <a:rPr sz="2200" dirty="0">
                <a:solidFill>
                  <a:srgbClr val="3A5F85"/>
                </a:solidFill>
                <a:latin typeface="Calibri"/>
                <a:cs typeface="Calibri"/>
              </a:rPr>
              <a:t>	</a:t>
            </a:r>
            <a:r>
              <a:rPr sz="2200" spc="-50" dirty="0">
                <a:solidFill>
                  <a:srgbClr val="3A5F85"/>
                </a:solidFill>
                <a:latin typeface="Calibri"/>
                <a:cs typeface="Calibri"/>
              </a:rPr>
              <a:t>c</a:t>
            </a:r>
            <a:r>
              <a:rPr sz="2200" spc="10" dirty="0">
                <a:solidFill>
                  <a:srgbClr val="3A5F85"/>
                </a:solidFill>
                <a:latin typeface="Calibri"/>
                <a:cs typeface="Calibri"/>
              </a:rPr>
              <a:t>o</a:t>
            </a:r>
            <a:r>
              <a:rPr sz="2200" spc="-10" dirty="0">
                <a:solidFill>
                  <a:srgbClr val="3A5F85"/>
                </a:solidFill>
                <a:latin typeface="Calibri"/>
                <a:cs typeface="Calibri"/>
              </a:rPr>
              <a:t>m</a:t>
            </a:r>
            <a:r>
              <a:rPr sz="2200" spc="10" dirty="0">
                <a:solidFill>
                  <a:srgbClr val="3A5F85"/>
                </a:solidFill>
                <a:latin typeface="Calibri"/>
                <a:cs typeface="Calibri"/>
              </a:rPr>
              <a:t>mo</a:t>
            </a:r>
            <a:r>
              <a:rPr sz="2200" spc="5" dirty="0">
                <a:solidFill>
                  <a:srgbClr val="3A5F85"/>
                </a:solidFill>
                <a:latin typeface="Calibri"/>
                <a:cs typeface="Calibri"/>
              </a:rPr>
              <a:t>n</a:t>
            </a:r>
            <a:r>
              <a:rPr sz="2200" dirty="0">
                <a:solidFill>
                  <a:srgbClr val="3A5F85"/>
                </a:solidFill>
                <a:latin typeface="Calibri"/>
                <a:cs typeface="Calibri"/>
              </a:rPr>
              <a:t>	</a:t>
            </a:r>
            <a:r>
              <a:rPr sz="2200" spc="5" dirty="0">
                <a:solidFill>
                  <a:srgbClr val="3A5F85"/>
                </a:solidFill>
                <a:latin typeface="Calibri"/>
                <a:cs typeface="Calibri"/>
              </a:rPr>
              <a:t>v</a:t>
            </a:r>
            <a:r>
              <a:rPr sz="2200" dirty="0">
                <a:solidFill>
                  <a:srgbClr val="3A5F85"/>
                </a:solidFill>
                <a:latin typeface="Calibri"/>
                <a:cs typeface="Calibri"/>
              </a:rPr>
              <a:t>is</a:t>
            </a:r>
            <a:r>
              <a:rPr sz="2200" spc="-10" dirty="0">
                <a:solidFill>
                  <a:srgbClr val="3A5F85"/>
                </a:solidFill>
                <a:latin typeface="Calibri"/>
                <a:cs typeface="Calibri"/>
              </a:rPr>
              <a:t>u</a:t>
            </a:r>
            <a:r>
              <a:rPr sz="2200" spc="-25" dirty="0">
                <a:solidFill>
                  <a:srgbClr val="3A5F85"/>
                </a:solidFill>
                <a:latin typeface="Calibri"/>
                <a:cs typeface="Calibri"/>
              </a:rPr>
              <a:t>a</a:t>
            </a:r>
            <a:r>
              <a:rPr sz="2200" dirty="0">
                <a:solidFill>
                  <a:srgbClr val="3A5F85"/>
                </a:solidFill>
                <a:latin typeface="Calibri"/>
                <a:cs typeface="Calibri"/>
              </a:rPr>
              <a:t>l</a:t>
            </a:r>
            <a:r>
              <a:rPr sz="2200" spc="-10" dirty="0">
                <a:solidFill>
                  <a:srgbClr val="3A5F85"/>
                </a:solidFill>
                <a:latin typeface="Calibri"/>
                <a:cs typeface="Calibri"/>
              </a:rPr>
              <a:t>i</a:t>
            </a:r>
            <a:r>
              <a:rPr sz="2200" spc="-60" dirty="0">
                <a:solidFill>
                  <a:srgbClr val="3A5F85"/>
                </a:solidFill>
                <a:latin typeface="Calibri"/>
                <a:cs typeface="Calibri"/>
              </a:rPr>
              <a:t>z</a:t>
            </a:r>
            <a:r>
              <a:rPr sz="2200" spc="-25" dirty="0">
                <a:solidFill>
                  <a:srgbClr val="3A5F85"/>
                </a:solidFill>
                <a:latin typeface="Calibri"/>
                <a:cs typeface="Calibri"/>
              </a:rPr>
              <a:t>a</a:t>
            </a:r>
            <a:r>
              <a:rPr sz="2200" dirty="0">
                <a:solidFill>
                  <a:srgbClr val="3A5F85"/>
                </a:solidFill>
                <a:latin typeface="Calibri"/>
                <a:cs typeface="Calibri"/>
              </a:rPr>
              <a:t>ti</a:t>
            </a:r>
            <a:r>
              <a:rPr sz="2200" spc="10" dirty="0">
                <a:solidFill>
                  <a:srgbClr val="3A5F85"/>
                </a:solidFill>
                <a:latin typeface="Calibri"/>
                <a:cs typeface="Calibri"/>
              </a:rPr>
              <a:t>o</a:t>
            </a:r>
            <a:r>
              <a:rPr sz="2200" spc="5" dirty="0">
                <a:solidFill>
                  <a:srgbClr val="3A5F85"/>
                </a:solidFill>
                <a:latin typeface="Calibri"/>
                <a:cs typeface="Calibri"/>
              </a:rPr>
              <a:t>n</a:t>
            </a:r>
            <a:r>
              <a:rPr sz="2200" dirty="0">
                <a:solidFill>
                  <a:srgbClr val="3A5F85"/>
                </a:solidFill>
                <a:latin typeface="Calibri"/>
                <a:cs typeface="Calibri"/>
              </a:rPr>
              <a:t>	</a:t>
            </a:r>
            <a:r>
              <a:rPr sz="2200" spc="15" dirty="0">
                <a:solidFill>
                  <a:srgbClr val="3A5F85"/>
                </a:solidFill>
                <a:latin typeface="Calibri"/>
                <a:cs typeface="Calibri"/>
              </a:rPr>
              <a:t>o</a:t>
            </a:r>
            <a:r>
              <a:rPr sz="2200" dirty="0">
                <a:solidFill>
                  <a:srgbClr val="3A5F85"/>
                </a:solidFill>
                <a:latin typeface="Calibri"/>
                <a:cs typeface="Calibri"/>
              </a:rPr>
              <a:t>f	</a:t>
            </a:r>
            <a:r>
              <a:rPr sz="2200" spc="5" dirty="0">
                <a:solidFill>
                  <a:srgbClr val="3A5F85"/>
                </a:solidFill>
                <a:latin typeface="Calibri"/>
                <a:cs typeface="Calibri"/>
              </a:rPr>
              <a:t>a</a:t>
            </a:r>
            <a:r>
              <a:rPr sz="2200" dirty="0">
                <a:solidFill>
                  <a:srgbClr val="3A5F85"/>
                </a:solidFill>
                <a:latin typeface="Calibri"/>
                <a:cs typeface="Calibri"/>
              </a:rPr>
              <a:t>	</a:t>
            </a:r>
            <a:r>
              <a:rPr sz="2200" spc="-5" dirty="0" smtClean="0">
                <a:solidFill>
                  <a:srgbClr val="3A5F85"/>
                </a:solidFill>
                <a:latin typeface="Calibri"/>
                <a:cs typeface="Calibri"/>
              </a:rPr>
              <a:t>f</a:t>
            </a:r>
            <a:r>
              <a:rPr sz="2200" spc="-30" dirty="0" smtClean="0">
                <a:solidFill>
                  <a:srgbClr val="3A5F85"/>
                </a:solidFill>
                <a:latin typeface="Calibri"/>
                <a:cs typeface="Calibri"/>
              </a:rPr>
              <a:t>r</a:t>
            </a:r>
            <a:r>
              <a:rPr sz="2200" spc="5" dirty="0" smtClean="0">
                <a:solidFill>
                  <a:srgbClr val="3A5F85"/>
                </a:solidFill>
                <a:latin typeface="Calibri"/>
                <a:cs typeface="Calibri"/>
              </a:rPr>
              <a:t>eq</a:t>
            </a:r>
            <a:r>
              <a:rPr sz="2200" spc="-10" dirty="0" smtClean="0">
                <a:solidFill>
                  <a:srgbClr val="3A5F85"/>
                </a:solidFill>
                <a:latin typeface="Calibri"/>
                <a:cs typeface="Calibri"/>
              </a:rPr>
              <a:t>u</a:t>
            </a:r>
            <a:r>
              <a:rPr sz="2200" spc="5" dirty="0" smtClean="0">
                <a:solidFill>
                  <a:srgbClr val="3A5F85"/>
                </a:solidFill>
                <a:latin typeface="Calibri"/>
                <a:cs typeface="Calibri"/>
              </a:rPr>
              <a:t>e</a:t>
            </a:r>
            <a:r>
              <a:rPr sz="2200" spc="-25" dirty="0" smtClean="0">
                <a:solidFill>
                  <a:srgbClr val="3A5F85"/>
                </a:solidFill>
                <a:latin typeface="Calibri"/>
                <a:cs typeface="Calibri"/>
              </a:rPr>
              <a:t>n</a:t>
            </a:r>
            <a:r>
              <a:rPr sz="2200" dirty="0" smtClean="0">
                <a:solidFill>
                  <a:srgbClr val="3A5F85"/>
                </a:solidFill>
                <a:latin typeface="Calibri"/>
                <a:cs typeface="Calibri"/>
              </a:rPr>
              <a:t>cy</a:t>
            </a:r>
            <a:r>
              <a:rPr lang="en-US" sz="2200" dirty="0" smtClean="0">
                <a:solidFill>
                  <a:srgbClr val="3A5F85"/>
                </a:solidFill>
                <a:latin typeface="Calibri"/>
                <a:cs typeface="Calibri"/>
              </a:rPr>
              <a:t> </a:t>
            </a:r>
            <a:r>
              <a:rPr lang="en-US" sz="2200" spc="-5" dirty="0">
                <a:solidFill>
                  <a:srgbClr val="3A5F85"/>
                </a:solidFill>
                <a:cs typeface="Calibri"/>
              </a:rPr>
              <a:t>distribution</a:t>
            </a:r>
            <a:r>
              <a:rPr lang="en-US" sz="2200" spc="-60" dirty="0">
                <a:solidFill>
                  <a:srgbClr val="3A5F85"/>
                </a:solidFill>
                <a:cs typeface="Calibri"/>
              </a:rPr>
              <a:t> </a:t>
            </a:r>
            <a:r>
              <a:rPr lang="en-US" sz="2200" dirty="0">
                <a:solidFill>
                  <a:srgbClr val="3A5F85"/>
                </a:solidFill>
                <a:cs typeface="Calibri"/>
              </a:rPr>
              <a:t>is</a:t>
            </a:r>
            <a:r>
              <a:rPr lang="en-US" sz="2200" spc="-25" dirty="0">
                <a:solidFill>
                  <a:srgbClr val="3A5F85"/>
                </a:solidFill>
                <a:cs typeface="Calibri"/>
              </a:rPr>
              <a:t> </a:t>
            </a:r>
            <a:r>
              <a:rPr lang="en-US" sz="2200" dirty="0">
                <a:solidFill>
                  <a:srgbClr val="3A5F85"/>
                </a:solidFill>
                <a:cs typeface="Calibri"/>
              </a:rPr>
              <a:t>a</a:t>
            </a:r>
            <a:r>
              <a:rPr lang="en-US" sz="2200" spc="-5" dirty="0">
                <a:solidFill>
                  <a:srgbClr val="3A5F85"/>
                </a:solidFill>
                <a:cs typeface="Calibri"/>
              </a:rPr>
              <a:t> </a:t>
            </a:r>
            <a:r>
              <a:rPr lang="en-US" sz="2200" dirty="0">
                <a:solidFill>
                  <a:srgbClr val="3A5F85"/>
                </a:solidFill>
                <a:cs typeface="Calibri"/>
              </a:rPr>
              <a:t>bar</a:t>
            </a:r>
            <a:r>
              <a:rPr lang="en-US" sz="2200" spc="-30" dirty="0">
                <a:solidFill>
                  <a:srgbClr val="3A5F85"/>
                </a:solidFill>
                <a:cs typeface="Calibri"/>
              </a:rPr>
              <a:t> </a:t>
            </a:r>
            <a:r>
              <a:rPr lang="en-US" sz="2200" dirty="0">
                <a:solidFill>
                  <a:srgbClr val="3A5F85"/>
                </a:solidFill>
                <a:cs typeface="Calibri"/>
              </a:rPr>
              <a:t>chart.</a:t>
            </a:r>
            <a:endParaRPr lang="en-US" sz="2200" dirty="0">
              <a:cs typeface="Calibri"/>
            </a:endParaRPr>
          </a:p>
          <a:p>
            <a:pPr marL="262890" indent="-250825">
              <a:lnSpc>
                <a:spcPct val="100000"/>
              </a:lnSpc>
              <a:spcBef>
                <a:spcPts val="110"/>
              </a:spcBef>
              <a:buSzPct val="95454"/>
              <a:buFont typeface="Wingdings"/>
              <a:buChar char=""/>
              <a:tabLst>
                <a:tab pos="263525" algn="l"/>
                <a:tab pos="1069975" algn="l"/>
                <a:tab pos="2405380" algn="l"/>
                <a:tab pos="4133850" algn="l"/>
                <a:tab pos="4701540" algn="l"/>
                <a:tab pos="5167630" algn="l"/>
              </a:tabLst>
            </a:pPr>
            <a:endParaRPr sz="2200" dirty="0">
              <a:latin typeface="Calibri"/>
              <a:cs typeface="Calibri"/>
            </a:endParaRPr>
          </a:p>
        </p:txBody>
      </p:sp>
      <p:sp>
        <p:nvSpPr>
          <p:cNvPr id="6" name="object 6"/>
          <p:cNvSpPr txBox="1"/>
          <p:nvPr/>
        </p:nvSpPr>
        <p:spPr>
          <a:xfrm>
            <a:off x="175259" y="1795380"/>
            <a:ext cx="5345050" cy="3913891"/>
          </a:xfrm>
          <a:prstGeom prst="rect">
            <a:avLst/>
          </a:prstGeom>
        </p:spPr>
        <p:txBody>
          <a:bodyPr vert="horz" wrap="square" lIns="0" tIns="104139" rIns="0" bIns="0" rtlCol="0">
            <a:spAutoFit/>
          </a:bodyPr>
          <a:lstStyle/>
          <a:p>
            <a:pPr marL="262890" indent="-250825" algn="just">
              <a:lnSpc>
                <a:spcPct val="100000"/>
              </a:lnSpc>
              <a:spcBef>
                <a:spcPts val="720"/>
              </a:spcBef>
              <a:buSzPct val="95454"/>
              <a:buFont typeface="Wingdings"/>
              <a:buChar char=""/>
              <a:tabLst>
                <a:tab pos="263525" algn="l"/>
              </a:tabLst>
            </a:pPr>
            <a:r>
              <a:rPr sz="2200" b="1" spc="-5" dirty="0" smtClean="0">
                <a:solidFill>
                  <a:srgbClr val="3A5F85"/>
                </a:solidFill>
                <a:latin typeface="Calibri"/>
                <a:cs typeface="Calibri"/>
              </a:rPr>
              <a:t>Each</a:t>
            </a:r>
            <a:r>
              <a:rPr sz="2200" b="1" spc="-35" dirty="0" smtClean="0">
                <a:solidFill>
                  <a:srgbClr val="3A5F85"/>
                </a:solidFill>
                <a:latin typeface="Calibri"/>
                <a:cs typeface="Calibri"/>
              </a:rPr>
              <a:t> </a:t>
            </a:r>
            <a:r>
              <a:rPr sz="2200" b="1" dirty="0">
                <a:solidFill>
                  <a:srgbClr val="3A5F85"/>
                </a:solidFill>
                <a:latin typeface="Calibri"/>
                <a:cs typeface="Calibri"/>
              </a:rPr>
              <a:t>distinct</a:t>
            </a:r>
            <a:r>
              <a:rPr sz="2200" b="1" spc="-65" dirty="0">
                <a:solidFill>
                  <a:srgbClr val="3A5F85"/>
                </a:solidFill>
                <a:latin typeface="Calibri"/>
                <a:cs typeface="Calibri"/>
              </a:rPr>
              <a:t> </a:t>
            </a:r>
            <a:r>
              <a:rPr sz="2200" b="1" spc="-5" dirty="0">
                <a:solidFill>
                  <a:srgbClr val="3A5F85"/>
                </a:solidFill>
                <a:latin typeface="Calibri"/>
                <a:cs typeface="Calibri"/>
              </a:rPr>
              <a:t>value</a:t>
            </a:r>
            <a:r>
              <a:rPr sz="2200" b="1" spc="-35" dirty="0">
                <a:solidFill>
                  <a:srgbClr val="3A5F85"/>
                </a:solidFill>
                <a:latin typeface="Calibri"/>
                <a:cs typeface="Calibri"/>
              </a:rPr>
              <a:t> </a:t>
            </a:r>
            <a:r>
              <a:rPr sz="2200" b="1" spc="5" dirty="0">
                <a:solidFill>
                  <a:srgbClr val="3A5F85"/>
                </a:solidFill>
                <a:latin typeface="Calibri"/>
                <a:cs typeface="Calibri"/>
              </a:rPr>
              <a:t>is</a:t>
            </a:r>
            <a:r>
              <a:rPr sz="2200" b="1" spc="-25" dirty="0">
                <a:solidFill>
                  <a:srgbClr val="3A5F85"/>
                </a:solidFill>
                <a:latin typeface="Calibri"/>
                <a:cs typeface="Calibri"/>
              </a:rPr>
              <a:t> </a:t>
            </a:r>
            <a:r>
              <a:rPr sz="2200" b="1" spc="-10" dirty="0">
                <a:solidFill>
                  <a:srgbClr val="3A5F85"/>
                </a:solidFill>
                <a:latin typeface="Calibri"/>
                <a:cs typeface="Calibri"/>
              </a:rPr>
              <a:t>represented</a:t>
            </a:r>
            <a:r>
              <a:rPr sz="2200" b="1" spc="-5" dirty="0">
                <a:solidFill>
                  <a:srgbClr val="3A5F85"/>
                </a:solidFill>
                <a:latin typeface="Calibri"/>
                <a:cs typeface="Calibri"/>
              </a:rPr>
              <a:t> </a:t>
            </a:r>
            <a:r>
              <a:rPr sz="2200" spc="-5" dirty="0">
                <a:solidFill>
                  <a:srgbClr val="3A5F85"/>
                </a:solidFill>
                <a:latin typeface="Calibri"/>
                <a:cs typeface="Calibri"/>
              </a:rPr>
              <a:t>by</a:t>
            </a:r>
            <a:r>
              <a:rPr sz="2200" spc="-20" dirty="0">
                <a:solidFill>
                  <a:srgbClr val="3A5F85"/>
                </a:solidFill>
                <a:latin typeface="Calibri"/>
                <a:cs typeface="Calibri"/>
              </a:rPr>
              <a:t> </a:t>
            </a:r>
            <a:r>
              <a:rPr sz="2200" dirty="0">
                <a:solidFill>
                  <a:srgbClr val="3A5F85"/>
                </a:solidFill>
                <a:latin typeface="Calibri"/>
                <a:cs typeface="Calibri"/>
              </a:rPr>
              <a:t>a</a:t>
            </a:r>
            <a:r>
              <a:rPr sz="2200" spc="-25" dirty="0">
                <a:solidFill>
                  <a:srgbClr val="3A5F85"/>
                </a:solidFill>
                <a:latin typeface="Calibri"/>
                <a:cs typeface="Calibri"/>
              </a:rPr>
              <a:t> </a:t>
            </a:r>
            <a:r>
              <a:rPr sz="2200" spc="-55" dirty="0">
                <a:solidFill>
                  <a:srgbClr val="3A5F85"/>
                </a:solidFill>
                <a:latin typeface="Calibri"/>
                <a:cs typeface="Calibri"/>
              </a:rPr>
              <a:t>bar.</a:t>
            </a:r>
            <a:endParaRPr sz="2200" dirty="0">
              <a:latin typeface="Calibri"/>
              <a:cs typeface="Calibri"/>
            </a:endParaRPr>
          </a:p>
          <a:p>
            <a:pPr marL="262890" indent="-250825" algn="just">
              <a:lnSpc>
                <a:spcPts val="2510"/>
              </a:lnSpc>
              <a:spcBef>
                <a:spcPts val="745"/>
              </a:spcBef>
              <a:buSzPct val="95454"/>
              <a:buFont typeface="Wingdings"/>
              <a:buChar char=""/>
              <a:tabLst>
                <a:tab pos="263525" algn="l"/>
              </a:tabLst>
            </a:pPr>
            <a:r>
              <a:rPr sz="2200" dirty="0">
                <a:solidFill>
                  <a:srgbClr val="3A5F85"/>
                </a:solidFill>
                <a:latin typeface="Calibri"/>
                <a:cs typeface="Calibri"/>
              </a:rPr>
              <a:t>Used</a:t>
            </a:r>
            <a:r>
              <a:rPr sz="2200" spc="270" dirty="0">
                <a:solidFill>
                  <a:srgbClr val="3A5F85"/>
                </a:solidFill>
                <a:latin typeface="Calibri"/>
                <a:cs typeface="Calibri"/>
              </a:rPr>
              <a:t> </a:t>
            </a:r>
            <a:r>
              <a:rPr sz="2200" spc="-15" dirty="0">
                <a:solidFill>
                  <a:srgbClr val="3A5F85"/>
                </a:solidFill>
                <a:latin typeface="Calibri"/>
                <a:cs typeface="Calibri"/>
              </a:rPr>
              <a:t>for</a:t>
            </a:r>
            <a:r>
              <a:rPr sz="2200" spc="270" dirty="0">
                <a:solidFill>
                  <a:srgbClr val="3A5F85"/>
                </a:solidFill>
                <a:latin typeface="Calibri"/>
                <a:cs typeface="Calibri"/>
              </a:rPr>
              <a:t> </a:t>
            </a:r>
            <a:r>
              <a:rPr sz="2200" spc="-15" dirty="0">
                <a:solidFill>
                  <a:srgbClr val="3A5F85"/>
                </a:solidFill>
                <a:latin typeface="Calibri"/>
                <a:cs typeface="Calibri"/>
              </a:rPr>
              <a:t>categorical</a:t>
            </a:r>
            <a:r>
              <a:rPr sz="2200" spc="245" dirty="0">
                <a:solidFill>
                  <a:srgbClr val="3A5F85"/>
                </a:solidFill>
                <a:latin typeface="Calibri"/>
                <a:cs typeface="Calibri"/>
              </a:rPr>
              <a:t> </a:t>
            </a:r>
            <a:r>
              <a:rPr sz="2200" spc="-10" dirty="0">
                <a:solidFill>
                  <a:srgbClr val="3A5F85"/>
                </a:solidFill>
                <a:latin typeface="Calibri"/>
                <a:cs typeface="Calibri"/>
              </a:rPr>
              <a:t>variables</a:t>
            </a:r>
            <a:r>
              <a:rPr sz="2200" spc="280" dirty="0">
                <a:solidFill>
                  <a:srgbClr val="3A5F85"/>
                </a:solidFill>
                <a:latin typeface="Calibri"/>
                <a:cs typeface="Calibri"/>
              </a:rPr>
              <a:t> </a:t>
            </a:r>
            <a:r>
              <a:rPr sz="2200" spc="-10" dirty="0">
                <a:solidFill>
                  <a:srgbClr val="3A5F85"/>
                </a:solidFill>
                <a:latin typeface="Calibri"/>
                <a:cs typeface="Calibri"/>
              </a:rPr>
              <a:t>to</a:t>
            </a:r>
            <a:r>
              <a:rPr sz="2200" spc="280" dirty="0">
                <a:solidFill>
                  <a:srgbClr val="3A5F85"/>
                </a:solidFill>
                <a:latin typeface="Calibri"/>
                <a:cs typeface="Calibri"/>
              </a:rPr>
              <a:t> </a:t>
            </a:r>
            <a:r>
              <a:rPr sz="2200" spc="-5" dirty="0">
                <a:solidFill>
                  <a:srgbClr val="3A5F85"/>
                </a:solidFill>
                <a:latin typeface="Calibri"/>
                <a:cs typeface="Calibri"/>
              </a:rPr>
              <a:t>show</a:t>
            </a:r>
            <a:r>
              <a:rPr sz="2200" spc="280" dirty="0">
                <a:solidFill>
                  <a:srgbClr val="3A5F85"/>
                </a:solidFill>
                <a:latin typeface="Calibri"/>
                <a:cs typeface="Calibri"/>
              </a:rPr>
              <a:t> </a:t>
            </a:r>
            <a:r>
              <a:rPr sz="2200" spc="-10" dirty="0">
                <a:solidFill>
                  <a:srgbClr val="3A5F85"/>
                </a:solidFill>
                <a:latin typeface="Calibri"/>
                <a:cs typeface="Calibri"/>
              </a:rPr>
              <a:t>frequency</a:t>
            </a:r>
            <a:r>
              <a:rPr sz="2200" spc="280" dirty="0">
                <a:solidFill>
                  <a:srgbClr val="3A5F85"/>
                </a:solidFill>
                <a:latin typeface="Calibri"/>
                <a:cs typeface="Calibri"/>
              </a:rPr>
              <a:t> </a:t>
            </a:r>
            <a:r>
              <a:rPr sz="2200" spc="-15" dirty="0">
                <a:solidFill>
                  <a:srgbClr val="3A5F85"/>
                </a:solidFill>
                <a:latin typeface="Calibri"/>
                <a:cs typeface="Calibri"/>
              </a:rPr>
              <a:t>or</a:t>
            </a:r>
            <a:endParaRPr sz="2200" dirty="0">
              <a:latin typeface="Calibri"/>
              <a:cs typeface="Calibri"/>
            </a:endParaRPr>
          </a:p>
          <a:p>
            <a:pPr marL="241300" algn="just">
              <a:lnSpc>
                <a:spcPts val="2510"/>
              </a:lnSpc>
            </a:pPr>
            <a:r>
              <a:rPr sz="2200" dirty="0">
                <a:solidFill>
                  <a:srgbClr val="3A5F85"/>
                </a:solidFill>
                <a:latin typeface="Calibri"/>
                <a:cs typeface="Calibri"/>
              </a:rPr>
              <a:t>proportion</a:t>
            </a:r>
            <a:r>
              <a:rPr sz="2200" spc="-85" dirty="0">
                <a:solidFill>
                  <a:srgbClr val="3A5F85"/>
                </a:solidFill>
                <a:latin typeface="Calibri"/>
                <a:cs typeface="Calibri"/>
              </a:rPr>
              <a:t> </a:t>
            </a:r>
            <a:r>
              <a:rPr sz="2200" dirty="0">
                <a:solidFill>
                  <a:srgbClr val="3A5F85"/>
                </a:solidFill>
                <a:latin typeface="Calibri"/>
                <a:cs typeface="Calibri"/>
              </a:rPr>
              <a:t>in</a:t>
            </a:r>
            <a:r>
              <a:rPr sz="2200" spc="-45" dirty="0">
                <a:solidFill>
                  <a:srgbClr val="3A5F85"/>
                </a:solidFill>
                <a:latin typeface="Calibri"/>
                <a:cs typeface="Calibri"/>
              </a:rPr>
              <a:t> </a:t>
            </a:r>
            <a:r>
              <a:rPr sz="2200" spc="5" dirty="0">
                <a:solidFill>
                  <a:srgbClr val="3A5F85"/>
                </a:solidFill>
                <a:latin typeface="Calibri"/>
                <a:cs typeface="Calibri"/>
              </a:rPr>
              <a:t>each</a:t>
            </a:r>
            <a:r>
              <a:rPr sz="2200" spc="-45" dirty="0">
                <a:solidFill>
                  <a:srgbClr val="3A5F85"/>
                </a:solidFill>
                <a:latin typeface="Calibri"/>
                <a:cs typeface="Calibri"/>
              </a:rPr>
              <a:t> </a:t>
            </a:r>
            <a:r>
              <a:rPr sz="2200" spc="-10" dirty="0">
                <a:solidFill>
                  <a:srgbClr val="3A5F85"/>
                </a:solidFill>
                <a:latin typeface="Calibri"/>
                <a:cs typeface="Calibri"/>
              </a:rPr>
              <a:t>category</a:t>
            </a:r>
            <a:endParaRPr sz="2200" dirty="0">
              <a:latin typeface="Calibri"/>
              <a:cs typeface="Calibri"/>
            </a:endParaRPr>
          </a:p>
          <a:p>
            <a:pPr marL="241300" marR="5080" indent="-228600" algn="just">
              <a:lnSpc>
                <a:spcPct val="90000"/>
              </a:lnSpc>
              <a:spcBef>
                <a:spcPts val="1010"/>
              </a:spcBef>
              <a:buSzPct val="95454"/>
              <a:buFont typeface="Wingdings"/>
              <a:buChar char=""/>
              <a:tabLst>
                <a:tab pos="263525" algn="l"/>
              </a:tabLst>
            </a:pPr>
            <a:r>
              <a:rPr sz="2200" dirty="0">
                <a:solidFill>
                  <a:srgbClr val="3A5F85"/>
                </a:solidFill>
                <a:latin typeface="Calibri"/>
                <a:cs typeface="Calibri"/>
              </a:rPr>
              <a:t>A</a:t>
            </a:r>
            <a:r>
              <a:rPr sz="2200" spc="5" dirty="0">
                <a:solidFill>
                  <a:srgbClr val="3A5F85"/>
                </a:solidFill>
                <a:latin typeface="Calibri"/>
                <a:cs typeface="Calibri"/>
              </a:rPr>
              <a:t> </a:t>
            </a:r>
            <a:r>
              <a:rPr sz="2200" spc="-10" dirty="0">
                <a:solidFill>
                  <a:srgbClr val="3A5F85"/>
                </a:solidFill>
                <a:latin typeface="Calibri"/>
                <a:cs typeface="Calibri"/>
              </a:rPr>
              <a:t>variable</a:t>
            </a:r>
            <a:r>
              <a:rPr sz="2200" spc="-5" dirty="0">
                <a:solidFill>
                  <a:srgbClr val="3A5F85"/>
                </a:solidFill>
                <a:latin typeface="Calibri"/>
                <a:cs typeface="Calibri"/>
              </a:rPr>
              <a:t> </a:t>
            </a:r>
            <a:r>
              <a:rPr sz="2200" dirty="0">
                <a:solidFill>
                  <a:srgbClr val="3A5F85"/>
                </a:solidFill>
                <a:latin typeface="Calibri"/>
                <a:cs typeface="Calibri"/>
              </a:rPr>
              <a:t>with</a:t>
            </a:r>
            <a:r>
              <a:rPr sz="2200" spc="5" dirty="0">
                <a:solidFill>
                  <a:srgbClr val="3A5F85"/>
                </a:solidFill>
                <a:latin typeface="Calibri"/>
                <a:cs typeface="Calibri"/>
              </a:rPr>
              <a:t> </a:t>
            </a:r>
            <a:r>
              <a:rPr sz="2200" spc="-20" dirty="0">
                <a:solidFill>
                  <a:srgbClr val="3A5F85"/>
                </a:solidFill>
                <a:latin typeface="Calibri"/>
                <a:cs typeface="Calibri"/>
              </a:rPr>
              <a:t>many</a:t>
            </a:r>
            <a:r>
              <a:rPr sz="2200" spc="-15" dirty="0">
                <a:solidFill>
                  <a:srgbClr val="3A5F85"/>
                </a:solidFill>
                <a:latin typeface="Calibri"/>
                <a:cs typeface="Calibri"/>
              </a:rPr>
              <a:t> </a:t>
            </a:r>
            <a:r>
              <a:rPr sz="2200" spc="-10" dirty="0">
                <a:solidFill>
                  <a:srgbClr val="3A5F85"/>
                </a:solidFill>
                <a:latin typeface="Calibri"/>
                <a:cs typeface="Calibri"/>
              </a:rPr>
              <a:t>distinct</a:t>
            </a:r>
            <a:r>
              <a:rPr sz="2200" spc="-5" dirty="0">
                <a:solidFill>
                  <a:srgbClr val="3A5F85"/>
                </a:solidFill>
                <a:latin typeface="Calibri"/>
                <a:cs typeface="Calibri"/>
              </a:rPr>
              <a:t> </a:t>
            </a:r>
            <a:r>
              <a:rPr sz="2200" spc="-10" dirty="0">
                <a:solidFill>
                  <a:srgbClr val="3A5F85"/>
                </a:solidFill>
                <a:latin typeface="Calibri"/>
                <a:cs typeface="Calibri"/>
              </a:rPr>
              <a:t>values</a:t>
            </a:r>
            <a:r>
              <a:rPr sz="2200" spc="-5" dirty="0">
                <a:solidFill>
                  <a:srgbClr val="3A5F85"/>
                </a:solidFill>
                <a:latin typeface="Calibri"/>
                <a:cs typeface="Calibri"/>
              </a:rPr>
              <a:t> </a:t>
            </a:r>
            <a:r>
              <a:rPr sz="2200" spc="-15" dirty="0">
                <a:solidFill>
                  <a:srgbClr val="3A5F85"/>
                </a:solidFill>
                <a:latin typeface="Calibri"/>
                <a:cs typeface="Calibri"/>
              </a:rPr>
              <a:t>(birthday</a:t>
            </a:r>
            <a:r>
              <a:rPr sz="2200" spc="-10" dirty="0">
                <a:solidFill>
                  <a:srgbClr val="3A5F85"/>
                </a:solidFill>
                <a:latin typeface="Calibri"/>
                <a:cs typeface="Calibri"/>
              </a:rPr>
              <a:t> </a:t>
            </a:r>
            <a:r>
              <a:rPr sz="2200" spc="10" dirty="0">
                <a:solidFill>
                  <a:srgbClr val="3A5F85"/>
                </a:solidFill>
                <a:latin typeface="Calibri"/>
                <a:cs typeface="Calibri"/>
              </a:rPr>
              <a:t>or </a:t>
            </a:r>
            <a:r>
              <a:rPr sz="2200" spc="15" dirty="0">
                <a:solidFill>
                  <a:srgbClr val="3A5F85"/>
                </a:solidFill>
                <a:latin typeface="Calibri"/>
                <a:cs typeface="Calibri"/>
              </a:rPr>
              <a:t> </a:t>
            </a:r>
            <a:r>
              <a:rPr sz="2200" spc="-5" dirty="0">
                <a:solidFill>
                  <a:srgbClr val="3A5F85"/>
                </a:solidFill>
                <a:latin typeface="Calibri"/>
                <a:cs typeface="Calibri"/>
              </a:rPr>
              <a:t>monthly </a:t>
            </a:r>
            <a:r>
              <a:rPr sz="2200" spc="-10" dirty="0">
                <a:solidFill>
                  <a:srgbClr val="3A5F85"/>
                </a:solidFill>
                <a:latin typeface="Calibri"/>
                <a:cs typeface="Calibri"/>
              </a:rPr>
              <a:t>income) </a:t>
            </a:r>
            <a:r>
              <a:rPr sz="2200" spc="-5" dirty="0">
                <a:solidFill>
                  <a:srgbClr val="3A5F85"/>
                </a:solidFill>
                <a:latin typeface="Calibri"/>
                <a:cs typeface="Calibri"/>
              </a:rPr>
              <a:t>will </a:t>
            </a:r>
            <a:r>
              <a:rPr sz="2200" spc="-15" dirty="0">
                <a:solidFill>
                  <a:srgbClr val="3A5F85"/>
                </a:solidFill>
                <a:latin typeface="Calibri"/>
                <a:cs typeface="Calibri"/>
              </a:rPr>
              <a:t>have </a:t>
            </a:r>
            <a:r>
              <a:rPr sz="2200" spc="5" dirty="0">
                <a:solidFill>
                  <a:srgbClr val="3A5F85"/>
                </a:solidFill>
                <a:latin typeface="Calibri"/>
                <a:cs typeface="Calibri"/>
              </a:rPr>
              <a:t>a </a:t>
            </a:r>
            <a:r>
              <a:rPr sz="2200" spc="-15" dirty="0">
                <a:solidFill>
                  <a:srgbClr val="3A5F85"/>
                </a:solidFill>
                <a:latin typeface="Calibri"/>
                <a:cs typeface="Calibri"/>
              </a:rPr>
              <a:t>vast </a:t>
            </a:r>
            <a:r>
              <a:rPr sz="2200" spc="-5" dirty="0">
                <a:solidFill>
                  <a:srgbClr val="3A5F85"/>
                </a:solidFill>
                <a:latin typeface="Calibri"/>
                <a:cs typeface="Calibri"/>
              </a:rPr>
              <a:t>number </a:t>
            </a:r>
            <a:r>
              <a:rPr sz="2200" spc="5" dirty="0">
                <a:solidFill>
                  <a:srgbClr val="3A5F85"/>
                </a:solidFill>
                <a:latin typeface="Calibri"/>
                <a:cs typeface="Calibri"/>
              </a:rPr>
              <a:t>of </a:t>
            </a:r>
            <a:r>
              <a:rPr sz="2200" spc="-15" dirty="0">
                <a:solidFill>
                  <a:srgbClr val="3A5F85"/>
                </a:solidFill>
                <a:latin typeface="Calibri"/>
                <a:cs typeface="Calibri"/>
              </a:rPr>
              <a:t>bars </a:t>
            </a:r>
            <a:r>
              <a:rPr sz="2200" dirty="0">
                <a:solidFill>
                  <a:srgbClr val="3A5F85"/>
                </a:solidFill>
                <a:latin typeface="Calibri"/>
                <a:cs typeface="Calibri"/>
              </a:rPr>
              <a:t>and </a:t>
            </a:r>
            <a:r>
              <a:rPr sz="2200" spc="5" dirty="0">
                <a:solidFill>
                  <a:srgbClr val="3A5F85"/>
                </a:solidFill>
                <a:latin typeface="Calibri"/>
                <a:cs typeface="Calibri"/>
              </a:rPr>
              <a:t> </a:t>
            </a:r>
            <a:r>
              <a:rPr sz="2200" dirty="0">
                <a:solidFill>
                  <a:srgbClr val="3A5F85"/>
                </a:solidFill>
                <a:latin typeface="Calibri"/>
                <a:cs typeface="Calibri"/>
              </a:rPr>
              <a:t>is</a:t>
            </a:r>
            <a:r>
              <a:rPr sz="2200" spc="5" dirty="0">
                <a:solidFill>
                  <a:srgbClr val="3A5F85"/>
                </a:solidFill>
                <a:latin typeface="Calibri"/>
                <a:cs typeface="Calibri"/>
              </a:rPr>
              <a:t> </a:t>
            </a:r>
            <a:r>
              <a:rPr sz="2200" spc="-20" dirty="0">
                <a:solidFill>
                  <a:srgbClr val="3A5F85"/>
                </a:solidFill>
                <a:latin typeface="Calibri"/>
                <a:cs typeface="Calibri"/>
              </a:rPr>
              <a:t>therefore</a:t>
            </a:r>
            <a:r>
              <a:rPr sz="2200" spc="-15" dirty="0">
                <a:solidFill>
                  <a:srgbClr val="3A5F85"/>
                </a:solidFill>
                <a:latin typeface="Calibri"/>
                <a:cs typeface="Calibri"/>
              </a:rPr>
              <a:t> </a:t>
            </a:r>
            <a:r>
              <a:rPr sz="2200" spc="-5" dirty="0">
                <a:solidFill>
                  <a:srgbClr val="3A5F85"/>
                </a:solidFill>
                <a:latin typeface="Calibri"/>
                <a:cs typeface="Calibri"/>
              </a:rPr>
              <a:t>not</a:t>
            </a:r>
            <a:r>
              <a:rPr sz="2200" dirty="0">
                <a:solidFill>
                  <a:srgbClr val="3A5F85"/>
                </a:solidFill>
                <a:latin typeface="Calibri"/>
                <a:cs typeface="Calibri"/>
              </a:rPr>
              <a:t> </a:t>
            </a:r>
            <a:r>
              <a:rPr sz="2200" spc="-10" dirty="0">
                <a:solidFill>
                  <a:srgbClr val="3A5F85"/>
                </a:solidFill>
                <a:latin typeface="Calibri"/>
                <a:cs typeface="Calibri"/>
              </a:rPr>
              <a:t>suitable</a:t>
            </a:r>
            <a:r>
              <a:rPr sz="2200" spc="-5" dirty="0">
                <a:solidFill>
                  <a:srgbClr val="3A5F85"/>
                </a:solidFill>
                <a:latin typeface="Calibri"/>
                <a:cs typeface="Calibri"/>
              </a:rPr>
              <a:t> </a:t>
            </a:r>
            <a:r>
              <a:rPr sz="2200" spc="-20" dirty="0">
                <a:solidFill>
                  <a:srgbClr val="3A5F85"/>
                </a:solidFill>
                <a:latin typeface="Calibri"/>
                <a:cs typeface="Calibri"/>
              </a:rPr>
              <a:t>for</a:t>
            </a:r>
            <a:r>
              <a:rPr sz="2200" spc="-15" dirty="0">
                <a:solidFill>
                  <a:srgbClr val="3A5F85"/>
                </a:solidFill>
                <a:latin typeface="Calibri"/>
                <a:cs typeface="Calibri"/>
              </a:rPr>
              <a:t> </a:t>
            </a:r>
            <a:r>
              <a:rPr sz="2200" dirty="0">
                <a:solidFill>
                  <a:srgbClr val="3A5F85"/>
                </a:solidFill>
                <a:latin typeface="Calibri"/>
                <a:cs typeface="Calibri"/>
              </a:rPr>
              <a:t>a</a:t>
            </a:r>
            <a:r>
              <a:rPr sz="2200" spc="5" dirty="0">
                <a:solidFill>
                  <a:srgbClr val="3A5F85"/>
                </a:solidFill>
                <a:latin typeface="Calibri"/>
                <a:cs typeface="Calibri"/>
              </a:rPr>
              <a:t> </a:t>
            </a:r>
            <a:r>
              <a:rPr sz="2200" spc="-10" dirty="0">
                <a:solidFill>
                  <a:srgbClr val="3A5F85"/>
                </a:solidFill>
                <a:latin typeface="Calibri"/>
                <a:cs typeface="Calibri"/>
              </a:rPr>
              <a:t>bar</a:t>
            </a:r>
            <a:r>
              <a:rPr sz="2200" spc="-5" dirty="0">
                <a:solidFill>
                  <a:srgbClr val="3A5F85"/>
                </a:solidFill>
                <a:latin typeface="Calibri"/>
                <a:cs typeface="Calibri"/>
              </a:rPr>
              <a:t> chart.</a:t>
            </a:r>
            <a:r>
              <a:rPr sz="2200" dirty="0">
                <a:solidFill>
                  <a:srgbClr val="3A5F85"/>
                </a:solidFill>
                <a:latin typeface="Calibri"/>
                <a:cs typeface="Calibri"/>
              </a:rPr>
              <a:t> </a:t>
            </a:r>
            <a:r>
              <a:rPr sz="2200" spc="-5" dirty="0">
                <a:solidFill>
                  <a:srgbClr val="3A5F85"/>
                </a:solidFill>
                <a:latin typeface="Calibri"/>
                <a:cs typeface="Calibri"/>
              </a:rPr>
              <a:t>For</a:t>
            </a:r>
            <a:r>
              <a:rPr sz="2200" dirty="0">
                <a:solidFill>
                  <a:srgbClr val="3A5F85"/>
                </a:solidFill>
                <a:latin typeface="Calibri"/>
                <a:cs typeface="Calibri"/>
              </a:rPr>
              <a:t> </a:t>
            </a:r>
            <a:r>
              <a:rPr sz="2200" spc="-10" dirty="0">
                <a:solidFill>
                  <a:srgbClr val="3A5F85"/>
                </a:solidFill>
                <a:latin typeface="Calibri"/>
                <a:cs typeface="Calibri"/>
              </a:rPr>
              <a:t>such </a:t>
            </a:r>
            <a:r>
              <a:rPr sz="2200" spc="-484" dirty="0">
                <a:solidFill>
                  <a:srgbClr val="3A5F85"/>
                </a:solidFill>
                <a:latin typeface="Calibri"/>
                <a:cs typeface="Calibri"/>
              </a:rPr>
              <a:t> </a:t>
            </a:r>
            <a:r>
              <a:rPr sz="2200" spc="-5" dirty="0">
                <a:solidFill>
                  <a:srgbClr val="3A5F85"/>
                </a:solidFill>
                <a:latin typeface="Calibri"/>
                <a:cs typeface="Calibri"/>
              </a:rPr>
              <a:t>variables,</a:t>
            </a:r>
            <a:r>
              <a:rPr sz="2200" spc="-70" dirty="0">
                <a:solidFill>
                  <a:srgbClr val="3A5F85"/>
                </a:solidFill>
                <a:latin typeface="Calibri"/>
                <a:cs typeface="Calibri"/>
              </a:rPr>
              <a:t> </a:t>
            </a:r>
            <a:r>
              <a:rPr sz="2200" dirty="0">
                <a:solidFill>
                  <a:srgbClr val="3A5F85"/>
                </a:solidFill>
                <a:latin typeface="Calibri"/>
                <a:cs typeface="Calibri"/>
              </a:rPr>
              <a:t>a</a:t>
            </a:r>
            <a:r>
              <a:rPr sz="2200" spc="5" dirty="0">
                <a:solidFill>
                  <a:srgbClr val="3A5F85"/>
                </a:solidFill>
                <a:latin typeface="Calibri"/>
                <a:cs typeface="Calibri"/>
              </a:rPr>
              <a:t> </a:t>
            </a:r>
            <a:r>
              <a:rPr sz="2200" b="1" spc="-10" dirty="0">
                <a:solidFill>
                  <a:srgbClr val="3A5F85"/>
                </a:solidFill>
                <a:latin typeface="Calibri"/>
                <a:cs typeface="Calibri"/>
              </a:rPr>
              <a:t>histogram</a:t>
            </a:r>
            <a:r>
              <a:rPr sz="2200" b="1" spc="-35" dirty="0">
                <a:solidFill>
                  <a:srgbClr val="3A5F85"/>
                </a:solidFill>
                <a:latin typeface="Calibri"/>
                <a:cs typeface="Calibri"/>
              </a:rPr>
              <a:t> </a:t>
            </a:r>
            <a:r>
              <a:rPr sz="2200" dirty="0">
                <a:solidFill>
                  <a:srgbClr val="3A5F85"/>
                </a:solidFill>
                <a:latin typeface="Calibri"/>
                <a:cs typeface="Calibri"/>
              </a:rPr>
              <a:t>is</a:t>
            </a:r>
            <a:r>
              <a:rPr sz="2200" spc="-20" dirty="0">
                <a:solidFill>
                  <a:srgbClr val="3A5F85"/>
                </a:solidFill>
                <a:latin typeface="Calibri"/>
                <a:cs typeface="Calibri"/>
              </a:rPr>
              <a:t> </a:t>
            </a:r>
            <a:r>
              <a:rPr sz="2200" dirty="0">
                <a:solidFill>
                  <a:srgbClr val="3A5F85"/>
                </a:solidFill>
                <a:latin typeface="Calibri"/>
                <a:cs typeface="Calibri"/>
              </a:rPr>
              <a:t>a</a:t>
            </a:r>
            <a:r>
              <a:rPr sz="2200" spc="5" dirty="0">
                <a:solidFill>
                  <a:srgbClr val="3A5F85"/>
                </a:solidFill>
                <a:latin typeface="Calibri"/>
                <a:cs typeface="Calibri"/>
              </a:rPr>
              <a:t> </a:t>
            </a:r>
            <a:r>
              <a:rPr sz="2200" spc="-10" dirty="0">
                <a:solidFill>
                  <a:srgbClr val="3A5F85"/>
                </a:solidFill>
                <a:latin typeface="Calibri"/>
                <a:cs typeface="Calibri"/>
              </a:rPr>
              <a:t>better</a:t>
            </a:r>
            <a:r>
              <a:rPr sz="2200" spc="-15" dirty="0">
                <a:solidFill>
                  <a:srgbClr val="3A5F85"/>
                </a:solidFill>
                <a:latin typeface="Calibri"/>
                <a:cs typeface="Calibri"/>
              </a:rPr>
              <a:t> </a:t>
            </a:r>
            <a:r>
              <a:rPr sz="2200" dirty="0">
                <a:solidFill>
                  <a:srgbClr val="3A5F85"/>
                </a:solidFill>
                <a:latin typeface="Calibri"/>
                <a:cs typeface="Calibri"/>
              </a:rPr>
              <a:t>idea.</a:t>
            </a:r>
            <a:endParaRPr sz="2200" dirty="0">
              <a:latin typeface="Calibri"/>
              <a:cs typeface="Calibri"/>
            </a:endParaRPr>
          </a:p>
          <a:p>
            <a:pPr marL="262890" indent="-250825" algn="just">
              <a:lnSpc>
                <a:spcPct val="100000"/>
              </a:lnSpc>
              <a:spcBef>
                <a:spcPts val="720"/>
              </a:spcBef>
              <a:buSzPct val="95454"/>
              <a:buFont typeface="Wingdings"/>
              <a:buChar char=""/>
              <a:tabLst>
                <a:tab pos="263525" algn="l"/>
              </a:tabLst>
            </a:pPr>
            <a:r>
              <a:rPr sz="2200" b="1" spc="-10" dirty="0">
                <a:solidFill>
                  <a:srgbClr val="3A5F85"/>
                </a:solidFill>
                <a:latin typeface="Calibri"/>
                <a:cs typeface="Calibri"/>
              </a:rPr>
              <a:t>Zero </a:t>
            </a:r>
            <a:r>
              <a:rPr sz="2200" b="1" spc="-5" dirty="0">
                <a:solidFill>
                  <a:srgbClr val="3A5F85"/>
                </a:solidFill>
                <a:latin typeface="Calibri"/>
                <a:cs typeface="Calibri"/>
              </a:rPr>
              <a:t>frequencies</a:t>
            </a:r>
            <a:r>
              <a:rPr sz="2200" b="1" spc="-10" dirty="0">
                <a:solidFill>
                  <a:srgbClr val="3A5F85"/>
                </a:solidFill>
                <a:latin typeface="Calibri"/>
                <a:cs typeface="Calibri"/>
              </a:rPr>
              <a:t> are omitted</a:t>
            </a:r>
            <a:r>
              <a:rPr sz="2200" b="1" spc="-20" dirty="0">
                <a:solidFill>
                  <a:srgbClr val="3A5F85"/>
                </a:solidFill>
                <a:latin typeface="Calibri"/>
                <a:cs typeface="Calibri"/>
              </a:rPr>
              <a:t> </a:t>
            </a:r>
            <a:r>
              <a:rPr sz="2200" spc="-5" dirty="0">
                <a:solidFill>
                  <a:srgbClr val="3A5F85"/>
                </a:solidFill>
                <a:latin typeface="Calibri"/>
                <a:cs typeface="Calibri"/>
              </a:rPr>
              <a:t>from</a:t>
            </a:r>
            <a:r>
              <a:rPr sz="2200" spc="-30" dirty="0">
                <a:solidFill>
                  <a:srgbClr val="3A5F85"/>
                </a:solidFill>
                <a:latin typeface="Calibri"/>
                <a:cs typeface="Calibri"/>
              </a:rPr>
              <a:t> </a:t>
            </a:r>
            <a:r>
              <a:rPr sz="2200" dirty="0">
                <a:solidFill>
                  <a:srgbClr val="3A5F85"/>
                </a:solidFill>
                <a:latin typeface="Calibri"/>
                <a:cs typeface="Calibri"/>
              </a:rPr>
              <a:t>the</a:t>
            </a:r>
            <a:r>
              <a:rPr sz="2200" spc="-20" dirty="0">
                <a:solidFill>
                  <a:srgbClr val="3A5F85"/>
                </a:solidFill>
                <a:latin typeface="Calibri"/>
                <a:cs typeface="Calibri"/>
              </a:rPr>
              <a:t> </a:t>
            </a:r>
            <a:r>
              <a:rPr sz="2200" dirty="0">
                <a:solidFill>
                  <a:srgbClr val="3A5F85"/>
                </a:solidFill>
                <a:latin typeface="Calibri"/>
                <a:cs typeface="Calibri"/>
              </a:rPr>
              <a:t>chart.</a:t>
            </a:r>
            <a:endParaRPr sz="2200" dirty="0">
              <a:latin typeface="Calibri"/>
              <a:cs typeface="Calibri"/>
            </a:endParaRPr>
          </a:p>
        </p:txBody>
      </p:sp>
      <p:grpSp>
        <p:nvGrpSpPr>
          <p:cNvPr id="7" name="object 7"/>
          <p:cNvGrpSpPr/>
          <p:nvPr/>
        </p:nvGrpSpPr>
        <p:grpSpPr>
          <a:xfrm>
            <a:off x="6012160" y="1916832"/>
            <a:ext cx="2520280" cy="3384376"/>
            <a:chOff x="7360411" y="699706"/>
            <a:chExt cx="4118483" cy="5477510"/>
          </a:xfrm>
        </p:grpSpPr>
        <p:sp>
          <p:nvSpPr>
            <p:cNvPr id="8" name="object 8"/>
            <p:cNvSpPr/>
            <p:nvPr/>
          </p:nvSpPr>
          <p:spPr>
            <a:xfrm>
              <a:off x="7360411" y="699706"/>
              <a:ext cx="4114800" cy="5477510"/>
            </a:xfrm>
            <a:custGeom>
              <a:avLst/>
              <a:gdLst/>
              <a:ahLst/>
              <a:cxnLst/>
              <a:rect l="l" t="t" r="r" b="b"/>
              <a:pathLst>
                <a:path w="4114800" h="5477510">
                  <a:moveTo>
                    <a:pt x="0" y="5477256"/>
                  </a:moveTo>
                  <a:lnTo>
                    <a:pt x="4114800" y="5477256"/>
                  </a:lnTo>
                  <a:lnTo>
                    <a:pt x="4114800" y="0"/>
                  </a:lnTo>
                  <a:lnTo>
                    <a:pt x="0" y="0"/>
                  </a:lnTo>
                  <a:lnTo>
                    <a:pt x="0" y="5477256"/>
                  </a:lnTo>
                  <a:close/>
                </a:path>
              </a:pathLst>
            </a:custGeom>
            <a:ln w="15875">
              <a:solidFill>
                <a:srgbClr val="3A5F85"/>
              </a:solidFill>
            </a:ln>
          </p:spPr>
          <p:txBody>
            <a:bodyPr wrap="square" lIns="0" tIns="0" rIns="0" bIns="0" rtlCol="0"/>
            <a:lstStyle/>
            <a:p>
              <a:endParaRPr/>
            </a:p>
          </p:txBody>
        </p:sp>
        <p:pic>
          <p:nvPicPr>
            <p:cNvPr id="9" name="object 9"/>
            <p:cNvPicPr/>
            <p:nvPr/>
          </p:nvPicPr>
          <p:blipFill>
            <a:blip r:embed="rId2" cstate="print"/>
            <a:stretch>
              <a:fillRect/>
            </a:stretch>
          </p:blipFill>
          <p:spPr>
            <a:xfrm>
              <a:off x="7427340" y="1225372"/>
              <a:ext cx="4051554" cy="4364101"/>
            </a:xfrm>
            <a:prstGeom prst="rect">
              <a:avLst/>
            </a:prstGeom>
          </p:spPr>
        </p:pic>
      </p:grpSp>
    </p:spTree>
    <p:extLst>
      <p:ext uri="{BB962C8B-B14F-4D97-AF65-F5344CB8AC3E}">
        <p14:creationId xmlns:p14="http://schemas.microsoft.com/office/powerpoint/2010/main" val="6950357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33730" y="482893"/>
            <a:ext cx="3850237" cy="629660"/>
          </a:xfrm>
          <a:prstGeom prst="rect">
            <a:avLst/>
          </a:prstGeom>
        </p:spPr>
        <p:txBody>
          <a:bodyPr vert="horz" wrap="square" lIns="0" tIns="13970" rIns="0" bIns="0" rtlCol="0">
            <a:spAutoFit/>
          </a:bodyPr>
          <a:lstStyle/>
          <a:p>
            <a:pPr marL="12700">
              <a:lnSpc>
                <a:spcPct val="100000"/>
              </a:lnSpc>
              <a:spcBef>
                <a:spcPts val="110"/>
              </a:spcBef>
            </a:pPr>
            <a:r>
              <a:rPr sz="4000" spc="-20" dirty="0">
                <a:solidFill>
                  <a:srgbClr val="000000"/>
                </a:solidFill>
                <a:latin typeface="Calibri Light"/>
                <a:cs typeface="Calibri Light"/>
              </a:rPr>
              <a:t>Histogram</a:t>
            </a:r>
            <a:endParaRPr sz="4000" dirty="0">
              <a:latin typeface="Calibri Light"/>
              <a:cs typeface="Calibri Light"/>
            </a:endParaRPr>
          </a:p>
        </p:txBody>
      </p:sp>
      <p:sp>
        <p:nvSpPr>
          <p:cNvPr id="3" name="object 3"/>
          <p:cNvSpPr/>
          <p:nvPr/>
        </p:nvSpPr>
        <p:spPr>
          <a:xfrm>
            <a:off x="0" y="1083463"/>
            <a:ext cx="65723" cy="673735"/>
          </a:xfrm>
          <a:custGeom>
            <a:avLst/>
            <a:gdLst/>
            <a:ahLst/>
            <a:cxnLst/>
            <a:rect l="l" t="t" r="r" b="b"/>
            <a:pathLst>
              <a:path w="87630" h="673735">
                <a:moveTo>
                  <a:pt x="87363" y="0"/>
                </a:moveTo>
                <a:lnTo>
                  <a:pt x="0" y="0"/>
                </a:lnTo>
                <a:lnTo>
                  <a:pt x="0" y="673455"/>
                </a:lnTo>
                <a:lnTo>
                  <a:pt x="87363" y="673455"/>
                </a:lnTo>
                <a:lnTo>
                  <a:pt x="87363" y="0"/>
                </a:lnTo>
                <a:close/>
              </a:path>
            </a:pathLst>
          </a:custGeom>
          <a:solidFill>
            <a:srgbClr val="FFC000"/>
          </a:solidFill>
        </p:spPr>
        <p:txBody>
          <a:bodyPr wrap="square" lIns="0" tIns="0" rIns="0" bIns="0" rtlCol="0"/>
          <a:lstStyle/>
          <a:p>
            <a:endParaRPr/>
          </a:p>
        </p:txBody>
      </p:sp>
      <p:sp>
        <p:nvSpPr>
          <p:cNvPr id="4" name="object 4"/>
          <p:cNvSpPr/>
          <p:nvPr/>
        </p:nvSpPr>
        <p:spPr>
          <a:xfrm>
            <a:off x="119510" y="1083463"/>
            <a:ext cx="147161" cy="673735"/>
          </a:xfrm>
          <a:custGeom>
            <a:avLst/>
            <a:gdLst/>
            <a:ahLst/>
            <a:cxnLst/>
            <a:rect l="l" t="t" r="r" b="b"/>
            <a:pathLst>
              <a:path w="196215" h="673735">
                <a:moveTo>
                  <a:pt x="195859" y="0"/>
                </a:moveTo>
                <a:lnTo>
                  <a:pt x="0" y="0"/>
                </a:lnTo>
                <a:lnTo>
                  <a:pt x="0" y="673455"/>
                </a:lnTo>
                <a:lnTo>
                  <a:pt x="195859" y="673455"/>
                </a:lnTo>
                <a:lnTo>
                  <a:pt x="195859" y="0"/>
                </a:lnTo>
                <a:close/>
              </a:path>
            </a:pathLst>
          </a:custGeom>
          <a:solidFill>
            <a:srgbClr val="FFC000"/>
          </a:solidFill>
        </p:spPr>
        <p:txBody>
          <a:bodyPr wrap="square" lIns="0" tIns="0" rIns="0" bIns="0" rtlCol="0"/>
          <a:lstStyle/>
          <a:p>
            <a:endParaRPr/>
          </a:p>
        </p:txBody>
      </p:sp>
      <p:sp>
        <p:nvSpPr>
          <p:cNvPr id="5" name="object 5"/>
          <p:cNvSpPr/>
          <p:nvPr/>
        </p:nvSpPr>
        <p:spPr>
          <a:xfrm>
            <a:off x="642358" y="1196752"/>
            <a:ext cx="3731419" cy="27940"/>
          </a:xfrm>
          <a:custGeom>
            <a:avLst/>
            <a:gdLst/>
            <a:ahLst/>
            <a:cxnLst/>
            <a:rect l="l" t="t" r="r" b="b"/>
            <a:pathLst>
              <a:path w="4975225" h="27939">
                <a:moveTo>
                  <a:pt x="4975098" y="0"/>
                </a:moveTo>
                <a:lnTo>
                  <a:pt x="0" y="0"/>
                </a:lnTo>
                <a:lnTo>
                  <a:pt x="0" y="27432"/>
                </a:lnTo>
                <a:lnTo>
                  <a:pt x="4975098" y="27432"/>
                </a:lnTo>
                <a:lnTo>
                  <a:pt x="4975098" y="0"/>
                </a:lnTo>
                <a:close/>
              </a:path>
            </a:pathLst>
          </a:custGeom>
          <a:solidFill>
            <a:srgbClr val="FFC000"/>
          </a:solidFill>
        </p:spPr>
        <p:txBody>
          <a:bodyPr wrap="square" lIns="0" tIns="0" rIns="0" bIns="0" rtlCol="0"/>
          <a:lstStyle/>
          <a:p>
            <a:endParaRPr/>
          </a:p>
        </p:txBody>
      </p:sp>
      <p:sp>
        <p:nvSpPr>
          <p:cNvPr id="6" name="object 6"/>
          <p:cNvSpPr txBox="1"/>
          <p:nvPr/>
        </p:nvSpPr>
        <p:spPr>
          <a:xfrm>
            <a:off x="564832" y="1358487"/>
            <a:ext cx="4464368" cy="1790875"/>
          </a:xfrm>
          <a:prstGeom prst="rect">
            <a:avLst/>
          </a:prstGeom>
        </p:spPr>
        <p:txBody>
          <a:bodyPr vert="horz" wrap="square" lIns="0" tIns="46355" rIns="0" bIns="0" rtlCol="0">
            <a:spAutoFit/>
          </a:bodyPr>
          <a:lstStyle/>
          <a:p>
            <a:pPr marL="241300" marR="5080" indent="-228600">
              <a:lnSpc>
                <a:spcPts val="2160"/>
              </a:lnSpc>
              <a:spcBef>
                <a:spcPts val="365"/>
              </a:spcBef>
              <a:buSzPct val="95000"/>
              <a:buFont typeface="Wingdings"/>
              <a:buChar char=""/>
              <a:tabLst>
                <a:tab pos="241300" algn="l"/>
                <a:tab pos="588645" algn="l"/>
                <a:tab pos="893444" algn="l"/>
                <a:tab pos="1819910" algn="l"/>
                <a:tab pos="2134235" algn="l"/>
                <a:tab pos="2179955" algn="l"/>
                <a:tab pos="2502535" algn="l"/>
                <a:tab pos="2707005" algn="l"/>
                <a:tab pos="3240405" algn="l"/>
                <a:tab pos="3719195" algn="l"/>
                <a:tab pos="3868420" algn="l"/>
                <a:tab pos="4289425" algn="l"/>
              </a:tabLst>
            </a:pPr>
            <a:r>
              <a:rPr sz="2000" spc="-5" dirty="0">
                <a:latin typeface="Calibri"/>
                <a:cs typeface="Calibri"/>
              </a:rPr>
              <a:t>A</a:t>
            </a:r>
            <a:r>
              <a:rPr sz="2000" dirty="0">
                <a:latin typeface="Calibri"/>
                <a:cs typeface="Calibri"/>
              </a:rPr>
              <a:t>	h</a:t>
            </a:r>
            <a:r>
              <a:rPr sz="2000" spc="-5" dirty="0">
                <a:latin typeface="Calibri"/>
                <a:cs typeface="Calibri"/>
              </a:rPr>
              <a:t>i</a:t>
            </a:r>
            <a:r>
              <a:rPr sz="2000" spc="-45" dirty="0">
                <a:latin typeface="Calibri"/>
                <a:cs typeface="Calibri"/>
              </a:rPr>
              <a:t>s</a:t>
            </a:r>
            <a:r>
              <a:rPr sz="2000" spc="-25" dirty="0">
                <a:latin typeface="Calibri"/>
                <a:cs typeface="Calibri"/>
              </a:rPr>
              <a:t>t</a:t>
            </a:r>
            <a:r>
              <a:rPr sz="2000" spc="-5" dirty="0">
                <a:latin typeface="Calibri"/>
                <a:cs typeface="Calibri"/>
              </a:rPr>
              <a:t>o</a:t>
            </a:r>
            <a:r>
              <a:rPr sz="2000" spc="15" dirty="0">
                <a:latin typeface="Calibri"/>
                <a:cs typeface="Calibri"/>
              </a:rPr>
              <a:t>g</a:t>
            </a:r>
            <a:r>
              <a:rPr sz="2000" spc="-55" dirty="0">
                <a:latin typeface="Calibri"/>
                <a:cs typeface="Calibri"/>
              </a:rPr>
              <a:t>r</a:t>
            </a:r>
            <a:r>
              <a:rPr sz="2000" spc="-10" dirty="0">
                <a:latin typeface="Calibri"/>
                <a:cs typeface="Calibri"/>
              </a:rPr>
              <a:t>am</a:t>
            </a:r>
            <a:r>
              <a:rPr sz="2000" dirty="0">
                <a:latin typeface="Calibri"/>
                <a:cs typeface="Calibri"/>
              </a:rPr>
              <a:t>	</a:t>
            </a:r>
            <a:r>
              <a:rPr sz="2000" spc="15" dirty="0">
                <a:latin typeface="Calibri"/>
                <a:cs typeface="Calibri"/>
              </a:rPr>
              <a:t>i</a:t>
            </a:r>
            <a:r>
              <a:rPr sz="2000" spc="-5" dirty="0">
                <a:latin typeface="Calibri"/>
                <a:cs typeface="Calibri"/>
              </a:rPr>
              <a:t>s</a:t>
            </a:r>
            <a:r>
              <a:rPr sz="2000" dirty="0">
                <a:latin typeface="Calibri"/>
                <a:cs typeface="Calibri"/>
              </a:rPr>
              <a:t>		</a:t>
            </a:r>
            <a:r>
              <a:rPr sz="2000" spc="-5" dirty="0">
                <a:latin typeface="Calibri"/>
                <a:cs typeface="Calibri"/>
              </a:rPr>
              <a:t>a</a:t>
            </a:r>
            <a:r>
              <a:rPr sz="2000" dirty="0">
                <a:latin typeface="Calibri"/>
                <a:cs typeface="Calibri"/>
              </a:rPr>
              <a:t>	</a:t>
            </a:r>
            <a:r>
              <a:rPr sz="2000" spc="-5" dirty="0">
                <a:latin typeface="Calibri"/>
                <a:cs typeface="Calibri"/>
              </a:rPr>
              <a:t>c</a:t>
            </a:r>
            <a:r>
              <a:rPr sz="2000" dirty="0">
                <a:latin typeface="Calibri"/>
                <a:cs typeface="Calibri"/>
              </a:rPr>
              <a:t>h</a:t>
            </a:r>
            <a:r>
              <a:rPr sz="2000" spc="-5" dirty="0">
                <a:latin typeface="Calibri"/>
                <a:cs typeface="Calibri"/>
              </a:rPr>
              <a:t>art</a:t>
            </a:r>
            <a:r>
              <a:rPr sz="2000" dirty="0">
                <a:latin typeface="Calibri"/>
                <a:cs typeface="Calibri"/>
              </a:rPr>
              <a:t>	</a:t>
            </a:r>
            <a:r>
              <a:rPr sz="2000" spc="20" dirty="0">
                <a:latin typeface="Calibri"/>
                <a:cs typeface="Calibri"/>
              </a:rPr>
              <a:t>t</a:t>
            </a:r>
            <a:r>
              <a:rPr sz="2000" dirty="0">
                <a:latin typeface="Calibri"/>
                <a:cs typeface="Calibri"/>
              </a:rPr>
              <a:t>h</a:t>
            </a:r>
            <a:r>
              <a:rPr sz="2000" spc="-25" dirty="0">
                <a:latin typeface="Calibri"/>
                <a:cs typeface="Calibri"/>
              </a:rPr>
              <a:t>a</a:t>
            </a:r>
            <a:r>
              <a:rPr sz="2000" spc="-5" dirty="0">
                <a:latin typeface="Calibri"/>
                <a:cs typeface="Calibri"/>
              </a:rPr>
              <a:t>t</a:t>
            </a:r>
            <a:r>
              <a:rPr sz="2000" dirty="0">
                <a:latin typeface="Calibri"/>
                <a:cs typeface="Calibri"/>
              </a:rPr>
              <a:t>		</a:t>
            </a:r>
            <a:r>
              <a:rPr sz="2000" spc="-20" dirty="0">
                <a:latin typeface="Calibri"/>
                <a:cs typeface="Calibri"/>
              </a:rPr>
              <a:t>s</a:t>
            </a:r>
            <a:r>
              <a:rPr sz="2000" dirty="0">
                <a:latin typeface="Calibri"/>
                <a:cs typeface="Calibri"/>
              </a:rPr>
              <a:t>h</a:t>
            </a:r>
            <a:r>
              <a:rPr sz="2000" spc="-5" dirty="0">
                <a:latin typeface="Calibri"/>
                <a:cs typeface="Calibri"/>
              </a:rPr>
              <a:t>o</a:t>
            </a:r>
            <a:r>
              <a:rPr sz="2000" spc="-45" dirty="0">
                <a:latin typeface="Calibri"/>
                <a:cs typeface="Calibri"/>
              </a:rPr>
              <a:t>w</a:t>
            </a:r>
            <a:r>
              <a:rPr sz="2000" spc="-5" dirty="0">
                <a:latin typeface="Calibri"/>
                <a:cs typeface="Calibri"/>
              </a:rPr>
              <a:t>s  </a:t>
            </a:r>
            <a:r>
              <a:rPr sz="2000" spc="-25" dirty="0">
                <a:latin typeface="Calibri"/>
                <a:cs typeface="Calibri"/>
              </a:rPr>
              <a:t>for		</a:t>
            </a:r>
            <a:r>
              <a:rPr sz="2000" spc="-5" dirty="0">
                <a:latin typeface="Calibri"/>
                <a:cs typeface="Calibri"/>
              </a:rPr>
              <a:t>intervals		</a:t>
            </a:r>
            <a:r>
              <a:rPr sz="2000" spc="5" dirty="0">
                <a:latin typeface="Calibri"/>
                <a:cs typeface="Calibri"/>
              </a:rPr>
              <a:t>of		</a:t>
            </a:r>
            <a:r>
              <a:rPr sz="2000" spc="-5" dirty="0">
                <a:latin typeface="Calibri"/>
                <a:cs typeface="Calibri"/>
              </a:rPr>
              <a:t>values	of	</a:t>
            </a:r>
            <a:r>
              <a:rPr sz="2000" spc="-5" dirty="0" smtClean="0">
                <a:latin typeface="Calibri"/>
                <a:cs typeface="Calibri"/>
              </a:rPr>
              <a:t>a</a:t>
            </a:r>
            <a:r>
              <a:rPr lang="en-US" sz="2000" spc="-5" dirty="0" smtClean="0">
                <a:latin typeface="Calibri"/>
                <a:cs typeface="Calibri"/>
              </a:rPr>
              <a:t> </a:t>
            </a:r>
            <a:r>
              <a:rPr lang="en-IN" sz="2000" spc="5" dirty="0" smtClean="0">
                <a:cs typeface="Calibri"/>
              </a:rPr>
              <a:t>f</a:t>
            </a:r>
            <a:r>
              <a:rPr lang="en-IN" sz="2000" spc="-30" dirty="0" smtClean="0">
                <a:cs typeface="Calibri"/>
              </a:rPr>
              <a:t>r</a:t>
            </a:r>
            <a:r>
              <a:rPr lang="en-IN" sz="2000" spc="-15" dirty="0" smtClean="0">
                <a:cs typeface="Calibri"/>
              </a:rPr>
              <a:t>e</a:t>
            </a:r>
            <a:r>
              <a:rPr lang="en-IN" sz="2000" dirty="0" smtClean="0">
                <a:cs typeface="Calibri"/>
              </a:rPr>
              <a:t>qu</a:t>
            </a:r>
            <a:r>
              <a:rPr lang="en-IN" sz="2000" spc="-15" dirty="0" smtClean="0">
                <a:cs typeface="Calibri"/>
              </a:rPr>
              <a:t>e</a:t>
            </a:r>
            <a:r>
              <a:rPr lang="en-IN" sz="2000" spc="25" dirty="0" smtClean="0">
                <a:cs typeface="Calibri"/>
              </a:rPr>
              <a:t>n</a:t>
            </a:r>
            <a:r>
              <a:rPr lang="en-IN" sz="2000" spc="-5" dirty="0" smtClean="0">
                <a:cs typeface="Calibri"/>
              </a:rPr>
              <a:t>ci</a:t>
            </a:r>
            <a:r>
              <a:rPr lang="en-IN" sz="2000" spc="5" dirty="0" smtClean="0">
                <a:cs typeface="Calibri"/>
              </a:rPr>
              <a:t>e</a:t>
            </a:r>
            <a:r>
              <a:rPr lang="en-IN" sz="2000" spc="-5" dirty="0" smtClean="0">
                <a:cs typeface="Calibri"/>
              </a:rPr>
              <a:t>s  </a:t>
            </a:r>
            <a:r>
              <a:rPr lang="en-IN" sz="2000" spc="-35" dirty="0" smtClean="0">
                <a:cs typeface="Calibri"/>
              </a:rPr>
              <a:t>c</a:t>
            </a:r>
            <a:r>
              <a:rPr lang="en-IN" sz="2000" spc="-5" dirty="0" smtClean="0">
                <a:cs typeface="Calibri"/>
              </a:rPr>
              <a:t>o</a:t>
            </a:r>
            <a:r>
              <a:rPr lang="en-IN" sz="2000" spc="-20" dirty="0" smtClean="0">
                <a:cs typeface="Calibri"/>
              </a:rPr>
              <a:t>n</a:t>
            </a:r>
            <a:r>
              <a:rPr lang="en-IN" sz="2000" spc="-5" dirty="0" smtClean="0">
                <a:cs typeface="Calibri"/>
              </a:rPr>
              <a:t>ti</a:t>
            </a:r>
            <a:r>
              <a:rPr lang="en-IN" sz="2000" spc="5" dirty="0" smtClean="0">
                <a:cs typeface="Calibri"/>
              </a:rPr>
              <a:t>n</a:t>
            </a:r>
            <a:r>
              <a:rPr lang="en-IN" sz="2000" dirty="0" smtClean="0">
                <a:cs typeface="Calibri"/>
              </a:rPr>
              <a:t>u</a:t>
            </a:r>
            <a:r>
              <a:rPr lang="en-IN" sz="2000" spc="-5" dirty="0" smtClean="0">
                <a:cs typeface="Calibri"/>
              </a:rPr>
              <a:t>o</a:t>
            </a:r>
            <a:r>
              <a:rPr lang="en-IN" sz="2000" dirty="0" smtClean="0">
                <a:cs typeface="Calibri"/>
              </a:rPr>
              <a:t>u</a:t>
            </a:r>
            <a:r>
              <a:rPr lang="en-IN" sz="2000" spc="-5" dirty="0" smtClean="0">
                <a:cs typeface="Calibri"/>
              </a:rPr>
              <a:t>s </a:t>
            </a:r>
            <a:r>
              <a:rPr lang="en-IN" sz="2000" spc="-10" dirty="0" smtClean="0">
                <a:cs typeface="Calibri"/>
              </a:rPr>
              <a:t>variable</a:t>
            </a:r>
            <a:r>
              <a:rPr lang="en-IN" sz="2000" spc="-10" dirty="0">
                <a:cs typeface="Calibri"/>
              </a:rPr>
              <a:t>.</a:t>
            </a:r>
            <a:r>
              <a:rPr lang="en-IN" sz="2000" spc="20" dirty="0">
                <a:cs typeface="Calibri"/>
              </a:rPr>
              <a:t> </a:t>
            </a:r>
            <a:r>
              <a:rPr lang="en-IN" sz="2000" b="1" i="1" spc="-5" dirty="0">
                <a:cs typeface="Calibri"/>
              </a:rPr>
              <a:t>Purpose:</a:t>
            </a:r>
            <a:r>
              <a:rPr lang="en-IN" sz="2000" b="1" i="1" spc="5" dirty="0">
                <a:cs typeface="Calibri"/>
              </a:rPr>
              <a:t> </a:t>
            </a:r>
            <a:r>
              <a:rPr lang="en-IN" sz="2000" i="1" spc="-10" dirty="0">
                <a:cs typeface="Calibri"/>
              </a:rPr>
              <a:t>Summarize</a:t>
            </a:r>
            <a:r>
              <a:rPr lang="en-IN" sz="2000" i="1" dirty="0">
                <a:cs typeface="Calibri"/>
              </a:rPr>
              <a:t> </a:t>
            </a:r>
            <a:r>
              <a:rPr lang="en-IN" sz="2000" i="1" spc="-5" dirty="0">
                <a:cs typeface="Calibri"/>
              </a:rPr>
              <a:t>a</a:t>
            </a:r>
            <a:r>
              <a:rPr lang="en-IN" sz="2000" i="1" spc="-15" dirty="0">
                <a:cs typeface="Calibri"/>
              </a:rPr>
              <a:t> </a:t>
            </a:r>
            <a:r>
              <a:rPr lang="en-IN" sz="2000" b="1" i="1" spc="-10" dirty="0">
                <a:cs typeface="Calibri"/>
              </a:rPr>
              <a:t>Univariate</a:t>
            </a:r>
            <a:r>
              <a:rPr lang="en-IN" sz="2000" b="1" i="1" spc="10" dirty="0">
                <a:cs typeface="Calibri"/>
              </a:rPr>
              <a:t> </a:t>
            </a:r>
            <a:r>
              <a:rPr lang="en-IN" sz="2000" b="1" i="1" spc="-15" dirty="0">
                <a:cs typeface="Calibri"/>
              </a:rPr>
              <a:t>Data</a:t>
            </a:r>
            <a:r>
              <a:rPr lang="en-IN" sz="2000" b="1" i="1" spc="5" dirty="0">
                <a:cs typeface="Calibri"/>
              </a:rPr>
              <a:t> </a:t>
            </a:r>
            <a:r>
              <a:rPr lang="en-IN" sz="2000" b="1" i="1" spc="-10" dirty="0">
                <a:cs typeface="Calibri"/>
              </a:rPr>
              <a:t>Set</a:t>
            </a:r>
            <a:endParaRPr lang="en-IN" sz="2000" dirty="0">
              <a:cs typeface="Calibri"/>
            </a:endParaRPr>
          </a:p>
          <a:p>
            <a:pPr marL="241300" marR="5080" indent="-228600">
              <a:lnSpc>
                <a:spcPts val="2160"/>
              </a:lnSpc>
              <a:spcBef>
                <a:spcPts val="365"/>
              </a:spcBef>
              <a:buSzPct val="95000"/>
              <a:buFont typeface="Wingdings"/>
              <a:buChar char=""/>
              <a:tabLst>
                <a:tab pos="241300" algn="l"/>
                <a:tab pos="588645" algn="l"/>
                <a:tab pos="893444" algn="l"/>
                <a:tab pos="1819910" algn="l"/>
                <a:tab pos="2134235" algn="l"/>
                <a:tab pos="2179955" algn="l"/>
                <a:tab pos="2502535" algn="l"/>
                <a:tab pos="2707005" algn="l"/>
                <a:tab pos="3240405" algn="l"/>
                <a:tab pos="3719195" algn="l"/>
                <a:tab pos="3868420" algn="l"/>
                <a:tab pos="4289425" algn="l"/>
              </a:tabLst>
            </a:pPr>
            <a:endParaRPr sz="2000" dirty="0">
              <a:latin typeface="Calibri"/>
              <a:cs typeface="Calibri"/>
            </a:endParaRPr>
          </a:p>
        </p:txBody>
      </p:sp>
      <p:sp>
        <p:nvSpPr>
          <p:cNvPr id="8" name="object 8"/>
          <p:cNvSpPr txBox="1"/>
          <p:nvPr/>
        </p:nvSpPr>
        <p:spPr>
          <a:xfrm>
            <a:off x="433731" y="2769812"/>
            <a:ext cx="4453414" cy="2907205"/>
          </a:xfrm>
          <a:prstGeom prst="rect">
            <a:avLst/>
          </a:prstGeom>
        </p:spPr>
        <p:txBody>
          <a:bodyPr vert="horz" wrap="square" lIns="0" tIns="110489" rIns="0" bIns="0" rtlCol="0">
            <a:spAutoFit/>
          </a:bodyPr>
          <a:lstStyle/>
          <a:p>
            <a:pPr marL="241300" marR="6985" indent="-228600" algn="just">
              <a:lnSpc>
                <a:spcPts val="2160"/>
              </a:lnSpc>
              <a:spcBef>
                <a:spcPts val="1040"/>
              </a:spcBef>
              <a:buSzPct val="95000"/>
              <a:buFont typeface="Wingdings"/>
              <a:buChar char=""/>
              <a:tabLst>
                <a:tab pos="241300" algn="l"/>
              </a:tabLst>
            </a:pPr>
            <a:r>
              <a:rPr sz="2000" spc="-5" dirty="0" smtClean="0">
                <a:latin typeface="Calibri"/>
                <a:cs typeface="Calibri"/>
              </a:rPr>
              <a:t>In</a:t>
            </a:r>
            <a:r>
              <a:rPr sz="2000" dirty="0" smtClean="0">
                <a:latin typeface="Calibri"/>
                <a:cs typeface="Calibri"/>
              </a:rPr>
              <a:t> </a:t>
            </a:r>
            <a:r>
              <a:rPr sz="2000" spc="-15" dirty="0">
                <a:latin typeface="Calibri"/>
                <a:cs typeface="Calibri"/>
              </a:rPr>
              <a:t>histogram</a:t>
            </a:r>
            <a:r>
              <a:rPr sz="2000" spc="-10" dirty="0">
                <a:latin typeface="Calibri"/>
                <a:cs typeface="Calibri"/>
              </a:rPr>
              <a:t> </a:t>
            </a:r>
            <a:r>
              <a:rPr sz="2000" spc="-5" dirty="0">
                <a:latin typeface="Calibri"/>
                <a:cs typeface="Calibri"/>
              </a:rPr>
              <a:t>of a</a:t>
            </a:r>
            <a:r>
              <a:rPr sz="2000" dirty="0">
                <a:latin typeface="Calibri"/>
                <a:cs typeface="Calibri"/>
              </a:rPr>
              <a:t> </a:t>
            </a:r>
            <a:r>
              <a:rPr sz="2000" spc="-10" dirty="0">
                <a:latin typeface="Calibri"/>
                <a:cs typeface="Calibri"/>
              </a:rPr>
              <a:t>continuous</a:t>
            </a:r>
            <a:r>
              <a:rPr sz="2000" spc="-5" dirty="0">
                <a:latin typeface="Calibri"/>
                <a:cs typeface="Calibri"/>
              </a:rPr>
              <a:t> </a:t>
            </a:r>
            <a:r>
              <a:rPr sz="2000" spc="-10" dirty="0">
                <a:latin typeface="Calibri"/>
                <a:cs typeface="Calibri"/>
              </a:rPr>
              <a:t>frequency</a:t>
            </a:r>
            <a:r>
              <a:rPr sz="2000" spc="-5" dirty="0">
                <a:latin typeface="Calibri"/>
                <a:cs typeface="Calibri"/>
              </a:rPr>
              <a:t> table,</a:t>
            </a:r>
            <a:r>
              <a:rPr sz="2000" dirty="0">
                <a:latin typeface="Calibri"/>
                <a:cs typeface="Calibri"/>
              </a:rPr>
              <a:t> </a:t>
            </a:r>
            <a:r>
              <a:rPr sz="2000" spc="-5" dirty="0">
                <a:latin typeface="Calibri"/>
                <a:cs typeface="Calibri"/>
              </a:rPr>
              <a:t>x-axis </a:t>
            </a:r>
            <a:r>
              <a:rPr sz="2000" dirty="0">
                <a:latin typeface="Calibri"/>
                <a:cs typeface="Calibri"/>
              </a:rPr>
              <a:t> </a:t>
            </a:r>
            <a:r>
              <a:rPr sz="2000" spc="-5" dirty="0">
                <a:latin typeface="Calibri"/>
                <a:cs typeface="Calibri"/>
              </a:rPr>
              <a:t>marks</a:t>
            </a:r>
            <a:r>
              <a:rPr sz="2000" dirty="0">
                <a:latin typeface="Calibri"/>
                <a:cs typeface="Calibri"/>
              </a:rPr>
              <a:t> class</a:t>
            </a:r>
            <a:r>
              <a:rPr sz="2000" spc="5" dirty="0">
                <a:latin typeface="Calibri"/>
                <a:cs typeface="Calibri"/>
              </a:rPr>
              <a:t> </a:t>
            </a:r>
            <a:r>
              <a:rPr sz="2000" spc="-5" dirty="0">
                <a:latin typeface="Calibri"/>
                <a:cs typeface="Calibri"/>
              </a:rPr>
              <a:t>intervals</a:t>
            </a:r>
            <a:r>
              <a:rPr sz="2000" dirty="0">
                <a:latin typeface="Calibri"/>
                <a:cs typeface="Calibri"/>
              </a:rPr>
              <a:t> </a:t>
            </a:r>
            <a:r>
              <a:rPr sz="2000" spc="-5" dirty="0">
                <a:latin typeface="Calibri"/>
                <a:cs typeface="Calibri"/>
              </a:rPr>
              <a:t>on</a:t>
            </a:r>
            <a:r>
              <a:rPr sz="2000" dirty="0">
                <a:latin typeface="Calibri"/>
                <a:cs typeface="Calibri"/>
              </a:rPr>
              <a:t> </a:t>
            </a:r>
            <a:r>
              <a:rPr sz="2000" spc="-5" dirty="0">
                <a:latin typeface="Calibri"/>
                <a:cs typeface="Calibri"/>
              </a:rPr>
              <a:t>a</a:t>
            </a:r>
            <a:r>
              <a:rPr sz="2000" dirty="0">
                <a:latin typeface="Calibri"/>
                <a:cs typeface="Calibri"/>
              </a:rPr>
              <a:t> </a:t>
            </a:r>
            <a:r>
              <a:rPr sz="2000" spc="-10" dirty="0">
                <a:latin typeface="Calibri"/>
                <a:cs typeface="Calibri"/>
              </a:rPr>
              <a:t>suitable</a:t>
            </a:r>
            <a:r>
              <a:rPr sz="2000" spc="-5" dirty="0">
                <a:latin typeface="Calibri"/>
                <a:cs typeface="Calibri"/>
              </a:rPr>
              <a:t> </a:t>
            </a:r>
            <a:r>
              <a:rPr sz="2000" spc="-10" dirty="0">
                <a:latin typeface="Calibri"/>
                <a:cs typeface="Calibri"/>
              </a:rPr>
              <a:t>scale</a:t>
            </a:r>
            <a:r>
              <a:rPr sz="2000" spc="-5" dirty="0">
                <a:latin typeface="Calibri"/>
                <a:cs typeface="Calibri"/>
              </a:rPr>
              <a:t> </a:t>
            </a:r>
            <a:r>
              <a:rPr sz="2000" dirty="0">
                <a:latin typeface="Calibri"/>
                <a:cs typeface="Calibri"/>
              </a:rPr>
              <a:t>and</a:t>
            </a:r>
            <a:r>
              <a:rPr sz="2000" spc="5" dirty="0">
                <a:latin typeface="Calibri"/>
                <a:cs typeface="Calibri"/>
              </a:rPr>
              <a:t> </a:t>
            </a:r>
            <a:r>
              <a:rPr sz="2000" spc="-10" dirty="0">
                <a:latin typeface="Calibri"/>
                <a:cs typeface="Calibri"/>
              </a:rPr>
              <a:t>y-axis </a:t>
            </a:r>
            <a:r>
              <a:rPr sz="2000" spc="-5" dirty="0">
                <a:latin typeface="Calibri"/>
                <a:cs typeface="Calibri"/>
              </a:rPr>
              <a:t> </a:t>
            </a:r>
            <a:r>
              <a:rPr sz="2000" spc="-10" dirty="0">
                <a:latin typeface="Calibri"/>
                <a:cs typeface="Calibri"/>
              </a:rPr>
              <a:t>marks</a:t>
            </a:r>
            <a:r>
              <a:rPr sz="2000" spc="35" dirty="0">
                <a:latin typeface="Calibri"/>
                <a:cs typeface="Calibri"/>
              </a:rPr>
              <a:t> </a:t>
            </a:r>
            <a:r>
              <a:rPr sz="2000" spc="-10" dirty="0">
                <a:latin typeface="Calibri"/>
                <a:cs typeface="Calibri"/>
              </a:rPr>
              <a:t>frequency</a:t>
            </a:r>
            <a:r>
              <a:rPr sz="2000" spc="45" dirty="0">
                <a:latin typeface="Calibri"/>
                <a:cs typeface="Calibri"/>
              </a:rPr>
              <a:t> </a:t>
            </a:r>
            <a:r>
              <a:rPr sz="2000" spc="-5" dirty="0">
                <a:latin typeface="Calibri"/>
                <a:cs typeface="Calibri"/>
              </a:rPr>
              <a:t>of </a:t>
            </a:r>
            <a:r>
              <a:rPr sz="2000" spc="-10" dirty="0">
                <a:latin typeface="Calibri"/>
                <a:cs typeface="Calibri"/>
              </a:rPr>
              <a:t>each</a:t>
            </a:r>
            <a:r>
              <a:rPr sz="2000" spc="15" dirty="0">
                <a:latin typeface="Calibri"/>
                <a:cs typeface="Calibri"/>
              </a:rPr>
              <a:t> </a:t>
            </a:r>
            <a:r>
              <a:rPr sz="2000" spc="-10" dirty="0">
                <a:latin typeface="Calibri"/>
                <a:cs typeface="Calibri"/>
              </a:rPr>
              <a:t>class</a:t>
            </a:r>
            <a:r>
              <a:rPr sz="2000" spc="40" dirty="0">
                <a:latin typeface="Calibri"/>
                <a:cs typeface="Calibri"/>
              </a:rPr>
              <a:t> </a:t>
            </a:r>
            <a:r>
              <a:rPr sz="2000" spc="-15" dirty="0">
                <a:latin typeface="Calibri"/>
                <a:cs typeface="Calibri"/>
              </a:rPr>
              <a:t>interval</a:t>
            </a:r>
            <a:endParaRPr sz="2000" dirty="0">
              <a:latin typeface="Calibri"/>
              <a:cs typeface="Calibri"/>
            </a:endParaRPr>
          </a:p>
          <a:p>
            <a:pPr marL="241300" marR="5080" indent="-228600" algn="just">
              <a:lnSpc>
                <a:spcPts val="2160"/>
              </a:lnSpc>
              <a:spcBef>
                <a:spcPts val="990"/>
              </a:spcBef>
              <a:buSzPct val="95000"/>
              <a:buFont typeface="Wingdings"/>
              <a:buChar char=""/>
              <a:tabLst>
                <a:tab pos="241300" algn="l"/>
              </a:tabLst>
            </a:pPr>
            <a:r>
              <a:rPr sz="2000" spc="-10" dirty="0">
                <a:latin typeface="Calibri"/>
                <a:cs typeface="Calibri"/>
              </a:rPr>
              <a:t>The </a:t>
            </a:r>
            <a:r>
              <a:rPr sz="2000" spc="-5" dirty="0">
                <a:latin typeface="Calibri"/>
                <a:cs typeface="Calibri"/>
              </a:rPr>
              <a:t>interval of </a:t>
            </a:r>
            <a:r>
              <a:rPr sz="2000" spc="-10" dirty="0">
                <a:latin typeface="Calibri"/>
                <a:cs typeface="Calibri"/>
              </a:rPr>
              <a:t>value </a:t>
            </a:r>
            <a:r>
              <a:rPr sz="2000" spc="5" dirty="0">
                <a:latin typeface="Calibri"/>
                <a:cs typeface="Calibri"/>
              </a:rPr>
              <a:t>is </a:t>
            </a:r>
            <a:r>
              <a:rPr sz="2000" spc="-5" dirty="0">
                <a:latin typeface="Calibri"/>
                <a:cs typeface="Calibri"/>
              </a:rPr>
              <a:t>known as </a:t>
            </a:r>
            <a:r>
              <a:rPr sz="2000" b="1" spc="-10" dirty="0">
                <a:latin typeface="Calibri"/>
                <a:cs typeface="Calibri"/>
              </a:rPr>
              <a:t>bin </a:t>
            </a:r>
            <a:r>
              <a:rPr sz="2000" spc="-5" dirty="0">
                <a:latin typeface="Calibri"/>
                <a:cs typeface="Calibri"/>
              </a:rPr>
              <a:t>and </a:t>
            </a:r>
            <a:r>
              <a:rPr sz="2000" spc="-10" dirty="0">
                <a:latin typeface="Calibri"/>
                <a:cs typeface="Calibri"/>
              </a:rPr>
              <a:t>they </a:t>
            </a:r>
            <a:r>
              <a:rPr sz="2000" spc="-5" dirty="0">
                <a:latin typeface="Calibri"/>
                <a:cs typeface="Calibri"/>
              </a:rPr>
              <a:t>all </a:t>
            </a:r>
            <a:r>
              <a:rPr sz="2000" spc="-20" dirty="0">
                <a:latin typeface="Calibri"/>
                <a:cs typeface="Calibri"/>
              </a:rPr>
              <a:t>have </a:t>
            </a:r>
            <a:r>
              <a:rPr sz="2000" spc="-15" dirty="0">
                <a:latin typeface="Calibri"/>
                <a:cs typeface="Calibri"/>
              </a:rPr>
              <a:t> </a:t>
            </a:r>
            <a:r>
              <a:rPr sz="2000" spc="-5" dirty="0">
                <a:latin typeface="Calibri"/>
                <a:cs typeface="Calibri"/>
              </a:rPr>
              <a:t>the</a:t>
            </a:r>
            <a:r>
              <a:rPr sz="2000" spc="-10" dirty="0">
                <a:latin typeface="Calibri"/>
                <a:cs typeface="Calibri"/>
              </a:rPr>
              <a:t> same</a:t>
            </a:r>
            <a:r>
              <a:rPr sz="2000" spc="40" dirty="0">
                <a:latin typeface="Calibri"/>
                <a:cs typeface="Calibri"/>
              </a:rPr>
              <a:t> </a:t>
            </a:r>
            <a:r>
              <a:rPr sz="2000" spc="-5" dirty="0">
                <a:latin typeface="Calibri"/>
                <a:cs typeface="Calibri"/>
              </a:rPr>
              <a:t>widths.</a:t>
            </a:r>
            <a:endParaRPr sz="2000" dirty="0">
              <a:latin typeface="Calibri"/>
              <a:cs typeface="Calibri"/>
            </a:endParaRPr>
          </a:p>
          <a:p>
            <a:pPr marL="241300" marR="7620" indent="-228600" algn="just">
              <a:lnSpc>
                <a:spcPts val="2160"/>
              </a:lnSpc>
              <a:spcBef>
                <a:spcPts val="1010"/>
              </a:spcBef>
              <a:buSzPct val="95000"/>
              <a:buFont typeface="Wingdings"/>
              <a:buChar char=""/>
              <a:tabLst>
                <a:tab pos="241300" algn="l"/>
              </a:tabLst>
            </a:pPr>
            <a:r>
              <a:rPr sz="2000" spc="-10" dirty="0">
                <a:latin typeface="Calibri"/>
                <a:cs typeface="Calibri"/>
              </a:rPr>
              <a:t>The </a:t>
            </a:r>
            <a:r>
              <a:rPr sz="2000" spc="-5" dirty="0">
                <a:latin typeface="Calibri"/>
                <a:cs typeface="Calibri"/>
              </a:rPr>
              <a:t>upper and </a:t>
            </a:r>
            <a:r>
              <a:rPr sz="2000" spc="-15" dirty="0">
                <a:latin typeface="Calibri"/>
                <a:cs typeface="Calibri"/>
              </a:rPr>
              <a:t>lower </a:t>
            </a:r>
            <a:r>
              <a:rPr sz="2000" dirty="0">
                <a:latin typeface="Calibri"/>
                <a:cs typeface="Calibri"/>
              </a:rPr>
              <a:t>class limits </a:t>
            </a:r>
            <a:r>
              <a:rPr sz="2000" spc="-5" dirty="0">
                <a:latin typeface="Calibri"/>
                <a:cs typeface="Calibri"/>
              </a:rPr>
              <a:t>of the </a:t>
            </a:r>
            <a:r>
              <a:rPr sz="2000" spc="-10" dirty="0">
                <a:latin typeface="Calibri"/>
                <a:cs typeface="Calibri"/>
              </a:rPr>
              <a:t>new exclusive </a:t>
            </a:r>
            <a:r>
              <a:rPr sz="2000" spc="-5" dirty="0">
                <a:latin typeface="Calibri"/>
                <a:cs typeface="Calibri"/>
              </a:rPr>
              <a:t> </a:t>
            </a:r>
            <a:r>
              <a:rPr sz="2000" dirty="0">
                <a:latin typeface="Calibri"/>
                <a:cs typeface="Calibri"/>
              </a:rPr>
              <a:t>type</a:t>
            </a:r>
            <a:r>
              <a:rPr sz="2000" spc="-5" dirty="0">
                <a:latin typeface="Calibri"/>
                <a:cs typeface="Calibri"/>
              </a:rPr>
              <a:t> </a:t>
            </a:r>
            <a:r>
              <a:rPr sz="2000" spc="-10" dirty="0">
                <a:latin typeface="Calibri"/>
                <a:cs typeface="Calibri"/>
              </a:rPr>
              <a:t>classes</a:t>
            </a:r>
            <a:r>
              <a:rPr sz="2000" spc="65" dirty="0">
                <a:latin typeface="Calibri"/>
                <a:cs typeface="Calibri"/>
              </a:rPr>
              <a:t> </a:t>
            </a:r>
            <a:r>
              <a:rPr sz="2000" spc="-15" dirty="0">
                <a:latin typeface="Calibri"/>
                <a:cs typeface="Calibri"/>
              </a:rPr>
              <a:t>are</a:t>
            </a:r>
            <a:r>
              <a:rPr sz="2000" spc="20" dirty="0">
                <a:latin typeface="Calibri"/>
                <a:cs typeface="Calibri"/>
              </a:rPr>
              <a:t> </a:t>
            </a:r>
            <a:r>
              <a:rPr sz="2000" spc="-5" dirty="0">
                <a:latin typeface="Calibri"/>
                <a:cs typeface="Calibri"/>
              </a:rPr>
              <a:t>known</a:t>
            </a:r>
            <a:r>
              <a:rPr sz="2000" spc="-10" dirty="0">
                <a:latin typeface="Calibri"/>
                <a:cs typeface="Calibri"/>
              </a:rPr>
              <a:t> </a:t>
            </a:r>
            <a:r>
              <a:rPr sz="2000" spc="-5" dirty="0">
                <a:latin typeface="Calibri"/>
                <a:cs typeface="Calibri"/>
              </a:rPr>
              <a:t>as</a:t>
            </a:r>
            <a:r>
              <a:rPr sz="2000" spc="15" dirty="0">
                <a:latin typeface="Calibri"/>
                <a:cs typeface="Calibri"/>
              </a:rPr>
              <a:t> </a:t>
            </a:r>
            <a:r>
              <a:rPr sz="2000" spc="-10" dirty="0">
                <a:latin typeface="Calibri"/>
                <a:cs typeface="Calibri"/>
              </a:rPr>
              <a:t>class</a:t>
            </a:r>
            <a:r>
              <a:rPr sz="2000" spc="40" dirty="0">
                <a:latin typeface="Calibri"/>
                <a:cs typeface="Calibri"/>
              </a:rPr>
              <a:t> </a:t>
            </a:r>
            <a:r>
              <a:rPr sz="2000" spc="-5" dirty="0">
                <a:latin typeface="Calibri"/>
                <a:cs typeface="Calibri"/>
              </a:rPr>
              <a:t>boundaries</a:t>
            </a:r>
            <a:endParaRPr sz="2000" dirty="0">
              <a:latin typeface="Calibri"/>
              <a:cs typeface="Calibri"/>
            </a:endParaRPr>
          </a:p>
        </p:txBody>
      </p:sp>
      <p:sp>
        <p:nvSpPr>
          <p:cNvPr id="9" name="object 9"/>
          <p:cNvSpPr txBox="1"/>
          <p:nvPr/>
        </p:nvSpPr>
        <p:spPr>
          <a:xfrm>
            <a:off x="433731" y="5780047"/>
            <a:ext cx="4451509" cy="893193"/>
          </a:xfrm>
          <a:prstGeom prst="rect">
            <a:avLst/>
          </a:prstGeom>
        </p:spPr>
        <p:txBody>
          <a:bodyPr vert="horz" wrap="square" lIns="0" tIns="46355" rIns="0" bIns="0" rtlCol="0">
            <a:spAutoFit/>
          </a:bodyPr>
          <a:lstStyle/>
          <a:p>
            <a:pPr marL="241300" marR="5080" indent="-228600">
              <a:lnSpc>
                <a:spcPts val="2160"/>
              </a:lnSpc>
              <a:spcBef>
                <a:spcPts val="365"/>
              </a:spcBef>
              <a:buSzPct val="95000"/>
              <a:buFont typeface="Wingdings"/>
              <a:buChar char=""/>
              <a:tabLst>
                <a:tab pos="241300" algn="l"/>
                <a:tab pos="1570355" algn="l"/>
                <a:tab pos="2158365" algn="l"/>
                <a:tab pos="2750185" algn="l"/>
                <a:tab pos="3155315" algn="l"/>
                <a:tab pos="3453765" algn="l"/>
                <a:tab pos="4204335" algn="l"/>
                <a:tab pos="4939030" algn="l"/>
              </a:tabLst>
            </a:pPr>
            <a:r>
              <a:rPr sz="2000" dirty="0">
                <a:latin typeface="Calibri"/>
                <a:cs typeface="Calibri"/>
              </a:rPr>
              <a:t>H</a:t>
            </a:r>
            <a:r>
              <a:rPr sz="2000" spc="-5" dirty="0">
                <a:latin typeface="Calibri"/>
                <a:cs typeface="Calibri"/>
              </a:rPr>
              <a:t>i</a:t>
            </a:r>
            <a:r>
              <a:rPr sz="2000" spc="-20" dirty="0">
                <a:latin typeface="Calibri"/>
                <a:cs typeface="Calibri"/>
              </a:rPr>
              <a:t>s</a:t>
            </a:r>
            <a:r>
              <a:rPr sz="2000" spc="-25" dirty="0">
                <a:latin typeface="Calibri"/>
                <a:cs typeface="Calibri"/>
              </a:rPr>
              <a:t>t</a:t>
            </a:r>
            <a:r>
              <a:rPr sz="2000" spc="-5" dirty="0">
                <a:latin typeface="Calibri"/>
                <a:cs typeface="Calibri"/>
              </a:rPr>
              <a:t>og</a:t>
            </a:r>
            <a:r>
              <a:rPr sz="2000" spc="-55" dirty="0">
                <a:latin typeface="Calibri"/>
                <a:cs typeface="Calibri"/>
              </a:rPr>
              <a:t>r</a:t>
            </a:r>
            <a:r>
              <a:rPr sz="2000" spc="20" dirty="0">
                <a:latin typeface="Calibri"/>
                <a:cs typeface="Calibri"/>
              </a:rPr>
              <a:t>a</a:t>
            </a:r>
            <a:r>
              <a:rPr sz="2000" spc="-20" dirty="0">
                <a:latin typeface="Calibri"/>
                <a:cs typeface="Calibri"/>
              </a:rPr>
              <a:t>m</a:t>
            </a:r>
            <a:r>
              <a:rPr sz="2000" spc="-5" dirty="0">
                <a:latin typeface="Calibri"/>
                <a:cs typeface="Calibri"/>
              </a:rPr>
              <a:t>s</a:t>
            </a:r>
            <a:r>
              <a:rPr sz="2000" dirty="0">
                <a:latin typeface="Calibri"/>
                <a:cs typeface="Calibri"/>
              </a:rPr>
              <a:t>	</a:t>
            </a:r>
            <a:r>
              <a:rPr sz="2000" spc="20" dirty="0">
                <a:latin typeface="Calibri"/>
                <a:cs typeface="Calibri"/>
              </a:rPr>
              <a:t>a</a:t>
            </a:r>
            <a:r>
              <a:rPr sz="2000" spc="-5" dirty="0">
                <a:latin typeface="Calibri"/>
                <a:cs typeface="Calibri"/>
              </a:rPr>
              <a:t>l</a:t>
            </a:r>
            <a:r>
              <a:rPr sz="2000" spc="-20" dirty="0">
                <a:latin typeface="Calibri"/>
                <a:cs typeface="Calibri"/>
              </a:rPr>
              <a:t>s</a:t>
            </a:r>
            <a:r>
              <a:rPr sz="2000" spc="-5" dirty="0">
                <a:latin typeface="Calibri"/>
                <a:cs typeface="Calibri"/>
              </a:rPr>
              <a:t>o</a:t>
            </a:r>
            <a:r>
              <a:rPr sz="2000" dirty="0">
                <a:latin typeface="Calibri"/>
                <a:cs typeface="Calibri"/>
              </a:rPr>
              <a:t>	</a:t>
            </a:r>
            <a:r>
              <a:rPr sz="2000" spc="-5" dirty="0">
                <a:latin typeface="Calibri"/>
                <a:cs typeface="Calibri"/>
              </a:rPr>
              <a:t>g</a:t>
            </a:r>
            <a:r>
              <a:rPr sz="2000" spc="10" dirty="0">
                <a:latin typeface="Calibri"/>
                <a:cs typeface="Calibri"/>
              </a:rPr>
              <a:t>i</a:t>
            </a:r>
            <a:r>
              <a:rPr sz="2000" spc="-20" dirty="0">
                <a:latin typeface="Calibri"/>
                <a:cs typeface="Calibri"/>
              </a:rPr>
              <a:t>v</a:t>
            </a:r>
            <a:r>
              <a:rPr sz="2000" spc="-5" dirty="0">
                <a:latin typeface="Calibri"/>
                <a:cs typeface="Calibri"/>
              </a:rPr>
              <a:t>e</a:t>
            </a:r>
            <a:r>
              <a:rPr sz="2000" dirty="0">
                <a:latin typeface="Calibri"/>
                <a:cs typeface="Calibri"/>
              </a:rPr>
              <a:t>	u</a:t>
            </a:r>
            <a:r>
              <a:rPr sz="2000" spc="-5" dirty="0">
                <a:latin typeface="Calibri"/>
                <a:cs typeface="Calibri"/>
              </a:rPr>
              <a:t>s</a:t>
            </a:r>
            <a:r>
              <a:rPr sz="2000" dirty="0">
                <a:latin typeface="Calibri"/>
                <a:cs typeface="Calibri"/>
              </a:rPr>
              <a:t>	</a:t>
            </a:r>
            <a:r>
              <a:rPr sz="2000" spc="-5" dirty="0">
                <a:latin typeface="Calibri"/>
                <a:cs typeface="Calibri"/>
              </a:rPr>
              <a:t>a</a:t>
            </a:r>
            <a:r>
              <a:rPr sz="2000" dirty="0">
                <a:latin typeface="Calibri"/>
                <a:cs typeface="Calibri"/>
              </a:rPr>
              <a:t>	</a:t>
            </a:r>
            <a:r>
              <a:rPr sz="2000" spc="-20" dirty="0" smtClean="0">
                <a:latin typeface="Calibri"/>
                <a:cs typeface="Calibri"/>
              </a:rPr>
              <a:t>m</a:t>
            </a:r>
            <a:r>
              <a:rPr sz="2000" dirty="0" smtClean="0">
                <a:latin typeface="Calibri"/>
                <a:cs typeface="Calibri"/>
              </a:rPr>
              <a:t>u</a:t>
            </a:r>
            <a:r>
              <a:rPr sz="2000" spc="-5" dirty="0" smtClean="0">
                <a:latin typeface="Calibri"/>
                <a:cs typeface="Calibri"/>
              </a:rPr>
              <a:t>ch</a:t>
            </a:r>
            <a:r>
              <a:rPr sz="2000" dirty="0" smtClean="0">
                <a:latin typeface="Calibri"/>
                <a:cs typeface="Calibri"/>
              </a:rPr>
              <a:t>	</a:t>
            </a:r>
            <a:r>
              <a:rPr sz="2000" b="1" spc="-5" dirty="0" smtClean="0">
                <a:latin typeface="Calibri"/>
                <a:cs typeface="Calibri"/>
              </a:rPr>
              <a:t>mo</a:t>
            </a:r>
            <a:r>
              <a:rPr sz="2000" b="1" spc="-20" dirty="0" smtClean="0">
                <a:latin typeface="Calibri"/>
                <a:cs typeface="Calibri"/>
              </a:rPr>
              <a:t>r</a:t>
            </a:r>
            <a:r>
              <a:rPr sz="2000" b="1" spc="-5" dirty="0" smtClean="0">
                <a:latin typeface="Calibri"/>
                <a:cs typeface="Calibri"/>
              </a:rPr>
              <a:t>e</a:t>
            </a:r>
            <a:r>
              <a:rPr lang="en-US" sz="2000" b="1" spc="-5" dirty="0" smtClean="0">
                <a:latin typeface="Calibri"/>
                <a:cs typeface="Calibri"/>
              </a:rPr>
              <a:t> </a:t>
            </a:r>
            <a:r>
              <a:rPr sz="2000" b="1" dirty="0">
                <a:latin typeface="Calibri"/>
                <a:cs typeface="Calibri"/>
              </a:rPr>
              <a:t>	co</a:t>
            </a:r>
            <a:r>
              <a:rPr sz="2000" b="1" spc="-25" dirty="0">
                <a:latin typeface="Calibri"/>
                <a:cs typeface="Calibri"/>
              </a:rPr>
              <a:t>m</a:t>
            </a:r>
            <a:r>
              <a:rPr sz="2000" b="1" dirty="0">
                <a:latin typeface="Calibri"/>
                <a:cs typeface="Calibri"/>
              </a:rPr>
              <a:t>p</a:t>
            </a:r>
            <a:r>
              <a:rPr sz="2000" b="1" spc="-15" dirty="0">
                <a:latin typeface="Calibri"/>
                <a:cs typeface="Calibri"/>
              </a:rPr>
              <a:t>l</a:t>
            </a:r>
            <a:r>
              <a:rPr sz="2000" b="1" spc="-25" dirty="0">
                <a:latin typeface="Calibri"/>
                <a:cs typeface="Calibri"/>
              </a:rPr>
              <a:t>et</a:t>
            </a:r>
            <a:r>
              <a:rPr sz="2000" b="1" spc="-5" dirty="0">
                <a:latin typeface="Calibri"/>
                <a:cs typeface="Calibri"/>
              </a:rPr>
              <a:t>e  </a:t>
            </a:r>
            <a:r>
              <a:rPr sz="2000" b="1" spc="-10" dirty="0">
                <a:latin typeface="Calibri"/>
                <a:cs typeface="Calibri"/>
              </a:rPr>
              <a:t>information</a:t>
            </a:r>
            <a:r>
              <a:rPr sz="2000" b="1" dirty="0">
                <a:latin typeface="Calibri"/>
                <a:cs typeface="Calibri"/>
              </a:rPr>
              <a:t> </a:t>
            </a:r>
            <a:r>
              <a:rPr sz="2000" spc="-5" dirty="0">
                <a:latin typeface="Calibri"/>
                <a:cs typeface="Calibri"/>
              </a:rPr>
              <a:t>about</a:t>
            </a:r>
            <a:r>
              <a:rPr sz="2000" spc="-10" dirty="0">
                <a:latin typeface="Calibri"/>
                <a:cs typeface="Calibri"/>
              </a:rPr>
              <a:t> </a:t>
            </a:r>
            <a:r>
              <a:rPr sz="2000" spc="-5" dirty="0">
                <a:latin typeface="Calibri"/>
                <a:cs typeface="Calibri"/>
              </a:rPr>
              <a:t>our</a:t>
            </a:r>
            <a:r>
              <a:rPr sz="2000" spc="-15" dirty="0">
                <a:latin typeface="Calibri"/>
                <a:cs typeface="Calibri"/>
              </a:rPr>
              <a:t> </a:t>
            </a:r>
            <a:r>
              <a:rPr sz="2000" spc="-10" dirty="0">
                <a:latin typeface="Calibri"/>
                <a:cs typeface="Calibri"/>
              </a:rPr>
              <a:t>data.</a:t>
            </a:r>
            <a:endParaRPr sz="2000" dirty="0">
              <a:latin typeface="Calibri"/>
              <a:cs typeface="Calibri"/>
            </a:endParaRPr>
          </a:p>
        </p:txBody>
      </p:sp>
      <p:grpSp>
        <p:nvGrpSpPr>
          <p:cNvPr id="10" name="object 10"/>
          <p:cNvGrpSpPr/>
          <p:nvPr/>
        </p:nvGrpSpPr>
        <p:grpSpPr>
          <a:xfrm>
            <a:off x="5029200" y="0"/>
            <a:ext cx="4114800" cy="6858000"/>
            <a:chOff x="6705600" y="0"/>
            <a:chExt cx="5486400" cy="6858000"/>
          </a:xfrm>
        </p:grpSpPr>
        <p:sp>
          <p:nvSpPr>
            <p:cNvPr id="11" name="object 11"/>
            <p:cNvSpPr/>
            <p:nvPr/>
          </p:nvSpPr>
          <p:spPr>
            <a:xfrm>
              <a:off x="10697717" y="0"/>
              <a:ext cx="1494790" cy="6858000"/>
            </a:xfrm>
            <a:custGeom>
              <a:avLst/>
              <a:gdLst/>
              <a:ahLst/>
              <a:cxnLst/>
              <a:rect l="l" t="t" r="r" b="b"/>
              <a:pathLst>
                <a:path w="1494790" h="6858000">
                  <a:moveTo>
                    <a:pt x="1494281" y="0"/>
                  </a:moveTo>
                  <a:lnTo>
                    <a:pt x="0" y="0"/>
                  </a:lnTo>
                  <a:lnTo>
                    <a:pt x="0" y="6858000"/>
                  </a:lnTo>
                  <a:lnTo>
                    <a:pt x="1494281" y="6858000"/>
                  </a:lnTo>
                  <a:lnTo>
                    <a:pt x="1494281" y="0"/>
                  </a:lnTo>
                  <a:close/>
                </a:path>
              </a:pathLst>
            </a:custGeom>
            <a:solidFill>
              <a:srgbClr val="FFC000"/>
            </a:solidFill>
          </p:spPr>
          <p:txBody>
            <a:bodyPr wrap="square" lIns="0" tIns="0" rIns="0" bIns="0" rtlCol="0"/>
            <a:lstStyle/>
            <a:p>
              <a:endParaRPr/>
            </a:p>
          </p:txBody>
        </p:sp>
        <p:pic>
          <p:nvPicPr>
            <p:cNvPr id="12" name="object 12"/>
            <p:cNvPicPr/>
            <p:nvPr/>
          </p:nvPicPr>
          <p:blipFill>
            <a:blip r:embed="rId2" cstate="print"/>
            <a:stretch>
              <a:fillRect/>
            </a:stretch>
          </p:blipFill>
          <p:spPr>
            <a:xfrm>
              <a:off x="6705600" y="341376"/>
              <a:ext cx="5132832" cy="3209544"/>
            </a:xfrm>
            <a:prstGeom prst="rect">
              <a:avLst/>
            </a:prstGeom>
          </p:spPr>
        </p:pic>
        <p:sp>
          <p:nvSpPr>
            <p:cNvPr id="13" name="object 13"/>
            <p:cNvSpPr/>
            <p:nvPr/>
          </p:nvSpPr>
          <p:spPr>
            <a:xfrm>
              <a:off x="6849745" y="357504"/>
              <a:ext cx="4845685" cy="2923540"/>
            </a:xfrm>
            <a:custGeom>
              <a:avLst/>
              <a:gdLst/>
              <a:ahLst/>
              <a:cxnLst/>
              <a:rect l="l" t="t" r="r" b="b"/>
              <a:pathLst>
                <a:path w="4845684" h="2923540">
                  <a:moveTo>
                    <a:pt x="4845431" y="0"/>
                  </a:moveTo>
                  <a:lnTo>
                    <a:pt x="0" y="0"/>
                  </a:lnTo>
                  <a:lnTo>
                    <a:pt x="0" y="2923540"/>
                  </a:lnTo>
                  <a:lnTo>
                    <a:pt x="4845431" y="2923540"/>
                  </a:lnTo>
                  <a:lnTo>
                    <a:pt x="4845431" y="0"/>
                  </a:lnTo>
                  <a:close/>
                </a:path>
              </a:pathLst>
            </a:custGeom>
            <a:solidFill>
              <a:srgbClr val="FFFFFF"/>
            </a:solidFill>
          </p:spPr>
          <p:txBody>
            <a:bodyPr wrap="square" lIns="0" tIns="0" rIns="0" bIns="0" rtlCol="0"/>
            <a:lstStyle/>
            <a:p>
              <a:endParaRPr/>
            </a:p>
          </p:txBody>
        </p:sp>
        <p:pic>
          <p:nvPicPr>
            <p:cNvPr id="14" name="object 14"/>
            <p:cNvPicPr/>
            <p:nvPr/>
          </p:nvPicPr>
          <p:blipFill>
            <a:blip r:embed="rId3" cstate="print"/>
            <a:stretch>
              <a:fillRect/>
            </a:stretch>
          </p:blipFill>
          <p:spPr>
            <a:xfrm>
              <a:off x="7083425" y="351917"/>
              <a:ext cx="4613148" cy="2691256"/>
            </a:xfrm>
            <a:prstGeom prst="rect">
              <a:avLst/>
            </a:prstGeom>
          </p:spPr>
        </p:pic>
        <p:pic>
          <p:nvPicPr>
            <p:cNvPr id="15" name="object 15"/>
            <p:cNvPicPr/>
            <p:nvPr/>
          </p:nvPicPr>
          <p:blipFill>
            <a:blip r:embed="rId2" cstate="print"/>
            <a:stretch>
              <a:fillRect/>
            </a:stretch>
          </p:blipFill>
          <p:spPr>
            <a:xfrm>
              <a:off x="6705600" y="3489960"/>
              <a:ext cx="5132832" cy="3209544"/>
            </a:xfrm>
            <a:prstGeom prst="rect">
              <a:avLst/>
            </a:prstGeom>
          </p:spPr>
        </p:pic>
        <p:sp>
          <p:nvSpPr>
            <p:cNvPr id="16" name="object 16"/>
            <p:cNvSpPr/>
            <p:nvPr/>
          </p:nvSpPr>
          <p:spPr>
            <a:xfrm>
              <a:off x="6849745" y="3505530"/>
              <a:ext cx="4845685" cy="2923540"/>
            </a:xfrm>
            <a:custGeom>
              <a:avLst/>
              <a:gdLst/>
              <a:ahLst/>
              <a:cxnLst/>
              <a:rect l="l" t="t" r="r" b="b"/>
              <a:pathLst>
                <a:path w="4845684" h="2923540">
                  <a:moveTo>
                    <a:pt x="4845431" y="0"/>
                  </a:moveTo>
                  <a:lnTo>
                    <a:pt x="0" y="0"/>
                  </a:lnTo>
                  <a:lnTo>
                    <a:pt x="0" y="2923540"/>
                  </a:lnTo>
                  <a:lnTo>
                    <a:pt x="4845431" y="2923540"/>
                  </a:lnTo>
                  <a:lnTo>
                    <a:pt x="4845431" y="0"/>
                  </a:lnTo>
                  <a:close/>
                </a:path>
              </a:pathLst>
            </a:custGeom>
            <a:solidFill>
              <a:srgbClr val="FFFFFF"/>
            </a:solidFill>
          </p:spPr>
          <p:txBody>
            <a:bodyPr wrap="square" lIns="0" tIns="0" rIns="0" bIns="0" rtlCol="0"/>
            <a:lstStyle/>
            <a:p>
              <a:endParaRPr/>
            </a:p>
          </p:txBody>
        </p:sp>
        <p:pic>
          <p:nvPicPr>
            <p:cNvPr id="17" name="object 17"/>
            <p:cNvPicPr/>
            <p:nvPr/>
          </p:nvPicPr>
          <p:blipFill>
            <a:blip r:embed="rId4" cstate="print"/>
            <a:stretch>
              <a:fillRect/>
            </a:stretch>
          </p:blipFill>
          <p:spPr>
            <a:xfrm>
              <a:off x="7083425" y="3707853"/>
              <a:ext cx="4625594" cy="2518791"/>
            </a:xfrm>
            <a:prstGeom prst="rect">
              <a:avLst/>
            </a:prstGeom>
          </p:spPr>
        </p:pic>
      </p:grpSp>
    </p:spTree>
    <p:extLst>
      <p:ext uri="{BB962C8B-B14F-4D97-AF65-F5344CB8AC3E}">
        <p14:creationId xmlns:p14="http://schemas.microsoft.com/office/powerpoint/2010/main" val="31275743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57183" y="0"/>
            <a:ext cx="8920163" cy="2918460"/>
            <a:chOff x="89138" y="274700"/>
            <a:chExt cx="11893550" cy="2918460"/>
          </a:xfrm>
        </p:grpSpPr>
        <p:pic>
          <p:nvPicPr>
            <p:cNvPr id="3" name="object 3"/>
            <p:cNvPicPr/>
            <p:nvPr/>
          </p:nvPicPr>
          <p:blipFill>
            <a:blip r:embed="rId3" cstate="print"/>
            <a:stretch>
              <a:fillRect/>
            </a:stretch>
          </p:blipFill>
          <p:spPr>
            <a:xfrm>
              <a:off x="89138" y="274700"/>
              <a:ext cx="4293108" cy="2852420"/>
            </a:xfrm>
            <a:prstGeom prst="rect">
              <a:avLst/>
            </a:prstGeom>
          </p:spPr>
        </p:pic>
        <p:pic>
          <p:nvPicPr>
            <p:cNvPr id="4" name="object 4"/>
            <p:cNvPicPr/>
            <p:nvPr/>
          </p:nvPicPr>
          <p:blipFill>
            <a:blip r:embed="rId4" cstate="print"/>
            <a:stretch>
              <a:fillRect/>
            </a:stretch>
          </p:blipFill>
          <p:spPr>
            <a:xfrm>
              <a:off x="8031226" y="358012"/>
              <a:ext cx="3950843" cy="2820797"/>
            </a:xfrm>
            <a:prstGeom prst="rect">
              <a:avLst/>
            </a:prstGeom>
          </p:spPr>
        </p:pic>
        <p:pic>
          <p:nvPicPr>
            <p:cNvPr id="5" name="object 5"/>
            <p:cNvPicPr/>
            <p:nvPr/>
          </p:nvPicPr>
          <p:blipFill>
            <a:blip r:embed="rId5" cstate="print"/>
            <a:stretch>
              <a:fillRect/>
            </a:stretch>
          </p:blipFill>
          <p:spPr>
            <a:xfrm>
              <a:off x="4249927" y="329183"/>
              <a:ext cx="3792728" cy="2863976"/>
            </a:xfrm>
            <a:prstGeom prst="rect">
              <a:avLst/>
            </a:prstGeom>
          </p:spPr>
        </p:pic>
      </p:grpSp>
      <p:sp>
        <p:nvSpPr>
          <p:cNvPr id="6" name="object 6"/>
          <p:cNvSpPr txBox="1"/>
          <p:nvPr/>
        </p:nvSpPr>
        <p:spPr>
          <a:xfrm>
            <a:off x="66310" y="2677500"/>
            <a:ext cx="2762726" cy="820738"/>
          </a:xfrm>
          <a:prstGeom prst="rect">
            <a:avLst/>
          </a:prstGeom>
        </p:spPr>
        <p:txBody>
          <a:bodyPr vert="horz" wrap="square" lIns="0" tIns="12700" rIns="0" bIns="0" rtlCol="0">
            <a:spAutoFit/>
          </a:bodyPr>
          <a:lstStyle/>
          <a:p>
            <a:pPr marL="12700">
              <a:lnSpc>
                <a:spcPts val="2135"/>
              </a:lnSpc>
              <a:spcBef>
                <a:spcPts val="100"/>
              </a:spcBef>
            </a:pPr>
            <a:r>
              <a:rPr sz="1800" dirty="0">
                <a:solidFill>
                  <a:srgbClr val="767673"/>
                </a:solidFill>
                <a:latin typeface="Arial MT"/>
                <a:cs typeface="Arial MT"/>
              </a:rPr>
              <a:t>histograms</a:t>
            </a:r>
            <a:r>
              <a:rPr sz="1800" spc="-65" dirty="0">
                <a:solidFill>
                  <a:srgbClr val="767673"/>
                </a:solidFill>
                <a:latin typeface="Arial MT"/>
                <a:cs typeface="Arial MT"/>
              </a:rPr>
              <a:t> </a:t>
            </a:r>
            <a:r>
              <a:rPr sz="1800" dirty="0">
                <a:solidFill>
                  <a:srgbClr val="767673"/>
                </a:solidFill>
                <a:latin typeface="Arial MT"/>
                <a:cs typeface="Arial MT"/>
              </a:rPr>
              <a:t>to</a:t>
            </a:r>
            <a:r>
              <a:rPr sz="1800" spc="-25" dirty="0">
                <a:solidFill>
                  <a:srgbClr val="767673"/>
                </a:solidFill>
                <a:latin typeface="Arial MT"/>
                <a:cs typeface="Arial MT"/>
              </a:rPr>
              <a:t> </a:t>
            </a:r>
            <a:r>
              <a:rPr sz="1800" dirty="0">
                <a:solidFill>
                  <a:srgbClr val="767673"/>
                </a:solidFill>
                <a:latin typeface="Arial MT"/>
                <a:cs typeface="Arial MT"/>
              </a:rPr>
              <a:t>understand</a:t>
            </a:r>
            <a:r>
              <a:rPr sz="1800" spc="-70" dirty="0">
                <a:solidFill>
                  <a:srgbClr val="767673"/>
                </a:solidFill>
                <a:latin typeface="Arial MT"/>
                <a:cs typeface="Arial MT"/>
              </a:rPr>
              <a:t> </a:t>
            </a:r>
            <a:r>
              <a:rPr sz="1800" dirty="0">
                <a:solidFill>
                  <a:srgbClr val="767673"/>
                </a:solidFill>
                <a:latin typeface="Arial MT"/>
                <a:cs typeface="Arial MT"/>
              </a:rPr>
              <a:t>the</a:t>
            </a:r>
            <a:r>
              <a:rPr sz="1800" spc="-25" dirty="0">
                <a:solidFill>
                  <a:srgbClr val="767673"/>
                </a:solidFill>
                <a:latin typeface="Arial MT"/>
                <a:cs typeface="Arial MT"/>
              </a:rPr>
              <a:t> </a:t>
            </a:r>
            <a:r>
              <a:rPr sz="1800" dirty="0">
                <a:solidFill>
                  <a:srgbClr val="767673"/>
                </a:solidFill>
                <a:latin typeface="Arial MT"/>
                <a:cs typeface="Arial MT"/>
              </a:rPr>
              <a:t>center</a:t>
            </a:r>
            <a:endParaRPr sz="1800" dirty="0">
              <a:latin typeface="Arial MT"/>
              <a:cs typeface="Arial MT"/>
            </a:endParaRPr>
          </a:p>
          <a:p>
            <a:pPr marL="12700">
              <a:lnSpc>
                <a:spcPts val="2135"/>
              </a:lnSpc>
            </a:pPr>
            <a:r>
              <a:rPr sz="1800" dirty="0">
                <a:solidFill>
                  <a:srgbClr val="767673"/>
                </a:solidFill>
                <a:latin typeface="Arial MT"/>
                <a:cs typeface="Arial MT"/>
              </a:rPr>
              <a:t>of</a:t>
            </a:r>
            <a:r>
              <a:rPr sz="1800" spc="-45" dirty="0">
                <a:solidFill>
                  <a:srgbClr val="767673"/>
                </a:solidFill>
                <a:latin typeface="Arial MT"/>
                <a:cs typeface="Arial MT"/>
              </a:rPr>
              <a:t> </a:t>
            </a:r>
            <a:r>
              <a:rPr sz="1800" dirty="0">
                <a:solidFill>
                  <a:srgbClr val="767673"/>
                </a:solidFill>
                <a:latin typeface="Arial MT"/>
                <a:cs typeface="Arial MT"/>
              </a:rPr>
              <a:t>the</a:t>
            </a:r>
            <a:r>
              <a:rPr sz="1800" spc="-40" dirty="0">
                <a:solidFill>
                  <a:srgbClr val="767673"/>
                </a:solidFill>
                <a:latin typeface="Arial MT"/>
                <a:cs typeface="Arial MT"/>
              </a:rPr>
              <a:t> </a:t>
            </a:r>
            <a:r>
              <a:rPr sz="1800" dirty="0">
                <a:solidFill>
                  <a:srgbClr val="767673"/>
                </a:solidFill>
                <a:latin typeface="Arial MT"/>
                <a:cs typeface="Arial MT"/>
              </a:rPr>
              <a:t>data.</a:t>
            </a:r>
            <a:endParaRPr sz="1800" dirty="0">
              <a:latin typeface="Arial MT"/>
              <a:cs typeface="Arial MT"/>
            </a:endParaRPr>
          </a:p>
        </p:txBody>
      </p:sp>
      <p:sp>
        <p:nvSpPr>
          <p:cNvPr id="7" name="object 7"/>
          <p:cNvSpPr txBox="1"/>
          <p:nvPr/>
        </p:nvSpPr>
        <p:spPr>
          <a:xfrm>
            <a:off x="6141044" y="2807676"/>
            <a:ext cx="2894171" cy="820738"/>
          </a:xfrm>
          <a:prstGeom prst="rect">
            <a:avLst/>
          </a:prstGeom>
        </p:spPr>
        <p:txBody>
          <a:bodyPr vert="horz" wrap="square" lIns="0" tIns="12700" rIns="0" bIns="0" rtlCol="0">
            <a:spAutoFit/>
          </a:bodyPr>
          <a:lstStyle/>
          <a:p>
            <a:pPr marL="12700">
              <a:lnSpc>
                <a:spcPts val="2135"/>
              </a:lnSpc>
              <a:spcBef>
                <a:spcPts val="100"/>
              </a:spcBef>
            </a:pPr>
            <a:r>
              <a:rPr sz="1800" dirty="0">
                <a:solidFill>
                  <a:srgbClr val="767673"/>
                </a:solidFill>
                <a:latin typeface="Arial MT"/>
                <a:cs typeface="Arial MT"/>
              </a:rPr>
              <a:t>histograms</a:t>
            </a:r>
            <a:r>
              <a:rPr sz="1800" spc="-65" dirty="0">
                <a:solidFill>
                  <a:srgbClr val="767673"/>
                </a:solidFill>
                <a:latin typeface="Arial MT"/>
                <a:cs typeface="Arial MT"/>
              </a:rPr>
              <a:t> </a:t>
            </a:r>
            <a:r>
              <a:rPr sz="1800" dirty="0">
                <a:solidFill>
                  <a:srgbClr val="767673"/>
                </a:solidFill>
                <a:latin typeface="Arial MT"/>
                <a:cs typeface="Arial MT"/>
              </a:rPr>
              <a:t>help</a:t>
            </a:r>
            <a:r>
              <a:rPr sz="1800" spc="-55" dirty="0">
                <a:solidFill>
                  <a:srgbClr val="767673"/>
                </a:solidFill>
                <a:latin typeface="Arial MT"/>
                <a:cs typeface="Arial MT"/>
              </a:rPr>
              <a:t> </a:t>
            </a:r>
            <a:r>
              <a:rPr sz="1800" spc="-5" dirty="0">
                <a:solidFill>
                  <a:srgbClr val="767673"/>
                </a:solidFill>
                <a:latin typeface="Arial MT"/>
                <a:cs typeface="Arial MT"/>
              </a:rPr>
              <a:t>you </a:t>
            </a:r>
            <a:r>
              <a:rPr sz="1800" dirty="0">
                <a:solidFill>
                  <a:srgbClr val="767673"/>
                </a:solidFill>
                <a:latin typeface="Arial MT"/>
                <a:cs typeface="Arial MT"/>
              </a:rPr>
              <a:t>grasp</a:t>
            </a:r>
            <a:r>
              <a:rPr sz="1800" spc="-50" dirty="0">
                <a:solidFill>
                  <a:srgbClr val="767673"/>
                </a:solidFill>
                <a:latin typeface="Arial MT"/>
                <a:cs typeface="Arial MT"/>
              </a:rPr>
              <a:t> </a:t>
            </a:r>
            <a:r>
              <a:rPr sz="1800" dirty="0">
                <a:solidFill>
                  <a:srgbClr val="767673"/>
                </a:solidFill>
                <a:latin typeface="Arial MT"/>
                <a:cs typeface="Arial MT"/>
              </a:rPr>
              <a:t>the</a:t>
            </a:r>
            <a:r>
              <a:rPr sz="1800" spc="-25" dirty="0">
                <a:solidFill>
                  <a:srgbClr val="767673"/>
                </a:solidFill>
                <a:latin typeface="Arial MT"/>
                <a:cs typeface="Arial MT"/>
              </a:rPr>
              <a:t> </a:t>
            </a:r>
            <a:r>
              <a:rPr sz="1800" dirty="0">
                <a:solidFill>
                  <a:srgbClr val="767673"/>
                </a:solidFill>
                <a:latin typeface="Arial MT"/>
                <a:cs typeface="Arial MT"/>
              </a:rPr>
              <a:t>degree</a:t>
            </a:r>
            <a:endParaRPr sz="1800" dirty="0">
              <a:latin typeface="Arial MT"/>
              <a:cs typeface="Arial MT"/>
            </a:endParaRPr>
          </a:p>
          <a:p>
            <a:pPr marL="12700">
              <a:lnSpc>
                <a:spcPts val="2135"/>
              </a:lnSpc>
            </a:pPr>
            <a:r>
              <a:rPr sz="1800" dirty="0">
                <a:solidFill>
                  <a:srgbClr val="767673"/>
                </a:solidFill>
                <a:latin typeface="Arial MT"/>
                <a:cs typeface="Arial MT"/>
              </a:rPr>
              <a:t>of</a:t>
            </a:r>
            <a:r>
              <a:rPr sz="1800" spc="-30" dirty="0">
                <a:solidFill>
                  <a:srgbClr val="767673"/>
                </a:solidFill>
                <a:latin typeface="Arial MT"/>
                <a:cs typeface="Arial MT"/>
              </a:rPr>
              <a:t> </a:t>
            </a:r>
            <a:r>
              <a:rPr sz="1800" dirty="0">
                <a:solidFill>
                  <a:srgbClr val="767673"/>
                </a:solidFill>
                <a:latin typeface="Arial MT"/>
                <a:cs typeface="Arial MT"/>
              </a:rPr>
              <a:t>overlap</a:t>
            </a:r>
            <a:r>
              <a:rPr sz="1800" spc="-25" dirty="0">
                <a:solidFill>
                  <a:srgbClr val="767673"/>
                </a:solidFill>
                <a:latin typeface="Arial MT"/>
                <a:cs typeface="Arial MT"/>
              </a:rPr>
              <a:t> </a:t>
            </a:r>
            <a:r>
              <a:rPr sz="1800" spc="-5" dirty="0">
                <a:solidFill>
                  <a:srgbClr val="767673"/>
                </a:solidFill>
                <a:latin typeface="Arial MT"/>
                <a:cs typeface="Arial MT"/>
              </a:rPr>
              <a:t>between</a:t>
            </a:r>
            <a:r>
              <a:rPr sz="1800" spc="-20" dirty="0">
                <a:solidFill>
                  <a:srgbClr val="767673"/>
                </a:solidFill>
                <a:latin typeface="Arial MT"/>
                <a:cs typeface="Arial MT"/>
              </a:rPr>
              <a:t> </a:t>
            </a:r>
            <a:r>
              <a:rPr sz="1800" dirty="0">
                <a:solidFill>
                  <a:srgbClr val="767673"/>
                </a:solidFill>
                <a:latin typeface="Arial MT"/>
                <a:cs typeface="Arial MT"/>
              </a:rPr>
              <a:t>groups.</a:t>
            </a:r>
            <a:endParaRPr sz="1800" dirty="0">
              <a:latin typeface="Arial MT"/>
              <a:cs typeface="Arial MT"/>
            </a:endParaRPr>
          </a:p>
        </p:txBody>
      </p:sp>
      <p:sp>
        <p:nvSpPr>
          <p:cNvPr id="8" name="object 8"/>
          <p:cNvSpPr txBox="1"/>
          <p:nvPr/>
        </p:nvSpPr>
        <p:spPr>
          <a:xfrm>
            <a:off x="341932" y="5987502"/>
            <a:ext cx="3002295" cy="820738"/>
          </a:xfrm>
          <a:prstGeom prst="rect">
            <a:avLst/>
          </a:prstGeom>
        </p:spPr>
        <p:txBody>
          <a:bodyPr vert="horz" wrap="square" lIns="0" tIns="12700" rIns="0" bIns="0" rtlCol="0">
            <a:spAutoFit/>
          </a:bodyPr>
          <a:lstStyle/>
          <a:p>
            <a:pPr marL="12700">
              <a:lnSpc>
                <a:spcPts val="2135"/>
              </a:lnSpc>
              <a:spcBef>
                <a:spcPts val="100"/>
              </a:spcBef>
            </a:pPr>
            <a:r>
              <a:rPr sz="1800" dirty="0">
                <a:solidFill>
                  <a:srgbClr val="767673"/>
                </a:solidFill>
                <a:latin typeface="Arial MT"/>
                <a:cs typeface="Arial MT"/>
              </a:rPr>
              <a:t>Histograms</a:t>
            </a:r>
            <a:r>
              <a:rPr sz="1800" spc="-60" dirty="0">
                <a:solidFill>
                  <a:srgbClr val="767673"/>
                </a:solidFill>
                <a:latin typeface="Arial MT"/>
                <a:cs typeface="Arial MT"/>
              </a:rPr>
              <a:t> </a:t>
            </a:r>
            <a:r>
              <a:rPr sz="1800" dirty="0">
                <a:solidFill>
                  <a:srgbClr val="767673"/>
                </a:solidFill>
                <a:latin typeface="Arial MT"/>
                <a:cs typeface="Arial MT"/>
              </a:rPr>
              <a:t>can</a:t>
            </a:r>
            <a:r>
              <a:rPr sz="1800" spc="-15" dirty="0">
                <a:solidFill>
                  <a:srgbClr val="767673"/>
                </a:solidFill>
                <a:latin typeface="Arial MT"/>
                <a:cs typeface="Arial MT"/>
              </a:rPr>
              <a:t> </a:t>
            </a:r>
            <a:r>
              <a:rPr sz="1800" dirty="0">
                <a:solidFill>
                  <a:srgbClr val="767673"/>
                </a:solidFill>
                <a:latin typeface="Arial MT"/>
                <a:cs typeface="Arial MT"/>
              </a:rPr>
              <a:t>be</a:t>
            </a:r>
            <a:r>
              <a:rPr sz="1800" spc="-15" dirty="0">
                <a:solidFill>
                  <a:srgbClr val="767673"/>
                </a:solidFill>
                <a:latin typeface="Arial MT"/>
                <a:cs typeface="Arial MT"/>
              </a:rPr>
              <a:t> </a:t>
            </a:r>
            <a:r>
              <a:rPr sz="1800" dirty="0">
                <a:solidFill>
                  <a:srgbClr val="767673"/>
                </a:solidFill>
                <a:latin typeface="Arial MT"/>
                <a:cs typeface="Arial MT"/>
              </a:rPr>
              <a:t>used</a:t>
            </a:r>
            <a:r>
              <a:rPr sz="1800" spc="-40" dirty="0">
                <a:solidFill>
                  <a:srgbClr val="767673"/>
                </a:solidFill>
                <a:latin typeface="Arial MT"/>
                <a:cs typeface="Arial MT"/>
              </a:rPr>
              <a:t> </a:t>
            </a:r>
            <a:r>
              <a:rPr sz="1800" dirty="0">
                <a:solidFill>
                  <a:srgbClr val="767673"/>
                </a:solidFill>
                <a:latin typeface="Arial MT"/>
                <a:cs typeface="Arial MT"/>
              </a:rPr>
              <a:t>to</a:t>
            </a:r>
            <a:r>
              <a:rPr sz="1800" spc="10" dirty="0">
                <a:solidFill>
                  <a:srgbClr val="767673"/>
                </a:solidFill>
                <a:latin typeface="Arial MT"/>
                <a:cs typeface="Arial MT"/>
              </a:rPr>
              <a:t> </a:t>
            </a:r>
            <a:r>
              <a:rPr sz="1800" dirty="0">
                <a:solidFill>
                  <a:srgbClr val="767673"/>
                </a:solidFill>
                <a:latin typeface="Arial MT"/>
                <a:cs typeface="Arial MT"/>
              </a:rPr>
              <a:t>identify</a:t>
            </a:r>
            <a:endParaRPr sz="1800" dirty="0">
              <a:latin typeface="Arial MT"/>
              <a:cs typeface="Arial MT"/>
            </a:endParaRPr>
          </a:p>
          <a:p>
            <a:pPr marL="12700">
              <a:lnSpc>
                <a:spcPts val="2135"/>
              </a:lnSpc>
            </a:pPr>
            <a:r>
              <a:rPr sz="1800" dirty="0">
                <a:solidFill>
                  <a:srgbClr val="767673"/>
                </a:solidFill>
                <a:latin typeface="Arial MT"/>
                <a:cs typeface="Arial MT"/>
              </a:rPr>
              <a:t>the</a:t>
            </a:r>
            <a:r>
              <a:rPr sz="1800" spc="-30" dirty="0">
                <a:solidFill>
                  <a:srgbClr val="767673"/>
                </a:solidFill>
                <a:latin typeface="Arial MT"/>
                <a:cs typeface="Arial MT"/>
              </a:rPr>
              <a:t> </a:t>
            </a:r>
            <a:r>
              <a:rPr sz="1800" dirty="0">
                <a:solidFill>
                  <a:srgbClr val="767673"/>
                </a:solidFill>
                <a:latin typeface="Arial MT"/>
                <a:cs typeface="Arial MT"/>
              </a:rPr>
              <a:t>shape</a:t>
            </a:r>
            <a:r>
              <a:rPr sz="1800" spc="-55" dirty="0">
                <a:solidFill>
                  <a:srgbClr val="767673"/>
                </a:solidFill>
                <a:latin typeface="Arial MT"/>
                <a:cs typeface="Arial MT"/>
              </a:rPr>
              <a:t> </a:t>
            </a:r>
            <a:r>
              <a:rPr sz="1800" dirty="0">
                <a:solidFill>
                  <a:srgbClr val="767673"/>
                </a:solidFill>
                <a:latin typeface="Arial MT"/>
                <a:cs typeface="Arial MT"/>
              </a:rPr>
              <a:t>of</a:t>
            </a:r>
            <a:r>
              <a:rPr sz="1800" spc="-30" dirty="0">
                <a:solidFill>
                  <a:srgbClr val="767673"/>
                </a:solidFill>
                <a:latin typeface="Arial MT"/>
                <a:cs typeface="Arial MT"/>
              </a:rPr>
              <a:t> </a:t>
            </a:r>
            <a:r>
              <a:rPr sz="1800" dirty="0">
                <a:solidFill>
                  <a:srgbClr val="767673"/>
                </a:solidFill>
                <a:latin typeface="Arial MT"/>
                <a:cs typeface="Arial MT"/>
              </a:rPr>
              <a:t>data</a:t>
            </a:r>
            <a:r>
              <a:rPr sz="1800" spc="-20" dirty="0">
                <a:solidFill>
                  <a:srgbClr val="767673"/>
                </a:solidFill>
                <a:latin typeface="Arial MT"/>
                <a:cs typeface="Arial MT"/>
              </a:rPr>
              <a:t> </a:t>
            </a:r>
            <a:r>
              <a:rPr sz="1800" dirty="0">
                <a:solidFill>
                  <a:srgbClr val="767673"/>
                </a:solidFill>
                <a:latin typeface="Arial MT"/>
                <a:cs typeface="Arial MT"/>
              </a:rPr>
              <a:t>distribution.</a:t>
            </a:r>
            <a:endParaRPr sz="1800" dirty="0">
              <a:latin typeface="Arial MT"/>
              <a:cs typeface="Arial MT"/>
            </a:endParaRPr>
          </a:p>
        </p:txBody>
      </p:sp>
      <p:grpSp>
        <p:nvGrpSpPr>
          <p:cNvPr id="9" name="object 9"/>
          <p:cNvGrpSpPr/>
          <p:nvPr/>
        </p:nvGrpSpPr>
        <p:grpSpPr>
          <a:xfrm>
            <a:off x="226650" y="3628414"/>
            <a:ext cx="8516779" cy="2461895"/>
            <a:chOff x="396811" y="3765448"/>
            <a:chExt cx="11355705" cy="2461895"/>
          </a:xfrm>
        </p:grpSpPr>
        <p:pic>
          <p:nvPicPr>
            <p:cNvPr id="10" name="object 10"/>
            <p:cNvPicPr/>
            <p:nvPr/>
          </p:nvPicPr>
          <p:blipFill>
            <a:blip r:embed="rId6" cstate="print"/>
            <a:stretch>
              <a:fillRect/>
            </a:stretch>
          </p:blipFill>
          <p:spPr>
            <a:xfrm>
              <a:off x="396811" y="3794125"/>
              <a:ext cx="3994023" cy="2418334"/>
            </a:xfrm>
            <a:prstGeom prst="rect">
              <a:avLst/>
            </a:prstGeom>
          </p:spPr>
        </p:pic>
        <p:pic>
          <p:nvPicPr>
            <p:cNvPr id="11" name="object 11"/>
            <p:cNvPicPr/>
            <p:nvPr/>
          </p:nvPicPr>
          <p:blipFill>
            <a:blip r:embed="rId7" cstate="print"/>
            <a:stretch>
              <a:fillRect/>
            </a:stretch>
          </p:blipFill>
          <p:spPr>
            <a:xfrm>
              <a:off x="4379340" y="3765448"/>
              <a:ext cx="7372731" cy="2461387"/>
            </a:xfrm>
            <a:prstGeom prst="rect">
              <a:avLst/>
            </a:prstGeom>
          </p:spPr>
        </p:pic>
      </p:grpSp>
      <p:sp>
        <p:nvSpPr>
          <p:cNvPr id="12" name="object 12"/>
          <p:cNvSpPr txBox="1"/>
          <p:nvPr/>
        </p:nvSpPr>
        <p:spPr>
          <a:xfrm>
            <a:off x="6337789" y="5987502"/>
            <a:ext cx="2315051" cy="566822"/>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212121"/>
                </a:solidFill>
                <a:latin typeface="Arial MT"/>
                <a:cs typeface="Arial MT"/>
              </a:rPr>
              <a:t>Histograms</a:t>
            </a:r>
            <a:r>
              <a:rPr sz="1800" spc="-75" dirty="0">
                <a:solidFill>
                  <a:srgbClr val="212121"/>
                </a:solidFill>
                <a:latin typeface="Arial MT"/>
                <a:cs typeface="Arial MT"/>
              </a:rPr>
              <a:t> </a:t>
            </a:r>
            <a:r>
              <a:rPr sz="1800" dirty="0">
                <a:solidFill>
                  <a:srgbClr val="212121"/>
                </a:solidFill>
                <a:latin typeface="Arial MT"/>
                <a:cs typeface="Arial MT"/>
              </a:rPr>
              <a:t>to</a:t>
            </a:r>
            <a:r>
              <a:rPr sz="1800" spc="-30" dirty="0">
                <a:solidFill>
                  <a:srgbClr val="212121"/>
                </a:solidFill>
                <a:latin typeface="Arial MT"/>
                <a:cs typeface="Arial MT"/>
              </a:rPr>
              <a:t> </a:t>
            </a:r>
            <a:r>
              <a:rPr sz="1800" dirty="0">
                <a:solidFill>
                  <a:srgbClr val="212121"/>
                </a:solidFill>
                <a:latin typeface="Arial MT"/>
                <a:cs typeface="Arial MT"/>
              </a:rPr>
              <a:t>Identify</a:t>
            </a:r>
            <a:r>
              <a:rPr sz="1800" spc="-50" dirty="0">
                <a:solidFill>
                  <a:srgbClr val="212121"/>
                </a:solidFill>
                <a:latin typeface="Arial MT"/>
                <a:cs typeface="Arial MT"/>
              </a:rPr>
              <a:t> </a:t>
            </a:r>
            <a:r>
              <a:rPr sz="1800" dirty="0">
                <a:solidFill>
                  <a:srgbClr val="212121"/>
                </a:solidFill>
                <a:latin typeface="Arial MT"/>
                <a:cs typeface="Arial MT"/>
              </a:rPr>
              <a:t>Outliers</a:t>
            </a:r>
            <a:endParaRPr sz="1800" dirty="0">
              <a:latin typeface="Arial MT"/>
              <a:cs typeface="Arial MT"/>
            </a:endParaRPr>
          </a:p>
        </p:txBody>
      </p:sp>
      <p:sp>
        <p:nvSpPr>
          <p:cNvPr id="13" name="object 13"/>
          <p:cNvSpPr txBox="1"/>
          <p:nvPr/>
        </p:nvSpPr>
        <p:spPr>
          <a:xfrm>
            <a:off x="3368232" y="5951879"/>
            <a:ext cx="2772811" cy="856361"/>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212121"/>
                </a:solidFill>
                <a:latin typeface="Arial MT"/>
                <a:cs typeface="Arial MT"/>
              </a:rPr>
              <a:t>Identifying</a:t>
            </a:r>
            <a:r>
              <a:rPr sz="1800" spc="-65" dirty="0">
                <a:solidFill>
                  <a:srgbClr val="212121"/>
                </a:solidFill>
                <a:latin typeface="Arial MT"/>
                <a:cs typeface="Arial MT"/>
              </a:rPr>
              <a:t> </a:t>
            </a:r>
            <a:r>
              <a:rPr sz="1800" spc="-5" dirty="0">
                <a:solidFill>
                  <a:srgbClr val="212121"/>
                </a:solidFill>
                <a:latin typeface="Arial MT"/>
                <a:cs typeface="Arial MT"/>
              </a:rPr>
              <a:t>Multimodal</a:t>
            </a:r>
            <a:endParaRPr sz="1800" dirty="0">
              <a:latin typeface="Arial MT"/>
              <a:cs typeface="Arial MT"/>
            </a:endParaRPr>
          </a:p>
          <a:p>
            <a:pPr marL="12700">
              <a:lnSpc>
                <a:spcPct val="100000"/>
              </a:lnSpc>
            </a:pPr>
            <a:r>
              <a:rPr sz="1800" dirty="0">
                <a:solidFill>
                  <a:srgbClr val="212121"/>
                </a:solidFill>
                <a:latin typeface="Arial MT"/>
                <a:cs typeface="Arial MT"/>
              </a:rPr>
              <a:t>Distributions</a:t>
            </a:r>
            <a:r>
              <a:rPr sz="1800" spc="-85" dirty="0">
                <a:solidFill>
                  <a:srgbClr val="212121"/>
                </a:solidFill>
                <a:latin typeface="Arial MT"/>
                <a:cs typeface="Arial MT"/>
              </a:rPr>
              <a:t> </a:t>
            </a:r>
            <a:r>
              <a:rPr sz="1800" spc="-10" dirty="0">
                <a:solidFill>
                  <a:srgbClr val="212121"/>
                </a:solidFill>
                <a:latin typeface="Arial MT"/>
                <a:cs typeface="Arial MT"/>
              </a:rPr>
              <a:t>with</a:t>
            </a:r>
            <a:r>
              <a:rPr sz="1800" spc="35" dirty="0">
                <a:solidFill>
                  <a:srgbClr val="212121"/>
                </a:solidFill>
                <a:latin typeface="Arial MT"/>
                <a:cs typeface="Arial MT"/>
              </a:rPr>
              <a:t> </a:t>
            </a:r>
            <a:r>
              <a:rPr sz="1800" dirty="0">
                <a:solidFill>
                  <a:srgbClr val="212121"/>
                </a:solidFill>
                <a:latin typeface="Arial MT"/>
                <a:cs typeface="Arial MT"/>
              </a:rPr>
              <a:t>Histograms</a:t>
            </a:r>
            <a:endParaRPr sz="1800" dirty="0">
              <a:latin typeface="Arial MT"/>
              <a:cs typeface="Arial MT"/>
            </a:endParaRPr>
          </a:p>
        </p:txBody>
      </p:sp>
      <p:sp>
        <p:nvSpPr>
          <p:cNvPr id="14" name="object 14"/>
          <p:cNvSpPr txBox="1"/>
          <p:nvPr/>
        </p:nvSpPr>
        <p:spPr>
          <a:xfrm>
            <a:off x="2829036" y="2690979"/>
            <a:ext cx="3312008" cy="566822"/>
          </a:xfrm>
          <a:prstGeom prst="rect">
            <a:avLst/>
          </a:prstGeom>
        </p:spPr>
        <p:txBody>
          <a:bodyPr vert="horz" wrap="square" lIns="0" tIns="12700" rIns="0" bIns="0" rtlCol="0">
            <a:spAutoFit/>
          </a:bodyPr>
          <a:lstStyle/>
          <a:p>
            <a:pPr marL="12700">
              <a:lnSpc>
                <a:spcPct val="100000"/>
              </a:lnSpc>
              <a:spcBef>
                <a:spcPts val="100"/>
              </a:spcBef>
            </a:pPr>
            <a:r>
              <a:rPr sz="1800" dirty="0">
                <a:solidFill>
                  <a:srgbClr val="212121"/>
                </a:solidFill>
                <a:latin typeface="Arial MT"/>
                <a:cs typeface="Arial MT"/>
              </a:rPr>
              <a:t>Using</a:t>
            </a:r>
            <a:r>
              <a:rPr sz="1800" spc="-35" dirty="0">
                <a:solidFill>
                  <a:srgbClr val="212121"/>
                </a:solidFill>
                <a:latin typeface="Arial MT"/>
                <a:cs typeface="Arial MT"/>
              </a:rPr>
              <a:t> </a:t>
            </a:r>
            <a:r>
              <a:rPr sz="1800" dirty="0">
                <a:solidFill>
                  <a:srgbClr val="212121"/>
                </a:solidFill>
                <a:latin typeface="Arial MT"/>
                <a:cs typeface="Arial MT"/>
              </a:rPr>
              <a:t>Histograms</a:t>
            </a:r>
            <a:r>
              <a:rPr sz="1800" spc="-75" dirty="0">
                <a:solidFill>
                  <a:srgbClr val="212121"/>
                </a:solidFill>
                <a:latin typeface="Arial MT"/>
                <a:cs typeface="Arial MT"/>
              </a:rPr>
              <a:t> </a:t>
            </a:r>
            <a:r>
              <a:rPr sz="1800" dirty="0">
                <a:solidFill>
                  <a:srgbClr val="212121"/>
                </a:solidFill>
                <a:latin typeface="Arial MT"/>
                <a:cs typeface="Arial MT"/>
              </a:rPr>
              <a:t>to</a:t>
            </a:r>
            <a:r>
              <a:rPr sz="1800" spc="-25" dirty="0">
                <a:solidFill>
                  <a:srgbClr val="212121"/>
                </a:solidFill>
                <a:latin typeface="Arial MT"/>
                <a:cs typeface="Arial MT"/>
              </a:rPr>
              <a:t> </a:t>
            </a:r>
            <a:r>
              <a:rPr sz="1800" dirty="0">
                <a:solidFill>
                  <a:srgbClr val="212121"/>
                </a:solidFill>
                <a:latin typeface="Arial MT"/>
                <a:cs typeface="Arial MT"/>
              </a:rPr>
              <a:t>Compare</a:t>
            </a:r>
            <a:endParaRPr sz="1800" dirty="0">
              <a:latin typeface="Arial MT"/>
              <a:cs typeface="Arial MT"/>
            </a:endParaRPr>
          </a:p>
          <a:p>
            <a:pPr marL="12700">
              <a:lnSpc>
                <a:spcPct val="100000"/>
              </a:lnSpc>
            </a:pPr>
            <a:r>
              <a:rPr sz="1800" dirty="0">
                <a:solidFill>
                  <a:srgbClr val="212121"/>
                </a:solidFill>
                <a:latin typeface="Arial MT"/>
                <a:cs typeface="Arial MT"/>
              </a:rPr>
              <a:t>Distributions</a:t>
            </a:r>
            <a:r>
              <a:rPr sz="1800" spc="-90" dirty="0">
                <a:solidFill>
                  <a:srgbClr val="212121"/>
                </a:solidFill>
                <a:latin typeface="Arial MT"/>
                <a:cs typeface="Arial MT"/>
              </a:rPr>
              <a:t> </a:t>
            </a:r>
            <a:r>
              <a:rPr sz="1800" spc="-5" dirty="0">
                <a:solidFill>
                  <a:srgbClr val="212121"/>
                </a:solidFill>
                <a:latin typeface="Arial MT"/>
                <a:cs typeface="Arial MT"/>
              </a:rPr>
              <a:t>between</a:t>
            </a:r>
            <a:r>
              <a:rPr sz="1800" dirty="0">
                <a:solidFill>
                  <a:srgbClr val="212121"/>
                </a:solidFill>
                <a:latin typeface="Arial MT"/>
                <a:cs typeface="Arial MT"/>
              </a:rPr>
              <a:t> Groups</a:t>
            </a:r>
            <a:endParaRPr sz="1800" dirty="0">
              <a:latin typeface="Arial MT"/>
              <a:cs typeface="Arial MT"/>
            </a:endParaRPr>
          </a:p>
        </p:txBody>
      </p:sp>
    </p:spTree>
    <p:extLst>
      <p:ext uri="{BB962C8B-B14F-4D97-AF65-F5344CB8AC3E}">
        <p14:creationId xmlns:p14="http://schemas.microsoft.com/office/powerpoint/2010/main" val="60636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45972" y="574041"/>
            <a:ext cx="2329815" cy="1617751"/>
          </a:xfrm>
          <a:prstGeom prst="rect">
            <a:avLst/>
          </a:prstGeom>
        </p:spPr>
        <p:txBody>
          <a:bodyPr vert="horz" wrap="square" lIns="0" tIns="78105" rIns="0" bIns="0" rtlCol="0">
            <a:spAutoFit/>
          </a:bodyPr>
          <a:lstStyle/>
          <a:p>
            <a:pPr marL="12700" marR="5080">
              <a:lnSpc>
                <a:spcPts val="3979"/>
              </a:lnSpc>
              <a:spcBef>
                <a:spcPts val="615"/>
              </a:spcBef>
            </a:pPr>
            <a:r>
              <a:rPr sz="3700" spc="-55" dirty="0">
                <a:solidFill>
                  <a:srgbClr val="000000"/>
                </a:solidFill>
                <a:latin typeface="Calibri Light"/>
                <a:cs typeface="Calibri Light"/>
              </a:rPr>
              <a:t>Effect </a:t>
            </a:r>
            <a:r>
              <a:rPr sz="3700" spc="-5" dirty="0">
                <a:solidFill>
                  <a:srgbClr val="000000"/>
                </a:solidFill>
                <a:latin typeface="Calibri Light"/>
                <a:cs typeface="Calibri Light"/>
              </a:rPr>
              <a:t>of </a:t>
            </a:r>
            <a:r>
              <a:rPr sz="3700" spc="-10" dirty="0">
                <a:solidFill>
                  <a:srgbClr val="000000"/>
                </a:solidFill>
                <a:latin typeface="Calibri Light"/>
                <a:cs typeface="Calibri Light"/>
              </a:rPr>
              <a:t>Bin </a:t>
            </a:r>
            <a:r>
              <a:rPr sz="3700" spc="-25" dirty="0">
                <a:solidFill>
                  <a:srgbClr val="000000"/>
                </a:solidFill>
                <a:latin typeface="Calibri Light"/>
                <a:cs typeface="Calibri Light"/>
              </a:rPr>
              <a:t>Size </a:t>
            </a:r>
            <a:r>
              <a:rPr sz="3700" spc="-825" dirty="0">
                <a:solidFill>
                  <a:srgbClr val="000000"/>
                </a:solidFill>
                <a:latin typeface="Calibri Light"/>
                <a:cs typeface="Calibri Light"/>
              </a:rPr>
              <a:t> </a:t>
            </a:r>
            <a:r>
              <a:rPr sz="3700" spc="-5" dirty="0">
                <a:solidFill>
                  <a:srgbClr val="000000"/>
                </a:solidFill>
                <a:latin typeface="Calibri Light"/>
                <a:cs typeface="Calibri Light"/>
              </a:rPr>
              <a:t>on</a:t>
            </a:r>
            <a:r>
              <a:rPr sz="3700" spc="-15" dirty="0">
                <a:solidFill>
                  <a:srgbClr val="000000"/>
                </a:solidFill>
                <a:latin typeface="Calibri Light"/>
                <a:cs typeface="Calibri Light"/>
              </a:rPr>
              <a:t> </a:t>
            </a:r>
            <a:r>
              <a:rPr sz="3700" spc="-30" dirty="0">
                <a:solidFill>
                  <a:srgbClr val="000000"/>
                </a:solidFill>
                <a:latin typeface="Calibri Light"/>
                <a:cs typeface="Calibri Light"/>
              </a:rPr>
              <a:t>Histogram</a:t>
            </a:r>
            <a:endParaRPr sz="3700">
              <a:latin typeface="Calibri Light"/>
              <a:cs typeface="Calibri Light"/>
            </a:endParaRPr>
          </a:p>
        </p:txBody>
      </p:sp>
      <p:sp>
        <p:nvSpPr>
          <p:cNvPr id="3" name="object 3"/>
          <p:cNvSpPr txBox="1"/>
          <p:nvPr/>
        </p:nvSpPr>
        <p:spPr>
          <a:xfrm>
            <a:off x="545973" y="2426666"/>
            <a:ext cx="2470309" cy="1175322"/>
          </a:xfrm>
          <a:prstGeom prst="rect">
            <a:avLst/>
          </a:prstGeom>
        </p:spPr>
        <p:txBody>
          <a:bodyPr vert="horz" wrap="square" lIns="0" tIns="46355" rIns="0" bIns="0" rtlCol="0">
            <a:spAutoFit/>
          </a:bodyPr>
          <a:lstStyle/>
          <a:p>
            <a:pPr marL="12700" marR="5080">
              <a:lnSpc>
                <a:spcPts val="2160"/>
              </a:lnSpc>
              <a:spcBef>
                <a:spcPts val="365"/>
              </a:spcBef>
              <a:buFont typeface="Arial MT"/>
              <a:buChar char="•"/>
              <a:tabLst>
                <a:tab pos="240665" algn="l"/>
                <a:tab pos="241300" algn="l"/>
              </a:tabLst>
            </a:pPr>
            <a:r>
              <a:rPr sz="2000" spc="-15" dirty="0">
                <a:latin typeface="Calibri"/>
                <a:cs typeface="Calibri"/>
              </a:rPr>
              <a:t>What’s</a:t>
            </a:r>
            <a:r>
              <a:rPr sz="2000" spc="-20" dirty="0">
                <a:latin typeface="Calibri"/>
                <a:cs typeface="Calibri"/>
              </a:rPr>
              <a:t> </a:t>
            </a:r>
            <a:r>
              <a:rPr sz="2000" dirty="0">
                <a:latin typeface="Calibri"/>
                <a:cs typeface="Calibri"/>
              </a:rPr>
              <a:t>the</a:t>
            </a:r>
            <a:r>
              <a:rPr sz="2000" spc="15" dirty="0">
                <a:latin typeface="Calibri"/>
                <a:cs typeface="Calibri"/>
              </a:rPr>
              <a:t> </a:t>
            </a:r>
            <a:r>
              <a:rPr sz="2000" spc="-20" dirty="0">
                <a:latin typeface="Calibri"/>
                <a:cs typeface="Calibri"/>
              </a:rPr>
              <a:t>difference </a:t>
            </a:r>
            <a:r>
              <a:rPr sz="2000" spc="-15" dirty="0">
                <a:latin typeface="Calibri"/>
                <a:cs typeface="Calibri"/>
              </a:rPr>
              <a:t> between</a:t>
            </a:r>
            <a:r>
              <a:rPr sz="2000" spc="45" dirty="0">
                <a:latin typeface="Calibri"/>
                <a:cs typeface="Calibri"/>
              </a:rPr>
              <a:t> </a:t>
            </a:r>
            <a:r>
              <a:rPr sz="2000" spc="-5" dirty="0">
                <a:latin typeface="Calibri"/>
                <a:cs typeface="Calibri"/>
              </a:rPr>
              <a:t>a</a:t>
            </a:r>
            <a:r>
              <a:rPr sz="2000" spc="-20" dirty="0">
                <a:latin typeface="Calibri"/>
                <a:cs typeface="Calibri"/>
              </a:rPr>
              <a:t> </a:t>
            </a:r>
            <a:r>
              <a:rPr sz="2000" spc="-10" dirty="0">
                <a:latin typeface="Calibri"/>
                <a:cs typeface="Calibri"/>
              </a:rPr>
              <a:t>frequency</a:t>
            </a:r>
            <a:r>
              <a:rPr sz="2000" spc="25" dirty="0">
                <a:latin typeface="Calibri"/>
                <a:cs typeface="Calibri"/>
              </a:rPr>
              <a:t> </a:t>
            </a:r>
            <a:r>
              <a:rPr sz="2000" spc="-20" dirty="0">
                <a:latin typeface="Calibri"/>
                <a:cs typeface="Calibri"/>
              </a:rPr>
              <a:t>histogram </a:t>
            </a:r>
            <a:r>
              <a:rPr sz="2000" spc="-434" dirty="0">
                <a:latin typeface="Calibri"/>
                <a:cs typeface="Calibri"/>
              </a:rPr>
              <a:t> </a:t>
            </a:r>
            <a:r>
              <a:rPr sz="2000" dirty="0">
                <a:latin typeface="Calibri"/>
                <a:cs typeface="Calibri"/>
              </a:rPr>
              <a:t>and</a:t>
            </a:r>
            <a:r>
              <a:rPr sz="2000" spc="-25" dirty="0">
                <a:latin typeface="Calibri"/>
                <a:cs typeface="Calibri"/>
              </a:rPr>
              <a:t> </a:t>
            </a:r>
            <a:r>
              <a:rPr sz="2000" spc="-5" dirty="0">
                <a:latin typeface="Calibri"/>
                <a:cs typeface="Calibri"/>
              </a:rPr>
              <a:t>a</a:t>
            </a:r>
            <a:r>
              <a:rPr sz="2000" dirty="0">
                <a:latin typeface="Calibri"/>
                <a:cs typeface="Calibri"/>
              </a:rPr>
              <a:t> </a:t>
            </a:r>
            <a:r>
              <a:rPr sz="2000" spc="-5" dirty="0">
                <a:latin typeface="Calibri"/>
                <a:cs typeface="Calibri"/>
              </a:rPr>
              <a:t>density</a:t>
            </a:r>
            <a:r>
              <a:rPr sz="2000" spc="30" dirty="0">
                <a:latin typeface="Calibri"/>
                <a:cs typeface="Calibri"/>
              </a:rPr>
              <a:t> </a:t>
            </a:r>
            <a:r>
              <a:rPr sz="2000" spc="-15" dirty="0">
                <a:latin typeface="Calibri"/>
                <a:cs typeface="Calibri"/>
              </a:rPr>
              <a:t>histogram?</a:t>
            </a:r>
            <a:endParaRPr sz="2000">
              <a:latin typeface="Calibri"/>
              <a:cs typeface="Calibri"/>
            </a:endParaRPr>
          </a:p>
        </p:txBody>
      </p:sp>
      <p:grpSp>
        <p:nvGrpSpPr>
          <p:cNvPr id="4" name="object 4"/>
          <p:cNvGrpSpPr/>
          <p:nvPr/>
        </p:nvGrpSpPr>
        <p:grpSpPr>
          <a:xfrm>
            <a:off x="3479292" y="0"/>
            <a:ext cx="5664994" cy="6858000"/>
            <a:chOff x="4639055" y="0"/>
            <a:chExt cx="7553325" cy="6858000"/>
          </a:xfrm>
        </p:grpSpPr>
        <p:sp>
          <p:nvSpPr>
            <p:cNvPr id="5" name="object 5"/>
            <p:cNvSpPr/>
            <p:nvPr/>
          </p:nvSpPr>
          <p:spPr>
            <a:xfrm>
              <a:off x="4639055" y="0"/>
              <a:ext cx="7553325" cy="6858000"/>
            </a:xfrm>
            <a:custGeom>
              <a:avLst/>
              <a:gdLst/>
              <a:ahLst/>
              <a:cxnLst/>
              <a:rect l="l" t="t" r="r" b="b"/>
              <a:pathLst>
                <a:path w="7553325" h="6858000">
                  <a:moveTo>
                    <a:pt x="7552944" y="0"/>
                  </a:moveTo>
                  <a:lnTo>
                    <a:pt x="0" y="0"/>
                  </a:lnTo>
                  <a:lnTo>
                    <a:pt x="0" y="6858000"/>
                  </a:lnTo>
                  <a:lnTo>
                    <a:pt x="7552944" y="6858000"/>
                  </a:lnTo>
                  <a:lnTo>
                    <a:pt x="7552944" y="0"/>
                  </a:lnTo>
                  <a:close/>
                </a:path>
              </a:pathLst>
            </a:custGeom>
            <a:solidFill>
              <a:srgbClr val="C7C9C9"/>
            </a:solidFill>
          </p:spPr>
          <p:txBody>
            <a:bodyPr wrap="square" lIns="0" tIns="0" rIns="0" bIns="0" rtlCol="0"/>
            <a:lstStyle/>
            <a:p>
              <a:endParaRPr/>
            </a:p>
          </p:txBody>
        </p:sp>
        <p:pic>
          <p:nvPicPr>
            <p:cNvPr id="6" name="object 6"/>
            <p:cNvPicPr/>
            <p:nvPr/>
          </p:nvPicPr>
          <p:blipFill>
            <a:blip r:embed="rId2" cstate="print"/>
            <a:stretch>
              <a:fillRect/>
            </a:stretch>
          </p:blipFill>
          <p:spPr>
            <a:xfrm>
              <a:off x="5056631" y="512064"/>
              <a:ext cx="6717792" cy="5870448"/>
            </a:xfrm>
            <a:prstGeom prst="rect">
              <a:avLst/>
            </a:prstGeom>
          </p:spPr>
        </p:pic>
        <p:sp>
          <p:nvSpPr>
            <p:cNvPr id="7" name="object 7"/>
            <p:cNvSpPr/>
            <p:nvPr/>
          </p:nvSpPr>
          <p:spPr>
            <a:xfrm>
              <a:off x="5123687" y="557834"/>
              <a:ext cx="6584315" cy="5739130"/>
            </a:xfrm>
            <a:custGeom>
              <a:avLst/>
              <a:gdLst/>
              <a:ahLst/>
              <a:cxnLst/>
              <a:rect l="l" t="t" r="r" b="b"/>
              <a:pathLst>
                <a:path w="6584315" h="5739130">
                  <a:moveTo>
                    <a:pt x="6584060" y="0"/>
                  </a:moveTo>
                  <a:lnTo>
                    <a:pt x="0" y="0"/>
                  </a:lnTo>
                  <a:lnTo>
                    <a:pt x="0" y="5739130"/>
                  </a:lnTo>
                  <a:lnTo>
                    <a:pt x="6584060" y="5739130"/>
                  </a:lnTo>
                  <a:lnTo>
                    <a:pt x="6584060" y="0"/>
                  </a:lnTo>
                  <a:close/>
                </a:path>
              </a:pathLst>
            </a:custGeom>
            <a:solidFill>
              <a:srgbClr val="FFFFFF"/>
            </a:solidFill>
          </p:spPr>
          <p:txBody>
            <a:bodyPr wrap="square" lIns="0" tIns="0" rIns="0" bIns="0" rtlCol="0"/>
            <a:lstStyle/>
            <a:p>
              <a:endParaRPr/>
            </a:p>
          </p:txBody>
        </p:sp>
        <p:sp>
          <p:nvSpPr>
            <p:cNvPr id="8" name="object 8"/>
            <p:cNvSpPr/>
            <p:nvPr/>
          </p:nvSpPr>
          <p:spPr>
            <a:xfrm>
              <a:off x="5123687" y="557834"/>
              <a:ext cx="6584315" cy="5739130"/>
            </a:xfrm>
            <a:custGeom>
              <a:avLst/>
              <a:gdLst/>
              <a:ahLst/>
              <a:cxnLst/>
              <a:rect l="l" t="t" r="r" b="b"/>
              <a:pathLst>
                <a:path w="6584315" h="5739130">
                  <a:moveTo>
                    <a:pt x="0" y="5739130"/>
                  </a:moveTo>
                  <a:lnTo>
                    <a:pt x="6584060" y="5739130"/>
                  </a:lnTo>
                  <a:lnTo>
                    <a:pt x="6584060" y="0"/>
                  </a:lnTo>
                  <a:lnTo>
                    <a:pt x="0" y="0"/>
                  </a:lnTo>
                  <a:lnTo>
                    <a:pt x="0" y="5739130"/>
                  </a:lnTo>
                  <a:close/>
                </a:path>
              </a:pathLst>
            </a:custGeom>
            <a:ln w="9525">
              <a:solidFill>
                <a:srgbClr val="C7C9C9"/>
              </a:solidFill>
            </a:ln>
          </p:spPr>
          <p:txBody>
            <a:bodyPr wrap="square" lIns="0" tIns="0" rIns="0" bIns="0" rtlCol="0"/>
            <a:lstStyle/>
            <a:p>
              <a:endParaRPr/>
            </a:p>
          </p:txBody>
        </p:sp>
        <p:pic>
          <p:nvPicPr>
            <p:cNvPr id="9" name="object 9"/>
            <p:cNvPicPr/>
            <p:nvPr/>
          </p:nvPicPr>
          <p:blipFill>
            <a:blip r:embed="rId3" cstate="print"/>
            <a:stretch>
              <a:fillRect/>
            </a:stretch>
          </p:blipFill>
          <p:spPr>
            <a:xfrm>
              <a:off x="5405881" y="1614042"/>
              <a:ext cx="6019292" cy="3626611"/>
            </a:xfrm>
            <a:prstGeom prst="rect">
              <a:avLst/>
            </a:prstGeom>
          </p:spPr>
        </p:pic>
      </p:grpSp>
    </p:spTree>
    <p:extLst>
      <p:ext uri="{BB962C8B-B14F-4D97-AF65-F5344CB8AC3E}">
        <p14:creationId xmlns:p14="http://schemas.microsoft.com/office/powerpoint/2010/main" val="294400175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46201" y="717996"/>
            <a:ext cx="3209449" cy="1365758"/>
          </a:xfrm>
          <a:prstGeom prst="rect">
            <a:avLst/>
          </a:prstGeom>
        </p:spPr>
        <p:txBody>
          <a:bodyPr vert="horz" wrap="square" lIns="0" tIns="11430" rIns="0" bIns="0" rtlCol="0">
            <a:spAutoFit/>
          </a:bodyPr>
          <a:lstStyle/>
          <a:p>
            <a:pPr marL="12700">
              <a:lnSpc>
                <a:spcPct val="100000"/>
              </a:lnSpc>
              <a:spcBef>
                <a:spcPts val="90"/>
              </a:spcBef>
            </a:pPr>
            <a:r>
              <a:rPr sz="4400" spc="-20" dirty="0">
                <a:solidFill>
                  <a:srgbClr val="000000"/>
                </a:solidFill>
                <a:latin typeface="Calibri Light"/>
                <a:cs typeface="Calibri Light"/>
              </a:rPr>
              <a:t>Frequency</a:t>
            </a:r>
            <a:r>
              <a:rPr sz="4400" spc="25" dirty="0">
                <a:solidFill>
                  <a:srgbClr val="000000"/>
                </a:solidFill>
                <a:latin typeface="Calibri Light"/>
                <a:cs typeface="Calibri Light"/>
              </a:rPr>
              <a:t> </a:t>
            </a:r>
            <a:r>
              <a:rPr sz="4400" spc="-25" dirty="0">
                <a:solidFill>
                  <a:srgbClr val="000000"/>
                </a:solidFill>
                <a:latin typeface="Calibri Light"/>
                <a:cs typeface="Calibri Light"/>
              </a:rPr>
              <a:t>polygon</a:t>
            </a:r>
            <a:endParaRPr sz="4400">
              <a:latin typeface="Calibri Light"/>
              <a:cs typeface="Calibri Light"/>
            </a:endParaRPr>
          </a:p>
        </p:txBody>
      </p:sp>
      <p:sp>
        <p:nvSpPr>
          <p:cNvPr id="3" name="object 3"/>
          <p:cNvSpPr txBox="1"/>
          <p:nvPr/>
        </p:nvSpPr>
        <p:spPr>
          <a:xfrm>
            <a:off x="477622" y="2426666"/>
            <a:ext cx="3793331" cy="4489049"/>
          </a:xfrm>
          <a:prstGeom prst="rect">
            <a:avLst/>
          </a:prstGeom>
        </p:spPr>
        <p:txBody>
          <a:bodyPr vert="horz" wrap="square" lIns="0" tIns="46355" rIns="0" bIns="0" rtlCol="0">
            <a:spAutoFit/>
          </a:bodyPr>
          <a:lstStyle/>
          <a:p>
            <a:pPr marL="241300" marR="5080" indent="-228600">
              <a:lnSpc>
                <a:spcPts val="2160"/>
              </a:lnSpc>
              <a:spcBef>
                <a:spcPts val="365"/>
              </a:spcBef>
              <a:buSzPct val="95000"/>
              <a:buFont typeface="Wingdings"/>
              <a:buChar char=""/>
              <a:tabLst>
                <a:tab pos="241300" algn="l"/>
              </a:tabLst>
            </a:pPr>
            <a:r>
              <a:rPr sz="2000" spc="-5" dirty="0">
                <a:latin typeface="Calibri"/>
                <a:cs typeface="Calibri"/>
              </a:rPr>
              <a:t>A</a:t>
            </a:r>
            <a:r>
              <a:rPr sz="2000" dirty="0">
                <a:latin typeface="Calibri"/>
                <a:cs typeface="Calibri"/>
              </a:rPr>
              <a:t> </a:t>
            </a:r>
            <a:r>
              <a:rPr sz="2000" b="1" spc="-5" dirty="0">
                <a:latin typeface="Calibri"/>
                <a:cs typeface="Calibri"/>
              </a:rPr>
              <a:t>frequency</a:t>
            </a:r>
            <a:r>
              <a:rPr sz="2000" b="1" spc="-10" dirty="0">
                <a:latin typeface="Calibri"/>
                <a:cs typeface="Calibri"/>
              </a:rPr>
              <a:t> </a:t>
            </a:r>
            <a:r>
              <a:rPr sz="2000" b="1" spc="-15" dirty="0">
                <a:latin typeface="Calibri"/>
                <a:cs typeface="Calibri"/>
              </a:rPr>
              <a:t>polygon</a:t>
            </a:r>
            <a:r>
              <a:rPr sz="2000" b="1" spc="60" dirty="0">
                <a:latin typeface="Calibri"/>
                <a:cs typeface="Calibri"/>
              </a:rPr>
              <a:t> </a:t>
            </a:r>
            <a:r>
              <a:rPr sz="2000" spc="-5" dirty="0">
                <a:latin typeface="Calibri"/>
                <a:cs typeface="Calibri"/>
              </a:rPr>
              <a:t>is</a:t>
            </a:r>
            <a:r>
              <a:rPr sz="2000" spc="15" dirty="0">
                <a:latin typeface="Calibri"/>
                <a:cs typeface="Calibri"/>
              </a:rPr>
              <a:t> </a:t>
            </a:r>
            <a:r>
              <a:rPr sz="2000" spc="-5" dirty="0">
                <a:latin typeface="Calibri"/>
                <a:cs typeface="Calibri"/>
              </a:rPr>
              <a:t>a</a:t>
            </a:r>
            <a:r>
              <a:rPr sz="2000" spc="5" dirty="0">
                <a:latin typeface="Calibri"/>
                <a:cs typeface="Calibri"/>
              </a:rPr>
              <a:t> </a:t>
            </a:r>
            <a:r>
              <a:rPr sz="2000" spc="-15" dirty="0">
                <a:latin typeface="Calibri"/>
                <a:cs typeface="Calibri"/>
              </a:rPr>
              <a:t>graph</a:t>
            </a:r>
            <a:r>
              <a:rPr sz="2000" spc="5" dirty="0">
                <a:latin typeface="Calibri"/>
                <a:cs typeface="Calibri"/>
              </a:rPr>
              <a:t> </a:t>
            </a:r>
            <a:r>
              <a:rPr sz="2000" spc="-15" dirty="0">
                <a:latin typeface="Calibri"/>
                <a:cs typeface="Calibri"/>
              </a:rPr>
              <a:t>constructed</a:t>
            </a:r>
            <a:r>
              <a:rPr sz="2000" spc="60" dirty="0">
                <a:latin typeface="Calibri"/>
                <a:cs typeface="Calibri"/>
              </a:rPr>
              <a:t> </a:t>
            </a:r>
            <a:r>
              <a:rPr sz="2000" spc="-5" dirty="0">
                <a:latin typeface="Calibri"/>
                <a:cs typeface="Calibri"/>
              </a:rPr>
              <a:t>by </a:t>
            </a:r>
            <a:r>
              <a:rPr sz="2000" spc="-440" dirty="0">
                <a:latin typeface="Calibri"/>
                <a:cs typeface="Calibri"/>
              </a:rPr>
              <a:t> </a:t>
            </a:r>
            <a:r>
              <a:rPr sz="2000" spc="-5" dirty="0">
                <a:latin typeface="Calibri"/>
                <a:cs typeface="Calibri"/>
              </a:rPr>
              <a:t>using</a:t>
            </a:r>
            <a:r>
              <a:rPr sz="2000" spc="-10" dirty="0">
                <a:latin typeface="Calibri"/>
                <a:cs typeface="Calibri"/>
              </a:rPr>
              <a:t> </a:t>
            </a:r>
            <a:r>
              <a:rPr sz="2000" spc="-5" dirty="0">
                <a:latin typeface="Calibri"/>
                <a:cs typeface="Calibri"/>
              </a:rPr>
              <a:t>lines</a:t>
            </a:r>
            <a:r>
              <a:rPr sz="2000" spc="30" dirty="0">
                <a:latin typeface="Calibri"/>
                <a:cs typeface="Calibri"/>
              </a:rPr>
              <a:t> </a:t>
            </a:r>
            <a:r>
              <a:rPr sz="2000" spc="-15" dirty="0">
                <a:latin typeface="Calibri"/>
                <a:cs typeface="Calibri"/>
              </a:rPr>
              <a:t>to</a:t>
            </a:r>
            <a:r>
              <a:rPr sz="2000" dirty="0">
                <a:latin typeface="Calibri"/>
                <a:cs typeface="Calibri"/>
              </a:rPr>
              <a:t> </a:t>
            </a:r>
            <a:r>
              <a:rPr sz="2000" spc="-5" dirty="0">
                <a:latin typeface="Calibri"/>
                <a:cs typeface="Calibri"/>
              </a:rPr>
              <a:t>join</a:t>
            </a:r>
            <a:r>
              <a:rPr sz="2000" spc="-20" dirty="0">
                <a:latin typeface="Calibri"/>
                <a:cs typeface="Calibri"/>
              </a:rPr>
              <a:t> </a:t>
            </a:r>
            <a:r>
              <a:rPr sz="2000" spc="-5" dirty="0">
                <a:latin typeface="Calibri"/>
                <a:cs typeface="Calibri"/>
              </a:rPr>
              <a:t>the</a:t>
            </a:r>
            <a:r>
              <a:rPr sz="2000" spc="-10" dirty="0">
                <a:latin typeface="Calibri"/>
                <a:cs typeface="Calibri"/>
              </a:rPr>
              <a:t> </a:t>
            </a:r>
            <a:r>
              <a:rPr sz="2000" spc="-5" dirty="0">
                <a:latin typeface="Calibri"/>
                <a:cs typeface="Calibri"/>
              </a:rPr>
              <a:t>midpoints</a:t>
            </a:r>
            <a:r>
              <a:rPr sz="2000" spc="15" dirty="0">
                <a:latin typeface="Calibri"/>
                <a:cs typeface="Calibri"/>
              </a:rPr>
              <a:t> </a:t>
            </a:r>
            <a:r>
              <a:rPr sz="2000" spc="-5" dirty="0">
                <a:latin typeface="Calibri"/>
                <a:cs typeface="Calibri"/>
              </a:rPr>
              <a:t>of</a:t>
            </a:r>
            <a:r>
              <a:rPr sz="2000" spc="-15" dirty="0">
                <a:latin typeface="Calibri"/>
                <a:cs typeface="Calibri"/>
              </a:rPr>
              <a:t> </a:t>
            </a:r>
            <a:r>
              <a:rPr sz="2000" spc="-5" dirty="0">
                <a:latin typeface="Calibri"/>
                <a:cs typeface="Calibri"/>
              </a:rPr>
              <a:t>each </a:t>
            </a:r>
            <a:r>
              <a:rPr sz="2000" dirty="0">
                <a:latin typeface="Calibri"/>
                <a:cs typeface="Calibri"/>
              </a:rPr>
              <a:t> </a:t>
            </a:r>
            <a:r>
              <a:rPr sz="2000" spc="-10" dirty="0">
                <a:latin typeface="Calibri"/>
                <a:cs typeface="Calibri"/>
              </a:rPr>
              <a:t>interval,</a:t>
            </a:r>
            <a:r>
              <a:rPr sz="2000" spc="25" dirty="0">
                <a:latin typeface="Calibri"/>
                <a:cs typeface="Calibri"/>
              </a:rPr>
              <a:t> </a:t>
            </a:r>
            <a:r>
              <a:rPr sz="2000" spc="-5" dirty="0">
                <a:latin typeface="Calibri"/>
                <a:cs typeface="Calibri"/>
              </a:rPr>
              <a:t>or</a:t>
            </a:r>
            <a:r>
              <a:rPr sz="2000" spc="5" dirty="0">
                <a:latin typeface="Calibri"/>
                <a:cs typeface="Calibri"/>
              </a:rPr>
              <a:t> </a:t>
            </a:r>
            <a:r>
              <a:rPr sz="2000" dirty="0">
                <a:latin typeface="Calibri"/>
                <a:cs typeface="Calibri"/>
              </a:rPr>
              <a:t>bin.</a:t>
            </a:r>
            <a:endParaRPr sz="2000">
              <a:latin typeface="Calibri"/>
              <a:cs typeface="Calibri"/>
            </a:endParaRPr>
          </a:p>
          <a:p>
            <a:pPr marL="241300" marR="781050" indent="-228600">
              <a:lnSpc>
                <a:spcPts val="2160"/>
              </a:lnSpc>
              <a:spcBef>
                <a:spcPts val="1010"/>
              </a:spcBef>
              <a:buSzPct val="95000"/>
              <a:buFont typeface="Wingdings"/>
              <a:buChar char=""/>
              <a:tabLst>
                <a:tab pos="241300" algn="l"/>
              </a:tabLst>
            </a:pPr>
            <a:r>
              <a:rPr sz="2000" spc="-10" dirty="0">
                <a:latin typeface="Calibri"/>
                <a:cs typeface="Calibri"/>
              </a:rPr>
              <a:t>The</a:t>
            </a:r>
            <a:r>
              <a:rPr sz="2000" spc="5" dirty="0">
                <a:latin typeface="Calibri"/>
                <a:cs typeface="Calibri"/>
              </a:rPr>
              <a:t> </a:t>
            </a:r>
            <a:r>
              <a:rPr sz="2000" spc="-10" dirty="0">
                <a:latin typeface="Calibri"/>
                <a:cs typeface="Calibri"/>
              </a:rPr>
              <a:t>heights</a:t>
            </a:r>
            <a:r>
              <a:rPr sz="2000" spc="15" dirty="0">
                <a:latin typeface="Calibri"/>
                <a:cs typeface="Calibri"/>
              </a:rPr>
              <a:t> </a:t>
            </a:r>
            <a:r>
              <a:rPr sz="2000" spc="-5" dirty="0">
                <a:latin typeface="Calibri"/>
                <a:cs typeface="Calibri"/>
              </a:rPr>
              <a:t>of</a:t>
            </a:r>
            <a:r>
              <a:rPr sz="2000" spc="-20" dirty="0">
                <a:latin typeface="Calibri"/>
                <a:cs typeface="Calibri"/>
              </a:rPr>
              <a:t> </a:t>
            </a:r>
            <a:r>
              <a:rPr sz="2000" spc="-5" dirty="0">
                <a:latin typeface="Calibri"/>
                <a:cs typeface="Calibri"/>
              </a:rPr>
              <a:t>the</a:t>
            </a:r>
            <a:r>
              <a:rPr sz="2000" spc="10" dirty="0">
                <a:latin typeface="Calibri"/>
                <a:cs typeface="Calibri"/>
              </a:rPr>
              <a:t> </a:t>
            </a:r>
            <a:r>
              <a:rPr sz="2000" spc="-5" dirty="0">
                <a:latin typeface="Calibri"/>
                <a:cs typeface="Calibri"/>
              </a:rPr>
              <a:t>points</a:t>
            </a:r>
            <a:r>
              <a:rPr sz="2000" spc="-15" dirty="0">
                <a:latin typeface="Calibri"/>
                <a:cs typeface="Calibri"/>
              </a:rPr>
              <a:t> represent</a:t>
            </a:r>
            <a:r>
              <a:rPr sz="2000" spc="65" dirty="0">
                <a:latin typeface="Calibri"/>
                <a:cs typeface="Calibri"/>
              </a:rPr>
              <a:t> </a:t>
            </a:r>
            <a:r>
              <a:rPr sz="2000" spc="-5" dirty="0">
                <a:latin typeface="Calibri"/>
                <a:cs typeface="Calibri"/>
              </a:rPr>
              <a:t>the </a:t>
            </a:r>
            <a:r>
              <a:rPr sz="2000" spc="-434" dirty="0">
                <a:latin typeface="Calibri"/>
                <a:cs typeface="Calibri"/>
              </a:rPr>
              <a:t> </a:t>
            </a:r>
            <a:r>
              <a:rPr sz="2000" spc="-10" dirty="0">
                <a:latin typeface="Calibri"/>
                <a:cs typeface="Calibri"/>
              </a:rPr>
              <a:t>frequencies.</a:t>
            </a:r>
            <a:endParaRPr sz="2000">
              <a:latin typeface="Calibri"/>
              <a:cs typeface="Calibri"/>
            </a:endParaRPr>
          </a:p>
          <a:p>
            <a:pPr marL="241300" marR="27940" indent="-228600">
              <a:lnSpc>
                <a:spcPct val="90000"/>
              </a:lnSpc>
              <a:spcBef>
                <a:spcPts val="955"/>
              </a:spcBef>
              <a:buSzPct val="95000"/>
              <a:buFont typeface="Wingdings"/>
              <a:buChar char=""/>
              <a:tabLst>
                <a:tab pos="241300" algn="l"/>
              </a:tabLst>
            </a:pPr>
            <a:r>
              <a:rPr sz="2000" spc="-5" dirty="0">
                <a:latin typeface="Calibri"/>
                <a:cs typeface="Calibri"/>
              </a:rPr>
              <a:t>A</a:t>
            </a:r>
            <a:r>
              <a:rPr sz="2000" spc="-15" dirty="0">
                <a:latin typeface="Calibri"/>
                <a:cs typeface="Calibri"/>
              </a:rPr>
              <a:t> </a:t>
            </a:r>
            <a:r>
              <a:rPr sz="2000" spc="-10" dirty="0">
                <a:latin typeface="Calibri"/>
                <a:cs typeface="Calibri"/>
              </a:rPr>
              <a:t>frequency</a:t>
            </a:r>
            <a:r>
              <a:rPr sz="2000" spc="25" dirty="0">
                <a:latin typeface="Calibri"/>
                <a:cs typeface="Calibri"/>
              </a:rPr>
              <a:t> </a:t>
            </a:r>
            <a:r>
              <a:rPr sz="2000" spc="-10" dirty="0">
                <a:latin typeface="Calibri"/>
                <a:cs typeface="Calibri"/>
              </a:rPr>
              <a:t>polygon</a:t>
            </a:r>
            <a:r>
              <a:rPr sz="2000" spc="-20" dirty="0">
                <a:latin typeface="Calibri"/>
                <a:cs typeface="Calibri"/>
              </a:rPr>
              <a:t> </a:t>
            </a:r>
            <a:r>
              <a:rPr sz="2000" spc="-15" dirty="0">
                <a:latin typeface="Calibri"/>
                <a:cs typeface="Calibri"/>
              </a:rPr>
              <a:t>can</a:t>
            </a:r>
            <a:r>
              <a:rPr sz="2000" spc="5" dirty="0">
                <a:latin typeface="Calibri"/>
                <a:cs typeface="Calibri"/>
              </a:rPr>
              <a:t> </a:t>
            </a:r>
            <a:r>
              <a:rPr sz="2000" dirty="0">
                <a:latin typeface="Calibri"/>
                <a:cs typeface="Calibri"/>
              </a:rPr>
              <a:t>be</a:t>
            </a:r>
            <a:r>
              <a:rPr sz="2000" spc="-15" dirty="0">
                <a:latin typeface="Calibri"/>
                <a:cs typeface="Calibri"/>
              </a:rPr>
              <a:t> created</a:t>
            </a:r>
            <a:r>
              <a:rPr sz="2000" spc="50" dirty="0">
                <a:latin typeface="Calibri"/>
                <a:cs typeface="Calibri"/>
              </a:rPr>
              <a:t> </a:t>
            </a:r>
            <a:r>
              <a:rPr sz="2000" spc="-15" dirty="0">
                <a:latin typeface="Calibri"/>
                <a:cs typeface="Calibri"/>
              </a:rPr>
              <a:t>from</a:t>
            </a:r>
            <a:r>
              <a:rPr sz="2000" spc="10" dirty="0">
                <a:latin typeface="Calibri"/>
                <a:cs typeface="Calibri"/>
              </a:rPr>
              <a:t> </a:t>
            </a:r>
            <a:r>
              <a:rPr sz="2000" spc="-5" dirty="0">
                <a:latin typeface="Calibri"/>
                <a:cs typeface="Calibri"/>
              </a:rPr>
              <a:t>the </a:t>
            </a:r>
            <a:r>
              <a:rPr sz="2000" dirty="0">
                <a:latin typeface="Calibri"/>
                <a:cs typeface="Calibri"/>
              </a:rPr>
              <a:t> </a:t>
            </a:r>
            <a:r>
              <a:rPr sz="2000" spc="-20" dirty="0">
                <a:latin typeface="Calibri"/>
                <a:cs typeface="Calibri"/>
              </a:rPr>
              <a:t>histogram</a:t>
            </a:r>
            <a:r>
              <a:rPr sz="2000" spc="45" dirty="0">
                <a:latin typeface="Calibri"/>
                <a:cs typeface="Calibri"/>
              </a:rPr>
              <a:t> </a:t>
            </a:r>
            <a:r>
              <a:rPr sz="2000" spc="-5" dirty="0">
                <a:latin typeface="Calibri"/>
                <a:cs typeface="Calibri"/>
              </a:rPr>
              <a:t>or</a:t>
            </a:r>
            <a:r>
              <a:rPr sz="2000" dirty="0">
                <a:latin typeface="Calibri"/>
                <a:cs typeface="Calibri"/>
              </a:rPr>
              <a:t> </a:t>
            </a:r>
            <a:r>
              <a:rPr sz="2000" spc="-5" dirty="0">
                <a:latin typeface="Calibri"/>
                <a:cs typeface="Calibri"/>
              </a:rPr>
              <a:t>by</a:t>
            </a:r>
            <a:r>
              <a:rPr sz="2000" spc="-35" dirty="0">
                <a:latin typeface="Calibri"/>
                <a:cs typeface="Calibri"/>
              </a:rPr>
              <a:t> </a:t>
            </a:r>
            <a:r>
              <a:rPr sz="2000" spc="-10" dirty="0">
                <a:latin typeface="Calibri"/>
                <a:cs typeface="Calibri"/>
              </a:rPr>
              <a:t>calculating</a:t>
            </a:r>
            <a:r>
              <a:rPr sz="2000" spc="45" dirty="0">
                <a:latin typeface="Calibri"/>
                <a:cs typeface="Calibri"/>
              </a:rPr>
              <a:t> </a:t>
            </a:r>
            <a:r>
              <a:rPr sz="2000" spc="-5" dirty="0">
                <a:latin typeface="Calibri"/>
                <a:cs typeface="Calibri"/>
              </a:rPr>
              <a:t>the</a:t>
            </a:r>
            <a:r>
              <a:rPr sz="2000" spc="-10" dirty="0">
                <a:latin typeface="Calibri"/>
                <a:cs typeface="Calibri"/>
              </a:rPr>
              <a:t> </a:t>
            </a:r>
            <a:r>
              <a:rPr sz="2000" spc="-5" dirty="0">
                <a:latin typeface="Calibri"/>
                <a:cs typeface="Calibri"/>
              </a:rPr>
              <a:t>midpoints</a:t>
            </a:r>
            <a:r>
              <a:rPr sz="2000" spc="45" dirty="0">
                <a:latin typeface="Calibri"/>
                <a:cs typeface="Calibri"/>
              </a:rPr>
              <a:t> </a:t>
            </a:r>
            <a:r>
              <a:rPr sz="2000" spc="-5" dirty="0">
                <a:latin typeface="Calibri"/>
                <a:cs typeface="Calibri"/>
              </a:rPr>
              <a:t>of </a:t>
            </a:r>
            <a:r>
              <a:rPr sz="2000" dirty="0">
                <a:latin typeface="Calibri"/>
                <a:cs typeface="Calibri"/>
              </a:rPr>
              <a:t> the</a:t>
            </a:r>
            <a:r>
              <a:rPr sz="2000" spc="-20" dirty="0">
                <a:latin typeface="Calibri"/>
                <a:cs typeface="Calibri"/>
              </a:rPr>
              <a:t> </a:t>
            </a:r>
            <a:r>
              <a:rPr sz="2000" dirty="0">
                <a:latin typeface="Calibri"/>
                <a:cs typeface="Calibri"/>
              </a:rPr>
              <a:t>bins</a:t>
            </a:r>
            <a:r>
              <a:rPr sz="2000" spc="5" dirty="0">
                <a:latin typeface="Calibri"/>
                <a:cs typeface="Calibri"/>
              </a:rPr>
              <a:t> </a:t>
            </a:r>
            <a:r>
              <a:rPr sz="2000" spc="-15" dirty="0">
                <a:latin typeface="Calibri"/>
                <a:cs typeface="Calibri"/>
              </a:rPr>
              <a:t>from</a:t>
            </a:r>
            <a:r>
              <a:rPr sz="2000" spc="-10" dirty="0">
                <a:latin typeface="Calibri"/>
                <a:cs typeface="Calibri"/>
              </a:rPr>
              <a:t> </a:t>
            </a:r>
            <a:r>
              <a:rPr sz="2000" dirty="0">
                <a:latin typeface="Calibri"/>
                <a:cs typeface="Calibri"/>
              </a:rPr>
              <a:t>the</a:t>
            </a:r>
            <a:r>
              <a:rPr sz="2000" spc="-15" dirty="0">
                <a:latin typeface="Calibri"/>
                <a:cs typeface="Calibri"/>
              </a:rPr>
              <a:t> </a:t>
            </a:r>
            <a:r>
              <a:rPr sz="2000" spc="-10" dirty="0">
                <a:latin typeface="Calibri"/>
                <a:cs typeface="Calibri"/>
              </a:rPr>
              <a:t>frequency</a:t>
            </a:r>
            <a:r>
              <a:rPr sz="2000" spc="25" dirty="0">
                <a:latin typeface="Calibri"/>
                <a:cs typeface="Calibri"/>
              </a:rPr>
              <a:t> </a:t>
            </a:r>
            <a:r>
              <a:rPr sz="2000" spc="-5" dirty="0">
                <a:latin typeface="Calibri"/>
                <a:cs typeface="Calibri"/>
              </a:rPr>
              <a:t>distribution</a:t>
            </a:r>
            <a:r>
              <a:rPr sz="2000" spc="25" dirty="0">
                <a:latin typeface="Calibri"/>
                <a:cs typeface="Calibri"/>
              </a:rPr>
              <a:t> </a:t>
            </a:r>
            <a:r>
              <a:rPr sz="2000" spc="-10" dirty="0">
                <a:latin typeface="Calibri"/>
                <a:cs typeface="Calibri"/>
              </a:rPr>
              <a:t>table. </a:t>
            </a:r>
            <a:r>
              <a:rPr sz="2000" spc="-434" dirty="0">
                <a:latin typeface="Calibri"/>
                <a:cs typeface="Calibri"/>
              </a:rPr>
              <a:t> </a:t>
            </a:r>
            <a:r>
              <a:rPr sz="2000" spc="-10" dirty="0">
                <a:latin typeface="Calibri"/>
                <a:cs typeface="Calibri"/>
              </a:rPr>
              <a:t>The</a:t>
            </a:r>
            <a:r>
              <a:rPr sz="2000" spc="20" dirty="0">
                <a:latin typeface="Calibri"/>
                <a:cs typeface="Calibri"/>
              </a:rPr>
              <a:t> </a:t>
            </a:r>
            <a:r>
              <a:rPr sz="2000" b="1" spc="-10" dirty="0">
                <a:latin typeface="Calibri"/>
                <a:cs typeface="Calibri"/>
              </a:rPr>
              <a:t>midpoint</a:t>
            </a:r>
            <a:r>
              <a:rPr sz="2000" b="1" dirty="0">
                <a:latin typeface="Calibri"/>
                <a:cs typeface="Calibri"/>
              </a:rPr>
              <a:t> </a:t>
            </a:r>
            <a:r>
              <a:rPr sz="2000" spc="-5" dirty="0">
                <a:latin typeface="Calibri"/>
                <a:cs typeface="Calibri"/>
              </a:rPr>
              <a:t>of</a:t>
            </a:r>
            <a:r>
              <a:rPr sz="2000" spc="-10" dirty="0">
                <a:latin typeface="Calibri"/>
                <a:cs typeface="Calibri"/>
              </a:rPr>
              <a:t> </a:t>
            </a:r>
            <a:r>
              <a:rPr sz="2000" spc="-5" dirty="0">
                <a:latin typeface="Calibri"/>
                <a:cs typeface="Calibri"/>
              </a:rPr>
              <a:t>a</a:t>
            </a:r>
            <a:r>
              <a:rPr sz="2000" spc="10" dirty="0">
                <a:latin typeface="Calibri"/>
                <a:cs typeface="Calibri"/>
              </a:rPr>
              <a:t> </a:t>
            </a:r>
            <a:r>
              <a:rPr sz="2000" spc="-5" dirty="0">
                <a:latin typeface="Calibri"/>
                <a:cs typeface="Calibri"/>
              </a:rPr>
              <a:t>bin</a:t>
            </a:r>
            <a:r>
              <a:rPr sz="2000" spc="-10" dirty="0">
                <a:latin typeface="Calibri"/>
                <a:cs typeface="Calibri"/>
              </a:rPr>
              <a:t> </a:t>
            </a:r>
            <a:r>
              <a:rPr sz="2000" spc="-5" dirty="0">
                <a:latin typeface="Calibri"/>
                <a:cs typeface="Calibri"/>
              </a:rPr>
              <a:t>is</a:t>
            </a:r>
            <a:r>
              <a:rPr sz="2000" spc="15" dirty="0">
                <a:latin typeface="Calibri"/>
                <a:cs typeface="Calibri"/>
              </a:rPr>
              <a:t> </a:t>
            </a:r>
            <a:r>
              <a:rPr sz="2000" spc="-15" dirty="0">
                <a:latin typeface="Calibri"/>
                <a:cs typeface="Calibri"/>
              </a:rPr>
              <a:t>calculated</a:t>
            </a:r>
            <a:r>
              <a:rPr sz="2000" spc="60" dirty="0">
                <a:latin typeface="Calibri"/>
                <a:cs typeface="Calibri"/>
              </a:rPr>
              <a:t> </a:t>
            </a:r>
            <a:r>
              <a:rPr sz="2000" spc="-5" dirty="0">
                <a:latin typeface="Calibri"/>
                <a:cs typeface="Calibri"/>
              </a:rPr>
              <a:t>by</a:t>
            </a:r>
            <a:r>
              <a:rPr sz="2000" spc="-10" dirty="0">
                <a:latin typeface="Calibri"/>
                <a:cs typeface="Calibri"/>
              </a:rPr>
              <a:t> </a:t>
            </a:r>
            <a:r>
              <a:rPr sz="2000" spc="-5" dirty="0">
                <a:latin typeface="Calibri"/>
                <a:cs typeface="Calibri"/>
              </a:rPr>
              <a:t>adding </a:t>
            </a:r>
            <a:r>
              <a:rPr sz="2000" dirty="0">
                <a:latin typeface="Calibri"/>
                <a:cs typeface="Calibri"/>
              </a:rPr>
              <a:t> the</a:t>
            </a:r>
            <a:r>
              <a:rPr sz="2000" spc="-20" dirty="0">
                <a:latin typeface="Calibri"/>
                <a:cs typeface="Calibri"/>
              </a:rPr>
              <a:t> </a:t>
            </a:r>
            <a:r>
              <a:rPr sz="2000" spc="-5" dirty="0">
                <a:latin typeface="Calibri"/>
                <a:cs typeface="Calibri"/>
              </a:rPr>
              <a:t>upper</a:t>
            </a:r>
            <a:r>
              <a:rPr sz="2000" dirty="0">
                <a:latin typeface="Calibri"/>
                <a:cs typeface="Calibri"/>
              </a:rPr>
              <a:t> and</a:t>
            </a:r>
            <a:r>
              <a:rPr sz="2000" spc="-15" dirty="0">
                <a:latin typeface="Calibri"/>
                <a:cs typeface="Calibri"/>
              </a:rPr>
              <a:t> lower</a:t>
            </a:r>
            <a:r>
              <a:rPr sz="2000" spc="20" dirty="0">
                <a:latin typeface="Calibri"/>
                <a:cs typeface="Calibri"/>
              </a:rPr>
              <a:t> </a:t>
            </a:r>
            <a:r>
              <a:rPr sz="2000" spc="-5" dirty="0">
                <a:latin typeface="Calibri"/>
                <a:cs typeface="Calibri"/>
              </a:rPr>
              <a:t>boundary</a:t>
            </a:r>
            <a:r>
              <a:rPr sz="2000" spc="-10" dirty="0">
                <a:latin typeface="Calibri"/>
                <a:cs typeface="Calibri"/>
              </a:rPr>
              <a:t> values</a:t>
            </a:r>
            <a:r>
              <a:rPr sz="2000" spc="35" dirty="0">
                <a:latin typeface="Calibri"/>
                <a:cs typeface="Calibri"/>
              </a:rPr>
              <a:t> </a:t>
            </a:r>
            <a:r>
              <a:rPr sz="2000" spc="-5" dirty="0">
                <a:latin typeface="Calibri"/>
                <a:cs typeface="Calibri"/>
              </a:rPr>
              <a:t>of </a:t>
            </a:r>
            <a:r>
              <a:rPr sz="2000" dirty="0">
                <a:latin typeface="Calibri"/>
                <a:cs typeface="Calibri"/>
              </a:rPr>
              <a:t>the </a:t>
            </a:r>
            <a:r>
              <a:rPr sz="2000" spc="5" dirty="0">
                <a:latin typeface="Calibri"/>
                <a:cs typeface="Calibri"/>
              </a:rPr>
              <a:t> </a:t>
            </a:r>
            <a:r>
              <a:rPr sz="2000" spc="-5" dirty="0">
                <a:latin typeface="Calibri"/>
                <a:cs typeface="Calibri"/>
              </a:rPr>
              <a:t>bin</a:t>
            </a:r>
            <a:r>
              <a:rPr sz="2000" dirty="0">
                <a:latin typeface="Calibri"/>
                <a:cs typeface="Calibri"/>
              </a:rPr>
              <a:t> and</a:t>
            </a:r>
            <a:r>
              <a:rPr sz="2000" spc="-15" dirty="0">
                <a:latin typeface="Calibri"/>
                <a:cs typeface="Calibri"/>
              </a:rPr>
              <a:t> </a:t>
            </a:r>
            <a:r>
              <a:rPr sz="2000" spc="-5" dirty="0">
                <a:latin typeface="Calibri"/>
                <a:cs typeface="Calibri"/>
              </a:rPr>
              <a:t>dividing the</a:t>
            </a:r>
            <a:r>
              <a:rPr sz="2000" spc="15" dirty="0">
                <a:latin typeface="Calibri"/>
                <a:cs typeface="Calibri"/>
              </a:rPr>
              <a:t> </a:t>
            </a:r>
            <a:r>
              <a:rPr sz="2000" spc="-10" dirty="0">
                <a:latin typeface="Calibri"/>
                <a:cs typeface="Calibri"/>
              </a:rPr>
              <a:t>sum</a:t>
            </a:r>
            <a:r>
              <a:rPr sz="2000" spc="10" dirty="0">
                <a:latin typeface="Calibri"/>
                <a:cs typeface="Calibri"/>
              </a:rPr>
              <a:t> </a:t>
            </a:r>
            <a:r>
              <a:rPr sz="2000" spc="-5" dirty="0">
                <a:latin typeface="Calibri"/>
                <a:cs typeface="Calibri"/>
              </a:rPr>
              <a:t>by</a:t>
            </a:r>
            <a:r>
              <a:rPr sz="2000" spc="-40" dirty="0">
                <a:latin typeface="Calibri"/>
                <a:cs typeface="Calibri"/>
              </a:rPr>
              <a:t> </a:t>
            </a:r>
            <a:r>
              <a:rPr sz="2000" spc="-5" dirty="0">
                <a:latin typeface="Calibri"/>
                <a:cs typeface="Calibri"/>
              </a:rPr>
              <a:t>2</a:t>
            </a:r>
            <a:endParaRPr sz="2000">
              <a:latin typeface="Calibri"/>
              <a:cs typeface="Calibri"/>
            </a:endParaRPr>
          </a:p>
        </p:txBody>
      </p:sp>
      <p:grpSp>
        <p:nvGrpSpPr>
          <p:cNvPr id="4" name="object 4"/>
          <p:cNvGrpSpPr/>
          <p:nvPr/>
        </p:nvGrpSpPr>
        <p:grpSpPr>
          <a:xfrm>
            <a:off x="4672584" y="0"/>
            <a:ext cx="4471511" cy="6858000"/>
            <a:chOff x="6230111" y="0"/>
            <a:chExt cx="5962015" cy="6858000"/>
          </a:xfrm>
        </p:grpSpPr>
        <p:sp>
          <p:nvSpPr>
            <p:cNvPr id="5" name="object 5"/>
            <p:cNvSpPr/>
            <p:nvPr/>
          </p:nvSpPr>
          <p:spPr>
            <a:xfrm>
              <a:off x="6230111" y="0"/>
              <a:ext cx="5962015" cy="6858000"/>
            </a:xfrm>
            <a:custGeom>
              <a:avLst/>
              <a:gdLst/>
              <a:ahLst/>
              <a:cxnLst/>
              <a:rect l="l" t="t" r="r" b="b"/>
              <a:pathLst>
                <a:path w="5962015" h="6858000">
                  <a:moveTo>
                    <a:pt x="5961888" y="0"/>
                  </a:moveTo>
                  <a:lnTo>
                    <a:pt x="0" y="0"/>
                  </a:lnTo>
                  <a:lnTo>
                    <a:pt x="0" y="6858000"/>
                  </a:lnTo>
                  <a:lnTo>
                    <a:pt x="5961888" y="6858000"/>
                  </a:lnTo>
                  <a:lnTo>
                    <a:pt x="5961888" y="0"/>
                  </a:lnTo>
                  <a:close/>
                </a:path>
              </a:pathLst>
            </a:custGeom>
            <a:solidFill>
              <a:srgbClr val="4D563D"/>
            </a:solidFill>
          </p:spPr>
          <p:txBody>
            <a:bodyPr wrap="square" lIns="0" tIns="0" rIns="0" bIns="0" rtlCol="0"/>
            <a:lstStyle/>
            <a:p>
              <a:endParaRPr/>
            </a:p>
          </p:txBody>
        </p:sp>
        <p:pic>
          <p:nvPicPr>
            <p:cNvPr id="6" name="object 6"/>
            <p:cNvPicPr/>
            <p:nvPr/>
          </p:nvPicPr>
          <p:blipFill>
            <a:blip r:embed="rId2" cstate="print"/>
            <a:stretch>
              <a:fillRect/>
            </a:stretch>
          </p:blipFill>
          <p:spPr>
            <a:xfrm>
              <a:off x="6662927" y="438911"/>
              <a:ext cx="4980432" cy="2874264"/>
            </a:xfrm>
            <a:prstGeom prst="rect">
              <a:avLst/>
            </a:prstGeom>
          </p:spPr>
        </p:pic>
        <p:sp>
          <p:nvSpPr>
            <p:cNvPr id="7" name="object 7"/>
            <p:cNvSpPr/>
            <p:nvPr/>
          </p:nvSpPr>
          <p:spPr>
            <a:xfrm>
              <a:off x="6729983" y="484632"/>
              <a:ext cx="4846320" cy="2743200"/>
            </a:xfrm>
            <a:custGeom>
              <a:avLst/>
              <a:gdLst/>
              <a:ahLst/>
              <a:cxnLst/>
              <a:rect l="l" t="t" r="r" b="b"/>
              <a:pathLst>
                <a:path w="4846320" h="2743200">
                  <a:moveTo>
                    <a:pt x="4846320" y="0"/>
                  </a:moveTo>
                  <a:lnTo>
                    <a:pt x="0" y="0"/>
                  </a:lnTo>
                  <a:lnTo>
                    <a:pt x="0" y="2743200"/>
                  </a:lnTo>
                  <a:lnTo>
                    <a:pt x="4846320" y="2743200"/>
                  </a:lnTo>
                  <a:lnTo>
                    <a:pt x="4846320" y="0"/>
                  </a:lnTo>
                  <a:close/>
                </a:path>
              </a:pathLst>
            </a:custGeom>
            <a:solidFill>
              <a:srgbClr val="FFFFFF"/>
            </a:solidFill>
          </p:spPr>
          <p:txBody>
            <a:bodyPr wrap="square" lIns="0" tIns="0" rIns="0" bIns="0" rtlCol="0"/>
            <a:lstStyle/>
            <a:p>
              <a:endParaRPr/>
            </a:p>
          </p:txBody>
        </p:sp>
        <p:sp>
          <p:nvSpPr>
            <p:cNvPr id="8" name="object 8"/>
            <p:cNvSpPr/>
            <p:nvPr/>
          </p:nvSpPr>
          <p:spPr>
            <a:xfrm>
              <a:off x="6729983" y="484632"/>
              <a:ext cx="4846320" cy="2743200"/>
            </a:xfrm>
            <a:custGeom>
              <a:avLst/>
              <a:gdLst/>
              <a:ahLst/>
              <a:cxnLst/>
              <a:rect l="l" t="t" r="r" b="b"/>
              <a:pathLst>
                <a:path w="4846320" h="2743200">
                  <a:moveTo>
                    <a:pt x="0" y="2743200"/>
                  </a:moveTo>
                  <a:lnTo>
                    <a:pt x="4846320" y="2743200"/>
                  </a:lnTo>
                  <a:lnTo>
                    <a:pt x="4846320" y="0"/>
                  </a:lnTo>
                  <a:lnTo>
                    <a:pt x="0" y="0"/>
                  </a:lnTo>
                  <a:lnTo>
                    <a:pt x="0" y="2743200"/>
                  </a:lnTo>
                  <a:close/>
                </a:path>
              </a:pathLst>
            </a:custGeom>
            <a:ln w="9525">
              <a:solidFill>
                <a:srgbClr val="C7C9C9"/>
              </a:solidFill>
            </a:ln>
          </p:spPr>
          <p:txBody>
            <a:bodyPr wrap="square" lIns="0" tIns="0" rIns="0" bIns="0" rtlCol="0"/>
            <a:lstStyle/>
            <a:p>
              <a:endParaRPr/>
            </a:p>
          </p:txBody>
        </p:sp>
        <p:pic>
          <p:nvPicPr>
            <p:cNvPr id="9" name="object 9"/>
            <p:cNvPicPr/>
            <p:nvPr/>
          </p:nvPicPr>
          <p:blipFill>
            <a:blip r:embed="rId3" cstate="print"/>
            <a:stretch>
              <a:fillRect/>
            </a:stretch>
          </p:blipFill>
          <p:spPr>
            <a:xfrm>
              <a:off x="7994395" y="694943"/>
              <a:ext cx="2335783" cy="2322576"/>
            </a:xfrm>
            <a:prstGeom prst="rect">
              <a:avLst/>
            </a:prstGeom>
          </p:spPr>
        </p:pic>
        <p:pic>
          <p:nvPicPr>
            <p:cNvPr id="10" name="object 10"/>
            <p:cNvPicPr/>
            <p:nvPr/>
          </p:nvPicPr>
          <p:blipFill>
            <a:blip r:embed="rId2" cstate="print"/>
            <a:stretch>
              <a:fillRect/>
            </a:stretch>
          </p:blipFill>
          <p:spPr>
            <a:xfrm>
              <a:off x="6662927" y="3465575"/>
              <a:ext cx="4980432" cy="2874264"/>
            </a:xfrm>
            <a:prstGeom prst="rect">
              <a:avLst/>
            </a:prstGeom>
          </p:spPr>
        </p:pic>
        <p:sp>
          <p:nvSpPr>
            <p:cNvPr id="11" name="object 11"/>
            <p:cNvSpPr/>
            <p:nvPr/>
          </p:nvSpPr>
          <p:spPr>
            <a:xfrm>
              <a:off x="6729983" y="3511296"/>
              <a:ext cx="4846320" cy="2743200"/>
            </a:xfrm>
            <a:custGeom>
              <a:avLst/>
              <a:gdLst/>
              <a:ahLst/>
              <a:cxnLst/>
              <a:rect l="l" t="t" r="r" b="b"/>
              <a:pathLst>
                <a:path w="4846320" h="2743200">
                  <a:moveTo>
                    <a:pt x="4846320" y="0"/>
                  </a:moveTo>
                  <a:lnTo>
                    <a:pt x="0" y="0"/>
                  </a:lnTo>
                  <a:lnTo>
                    <a:pt x="0" y="2743199"/>
                  </a:lnTo>
                  <a:lnTo>
                    <a:pt x="4846320" y="2743199"/>
                  </a:lnTo>
                  <a:lnTo>
                    <a:pt x="4846320" y="0"/>
                  </a:lnTo>
                  <a:close/>
                </a:path>
              </a:pathLst>
            </a:custGeom>
            <a:solidFill>
              <a:srgbClr val="FFFFFF"/>
            </a:solidFill>
          </p:spPr>
          <p:txBody>
            <a:bodyPr wrap="square" lIns="0" tIns="0" rIns="0" bIns="0" rtlCol="0"/>
            <a:lstStyle/>
            <a:p>
              <a:endParaRPr/>
            </a:p>
          </p:txBody>
        </p:sp>
        <p:sp>
          <p:nvSpPr>
            <p:cNvPr id="12" name="object 12"/>
            <p:cNvSpPr/>
            <p:nvPr/>
          </p:nvSpPr>
          <p:spPr>
            <a:xfrm>
              <a:off x="6729983" y="3511296"/>
              <a:ext cx="4846320" cy="2743200"/>
            </a:xfrm>
            <a:custGeom>
              <a:avLst/>
              <a:gdLst/>
              <a:ahLst/>
              <a:cxnLst/>
              <a:rect l="l" t="t" r="r" b="b"/>
              <a:pathLst>
                <a:path w="4846320" h="2743200">
                  <a:moveTo>
                    <a:pt x="0" y="2743199"/>
                  </a:moveTo>
                  <a:lnTo>
                    <a:pt x="4846320" y="2743199"/>
                  </a:lnTo>
                  <a:lnTo>
                    <a:pt x="4846320" y="0"/>
                  </a:lnTo>
                  <a:lnTo>
                    <a:pt x="0" y="0"/>
                  </a:lnTo>
                  <a:lnTo>
                    <a:pt x="0" y="2743199"/>
                  </a:lnTo>
                  <a:close/>
                </a:path>
              </a:pathLst>
            </a:custGeom>
            <a:ln w="9525">
              <a:solidFill>
                <a:srgbClr val="C7C9C9"/>
              </a:solidFill>
            </a:ln>
          </p:spPr>
          <p:txBody>
            <a:bodyPr wrap="square" lIns="0" tIns="0" rIns="0" bIns="0" rtlCol="0"/>
            <a:lstStyle/>
            <a:p>
              <a:endParaRPr/>
            </a:p>
          </p:txBody>
        </p:sp>
        <p:pic>
          <p:nvPicPr>
            <p:cNvPr id="13" name="object 13"/>
            <p:cNvPicPr/>
            <p:nvPr/>
          </p:nvPicPr>
          <p:blipFill>
            <a:blip r:embed="rId4" cstate="print"/>
            <a:stretch>
              <a:fillRect/>
            </a:stretch>
          </p:blipFill>
          <p:spPr>
            <a:xfrm>
              <a:off x="7811897" y="3721608"/>
              <a:ext cx="2700654" cy="2322576"/>
            </a:xfrm>
            <a:prstGeom prst="rect">
              <a:avLst/>
            </a:prstGeom>
          </p:spPr>
        </p:pic>
      </p:grpSp>
    </p:spTree>
    <p:extLst>
      <p:ext uri="{BB962C8B-B14F-4D97-AF65-F5344CB8AC3E}">
        <p14:creationId xmlns:p14="http://schemas.microsoft.com/office/powerpoint/2010/main" val="7430798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45972" y="1028746"/>
            <a:ext cx="4010057" cy="689291"/>
          </a:xfrm>
          <a:prstGeom prst="rect">
            <a:avLst/>
          </a:prstGeom>
        </p:spPr>
        <p:txBody>
          <a:bodyPr vert="horz" wrap="square" lIns="0" tIns="12065" rIns="0" bIns="0" rtlCol="0">
            <a:spAutoFit/>
          </a:bodyPr>
          <a:lstStyle/>
          <a:p>
            <a:pPr marL="12700">
              <a:lnSpc>
                <a:spcPct val="100000"/>
              </a:lnSpc>
              <a:spcBef>
                <a:spcPts val="95"/>
              </a:spcBef>
            </a:pPr>
            <a:r>
              <a:rPr sz="4400" spc="-5" dirty="0">
                <a:solidFill>
                  <a:srgbClr val="000000"/>
                </a:solidFill>
                <a:latin typeface="Calibri Light"/>
                <a:cs typeface="Calibri Light"/>
              </a:rPr>
              <a:t>EXAMPLE</a:t>
            </a:r>
            <a:endParaRPr sz="4400" dirty="0">
              <a:latin typeface="Calibri Light"/>
              <a:cs typeface="Calibri Light"/>
            </a:endParaRPr>
          </a:p>
        </p:txBody>
      </p:sp>
      <p:pic>
        <p:nvPicPr>
          <p:cNvPr id="3" name="object 3"/>
          <p:cNvPicPr/>
          <p:nvPr/>
        </p:nvPicPr>
        <p:blipFill>
          <a:blip r:embed="rId2" cstate="print"/>
          <a:stretch>
            <a:fillRect/>
          </a:stretch>
        </p:blipFill>
        <p:spPr>
          <a:xfrm>
            <a:off x="486698" y="2249004"/>
            <a:ext cx="3708083" cy="3416554"/>
          </a:xfrm>
          <a:prstGeom prst="rect">
            <a:avLst/>
          </a:prstGeom>
        </p:spPr>
      </p:pic>
      <p:grpSp>
        <p:nvGrpSpPr>
          <p:cNvPr id="4" name="object 4"/>
          <p:cNvGrpSpPr/>
          <p:nvPr/>
        </p:nvGrpSpPr>
        <p:grpSpPr>
          <a:xfrm>
            <a:off x="4556029" y="-561036"/>
            <a:ext cx="4574381" cy="6858000"/>
            <a:chOff x="6092952" y="0"/>
            <a:chExt cx="6099175" cy="6858000"/>
          </a:xfrm>
        </p:grpSpPr>
        <p:sp>
          <p:nvSpPr>
            <p:cNvPr id="5" name="object 5"/>
            <p:cNvSpPr/>
            <p:nvPr/>
          </p:nvSpPr>
          <p:spPr>
            <a:xfrm>
              <a:off x="6092952" y="0"/>
              <a:ext cx="6099175" cy="6858000"/>
            </a:xfrm>
            <a:custGeom>
              <a:avLst/>
              <a:gdLst/>
              <a:ahLst/>
              <a:cxnLst/>
              <a:rect l="l" t="t" r="r" b="b"/>
              <a:pathLst>
                <a:path w="6099175" h="6858000">
                  <a:moveTo>
                    <a:pt x="6099048" y="0"/>
                  </a:moveTo>
                  <a:lnTo>
                    <a:pt x="0" y="0"/>
                  </a:lnTo>
                  <a:lnTo>
                    <a:pt x="0" y="6858000"/>
                  </a:lnTo>
                  <a:lnTo>
                    <a:pt x="6099048" y="6858000"/>
                  </a:lnTo>
                  <a:lnTo>
                    <a:pt x="6099048" y="0"/>
                  </a:lnTo>
                  <a:close/>
                </a:path>
              </a:pathLst>
            </a:custGeom>
            <a:solidFill>
              <a:srgbClr val="C7C9C9"/>
            </a:solidFill>
          </p:spPr>
          <p:txBody>
            <a:bodyPr wrap="square" lIns="0" tIns="0" rIns="0" bIns="0" rtlCol="0"/>
            <a:lstStyle/>
            <a:p>
              <a:endParaRPr/>
            </a:p>
          </p:txBody>
        </p:sp>
        <p:pic>
          <p:nvPicPr>
            <p:cNvPr id="6" name="object 6"/>
            <p:cNvPicPr/>
            <p:nvPr/>
          </p:nvPicPr>
          <p:blipFill>
            <a:blip r:embed="rId3" cstate="print"/>
            <a:stretch>
              <a:fillRect/>
            </a:stretch>
          </p:blipFill>
          <p:spPr>
            <a:xfrm>
              <a:off x="6510528" y="512064"/>
              <a:ext cx="5263896" cy="5870448"/>
            </a:xfrm>
            <a:prstGeom prst="rect">
              <a:avLst/>
            </a:prstGeom>
          </p:spPr>
        </p:pic>
        <p:sp>
          <p:nvSpPr>
            <p:cNvPr id="7" name="object 7"/>
            <p:cNvSpPr/>
            <p:nvPr/>
          </p:nvSpPr>
          <p:spPr>
            <a:xfrm>
              <a:off x="6154003" y="557834"/>
              <a:ext cx="5553747" cy="6155524"/>
            </a:xfrm>
            <a:custGeom>
              <a:avLst/>
              <a:gdLst/>
              <a:ahLst/>
              <a:cxnLst/>
              <a:rect l="l" t="t" r="r" b="b"/>
              <a:pathLst>
                <a:path w="5130165" h="5739130">
                  <a:moveTo>
                    <a:pt x="5130164" y="0"/>
                  </a:moveTo>
                  <a:lnTo>
                    <a:pt x="0" y="0"/>
                  </a:lnTo>
                  <a:lnTo>
                    <a:pt x="0" y="5739130"/>
                  </a:lnTo>
                  <a:lnTo>
                    <a:pt x="5130164" y="5739130"/>
                  </a:lnTo>
                  <a:lnTo>
                    <a:pt x="5130164" y="0"/>
                  </a:lnTo>
                  <a:close/>
                </a:path>
              </a:pathLst>
            </a:custGeom>
            <a:solidFill>
              <a:srgbClr val="FFFFFF"/>
            </a:solidFill>
          </p:spPr>
          <p:txBody>
            <a:bodyPr wrap="square" lIns="0" tIns="0" rIns="0" bIns="0" rtlCol="0"/>
            <a:lstStyle/>
            <a:p>
              <a:endParaRPr/>
            </a:p>
          </p:txBody>
        </p:sp>
        <p:sp>
          <p:nvSpPr>
            <p:cNvPr id="8" name="object 8"/>
            <p:cNvSpPr/>
            <p:nvPr/>
          </p:nvSpPr>
          <p:spPr>
            <a:xfrm>
              <a:off x="6577584" y="557834"/>
              <a:ext cx="5130165" cy="5739130"/>
            </a:xfrm>
            <a:custGeom>
              <a:avLst/>
              <a:gdLst/>
              <a:ahLst/>
              <a:cxnLst/>
              <a:rect l="l" t="t" r="r" b="b"/>
              <a:pathLst>
                <a:path w="5130165" h="5739130">
                  <a:moveTo>
                    <a:pt x="0" y="5739130"/>
                  </a:moveTo>
                  <a:lnTo>
                    <a:pt x="5130164" y="5739130"/>
                  </a:lnTo>
                  <a:lnTo>
                    <a:pt x="5130164" y="0"/>
                  </a:lnTo>
                  <a:lnTo>
                    <a:pt x="0" y="0"/>
                  </a:lnTo>
                  <a:lnTo>
                    <a:pt x="0" y="5739130"/>
                  </a:lnTo>
                  <a:close/>
                </a:path>
              </a:pathLst>
            </a:custGeom>
            <a:ln w="9525">
              <a:solidFill>
                <a:srgbClr val="C7C9C9"/>
              </a:solidFill>
            </a:ln>
          </p:spPr>
          <p:txBody>
            <a:bodyPr wrap="square" lIns="0" tIns="0" rIns="0" bIns="0" rtlCol="0"/>
            <a:lstStyle/>
            <a:p>
              <a:endParaRPr/>
            </a:p>
          </p:txBody>
        </p:sp>
      </p:grpSp>
      <p:graphicFrame>
        <p:nvGraphicFramePr>
          <p:cNvPr id="9" name="object 9"/>
          <p:cNvGraphicFramePr>
            <a:graphicFrameLocks noGrp="1"/>
          </p:cNvGraphicFramePr>
          <p:nvPr>
            <p:extLst>
              <p:ext uri="{D42A27DB-BD31-4B8C-83A1-F6EECF244321}">
                <p14:modId xmlns:p14="http://schemas.microsoft.com/office/powerpoint/2010/main" val="1975986651"/>
              </p:ext>
            </p:extLst>
          </p:nvPr>
        </p:nvGraphicFramePr>
        <p:xfrm>
          <a:off x="4788024" y="-48972"/>
          <a:ext cx="3888431" cy="5029553"/>
        </p:xfrm>
        <a:graphic>
          <a:graphicData uri="http://schemas.openxmlformats.org/drawingml/2006/table">
            <a:tbl>
              <a:tblPr firstRow="1" bandRow="1">
                <a:tableStyleId>{2D5ABB26-0587-4C30-8999-92F81FD0307C}</a:tableStyleId>
              </a:tblPr>
              <a:tblGrid>
                <a:gridCol w="2016224"/>
                <a:gridCol w="1872207"/>
              </a:tblGrid>
              <a:tr h="628650">
                <a:tc>
                  <a:txBody>
                    <a:bodyPr/>
                    <a:lstStyle/>
                    <a:p>
                      <a:pPr marL="50165">
                        <a:lnSpc>
                          <a:spcPct val="100000"/>
                        </a:lnSpc>
                        <a:spcBef>
                          <a:spcPts val="420"/>
                        </a:spcBef>
                      </a:pPr>
                      <a:r>
                        <a:rPr sz="3100" b="1" spc="-5" dirty="0">
                          <a:solidFill>
                            <a:srgbClr val="FFFFFF"/>
                          </a:solidFill>
                          <a:latin typeface="Calibri"/>
                          <a:cs typeface="Calibri"/>
                        </a:rPr>
                        <a:t>Bin</a:t>
                      </a:r>
                      <a:endParaRPr sz="3100" dirty="0">
                        <a:latin typeface="Calibri"/>
                        <a:cs typeface="Calibri"/>
                      </a:endParaRPr>
                    </a:p>
                  </a:txBody>
                  <a:tcPr marL="0" marR="0" marT="5334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50800">
                        <a:lnSpc>
                          <a:spcPct val="100000"/>
                        </a:lnSpc>
                        <a:spcBef>
                          <a:spcPts val="420"/>
                        </a:spcBef>
                      </a:pPr>
                      <a:r>
                        <a:rPr sz="3100" b="1" spc="-10" dirty="0">
                          <a:solidFill>
                            <a:srgbClr val="FFFFFF"/>
                          </a:solidFill>
                          <a:latin typeface="Calibri"/>
                          <a:cs typeface="Calibri"/>
                        </a:rPr>
                        <a:t>Frequency</a:t>
                      </a:r>
                      <a:endParaRPr sz="3100">
                        <a:latin typeface="Calibri"/>
                        <a:cs typeface="Calibri"/>
                      </a:endParaRPr>
                    </a:p>
                  </a:txBody>
                  <a:tcPr marL="0" marR="0" marT="5334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r>
              <a:tr h="628650">
                <a:tc>
                  <a:txBody>
                    <a:bodyPr/>
                    <a:lstStyle/>
                    <a:p>
                      <a:pPr marL="50165">
                        <a:lnSpc>
                          <a:spcPct val="100000"/>
                        </a:lnSpc>
                        <a:spcBef>
                          <a:spcPts val="425"/>
                        </a:spcBef>
                      </a:pPr>
                      <a:r>
                        <a:rPr sz="3100" spc="-10" dirty="0">
                          <a:latin typeface="Calibri"/>
                          <a:cs typeface="Calibri"/>
                        </a:rPr>
                        <a:t>[5.5−10.5)</a:t>
                      </a:r>
                      <a:endParaRPr sz="3100">
                        <a:latin typeface="Calibri"/>
                        <a:cs typeface="Calibri"/>
                      </a:endParaRPr>
                    </a:p>
                  </a:txBody>
                  <a:tcPr marL="0" marR="0" marT="5397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marL="50800">
                        <a:lnSpc>
                          <a:spcPct val="100000"/>
                        </a:lnSpc>
                        <a:spcBef>
                          <a:spcPts val="425"/>
                        </a:spcBef>
                      </a:pPr>
                      <a:r>
                        <a:rPr sz="3100" dirty="0">
                          <a:latin typeface="Calibri"/>
                          <a:cs typeface="Calibri"/>
                        </a:rPr>
                        <a:t>1</a:t>
                      </a:r>
                      <a:endParaRPr sz="3100">
                        <a:latin typeface="Calibri"/>
                        <a:cs typeface="Calibri"/>
                      </a:endParaRPr>
                    </a:p>
                  </a:txBody>
                  <a:tcPr marL="0" marR="0" marT="5397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r>
              <a:tr h="628776">
                <a:tc>
                  <a:txBody>
                    <a:bodyPr/>
                    <a:lstStyle/>
                    <a:p>
                      <a:pPr marL="50165">
                        <a:lnSpc>
                          <a:spcPct val="100000"/>
                        </a:lnSpc>
                        <a:spcBef>
                          <a:spcPts val="425"/>
                        </a:spcBef>
                      </a:pPr>
                      <a:r>
                        <a:rPr sz="3100" spc="-10" dirty="0">
                          <a:latin typeface="Calibri"/>
                          <a:cs typeface="Calibri"/>
                        </a:rPr>
                        <a:t>[10.5−15.5)</a:t>
                      </a:r>
                      <a:endParaRPr sz="3100">
                        <a:latin typeface="Calibri"/>
                        <a:cs typeface="Calibri"/>
                      </a:endParaRPr>
                    </a:p>
                  </a:txBody>
                  <a:tcPr marL="0" marR="0" marT="539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50800">
                        <a:lnSpc>
                          <a:spcPct val="100000"/>
                        </a:lnSpc>
                        <a:spcBef>
                          <a:spcPts val="425"/>
                        </a:spcBef>
                      </a:pPr>
                      <a:r>
                        <a:rPr sz="3100" dirty="0">
                          <a:latin typeface="Calibri"/>
                          <a:cs typeface="Calibri"/>
                        </a:rPr>
                        <a:t>3</a:t>
                      </a:r>
                      <a:endParaRPr sz="3100">
                        <a:latin typeface="Calibri"/>
                        <a:cs typeface="Calibri"/>
                      </a:endParaRPr>
                    </a:p>
                  </a:txBody>
                  <a:tcPr marL="0" marR="0" marT="5397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r>
              <a:tr h="628650">
                <a:tc>
                  <a:txBody>
                    <a:bodyPr/>
                    <a:lstStyle/>
                    <a:p>
                      <a:pPr marL="50165">
                        <a:lnSpc>
                          <a:spcPct val="100000"/>
                        </a:lnSpc>
                        <a:spcBef>
                          <a:spcPts val="430"/>
                        </a:spcBef>
                      </a:pPr>
                      <a:r>
                        <a:rPr sz="3100" spc="-10" dirty="0">
                          <a:latin typeface="Calibri"/>
                          <a:cs typeface="Calibri"/>
                        </a:rPr>
                        <a:t>[15.5−20.5)</a:t>
                      </a:r>
                      <a:endParaRPr sz="3100">
                        <a:latin typeface="Calibri"/>
                        <a:cs typeface="Calibri"/>
                      </a:endParaRPr>
                    </a:p>
                  </a:txBody>
                  <a:tcPr marL="0" marR="0" marT="5461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50800">
                        <a:lnSpc>
                          <a:spcPct val="100000"/>
                        </a:lnSpc>
                        <a:spcBef>
                          <a:spcPts val="430"/>
                        </a:spcBef>
                      </a:pPr>
                      <a:r>
                        <a:rPr sz="3100" dirty="0">
                          <a:latin typeface="Calibri"/>
                          <a:cs typeface="Calibri"/>
                        </a:rPr>
                        <a:t>2</a:t>
                      </a:r>
                      <a:endParaRPr sz="3100">
                        <a:latin typeface="Calibri"/>
                        <a:cs typeface="Calibri"/>
                      </a:endParaRPr>
                    </a:p>
                  </a:txBody>
                  <a:tcPr marL="0" marR="0" marT="5461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r>
              <a:tr h="628776">
                <a:tc>
                  <a:txBody>
                    <a:bodyPr/>
                    <a:lstStyle/>
                    <a:p>
                      <a:pPr marL="50165">
                        <a:lnSpc>
                          <a:spcPct val="100000"/>
                        </a:lnSpc>
                        <a:spcBef>
                          <a:spcPts val="430"/>
                        </a:spcBef>
                      </a:pPr>
                      <a:r>
                        <a:rPr sz="3100" spc="-10" dirty="0">
                          <a:latin typeface="Calibri"/>
                          <a:cs typeface="Calibri"/>
                        </a:rPr>
                        <a:t>[20.5−25.5)</a:t>
                      </a:r>
                      <a:endParaRPr sz="3100" dirty="0">
                        <a:latin typeface="Calibri"/>
                        <a:cs typeface="Calibri"/>
                      </a:endParaRPr>
                    </a:p>
                  </a:txBody>
                  <a:tcPr marL="0" marR="0" marT="5461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50800">
                        <a:lnSpc>
                          <a:spcPct val="100000"/>
                        </a:lnSpc>
                        <a:spcBef>
                          <a:spcPts val="430"/>
                        </a:spcBef>
                      </a:pPr>
                      <a:r>
                        <a:rPr sz="3100" dirty="0">
                          <a:latin typeface="Calibri"/>
                          <a:cs typeface="Calibri"/>
                        </a:rPr>
                        <a:t>4</a:t>
                      </a:r>
                      <a:endParaRPr sz="3100">
                        <a:latin typeface="Calibri"/>
                        <a:cs typeface="Calibri"/>
                      </a:endParaRPr>
                    </a:p>
                  </a:txBody>
                  <a:tcPr marL="0" marR="0" marT="5461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r>
              <a:tr h="628650">
                <a:tc>
                  <a:txBody>
                    <a:bodyPr/>
                    <a:lstStyle/>
                    <a:p>
                      <a:pPr marL="50165">
                        <a:lnSpc>
                          <a:spcPct val="100000"/>
                        </a:lnSpc>
                        <a:spcBef>
                          <a:spcPts val="434"/>
                        </a:spcBef>
                      </a:pPr>
                      <a:r>
                        <a:rPr sz="3100" spc="-10" dirty="0">
                          <a:latin typeface="Calibri"/>
                          <a:cs typeface="Calibri"/>
                        </a:rPr>
                        <a:t>[25.5−30.5)</a:t>
                      </a:r>
                      <a:endParaRPr sz="3100">
                        <a:latin typeface="Calibri"/>
                        <a:cs typeface="Calibri"/>
                      </a:endParaRPr>
                    </a:p>
                  </a:txBody>
                  <a:tcPr marL="0" marR="0" marT="5524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50800">
                        <a:lnSpc>
                          <a:spcPct val="100000"/>
                        </a:lnSpc>
                        <a:spcBef>
                          <a:spcPts val="434"/>
                        </a:spcBef>
                      </a:pPr>
                      <a:r>
                        <a:rPr sz="3100" dirty="0">
                          <a:latin typeface="Calibri"/>
                          <a:cs typeface="Calibri"/>
                        </a:rPr>
                        <a:t>5</a:t>
                      </a:r>
                    </a:p>
                  </a:txBody>
                  <a:tcPr marL="0" marR="0" marT="5524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r>
              <a:tr h="628650">
                <a:tc>
                  <a:txBody>
                    <a:bodyPr/>
                    <a:lstStyle/>
                    <a:p>
                      <a:pPr marL="50165">
                        <a:lnSpc>
                          <a:spcPct val="100000"/>
                        </a:lnSpc>
                        <a:spcBef>
                          <a:spcPts val="434"/>
                        </a:spcBef>
                      </a:pPr>
                      <a:r>
                        <a:rPr sz="3100" spc="-10" dirty="0">
                          <a:latin typeface="Calibri"/>
                          <a:cs typeface="Calibri"/>
                        </a:rPr>
                        <a:t>[30.5−35.5)</a:t>
                      </a:r>
                      <a:endParaRPr sz="3100">
                        <a:latin typeface="Calibri"/>
                        <a:cs typeface="Calibri"/>
                      </a:endParaRPr>
                    </a:p>
                  </a:txBody>
                  <a:tcPr marL="0" marR="0" marT="5524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50800">
                        <a:lnSpc>
                          <a:spcPct val="100000"/>
                        </a:lnSpc>
                        <a:spcBef>
                          <a:spcPts val="434"/>
                        </a:spcBef>
                      </a:pPr>
                      <a:r>
                        <a:rPr sz="3100" dirty="0">
                          <a:latin typeface="Calibri"/>
                          <a:cs typeface="Calibri"/>
                        </a:rPr>
                        <a:t>3</a:t>
                      </a:r>
                      <a:endParaRPr sz="3100">
                        <a:latin typeface="Calibri"/>
                        <a:cs typeface="Calibri"/>
                      </a:endParaRPr>
                    </a:p>
                  </a:txBody>
                  <a:tcPr marL="0" marR="0" marT="5524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r>
              <a:tr h="628751">
                <a:tc>
                  <a:txBody>
                    <a:bodyPr/>
                    <a:lstStyle/>
                    <a:p>
                      <a:pPr marL="50165">
                        <a:lnSpc>
                          <a:spcPct val="100000"/>
                        </a:lnSpc>
                        <a:spcBef>
                          <a:spcPts val="434"/>
                        </a:spcBef>
                      </a:pPr>
                      <a:r>
                        <a:rPr sz="3100" spc="-10" dirty="0">
                          <a:latin typeface="Calibri"/>
                          <a:cs typeface="Calibri"/>
                        </a:rPr>
                        <a:t>[35.5−40.5)</a:t>
                      </a:r>
                      <a:endParaRPr sz="3100" dirty="0">
                        <a:latin typeface="Calibri"/>
                        <a:cs typeface="Calibri"/>
                      </a:endParaRPr>
                    </a:p>
                  </a:txBody>
                  <a:tcPr marL="0" marR="0" marT="5524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a:lnSpc>
                          <a:spcPct val="100000"/>
                        </a:lnSpc>
                      </a:pPr>
                      <a:endParaRPr sz="3100" dirty="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r>
            </a:tbl>
          </a:graphicData>
        </a:graphic>
      </p:graphicFrame>
    </p:spTree>
    <p:extLst>
      <p:ext uri="{BB962C8B-B14F-4D97-AF65-F5344CB8AC3E}">
        <p14:creationId xmlns:p14="http://schemas.microsoft.com/office/powerpoint/2010/main" val="227670269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9144000" cy="6858000"/>
          </a:xfrm>
          <a:custGeom>
            <a:avLst/>
            <a:gdLst/>
            <a:ahLst/>
            <a:cxnLst/>
            <a:rect l="l" t="t" r="r" b="b"/>
            <a:pathLst>
              <a:path w="12192000" h="6858000">
                <a:moveTo>
                  <a:pt x="12192000" y="0"/>
                </a:moveTo>
                <a:lnTo>
                  <a:pt x="0" y="0"/>
                </a:lnTo>
                <a:lnTo>
                  <a:pt x="0" y="6857996"/>
                </a:lnTo>
                <a:lnTo>
                  <a:pt x="12192000" y="6857996"/>
                </a:lnTo>
                <a:lnTo>
                  <a:pt x="12192000" y="0"/>
                </a:lnTo>
                <a:close/>
              </a:path>
            </a:pathLst>
          </a:custGeom>
          <a:solidFill>
            <a:srgbClr val="000000">
              <a:alpha val="14901"/>
            </a:srgbClr>
          </a:solidFill>
        </p:spPr>
        <p:txBody>
          <a:bodyPr wrap="square" lIns="0" tIns="0" rIns="0" bIns="0" rtlCol="0"/>
          <a:lstStyle/>
          <a:p>
            <a:endParaRPr/>
          </a:p>
        </p:txBody>
      </p:sp>
      <p:grpSp>
        <p:nvGrpSpPr>
          <p:cNvPr id="3" name="object 3"/>
          <p:cNvGrpSpPr/>
          <p:nvPr/>
        </p:nvGrpSpPr>
        <p:grpSpPr>
          <a:xfrm>
            <a:off x="436627" y="594360"/>
            <a:ext cx="8289131" cy="5709285"/>
            <a:chOff x="582168" y="594359"/>
            <a:chExt cx="11052175" cy="5709285"/>
          </a:xfrm>
        </p:grpSpPr>
        <p:pic>
          <p:nvPicPr>
            <p:cNvPr id="4" name="object 4"/>
            <p:cNvPicPr/>
            <p:nvPr/>
          </p:nvPicPr>
          <p:blipFill>
            <a:blip r:embed="rId2" cstate="print"/>
            <a:stretch>
              <a:fillRect/>
            </a:stretch>
          </p:blipFill>
          <p:spPr>
            <a:xfrm>
              <a:off x="582168" y="594359"/>
              <a:ext cx="11052048" cy="5708904"/>
            </a:xfrm>
            <a:prstGeom prst="rect">
              <a:avLst/>
            </a:prstGeom>
          </p:spPr>
        </p:pic>
        <p:sp>
          <p:nvSpPr>
            <p:cNvPr id="5" name="object 5"/>
            <p:cNvSpPr/>
            <p:nvPr/>
          </p:nvSpPr>
          <p:spPr>
            <a:xfrm>
              <a:off x="646747" y="640054"/>
              <a:ext cx="10920730" cy="5577840"/>
            </a:xfrm>
            <a:custGeom>
              <a:avLst/>
              <a:gdLst/>
              <a:ahLst/>
              <a:cxnLst/>
              <a:rect l="l" t="t" r="r" b="b"/>
              <a:pathLst>
                <a:path w="10920730" h="5577840">
                  <a:moveTo>
                    <a:pt x="10920476" y="0"/>
                  </a:moveTo>
                  <a:lnTo>
                    <a:pt x="0" y="0"/>
                  </a:lnTo>
                  <a:lnTo>
                    <a:pt x="0" y="5577840"/>
                  </a:lnTo>
                  <a:lnTo>
                    <a:pt x="10920476" y="5577840"/>
                  </a:lnTo>
                  <a:lnTo>
                    <a:pt x="10920476" y="0"/>
                  </a:lnTo>
                  <a:close/>
                </a:path>
              </a:pathLst>
            </a:custGeom>
            <a:solidFill>
              <a:srgbClr val="FFFFFF"/>
            </a:solidFill>
          </p:spPr>
          <p:txBody>
            <a:bodyPr wrap="square" lIns="0" tIns="0" rIns="0" bIns="0" rtlCol="0"/>
            <a:lstStyle/>
            <a:p>
              <a:endParaRPr/>
            </a:p>
          </p:txBody>
        </p:sp>
        <p:sp>
          <p:nvSpPr>
            <p:cNvPr id="6" name="object 6"/>
            <p:cNvSpPr/>
            <p:nvPr/>
          </p:nvSpPr>
          <p:spPr>
            <a:xfrm>
              <a:off x="646747" y="640054"/>
              <a:ext cx="10920730" cy="5577840"/>
            </a:xfrm>
            <a:custGeom>
              <a:avLst/>
              <a:gdLst/>
              <a:ahLst/>
              <a:cxnLst/>
              <a:rect l="l" t="t" r="r" b="b"/>
              <a:pathLst>
                <a:path w="10920730" h="5577840">
                  <a:moveTo>
                    <a:pt x="0" y="5577840"/>
                  </a:moveTo>
                  <a:lnTo>
                    <a:pt x="10920476" y="5577840"/>
                  </a:lnTo>
                  <a:lnTo>
                    <a:pt x="10920476" y="0"/>
                  </a:lnTo>
                  <a:lnTo>
                    <a:pt x="0" y="0"/>
                  </a:lnTo>
                  <a:lnTo>
                    <a:pt x="0" y="5577840"/>
                  </a:lnTo>
                  <a:close/>
                </a:path>
              </a:pathLst>
            </a:custGeom>
            <a:ln w="9525">
              <a:solidFill>
                <a:srgbClr val="7E7E7E"/>
              </a:solidFill>
            </a:ln>
          </p:spPr>
          <p:txBody>
            <a:bodyPr wrap="square" lIns="0" tIns="0" rIns="0" bIns="0" rtlCol="0"/>
            <a:lstStyle/>
            <a:p>
              <a:endParaRPr/>
            </a:p>
          </p:txBody>
        </p:sp>
        <p:sp>
          <p:nvSpPr>
            <p:cNvPr id="7" name="object 7"/>
            <p:cNvSpPr/>
            <p:nvPr/>
          </p:nvSpPr>
          <p:spPr>
            <a:xfrm>
              <a:off x="968019" y="960107"/>
              <a:ext cx="10278110" cy="4937760"/>
            </a:xfrm>
            <a:custGeom>
              <a:avLst/>
              <a:gdLst/>
              <a:ahLst/>
              <a:cxnLst/>
              <a:rect l="l" t="t" r="r" b="b"/>
              <a:pathLst>
                <a:path w="10278110" h="4937760">
                  <a:moveTo>
                    <a:pt x="10277856" y="0"/>
                  </a:moveTo>
                  <a:lnTo>
                    <a:pt x="0" y="0"/>
                  </a:lnTo>
                  <a:lnTo>
                    <a:pt x="0" y="4937760"/>
                  </a:lnTo>
                  <a:lnTo>
                    <a:pt x="10277856" y="4937760"/>
                  </a:lnTo>
                  <a:lnTo>
                    <a:pt x="10277856" y="0"/>
                  </a:lnTo>
                  <a:close/>
                </a:path>
              </a:pathLst>
            </a:custGeom>
            <a:solidFill>
              <a:srgbClr val="E7E6E6"/>
            </a:solidFill>
          </p:spPr>
          <p:txBody>
            <a:bodyPr wrap="square" lIns="0" tIns="0" rIns="0" bIns="0" rtlCol="0"/>
            <a:lstStyle/>
            <a:p>
              <a:endParaRPr/>
            </a:p>
          </p:txBody>
        </p:sp>
      </p:grpSp>
      <p:sp>
        <p:nvSpPr>
          <p:cNvPr id="8" name="object 8"/>
          <p:cNvSpPr txBox="1">
            <a:spLocks noGrp="1"/>
          </p:cNvSpPr>
          <p:nvPr>
            <p:ph type="title"/>
          </p:nvPr>
        </p:nvSpPr>
        <p:spPr>
          <a:xfrm>
            <a:off x="3177348" y="1201367"/>
            <a:ext cx="2806541" cy="1366400"/>
          </a:xfrm>
          <a:prstGeom prst="rect">
            <a:avLst/>
          </a:prstGeom>
        </p:spPr>
        <p:txBody>
          <a:bodyPr vert="horz" wrap="square" lIns="0" tIns="12065" rIns="0" bIns="0" rtlCol="0">
            <a:spAutoFit/>
          </a:bodyPr>
          <a:lstStyle/>
          <a:p>
            <a:pPr marL="12700">
              <a:lnSpc>
                <a:spcPct val="100000"/>
              </a:lnSpc>
              <a:spcBef>
                <a:spcPts val="95"/>
              </a:spcBef>
            </a:pPr>
            <a:r>
              <a:rPr sz="4400" spc="-20" dirty="0">
                <a:solidFill>
                  <a:srgbClr val="000000"/>
                </a:solidFill>
                <a:latin typeface="Calibri Light"/>
                <a:cs typeface="Calibri Light"/>
              </a:rPr>
              <a:t>Frequency</a:t>
            </a:r>
            <a:r>
              <a:rPr sz="4400" spc="25" dirty="0">
                <a:solidFill>
                  <a:srgbClr val="000000"/>
                </a:solidFill>
                <a:latin typeface="Calibri Light"/>
                <a:cs typeface="Calibri Light"/>
              </a:rPr>
              <a:t> </a:t>
            </a:r>
            <a:r>
              <a:rPr sz="4400" spc="-10" dirty="0">
                <a:solidFill>
                  <a:srgbClr val="000000"/>
                </a:solidFill>
                <a:latin typeface="Calibri Light"/>
                <a:cs typeface="Calibri Light"/>
              </a:rPr>
              <a:t>curve</a:t>
            </a:r>
            <a:endParaRPr sz="4400">
              <a:latin typeface="Calibri Light"/>
              <a:cs typeface="Calibri Light"/>
            </a:endParaRPr>
          </a:p>
        </p:txBody>
      </p:sp>
      <p:sp>
        <p:nvSpPr>
          <p:cNvPr id="9" name="object 9"/>
          <p:cNvSpPr/>
          <p:nvPr/>
        </p:nvSpPr>
        <p:spPr>
          <a:xfrm>
            <a:off x="1021841" y="2621026"/>
            <a:ext cx="7132320" cy="0"/>
          </a:xfrm>
          <a:custGeom>
            <a:avLst/>
            <a:gdLst/>
            <a:ahLst/>
            <a:cxnLst/>
            <a:rect l="l" t="t" r="r" b="b"/>
            <a:pathLst>
              <a:path w="9509760">
                <a:moveTo>
                  <a:pt x="0" y="0"/>
                </a:moveTo>
                <a:lnTo>
                  <a:pt x="9509760" y="0"/>
                </a:lnTo>
              </a:path>
            </a:pathLst>
          </a:custGeom>
          <a:ln w="19050">
            <a:solidFill>
              <a:srgbClr val="7E7E7E"/>
            </a:solidFill>
          </a:ln>
        </p:spPr>
        <p:txBody>
          <a:bodyPr wrap="square" lIns="0" tIns="0" rIns="0" bIns="0" rtlCol="0"/>
          <a:lstStyle/>
          <a:p>
            <a:endParaRPr/>
          </a:p>
        </p:txBody>
      </p:sp>
      <p:sp>
        <p:nvSpPr>
          <p:cNvPr id="10" name="object 10"/>
          <p:cNvSpPr txBox="1"/>
          <p:nvPr/>
        </p:nvSpPr>
        <p:spPr>
          <a:xfrm>
            <a:off x="956786" y="2842387"/>
            <a:ext cx="7213759" cy="3117520"/>
          </a:xfrm>
          <a:prstGeom prst="rect">
            <a:avLst/>
          </a:prstGeom>
        </p:spPr>
        <p:txBody>
          <a:bodyPr vert="horz" wrap="square" lIns="0" tIns="41910" rIns="0" bIns="0" rtlCol="0">
            <a:spAutoFit/>
          </a:bodyPr>
          <a:lstStyle/>
          <a:p>
            <a:pPr marL="241300" marR="150495" indent="-228600">
              <a:lnSpc>
                <a:spcPct val="90000"/>
              </a:lnSpc>
              <a:spcBef>
                <a:spcPts val="330"/>
              </a:spcBef>
              <a:buSzPct val="95000"/>
              <a:buFont typeface="Wingdings"/>
              <a:buChar char=""/>
              <a:tabLst>
                <a:tab pos="241300" algn="l"/>
              </a:tabLst>
            </a:pPr>
            <a:r>
              <a:rPr sz="2000" spc="-5" dirty="0">
                <a:latin typeface="Calibri"/>
                <a:cs typeface="Calibri"/>
              </a:rPr>
              <a:t>A </a:t>
            </a:r>
            <a:r>
              <a:rPr sz="2000" spc="-10" dirty="0">
                <a:latin typeface="Calibri"/>
                <a:cs typeface="Calibri"/>
              </a:rPr>
              <a:t>smooth</a:t>
            </a:r>
            <a:r>
              <a:rPr sz="2000" spc="40" dirty="0">
                <a:latin typeface="Calibri"/>
                <a:cs typeface="Calibri"/>
              </a:rPr>
              <a:t> </a:t>
            </a:r>
            <a:r>
              <a:rPr sz="2000" spc="-10" dirty="0">
                <a:latin typeface="Calibri"/>
                <a:cs typeface="Calibri"/>
              </a:rPr>
              <a:t>curve</a:t>
            </a:r>
            <a:r>
              <a:rPr sz="2000" spc="15" dirty="0">
                <a:latin typeface="Calibri"/>
                <a:cs typeface="Calibri"/>
              </a:rPr>
              <a:t> </a:t>
            </a:r>
            <a:r>
              <a:rPr sz="2000" spc="-5" dirty="0">
                <a:latin typeface="Calibri"/>
                <a:cs typeface="Calibri"/>
              </a:rPr>
              <a:t>which</a:t>
            </a:r>
            <a:r>
              <a:rPr sz="2000" spc="15" dirty="0">
                <a:latin typeface="Calibri"/>
                <a:cs typeface="Calibri"/>
              </a:rPr>
              <a:t> </a:t>
            </a:r>
            <a:r>
              <a:rPr sz="2000" spc="-10" dirty="0">
                <a:latin typeface="Calibri"/>
                <a:cs typeface="Calibri"/>
              </a:rPr>
              <a:t>corresponds</a:t>
            </a:r>
            <a:r>
              <a:rPr sz="2000" spc="40" dirty="0">
                <a:latin typeface="Calibri"/>
                <a:cs typeface="Calibri"/>
              </a:rPr>
              <a:t> </a:t>
            </a:r>
            <a:r>
              <a:rPr sz="2000" spc="-15" dirty="0">
                <a:latin typeface="Calibri"/>
                <a:cs typeface="Calibri"/>
              </a:rPr>
              <a:t>to</a:t>
            </a:r>
            <a:r>
              <a:rPr sz="2000" dirty="0">
                <a:latin typeface="Calibri"/>
                <a:cs typeface="Calibri"/>
              </a:rPr>
              <a:t> </a:t>
            </a:r>
            <a:r>
              <a:rPr sz="2000" spc="-5" dirty="0">
                <a:latin typeface="Calibri"/>
                <a:cs typeface="Calibri"/>
              </a:rPr>
              <a:t>the limiting</a:t>
            </a:r>
            <a:r>
              <a:rPr sz="2000" spc="50" dirty="0">
                <a:latin typeface="Calibri"/>
                <a:cs typeface="Calibri"/>
              </a:rPr>
              <a:t> </a:t>
            </a:r>
            <a:r>
              <a:rPr sz="2000" spc="-15" dirty="0">
                <a:latin typeface="Calibri"/>
                <a:cs typeface="Calibri"/>
              </a:rPr>
              <a:t>case</a:t>
            </a:r>
            <a:r>
              <a:rPr sz="2000" spc="35" dirty="0">
                <a:latin typeface="Calibri"/>
                <a:cs typeface="Calibri"/>
              </a:rPr>
              <a:t> </a:t>
            </a:r>
            <a:r>
              <a:rPr sz="2000" spc="-5" dirty="0">
                <a:latin typeface="Calibri"/>
                <a:cs typeface="Calibri"/>
              </a:rPr>
              <a:t>of</a:t>
            </a:r>
            <a:r>
              <a:rPr sz="2000" spc="-10" dirty="0">
                <a:latin typeface="Calibri"/>
                <a:cs typeface="Calibri"/>
              </a:rPr>
              <a:t> </a:t>
            </a:r>
            <a:r>
              <a:rPr sz="2000" spc="-5" dirty="0">
                <a:latin typeface="Calibri"/>
                <a:cs typeface="Calibri"/>
              </a:rPr>
              <a:t>a</a:t>
            </a:r>
            <a:r>
              <a:rPr sz="2000" spc="60" dirty="0">
                <a:latin typeface="Calibri"/>
                <a:cs typeface="Calibri"/>
              </a:rPr>
              <a:t> </a:t>
            </a:r>
            <a:r>
              <a:rPr sz="2000" spc="-20" dirty="0">
                <a:latin typeface="Calibri"/>
                <a:cs typeface="Calibri"/>
              </a:rPr>
              <a:t>histogram</a:t>
            </a:r>
            <a:r>
              <a:rPr sz="2000" spc="60" dirty="0">
                <a:latin typeface="Calibri"/>
                <a:cs typeface="Calibri"/>
              </a:rPr>
              <a:t> </a:t>
            </a:r>
            <a:r>
              <a:rPr sz="2000" spc="-15" dirty="0">
                <a:latin typeface="Calibri"/>
                <a:cs typeface="Calibri"/>
              </a:rPr>
              <a:t>computed</a:t>
            </a:r>
            <a:r>
              <a:rPr sz="2000" spc="35" dirty="0">
                <a:latin typeface="Calibri"/>
                <a:cs typeface="Calibri"/>
              </a:rPr>
              <a:t> </a:t>
            </a:r>
            <a:r>
              <a:rPr sz="2000" spc="-25" dirty="0">
                <a:latin typeface="Calibri"/>
                <a:cs typeface="Calibri"/>
              </a:rPr>
              <a:t>for</a:t>
            </a:r>
            <a:r>
              <a:rPr sz="2000" dirty="0">
                <a:latin typeface="Calibri"/>
                <a:cs typeface="Calibri"/>
              </a:rPr>
              <a:t> </a:t>
            </a:r>
            <a:r>
              <a:rPr sz="2000" spc="-5" dirty="0">
                <a:latin typeface="Calibri"/>
                <a:cs typeface="Calibri"/>
              </a:rPr>
              <a:t>a </a:t>
            </a:r>
            <a:r>
              <a:rPr sz="2000" dirty="0">
                <a:latin typeface="Calibri"/>
                <a:cs typeface="Calibri"/>
              </a:rPr>
              <a:t> </a:t>
            </a:r>
            <a:r>
              <a:rPr sz="2000" spc="-10" dirty="0">
                <a:latin typeface="Calibri"/>
                <a:cs typeface="Calibri"/>
              </a:rPr>
              <a:t>frequency</a:t>
            </a:r>
            <a:r>
              <a:rPr sz="2000" spc="30" dirty="0">
                <a:latin typeface="Calibri"/>
                <a:cs typeface="Calibri"/>
              </a:rPr>
              <a:t> </a:t>
            </a:r>
            <a:r>
              <a:rPr sz="2000" spc="-5" dirty="0">
                <a:latin typeface="Calibri"/>
                <a:cs typeface="Calibri"/>
              </a:rPr>
              <a:t>distribution</a:t>
            </a:r>
            <a:r>
              <a:rPr sz="2000" spc="10" dirty="0">
                <a:latin typeface="Calibri"/>
                <a:cs typeface="Calibri"/>
              </a:rPr>
              <a:t> </a:t>
            </a:r>
            <a:r>
              <a:rPr sz="2000" spc="-5" dirty="0">
                <a:latin typeface="Calibri"/>
                <a:cs typeface="Calibri"/>
              </a:rPr>
              <a:t>of</a:t>
            </a:r>
            <a:r>
              <a:rPr sz="2000" spc="-10" dirty="0">
                <a:latin typeface="Calibri"/>
                <a:cs typeface="Calibri"/>
              </a:rPr>
              <a:t> </a:t>
            </a:r>
            <a:r>
              <a:rPr sz="2000" spc="-5" dirty="0">
                <a:latin typeface="Calibri"/>
                <a:cs typeface="Calibri"/>
              </a:rPr>
              <a:t>a</a:t>
            </a:r>
            <a:r>
              <a:rPr sz="2000" spc="10" dirty="0">
                <a:latin typeface="Calibri"/>
                <a:cs typeface="Calibri"/>
              </a:rPr>
              <a:t> </a:t>
            </a:r>
            <a:r>
              <a:rPr sz="2000" spc="-10" dirty="0">
                <a:latin typeface="Calibri"/>
                <a:cs typeface="Calibri"/>
              </a:rPr>
              <a:t>continuous</a:t>
            </a:r>
            <a:r>
              <a:rPr sz="2000" spc="20" dirty="0">
                <a:latin typeface="Calibri"/>
                <a:cs typeface="Calibri"/>
              </a:rPr>
              <a:t> </a:t>
            </a:r>
            <a:r>
              <a:rPr sz="2000" spc="-5" dirty="0">
                <a:latin typeface="Calibri"/>
                <a:cs typeface="Calibri"/>
              </a:rPr>
              <a:t>distribution</a:t>
            </a:r>
            <a:r>
              <a:rPr sz="2000" spc="10" dirty="0">
                <a:latin typeface="Calibri"/>
                <a:cs typeface="Calibri"/>
              </a:rPr>
              <a:t> </a:t>
            </a:r>
            <a:r>
              <a:rPr sz="2000" dirty="0">
                <a:latin typeface="Calibri"/>
                <a:cs typeface="Calibri"/>
              </a:rPr>
              <a:t>as</a:t>
            </a:r>
            <a:r>
              <a:rPr sz="2000" spc="20" dirty="0">
                <a:latin typeface="Calibri"/>
                <a:cs typeface="Calibri"/>
              </a:rPr>
              <a:t> </a:t>
            </a:r>
            <a:r>
              <a:rPr sz="2000" spc="-5" dirty="0">
                <a:latin typeface="Calibri"/>
                <a:cs typeface="Calibri"/>
              </a:rPr>
              <a:t>the number</a:t>
            </a:r>
            <a:r>
              <a:rPr sz="2000" spc="30" dirty="0">
                <a:latin typeface="Calibri"/>
                <a:cs typeface="Calibri"/>
              </a:rPr>
              <a:t> </a:t>
            </a:r>
            <a:r>
              <a:rPr sz="2000" spc="-5" dirty="0">
                <a:latin typeface="Calibri"/>
                <a:cs typeface="Calibri"/>
              </a:rPr>
              <a:t>of</a:t>
            </a:r>
            <a:r>
              <a:rPr sz="2000" spc="-10" dirty="0">
                <a:latin typeface="Calibri"/>
                <a:cs typeface="Calibri"/>
              </a:rPr>
              <a:t> </a:t>
            </a:r>
            <a:r>
              <a:rPr sz="2000" spc="-15" dirty="0">
                <a:latin typeface="Calibri"/>
                <a:cs typeface="Calibri"/>
              </a:rPr>
              <a:t>data</a:t>
            </a:r>
            <a:r>
              <a:rPr sz="2000" spc="5" dirty="0">
                <a:latin typeface="Calibri"/>
                <a:cs typeface="Calibri"/>
              </a:rPr>
              <a:t> </a:t>
            </a:r>
            <a:r>
              <a:rPr sz="2000" spc="-5" dirty="0">
                <a:latin typeface="Calibri"/>
                <a:cs typeface="Calibri"/>
              </a:rPr>
              <a:t>points </a:t>
            </a:r>
            <a:r>
              <a:rPr sz="2000" spc="-15" dirty="0">
                <a:latin typeface="Calibri"/>
                <a:cs typeface="Calibri"/>
              </a:rPr>
              <a:t>becomes </a:t>
            </a:r>
            <a:r>
              <a:rPr sz="2000" spc="-434" dirty="0">
                <a:latin typeface="Calibri"/>
                <a:cs typeface="Calibri"/>
              </a:rPr>
              <a:t> </a:t>
            </a:r>
            <a:r>
              <a:rPr sz="2000" spc="-20" dirty="0">
                <a:latin typeface="Calibri"/>
                <a:cs typeface="Calibri"/>
              </a:rPr>
              <a:t>very</a:t>
            </a:r>
            <a:r>
              <a:rPr sz="2000" spc="25" dirty="0">
                <a:latin typeface="Calibri"/>
                <a:cs typeface="Calibri"/>
              </a:rPr>
              <a:t> </a:t>
            </a:r>
            <a:r>
              <a:rPr sz="2000" spc="-15" dirty="0">
                <a:latin typeface="Calibri"/>
                <a:cs typeface="Calibri"/>
              </a:rPr>
              <a:t>large.</a:t>
            </a:r>
            <a:endParaRPr sz="2000">
              <a:latin typeface="Calibri"/>
              <a:cs typeface="Calibri"/>
            </a:endParaRPr>
          </a:p>
          <a:p>
            <a:pPr marL="241300" indent="-228600">
              <a:lnSpc>
                <a:spcPts val="2280"/>
              </a:lnSpc>
              <a:spcBef>
                <a:spcPts val="770"/>
              </a:spcBef>
              <a:buSzPct val="95000"/>
              <a:buFont typeface="Wingdings"/>
              <a:buChar char=""/>
              <a:tabLst>
                <a:tab pos="241300" algn="l"/>
              </a:tabLst>
            </a:pPr>
            <a:r>
              <a:rPr sz="2000" spc="-10" dirty="0">
                <a:latin typeface="Calibri"/>
                <a:cs typeface="Calibri"/>
              </a:rPr>
              <a:t>Frequency</a:t>
            </a:r>
            <a:r>
              <a:rPr sz="2000" spc="35" dirty="0">
                <a:latin typeface="Calibri"/>
                <a:cs typeface="Calibri"/>
              </a:rPr>
              <a:t> </a:t>
            </a:r>
            <a:r>
              <a:rPr sz="2000" spc="-15" dirty="0">
                <a:latin typeface="Calibri"/>
                <a:cs typeface="Calibri"/>
              </a:rPr>
              <a:t>polygon</a:t>
            </a:r>
            <a:r>
              <a:rPr sz="2000" dirty="0">
                <a:latin typeface="Calibri"/>
                <a:cs typeface="Calibri"/>
              </a:rPr>
              <a:t> and</a:t>
            </a:r>
            <a:r>
              <a:rPr sz="2000" spc="-10" dirty="0">
                <a:latin typeface="Calibri"/>
                <a:cs typeface="Calibri"/>
              </a:rPr>
              <a:t> frequency</a:t>
            </a:r>
            <a:r>
              <a:rPr sz="2000" spc="40" dirty="0">
                <a:latin typeface="Calibri"/>
                <a:cs typeface="Calibri"/>
              </a:rPr>
              <a:t> </a:t>
            </a:r>
            <a:r>
              <a:rPr sz="2000" spc="-10" dirty="0">
                <a:latin typeface="Calibri"/>
                <a:cs typeface="Calibri"/>
              </a:rPr>
              <a:t>curves</a:t>
            </a:r>
            <a:r>
              <a:rPr sz="2000" spc="40" dirty="0">
                <a:latin typeface="Calibri"/>
                <a:cs typeface="Calibri"/>
              </a:rPr>
              <a:t> </a:t>
            </a:r>
            <a:r>
              <a:rPr sz="2000" spc="-10" dirty="0">
                <a:latin typeface="Calibri"/>
                <a:cs typeface="Calibri"/>
              </a:rPr>
              <a:t>are</a:t>
            </a:r>
            <a:r>
              <a:rPr sz="2000" spc="25" dirty="0">
                <a:latin typeface="Calibri"/>
                <a:cs typeface="Calibri"/>
              </a:rPr>
              <a:t> </a:t>
            </a:r>
            <a:r>
              <a:rPr sz="2000" spc="-10" dirty="0">
                <a:latin typeface="Calibri"/>
                <a:cs typeface="Calibri"/>
              </a:rPr>
              <a:t>same</a:t>
            </a:r>
            <a:r>
              <a:rPr sz="2000" spc="45" dirty="0">
                <a:latin typeface="Calibri"/>
                <a:cs typeface="Calibri"/>
              </a:rPr>
              <a:t> </a:t>
            </a:r>
            <a:r>
              <a:rPr sz="2000" spc="-20" dirty="0">
                <a:latin typeface="Calibri"/>
                <a:cs typeface="Calibri"/>
              </a:rPr>
              <a:t>except</a:t>
            </a:r>
            <a:r>
              <a:rPr sz="2000" spc="10" dirty="0">
                <a:latin typeface="Calibri"/>
                <a:cs typeface="Calibri"/>
              </a:rPr>
              <a:t> </a:t>
            </a:r>
            <a:r>
              <a:rPr sz="2000" spc="-10" dirty="0">
                <a:latin typeface="Calibri"/>
                <a:cs typeface="Calibri"/>
              </a:rPr>
              <a:t>frequency</a:t>
            </a:r>
            <a:r>
              <a:rPr sz="2000" spc="40" dirty="0">
                <a:latin typeface="Calibri"/>
                <a:cs typeface="Calibri"/>
              </a:rPr>
              <a:t> </a:t>
            </a:r>
            <a:r>
              <a:rPr sz="2000" spc="-10" dirty="0">
                <a:latin typeface="Calibri"/>
                <a:cs typeface="Calibri"/>
              </a:rPr>
              <a:t>curve</a:t>
            </a:r>
            <a:r>
              <a:rPr sz="2000" spc="20" dirty="0">
                <a:latin typeface="Calibri"/>
                <a:cs typeface="Calibri"/>
              </a:rPr>
              <a:t> </a:t>
            </a:r>
            <a:r>
              <a:rPr sz="2000" spc="-5" dirty="0">
                <a:latin typeface="Calibri"/>
                <a:cs typeface="Calibri"/>
              </a:rPr>
              <a:t>is</a:t>
            </a:r>
            <a:r>
              <a:rPr sz="2000" spc="20" dirty="0">
                <a:latin typeface="Calibri"/>
                <a:cs typeface="Calibri"/>
              </a:rPr>
              <a:t> </a:t>
            </a:r>
            <a:r>
              <a:rPr sz="2000" spc="-20" dirty="0">
                <a:latin typeface="Calibri"/>
                <a:cs typeface="Calibri"/>
              </a:rPr>
              <a:t>drawn</a:t>
            </a:r>
            <a:r>
              <a:rPr sz="2000" spc="40" dirty="0">
                <a:latin typeface="Calibri"/>
                <a:cs typeface="Calibri"/>
              </a:rPr>
              <a:t> </a:t>
            </a:r>
            <a:r>
              <a:rPr sz="2000" spc="-5" dirty="0">
                <a:latin typeface="Calibri"/>
                <a:cs typeface="Calibri"/>
              </a:rPr>
              <a:t>using</a:t>
            </a:r>
            <a:endParaRPr sz="2000">
              <a:latin typeface="Calibri"/>
              <a:cs typeface="Calibri"/>
            </a:endParaRPr>
          </a:p>
          <a:p>
            <a:pPr marL="241300">
              <a:lnSpc>
                <a:spcPts val="2280"/>
              </a:lnSpc>
            </a:pPr>
            <a:r>
              <a:rPr sz="2000" spc="-15" dirty="0">
                <a:latin typeface="Calibri"/>
                <a:cs typeface="Calibri"/>
              </a:rPr>
              <a:t>free</a:t>
            </a:r>
            <a:r>
              <a:rPr sz="2000" spc="35" dirty="0">
                <a:latin typeface="Calibri"/>
                <a:cs typeface="Calibri"/>
              </a:rPr>
              <a:t> </a:t>
            </a:r>
            <a:r>
              <a:rPr sz="2000" spc="-5" dirty="0">
                <a:latin typeface="Calibri"/>
                <a:cs typeface="Calibri"/>
              </a:rPr>
              <a:t>hand</a:t>
            </a:r>
            <a:r>
              <a:rPr sz="2000" spc="-15" dirty="0">
                <a:latin typeface="Calibri"/>
                <a:cs typeface="Calibri"/>
              </a:rPr>
              <a:t> </a:t>
            </a:r>
            <a:r>
              <a:rPr sz="2000" spc="-5" dirty="0">
                <a:latin typeface="Calibri"/>
                <a:cs typeface="Calibri"/>
              </a:rPr>
              <a:t>and</a:t>
            </a:r>
            <a:r>
              <a:rPr sz="2000" spc="-15" dirty="0">
                <a:latin typeface="Calibri"/>
                <a:cs typeface="Calibri"/>
              </a:rPr>
              <a:t> </a:t>
            </a:r>
            <a:r>
              <a:rPr sz="2000" spc="-10" dirty="0">
                <a:latin typeface="Calibri"/>
                <a:cs typeface="Calibri"/>
              </a:rPr>
              <a:t>frequency</a:t>
            </a:r>
            <a:r>
              <a:rPr sz="2000" spc="30" dirty="0">
                <a:latin typeface="Calibri"/>
                <a:cs typeface="Calibri"/>
              </a:rPr>
              <a:t> </a:t>
            </a:r>
            <a:r>
              <a:rPr sz="2000" spc="-10" dirty="0">
                <a:latin typeface="Calibri"/>
                <a:cs typeface="Calibri"/>
              </a:rPr>
              <a:t>polygon</a:t>
            </a:r>
            <a:r>
              <a:rPr sz="2000" spc="-15" dirty="0">
                <a:latin typeface="Calibri"/>
                <a:cs typeface="Calibri"/>
              </a:rPr>
              <a:t> </a:t>
            </a:r>
            <a:r>
              <a:rPr sz="2000" spc="-5" dirty="0">
                <a:latin typeface="Calibri"/>
                <a:cs typeface="Calibri"/>
              </a:rPr>
              <a:t>is</a:t>
            </a:r>
            <a:r>
              <a:rPr sz="2000" spc="10" dirty="0">
                <a:latin typeface="Calibri"/>
                <a:cs typeface="Calibri"/>
              </a:rPr>
              <a:t> </a:t>
            </a:r>
            <a:r>
              <a:rPr sz="2000" spc="-20" dirty="0">
                <a:latin typeface="Calibri"/>
                <a:cs typeface="Calibri"/>
              </a:rPr>
              <a:t>drawn</a:t>
            </a:r>
            <a:r>
              <a:rPr sz="2000" spc="5" dirty="0">
                <a:latin typeface="Calibri"/>
                <a:cs typeface="Calibri"/>
              </a:rPr>
              <a:t> </a:t>
            </a:r>
            <a:r>
              <a:rPr sz="2000" spc="-5" dirty="0">
                <a:latin typeface="Calibri"/>
                <a:cs typeface="Calibri"/>
              </a:rPr>
              <a:t>using</a:t>
            </a:r>
            <a:r>
              <a:rPr sz="2000" spc="25" dirty="0">
                <a:latin typeface="Calibri"/>
                <a:cs typeface="Calibri"/>
              </a:rPr>
              <a:t> </a:t>
            </a:r>
            <a:r>
              <a:rPr sz="2000" spc="-15" dirty="0">
                <a:latin typeface="Calibri"/>
                <a:cs typeface="Calibri"/>
              </a:rPr>
              <a:t>scale.</a:t>
            </a:r>
            <a:endParaRPr sz="2000">
              <a:latin typeface="Calibri"/>
              <a:cs typeface="Calibri"/>
            </a:endParaRPr>
          </a:p>
          <a:p>
            <a:pPr marL="241300" marR="5080" indent="-228600">
              <a:lnSpc>
                <a:spcPts val="2160"/>
              </a:lnSpc>
              <a:spcBef>
                <a:spcPts val="1019"/>
              </a:spcBef>
              <a:buSzPct val="95000"/>
              <a:buFont typeface="Wingdings"/>
              <a:buChar char=""/>
              <a:tabLst>
                <a:tab pos="241300" algn="l"/>
              </a:tabLst>
            </a:pPr>
            <a:r>
              <a:rPr sz="2000" spc="-5" dirty="0">
                <a:latin typeface="Calibri"/>
                <a:cs typeface="Calibri"/>
              </a:rPr>
              <a:t>A</a:t>
            </a:r>
            <a:r>
              <a:rPr sz="2000" dirty="0">
                <a:latin typeface="Calibri"/>
                <a:cs typeface="Calibri"/>
              </a:rPr>
              <a:t> </a:t>
            </a:r>
            <a:r>
              <a:rPr sz="2000" spc="-10" dirty="0">
                <a:latin typeface="Calibri"/>
                <a:cs typeface="Calibri"/>
              </a:rPr>
              <a:t>Frequency</a:t>
            </a:r>
            <a:r>
              <a:rPr sz="2000" spc="30" dirty="0">
                <a:latin typeface="Calibri"/>
                <a:cs typeface="Calibri"/>
              </a:rPr>
              <a:t> </a:t>
            </a:r>
            <a:r>
              <a:rPr sz="2000" spc="-10" dirty="0">
                <a:latin typeface="Calibri"/>
                <a:cs typeface="Calibri"/>
              </a:rPr>
              <a:t>Curve</a:t>
            </a:r>
            <a:r>
              <a:rPr sz="2000" spc="20" dirty="0">
                <a:latin typeface="Calibri"/>
                <a:cs typeface="Calibri"/>
              </a:rPr>
              <a:t> </a:t>
            </a:r>
            <a:r>
              <a:rPr sz="2000" spc="-5" dirty="0">
                <a:latin typeface="Calibri"/>
                <a:cs typeface="Calibri"/>
              </a:rPr>
              <a:t>is</a:t>
            </a:r>
            <a:r>
              <a:rPr sz="2000" spc="10" dirty="0">
                <a:latin typeface="Calibri"/>
                <a:cs typeface="Calibri"/>
              </a:rPr>
              <a:t> </a:t>
            </a:r>
            <a:r>
              <a:rPr sz="2000" spc="-5" dirty="0">
                <a:latin typeface="Calibri"/>
                <a:cs typeface="Calibri"/>
              </a:rPr>
              <a:t>a</a:t>
            </a:r>
            <a:r>
              <a:rPr sz="2000" spc="40" dirty="0">
                <a:latin typeface="Calibri"/>
                <a:cs typeface="Calibri"/>
              </a:rPr>
              <a:t> </a:t>
            </a:r>
            <a:r>
              <a:rPr sz="2000" spc="-10" dirty="0">
                <a:latin typeface="Calibri"/>
                <a:cs typeface="Calibri"/>
              </a:rPr>
              <a:t>smooth</a:t>
            </a:r>
            <a:r>
              <a:rPr sz="2000" spc="20" dirty="0">
                <a:latin typeface="Calibri"/>
                <a:cs typeface="Calibri"/>
              </a:rPr>
              <a:t> </a:t>
            </a:r>
            <a:r>
              <a:rPr sz="2000" spc="-10" dirty="0">
                <a:latin typeface="Calibri"/>
                <a:cs typeface="Calibri"/>
              </a:rPr>
              <a:t>curve</a:t>
            </a:r>
            <a:r>
              <a:rPr sz="2000" spc="45" dirty="0">
                <a:latin typeface="Calibri"/>
                <a:cs typeface="Calibri"/>
              </a:rPr>
              <a:t> </a:t>
            </a:r>
            <a:r>
              <a:rPr sz="2000" spc="-5" dirty="0">
                <a:latin typeface="Calibri"/>
                <a:cs typeface="Calibri"/>
              </a:rPr>
              <a:t>which</a:t>
            </a:r>
            <a:r>
              <a:rPr sz="2000" dirty="0">
                <a:latin typeface="Calibri"/>
                <a:cs typeface="Calibri"/>
              </a:rPr>
              <a:t> </a:t>
            </a:r>
            <a:r>
              <a:rPr sz="2000" spc="-10" dirty="0">
                <a:latin typeface="Calibri"/>
                <a:cs typeface="Calibri"/>
              </a:rPr>
              <a:t>corresponds</a:t>
            </a:r>
            <a:r>
              <a:rPr sz="2000" spc="40" dirty="0">
                <a:latin typeface="Calibri"/>
                <a:cs typeface="Calibri"/>
              </a:rPr>
              <a:t> </a:t>
            </a:r>
            <a:r>
              <a:rPr sz="2000" spc="-15" dirty="0">
                <a:latin typeface="Calibri"/>
                <a:cs typeface="Calibri"/>
              </a:rPr>
              <a:t>to</a:t>
            </a:r>
            <a:r>
              <a:rPr sz="2000" spc="-20" dirty="0">
                <a:latin typeface="Calibri"/>
                <a:cs typeface="Calibri"/>
              </a:rPr>
              <a:t> </a:t>
            </a:r>
            <a:r>
              <a:rPr sz="2000" dirty="0">
                <a:latin typeface="Calibri"/>
                <a:cs typeface="Calibri"/>
              </a:rPr>
              <a:t>the</a:t>
            </a:r>
            <a:r>
              <a:rPr sz="2000" spc="20" dirty="0">
                <a:latin typeface="Calibri"/>
                <a:cs typeface="Calibri"/>
              </a:rPr>
              <a:t> </a:t>
            </a:r>
            <a:r>
              <a:rPr sz="2000" spc="-5" dirty="0">
                <a:latin typeface="Calibri"/>
                <a:cs typeface="Calibri"/>
              </a:rPr>
              <a:t>limiting</a:t>
            </a:r>
            <a:r>
              <a:rPr sz="2000" spc="20" dirty="0">
                <a:latin typeface="Calibri"/>
                <a:cs typeface="Calibri"/>
              </a:rPr>
              <a:t> </a:t>
            </a:r>
            <a:r>
              <a:rPr sz="2000" spc="-15" dirty="0">
                <a:latin typeface="Calibri"/>
                <a:cs typeface="Calibri"/>
              </a:rPr>
              <a:t>case</a:t>
            </a:r>
            <a:r>
              <a:rPr sz="2000" spc="45" dirty="0">
                <a:latin typeface="Calibri"/>
                <a:cs typeface="Calibri"/>
              </a:rPr>
              <a:t> </a:t>
            </a:r>
            <a:r>
              <a:rPr sz="2000" spc="-5" dirty="0">
                <a:latin typeface="Calibri"/>
                <a:cs typeface="Calibri"/>
              </a:rPr>
              <a:t>of a</a:t>
            </a:r>
            <a:r>
              <a:rPr sz="2000" spc="5" dirty="0">
                <a:latin typeface="Calibri"/>
                <a:cs typeface="Calibri"/>
              </a:rPr>
              <a:t> </a:t>
            </a:r>
            <a:r>
              <a:rPr sz="2000" spc="-15" dirty="0">
                <a:latin typeface="Calibri"/>
                <a:cs typeface="Calibri"/>
              </a:rPr>
              <a:t>histogram </a:t>
            </a:r>
            <a:r>
              <a:rPr sz="2000" spc="-440" dirty="0">
                <a:latin typeface="Calibri"/>
                <a:cs typeface="Calibri"/>
              </a:rPr>
              <a:t> </a:t>
            </a:r>
            <a:r>
              <a:rPr sz="2000" spc="-15" dirty="0">
                <a:latin typeface="Calibri"/>
                <a:cs typeface="Calibri"/>
              </a:rPr>
              <a:t>computed</a:t>
            </a:r>
            <a:r>
              <a:rPr sz="2000" spc="35" dirty="0">
                <a:latin typeface="Calibri"/>
                <a:cs typeface="Calibri"/>
              </a:rPr>
              <a:t> </a:t>
            </a:r>
            <a:r>
              <a:rPr sz="2000" spc="-25" dirty="0">
                <a:latin typeface="Calibri"/>
                <a:cs typeface="Calibri"/>
              </a:rPr>
              <a:t>for</a:t>
            </a:r>
            <a:r>
              <a:rPr sz="2000" spc="5" dirty="0">
                <a:latin typeface="Calibri"/>
                <a:cs typeface="Calibri"/>
              </a:rPr>
              <a:t> </a:t>
            </a:r>
            <a:r>
              <a:rPr sz="2000" spc="-5" dirty="0">
                <a:latin typeface="Calibri"/>
                <a:cs typeface="Calibri"/>
              </a:rPr>
              <a:t>a</a:t>
            </a:r>
            <a:r>
              <a:rPr sz="2000" spc="30" dirty="0">
                <a:latin typeface="Calibri"/>
                <a:cs typeface="Calibri"/>
              </a:rPr>
              <a:t> </a:t>
            </a:r>
            <a:r>
              <a:rPr sz="2000" spc="-10" dirty="0">
                <a:latin typeface="Calibri"/>
                <a:cs typeface="Calibri"/>
              </a:rPr>
              <a:t>frequency</a:t>
            </a:r>
            <a:r>
              <a:rPr sz="2000" spc="50" dirty="0">
                <a:latin typeface="Calibri"/>
                <a:cs typeface="Calibri"/>
              </a:rPr>
              <a:t> </a:t>
            </a:r>
            <a:r>
              <a:rPr sz="2000" spc="-5" dirty="0">
                <a:latin typeface="Calibri"/>
                <a:cs typeface="Calibri"/>
              </a:rPr>
              <a:t>distribution</a:t>
            </a:r>
            <a:r>
              <a:rPr sz="2000" spc="35" dirty="0">
                <a:latin typeface="Calibri"/>
                <a:cs typeface="Calibri"/>
              </a:rPr>
              <a:t> </a:t>
            </a:r>
            <a:r>
              <a:rPr sz="2000" spc="-5" dirty="0">
                <a:latin typeface="Calibri"/>
                <a:cs typeface="Calibri"/>
              </a:rPr>
              <a:t>of</a:t>
            </a:r>
            <a:r>
              <a:rPr sz="2000" spc="-10" dirty="0">
                <a:latin typeface="Calibri"/>
                <a:cs typeface="Calibri"/>
              </a:rPr>
              <a:t> </a:t>
            </a:r>
            <a:r>
              <a:rPr sz="2000" spc="-5" dirty="0">
                <a:latin typeface="Calibri"/>
                <a:cs typeface="Calibri"/>
              </a:rPr>
              <a:t>a</a:t>
            </a:r>
            <a:r>
              <a:rPr sz="2000" spc="10" dirty="0">
                <a:latin typeface="Calibri"/>
                <a:cs typeface="Calibri"/>
              </a:rPr>
              <a:t> </a:t>
            </a:r>
            <a:r>
              <a:rPr sz="2000" spc="-10" dirty="0">
                <a:latin typeface="Calibri"/>
                <a:cs typeface="Calibri"/>
              </a:rPr>
              <a:t>continuous </a:t>
            </a:r>
            <a:r>
              <a:rPr sz="2000" spc="-5" dirty="0">
                <a:latin typeface="Calibri"/>
                <a:cs typeface="Calibri"/>
              </a:rPr>
              <a:t>distribution</a:t>
            </a:r>
            <a:r>
              <a:rPr sz="2000" spc="35" dirty="0">
                <a:latin typeface="Calibri"/>
                <a:cs typeface="Calibri"/>
              </a:rPr>
              <a:t> </a:t>
            </a:r>
            <a:r>
              <a:rPr sz="2000" spc="-5" dirty="0">
                <a:latin typeface="Calibri"/>
                <a:cs typeface="Calibri"/>
              </a:rPr>
              <a:t>as</a:t>
            </a:r>
            <a:r>
              <a:rPr sz="2000" dirty="0">
                <a:latin typeface="Calibri"/>
                <a:cs typeface="Calibri"/>
              </a:rPr>
              <a:t> </a:t>
            </a:r>
            <a:r>
              <a:rPr sz="2000" spc="-5" dirty="0">
                <a:latin typeface="Calibri"/>
                <a:cs typeface="Calibri"/>
              </a:rPr>
              <a:t>the</a:t>
            </a:r>
            <a:r>
              <a:rPr sz="2000" spc="20" dirty="0">
                <a:latin typeface="Calibri"/>
                <a:cs typeface="Calibri"/>
              </a:rPr>
              <a:t> </a:t>
            </a:r>
            <a:r>
              <a:rPr sz="2000" spc="-10" dirty="0">
                <a:latin typeface="Calibri"/>
                <a:cs typeface="Calibri"/>
              </a:rPr>
              <a:t>number</a:t>
            </a:r>
            <a:r>
              <a:rPr sz="2000" spc="5" dirty="0">
                <a:latin typeface="Calibri"/>
                <a:cs typeface="Calibri"/>
              </a:rPr>
              <a:t> </a:t>
            </a:r>
            <a:r>
              <a:rPr sz="2000" spc="-5" dirty="0">
                <a:latin typeface="Calibri"/>
                <a:cs typeface="Calibri"/>
              </a:rPr>
              <a:t>of</a:t>
            </a:r>
            <a:r>
              <a:rPr sz="2000" spc="-10" dirty="0">
                <a:latin typeface="Calibri"/>
                <a:cs typeface="Calibri"/>
              </a:rPr>
              <a:t> </a:t>
            </a:r>
            <a:r>
              <a:rPr sz="2000" spc="-15" dirty="0">
                <a:latin typeface="Calibri"/>
                <a:cs typeface="Calibri"/>
              </a:rPr>
              <a:t>data </a:t>
            </a:r>
            <a:r>
              <a:rPr sz="2000" spc="-10" dirty="0">
                <a:latin typeface="Calibri"/>
                <a:cs typeface="Calibri"/>
              </a:rPr>
              <a:t> </a:t>
            </a:r>
            <a:r>
              <a:rPr sz="2000" spc="-5" dirty="0">
                <a:latin typeface="Calibri"/>
                <a:cs typeface="Calibri"/>
              </a:rPr>
              <a:t>points</a:t>
            </a:r>
            <a:r>
              <a:rPr sz="2000" spc="-15" dirty="0">
                <a:latin typeface="Calibri"/>
                <a:cs typeface="Calibri"/>
              </a:rPr>
              <a:t> becomes</a:t>
            </a:r>
            <a:r>
              <a:rPr sz="2000" spc="60" dirty="0">
                <a:latin typeface="Calibri"/>
                <a:cs typeface="Calibri"/>
              </a:rPr>
              <a:t> </a:t>
            </a:r>
            <a:r>
              <a:rPr sz="2000" spc="-20" dirty="0">
                <a:latin typeface="Calibri"/>
                <a:cs typeface="Calibri"/>
              </a:rPr>
              <a:t>very</a:t>
            </a:r>
            <a:r>
              <a:rPr sz="2000" spc="30" dirty="0">
                <a:latin typeface="Calibri"/>
                <a:cs typeface="Calibri"/>
              </a:rPr>
              <a:t> </a:t>
            </a:r>
            <a:r>
              <a:rPr sz="2000" spc="-15" dirty="0">
                <a:latin typeface="Calibri"/>
                <a:cs typeface="Calibri"/>
              </a:rPr>
              <a:t>large</a:t>
            </a:r>
            <a:endParaRPr sz="2000">
              <a:latin typeface="Calibri"/>
              <a:cs typeface="Calibri"/>
            </a:endParaRPr>
          </a:p>
        </p:txBody>
      </p:sp>
    </p:spTree>
    <p:extLst>
      <p:ext uri="{BB962C8B-B14F-4D97-AF65-F5344CB8AC3E}">
        <p14:creationId xmlns:p14="http://schemas.microsoft.com/office/powerpoint/2010/main" val="83526190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45973" y="550876"/>
            <a:ext cx="2336006" cy="1576072"/>
          </a:xfrm>
          <a:prstGeom prst="rect">
            <a:avLst/>
          </a:prstGeom>
        </p:spPr>
        <p:txBody>
          <a:bodyPr vert="horz" wrap="square" lIns="0" tIns="74930" rIns="0" bIns="0" rtlCol="0">
            <a:spAutoFit/>
          </a:bodyPr>
          <a:lstStyle/>
          <a:p>
            <a:pPr marL="12700" marR="5080">
              <a:lnSpc>
                <a:spcPts val="3890"/>
              </a:lnSpc>
              <a:spcBef>
                <a:spcPts val="590"/>
              </a:spcBef>
            </a:pPr>
            <a:r>
              <a:rPr sz="3600" spc="-10" dirty="0">
                <a:latin typeface="Calibri Light"/>
                <a:cs typeface="Calibri Light"/>
              </a:rPr>
              <a:t>Cumulative </a:t>
            </a:r>
            <a:r>
              <a:rPr sz="3600" spc="-5" dirty="0">
                <a:latin typeface="Calibri Light"/>
                <a:cs typeface="Calibri Light"/>
              </a:rPr>
              <a:t> </a:t>
            </a:r>
            <a:r>
              <a:rPr sz="3600" spc="-10" dirty="0">
                <a:latin typeface="Calibri Light"/>
                <a:cs typeface="Calibri Light"/>
              </a:rPr>
              <a:t>Frequency</a:t>
            </a:r>
            <a:r>
              <a:rPr sz="3600" spc="-95" dirty="0">
                <a:latin typeface="Calibri Light"/>
                <a:cs typeface="Calibri Light"/>
              </a:rPr>
              <a:t> </a:t>
            </a:r>
            <a:r>
              <a:rPr sz="3600" spc="-5" dirty="0">
                <a:latin typeface="Calibri Light"/>
                <a:cs typeface="Calibri Light"/>
              </a:rPr>
              <a:t>Curve</a:t>
            </a:r>
            <a:endParaRPr sz="3600">
              <a:latin typeface="Calibri Light"/>
              <a:cs typeface="Calibri Light"/>
            </a:endParaRPr>
          </a:p>
        </p:txBody>
      </p:sp>
      <p:sp>
        <p:nvSpPr>
          <p:cNvPr id="3" name="object 3"/>
          <p:cNvSpPr txBox="1"/>
          <p:nvPr/>
        </p:nvSpPr>
        <p:spPr>
          <a:xfrm>
            <a:off x="3665573" y="49132"/>
            <a:ext cx="4963478" cy="1981312"/>
          </a:xfrm>
          <a:prstGeom prst="rect">
            <a:avLst/>
          </a:prstGeom>
        </p:spPr>
        <p:txBody>
          <a:bodyPr vert="horz" wrap="square" lIns="0" tIns="41910" rIns="0" bIns="0" rtlCol="0">
            <a:spAutoFit/>
          </a:bodyPr>
          <a:lstStyle/>
          <a:p>
            <a:pPr marL="241300" marR="5080" indent="-228600">
              <a:lnSpc>
                <a:spcPct val="90000"/>
              </a:lnSpc>
              <a:spcBef>
                <a:spcPts val="330"/>
              </a:spcBef>
              <a:buSzPct val="95000"/>
              <a:buFont typeface="Wingdings"/>
              <a:buChar char=""/>
              <a:tabLst>
                <a:tab pos="241300" algn="l"/>
              </a:tabLst>
            </a:pPr>
            <a:r>
              <a:rPr sz="2000" spc="-5" dirty="0">
                <a:latin typeface="Calibri"/>
                <a:cs typeface="Calibri"/>
              </a:rPr>
              <a:t>A </a:t>
            </a:r>
            <a:r>
              <a:rPr sz="2000" spc="-10" dirty="0">
                <a:latin typeface="Calibri"/>
                <a:cs typeface="Calibri"/>
              </a:rPr>
              <a:t>curve</a:t>
            </a:r>
            <a:r>
              <a:rPr sz="2000" spc="15" dirty="0">
                <a:latin typeface="Calibri"/>
                <a:cs typeface="Calibri"/>
              </a:rPr>
              <a:t> </a:t>
            </a:r>
            <a:r>
              <a:rPr sz="2000" spc="-10" dirty="0">
                <a:latin typeface="Calibri"/>
                <a:cs typeface="Calibri"/>
              </a:rPr>
              <a:t>that</a:t>
            </a:r>
            <a:r>
              <a:rPr sz="2000" spc="5" dirty="0">
                <a:latin typeface="Calibri"/>
                <a:cs typeface="Calibri"/>
              </a:rPr>
              <a:t> </a:t>
            </a:r>
            <a:r>
              <a:rPr sz="2000" spc="-15" dirty="0">
                <a:latin typeface="Calibri"/>
                <a:cs typeface="Calibri"/>
              </a:rPr>
              <a:t>represents</a:t>
            </a:r>
            <a:r>
              <a:rPr sz="2000" spc="90" dirty="0">
                <a:latin typeface="Calibri"/>
                <a:cs typeface="Calibri"/>
              </a:rPr>
              <a:t> </a:t>
            </a:r>
            <a:r>
              <a:rPr sz="2000" spc="-5" dirty="0">
                <a:latin typeface="Calibri"/>
                <a:cs typeface="Calibri"/>
              </a:rPr>
              <a:t>the</a:t>
            </a:r>
            <a:r>
              <a:rPr sz="2000" spc="-10" dirty="0">
                <a:latin typeface="Calibri"/>
                <a:cs typeface="Calibri"/>
              </a:rPr>
              <a:t> cumulative</a:t>
            </a:r>
            <a:r>
              <a:rPr sz="2000" spc="65" dirty="0">
                <a:latin typeface="Calibri"/>
                <a:cs typeface="Calibri"/>
              </a:rPr>
              <a:t> </a:t>
            </a:r>
            <a:r>
              <a:rPr sz="2000" spc="-10" dirty="0">
                <a:latin typeface="Calibri"/>
                <a:cs typeface="Calibri"/>
              </a:rPr>
              <a:t>frequency</a:t>
            </a:r>
            <a:r>
              <a:rPr sz="2000" spc="30" dirty="0">
                <a:latin typeface="Calibri"/>
                <a:cs typeface="Calibri"/>
              </a:rPr>
              <a:t> </a:t>
            </a:r>
            <a:r>
              <a:rPr sz="2000" spc="-5" dirty="0">
                <a:latin typeface="Calibri"/>
                <a:cs typeface="Calibri"/>
              </a:rPr>
              <a:t>distribution </a:t>
            </a:r>
            <a:r>
              <a:rPr sz="2000" spc="-440" dirty="0">
                <a:latin typeface="Calibri"/>
                <a:cs typeface="Calibri"/>
              </a:rPr>
              <a:t> </a:t>
            </a:r>
            <a:r>
              <a:rPr sz="2000" spc="-5" dirty="0">
                <a:latin typeface="Calibri"/>
                <a:cs typeface="Calibri"/>
              </a:rPr>
              <a:t>of</a:t>
            </a:r>
            <a:r>
              <a:rPr sz="2000" spc="-15" dirty="0">
                <a:latin typeface="Calibri"/>
                <a:cs typeface="Calibri"/>
              </a:rPr>
              <a:t> </a:t>
            </a:r>
            <a:r>
              <a:rPr sz="2000" spc="-10" dirty="0">
                <a:latin typeface="Calibri"/>
                <a:cs typeface="Calibri"/>
              </a:rPr>
              <a:t>grouped</a:t>
            </a:r>
            <a:r>
              <a:rPr sz="2000" spc="-15" dirty="0">
                <a:latin typeface="Calibri"/>
                <a:cs typeface="Calibri"/>
              </a:rPr>
              <a:t> data</a:t>
            </a:r>
            <a:r>
              <a:rPr sz="2000" spc="10" dirty="0">
                <a:latin typeface="Calibri"/>
                <a:cs typeface="Calibri"/>
              </a:rPr>
              <a:t> </a:t>
            </a:r>
            <a:r>
              <a:rPr sz="2000" spc="-5" dirty="0">
                <a:latin typeface="Calibri"/>
                <a:cs typeface="Calibri"/>
              </a:rPr>
              <a:t>on</a:t>
            </a:r>
            <a:r>
              <a:rPr sz="2000" spc="5" dirty="0">
                <a:latin typeface="Calibri"/>
                <a:cs typeface="Calibri"/>
              </a:rPr>
              <a:t> </a:t>
            </a:r>
            <a:r>
              <a:rPr sz="2000" spc="-5" dirty="0">
                <a:latin typeface="Calibri"/>
                <a:cs typeface="Calibri"/>
              </a:rPr>
              <a:t>a </a:t>
            </a:r>
            <a:r>
              <a:rPr sz="2000" spc="-15" dirty="0">
                <a:latin typeface="Calibri"/>
                <a:cs typeface="Calibri"/>
              </a:rPr>
              <a:t>graph</a:t>
            </a:r>
            <a:r>
              <a:rPr sz="2000" spc="5" dirty="0">
                <a:latin typeface="Calibri"/>
                <a:cs typeface="Calibri"/>
              </a:rPr>
              <a:t> </a:t>
            </a:r>
            <a:r>
              <a:rPr sz="2000" spc="-5" dirty="0">
                <a:latin typeface="Calibri"/>
                <a:cs typeface="Calibri"/>
              </a:rPr>
              <a:t>is</a:t>
            </a:r>
            <a:r>
              <a:rPr sz="2000" spc="15" dirty="0">
                <a:latin typeface="Calibri"/>
                <a:cs typeface="Calibri"/>
              </a:rPr>
              <a:t> </a:t>
            </a:r>
            <a:r>
              <a:rPr sz="2000" spc="-10" dirty="0">
                <a:latin typeface="Calibri"/>
                <a:cs typeface="Calibri"/>
              </a:rPr>
              <a:t>called</a:t>
            </a:r>
            <a:r>
              <a:rPr sz="2000" spc="60" dirty="0">
                <a:latin typeface="Calibri"/>
                <a:cs typeface="Calibri"/>
              </a:rPr>
              <a:t> </a:t>
            </a:r>
            <a:r>
              <a:rPr sz="2000" spc="-5" dirty="0">
                <a:latin typeface="Calibri"/>
                <a:cs typeface="Calibri"/>
              </a:rPr>
              <a:t>a</a:t>
            </a:r>
            <a:r>
              <a:rPr sz="2000" spc="5" dirty="0">
                <a:latin typeface="Calibri"/>
                <a:cs typeface="Calibri"/>
              </a:rPr>
              <a:t> </a:t>
            </a:r>
            <a:r>
              <a:rPr sz="2000" spc="-15" dirty="0">
                <a:latin typeface="Calibri"/>
                <a:cs typeface="Calibri"/>
              </a:rPr>
              <a:t>Cumulative</a:t>
            </a:r>
            <a:r>
              <a:rPr sz="2000" spc="45" dirty="0">
                <a:latin typeface="Calibri"/>
                <a:cs typeface="Calibri"/>
              </a:rPr>
              <a:t> </a:t>
            </a:r>
            <a:r>
              <a:rPr sz="2000" spc="-10" dirty="0">
                <a:latin typeface="Calibri"/>
                <a:cs typeface="Calibri"/>
              </a:rPr>
              <a:t>Frequency </a:t>
            </a:r>
            <a:r>
              <a:rPr sz="2000" spc="-5" dirty="0">
                <a:latin typeface="Calibri"/>
                <a:cs typeface="Calibri"/>
              </a:rPr>
              <a:t> </a:t>
            </a:r>
            <a:r>
              <a:rPr sz="2000" spc="-10" dirty="0">
                <a:latin typeface="Calibri"/>
                <a:cs typeface="Calibri"/>
              </a:rPr>
              <a:t>Curve</a:t>
            </a:r>
            <a:r>
              <a:rPr sz="2000" spc="15" dirty="0">
                <a:latin typeface="Calibri"/>
                <a:cs typeface="Calibri"/>
              </a:rPr>
              <a:t> </a:t>
            </a:r>
            <a:r>
              <a:rPr sz="2000" spc="-5" dirty="0">
                <a:latin typeface="Calibri"/>
                <a:cs typeface="Calibri"/>
              </a:rPr>
              <a:t>or</a:t>
            </a:r>
            <a:r>
              <a:rPr sz="2000" spc="5" dirty="0">
                <a:latin typeface="Calibri"/>
                <a:cs typeface="Calibri"/>
              </a:rPr>
              <a:t> </a:t>
            </a:r>
            <a:r>
              <a:rPr sz="2000" spc="-5" dirty="0">
                <a:latin typeface="Calibri"/>
                <a:cs typeface="Calibri"/>
              </a:rPr>
              <a:t>an</a:t>
            </a:r>
            <a:r>
              <a:rPr sz="2000" spc="10" dirty="0">
                <a:latin typeface="Calibri"/>
                <a:cs typeface="Calibri"/>
              </a:rPr>
              <a:t> </a:t>
            </a:r>
            <a:r>
              <a:rPr sz="2000" b="1" spc="-15" dirty="0">
                <a:latin typeface="Calibri"/>
                <a:cs typeface="Calibri"/>
              </a:rPr>
              <a:t>Ogive</a:t>
            </a:r>
            <a:r>
              <a:rPr sz="2000" spc="-15" dirty="0">
                <a:latin typeface="Calibri"/>
                <a:cs typeface="Calibri"/>
              </a:rPr>
              <a:t>.</a:t>
            </a:r>
            <a:r>
              <a:rPr sz="2000" spc="50" dirty="0">
                <a:latin typeface="Calibri"/>
                <a:cs typeface="Calibri"/>
              </a:rPr>
              <a:t> </a:t>
            </a:r>
            <a:r>
              <a:rPr sz="2000" spc="-15" dirty="0">
                <a:latin typeface="Calibri"/>
                <a:cs typeface="Calibri"/>
              </a:rPr>
              <a:t>Representing</a:t>
            </a:r>
            <a:r>
              <a:rPr sz="2000" spc="45" dirty="0">
                <a:latin typeface="Calibri"/>
                <a:cs typeface="Calibri"/>
              </a:rPr>
              <a:t> </a:t>
            </a:r>
            <a:r>
              <a:rPr sz="2000" spc="-10" dirty="0">
                <a:latin typeface="Calibri"/>
                <a:cs typeface="Calibri"/>
              </a:rPr>
              <a:t>cumulative</a:t>
            </a:r>
            <a:r>
              <a:rPr sz="2000" spc="70" dirty="0">
                <a:latin typeface="Calibri"/>
                <a:cs typeface="Calibri"/>
              </a:rPr>
              <a:t> </a:t>
            </a:r>
            <a:r>
              <a:rPr sz="2000" spc="-10" dirty="0">
                <a:latin typeface="Calibri"/>
                <a:cs typeface="Calibri"/>
              </a:rPr>
              <a:t>frequency</a:t>
            </a:r>
            <a:r>
              <a:rPr sz="2000" spc="30" dirty="0">
                <a:latin typeface="Calibri"/>
                <a:cs typeface="Calibri"/>
              </a:rPr>
              <a:t> </a:t>
            </a:r>
            <a:r>
              <a:rPr sz="2000" spc="-15" dirty="0">
                <a:latin typeface="Calibri"/>
                <a:cs typeface="Calibri"/>
              </a:rPr>
              <a:t>data </a:t>
            </a:r>
            <a:r>
              <a:rPr sz="2000" spc="-10" dirty="0">
                <a:latin typeface="Calibri"/>
                <a:cs typeface="Calibri"/>
              </a:rPr>
              <a:t> </a:t>
            </a:r>
            <a:r>
              <a:rPr sz="2000" spc="-5" dirty="0">
                <a:latin typeface="Calibri"/>
                <a:cs typeface="Calibri"/>
              </a:rPr>
              <a:t>on</a:t>
            </a:r>
            <a:r>
              <a:rPr sz="2000" spc="-10" dirty="0">
                <a:latin typeface="Calibri"/>
                <a:cs typeface="Calibri"/>
              </a:rPr>
              <a:t> </a:t>
            </a:r>
            <a:r>
              <a:rPr sz="2000" spc="-5" dirty="0">
                <a:latin typeface="Calibri"/>
                <a:cs typeface="Calibri"/>
              </a:rPr>
              <a:t>a</a:t>
            </a:r>
            <a:r>
              <a:rPr sz="2000" spc="10" dirty="0">
                <a:latin typeface="Calibri"/>
                <a:cs typeface="Calibri"/>
              </a:rPr>
              <a:t> </a:t>
            </a:r>
            <a:r>
              <a:rPr sz="2000" spc="-15" dirty="0">
                <a:latin typeface="Calibri"/>
                <a:cs typeface="Calibri"/>
              </a:rPr>
              <a:t>graph</a:t>
            </a:r>
            <a:r>
              <a:rPr sz="2000" spc="10" dirty="0">
                <a:latin typeface="Calibri"/>
                <a:cs typeface="Calibri"/>
              </a:rPr>
              <a:t> </a:t>
            </a:r>
            <a:r>
              <a:rPr sz="2000" spc="-5" dirty="0">
                <a:latin typeface="Calibri"/>
                <a:cs typeface="Calibri"/>
              </a:rPr>
              <a:t>is</a:t>
            </a:r>
            <a:r>
              <a:rPr sz="2000" spc="20" dirty="0">
                <a:latin typeface="Calibri"/>
                <a:cs typeface="Calibri"/>
              </a:rPr>
              <a:t> </a:t>
            </a:r>
            <a:r>
              <a:rPr sz="2000" spc="-5" dirty="0">
                <a:latin typeface="Calibri"/>
                <a:cs typeface="Calibri"/>
              </a:rPr>
              <a:t>the </a:t>
            </a:r>
            <a:r>
              <a:rPr sz="2000" spc="-15" dirty="0">
                <a:latin typeface="Calibri"/>
                <a:cs typeface="Calibri"/>
              </a:rPr>
              <a:t>most</a:t>
            </a:r>
            <a:r>
              <a:rPr sz="2000" spc="35" dirty="0">
                <a:latin typeface="Calibri"/>
                <a:cs typeface="Calibri"/>
              </a:rPr>
              <a:t> </a:t>
            </a:r>
            <a:r>
              <a:rPr sz="2000" spc="-20" dirty="0">
                <a:latin typeface="Calibri"/>
                <a:cs typeface="Calibri"/>
              </a:rPr>
              <a:t>efficient</a:t>
            </a:r>
            <a:r>
              <a:rPr sz="2000" spc="110" dirty="0">
                <a:latin typeface="Calibri"/>
                <a:cs typeface="Calibri"/>
              </a:rPr>
              <a:t> </a:t>
            </a:r>
            <a:r>
              <a:rPr sz="2000" spc="-35" dirty="0">
                <a:latin typeface="Calibri"/>
                <a:cs typeface="Calibri"/>
              </a:rPr>
              <a:t>way</a:t>
            </a:r>
            <a:r>
              <a:rPr sz="2000" spc="10" dirty="0">
                <a:latin typeface="Calibri"/>
                <a:cs typeface="Calibri"/>
              </a:rPr>
              <a:t> </a:t>
            </a:r>
            <a:r>
              <a:rPr sz="2000" spc="-15" dirty="0">
                <a:latin typeface="Calibri"/>
                <a:cs typeface="Calibri"/>
              </a:rPr>
              <a:t>to</a:t>
            </a:r>
            <a:r>
              <a:rPr sz="2000" spc="5" dirty="0">
                <a:latin typeface="Calibri"/>
                <a:cs typeface="Calibri"/>
              </a:rPr>
              <a:t> </a:t>
            </a:r>
            <a:r>
              <a:rPr sz="2000" spc="-15" dirty="0">
                <a:latin typeface="Calibri"/>
                <a:cs typeface="Calibri"/>
              </a:rPr>
              <a:t>understand</a:t>
            </a:r>
            <a:r>
              <a:rPr sz="2000" spc="10" dirty="0">
                <a:latin typeface="Calibri"/>
                <a:cs typeface="Calibri"/>
              </a:rPr>
              <a:t> </a:t>
            </a:r>
            <a:r>
              <a:rPr sz="2000" spc="-5" dirty="0">
                <a:latin typeface="Calibri"/>
                <a:cs typeface="Calibri"/>
              </a:rPr>
              <a:t>the </a:t>
            </a:r>
            <a:r>
              <a:rPr sz="2000" spc="-15" dirty="0">
                <a:latin typeface="Calibri"/>
                <a:cs typeface="Calibri"/>
              </a:rPr>
              <a:t>data </a:t>
            </a:r>
            <a:r>
              <a:rPr sz="2000" spc="-10" dirty="0">
                <a:latin typeface="Calibri"/>
                <a:cs typeface="Calibri"/>
              </a:rPr>
              <a:t> </a:t>
            </a:r>
            <a:r>
              <a:rPr sz="2000" dirty="0">
                <a:latin typeface="Calibri"/>
                <a:cs typeface="Calibri"/>
              </a:rPr>
              <a:t>and</a:t>
            </a:r>
            <a:r>
              <a:rPr sz="2000" spc="-20" dirty="0">
                <a:latin typeface="Calibri"/>
                <a:cs typeface="Calibri"/>
              </a:rPr>
              <a:t> </a:t>
            </a:r>
            <a:r>
              <a:rPr sz="2000" spc="-10" dirty="0">
                <a:latin typeface="Calibri"/>
                <a:cs typeface="Calibri"/>
              </a:rPr>
              <a:t>derive</a:t>
            </a:r>
            <a:r>
              <a:rPr sz="2000" spc="40" dirty="0">
                <a:latin typeface="Calibri"/>
                <a:cs typeface="Calibri"/>
              </a:rPr>
              <a:t> </a:t>
            </a:r>
            <a:r>
              <a:rPr sz="2000" spc="-10" dirty="0">
                <a:latin typeface="Calibri"/>
                <a:cs typeface="Calibri"/>
              </a:rPr>
              <a:t>results.</a:t>
            </a:r>
            <a:endParaRPr sz="2000" dirty="0">
              <a:latin typeface="Calibri"/>
              <a:cs typeface="Calibri"/>
            </a:endParaRPr>
          </a:p>
        </p:txBody>
      </p:sp>
      <p:grpSp>
        <p:nvGrpSpPr>
          <p:cNvPr id="4" name="object 4"/>
          <p:cNvGrpSpPr/>
          <p:nvPr/>
        </p:nvGrpSpPr>
        <p:grpSpPr>
          <a:xfrm>
            <a:off x="-1" y="2211069"/>
            <a:ext cx="9144000" cy="4646930"/>
            <a:chOff x="-1" y="2211069"/>
            <a:chExt cx="12192000" cy="4646930"/>
          </a:xfrm>
        </p:grpSpPr>
        <p:sp>
          <p:nvSpPr>
            <p:cNvPr id="5" name="object 5"/>
            <p:cNvSpPr/>
            <p:nvPr/>
          </p:nvSpPr>
          <p:spPr>
            <a:xfrm>
              <a:off x="-1" y="2211069"/>
              <a:ext cx="12192000" cy="4646930"/>
            </a:xfrm>
            <a:custGeom>
              <a:avLst/>
              <a:gdLst/>
              <a:ahLst/>
              <a:cxnLst/>
              <a:rect l="l" t="t" r="r" b="b"/>
              <a:pathLst>
                <a:path w="12192000" h="4646930">
                  <a:moveTo>
                    <a:pt x="12192000" y="0"/>
                  </a:moveTo>
                  <a:lnTo>
                    <a:pt x="0" y="0"/>
                  </a:lnTo>
                  <a:lnTo>
                    <a:pt x="0" y="4646930"/>
                  </a:lnTo>
                  <a:lnTo>
                    <a:pt x="12192000" y="4646930"/>
                  </a:lnTo>
                  <a:lnTo>
                    <a:pt x="12192000" y="0"/>
                  </a:lnTo>
                  <a:close/>
                </a:path>
              </a:pathLst>
            </a:custGeom>
            <a:solidFill>
              <a:srgbClr val="C7C9C9"/>
            </a:solidFill>
          </p:spPr>
          <p:txBody>
            <a:bodyPr wrap="square" lIns="0" tIns="0" rIns="0" bIns="0" rtlCol="0"/>
            <a:lstStyle/>
            <a:p>
              <a:endParaRPr/>
            </a:p>
          </p:txBody>
        </p:sp>
        <p:pic>
          <p:nvPicPr>
            <p:cNvPr id="6" name="object 6"/>
            <p:cNvPicPr/>
            <p:nvPr/>
          </p:nvPicPr>
          <p:blipFill>
            <a:blip r:embed="rId2" cstate="print"/>
            <a:stretch>
              <a:fillRect/>
            </a:stretch>
          </p:blipFill>
          <p:spPr>
            <a:xfrm>
              <a:off x="256032" y="2377439"/>
              <a:ext cx="5745480" cy="4059936"/>
            </a:xfrm>
            <a:prstGeom prst="rect">
              <a:avLst/>
            </a:prstGeom>
          </p:spPr>
        </p:pic>
        <p:sp>
          <p:nvSpPr>
            <p:cNvPr id="7" name="object 7"/>
            <p:cNvSpPr/>
            <p:nvPr/>
          </p:nvSpPr>
          <p:spPr>
            <a:xfrm>
              <a:off x="321564" y="2423210"/>
              <a:ext cx="5614035" cy="3930650"/>
            </a:xfrm>
            <a:custGeom>
              <a:avLst/>
              <a:gdLst/>
              <a:ahLst/>
              <a:cxnLst/>
              <a:rect l="l" t="t" r="r" b="b"/>
              <a:pathLst>
                <a:path w="5614035" h="3930650">
                  <a:moveTo>
                    <a:pt x="5613527" y="0"/>
                  </a:moveTo>
                  <a:lnTo>
                    <a:pt x="0" y="0"/>
                  </a:lnTo>
                  <a:lnTo>
                    <a:pt x="0" y="3930269"/>
                  </a:lnTo>
                  <a:lnTo>
                    <a:pt x="5613527" y="3930269"/>
                  </a:lnTo>
                  <a:lnTo>
                    <a:pt x="5613527" y="0"/>
                  </a:lnTo>
                  <a:close/>
                </a:path>
              </a:pathLst>
            </a:custGeom>
            <a:solidFill>
              <a:srgbClr val="FFFFFF"/>
            </a:solidFill>
          </p:spPr>
          <p:txBody>
            <a:bodyPr wrap="square" lIns="0" tIns="0" rIns="0" bIns="0" rtlCol="0"/>
            <a:lstStyle/>
            <a:p>
              <a:endParaRPr/>
            </a:p>
          </p:txBody>
        </p:sp>
        <p:pic>
          <p:nvPicPr>
            <p:cNvPr id="8" name="object 8"/>
            <p:cNvPicPr/>
            <p:nvPr/>
          </p:nvPicPr>
          <p:blipFill>
            <a:blip r:embed="rId3" cstate="print"/>
            <a:stretch>
              <a:fillRect/>
            </a:stretch>
          </p:blipFill>
          <p:spPr>
            <a:xfrm>
              <a:off x="316801" y="2418448"/>
              <a:ext cx="5686882" cy="4166209"/>
            </a:xfrm>
            <a:prstGeom prst="rect">
              <a:avLst/>
            </a:prstGeom>
          </p:spPr>
        </p:pic>
        <p:pic>
          <p:nvPicPr>
            <p:cNvPr id="9" name="object 9"/>
            <p:cNvPicPr/>
            <p:nvPr/>
          </p:nvPicPr>
          <p:blipFill>
            <a:blip r:embed="rId4" cstate="print"/>
            <a:stretch>
              <a:fillRect/>
            </a:stretch>
          </p:blipFill>
          <p:spPr>
            <a:xfrm>
              <a:off x="6190487" y="2377439"/>
              <a:ext cx="5742432" cy="4059936"/>
            </a:xfrm>
            <a:prstGeom prst="rect">
              <a:avLst/>
            </a:prstGeom>
          </p:spPr>
        </p:pic>
      </p:grpSp>
      <p:graphicFrame>
        <p:nvGraphicFramePr>
          <p:cNvPr id="10" name="object 10"/>
          <p:cNvGraphicFramePr>
            <a:graphicFrameLocks noGrp="1"/>
          </p:cNvGraphicFramePr>
          <p:nvPr/>
        </p:nvGraphicFramePr>
        <p:xfrm>
          <a:off x="4691063" y="2415477"/>
          <a:ext cx="4255770" cy="4580708"/>
        </p:xfrm>
        <a:graphic>
          <a:graphicData uri="http://schemas.openxmlformats.org/drawingml/2006/table">
            <a:tbl>
              <a:tblPr firstRow="1" bandRow="1">
                <a:tableStyleId>{2D5ABB26-0587-4C30-8999-92F81FD0307C}</a:tableStyleId>
              </a:tblPr>
              <a:tblGrid>
                <a:gridCol w="31909"/>
                <a:gridCol w="778669"/>
                <a:gridCol w="795338"/>
                <a:gridCol w="918686"/>
                <a:gridCol w="782954"/>
                <a:gridCol w="902494"/>
                <a:gridCol w="45720"/>
              </a:tblGrid>
              <a:tr h="615505">
                <a:tc>
                  <a:txBody>
                    <a:bodyPr/>
                    <a:lstStyle/>
                    <a:p>
                      <a:pPr>
                        <a:lnSpc>
                          <a:spcPct val="100000"/>
                        </a:lnSpc>
                      </a:pPr>
                      <a:endParaRPr sz="1900">
                        <a:latin typeface="Times New Roman"/>
                        <a:cs typeface="Times New Roman"/>
                      </a:endParaRPr>
                    </a:p>
                  </a:txBody>
                  <a:tcPr marL="0" marR="0" marT="0" marB="0"/>
                </a:tc>
                <a:tc>
                  <a:txBody>
                    <a:bodyPr/>
                    <a:lstStyle/>
                    <a:p>
                      <a:pPr marL="300355" marR="142240" indent="-189230">
                        <a:lnSpc>
                          <a:spcPct val="100000"/>
                        </a:lnSpc>
                        <a:spcBef>
                          <a:spcPts val="110"/>
                        </a:spcBef>
                      </a:pPr>
                      <a:r>
                        <a:rPr sz="1600" b="1" spc="-10" dirty="0">
                          <a:latin typeface="Calibri"/>
                          <a:cs typeface="Calibri"/>
                        </a:rPr>
                        <a:t>L</a:t>
                      </a:r>
                      <a:r>
                        <a:rPr sz="1600" b="1" dirty="0">
                          <a:latin typeface="Calibri"/>
                          <a:cs typeface="Calibri"/>
                        </a:rPr>
                        <a:t>en</a:t>
                      </a:r>
                      <a:r>
                        <a:rPr sz="1600" b="1" spc="5" dirty="0">
                          <a:latin typeface="Calibri"/>
                          <a:cs typeface="Calibri"/>
                        </a:rPr>
                        <a:t>g</a:t>
                      </a:r>
                      <a:r>
                        <a:rPr sz="1600" b="1" spc="-10" dirty="0">
                          <a:latin typeface="Calibri"/>
                          <a:cs typeface="Calibri"/>
                        </a:rPr>
                        <a:t>t</a:t>
                      </a:r>
                      <a:r>
                        <a:rPr sz="1600" b="1" dirty="0">
                          <a:latin typeface="Calibri"/>
                          <a:cs typeface="Calibri"/>
                        </a:rPr>
                        <a:t>h</a:t>
                      </a:r>
                      <a:r>
                        <a:rPr sz="1600" b="1" spc="-25" dirty="0">
                          <a:latin typeface="Calibri"/>
                          <a:cs typeface="Calibri"/>
                        </a:rPr>
                        <a:t> </a:t>
                      </a:r>
                      <a:r>
                        <a:rPr sz="1600" b="1" dirty="0">
                          <a:latin typeface="Calibri"/>
                          <a:cs typeface="Calibri"/>
                        </a:rPr>
                        <a:t>(x  </a:t>
                      </a:r>
                      <a:r>
                        <a:rPr sz="1600" b="1" spc="15" dirty="0">
                          <a:latin typeface="Calibri"/>
                          <a:cs typeface="Calibri"/>
                        </a:rPr>
                        <a:t>mm)</a:t>
                      </a:r>
                      <a:endParaRPr sz="1600">
                        <a:latin typeface="Calibri"/>
                        <a:cs typeface="Calibri"/>
                      </a:endParaRPr>
                    </a:p>
                  </a:txBody>
                  <a:tcPr marL="0" marR="0" marT="13970" marB="0">
                    <a:lnT w="28575">
                      <a:solidFill>
                        <a:srgbClr val="000000"/>
                      </a:solidFill>
                      <a:prstDash val="solid"/>
                    </a:lnT>
                  </a:tcPr>
                </a:tc>
                <a:tc>
                  <a:txBody>
                    <a:bodyPr/>
                    <a:lstStyle/>
                    <a:p>
                      <a:pPr>
                        <a:lnSpc>
                          <a:spcPct val="100000"/>
                        </a:lnSpc>
                        <a:spcBef>
                          <a:spcPts val="15"/>
                        </a:spcBef>
                      </a:pPr>
                      <a:endParaRPr sz="1750">
                        <a:latin typeface="Times New Roman"/>
                        <a:cs typeface="Times New Roman"/>
                      </a:endParaRPr>
                    </a:p>
                    <a:p>
                      <a:pPr marR="25400" algn="ctr">
                        <a:lnSpc>
                          <a:spcPct val="100000"/>
                        </a:lnSpc>
                      </a:pPr>
                      <a:r>
                        <a:rPr sz="1600" b="1" dirty="0">
                          <a:latin typeface="Calibri"/>
                          <a:cs typeface="Calibri"/>
                        </a:rPr>
                        <a:t>Frequency</a:t>
                      </a:r>
                      <a:endParaRPr sz="1600">
                        <a:latin typeface="Calibri"/>
                        <a:cs typeface="Calibri"/>
                      </a:endParaRPr>
                    </a:p>
                  </a:txBody>
                  <a:tcPr marL="0" marR="0" marT="1905" marB="0">
                    <a:lnT w="28575">
                      <a:solidFill>
                        <a:srgbClr val="000000"/>
                      </a:solidFill>
                      <a:prstDash val="solid"/>
                    </a:lnT>
                  </a:tcPr>
                </a:tc>
                <a:tc>
                  <a:txBody>
                    <a:bodyPr/>
                    <a:lstStyle/>
                    <a:p>
                      <a:pPr marL="190500" marR="120014" indent="-85725">
                        <a:lnSpc>
                          <a:spcPct val="100000"/>
                        </a:lnSpc>
                        <a:spcBef>
                          <a:spcPts val="110"/>
                        </a:spcBef>
                      </a:pPr>
                      <a:r>
                        <a:rPr sz="1600" b="1" spc="5" dirty="0">
                          <a:latin typeface="Calibri"/>
                          <a:cs typeface="Calibri"/>
                        </a:rPr>
                        <a:t>U</a:t>
                      </a:r>
                      <a:r>
                        <a:rPr sz="1600" b="1" dirty="0">
                          <a:latin typeface="Calibri"/>
                          <a:cs typeface="Calibri"/>
                        </a:rPr>
                        <a:t>pp</a:t>
                      </a:r>
                      <a:r>
                        <a:rPr sz="1600" b="1" spc="5" dirty="0">
                          <a:latin typeface="Calibri"/>
                          <a:cs typeface="Calibri"/>
                        </a:rPr>
                        <a:t>e</a:t>
                      </a:r>
                      <a:r>
                        <a:rPr sz="1600" b="1" dirty="0">
                          <a:latin typeface="Calibri"/>
                          <a:cs typeface="Calibri"/>
                        </a:rPr>
                        <a:t>r</a:t>
                      </a:r>
                      <a:r>
                        <a:rPr sz="1600" b="1" spc="-25" dirty="0">
                          <a:latin typeface="Calibri"/>
                          <a:cs typeface="Calibri"/>
                        </a:rPr>
                        <a:t> </a:t>
                      </a:r>
                      <a:r>
                        <a:rPr sz="1600" b="1" spc="-15" dirty="0">
                          <a:latin typeface="Calibri"/>
                          <a:cs typeface="Calibri"/>
                        </a:rPr>
                        <a:t>Cl</a:t>
                      </a:r>
                      <a:r>
                        <a:rPr sz="1600" b="1" dirty="0">
                          <a:latin typeface="Calibri"/>
                          <a:cs typeface="Calibri"/>
                        </a:rPr>
                        <a:t>ass  Boundary</a:t>
                      </a:r>
                      <a:endParaRPr sz="1600">
                        <a:latin typeface="Calibri"/>
                        <a:cs typeface="Calibri"/>
                      </a:endParaRPr>
                    </a:p>
                  </a:txBody>
                  <a:tcPr marL="0" marR="0" marT="13970" marB="0">
                    <a:lnT w="28575">
                      <a:solidFill>
                        <a:srgbClr val="000000"/>
                      </a:solidFill>
                      <a:prstDash val="solid"/>
                    </a:lnT>
                  </a:tcPr>
                </a:tc>
                <a:tc>
                  <a:txBody>
                    <a:bodyPr/>
                    <a:lstStyle/>
                    <a:p>
                      <a:pPr marL="316230" marR="132715" indent="-189230">
                        <a:lnSpc>
                          <a:spcPct val="100000"/>
                        </a:lnSpc>
                        <a:spcBef>
                          <a:spcPts val="110"/>
                        </a:spcBef>
                      </a:pPr>
                      <a:r>
                        <a:rPr sz="1600" b="1" spc="-10" dirty="0">
                          <a:latin typeface="Calibri"/>
                          <a:cs typeface="Calibri"/>
                        </a:rPr>
                        <a:t>L</a:t>
                      </a:r>
                      <a:r>
                        <a:rPr sz="1600" b="1" dirty="0">
                          <a:latin typeface="Calibri"/>
                          <a:cs typeface="Calibri"/>
                        </a:rPr>
                        <a:t>en</a:t>
                      </a:r>
                      <a:r>
                        <a:rPr sz="1600" b="1" spc="5" dirty="0">
                          <a:latin typeface="Calibri"/>
                          <a:cs typeface="Calibri"/>
                        </a:rPr>
                        <a:t>g</a:t>
                      </a:r>
                      <a:r>
                        <a:rPr sz="1600" b="1" spc="-10" dirty="0">
                          <a:latin typeface="Calibri"/>
                          <a:cs typeface="Calibri"/>
                        </a:rPr>
                        <a:t>t</a:t>
                      </a:r>
                      <a:r>
                        <a:rPr sz="1600" b="1" dirty="0">
                          <a:latin typeface="Calibri"/>
                          <a:cs typeface="Calibri"/>
                        </a:rPr>
                        <a:t>h</a:t>
                      </a:r>
                      <a:r>
                        <a:rPr sz="1600" b="1" spc="-25" dirty="0">
                          <a:latin typeface="Calibri"/>
                          <a:cs typeface="Calibri"/>
                        </a:rPr>
                        <a:t> </a:t>
                      </a:r>
                      <a:r>
                        <a:rPr sz="1600" b="1" dirty="0">
                          <a:latin typeface="Calibri"/>
                          <a:cs typeface="Calibri"/>
                        </a:rPr>
                        <a:t>(x  </a:t>
                      </a:r>
                      <a:r>
                        <a:rPr sz="1600" b="1" spc="15" dirty="0">
                          <a:latin typeface="Calibri"/>
                          <a:cs typeface="Calibri"/>
                        </a:rPr>
                        <a:t>mm)</a:t>
                      </a:r>
                      <a:endParaRPr sz="1600">
                        <a:latin typeface="Calibri"/>
                        <a:cs typeface="Calibri"/>
                      </a:endParaRPr>
                    </a:p>
                  </a:txBody>
                  <a:tcPr marL="0" marR="0" marT="13970" marB="0">
                    <a:lnT w="28575">
                      <a:solidFill>
                        <a:srgbClr val="000000"/>
                      </a:solidFill>
                      <a:prstDash val="solid"/>
                    </a:lnT>
                  </a:tcPr>
                </a:tc>
                <a:tc>
                  <a:txBody>
                    <a:bodyPr/>
                    <a:lstStyle/>
                    <a:p>
                      <a:pPr marL="176530" marR="99060" indent="-36830">
                        <a:lnSpc>
                          <a:spcPct val="100000"/>
                        </a:lnSpc>
                        <a:spcBef>
                          <a:spcPts val="110"/>
                        </a:spcBef>
                      </a:pPr>
                      <a:r>
                        <a:rPr sz="1600" b="1" spc="-15" dirty="0">
                          <a:latin typeface="Calibri"/>
                          <a:cs typeface="Calibri"/>
                        </a:rPr>
                        <a:t>C</a:t>
                      </a:r>
                      <a:r>
                        <a:rPr sz="1600" b="1" dirty="0">
                          <a:latin typeface="Calibri"/>
                          <a:cs typeface="Calibri"/>
                        </a:rPr>
                        <a:t>u</a:t>
                      </a:r>
                      <a:r>
                        <a:rPr sz="1600" b="1" spc="10" dirty="0">
                          <a:latin typeface="Calibri"/>
                          <a:cs typeface="Calibri"/>
                        </a:rPr>
                        <a:t>m</a:t>
                      </a:r>
                      <a:r>
                        <a:rPr sz="1600" b="1" dirty="0">
                          <a:latin typeface="Calibri"/>
                          <a:cs typeface="Calibri"/>
                        </a:rPr>
                        <a:t>u</a:t>
                      </a:r>
                      <a:r>
                        <a:rPr sz="1600" b="1" spc="-15" dirty="0">
                          <a:latin typeface="Calibri"/>
                          <a:cs typeface="Calibri"/>
                        </a:rPr>
                        <a:t>l</a:t>
                      </a:r>
                      <a:r>
                        <a:rPr sz="1600" b="1" spc="-30" dirty="0">
                          <a:latin typeface="Calibri"/>
                          <a:cs typeface="Calibri"/>
                        </a:rPr>
                        <a:t>a</a:t>
                      </a:r>
                      <a:r>
                        <a:rPr sz="1600" b="1" spc="-10" dirty="0">
                          <a:latin typeface="Calibri"/>
                          <a:cs typeface="Calibri"/>
                        </a:rPr>
                        <a:t>t</a:t>
                      </a:r>
                      <a:r>
                        <a:rPr sz="1600" b="1" spc="-15" dirty="0">
                          <a:latin typeface="Calibri"/>
                          <a:cs typeface="Calibri"/>
                        </a:rPr>
                        <a:t>i</a:t>
                      </a:r>
                      <a:r>
                        <a:rPr sz="1600" b="1" spc="-20" dirty="0">
                          <a:latin typeface="Calibri"/>
                          <a:cs typeface="Calibri"/>
                        </a:rPr>
                        <a:t>v</a:t>
                      </a:r>
                      <a:r>
                        <a:rPr sz="1600" b="1" dirty="0">
                          <a:latin typeface="Calibri"/>
                          <a:cs typeface="Calibri"/>
                        </a:rPr>
                        <a:t>e  Frequency</a:t>
                      </a:r>
                      <a:endParaRPr sz="1600">
                        <a:latin typeface="Calibri"/>
                        <a:cs typeface="Calibri"/>
                      </a:endParaRPr>
                    </a:p>
                  </a:txBody>
                  <a:tcPr marL="0" marR="0" marT="13970" marB="0">
                    <a:lnT w="28575">
                      <a:solidFill>
                        <a:srgbClr val="000000"/>
                      </a:solidFill>
                      <a:prstDash val="solid"/>
                    </a:lnT>
                  </a:tcPr>
                </a:tc>
                <a:tc rowSpan="2">
                  <a:txBody>
                    <a:bodyPr/>
                    <a:lstStyle/>
                    <a:p>
                      <a:pPr>
                        <a:lnSpc>
                          <a:spcPct val="100000"/>
                        </a:lnSpc>
                      </a:pPr>
                      <a:endParaRPr sz="1900">
                        <a:latin typeface="Times New Roman"/>
                        <a:cs typeface="Times New Roman"/>
                      </a:endParaRPr>
                    </a:p>
                  </a:txBody>
                  <a:tcPr marL="0" marR="0" marT="0" marB="0">
                    <a:lnT w="28575">
                      <a:solidFill>
                        <a:srgbClr val="000000"/>
                      </a:solidFill>
                      <a:prstDash val="solid"/>
                    </a:lnT>
                    <a:lnB w="6350">
                      <a:solidFill>
                        <a:srgbClr val="000000"/>
                      </a:solidFill>
                      <a:prstDash val="solid"/>
                    </a:lnB>
                  </a:tcPr>
                </a:tc>
              </a:tr>
              <a:tr h="461581">
                <a:tc>
                  <a:txBody>
                    <a:bodyPr/>
                    <a:lstStyle/>
                    <a:p>
                      <a:pPr>
                        <a:lnSpc>
                          <a:spcPct val="100000"/>
                        </a:lnSpc>
                      </a:pPr>
                      <a:endParaRPr sz="1900">
                        <a:latin typeface="Times New Roman"/>
                        <a:cs typeface="Times New Roman"/>
                      </a:endParaRPr>
                    </a:p>
                  </a:txBody>
                  <a:tcPr marL="0" marR="0" marT="0" marB="0"/>
                </a:tc>
                <a:tc>
                  <a:txBody>
                    <a:bodyPr/>
                    <a:lstStyle/>
                    <a:p>
                      <a:pPr marR="29209" algn="ctr">
                        <a:lnSpc>
                          <a:spcPct val="100000"/>
                        </a:lnSpc>
                        <a:spcBef>
                          <a:spcPts val="420"/>
                        </a:spcBef>
                      </a:pPr>
                      <a:r>
                        <a:rPr sz="1600" dirty="0">
                          <a:latin typeface="Calibri"/>
                          <a:cs typeface="Calibri"/>
                        </a:rPr>
                        <a:t>6</a:t>
                      </a:r>
                      <a:r>
                        <a:rPr sz="1600" spc="-30" dirty="0">
                          <a:latin typeface="Calibri"/>
                          <a:cs typeface="Calibri"/>
                        </a:rPr>
                        <a:t> </a:t>
                      </a:r>
                      <a:r>
                        <a:rPr sz="1600" dirty="0">
                          <a:latin typeface="Calibri"/>
                          <a:cs typeface="Calibri"/>
                        </a:rPr>
                        <a:t>–</a:t>
                      </a:r>
                      <a:r>
                        <a:rPr sz="1600" spc="-40" dirty="0">
                          <a:latin typeface="Calibri"/>
                          <a:cs typeface="Calibri"/>
                        </a:rPr>
                        <a:t> </a:t>
                      </a:r>
                      <a:r>
                        <a:rPr sz="1600" dirty="0">
                          <a:latin typeface="Calibri"/>
                          <a:cs typeface="Calibri"/>
                        </a:rPr>
                        <a:t>10</a:t>
                      </a:r>
                      <a:endParaRPr sz="1600">
                        <a:latin typeface="Calibri"/>
                        <a:cs typeface="Calibri"/>
                      </a:endParaRPr>
                    </a:p>
                  </a:txBody>
                  <a:tcPr marL="0" marR="0" marT="53340" marB="0">
                    <a:lnB w="6350">
                      <a:solidFill>
                        <a:srgbClr val="000000"/>
                      </a:solidFill>
                      <a:prstDash val="solid"/>
                    </a:lnB>
                  </a:tcPr>
                </a:tc>
                <a:tc>
                  <a:txBody>
                    <a:bodyPr/>
                    <a:lstStyle/>
                    <a:p>
                      <a:pPr marR="24130" algn="ctr">
                        <a:lnSpc>
                          <a:spcPct val="100000"/>
                        </a:lnSpc>
                        <a:spcBef>
                          <a:spcPts val="420"/>
                        </a:spcBef>
                      </a:pPr>
                      <a:r>
                        <a:rPr sz="1600" dirty="0">
                          <a:latin typeface="Calibri"/>
                          <a:cs typeface="Calibri"/>
                        </a:rPr>
                        <a:t>0</a:t>
                      </a:r>
                      <a:endParaRPr sz="1600">
                        <a:latin typeface="Calibri"/>
                        <a:cs typeface="Calibri"/>
                      </a:endParaRPr>
                    </a:p>
                  </a:txBody>
                  <a:tcPr marL="0" marR="0" marT="53340" marB="0">
                    <a:lnB w="6350">
                      <a:solidFill>
                        <a:srgbClr val="000000"/>
                      </a:solidFill>
                      <a:prstDash val="solid"/>
                    </a:lnB>
                  </a:tcPr>
                </a:tc>
                <a:tc>
                  <a:txBody>
                    <a:bodyPr/>
                    <a:lstStyle/>
                    <a:p>
                      <a:pPr marR="431800" algn="r">
                        <a:lnSpc>
                          <a:spcPct val="100000"/>
                        </a:lnSpc>
                        <a:spcBef>
                          <a:spcPts val="420"/>
                        </a:spcBef>
                      </a:pPr>
                      <a:r>
                        <a:rPr sz="1600" dirty="0">
                          <a:latin typeface="Calibri"/>
                          <a:cs typeface="Calibri"/>
                        </a:rPr>
                        <a:t>10.5</a:t>
                      </a:r>
                      <a:endParaRPr sz="1600">
                        <a:latin typeface="Calibri"/>
                        <a:cs typeface="Calibri"/>
                      </a:endParaRPr>
                    </a:p>
                  </a:txBody>
                  <a:tcPr marL="0" marR="0" marT="53340" marB="0">
                    <a:lnB w="6350">
                      <a:solidFill>
                        <a:srgbClr val="000000"/>
                      </a:solidFill>
                      <a:prstDash val="solid"/>
                    </a:lnB>
                  </a:tcPr>
                </a:tc>
                <a:tc>
                  <a:txBody>
                    <a:bodyPr/>
                    <a:lstStyle/>
                    <a:p>
                      <a:pPr marR="3810" algn="ctr">
                        <a:lnSpc>
                          <a:spcPct val="100000"/>
                        </a:lnSpc>
                        <a:spcBef>
                          <a:spcPts val="420"/>
                        </a:spcBef>
                      </a:pPr>
                      <a:r>
                        <a:rPr sz="1600" dirty="0">
                          <a:latin typeface="Calibri"/>
                          <a:cs typeface="Calibri"/>
                        </a:rPr>
                        <a:t>x</a:t>
                      </a:r>
                      <a:r>
                        <a:rPr sz="1600" spc="-25" dirty="0">
                          <a:latin typeface="Calibri"/>
                          <a:cs typeface="Calibri"/>
                        </a:rPr>
                        <a:t> </a:t>
                      </a:r>
                      <a:r>
                        <a:rPr sz="1600" dirty="0">
                          <a:latin typeface="Calibri"/>
                          <a:cs typeface="Calibri"/>
                        </a:rPr>
                        <a:t>≤</a:t>
                      </a:r>
                      <a:r>
                        <a:rPr sz="1600" spc="-35" dirty="0">
                          <a:latin typeface="Calibri"/>
                          <a:cs typeface="Calibri"/>
                        </a:rPr>
                        <a:t> </a:t>
                      </a:r>
                      <a:r>
                        <a:rPr sz="1600" dirty="0">
                          <a:latin typeface="Calibri"/>
                          <a:cs typeface="Calibri"/>
                        </a:rPr>
                        <a:t>10.5</a:t>
                      </a:r>
                      <a:endParaRPr sz="1600">
                        <a:latin typeface="Calibri"/>
                        <a:cs typeface="Calibri"/>
                      </a:endParaRPr>
                    </a:p>
                  </a:txBody>
                  <a:tcPr marL="0" marR="0" marT="53340" marB="0">
                    <a:lnB w="6350">
                      <a:solidFill>
                        <a:srgbClr val="000000"/>
                      </a:solidFill>
                      <a:prstDash val="solid"/>
                    </a:lnB>
                  </a:tcPr>
                </a:tc>
                <a:tc>
                  <a:txBody>
                    <a:bodyPr/>
                    <a:lstStyle/>
                    <a:p>
                      <a:pPr marL="33655" algn="ctr">
                        <a:lnSpc>
                          <a:spcPct val="100000"/>
                        </a:lnSpc>
                        <a:spcBef>
                          <a:spcPts val="420"/>
                        </a:spcBef>
                      </a:pPr>
                      <a:r>
                        <a:rPr sz="1600" dirty="0">
                          <a:latin typeface="Calibri"/>
                          <a:cs typeface="Calibri"/>
                        </a:rPr>
                        <a:t>0</a:t>
                      </a:r>
                      <a:endParaRPr sz="1600">
                        <a:latin typeface="Calibri"/>
                        <a:cs typeface="Calibri"/>
                      </a:endParaRPr>
                    </a:p>
                  </a:txBody>
                  <a:tcPr marL="0" marR="0" marT="53340" marB="0">
                    <a:lnB w="6350">
                      <a:solidFill>
                        <a:srgbClr val="000000"/>
                      </a:solidFill>
                      <a:prstDash val="solid"/>
                    </a:lnB>
                  </a:tcPr>
                </a:tc>
                <a:tc vMerge="1">
                  <a:txBody>
                    <a:bodyPr/>
                    <a:lstStyle/>
                    <a:p>
                      <a:endParaRPr/>
                    </a:p>
                  </a:txBody>
                  <a:tcPr marL="0" marR="0" marT="0" marB="0">
                    <a:lnT w="28575">
                      <a:solidFill>
                        <a:srgbClr val="000000"/>
                      </a:solidFill>
                      <a:prstDash val="solid"/>
                    </a:lnT>
                    <a:lnB w="6350">
                      <a:solidFill>
                        <a:srgbClr val="000000"/>
                      </a:solidFill>
                      <a:prstDash val="solid"/>
                    </a:lnB>
                  </a:tcPr>
                </a:tc>
              </a:tr>
              <a:tr h="447167">
                <a:tc>
                  <a:txBody>
                    <a:bodyPr/>
                    <a:lstStyle/>
                    <a:p>
                      <a:pPr>
                        <a:lnSpc>
                          <a:spcPct val="100000"/>
                        </a:lnSpc>
                      </a:pPr>
                      <a:endParaRPr sz="1900">
                        <a:latin typeface="Times New Roman"/>
                        <a:cs typeface="Times New Roman"/>
                      </a:endParaRPr>
                    </a:p>
                  </a:txBody>
                  <a:tcPr marL="0" marR="0" marT="0" marB="0"/>
                </a:tc>
                <a:tc>
                  <a:txBody>
                    <a:bodyPr/>
                    <a:lstStyle/>
                    <a:p>
                      <a:pPr marR="29209" algn="ctr">
                        <a:lnSpc>
                          <a:spcPct val="100000"/>
                        </a:lnSpc>
                        <a:spcBef>
                          <a:spcPts val="305"/>
                        </a:spcBef>
                      </a:pPr>
                      <a:r>
                        <a:rPr sz="1600" dirty="0">
                          <a:latin typeface="Calibri"/>
                          <a:cs typeface="Calibri"/>
                        </a:rPr>
                        <a:t>11</a:t>
                      </a:r>
                      <a:r>
                        <a:rPr sz="1600" spc="-30" dirty="0">
                          <a:latin typeface="Calibri"/>
                          <a:cs typeface="Calibri"/>
                        </a:rPr>
                        <a:t> </a:t>
                      </a:r>
                      <a:r>
                        <a:rPr sz="1600" dirty="0">
                          <a:latin typeface="Calibri"/>
                          <a:cs typeface="Calibri"/>
                        </a:rPr>
                        <a:t>–</a:t>
                      </a:r>
                      <a:r>
                        <a:rPr sz="1600" spc="-40" dirty="0">
                          <a:latin typeface="Calibri"/>
                          <a:cs typeface="Calibri"/>
                        </a:rPr>
                        <a:t> </a:t>
                      </a:r>
                      <a:r>
                        <a:rPr sz="1600" dirty="0">
                          <a:latin typeface="Calibri"/>
                          <a:cs typeface="Calibri"/>
                        </a:rPr>
                        <a:t>15</a:t>
                      </a:r>
                      <a:endParaRPr sz="1600">
                        <a:latin typeface="Calibri"/>
                        <a:cs typeface="Calibri"/>
                      </a:endParaRPr>
                    </a:p>
                  </a:txBody>
                  <a:tcPr marL="0" marR="0" marT="38735" marB="0">
                    <a:lnT w="6350">
                      <a:solidFill>
                        <a:srgbClr val="000000"/>
                      </a:solidFill>
                      <a:prstDash val="solid"/>
                    </a:lnT>
                  </a:tcPr>
                </a:tc>
                <a:tc>
                  <a:txBody>
                    <a:bodyPr/>
                    <a:lstStyle/>
                    <a:p>
                      <a:pPr marR="24130" algn="ctr">
                        <a:lnSpc>
                          <a:spcPct val="100000"/>
                        </a:lnSpc>
                        <a:spcBef>
                          <a:spcPts val="305"/>
                        </a:spcBef>
                      </a:pPr>
                      <a:r>
                        <a:rPr sz="1600" dirty="0">
                          <a:latin typeface="Calibri"/>
                          <a:cs typeface="Calibri"/>
                        </a:rPr>
                        <a:t>2</a:t>
                      </a:r>
                      <a:endParaRPr sz="1600">
                        <a:latin typeface="Calibri"/>
                        <a:cs typeface="Calibri"/>
                      </a:endParaRPr>
                    </a:p>
                  </a:txBody>
                  <a:tcPr marL="0" marR="0" marT="38735" marB="0">
                    <a:lnT w="6350">
                      <a:solidFill>
                        <a:srgbClr val="000000"/>
                      </a:solidFill>
                      <a:prstDash val="solid"/>
                    </a:lnT>
                  </a:tcPr>
                </a:tc>
                <a:tc>
                  <a:txBody>
                    <a:bodyPr/>
                    <a:lstStyle/>
                    <a:p>
                      <a:pPr marR="431800" algn="r">
                        <a:lnSpc>
                          <a:spcPct val="100000"/>
                        </a:lnSpc>
                        <a:spcBef>
                          <a:spcPts val="305"/>
                        </a:spcBef>
                      </a:pPr>
                      <a:r>
                        <a:rPr sz="1600" dirty="0">
                          <a:latin typeface="Calibri"/>
                          <a:cs typeface="Calibri"/>
                        </a:rPr>
                        <a:t>15.5</a:t>
                      </a:r>
                      <a:endParaRPr sz="1600">
                        <a:latin typeface="Calibri"/>
                        <a:cs typeface="Calibri"/>
                      </a:endParaRPr>
                    </a:p>
                  </a:txBody>
                  <a:tcPr marL="0" marR="0" marT="38735" marB="0">
                    <a:lnT w="6350">
                      <a:solidFill>
                        <a:srgbClr val="000000"/>
                      </a:solidFill>
                      <a:prstDash val="solid"/>
                    </a:lnT>
                  </a:tcPr>
                </a:tc>
                <a:tc>
                  <a:txBody>
                    <a:bodyPr/>
                    <a:lstStyle/>
                    <a:p>
                      <a:pPr marR="3810" algn="ctr">
                        <a:lnSpc>
                          <a:spcPct val="100000"/>
                        </a:lnSpc>
                        <a:spcBef>
                          <a:spcPts val="305"/>
                        </a:spcBef>
                      </a:pPr>
                      <a:r>
                        <a:rPr sz="1600" dirty="0">
                          <a:latin typeface="Calibri"/>
                          <a:cs typeface="Calibri"/>
                        </a:rPr>
                        <a:t>x</a:t>
                      </a:r>
                      <a:r>
                        <a:rPr sz="1600" spc="-25" dirty="0">
                          <a:latin typeface="Calibri"/>
                          <a:cs typeface="Calibri"/>
                        </a:rPr>
                        <a:t> </a:t>
                      </a:r>
                      <a:r>
                        <a:rPr sz="1600" dirty="0">
                          <a:latin typeface="Calibri"/>
                          <a:cs typeface="Calibri"/>
                        </a:rPr>
                        <a:t>≤</a:t>
                      </a:r>
                      <a:r>
                        <a:rPr sz="1600" spc="-35" dirty="0">
                          <a:latin typeface="Calibri"/>
                          <a:cs typeface="Calibri"/>
                        </a:rPr>
                        <a:t> </a:t>
                      </a:r>
                      <a:r>
                        <a:rPr sz="1600" dirty="0">
                          <a:latin typeface="Calibri"/>
                          <a:cs typeface="Calibri"/>
                        </a:rPr>
                        <a:t>15.5</a:t>
                      </a:r>
                      <a:endParaRPr sz="1600">
                        <a:latin typeface="Calibri"/>
                        <a:cs typeface="Calibri"/>
                      </a:endParaRPr>
                    </a:p>
                  </a:txBody>
                  <a:tcPr marL="0" marR="0" marT="38735" marB="0">
                    <a:lnT w="6350">
                      <a:solidFill>
                        <a:srgbClr val="000000"/>
                      </a:solidFill>
                      <a:prstDash val="solid"/>
                    </a:lnT>
                  </a:tcPr>
                </a:tc>
                <a:tc>
                  <a:txBody>
                    <a:bodyPr/>
                    <a:lstStyle/>
                    <a:p>
                      <a:pPr marL="33655" algn="ctr">
                        <a:lnSpc>
                          <a:spcPct val="100000"/>
                        </a:lnSpc>
                        <a:spcBef>
                          <a:spcPts val="305"/>
                        </a:spcBef>
                      </a:pPr>
                      <a:r>
                        <a:rPr sz="1600" dirty="0">
                          <a:latin typeface="Calibri"/>
                          <a:cs typeface="Calibri"/>
                        </a:rPr>
                        <a:t>2</a:t>
                      </a:r>
                      <a:endParaRPr sz="1600">
                        <a:latin typeface="Calibri"/>
                        <a:cs typeface="Calibri"/>
                      </a:endParaRPr>
                    </a:p>
                  </a:txBody>
                  <a:tcPr marL="0" marR="0" marT="38735" marB="0">
                    <a:lnT w="6350">
                      <a:solidFill>
                        <a:srgbClr val="000000"/>
                      </a:solidFill>
                      <a:prstDash val="solid"/>
                    </a:lnT>
                  </a:tcPr>
                </a:tc>
                <a:tc>
                  <a:txBody>
                    <a:bodyPr/>
                    <a:lstStyle/>
                    <a:p>
                      <a:pPr>
                        <a:lnSpc>
                          <a:spcPct val="100000"/>
                        </a:lnSpc>
                      </a:pPr>
                      <a:endParaRPr sz="1900">
                        <a:latin typeface="Times New Roman"/>
                        <a:cs typeface="Times New Roman"/>
                      </a:endParaRPr>
                    </a:p>
                  </a:txBody>
                  <a:tcPr marL="0" marR="0" marT="0" marB="0">
                    <a:lnT w="6350">
                      <a:solidFill>
                        <a:srgbClr val="000000"/>
                      </a:solidFill>
                      <a:prstDash val="solid"/>
                    </a:lnT>
                  </a:tcPr>
                </a:tc>
              </a:tr>
              <a:tr h="447039">
                <a:tc>
                  <a:txBody>
                    <a:bodyPr/>
                    <a:lstStyle/>
                    <a:p>
                      <a:pPr>
                        <a:lnSpc>
                          <a:spcPct val="100000"/>
                        </a:lnSpc>
                      </a:pPr>
                      <a:endParaRPr sz="1900">
                        <a:latin typeface="Times New Roman"/>
                        <a:cs typeface="Times New Roman"/>
                      </a:endParaRPr>
                    </a:p>
                  </a:txBody>
                  <a:tcPr marL="0" marR="0" marT="0" marB="0"/>
                </a:tc>
                <a:tc>
                  <a:txBody>
                    <a:bodyPr/>
                    <a:lstStyle/>
                    <a:p>
                      <a:pPr marR="29209" algn="ctr">
                        <a:lnSpc>
                          <a:spcPct val="100000"/>
                        </a:lnSpc>
                        <a:spcBef>
                          <a:spcPts val="305"/>
                        </a:spcBef>
                      </a:pPr>
                      <a:r>
                        <a:rPr sz="1600" dirty="0">
                          <a:latin typeface="Calibri"/>
                          <a:cs typeface="Calibri"/>
                        </a:rPr>
                        <a:t>16</a:t>
                      </a:r>
                      <a:r>
                        <a:rPr sz="1600" spc="-30" dirty="0">
                          <a:latin typeface="Calibri"/>
                          <a:cs typeface="Calibri"/>
                        </a:rPr>
                        <a:t> </a:t>
                      </a:r>
                      <a:r>
                        <a:rPr sz="1600" dirty="0">
                          <a:latin typeface="Calibri"/>
                          <a:cs typeface="Calibri"/>
                        </a:rPr>
                        <a:t>–</a:t>
                      </a:r>
                      <a:r>
                        <a:rPr sz="1600" spc="-40" dirty="0">
                          <a:latin typeface="Calibri"/>
                          <a:cs typeface="Calibri"/>
                        </a:rPr>
                        <a:t> </a:t>
                      </a:r>
                      <a:r>
                        <a:rPr sz="1600" dirty="0">
                          <a:latin typeface="Calibri"/>
                          <a:cs typeface="Calibri"/>
                        </a:rPr>
                        <a:t>20</a:t>
                      </a:r>
                      <a:endParaRPr sz="1600">
                        <a:latin typeface="Calibri"/>
                        <a:cs typeface="Calibri"/>
                      </a:endParaRPr>
                    </a:p>
                  </a:txBody>
                  <a:tcPr marL="0" marR="0" marT="38735" marB="0">
                    <a:lnB w="6350">
                      <a:solidFill>
                        <a:srgbClr val="000000"/>
                      </a:solidFill>
                      <a:prstDash val="solid"/>
                    </a:lnB>
                  </a:tcPr>
                </a:tc>
                <a:tc>
                  <a:txBody>
                    <a:bodyPr/>
                    <a:lstStyle/>
                    <a:p>
                      <a:pPr marR="24130" algn="ctr">
                        <a:lnSpc>
                          <a:spcPct val="100000"/>
                        </a:lnSpc>
                        <a:spcBef>
                          <a:spcPts val="305"/>
                        </a:spcBef>
                      </a:pPr>
                      <a:r>
                        <a:rPr sz="1600" dirty="0">
                          <a:latin typeface="Calibri"/>
                          <a:cs typeface="Calibri"/>
                        </a:rPr>
                        <a:t>4</a:t>
                      </a:r>
                      <a:endParaRPr sz="1600">
                        <a:latin typeface="Calibri"/>
                        <a:cs typeface="Calibri"/>
                      </a:endParaRPr>
                    </a:p>
                  </a:txBody>
                  <a:tcPr marL="0" marR="0" marT="38735" marB="0">
                    <a:lnB w="6350">
                      <a:solidFill>
                        <a:srgbClr val="000000"/>
                      </a:solidFill>
                      <a:prstDash val="solid"/>
                    </a:lnB>
                  </a:tcPr>
                </a:tc>
                <a:tc>
                  <a:txBody>
                    <a:bodyPr/>
                    <a:lstStyle/>
                    <a:p>
                      <a:pPr marR="431800" algn="r">
                        <a:lnSpc>
                          <a:spcPct val="100000"/>
                        </a:lnSpc>
                        <a:spcBef>
                          <a:spcPts val="305"/>
                        </a:spcBef>
                      </a:pPr>
                      <a:r>
                        <a:rPr sz="1600" dirty="0">
                          <a:latin typeface="Calibri"/>
                          <a:cs typeface="Calibri"/>
                        </a:rPr>
                        <a:t>20.5</a:t>
                      </a:r>
                      <a:endParaRPr sz="1600">
                        <a:latin typeface="Calibri"/>
                        <a:cs typeface="Calibri"/>
                      </a:endParaRPr>
                    </a:p>
                  </a:txBody>
                  <a:tcPr marL="0" marR="0" marT="38735" marB="0">
                    <a:lnB w="6350">
                      <a:solidFill>
                        <a:srgbClr val="000000"/>
                      </a:solidFill>
                      <a:prstDash val="solid"/>
                    </a:lnB>
                  </a:tcPr>
                </a:tc>
                <a:tc>
                  <a:txBody>
                    <a:bodyPr/>
                    <a:lstStyle/>
                    <a:p>
                      <a:pPr marR="3810" algn="ctr">
                        <a:lnSpc>
                          <a:spcPct val="100000"/>
                        </a:lnSpc>
                        <a:spcBef>
                          <a:spcPts val="305"/>
                        </a:spcBef>
                      </a:pPr>
                      <a:r>
                        <a:rPr sz="1600" dirty="0">
                          <a:latin typeface="Calibri"/>
                          <a:cs typeface="Calibri"/>
                        </a:rPr>
                        <a:t>x</a:t>
                      </a:r>
                      <a:r>
                        <a:rPr sz="1600" spc="-25" dirty="0">
                          <a:latin typeface="Calibri"/>
                          <a:cs typeface="Calibri"/>
                        </a:rPr>
                        <a:t> </a:t>
                      </a:r>
                      <a:r>
                        <a:rPr sz="1600" dirty="0">
                          <a:latin typeface="Calibri"/>
                          <a:cs typeface="Calibri"/>
                        </a:rPr>
                        <a:t>≤</a:t>
                      </a:r>
                      <a:r>
                        <a:rPr sz="1600" spc="-35" dirty="0">
                          <a:latin typeface="Calibri"/>
                          <a:cs typeface="Calibri"/>
                        </a:rPr>
                        <a:t> </a:t>
                      </a:r>
                      <a:r>
                        <a:rPr sz="1600" dirty="0">
                          <a:latin typeface="Calibri"/>
                          <a:cs typeface="Calibri"/>
                        </a:rPr>
                        <a:t>20.5</a:t>
                      </a:r>
                      <a:endParaRPr sz="1600">
                        <a:latin typeface="Calibri"/>
                        <a:cs typeface="Calibri"/>
                      </a:endParaRPr>
                    </a:p>
                  </a:txBody>
                  <a:tcPr marL="0" marR="0" marT="38735" marB="0">
                    <a:lnB w="6350">
                      <a:solidFill>
                        <a:srgbClr val="000000"/>
                      </a:solidFill>
                      <a:prstDash val="solid"/>
                    </a:lnB>
                  </a:tcPr>
                </a:tc>
                <a:tc>
                  <a:txBody>
                    <a:bodyPr/>
                    <a:lstStyle/>
                    <a:p>
                      <a:pPr marL="33655" algn="ctr">
                        <a:lnSpc>
                          <a:spcPct val="100000"/>
                        </a:lnSpc>
                        <a:spcBef>
                          <a:spcPts val="305"/>
                        </a:spcBef>
                      </a:pPr>
                      <a:r>
                        <a:rPr sz="1600" dirty="0">
                          <a:latin typeface="Calibri"/>
                          <a:cs typeface="Calibri"/>
                        </a:rPr>
                        <a:t>6</a:t>
                      </a:r>
                      <a:endParaRPr sz="1600">
                        <a:latin typeface="Calibri"/>
                        <a:cs typeface="Calibri"/>
                      </a:endParaRPr>
                    </a:p>
                  </a:txBody>
                  <a:tcPr marL="0" marR="0" marT="38735" marB="0">
                    <a:lnB w="6350">
                      <a:solidFill>
                        <a:srgbClr val="000000"/>
                      </a:solidFill>
                      <a:prstDash val="solid"/>
                    </a:lnB>
                  </a:tcPr>
                </a:tc>
                <a:tc>
                  <a:txBody>
                    <a:bodyPr/>
                    <a:lstStyle/>
                    <a:p>
                      <a:pPr>
                        <a:lnSpc>
                          <a:spcPct val="100000"/>
                        </a:lnSpc>
                      </a:pPr>
                      <a:endParaRPr sz="1900">
                        <a:latin typeface="Times New Roman"/>
                        <a:cs typeface="Times New Roman"/>
                      </a:endParaRPr>
                    </a:p>
                  </a:txBody>
                  <a:tcPr marL="0" marR="0" marT="0" marB="0">
                    <a:lnB w="6350">
                      <a:solidFill>
                        <a:srgbClr val="000000"/>
                      </a:solidFill>
                      <a:prstDash val="solid"/>
                    </a:lnB>
                  </a:tcPr>
                </a:tc>
              </a:tr>
              <a:tr h="447167">
                <a:tc>
                  <a:txBody>
                    <a:bodyPr/>
                    <a:lstStyle/>
                    <a:p>
                      <a:pPr>
                        <a:lnSpc>
                          <a:spcPct val="100000"/>
                        </a:lnSpc>
                      </a:pPr>
                      <a:endParaRPr sz="1900">
                        <a:latin typeface="Times New Roman"/>
                        <a:cs typeface="Times New Roman"/>
                      </a:endParaRPr>
                    </a:p>
                  </a:txBody>
                  <a:tcPr marL="0" marR="0" marT="0" marB="0"/>
                </a:tc>
                <a:tc>
                  <a:txBody>
                    <a:bodyPr/>
                    <a:lstStyle/>
                    <a:p>
                      <a:pPr marR="29209" algn="ctr">
                        <a:lnSpc>
                          <a:spcPct val="100000"/>
                        </a:lnSpc>
                        <a:spcBef>
                          <a:spcPts val="309"/>
                        </a:spcBef>
                      </a:pPr>
                      <a:r>
                        <a:rPr sz="1600" dirty="0">
                          <a:latin typeface="Calibri"/>
                          <a:cs typeface="Calibri"/>
                        </a:rPr>
                        <a:t>21</a:t>
                      </a:r>
                      <a:r>
                        <a:rPr sz="1600" spc="-30" dirty="0">
                          <a:latin typeface="Calibri"/>
                          <a:cs typeface="Calibri"/>
                        </a:rPr>
                        <a:t> </a:t>
                      </a:r>
                      <a:r>
                        <a:rPr sz="1600" dirty="0">
                          <a:latin typeface="Calibri"/>
                          <a:cs typeface="Calibri"/>
                        </a:rPr>
                        <a:t>–</a:t>
                      </a:r>
                      <a:r>
                        <a:rPr sz="1600" spc="-40" dirty="0">
                          <a:latin typeface="Calibri"/>
                          <a:cs typeface="Calibri"/>
                        </a:rPr>
                        <a:t> </a:t>
                      </a:r>
                      <a:r>
                        <a:rPr sz="1600" dirty="0">
                          <a:latin typeface="Calibri"/>
                          <a:cs typeface="Calibri"/>
                        </a:rPr>
                        <a:t>25</a:t>
                      </a:r>
                      <a:endParaRPr sz="1600">
                        <a:latin typeface="Calibri"/>
                        <a:cs typeface="Calibri"/>
                      </a:endParaRPr>
                    </a:p>
                  </a:txBody>
                  <a:tcPr marL="0" marR="0" marT="39369" marB="0">
                    <a:lnT w="6350">
                      <a:solidFill>
                        <a:srgbClr val="000000"/>
                      </a:solidFill>
                      <a:prstDash val="solid"/>
                    </a:lnT>
                  </a:tcPr>
                </a:tc>
                <a:tc>
                  <a:txBody>
                    <a:bodyPr/>
                    <a:lstStyle/>
                    <a:p>
                      <a:pPr marR="24130" algn="ctr">
                        <a:lnSpc>
                          <a:spcPct val="100000"/>
                        </a:lnSpc>
                        <a:spcBef>
                          <a:spcPts val="309"/>
                        </a:spcBef>
                      </a:pPr>
                      <a:r>
                        <a:rPr sz="1600" dirty="0">
                          <a:latin typeface="Calibri"/>
                          <a:cs typeface="Calibri"/>
                        </a:rPr>
                        <a:t>8</a:t>
                      </a:r>
                      <a:endParaRPr sz="1600">
                        <a:latin typeface="Calibri"/>
                        <a:cs typeface="Calibri"/>
                      </a:endParaRPr>
                    </a:p>
                  </a:txBody>
                  <a:tcPr marL="0" marR="0" marT="39369" marB="0">
                    <a:lnT w="6350">
                      <a:solidFill>
                        <a:srgbClr val="000000"/>
                      </a:solidFill>
                      <a:prstDash val="solid"/>
                    </a:lnT>
                  </a:tcPr>
                </a:tc>
                <a:tc>
                  <a:txBody>
                    <a:bodyPr/>
                    <a:lstStyle/>
                    <a:p>
                      <a:pPr marR="431800" algn="r">
                        <a:lnSpc>
                          <a:spcPct val="100000"/>
                        </a:lnSpc>
                        <a:spcBef>
                          <a:spcPts val="309"/>
                        </a:spcBef>
                      </a:pPr>
                      <a:r>
                        <a:rPr sz="1600" dirty="0">
                          <a:latin typeface="Calibri"/>
                          <a:cs typeface="Calibri"/>
                        </a:rPr>
                        <a:t>25.5</a:t>
                      </a:r>
                      <a:endParaRPr sz="1600">
                        <a:latin typeface="Calibri"/>
                        <a:cs typeface="Calibri"/>
                      </a:endParaRPr>
                    </a:p>
                  </a:txBody>
                  <a:tcPr marL="0" marR="0" marT="39369" marB="0">
                    <a:lnT w="6350">
                      <a:solidFill>
                        <a:srgbClr val="000000"/>
                      </a:solidFill>
                      <a:prstDash val="solid"/>
                    </a:lnT>
                  </a:tcPr>
                </a:tc>
                <a:tc>
                  <a:txBody>
                    <a:bodyPr/>
                    <a:lstStyle/>
                    <a:p>
                      <a:pPr marR="3810" algn="ctr">
                        <a:lnSpc>
                          <a:spcPct val="100000"/>
                        </a:lnSpc>
                        <a:spcBef>
                          <a:spcPts val="309"/>
                        </a:spcBef>
                      </a:pPr>
                      <a:r>
                        <a:rPr sz="1600" dirty="0">
                          <a:latin typeface="Calibri"/>
                          <a:cs typeface="Calibri"/>
                        </a:rPr>
                        <a:t>x</a:t>
                      </a:r>
                      <a:r>
                        <a:rPr sz="1600" spc="-25" dirty="0">
                          <a:latin typeface="Calibri"/>
                          <a:cs typeface="Calibri"/>
                        </a:rPr>
                        <a:t> </a:t>
                      </a:r>
                      <a:r>
                        <a:rPr sz="1600" dirty="0">
                          <a:latin typeface="Calibri"/>
                          <a:cs typeface="Calibri"/>
                        </a:rPr>
                        <a:t>≤</a:t>
                      </a:r>
                      <a:r>
                        <a:rPr sz="1600" spc="-35" dirty="0">
                          <a:latin typeface="Calibri"/>
                          <a:cs typeface="Calibri"/>
                        </a:rPr>
                        <a:t> </a:t>
                      </a:r>
                      <a:r>
                        <a:rPr sz="1600" dirty="0">
                          <a:latin typeface="Calibri"/>
                          <a:cs typeface="Calibri"/>
                        </a:rPr>
                        <a:t>25.5</a:t>
                      </a:r>
                      <a:endParaRPr sz="1600">
                        <a:latin typeface="Calibri"/>
                        <a:cs typeface="Calibri"/>
                      </a:endParaRPr>
                    </a:p>
                  </a:txBody>
                  <a:tcPr marL="0" marR="0" marT="39369" marB="0">
                    <a:lnT w="6350">
                      <a:solidFill>
                        <a:srgbClr val="000000"/>
                      </a:solidFill>
                      <a:prstDash val="solid"/>
                    </a:lnT>
                  </a:tcPr>
                </a:tc>
                <a:tc>
                  <a:txBody>
                    <a:bodyPr/>
                    <a:lstStyle/>
                    <a:p>
                      <a:pPr marL="34290" algn="ctr">
                        <a:lnSpc>
                          <a:spcPct val="100000"/>
                        </a:lnSpc>
                        <a:spcBef>
                          <a:spcPts val="309"/>
                        </a:spcBef>
                      </a:pPr>
                      <a:r>
                        <a:rPr sz="1600" dirty="0">
                          <a:latin typeface="Calibri"/>
                          <a:cs typeface="Calibri"/>
                        </a:rPr>
                        <a:t>14</a:t>
                      </a:r>
                      <a:endParaRPr sz="1600">
                        <a:latin typeface="Calibri"/>
                        <a:cs typeface="Calibri"/>
                      </a:endParaRPr>
                    </a:p>
                  </a:txBody>
                  <a:tcPr marL="0" marR="0" marT="39369" marB="0">
                    <a:lnT w="6350">
                      <a:solidFill>
                        <a:srgbClr val="000000"/>
                      </a:solidFill>
                      <a:prstDash val="solid"/>
                    </a:lnT>
                  </a:tcPr>
                </a:tc>
                <a:tc>
                  <a:txBody>
                    <a:bodyPr/>
                    <a:lstStyle/>
                    <a:p>
                      <a:pPr>
                        <a:lnSpc>
                          <a:spcPct val="100000"/>
                        </a:lnSpc>
                      </a:pPr>
                      <a:endParaRPr sz="1900">
                        <a:latin typeface="Times New Roman"/>
                        <a:cs typeface="Times New Roman"/>
                      </a:endParaRPr>
                    </a:p>
                  </a:txBody>
                  <a:tcPr marL="0" marR="0" marT="0" marB="0">
                    <a:lnT w="6350">
                      <a:solidFill>
                        <a:srgbClr val="000000"/>
                      </a:solidFill>
                      <a:prstDash val="solid"/>
                    </a:lnT>
                  </a:tcPr>
                </a:tc>
              </a:tr>
              <a:tr h="447040">
                <a:tc>
                  <a:txBody>
                    <a:bodyPr/>
                    <a:lstStyle/>
                    <a:p>
                      <a:pPr>
                        <a:lnSpc>
                          <a:spcPct val="100000"/>
                        </a:lnSpc>
                      </a:pPr>
                      <a:endParaRPr sz="1900">
                        <a:latin typeface="Times New Roman"/>
                        <a:cs typeface="Times New Roman"/>
                      </a:endParaRPr>
                    </a:p>
                  </a:txBody>
                  <a:tcPr marL="0" marR="0" marT="0" marB="0"/>
                </a:tc>
                <a:tc>
                  <a:txBody>
                    <a:bodyPr/>
                    <a:lstStyle/>
                    <a:p>
                      <a:pPr marR="29209" algn="ctr">
                        <a:lnSpc>
                          <a:spcPct val="100000"/>
                        </a:lnSpc>
                        <a:spcBef>
                          <a:spcPts val="310"/>
                        </a:spcBef>
                      </a:pPr>
                      <a:r>
                        <a:rPr sz="1600" dirty="0">
                          <a:latin typeface="Calibri"/>
                          <a:cs typeface="Calibri"/>
                        </a:rPr>
                        <a:t>25</a:t>
                      </a:r>
                      <a:r>
                        <a:rPr sz="1600" spc="-30" dirty="0">
                          <a:latin typeface="Calibri"/>
                          <a:cs typeface="Calibri"/>
                        </a:rPr>
                        <a:t> </a:t>
                      </a:r>
                      <a:r>
                        <a:rPr sz="1600" dirty="0">
                          <a:latin typeface="Calibri"/>
                          <a:cs typeface="Calibri"/>
                        </a:rPr>
                        <a:t>–</a:t>
                      </a:r>
                      <a:r>
                        <a:rPr sz="1600" spc="-40" dirty="0">
                          <a:latin typeface="Calibri"/>
                          <a:cs typeface="Calibri"/>
                        </a:rPr>
                        <a:t> </a:t>
                      </a:r>
                      <a:r>
                        <a:rPr sz="1600" dirty="0">
                          <a:latin typeface="Calibri"/>
                          <a:cs typeface="Calibri"/>
                        </a:rPr>
                        <a:t>30</a:t>
                      </a:r>
                      <a:endParaRPr sz="1600">
                        <a:latin typeface="Calibri"/>
                        <a:cs typeface="Calibri"/>
                      </a:endParaRPr>
                    </a:p>
                  </a:txBody>
                  <a:tcPr marL="0" marR="0" marT="39370" marB="0">
                    <a:lnB w="6350">
                      <a:solidFill>
                        <a:srgbClr val="000000"/>
                      </a:solidFill>
                      <a:prstDash val="solid"/>
                    </a:lnB>
                  </a:tcPr>
                </a:tc>
                <a:tc>
                  <a:txBody>
                    <a:bodyPr/>
                    <a:lstStyle/>
                    <a:p>
                      <a:pPr marR="24130" algn="ctr">
                        <a:lnSpc>
                          <a:spcPct val="100000"/>
                        </a:lnSpc>
                        <a:spcBef>
                          <a:spcPts val="310"/>
                        </a:spcBef>
                      </a:pPr>
                      <a:r>
                        <a:rPr sz="1600" dirty="0">
                          <a:latin typeface="Calibri"/>
                          <a:cs typeface="Calibri"/>
                        </a:rPr>
                        <a:t>14</a:t>
                      </a:r>
                      <a:endParaRPr sz="1600">
                        <a:latin typeface="Calibri"/>
                        <a:cs typeface="Calibri"/>
                      </a:endParaRPr>
                    </a:p>
                  </a:txBody>
                  <a:tcPr marL="0" marR="0" marT="39370" marB="0">
                    <a:lnB w="6350">
                      <a:solidFill>
                        <a:srgbClr val="000000"/>
                      </a:solidFill>
                      <a:prstDash val="solid"/>
                    </a:lnB>
                  </a:tcPr>
                </a:tc>
                <a:tc>
                  <a:txBody>
                    <a:bodyPr/>
                    <a:lstStyle/>
                    <a:p>
                      <a:pPr marR="431800" algn="r">
                        <a:lnSpc>
                          <a:spcPct val="100000"/>
                        </a:lnSpc>
                        <a:spcBef>
                          <a:spcPts val="310"/>
                        </a:spcBef>
                      </a:pPr>
                      <a:r>
                        <a:rPr sz="1600" dirty="0">
                          <a:latin typeface="Calibri"/>
                          <a:cs typeface="Calibri"/>
                        </a:rPr>
                        <a:t>30.5</a:t>
                      </a:r>
                      <a:endParaRPr sz="1600">
                        <a:latin typeface="Calibri"/>
                        <a:cs typeface="Calibri"/>
                      </a:endParaRPr>
                    </a:p>
                  </a:txBody>
                  <a:tcPr marL="0" marR="0" marT="39370" marB="0">
                    <a:lnB w="6350">
                      <a:solidFill>
                        <a:srgbClr val="000000"/>
                      </a:solidFill>
                      <a:prstDash val="solid"/>
                    </a:lnB>
                  </a:tcPr>
                </a:tc>
                <a:tc>
                  <a:txBody>
                    <a:bodyPr/>
                    <a:lstStyle/>
                    <a:p>
                      <a:pPr marR="3810" algn="ctr">
                        <a:lnSpc>
                          <a:spcPct val="100000"/>
                        </a:lnSpc>
                        <a:spcBef>
                          <a:spcPts val="310"/>
                        </a:spcBef>
                      </a:pPr>
                      <a:r>
                        <a:rPr sz="1600" dirty="0">
                          <a:latin typeface="Calibri"/>
                          <a:cs typeface="Calibri"/>
                        </a:rPr>
                        <a:t>x</a:t>
                      </a:r>
                      <a:r>
                        <a:rPr sz="1600" spc="-25" dirty="0">
                          <a:latin typeface="Calibri"/>
                          <a:cs typeface="Calibri"/>
                        </a:rPr>
                        <a:t> </a:t>
                      </a:r>
                      <a:r>
                        <a:rPr sz="1600" dirty="0">
                          <a:latin typeface="Calibri"/>
                          <a:cs typeface="Calibri"/>
                        </a:rPr>
                        <a:t>≤</a:t>
                      </a:r>
                      <a:r>
                        <a:rPr sz="1600" spc="-35" dirty="0">
                          <a:latin typeface="Calibri"/>
                          <a:cs typeface="Calibri"/>
                        </a:rPr>
                        <a:t> </a:t>
                      </a:r>
                      <a:r>
                        <a:rPr sz="1600" dirty="0">
                          <a:latin typeface="Calibri"/>
                          <a:cs typeface="Calibri"/>
                        </a:rPr>
                        <a:t>30.5</a:t>
                      </a:r>
                      <a:endParaRPr sz="1600">
                        <a:latin typeface="Calibri"/>
                        <a:cs typeface="Calibri"/>
                      </a:endParaRPr>
                    </a:p>
                  </a:txBody>
                  <a:tcPr marL="0" marR="0" marT="39370" marB="0">
                    <a:lnB w="6350">
                      <a:solidFill>
                        <a:srgbClr val="000000"/>
                      </a:solidFill>
                      <a:prstDash val="solid"/>
                    </a:lnB>
                  </a:tcPr>
                </a:tc>
                <a:tc>
                  <a:txBody>
                    <a:bodyPr/>
                    <a:lstStyle/>
                    <a:p>
                      <a:pPr marL="34290" algn="ctr">
                        <a:lnSpc>
                          <a:spcPct val="100000"/>
                        </a:lnSpc>
                        <a:spcBef>
                          <a:spcPts val="310"/>
                        </a:spcBef>
                      </a:pPr>
                      <a:r>
                        <a:rPr sz="1600" dirty="0">
                          <a:latin typeface="Calibri"/>
                          <a:cs typeface="Calibri"/>
                        </a:rPr>
                        <a:t>28</a:t>
                      </a:r>
                      <a:endParaRPr sz="1600">
                        <a:latin typeface="Calibri"/>
                        <a:cs typeface="Calibri"/>
                      </a:endParaRPr>
                    </a:p>
                  </a:txBody>
                  <a:tcPr marL="0" marR="0" marT="39370" marB="0">
                    <a:lnB w="6350">
                      <a:solidFill>
                        <a:srgbClr val="000000"/>
                      </a:solidFill>
                      <a:prstDash val="solid"/>
                    </a:lnB>
                  </a:tcPr>
                </a:tc>
                <a:tc>
                  <a:txBody>
                    <a:bodyPr/>
                    <a:lstStyle/>
                    <a:p>
                      <a:pPr>
                        <a:lnSpc>
                          <a:spcPct val="100000"/>
                        </a:lnSpc>
                      </a:pPr>
                      <a:endParaRPr sz="1900">
                        <a:latin typeface="Times New Roman"/>
                        <a:cs typeface="Times New Roman"/>
                      </a:endParaRPr>
                    </a:p>
                  </a:txBody>
                  <a:tcPr marL="0" marR="0" marT="0" marB="0">
                    <a:lnB w="6350">
                      <a:solidFill>
                        <a:srgbClr val="000000"/>
                      </a:solidFill>
                      <a:prstDash val="solid"/>
                    </a:lnB>
                  </a:tcPr>
                </a:tc>
              </a:tr>
              <a:tr h="447166">
                <a:tc>
                  <a:txBody>
                    <a:bodyPr/>
                    <a:lstStyle/>
                    <a:p>
                      <a:pPr>
                        <a:lnSpc>
                          <a:spcPct val="100000"/>
                        </a:lnSpc>
                      </a:pPr>
                      <a:endParaRPr sz="1900">
                        <a:latin typeface="Times New Roman"/>
                        <a:cs typeface="Times New Roman"/>
                      </a:endParaRPr>
                    </a:p>
                  </a:txBody>
                  <a:tcPr marL="0" marR="0" marT="0" marB="0"/>
                </a:tc>
                <a:tc>
                  <a:txBody>
                    <a:bodyPr/>
                    <a:lstStyle/>
                    <a:p>
                      <a:pPr marR="29209" algn="ctr">
                        <a:lnSpc>
                          <a:spcPct val="100000"/>
                        </a:lnSpc>
                        <a:spcBef>
                          <a:spcPts val="310"/>
                        </a:spcBef>
                      </a:pPr>
                      <a:r>
                        <a:rPr sz="1600" dirty="0">
                          <a:latin typeface="Calibri"/>
                          <a:cs typeface="Calibri"/>
                        </a:rPr>
                        <a:t>31</a:t>
                      </a:r>
                      <a:r>
                        <a:rPr sz="1600" spc="-30" dirty="0">
                          <a:latin typeface="Calibri"/>
                          <a:cs typeface="Calibri"/>
                        </a:rPr>
                        <a:t> </a:t>
                      </a:r>
                      <a:r>
                        <a:rPr sz="1600" dirty="0">
                          <a:latin typeface="Calibri"/>
                          <a:cs typeface="Calibri"/>
                        </a:rPr>
                        <a:t>–</a:t>
                      </a:r>
                      <a:r>
                        <a:rPr sz="1600" spc="-40" dirty="0">
                          <a:latin typeface="Calibri"/>
                          <a:cs typeface="Calibri"/>
                        </a:rPr>
                        <a:t> </a:t>
                      </a:r>
                      <a:r>
                        <a:rPr sz="1600" dirty="0">
                          <a:latin typeface="Calibri"/>
                          <a:cs typeface="Calibri"/>
                        </a:rPr>
                        <a:t>35</a:t>
                      </a:r>
                      <a:endParaRPr sz="1600">
                        <a:latin typeface="Calibri"/>
                        <a:cs typeface="Calibri"/>
                      </a:endParaRPr>
                    </a:p>
                  </a:txBody>
                  <a:tcPr marL="0" marR="0" marT="39370" marB="0">
                    <a:lnT w="6350">
                      <a:solidFill>
                        <a:srgbClr val="000000"/>
                      </a:solidFill>
                      <a:prstDash val="solid"/>
                    </a:lnT>
                  </a:tcPr>
                </a:tc>
                <a:tc>
                  <a:txBody>
                    <a:bodyPr/>
                    <a:lstStyle/>
                    <a:p>
                      <a:pPr marR="24130" algn="ctr">
                        <a:lnSpc>
                          <a:spcPct val="100000"/>
                        </a:lnSpc>
                        <a:spcBef>
                          <a:spcPts val="310"/>
                        </a:spcBef>
                      </a:pPr>
                      <a:r>
                        <a:rPr sz="1600" dirty="0">
                          <a:latin typeface="Calibri"/>
                          <a:cs typeface="Calibri"/>
                        </a:rPr>
                        <a:t>6</a:t>
                      </a:r>
                      <a:endParaRPr sz="1600">
                        <a:latin typeface="Calibri"/>
                        <a:cs typeface="Calibri"/>
                      </a:endParaRPr>
                    </a:p>
                  </a:txBody>
                  <a:tcPr marL="0" marR="0" marT="39370" marB="0">
                    <a:lnT w="6350">
                      <a:solidFill>
                        <a:srgbClr val="000000"/>
                      </a:solidFill>
                      <a:prstDash val="solid"/>
                    </a:lnT>
                  </a:tcPr>
                </a:tc>
                <a:tc>
                  <a:txBody>
                    <a:bodyPr/>
                    <a:lstStyle/>
                    <a:p>
                      <a:pPr marR="431800" algn="r">
                        <a:lnSpc>
                          <a:spcPct val="100000"/>
                        </a:lnSpc>
                        <a:spcBef>
                          <a:spcPts val="310"/>
                        </a:spcBef>
                      </a:pPr>
                      <a:r>
                        <a:rPr sz="1600" dirty="0">
                          <a:latin typeface="Calibri"/>
                          <a:cs typeface="Calibri"/>
                        </a:rPr>
                        <a:t>35.5</a:t>
                      </a:r>
                      <a:endParaRPr sz="1600">
                        <a:latin typeface="Calibri"/>
                        <a:cs typeface="Calibri"/>
                      </a:endParaRPr>
                    </a:p>
                  </a:txBody>
                  <a:tcPr marL="0" marR="0" marT="39370" marB="0">
                    <a:lnT w="6350">
                      <a:solidFill>
                        <a:srgbClr val="000000"/>
                      </a:solidFill>
                      <a:prstDash val="solid"/>
                    </a:lnT>
                  </a:tcPr>
                </a:tc>
                <a:tc>
                  <a:txBody>
                    <a:bodyPr/>
                    <a:lstStyle/>
                    <a:p>
                      <a:pPr marR="3810" algn="ctr">
                        <a:lnSpc>
                          <a:spcPct val="100000"/>
                        </a:lnSpc>
                        <a:spcBef>
                          <a:spcPts val="310"/>
                        </a:spcBef>
                      </a:pPr>
                      <a:r>
                        <a:rPr sz="1600" dirty="0">
                          <a:latin typeface="Calibri"/>
                          <a:cs typeface="Calibri"/>
                        </a:rPr>
                        <a:t>x</a:t>
                      </a:r>
                      <a:r>
                        <a:rPr sz="1600" spc="-25" dirty="0">
                          <a:latin typeface="Calibri"/>
                          <a:cs typeface="Calibri"/>
                        </a:rPr>
                        <a:t> </a:t>
                      </a:r>
                      <a:r>
                        <a:rPr sz="1600" dirty="0">
                          <a:latin typeface="Calibri"/>
                          <a:cs typeface="Calibri"/>
                        </a:rPr>
                        <a:t>≤</a:t>
                      </a:r>
                      <a:r>
                        <a:rPr sz="1600" spc="-35" dirty="0">
                          <a:latin typeface="Calibri"/>
                          <a:cs typeface="Calibri"/>
                        </a:rPr>
                        <a:t> </a:t>
                      </a:r>
                      <a:r>
                        <a:rPr sz="1600" dirty="0">
                          <a:latin typeface="Calibri"/>
                          <a:cs typeface="Calibri"/>
                        </a:rPr>
                        <a:t>35.5</a:t>
                      </a:r>
                      <a:endParaRPr sz="1600">
                        <a:latin typeface="Calibri"/>
                        <a:cs typeface="Calibri"/>
                      </a:endParaRPr>
                    </a:p>
                  </a:txBody>
                  <a:tcPr marL="0" marR="0" marT="39370" marB="0">
                    <a:lnT w="6350">
                      <a:solidFill>
                        <a:srgbClr val="000000"/>
                      </a:solidFill>
                      <a:prstDash val="solid"/>
                    </a:lnT>
                  </a:tcPr>
                </a:tc>
                <a:tc>
                  <a:txBody>
                    <a:bodyPr/>
                    <a:lstStyle/>
                    <a:p>
                      <a:pPr marL="34290" algn="ctr">
                        <a:lnSpc>
                          <a:spcPct val="100000"/>
                        </a:lnSpc>
                        <a:spcBef>
                          <a:spcPts val="310"/>
                        </a:spcBef>
                      </a:pPr>
                      <a:r>
                        <a:rPr sz="1600" dirty="0">
                          <a:latin typeface="Calibri"/>
                          <a:cs typeface="Calibri"/>
                        </a:rPr>
                        <a:t>34</a:t>
                      </a:r>
                      <a:endParaRPr sz="1600">
                        <a:latin typeface="Calibri"/>
                        <a:cs typeface="Calibri"/>
                      </a:endParaRPr>
                    </a:p>
                  </a:txBody>
                  <a:tcPr marL="0" marR="0" marT="39370" marB="0">
                    <a:lnT w="6350">
                      <a:solidFill>
                        <a:srgbClr val="000000"/>
                      </a:solidFill>
                      <a:prstDash val="solid"/>
                    </a:lnT>
                  </a:tcPr>
                </a:tc>
                <a:tc>
                  <a:txBody>
                    <a:bodyPr/>
                    <a:lstStyle/>
                    <a:p>
                      <a:pPr>
                        <a:lnSpc>
                          <a:spcPct val="100000"/>
                        </a:lnSpc>
                      </a:pPr>
                      <a:endParaRPr sz="1900">
                        <a:latin typeface="Times New Roman"/>
                        <a:cs typeface="Times New Roman"/>
                      </a:endParaRPr>
                    </a:p>
                  </a:txBody>
                  <a:tcPr marL="0" marR="0" marT="0" marB="0">
                    <a:lnT w="6350">
                      <a:solidFill>
                        <a:srgbClr val="000000"/>
                      </a:solidFill>
                      <a:prstDash val="solid"/>
                    </a:lnT>
                  </a:tcPr>
                </a:tc>
              </a:tr>
              <a:tr h="447116">
                <a:tc>
                  <a:txBody>
                    <a:bodyPr/>
                    <a:lstStyle/>
                    <a:p>
                      <a:pPr>
                        <a:lnSpc>
                          <a:spcPct val="100000"/>
                        </a:lnSpc>
                      </a:pPr>
                      <a:endParaRPr sz="1900">
                        <a:latin typeface="Times New Roman"/>
                        <a:cs typeface="Times New Roman"/>
                      </a:endParaRPr>
                    </a:p>
                  </a:txBody>
                  <a:tcPr marL="0" marR="0" marT="0" marB="0"/>
                </a:tc>
                <a:tc>
                  <a:txBody>
                    <a:bodyPr/>
                    <a:lstStyle/>
                    <a:p>
                      <a:pPr marR="29209" algn="ctr">
                        <a:lnSpc>
                          <a:spcPct val="100000"/>
                        </a:lnSpc>
                        <a:spcBef>
                          <a:spcPts val="315"/>
                        </a:spcBef>
                      </a:pPr>
                      <a:r>
                        <a:rPr sz="1600" dirty="0">
                          <a:latin typeface="Calibri"/>
                          <a:cs typeface="Calibri"/>
                        </a:rPr>
                        <a:t>36</a:t>
                      </a:r>
                      <a:r>
                        <a:rPr sz="1600" spc="-30" dirty="0">
                          <a:latin typeface="Calibri"/>
                          <a:cs typeface="Calibri"/>
                        </a:rPr>
                        <a:t> </a:t>
                      </a:r>
                      <a:r>
                        <a:rPr sz="1600" dirty="0">
                          <a:latin typeface="Calibri"/>
                          <a:cs typeface="Calibri"/>
                        </a:rPr>
                        <a:t>–</a:t>
                      </a:r>
                      <a:r>
                        <a:rPr sz="1600" spc="-40" dirty="0">
                          <a:latin typeface="Calibri"/>
                          <a:cs typeface="Calibri"/>
                        </a:rPr>
                        <a:t> </a:t>
                      </a:r>
                      <a:r>
                        <a:rPr sz="1600" dirty="0">
                          <a:latin typeface="Calibri"/>
                          <a:cs typeface="Calibri"/>
                        </a:rPr>
                        <a:t>40</a:t>
                      </a:r>
                      <a:endParaRPr sz="1600">
                        <a:latin typeface="Calibri"/>
                        <a:cs typeface="Calibri"/>
                      </a:endParaRPr>
                    </a:p>
                  </a:txBody>
                  <a:tcPr marL="0" marR="0" marT="40005" marB="0">
                    <a:lnB w="6350">
                      <a:solidFill>
                        <a:srgbClr val="000000"/>
                      </a:solidFill>
                      <a:prstDash val="solid"/>
                    </a:lnB>
                  </a:tcPr>
                </a:tc>
                <a:tc>
                  <a:txBody>
                    <a:bodyPr/>
                    <a:lstStyle/>
                    <a:p>
                      <a:pPr marR="24130" algn="ctr">
                        <a:lnSpc>
                          <a:spcPct val="100000"/>
                        </a:lnSpc>
                        <a:spcBef>
                          <a:spcPts val="315"/>
                        </a:spcBef>
                      </a:pPr>
                      <a:r>
                        <a:rPr sz="1600" dirty="0">
                          <a:latin typeface="Calibri"/>
                          <a:cs typeface="Calibri"/>
                        </a:rPr>
                        <a:t>4</a:t>
                      </a:r>
                      <a:endParaRPr sz="1600">
                        <a:latin typeface="Calibri"/>
                        <a:cs typeface="Calibri"/>
                      </a:endParaRPr>
                    </a:p>
                  </a:txBody>
                  <a:tcPr marL="0" marR="0" marT="40005" marB="0">
                    <a:lnB w="6350">
                      <a:solidFill>
                        <a:srgbClr val="000000"/>
                      </a:solidFill>
                      <a:prstDash val="solid"/>
                    </a:lnB>
                  </a:tcPr>
                </a:tc>
                <a:tc>
                  <a:txBody>
                    <a:bodyPr/>
                    <a:lstStyle/>
                    <a:p>
                      <a:pPr marR="431800" algn="r">
                        <a:lnSpc>
                          <a:spcPct val="100000"/>
                        </a:lnSpc>
                        <a:spcBef>
                          <a:spcPts val="315"/>
                        </a:spcBef>
                      </a:pPr>
                      <a:r>
                        <a:rPr sz="1600" dirty="0">
                          <a:latin typeface="Calibri"/>
                          <a:cs typeface="Calibri"/>
                        </a:rPr>
                        <a:t>40.5</a:t>
                      </a:r>
                      <a:endParaRPr sz="1600">
                        <a:latin typeface="Calibri"/>
                        <a:cs typeface="Calibri"/>
                      </a:endParaRPr>
                    </a:p>
                  </a:txBody>
                  <a:tcPr marL="0" marR="0" marT="40005" marB="0">
                    <a:lnB w="6350">
                      <a:solidFill>
                        <a:srgbClr val="000000"/>
                      </a:solidFill>
                      <a:prstDash val="solid"/>
                    </a:lnB>
                  </a:tcPr>
                </a:tc>
                <a:tc>
                  <a:txBody>
                    <a:bodyPr/>
                    <a:lstStyle/>
                    <a:p>
                      <a:pPr marR="3810" algn="ctr">
                        <a:lnSpc>
                          <a:spcPct val="100000"/>
                        </a:lnSpc>
                        <a:spcBef>
                          <a:spcPts val="315"/>
                        </a:spcBef>
                      </a:pPr>
                      <a:r>
                        <a:rPr sz="1600" dirty="0">
                          <a:latin typeface="Calibri"/>
                          <a:cs typeface="Calibri"/>
                        </a:rPr>
                        <a:t>x</a:t>
                      </a:r>
                      <a:r>
                        <a:rPr sz="1600" spc="-25" dirty="0">
                          <a:latin typeface="Calibri"/>
                          <a:cs typeface="Calibri"/>
                        </a:rPr>
                        <a:t> </a:t>
                      </a:r>
                      <a:r>
                        <a:rPr sz="1600" dirty="0">
                          <a:latin typeface="Calibri"/>
                          <a:cs typeface="Calibri"/>
                        </a:rPr>
                        <a:t>≤</a:t>
                      </a:r>
                      <a:r>
                        <a:rPr sz="1600" spc="-35" dirty="0">
                          <a:latin typeface="Calibri"/>
                          <a:cs typeface="Calibri"/>
                        </a:rPr>
                        <a:t> </a:t>
                      </a:r>
                      <a:r>
                        <a:rPr sz="1600" dirty="0">
                          <a:latin typeface="Calibri"/>
                          <a:cs typeface="Calibri"/>
                        </a:rPr>
                        <a:t>40.5</a:t>
                      </a:r>
                      <a:endParaRPr sz="1600">
                        <a:latin typeface="Calibri"/>
                        <a:cs typeface="Calibri"/>
                      </a:endParaRPr>
                    </a:p>
                  </a:txBody>
                  <a:tcPr marL="0" marR="0" marT="40005" marB="0">
                    <a:lnB w="6350">
                      <a:solidFill>
                        <a:srgbClr val="000000"/>
                      </a:solidFill>
                      <a:prstDash val="solid"/>
                    </a:lnB>
                  </a:tcPr>
                </a:tc>
                <a:tc>
                  <a:txBody>
                    <a:bodyPr/>
                    <a:lstStyle/>
                    <a:p>
                      <a:pPr marL="34290" algn="ctr">
                        <a:lnSpc>
                          <a:spcPct val="100000"/>
                        </a:lnSpc>
                        <a:spcBef>
                          <a:spcPts val="315"/>
                        </a:spcBef>
                      </a:pPr>
                      <a:r>
                        <a:rPr sz="1600" dirty="0">
                          <a:latin typeface="Calibri"/>
                          <a:cs typeface="Calibri"/>
                        </a:rPr>
                        <a:t>38</a:t>
                      </a:r>
                      <a:endParaRPr sz="1600">
                        <a:latin typeface="Calibri"/>
                        <a:cs typeface="Calibri"/>
                      </a:endParaRPr>
                    </a:p>
                  </a:txBody>
                  <a:tcPr marL="0" marR="0" marT="40005" marB="0">
                    <a:lnB w="6350">
                      <a:solidFill>
                        <a:srgbClr val="000000"/>
                      </a:solidFill>
                      <a:prstDash val="solid"/>
                    </a:lnB>
                  </a:tcPr>
                </a:tc>
                <a:tc>
                  <a:txBody>
                    <a:bodyPr/>
                    <a:lstStyle/>
                    <a:p>
                      <a:pPr>
                        <a:lnSpc>
                          <a:spcPct val="100000"/>
                        </a:lnSpc>
                      </a:pPr>
                      <a:endParaRPr sz="1900">
                        <a:latin typeface="Times New Roman"/>
                        <a:cs typeface="Times New Roman"/>
                      </a:endParaRPr>
                    </a:p>
                  </a:txBody>
                  <a:tcPr marL="0" marR="0" marT="0" marB="0">
                    <a:lnB w="6350">
                      <a:solidFill>
                        <a:srgbClr val="000000"/>
                      </a:solidFill>
                      <a:prstDash val="solid"/>
                    </a:lnB>
                  </a:tcPr>
                </a:tc>
              </a:tr>
              <a:tr h="163931">
                <a:tc>
                  <a:txBody>
                    <a:bodyPr/>
                    <a:lstStyle/>
                    <a:p>
                      <a:pPr>
                        <a:lnSpc>
                          <a:spcPct val="100000"/>
                        </a:lnSpc>
                      </a:pPr>
                      <a:endParaRPr sz="900">
                        <a:latin typeface="Times New Roman"/>
                        <a:cs typeface="Times New Roman"/>
                      </a:endParaRPr>
                    </a:p>
                  </a:txBody>
                  <a:tcPr marL="0" marR="0" marT="0" marB="0"/>
                </a:tc>
                <a:tc>
                  <a:txBody>
                    <a:bodyPr/>
                    <a:lstStyle/>
                    <a:p>
                      <a:pPr>
                        <a:lnSpc>
                          <a:spcPct val="100000"/>
                        </a:lnSpc>
                      </a:pPr>
                      <a:endParaRPr sz="900">
                        <a:latin typeface="Times New Roman"/>
                        <a:cs typeface="Times New Roman"/>
                      </a:endParaRPr>
                    </a:p>
                  </a:txBody>
                  <a:tcPr marL="0" marR="0" marT="0" marB="0">
                    <a:lnT w="6350">
                      <a:solidFill>
                        <a:srgbClr val="000000"/>
                      </a:solidFill>
                      <a:prstDash val="solid"/>
                    </a:lnT>
                  </a:tcPr>
                </a:tc>
                <a:tc gridSpan="5">
                  <a:txBody>
                    <a:bodyPr/>
                    <a:lstStyle/>
                    <a:p>
                      <a:pPr>
                        <a:lnSpc>
                          <a:spcPct val="100000"/>
                        </a:lnSpc>
                      </a:pPr>
                      <a:endParaRPr sz="900">
                        <a:latin typeface="Times New Roman"/>
                        <a:cs typeface="Times New Roman"/>
                      </a:endParaRPr>
                    </a:p>
                  </a:txBody>
                  <a:tcPr marL="0" marR="0" marT="0" marB="0">
                    <a:lnT w="6350">
                      <a:solidFill>
                        <a:srgbClr val="000000"/>
                      </a:solidFill>
                      <a:prstDash val="solid"/>
                    </a:lnT>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r>
              <a:tr h="283171">
                <a:tc>
                  <a:txBody>
                    <a:bodyPr/>
                    <a:lstStyle/>
                    <a:p>
                      <a:pPr>
                        <a:lnSpc>
                          <a:spcPct val="100000"/>
                        </a:lnSpc>
                      </a:pPr>
                      <a:endParaRPr sz="1700">
                        <a:latin typeface="Times New Roman"/>
                        <a:cs typeface="Times New Roman"/>
                      </a:endParaRPr>
                    </a:p>
                  </a:txBody>
                  <a:tcPr marL="0" marR="0" marT="0" marB="0"/>
                </a:tc>
                <a:tc>
                  <a:txBody>
                    <a:bodyPr/>
                    <a:lstStyle/>
                    <a:p>
                      <a:pPr marR="29209" algn="ctr">
                        <a:lnSpc>
                          <a:spcPts val="944"/>
                        </a:lnSpc>
                      </a:pPr>
                      <a:r>
                        <a:rPr sz="1600" dirty="0">
                          <a:latin typeface="Calibri"/>
                          <a:cs typeface="Calibri"/>
                        </a:rPr>
                        <a:t>41</a:t>
                      </a:r>
                      <a:r>
                        <a:rPr sz="1600" spc="-30" dirty="0">
                          <a:latin typeface="Calibri"/>
                          <a:cs typeface="Calibri"/>
                        </a:rPr>
                        <a:t> </a:t>
                      </a:r>
                      <a:r>
                        <a:rPr sz="1600" dirty="0">
                          <a:latin typeface="Calibri"/>
                          <a:cs typeface="Calibri"/>
                        </a:rPr>
                        <a:t>–</a:t>
                      </a:r>
                      <a:r>
                        <a:rPr sz="1600" spc="-40" dirty="0">
                          <a:latin typeface="Calibri"/>
                          <a:cs typeface="Calibri"/>
                        </a:rPr>
                        <a:t> </a:t>
                      </a:r>
                      <a:r>
                        <a:rPr sz="1600" dirty="0">
                          <a:latin typeface="Calibri"/>
                          <a:cs typeface="Calibri"/>
                        </a:rPr>
                        <a:t>45</a:t>
                      </a:r>
                      <a:endParaRPr sz="1600">
                        <a:latin typeface="Calibri"/>
                        <a:cs typeface="Calibri"/>
                      </a:endParaRPr>
                    </a:p>
                  </a:txBody>
                  <a:tcPr marL="0" marR="0" marT="0" marB="0"/>
                </a:tc>
                <a:tc>
                  <a:txBody>
                    <a:bodyPr/>
                    <a:lstStyle/>
                    <a:p>
                      <a:pPr marR="24130" algn="ctr">
                        <a:lnSpc>
                          <a:spcPts val="944"/>
                        </a:lnSpc>
                      </a:pPr>
                      <a:r>
                        <a:rPr sz="1600" dirty="0">
                          <a:latin typeface="Calibri"/>
                          <a:cs typeface="Calibri"/>
                        </a:rPr>
                        <a:t>2</a:t>
                      </a:r>
                      <a:endParaRPr sz="1600">
                        <a:latin typeface="Calibri"/>
                        <a:cs typeface="Calibri"/>
                      </a:endParaRPr>
                    </a:p>
                  </a:txBody>
                  <a:tcPr marL="0" marR="0" marT="0" marB="0"/>
                </a:tc>
                <a:tc>
                  <a:txBody>
                    <a:bodyPr/>
                    <a:lstStyle/>
                    <a:p>
                      <a:pPr marR="431800" algn="r">
                        <a:lnSpc>
                          <a:spcPts val="944"/>
                        </a:lnSpc>
                      </a:pPr>
                      <a:r>
                        <a:rPr sz="1600" dirty="0">
                          <a:latin typeface="Calibri"/>
                          <a:cs typeface="Calibri"/>
                        </a:rPr>
                        <a:t>45.5</a:t>
                      </a:r>
                      <a:endParaRPr sz="1600">
                        <a:latin typeface="Calibri"/>
                        <a:cs typeface="Calibri"/>
                      </a:endParaRPr>
                    </a:p>
                  </a:txBody>
                  <a:tcPr marL="0" marR="0" marT="0" marB="0"/>
                </a:tc>
                <a:tc>
                  <a:txBody>
                    <a:bodyPr/>
                    <a:lstStyle/>
                    <a:p>
                      <a:pPr marR="3810" algn="ctr">
                        <a:lnSpc>
                          <a:spcPts val="944"/>
                        </a:lnSpc>
                      </a:pPr>
                      <a:r>
                        <a:rPr sz="1600" dirty="0">
                          <a:latin typeface="Calibri"/>
                          <a:cs typeface="Calibri"/>
                        </a:rPr>
                        <a:t>x</a:t>
                      </a:r>
                      <a:r>
                        <a:rPr sz="1600" spc="-25" dirty="0">
                          <a:latin typeface="Calibri"/>
                          <a:cs typeface="Calibri"/>
                        </a:rPr>
                        <a:t> </a:t>
                      </a:r>
                      <a:r>
                        <a:rPr sz="1600" dirty="0">
                          <a:latin typeface="Calibri"/>
                          <a:cs typeface="Calibri"/>
                        </a:rPr>
                        <a:t>≤</a:t>
                      </a:r>
                      <a:r>
                        <a:rPr sz="1600" spc="-35" dirty="0">
                          <a:latin typeface="Calibri"/>
                          <a:cs typeface="Calibri"/>
                        </a:rPr>
                        <a:t> </a:t>
                      </a:r>
                      <a:r>
                        <a:rPr sz="1600" dirty="0">
                          <a:latin typeface="Calibri"/>
                          <a:cs typeface="Calibri"/>
                        </a:rPr>
                        <a:t>45.5</a:t>
                      </a:r>
                      <a:endParaRPr sz="1600">
                        <a:latin typeface="Calibri"/>
                        <a:cs typeface="Calibri"/>
                      </a:endParaRPr>
                    </a:p>
                  </a:txBody>
                  <a:tcPr marL="0" marR="0" marT="0" marB="0"/>
                </a:tc>
                <a:tc>
                  <a:txBody>
                    <a:bodyPr/>
                    <a:lstStyle/>
                    <a:p>
                      <a:pPr marL="34290" algn="ctr">
                        <a:lnSpc>
                          <a:spcPts val="944"/>
                        </a:lnSpc>
                      </a:pPr>
                      <a:r>
                        <a:rPr sz="1600" dirty="0">
                          <a:latin typeface="Calibri"/>
                          <a:cs typeface="Calibri"/>
                        </a:rPr>
                        <a:t>40</a:t>
                      </a:r>
                      <a:endParaRPr sz="1600">
                        <a:latin typeface="Calibri"/>
                        <a:cs typeface="Calibri"/>
                      </a:endParaRPr>
                    </a:p>
                  </a:txBody>
                  <a:tcPr marL="0" marR="0" marT="0" marB="0"/>
                </a:tc>
                <a:tc>
                  <a:txBody>
                    <a:bodyPr/>
                    <a:lstStyle/>
                    <a:p>
                      <a:pPr>
                        <a:lnSpc>
                          <a:spcPct val="100000"/>
                        </a:lnSpc>
                      </a:pPr>
                      <a:endParaRPr sz="1700">
                        <a:latin typeface="Times New Roman"/>
                        <a:cs typeface="Times New Roman"/>
                      </a:endParaRPr>
                    </a:p>
                  </a:txBody>
                  <a:tcPr marL="0" marR="0" marT="0" marB="0"/>
                </a:tc>
              </a:tr>
            </a:tbl>
          </a:graphicData>
        </a:graphic>
      </p:graphicFrame>
      <p:grpSp>
        <p:nvGrpSpPr>
          <p:cNvPr id="11" name="object 11"/>
          <p:cNvGrpSpPr/>
          <p:nvPr/>
        </p:nvGrpSpPr>
        <p:grpSpPr>
          <a:xfrm>
            <a:off x="4687491" y="2418449"/>
            <a:ext cx="4260056" cy="4218305"/>
            <a:chOff x="6249987" y="2418448"/>
            <a:chExt cx="5680075" cy="4218305"/>
          </a:xfrm>
        </p:grpSpPr>
        <p:sp>
          <p:nvSpPr>
            <p:cNvPr id="12" name="object 12"/>
            <p:cNvSpPr/>
            <p:nvPr/>
          </p:nvSpPr>
          <p:spPr>
            <a:xfrm>
              <a:off x="6254750" y="2423210"/>
              <a:ext cx="5614035" cy="3930650"/>
            </a:xfrm>
            <a:custGeom>
              <a:avLst/>
              <a:gdLst/>
              <a:ahLst/>
              <a:cxnLst/>
              <a:rect l="l" t="t" r="r" b="b"/>
              <a:pathLst>
                <a:path w="5614034" h="3930650">
                  <a:moveTo>
                    <a:pt x="5613527" y="0"/>
                  </a:moveTo>
                  <a:lnTo>
                    <a:pt x="0" y="0"/>
                  </a:lnTo>
                  <a:lnTo>
                    <a:pt x="0" y="3766337"/>
                  </a:lnTo>
                  <a:lnTo>
                    <a:pt x="0" y="3930269"/>
                  </a:lnTo>
                  <a:lnTo>
                    <a:pt x="1080643" y="3930269"/>
                  </a:lnTo>
                  <a:lnTo>
                    <a:pt x="1080643" y="3766337"/>
                  </a:lnTo>
                  <a:lnTo>
                    <a:pt x="5613527" y="3766337"/>
                  </a:lnTo>
                  <a:lnTo>
                    <a:pt x="5613527" y="0"/>
                  </a:lnTo>
                  <a:close/>
                </a:path>
              </a:pathLst>
            </a:custGeom>
            <a:solidFill>
              <a:srgbClr val="FFFFFF"/>
            </a:solidFill>
          </p:spPr>
          <p:txBody>
            <a:bodyPr wrap="square" lIns="0" tIns="0" rIns="0" bIns="0" rtlCol="0"/>
            <a:lstStyle/>
            <a:p>
              <a:endParaRPr/>
            </a:p>
          </p:txBody>
        </p:sp>
        <p:sp>
          <p:nvSpPr>
            <p:cNvPr id="13" name="object 13"/>
            <p:cNvSpPr/>
            <p:nvPr/>
          </p:nvSpPr>
          <p:spPr>
            <a:xfrm>
              <a:off x="6254750" y="2423210"/>
              <a:ext cx="5614035" cy="3930650"/>
            </a:xfrm>
            <a:custGeom>
              <a:avLst/>
              <a:gdLst/>
              <a:ahLst/>
              <a:cxnLst/>
              <a:rect l="l" t="t" r="r" b="b"/>
              <a:pathLst>
                <a:path w="5614034" h="3930650">
                  <a:moveTo>
                    <a:pt x="0" y="3930269"/>
                  </a:moveTo>
                  <a:lnTo>
                    <a:pt x="5613527" y="3930269"/>
                  </a:lnTo>
                  <a:lnTo>
                    <a:pt x="5613527" y="0"/>
                  </a:lnTo>
                  <a:lnTo>
                    <a:pt x="0" y="0"/>
                  </a:lnTo>
                  <a:lnTo>
                    <a:pt x="0" y="3930269"/>
                  </a:lnTo>
                  <a:close/>
                </a:path>
              </a:pathLst>
            </a:custGeom>
            <a:ln w="9525">
              <a:solidFill>
                <a:srgbClr val="C7C9C9"/>
              </a:solidFill>
            </a:ln>
          </p:spPr>
          <p:txBody>
            <a:bodyPr wrap="square" lIns="0" tIns="0" rIns="0" bIns="0" rtlCol="0"/>
            <a:lstStyle/>
            <a:p>
              <a:endParaRPr/>
            </a:p>
          </p:txBody>
        </p:sp>
        <p:sp>
          <p:nvSpPr>
            <p:cNvPr id="14" name="object 14"/>
            <p:cNvSpPr/>
            <p:nvPr/>
          </p:nvSpPr>
          <p:spPr>
            <a:xfrm>
              <a:off x="6297295" y="3506914"/>
              <a:ext cx="5632450" cy="3129915"/>
            </a:xfrm>
            <a:custGeom>
              <a:avLst/>
              <a:gdLst/>
              <a:ahLst/>
              <a:cxnLst/>
              <a:rect l="l" t="t" r="r" b="b"/>
              <a:pathLst>
                <a:path w="5632450" h="3129915">
                  <a:moveTo>
                    <a:pt x="2101380" y="2682633"/>
                  </a:moveTo>
                  <a:lnTo>
                    <a:pt x="1038136" y="2682633"/>
                  </a:lnTo>
                  <a:lnTo>
                    <a:pt x="0" y="2682633"/>
                  </a:lnTo>
                  <a:lnTo>
                    <a:pt x="0" y="3129737"/>
                  </a:lnTo>
                  <a:lnTo>
                    <a:pt x="1038098" y="3129737"/>
                  </a:lnTo>
                  <a:lnTo>
                    <a:pt x="2101380" y="3129737"/>
                  </a:lnTo>
                  <a:lnTo>
                    <a:pt x="2101380" y="2682633"/>
                  </a:lnTo>
                  <a:close/>
                </a:path>
                <a:path w="5632450" h="3129915">
                  <a:moveTo>
                    <a:pt x="2101380" y="1788414"/>
                  </a:moveTo>
                  <a:lnTo>
                    <a:pt x="1038136" y="1788414"/>
                  </a:lnTo>
                  <a:lnTo>
                    <a:pt x="0" y="1788414"/>
                  </a:lnTo>
                  <a:lnTo>
                    <a:pt x="0" y="2235517"/>
                  </a:lnTo>
                  <a:lnTo>
                    <a:pt x="1038098" y="2235517"/>
                  </a:lnTo>
                  <a:lnTo>
                    <a:pt x="2101380" y="2235517"/>
                  </a:lnTo>
                  <a:lnTo>
                    <a:pt x="2101380" y="1788414"/>
                  </a:lnTo>
                  <a:close/>
                </a:path>
                <a:path w="5632450" h="3129915">
                  <a:moveTo>
                    <a:pt x="2101380" y="894219"/>
                  </a:moveTo>
                  <a:lnTo>
                    <a:pt x="1038136" y="894219"/>
                  </a:lnTo>
                  <a:lnTo>
                    <a:pt x="0" y="894219"/>
                  </a:lnTo>
                  <a:lnTo>
                    <a:pt x="0" y="1341310"/>
                  </a:lnTo>
                  <a:lnTo>
                    <a:pt x="1038098" y="1341310"/>
                  </a:lnTo>
                  <a:lnTo>
                    <a:pt x="2101380" y="1341310"/>
                  </a:lnTo>
                  <a:lnTo>
                    <a:pt x="2101380" y="894219"/>
                  </a:lnTo>
                  <a:close/>
                </a:path>
                <a:path w="5632450" h="3129915">
                  <a:moveTo>
                    <a:pt x="2101380" y="0"/>
                  </a:moveTo>
                  <a:lnTo>
                    <a:pt x="1038136" y="0"/>
                  </a:lnTo>
                  <a:lnTo>
                    <a:pt x="0" y="0"/>
                  </a:lnTo>
                  <a:lnTo>
                    <a:pt x="0" y="447103"/>
                  </a:lnTo>
                  <a:lnTo>
                    <a:pt x="1038098" y="447103"/>
                  </a:lnTo>
                  <a:lnTo>
                    <a:pt x="2101380" y="447103"/>
                  </a:lnTo>
                  <a:lnTo>
                    <a:pt x="2101380" y="0"/>
                  </a:lnTo>
                  <a:close/>
                </a:path>
                <a:path w="5632450" h="3129915">
                  <a:moveTo>
                    <a:pt x="5632208" y="2682633"/>
                  </a:moveTo>
                  <a:lnTo>
                    <a:pt x="5632208" y="2682633"/>
                  </a:lnTo>
                  <a:lnTo>
                    <a:pt x="2101469" y="2682633"/>
                  </a:lnTo>
                  <a:lnTo>
                    <a:pt x="2101469" y="3129737"/>
                  </a:lnTo>
                  <a:lnTo>
                    <a:pt x="5632208" y="3129737"/>
                  </a:lnTo>
                  <a:lnTo>
                    <a:pt x="5632208" y="2682633"/>
                  </a:lnTo>
                  <a:close/>
                </a:path>
                <a:path w="5632450" h="3129915">
                  <a:moveTo>
                    <a:pt x="5632208" y="1788414"/>
                  </a:moveTo>
                  <a:lnTo>
                    <a:pt x="5632208" y="1788414"/>
                  </a:lnTo>
                  <a:lnTo>
                    <a:pt x="2101469" y="1788414"/>
                  </a:lnTo>
                  <a:lnTo>
                    <a:pt x="2101469" y="2235517"/>
                  </a:lnTo>
                  <a:lnTo>
                    <a:pt x="5632208" y="2235517"/>
                  </a:lnTo>
                  <a:lnTo>
                    <a:pt x="5632208" y="1788414"/>
                  </a:lnTo>
                  <a:close/>
                </a:path>
                <a:path w="5632450" h="3129915">
                  <a:moveTo>
                    <a:pt x="5632208" y="894219"/>
                  </a:moveTo>
                  <a:lnTo>
                    <a:pt x="5632208" y="894219"/>
                  </a:lnTo>
                  <a:lnTo>
                    <a:pt x="2101469" y="894219"/>
                  </a:lnTo>
                  <a:lnTo>
                    <a:pt x="2101469" y="1341310"/>
                  </a:lnTo>
                  <a:lnTo>
                    <a:pt x="5632208" y="1341310"/>
                  </a:lnTo>
                  <a:lnTo>
                    <a:pt x="5632208" y="894219"/>
                  </a:lnTo>
                  <a:close/>
                </a:path>
                <a:path w="5632450" h="3129915">
                  <a:moveTo>
                    <a:pt x="5632208" y="0"/>
                  </a:moveTo>
                  <a:lnTo>
                    <a:pt x="5632208" y="0"/>
                  </a:lnTo>
                  <a:lnTo>
                    <a:pt x="2101469" y="0"/>
                  </a:lnTo>
                  <a:lnTo>
                    <a:pt x="2101469" y="447103"/>
                  </a:lnTo>
                  <a:lnTo>
                    <a:pt x="5632208" y="447103"/>
                  </a:lnTo>
                  <a:lnTo>
                    <a:pt x="5632208" y="0"/>
                  </a:lnTo>
                  <a:close/>
                </a:path>
              </a:pathLst>
            </a:custGeom>
            <a:solidFill>
              <a:srgbClr val="F1F1F1"/>
            </a:solidFill>
          </p:spPr>
          <p:txBody>
            <a:bodyPr wrap="square" lIns="0" tIns="0" rIns="0" bIns="0" rtlCol="0"/>
            <a:lstStyle/>
            <a:p>
              <a:endParaRPr/>
            </a:p>
          </p:txBody>
        </p:sp>
      </p:grpSp>
    </p:spTree>
    <p:extLst>
      <p:ext uri="{BB962C8B-B14F-4D97-AF65-F5344CB8AC3E}">
        <p14:creationId xmlns:p14="http://schemas.microsoft.com/office/powerpoint/2010/main" val="375586179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0" y="0"/>
            <a:ext cx="9144000" cy="6858000"/>
          </a:xfrm>
          <a:custGeom>
            <a:avLst/>
            <a:gdLst/>
            <a:ahLst/>
            <a:cxnLst/>
            <a:rect l="l" t="t" r="r" b="b"/>
            <a:pathLst>
              <a:path w="12192000" h="6858000">
                <a:moveTo>
                  <a:pt x="12192000" y="0"/>
                </a:moveTo>
                <a:lnTo>
                  <a:pt x="0" y="0"/>
                </a:lnTo>
                <a:lnTo>
                  <a:pt x="0" y="6857996"/>
                </a:lnTo>
                <a:lnTo>
                  <a:pt x="12192000" y="6857996"/>
                </a:lnTo>
                <a:lnTo>
                  <a:pt x="12192000" y="0"/>
                </a:lnTo>
                <a:close/>
              </a:path>
            </a:pathLst>
          </a:custGeom>
          <a:solidFill>
            <a:srgbClr val="000000">
              <a:alpha val="14901"/>
            </a:srgbClr>
          </a:solidFill>
        </p:spPr>
        <p:txBody>
          <a:bodyPr wrap="square" lIns="0" tIns="0" rIns="0" bIns="0" rtlCol="0"/>
          <a:lstStyle/>
          <a:p>
            <a:endParaRPr/>
          </a:p>
        </p:txBody>
      </p:sp>
      <p:grpSp>
        <p:nvGrpSpPr>
          <p:cNvPr id="3" name="object 3"/>
          <p:cNvGrpSpPr/>
          <p:nvPr/>
        </p:nvGrpSpPr>
        <p:grpSpPr>
          <a:xfrm>
            <a:off x="436627" y="594360"/>
            <a:ext cx="8289131" cy="5709285"/>
            <a:chOff x="582168" y="594359"/>
            <a:chExt cx="11052175" cy="5709285"/>
          </a:xfrm>
        </p:grpSpPr>
        <p:pic>
          <p:nvPicPr>
            <p:cNvPr id="4" name="object 4"/>
            <p:cNvPicPr/>
            <p:nvPr/>
          </p:nvPicPr>
          <p:blipFill>
            <a:blip r:embed="rId2" cstate="print"/>
            <a:stretch>
              <a:fillRect/>
            </a:stretch>
          </p:blipFill>
          <p:spPr>
            <a:xfrm>
              <a:off x="582168" y="594359"/>
              <a:ext cx="11052048" cy="5708904"/>
            </a:xfrm>
            <a:prstGeom prst="rect">
              <a:avLst/>
            </a:prstGeom>
          </p:spPr>
        </p:pic>
        <p:sp>
          <p:nvSpPr>
            <p:cNvPr id="5" name="object 5"/>
            <p:cNvSpPr/>
            <p:nvPr/>
          </p:nvSpPr>
          <p:spPr>
            <a:xfrm>
              <a:off x="646747" y="640054"/>
              <a:ext cx="10920730" cy="5577840"/>
            </a:xfrm>
            <a:custGeom>
              <a:avLst/>
              <a:gdLst/>
              <a:ahLst/>
              <a:cxnLst/>
              <a:rect l="l" t="t" r="r" b="b"/>
              <a:pathLst>
                <a:path w="10920730" h="5577840">
                  <a:moveTo>
                    <a:pt x="10920476" y="0"/>
                  </a:moveTo>
                  <a:lnTo>
                    <a:pt x="0" y="0"/>
                  </a:lnTo>
                  <a:lnTo>
                    <a:pt x="0" y="5577840"/>
                  </a:lnTo>
                  <a:lnTo>
                    <a:pt x="10920476" y="5577840"/>
                  </a:lnTo>
                  <a:lnTo>
                    <a:pt x="10920476" y="0"/>
                  </a:lnTo>
                  <a:close/>
                </a:path>
              </a:pathLst>
            </a:custGeom>
            <a:solidFill>
              <a:srgbClr val="FFFFFF"/>
            </a:solidFill>
          </p:spPr>
          <p:txBody>
            <a:bodyPr wrap="square" lIns="0" tIns="0" rIns="0" bIns="0" rtlCol="0"/>
            <a:lstStyle/>
            <a:p>
              <a:endParaRPr/>
            </a:p>
          </p:txBody>
        </p:sp>
        <p:sp>
          <p:nvSpPr>
            <p:cNvPr id="6" name="object 6"/>
            <p:cNvSpPr/>
            <p:nvPr/>
          </p:nvSpPr>
          <p:spPr>
            <a:xfrm>
              <a:off x="646747" y="640054"/>
              <a:ext cx="10920730" cy="5577840"/>
            </a:xfrm>
            <a:custGeom>
              <a:avLst/>
              <a:gdLst/>
              <a:ahLst/>
              <a:cxnLst/>
              <a:rect l="l" t="t" r="r" b="b"/>
              <a:pathLst>
                <a:path w="10920730" h="5577840">
                  <a:moveTo>
                    <a:pt x="0" y="5577840"/>
                  </a:moveTo>
                  <a:lnTo>
                    <a:pt x="10920476" y="5577840"/>
                  </a:lnTo>
                  <a:lnTo>
                    <a:pt x="10920476" y="0"/>
                  </a:lnTo>
                  <a:lnTo>
                    <a:pt x="0" y="0"/>
                  </a:lnTo>
                  <a:lnTo>
                    <a:pt x="0" y="5577840"/>
                  </a:lnTo>
                  <a:close/>
                </a:path>
              </a:pathLst>
            </a:custGeom>
            <a:ln w="9525">
              <a:solidFill>
                <a:srgbClr val="7E7E7E"/>
              </a:solidFill>
            </a:ln>
          </p:spPr>
          <p:txBody>
            <a:bodyPr wrap="square" lIns="0" tIns="0" rIns="0" bIns="0" rtlCol="0"/>
            <a:lstStyle/>
            <a:p>
              <a:endParaRPr/>
            </a:p>
          </p:txBody>
        </p:sp>
        <p:sp>
          <p:nvSpPr>
            <p:cNvPr id="7" name="object 7"/>
            <p:cNvSpPr/>
            <p:nvPr/>
          </p:nvSpPr>
          <p:spPr>
            <a:xfrm>
              <a:off x="968019" y="960107"/>
              <a:ext cx="10278110" cy="4937760"/>
            </a:xfrm>
            <a:custGeom>
              <a:avLst/>
              <a:gdLst/>
              <a:ahLst/>
              <a:cxnLst/>
              <a:rect l="l" t="t" r="r" b="b"/>
              <a:pathLst>
                <a:path w="10278110" h="4937760">
                  <a:moveTo>
                    <a:pt x="10277856" y="0"/>
                  </a:moveTo>
                  <a:lnTo>
                    <a:pt x="0" y="0"/>
                  </a:lnTo>
                  <a:lnTo>
                    <a:pt x="0" y="4937760"/>
                  </a:lnTo>
                  <a:lnTo>
                    <a:pt x="10277856" y="4937760"/>
                  </a:lnTo>
                  <a:lnTo>
                    <a:pt x="10277856" y="0"/>
                  </a:lnTo>
                  <a:close/>
                </a:path>
              </a:pathLst>
            </a:custGeom>
            <a:solidFill>
              <a:srgbClr val="E7E6E6"/>
            </a:solidFill>
          </p:spPr>
          <p:txBody>
            <a:bodyPr wrap="square" lIns="0" tIns="0" rIns="0" bIns="0" rtlCol="0"/>
            <a:lstStyle/>
            <a:p>
              <a:endParaRPr/>
            </a:p>
          </p:txBody>
        </p:sp>
      </p:grpSp>
      <p:sp>
        <p:nvSpPr>
          <p:cNvPr id="8" name="object 8"/>
          <p:cNvSpPr txBox="1">
            <a:spLocks noGrp="1"/>
          </p:cNvSpPr>
          <p:nvPr>
            <p:ph type="title"/>
          </p:nvPr>
        </p:nvSpPr>
        <p:spPr>
          <a:xfrm>
            <a:off x="827584" y="1224693"/>
            <a:ext cx="7607013" cy="1319592"/>
          </a:xfrm>
          <a:prstGeom prst="rect">
            <a:avLst/>
          </a:prstGeom>
        </p:spPr>
        <p:txBody>
          <a:bodyPr vert="horz" wrap="square" lIns="0" tIns="87630" rIns="0" bIns="0" rtlCol="0">
            <a:spAutoFit/>
          </a:bodyPr>
          <a:lstStyle/>
          <a:p>
            <a:pPr marL="3164840" marR="5080" indent="-3152775">
              <a:lnSpc>
                <a:spcPts val="4750"/>
              </a:lnSpc>
              <a:spcBef>
                <a:spcPts val="690"/>
              </a:spcBef>
            </a:pPr>
            <a:r>
              <a:rPr sz="4400" spc="-25" dirty="0">
                <a:solidFill>
                  <a:srgbClr val="000000"/>
                </a:solidFill>
                <a:latin typeface="Calibri Light"/>
                <a:cs typeface="Calibri Light"/>
              </a:rPr>
              <a:t>TYPES</a:t>
            </a:r>
            <a:r>
              <a:rPr sz="4400" spc="40" dirty="0">
                <a:solidFill>
                  <a:srgbClr val="000000"/>
                </a:solidFill>
                <a:latin typeface="Calibri Light"/>
                <a:cs typeface="Calibri Light"/>
              </a:rPr>
              <a:t> </a:t>
            </a:r>
            <a:r>
              <a:rPr sz="4400" spc="-10" dirty="0">
                <a:solidFill>
                  <a:srgbClr val="000000"/>
                </a:solidFill>
                <a:latin typeface="Calibri Light"/>
                <a:cs typeface="Calibri Light"/>
              </a:rPr>
              <a:t>OF</a:t>
            </a:r>
            <a:r>
              <a:rPr sz="4400" spc="5" dirty="0">
                <a:solidFill>
                  <a:srgbClr val="000000"/>
                </a:solidFill>
                <a:latin typeface="Calibri Light"/>
                <a:cs typeface="Calibri Light"/>
              </a:rPr>
              <a:t> </a:t>
            </a:r>
            <a:r>
              <a:rPr sz="4400" spc="-45" dirty="0">
                <a:solidFill>
                  <a:srgbClr val="000000"/>
                </a:solidFill>
                <a:latin typeface="Calibri Light"/>
                <a:cs typeface="Calibri Light"/>
              </a:rPr>
              <a:t>CUMILATIVE</a:t>
            </a:r>
            <a:r>
              <a:rPr sz="4400" spc="-10" dirty="0">
                <a:solidFill>
                  <a:srgbClr val="000000"/>
                </a:solidFill>
                <a:latin typeface="Calibri Light"/>
                <a:cs typeface="Calibri Light"/>
              </a:rPr>
              <a:t> </a:t>
            </a:r>
            <a:r>
              <a:rPr sz="4400" spc="-25" dirty="0">
                <a:solidFill>
                  <a:srgbClr val="000000"/>
                </a:solidFill>
                <a:latin typeface="Calibri Light"/>
                <a:cs typeface="Calibri Light"/>
              </a:rPr>
              <a:t>FREQUENCY </a:t>
            </a:r>
            <a:r>
              <a:rPr sz="4400" spc="-980" dirty="0">
                <a:solidFill>
                  <a:srgbClr val="000000"/>
                </a:solidFill>
                <a:latin typeface="Calibri Light"/>
                <a:cs typeface="Calibri Light"/>
              </a:rPr>
              <a:t> </a:t>
            </a:r>
            <a:r>
              <a:rPr sz="4400" spc="-30" dirty="0">
                <a:solidFill>
                  <a:srgbClr val="000000"/>
                </a:solidFill>
                <a:latin typeface="Calibri Light"/>
                <a:cs typeface="Calibri Light"/>
              </a:rPr>
              <a:t>CURVE</a:t>
            </a:r>
            <a:endParaRPr sz="4400" dirty="0">
              <a:latin typeface="Calibri Light"/>
              <a:cs typeface="Calibri Light"/>
            </a:endParaRPr>
          </a:p>
        </p:txBody>
      </p:sp>
      <p:sp>
        <p:nvSpPr>
          <p:cNvPr id="9" name="object 9"/>
          <p:cNvSpPr/>
          <p:nvPr/>
        </p:nvSpPr>
        <p:spPr>
          <a:xfrm>
            <a:off x="1021841" y="2621026"/>
            <a:ext cx="7132320" cy="0"/>
          </a:xfrm>
          <a:custGeom>
            <a:avLst/>
            <a:gdLst/>
            <a:ahLst/>
            <a:cxnLst/>
            <a:rect l="l" t="t" r="r" b="b"/>
            <a:pathLst>
              <a:path w="9509760">
                <a:moveTo>
                  <a:pt x="0" y="0"/>
                </a:moveTo>
                <a:lnTo>
                  <a:pt x="9509760" y="0"/>
                </a:lnTo>
              </a:path>
            </a:pathLst>
          </a:custGeom>
          <a:ln w="19050">
            <a:solidFill>
              <a:srgbClr val="7E7E7E"/>
            </a:solidFill>
          </a:ln>
        </p:spPr>
        <p:txBody>
          <a:bodyPr wrap="square" lIns="0" tIns="0" rIns="0" bIns="0" rtlCol="0"/>
          <a:lstStyle/>
          <a:p>
            <a:endParaRPr/>
          </a:p>
        </p:txBody>
      </p:sp>
      <p:sp>
        <p:nvSpPr>
          <p:cNvPr id="10" name="object 10"/>
          <p:cNvSpPr txBox="1"/>
          <p:nvPr/>
        </p:nvSpPr>
        <p:spPr>
          <a:xfrm>
            <a:off x="956786" y="2845436"/>
            <a:ext cx="7223760" cy="3183949"/>
          </a:xfrm>
          <a:prstGeom prst="rect">
            <a:avLst/>
          </a:prstGeom>
        </p:spPr>
        <p:txBody>
          <a:bodyPr vert="horz" wrap="square" lIns="0" tIns="45720" rIns="0" bIns="0" rtlCol="0">
            <a:spAutoFit/>
          </a:bodyPr>
          <a:lstStyle/>
          <a:p>
            <a:pPr marL="241300" marR="507365" indent="-228600">
              <a:lnSpc>
                <a:spcPts val="2039"/>
              </a:lnSpc>
              <a:spcBef>
                <a:spcPts val="360"/>
              </a:spcBef>
              <a:buFont typeface="Arial MT"/>
              <a:buChar char="•"/>
              <a:tabLst>
                <a:tab pos="240665" algn="l"/>
                <a:tab pos="241300" algn="l"/>
              </a:tabLst>
            </a:pPr>
            <a:r>
              <a:rPr sz="1900" spc="-15" dirty="0">
                <a:latin typeface="Calibri"/>
                <a:cs typeface="Calibri"/>
              </a:rPr>
              <a:t>By</a:t>
            </a:r>
            <a:r>
              <a:rPr sz="1900" spc="5" dirty="0">
                <a:latin typeface="Calibri"/>
                <a:cs typeface="Calibri"/>
              </a:rPr>
              <a:t> </a:t>
            </a:r>
            <a:r>
              <a:rPr sz="1900" spc="-5" dirty="0">
                <a:latin typeface="Calibri"/>
                <a:cs typeface="Calibri"/>
              </a:rPr>
              <a:t>joining</a:t>
            </a:r>
            <a:r>
              <a:rPr sz="1900" dirty="0">
                <a:latin typeface="Calibri"/>
                <a:cs typeface="Calibri"/>
              </a:rPr>
              <a:t> </a:t>
            </a:r>
            <a:r>
              <a:rPr sz="1900" spc="-5" dirty="0">
                <a:latin typeface="Calibri"/>
                <a:cs typeface="Calibri"/>
              </a:rPr>
              <a:t>the</a:t>
            </a:r>
            <a:r>
              <a:rPr sz="1900" spc="-10" dirty="0">
                <a:latin typeface="Calibri"/>
                <a:cs typeface="Calibri"/>
              </a:rPr>
              <a:t> </a:t>
            </a:r>
            <a:r>
              <a:rPr sz="1900" spc="-5" dirty="0">
                <a:latin typeface="Calibri"/>
                <a:cs typeface="Calibri"/>
              </a:rPr>
              <a:t>points</a:t>
            </a:r>
            <a:r>
              <a:rPr sz="1900" dirty="0">
                <a:latin typeface="Calibri"/>
                <a:cs typeface="Calibri"/>
              </a:rPr>
              <a:t> </a:t>
            </a:r>
            <a:r>
              <a:rPr sz="1900" spc="-5" dirty="0">
                <a:latin typeface="Calibri"/>
                <a:cs typeface="Calibri"/>
              </a:rPr>
              <a:t>the</a:t>
            </a:r>
            <a:r>
              <a:rPr sz="1900" spc="-10" dirty="0">
                <a:latin typeface="Calibri"/>
                <a:cs typeface="Calibri"/>
              </a:rPr>
              <a:t> </a:t>
            </a:r>
            <a:r>
              <a:rPr sz="1900" dirty="0">
                <a:latin typeface="Calibri"/>
                <a:cs typeface="Calibri"/>
              </a:rPr>
              <a:t>curve</a:t>
            </a:r>
            <a:r>
              <a:rPr sz="1900" spc="-10" dirty="0">
                <a:latin typeface="Calibri"/>
                <a:cs typeface="Calibri"/>
              </a:rPr>
              <a:t> </a:t>
            </a:r>
            <a:r>
              <a:rPr sz="1900" spc="-5" dirty="0">
                <a:latin typeface="Calibri"/>
                <a:cs typeface="Calibri"/>
              </a:rPr>
              <a:t>so</a:t>
            </a:r>
            <a:r>
              <a:rPr sz="1900" spc="-15" dirty="0">
                <a:latin typeface="Calibri"/>
                <a:cs typeface="Calibri"/>
              </a:rPr>
              <a:t> </a:t>
            </a:r>
            <a:r>
              <a:rPr sz="1900" spc="-5" dirty="0">
                <a:latin typeface="Calibri"/>
                <a:cs typeface="Calibri"/>
              </a:rPr>
              <a:t>obtained</a:t>
            </a:r>
            <a:r>
              <a:rPr sz="1900" spc="-15" dirty="0">
                <a:latin typeface="Calibri"/>
                <a:cs typeface="Calibri"/>
              </a:rPr>
              <a:t> </a:t>
            </a:r>
            <a:r>
              <a:rPr sz="1900" spc="-5" dirty="0">
                <a:latin typeface="Calibri"/>
                <a:cs typeface="Calibri"/>
              </a:rPr>
              <a:t>is</a:t>
            </a:r>
            <a:r>
              <a:rPr sz="1900" dirty="0">
                <a:latin typeface="Calibri"/>
                <a:cs typeface="Calibri"/>
              </a:rPr>
              <a:t> </a:t>
            </a:r>
            <a:r>
              <a:rPr sz="1900" spc="-10" dirty="0">
                <a:latin typeface="Calibri"/>
                <a:cs typeface="Calibri"/>
              </a:rPr>
              <a:t>called</a:t>
            </a:r>
            <a:r>
              <a:rPr sz="1900" spc="35" dirty="0">
                <a:latin typeface="Calibri"/>
                <a:cs typeface="Calibri"/>
              </a:rPr>
              <a:t> </a:t>
            </a:r>
            <a:r>
              <a:rPr sz="1900" spc="-5" dirty="0">
                <a:latin typeface="Calibri"/>
                <a:cs typeface="Calibri"/>
              </a:rPr>
              <a:t>a</a:t>
            </a:r>
            <a:r>
              <a:rPr sz="1900" dirty="0">
                <a:latin typeface="Calibri"/>
                <a:cs typeface="Calibri"/>
              </a:rPr>
              <a:t> </a:t>
            </a:r>
            <a:r>
              <a:rPr sz="1900" spc="-10" dirty="0">
                <a:latin typeface="Calibri"/>
                <a:cs typeface="Calibri"/>
              </a:rPr>
              <a:t>cumulative</a:t>
            </a:r>
            <a:r>
              <a:rPr sz="1900" spc="15" dirty="0">
                <a:latin typeface="Calibri"/>
                <a:cs typeface="Calibri"/>
              </a:rPr>
              <a:t> </a:t>
            </a:r>
            <a:r>
              <a:rPr sz="1900" spc="-5" dirty="0">
                <a:latin typeface="Calibri"/>
                <a:cs typeface="Calibri"/>
              </a:rPr>
              <a:t>frequency</a:t>
            </a:r>
            <a:r>
              <a:rPr sz="1900" spc="5" dirty="0">
                <a:latin typeface="Calibri"/>
                <a:cs typeface="Calibri"/>
              </a:rPr>
              <a:t> </a:t>
            </a:r>
            <a:r>
              <a:rPr sz="1900" dirty="0">
                <a:latin typeface="Calibri"/>
                <a:cs typeface="Calibri"/>
              </a:rPr>
              <a:t>curve</a:t>
            </a:r>
            <a:r>
              <a:rPr sz="1900" spc="-5" dirty="0">
                <a:latin typeface="Calibri"/>
                <a:cs typeface="Calibri"/>
              </a:rPr>
              <a:t> </a:t>
            </a:r>
            <a:r>
              <a:rPr sz="1900" dirty="0">
                <a:latin typeface="Calibri"/>
                <a:cs typeface="Calibri"/>
              </a:rPr>
              <a:t>or</a:t>
            </a:r>
            <a:r>
              <a:rPr sz="1900" spc="40" dirty="0">
                <a:latin typeface="Calibri"/>
                <a:cs typeface="Calibri"/>
              </a:rPr>
              <a:t> </a:t>
            </a:r>
            <a:r>
              <a:rPr sz="1900" b="1" spc="-15" dirty="0">
                <a:latin typeface="Calibri"/>
                <a:cs typeface="Calibri"/>
              </a:rPr>
              <a:t>ogive</a:t>
            </a:r>
            <a:r>
              <a:rPr sz="1900" spc="-15" dirty="0">
                <a:latin typeface="Calibri"/>
                <a:cs typeface="Calibri"/>
              </a:rPr>
              <a:t>. </a:t>
            </a:r>
            <a:r>
              <a:rPr sz="1900" spc="-415" dirty="0">
                <a:latin typeface="Calibri"/>
                <a:cs typeface="Calibri"/>
              </a:rPr>
              <a:t> </a:t>
            </a:r>
            <a:r>
              <a:rPr sz="1900" spc="-5" dirty="0">
                <a:latin typeface="Calibri"/>
                <a:cs typeface="Calibri"/>
              </a:rPr>
              <a:t>There</a:t>
            </a:r>
            <a:r>
              <a:rPr sz="1900" spc="-15" dirty="0">
                <a:latin typeface="Calibri"/>
                <a:cs typeface="Calibri"/>
              </a:rPr>
              <a:t> </a:t>
            </a:r>
            <a:r>
              <a:rPr sz="1900" spc="-10" dirty="0">
                <a:latin typeface="Calibri"/>
                <a:cs typeface="Calibri"/>
              </a:rPr>
              <a:t>are </a:t>
            </a:r>
            <a:r>
              <a:rPr sz="1900" spc="-20" dirty="0">
                <a:latin typeface="Calibri"/>
                <a:cs typeface="Calibri"/>
              </a:rPr>
              <a:t>two</a:t>
            </a:r>
            <a:r>
              <a:rPr sz="1900" spc="30" dirty="0">
                <a:latin typeface="Calibri"/>
                <a:cs typeface="Calibri"/>
              </a:rPr>
              <a:t> </a:t>
            </a:r>
            <a:r>
              <a:rPr sz="1900" spc="-5" dirty="0">
                <a:latin typeface="Calibri"/>
                <a:cs typeface="Calibri"/>
              </a:rPr>
              <a:t>types</a:t>
            </a:r>
            <a:r>
              <a:rPr sz="1900" dirty="0">
                <a:latin typeface="Calibri"/>
                <a:cs typeface="Calibri"/>
              </a:rPr>
              <a:t> of</a:t>
            </a:r>
            <a:r>
              <a:rPr sz="1900" spc="-25" dirty="0">
                <a:latin typeface="Calibri"/>
                <a:cs typeface="Calibri"/>
              </a:rPr>
              <a:t> </a:t>
            </a:r>
            <a:r>
              <a:rPr sz="1900" spc="-10" dirty="0">
                <a:latin typeface="Calibri"/>
                <a:cs typeface="Calibri"/>
              </a:rPr>
              <a:t>ogives</a:t>
            </a:r>
            <a:r>
              <a:rPr sz="1900" spc="25" dirty="0">
                <a:latin typeface="Calibri"/>
                <a:cs typeface="Calibri"/>
              </a:rPr>
              <a:t> </a:t>
            </a:r>
            <a:r>
              <a:rPr sz="1900" spc="-5" dirty="0">
                <a:latin typeface="Calibri"/>
                <a:cs typeface="Calibri"/>
              </a:rPr>
              <a:t>:</a:t>
            </a:r>
            <a:endParaRPr sz="1900">
              <a:latin typeface="Calibri"/>
              <a:cs typeface="Calibri"/>
            </a:endParaRPr>
          </a:p>
          <a:p>
            <a:pPr marL="241300" marR="5080" indent="-228600">
              <a:lnSpc>
                <a:spcPct val="90200"/>
              </a:lnSpc>
              <a:spcBef>
                <a:spcPts val="970"/>
              </a:spcBef>
              <a:buFont typeface="Arial MT"/>
              <a:buChar char="•"/>
              <a:tabLst>
                <a:tab pos="240665" algn="l"/>
                <a:tab pos="241300" algn="l"/>
              </a:tabLst>
            </a:pPr>
            <a:r>
              <a:rPr sz="1900" b="1" spc="-5" dirty="0">
                <a:latin typeface="Calibri"/>
                <a:cs typeface="Calibri"/>
              </a:rPr>
              <a:t>Less</a:t>
            </a:r>
            <a:r>
              <a:rPr sz="1900" b="1" spc="5" dirty="0">
                <a:latin typeface="Calibri"/>
                <a:cs typeface="Calibri"/>
              </a:rPr>
              <a:t> </a:t>
            </a:r>
            <a:r>
              <a:rPr sz="1900" b="1" spc="-10" dirty="0">
                <a:latin typeface="Calibri"/>
                <a:cs typeface="Calibri"/>
              </a:rPr>
              <a:t>than</a:t>
            </a:r>
            <a:r>
              <a:rPr sz="1900" b="1" spc="10" dirty="0">
                <a:latin typeface="Calibri"/>
                <a:cs typeface="Calibri"/>
              </a:rPr>
              <a:t> </a:t>
            </a:r>
            <a:r>
              <a:rPr sz="1900" b="1" spc="-20" dirty="0">
                <a:latin typeface="Calibri"/>
                <a:cs typeface="Calibri"/>
              </a:rPr>
              <a:t>ogive</a:t>
            </a:r>
            <a:r>
              <a:rPr sz="1900" b="1" spc="80" dirty="0">
                <a:latin typeface="Calibri"/>
                <a:cs typeface="Calibri"/>
              </a:rPr>
              <a:t> </a:t>
            </a:r>
            <a:r>
              <a:rPr sz="1900" b="1" spc="-5" dirty="0">
                <a:latin typeface="Calibri"/>
                <a:cs typeface="Calibri"/>
              </a:rPr>
              <a:t>:</a:t>
            </a:r>
            <a:r>
              <a:rPr sz="1900" b="1" spc="-10" dirty="0">
                <a:latin typeface="Calibri"/>
                <a:cs typeface="Calibri"/>
              </a:rPr>
              <a:t> </a:t>
            </a:r>
            <a:r>
              <a:rPr sz="1900" spc="-5" dirty="0">
                <a:latin typeface="Calibri"/>
                <a:cs typeface="Calibri"/>
              </a:rPr>
              <a:t>Plot</a:t>
            </a:r>
            <a:r>
              <a:rPr sz="1900" spc="-10" dirty="0">
                <a:latin typeface="Calibri"/>
                <a:cs typeface="Calibri"/>
              </a:rPr>
              <a:t> </a:t>
            </a:r>
            <a:r>
              <a:rPr sz="1900" spc="-5" dirty="0">
                <a:latin typeface="Calibri"/>
                <a:cs typeface="Calibri"/>
              </a:rPr>
              <a:t>the</a:t>
            </a:r>
            <a:r>
              <a:rPr sz="1900" spc="15" dirty="0">
                <a:latin typeface="Calibri"/>
                <a:cs typeface="Calibri"/>
              </a:rPr>
              <a:t> </a:t>
            </a:r>
            <a:r>
              <a:rPr sz="1900" spc="-5" dirty="0">
                <a:latin typeface="Calibri"/>
                <a:cs typeface="Calibri"/>
              </a:rPr>
              <a:t>points</a:t>
            </a:r>
            <a:r>
              <a:rPr sz="1900" spc="-20" dirty="0">
                <a:latin typeface="Calibri"/>
                <a:cs typeface="Calibri"/>
              </a:rPr>
              <a:t> </a:t>
            </a:r>
            <a:r>
              <a:rPr sz="1900" spc="-10" dirty="0">
                <a:latin typeface="Calibri"/>
                <a:cs typeface="Calibri"/>
              </a:rPr>
              <a:t>with</a:t>
            </a:r>
            <a:r>
              <a:rPr sz="1900" spc="40" dirty="0">
                <a:latin typeface="Calibri"/>
                <a:cs typeface="Calibri"/>
              </a:rPr>
              <a:t> </a:t>
            </a:r>
            <a:r>
              <a:rPr sz="1900" spc="-5" dirty="0">
                <a:latin typeface="Calibri"/>
                <a:cs typeface="Calibri"/>
              </a:rPr>
              <a:t>the</a:t>
            </a:r>
            <a:r>
              <a:rPr sz="1900" spc="15" dirty="0">
                <a:latin typeface="Calibri"/>
                <a:cs typeface="Calibri"/>
              </a:rPr>
              <a:t> </a:t>
            </a:r>
            <a:r>
              <a:rPr sz="1900" dirty="0">
                <a:latin typeface="Calibri"/>
                <a:cs typeface="Calibri"/>
              </a:rPr>
              <a:t>upper</a:t>
            </a:r>
            <a:r>
              <a:rPr sz="1900" spc="-10" dirty="0">
                <a:latin typeface="Calibri"/>
                <a:cs typeface="Calibri"/>
              </a:rPr>
              <a:t> limits</a:t>
            </a:r>
            <a:r>
              <a:rPr sz="1900" spc="25" dirty="0">
                <a:latin typeface="Calibri"/>
                <a:cs typeface="Calibri"/>
              </a:rPr>
              <a:t> </a:t>
            </a:r>
            <a:r>
              <a:rPr sz="1900" dirty="0">
                <a:latin typeface="Calibri"/>
                <a:cs typeface="Calibri"/>
              </a:rPr>
              <a:t>of</a:t>
            </a:r>
            <a:r>
              <a:rPr sz="1900" spc="-25" dirty="0">
                <a:latin typeface="Calibri"/>
                <a:cs typeface="Calibri"/>
              </a:rPr>
              <a:t> </a:t>
            </a:r>
            <a:r>
              <a:rPr sz="1900" spc="-5" dirty="0">
                <a:latin typeface="Calibri"/>
                <a:cs typeface="Calibri"/>
              </a:rPr>
              <a:t>the class</a:t>
            </a:r>
            <a:r>
              <a:rPr sz="1900" spc="5" dirty="0">
                <a:latin typeface="Calibri"/>
                <a:cs typeface="Calibri"/>
              </a:rPr>
              <a:t> </a:t>
            </a:r>
            <a:r>
              <a:rPr sz="1900" spc="-5" dirty="0">
                <a:latin typeface="Calibri"/>
                <a:cs typeface="Calibri"/>
              </a:rPr>
              <a:t>as</a:t>
            </a:r>
            <a:r>
              <a:rPr sz="1900" spc="5" dirty="0">
                <a:latin typeface="Calibri"/>
                <a:cs typeface="Calibri"/>
              </a:rPr>
              <a:t> </a:t>
            </a:r>
            <a:r>
              <a:rPr sz="1900" spc="-5" dirty="0">
                <a:latin typeface="Calibri"/>
                <a:cs typeface="Calibri"/>
              </a:rPr>
              <a:t>abscissae</a:t>
            </a:r>
            <a:r>
              <a:rPr sz="1900" spc="-25" dirty="0">
                <a:latin typeface="Calibri"/>
                <a:cs typeface="Calibri"/>
              </a:rPr>
              <a:t> </a:t>
            </a:r>
            <a:r>
              <a:rPr sz="1900" dirty="0">
                <a:latin typeface="Calibri"/>
                <a:cs typeface="Calibri"/>
              </a:rPr>
              <a:t>and</a:t>
            </a:r>
            <a:r>
              <a:rPr sz="1900" spc="-15" dirty="0">
                <a:latin typeface="Calibri"/>
                <a:cs typeface="Calibri"/>
              </a:rPr>
              <a:t> </a:t>
            </a:r>
            <a:r>
              <a:rPr sz="1900" spc="-5" dirty="0">
                <a:latin typeface="Calibri"/>
                <a:cs typeface="Calibri"/>
              </a:rPr>
              <a:t>the </a:t>
            </a:r>
            <a:r>
              <a:rPr sz="1900" dirty="0">
                <a:latin typeface="Calibri"/>
                <a:cs typeface="Calibri"/>
              </a:rPr>
              <a:t> </a:t>
            </a:r>
            <a:r>
              <a:rPr sz="1900" spc="-5" dirty="0">
                <a:latin typeface="Calibri"/>
                <a:cs typeface="Calibri"/>
              </a:rPr>
              <a:t>corresponding</a:t>
            </a:r>
            <a:r>
              <a:rPr sz="1900" spc="-25" dirty="0">
                <a:latin typeface="Calibri"/>
                <a:cs typeface="Calibri"/>
              </a:rPr>
              <a:t> </a:t>
            </a:r>
            <a:r>
              <a:rPr sz="1900" spc="-10" dirty="0">
                <a:latin typeface="Calibri"/>
                <a:cs typeface="Calibri"/>
              </a:rPr>
              <a:t>less</a:t>
            </a:r>
            <a:r>
              <a:rPr sz="1900" spc="5" dirty="0">
                <a:latin typeface="Calibri"/>
                <a:cs typeface="Calibri"/>
              </a:rPr>
              <a:t> </a:t>
            </a:r>
            <a:r>
              <a:rPr sz="1900" spc="-5" dirty="0">
                <a:latin typeface="Calibri"/>
                <a:cs typeface="Calibri"/>
              </a:rPr>
              <a:t>than </a:t>
            </a:r>
            <a:r>
              <a:rPr sz="1900" spc="-10" dirty="0">
                <a:latin typeface="Calibri"/>
                <a:cs typeface="Calibri"/>
              </a:rPr>
              <a:t>cumulative</a:t>
            </a:r>
            <a:r>
              <a:rPr sz="1900" spc="50" dirty="0">
                <a:latin typeface="Calibri"/>
                <a:cs typeface="Calibri"/>
              </a:rPr>
              <a:t> </a:t>
            </a:r>
            <a:r>
              <a:rPr sz="1900" spc="-10" dirty="0">
                <a:latin typeface="Calibri"/>
                <a:cs typeface="Calibri"/>
              </a:rPr>
              <a:t>frequencies</a:t>
            </a:r>
            <a:r>
              <a:rPr sz="1900" dirty="0">
                <a:latin typeface="Calibri"/>
                <a:cs typeface="Calibri"/>
              </a:rPr>
              <a:t> as</a:t>
            </a:r>
            <a:r>
              <a:rPr sz="1900" spc="-15" dirty="0">
                <a:latin typeface="Calibri"/>
                <a:cs typeface="Calibri"/>
              </a:rPr>
              <a:t> </a:t>
            </a:r>
            <a:r>
              <a:rPr sz="1900" spc="-10" dirty="0">
                <a:latin typeface="Calibri"/>
                <a:cs typeface="Calibri"/>
              </a:rPr>
              <a:t>ordinates.</a:t>
            </a:r>
            <a:r>
              <a:rPr sz="1900" spc="10" dirty="0">
                <a:latin typeface="Calibri"/>
                <a:cs typeface="Calibri"/>
              </a:rPr>
              <a:t> </a:t>
            </a:r>
            <a:r>
              <a:rPr sz="1900" dirty="0">
                <a:latin typeface="Calibri"/>
                <a:cs typeface="Calibri"/>
              </a:rPr>
              <a:t>The</a:t>
            </a:r>
            <a:r>
              <a:rPr sz="1900" spc="-25" dirty="0">
                <a:latin typeface="Calibri"/>
                <a:cs typeface="Calibri"/>
              </a:rPr>
              <a:t> </a:t>
            </a:r>
            <a:r>
              <a:rPr sz="1900" spc="-5" dirty="0">
                <a:latin typeface="Calibri"/>
                <a:cs typeface="Calibri"/>
              </a:rPr>
              <a:t>points</a:t>
            </a:r>
            <a:r>
              <a:rPr sz="1900" dirty="0">
                <a:latin typeface="Calibri"/>
                <a:cs typeface="Calibri"/>
              </a:rPr>
              <a:t> </a:t>
            </a:r>
            <a:r>
              <a:rPr sz="1900" spc="-5" dirty="0">
                <a:latin typeface="Calibri"/>
                <a:cs typeface="Calibri"/>
              </a:rPr>
              <a:t>are</a:t>
            </a:r>
            <a:r>
              <a:rPr sz="1900" dirty="0">
                <a:latin typeface="Calibri"/>
                <a:cs typeface="Calibri"/>
              </a:rPr>
              <a:t> </a:t>
            </a:r>
            <a:r>
              <a:rPr sz="1900" spc="-5" dirty="0">
                <a:latin typeface="Calibri"/>
                <a:cs typeface="Calibri"/>
              </a:rPr>
              <a:t>joined</a:t>
            </a:r>
            <a:r>
              <a:rPr sz="1900" spc="-10" dirty="0">
                <a:latin typeface="Calibri"/>
                <a:cs typeface="Calibri"/>
              </a:rPr>
              <a:t> </a:t>
            </a:r>
            <a:r>
              <a:rPr sz="1900" dirty="0">
                <a:latin typeface="Calibri"/>
                <a:cs typeface="Calibri"/>
              </a:rPr>
              <a:t>by</a:t>
            </a:r>
            <a:r>
              <a:rPr sz="1900" spc="-15" dirty="0">
                <a:latin typeface="Calibri"/>
                <a:cs typeface="Calibri"/>
              </a:rPr>
              <a:t> </a:t>
            </a:r>
            <a:r>
              <a:rPr sz="1900" spc="-10" dirty="0">
                <a:latin typeface="Calibri"/>
                <a:cs typeface="Calibri"/>
              </a:rPr>
              <a:t>free</a:t>
            </a:r>
            <a:r>
              <a:rPr sz="1900" spc="-5" dirty="0">
                <a:latin typeface="Calibri"/>
                <a:cs typeface="Calibri"/>
              </a:rPr>
              <a:t> </a:t>
            </a:r>
            <a:r>
              <a:rPr sz="1900" dirty="0">
                <a:latin typeface="Calibri"/>
                <a:cs typeface="Calibri"/>
              </a:rPr>
              <a:t>hand </a:t>
            </a:r>
            <a:r>
              <a:rPr sz="1900" spc="-415" dirty="0">
                <a:latin typeface="Calibri"/>
                <a:cs typeface="Calibri"/>
              </a:rPr>
              <a:t> </a:t>
            </a:r>
            <a:r>
              <a:rPr sz="1900" spc="-5" dirty="0">
                <a:latin typeface="Calibri"/>
                <a:cs typeface="Calibri"/>
              </a:rPr>
              <a:t>smooth</a:t>
            </a:r>
            <a:r>
              <a:rPr sz="1900" spc="-15" dirty="0">
                <a:latin typeface="Calibri"/>
                <a:cs typeface="Calibri"/>
              </a:rPr>
              <a:t> </a:t>
            </a:r>
            <a:r>
              <a:rPr sz="1900" dirty="0">
                <a:latin typeface="Calibri"/>
                <a:cs typeface="Calibri"/>
              </a:rPr>
              <a:t>curve</a:t>
            </a:r>
            <a:r>
              <a:rPr sz="1900" spc="-10" dirty="0">
                <a:latin typeface="Calibri"/>
                <a:cs typeface="Calibri"/>
              </a:rPr>
              <a:t> </a:t>
            </a:r>
            <a:r>
              <a:rPr sz="1900" spc="-20" dirty="0">
                <a:latin typeface="Calibri"/>
                <a:cs typeface="Calibri"/>
              </a:rPr>
              <a:t>to</a:t>
            </a:r>
            <a:r>
              <a:rPr sz="1900" spc="5" dirty="0">
                <a:latin typeface="Calibri"/>
                <a:cs typeface="Calibri"/>
              </a:rPr>
              <a:t> </a:t>
            </a:r>
            <a:r>
              <a:rPr sz="1900" spc="-10" dirty="0">
                <a:latin typeface="Calibri"/>
                <a:cs typeface="Calibri"/>
              </a:rPr>
              <a:t>give</a:t>
            </a:r>
            <a:r>
              <a:rPr sz="1900" spc="20" dirty="0">
                <a:latin typeface="Calibri"/>
                <a:cs typeface="Calibri"/>
              </a:rPr>
              <a:t> </a:t>
            </a:r>
            <a:r>
              <a:rPr sz="1900" spc="-10" dirty="0">
                <a:latin typeface="Calibri"/>
                <a:cs typeface="Calibri"/>
              </a:rPr>
              <a:t>less</a:t>
            </a:r>
            <a:r>
              <a:rPr sz="1900" spc="5" dirty="0">
                <a:latin typeface="Calibri"/>
                <a:cs typeface="Calibri"/>
              </a:rPr>
              <a:t> </a:t>
            </a:r>
            <a:r>
              <a:rPr sz="1900" spc="-5" dirty="0">
                <a:latin typeface="Calibri"/>
                <a:cs typeface="Calibri"/>
              </a:rPr>
              <a:t>than</a:t>
            </a:r>
            <a:r>
              <a:rPr sz="1900" spc="10" dirty="0">
                <a:latin typeface="Calibri"/>
                <a:cs typeface="Calibri"/>
              </a:rPr>
              <a:t> </a:t>
            </a:r>
            <a:r>
              <a:rPr sz="1900" spc="-10" dirty="0">
                <a:latin typeface="Calibri"/>
                <a:cs typeface="Calibri"/>
              </a:rPr>
              <a:t>cumulative</a:t>
            </a:r>
            <a:r>
              <a:rPr sz="1900" spc="15" dirty="0">
                <a:latin typeface="Calibri"/>
                <a:cs typeface="Calibri"/>
              </a:rPr>
              <a:t> </a:t>
            </a:r>
            <a:r>
              <a:rPr sz="1900" spc="-5" dirty="0">
                <a:latin typeface="Calibri"/>
                <a:cs typeface="Calibri"/>
              </a:rPr>
              <a:t>frequency</a:t>
            </a:r>
            <a:r>
              <a:rPr sz="1900" spc="10" dirty="0">
                <a:latin typeface="Calibri"/>
                <a:cs typeface="Calibri"/>
              </a:rPr>
              <a:t> </a:t>
            </a:r>
            <a:r>
              <a:rPr sz="1900" dirty="0">
                <a:latin typeface="Calibri"/>
                <a:cs typeface="Calibri"/>
              </a:rPr>
              <a:t>curve</a:t>
            </a:r>
            <a:r>
              <a:rPr sz="1900" spc="-10" dirty="0">
                <a:latin typeface="Calibri"/>
                <a:cs typeface="Calibri"/>
              </a:rPr>
              <a:t> </a:t>
            </a:r>
            <a:r>
              <a:rPr sz="1900" dirty="0">
                <a:latin typeface="Calibri"/>
                <a:cs typeface="Calibri"/>
              </a:rPr>
              <a:t>or</a:t>
            </a:r>
            <a:r>
              <a:rPr sz="1900" spc="-15" dirty="0">
                <a:latin typeface="Calibri"/>
                <a:cs typeface="Calibri"/>
              </a:rPr>
              <a:t> </a:t>
            </a:r>
            <a:r>
              <a:rPr sz="1900" spc="-5" dirty="0">
                <a:latin typeface="Calibri"/>
                <a:cs typeface="Calibri"/>
              </a:rPr>
              <a:t>the</a:t>
            </a:r>
            <a:r>
              <a:rPr sz="1900" spc="-10" dirty="0">
                <a:latin typeface="Calibri"/>
                <a:cs typeface="Calibri"/>
              </a:rPr>
              <a:t> less</a:t>
            </a:r>
            <a:r>
              <a:rPr sz="1900" spc="10" dirty="0">
                <a:latin typeface="Calibri"/>
                <a:cs typeface="Calibri"/>
              </a:rPr>
              <a:t> </a:t>
            </a:r>
            <a:r>
              <a:rPr sz="1900" spc="-5" dirty="0">
                <a:latin typeface="Calibri"/>
                <a:cs typeface="Calibri"/>
              </a:rPr>
              <a:t>than</a:t>
            </a:r>
            <a:r>
              <a:rPr sz="1900" spc="10" dirty="0">
                <a:latin typeface="Calibri"/>
                <a:cs typeface="Calibri"/>
              </a:rPr>
              <a:t> </a:t>
            </a:r>
            <a:r>
              <a:rPr sz="1900" spc="-10" dirty="0">
                <a:latin typeface="Calibri"/>
                <a:cs typeface="Calibri"/>
              </a:rPr>
              <a:t>Ogive.</a:t>
            </a:r>
            <a:r>
              <a:rPr sz="1900" spc="25" dirty="0">
                <a:latin typeface="Calibri"/>
                <a:cs typeface="Calibri"/>
              </a:rPr>
              <a:t> </a:t>
            </a:r>
            <a:r>
              <a:rPr sz="1900" spc="-5" dirty="0">
                <a:latin typeface="Calibri"/>
                <a:cs typeface="Calibri"/>
              </a:rPr>
              <a:t>It</a:t>
            </a:r>
            <a:r>
              <a:rPr sz="1900" spc="-15" dirty="0">
                <a:latin typeface="Calibri"/>
                <a:cs typeface="Calibri"/>
              </a:rPr>
              <a:t> </a:t>
            </a:r>
            <a:r>
              <a:rPr sz="1900" spc="-5" dirty="0">
                <a:latin typeface="Calibri"/>
                <a:cs typeface="Calibri"/>
              </a:rPr>
              <a:t>is</a:t>
            </a:r>
            <a:r>
              <a:rPr sz="1900" spc="5" dirty="0">
                <a:latin typeface="Calibri"/>
                <a:cs typeface="Calibri"/>
              </a:rPr>
              <a:t> </a:t>
            </a:r>
            <a:r>
              <a:rPr sz="1900" spc="-5" dirty="0">
                <a:latin typeface="Calibri"/>
                <a:cs typeface="Calibri"/>
              </a:rPr>
              <a:t>a</a:t>
            </a:r>
            <a:r>
              <a:rPr sz="1900" spc="5" dirty="0">
                <a:latin typeface="Calibri"/>
                <a:cs typeface="Calibri"/>
              </a:rPr>
              <a:t> </a:t>
            </a:r>
            <a:r>
              <a:rPr sz="1900" dirty="0">
                <a:latin typeface="Calibri"/>
                <a:cs typeface="Calibri"/>
              </a:rPr>
              <a:t>rising </a:t>
            </a:r>
            <a:r>
              <a:rPr sz="1900" spc="5" dirty="0">
                <a:latin typeface="Calibri"/>
                <a:cs typeface="Calibri"/>
              </a:rPr>
              <a:t> </a:t>
            </a:r>
            <a:r>
              <a:rPr sz="1900" spc="-5" dirty="0">
                <a:latin typeface="Calibri"/>
                <a:cs typeface="Calibri"/>
              </a:rPr>
              <a:t>curve.</a:t>
            </a:r>
            <a:endParaRPr sz="1900">
              <a:latin typeface="Calibri"/>
              <a:cs typeface="Calibri"/>
            </a:endParaRPr>
          </a:p>
          <a:p>
            <a:pPr marL="241300" marR="82550" indent="-228600">
              <a:lnSpc>
                <a:spcPct val="90000"/>
              </a:lnSpc>
              <a:spcBef>
                <a:spcPts val="994"/>
              </a:spcBef>
              <a:buFont typeface="Arial MT"/>
              <a:buChar char="•"/>
              <a:tabLst>
                <a:tab pos="240665" algn="l"/>
                <a:tab pos="241300" algn="l"/>
              </a:tabLst>
            </a:pPr>
            <a:r>
              <a:rPr sz="1900" b="1" spc="-20" dirty="0">
                <a:latin typeface="Calibri"/>
                <a:cs typeface="Calibri"/>
              </a:rPr>
              <a:t>Greater</a:t>
            </a:r>
            <a:r>
              <a:rPr sz="1900" b="1" spc="45" dirty="0">
                <a:latin typeface="Calibri"/>
                <a:cs typeface="Calibri"/>
              </a:rPr>
              <a:t> </a:t>
            </a:r>
            <a:r>
              <a:rPr sz="1900" b="1" spc="-10" dirty="0">
                <a:latin typeface="Calibri"/>
                <a:cs typeface="Calibri"/>
              </a:rPr>
              <a:t>than</a:t>
            </a:r>
            <a:r>
              <a:rPr sz="1900" b="1" spc="40" dirty="0">
                <a:latin typeface="Calibri"/>
                <a:cs typeface="Calibri"/>
              </a:rPr>
              <a:t> </a:t>
            </a:r>
            <a:r>
              <a:rPr sz="1900" b="1" spc="-20" dirty="0">
                <a:latin typeface="Calibri"/>
                <a:cs typeface="Calibri"/>
              </a:rPr>
              <a:t>ogive</a:t>
            </a:r>
            <a:r>
              <a:rPr sz="1900" b="1" spc="55" dirty="0">
                <a:latin typeface="Calibri"/>
                <a:cs typeface="Calibri"/>
              </a:rPr>
              <a:t> </a:t>
            </a:r>
            <a:r>
              <a:rPr sz="1900" b="1" spc="-5" dirty="0">
                <a:latin typeface="Calibri"/>
                <a:cs typeface="Calibri"/>
              </a:rPr>
              <a:t>:</a:t>
            </a:r>
            <a:r>
              <a:rPr sz="1900" b="1" dirty="0">
                <a:latin typeface="Calibri"/>
                <a:cs typeface="Calibri"/>
              </a:rPr>
              <a:t> </a:t>
            </a:r>
            <a:r>
              <a:rPr sz="1900" spc="-5" dirty="0">
                <a:latin typeface="Calibri"/>
                <a:cs typeface="Calibri"/>
              </a:rPr>
              <a:t>Plot</a:t>
            </a:r>
            <a:r>
              <a:rPr sz="1900" spc="15" dirty="0">
                <a:latin typeface="Calibri"/>
                <a:cs typeface="Calibri"/>
              </a:rPr>
              <a:t> </a:t>
            </a:r>
            <a:r>
              <a:rPr sz="1900" spc="-5" dirty="0">
                <a:latin typeface="Calibri"/>
                <a:cs typeface="Calibri"/>
              </a:rPr>
              <a:t>the points</a:t>
            </a:r>
            <a:r>
              <a:rPr sz="1900" dirty="0">
                <a:latin typeface="Calibri"/>
                <a:cs typeface="Calibri"/>
              </a:rPr>
              <a:t> </a:t>
            </a:r>
            <a:r>
              <a:rPr sz="1900" spc="-10" dirty="0">
                <a:latin typeface="Calibri"/>
                <a:cs typeface="Calibri"/>
              </a:rPr>
              <a:t>with</a:t>
            </a:r>
            <a:r>
              <a:rPr sz="1900" spc="10" dirty="0">
                <a:latin typeface="Calibri"/>
                <a:cs typeface="Calibri"/>
              </a:rPr>
              <a:t> </a:t>
            </a:r>
            <a:r>
              <a:rPr sz="1900" spc="-5" dirty="0">
                <a:latin typeface="Calibri"/>
                <a:cs typeface="Calibri"/>
              </a:rPr>
              <a:t>the</a:t>
            </a:r>
            <a:r>
              <a:rPr sz="1900" spc="15" dirty="0">
                <a:latin typeface="Calibri"/>
                <a:cs typeface="Calibri"/>
              </a:rPr>
              <a:t> </a:t>
            </a:r>
            <a:r>
              <a:rPr sz="1900" spc="-10" dirty="0">
                <a:latin typeface="Calibri"/>
                <a:cs typeface="Calibri"/>
              </a:rPr>
              <a:t>lower</a:t>
            </a:r>
            <a:r>
              <a:rPr sz="1900" spc="35" dirty="0">
                <a:latin typeface="Calibri"/>
                <a:cs typeface="Calibri"/>
              </a:rPr>
              <a:t> </a:t>
            </a:r>
            <a:r>
              <a:rPr sz="1900" spc="-10" dirty="0">
                <a:latin typeface="Calibri"/>
                <a:cs typeface="Calibri"/>
              </a:rPr>
              <a:t>limits</a:t>
            </a:r>
            <a:r>
              <a:rPr sz="1900" spc="5" dirty="0">
                <a:latin typeface="Calibri"/>
                <a:cs typeface="Calibri"/>
              </a:rPr>
              <a:t> </a:t>
            </a:r>
            <a:r>
              <a:rPr sz="1900" dirty="0">
                <a:latin typeface="Calibri"/>
                <a:cs typeface="Calibri"/>
              </a:rPr>
              <a:t>of</a:t>
            </a:r>
            <a:r>
              <a:rPr sz="1900" spc="-5" dirty="0">
                <a:latin typeface="Calibri"/>
                <a:cs typeface="Calibri"/>
              </a:rPr>
              <a:t> the classes</a:t>
            </a:r>
            <a:r>
              <a:rPr sz="1900" spc="5" dirty="0">
                <a:latin typeface="Calibri"/>
                <a:cs typeface="Calibri"/>
              </a:rPr>
              <a:t> </a:t>
            </a:r>
            <a:r>
              <a:rPr sz="1900" dirty="0">
                <a:latin typeface="Calibri"/>
                <a:cs typeface="Calibri"/>
              </a:rPr>
              <a:t>as </a:t>
            </a:r>
            <a:r>
              <a:rPr sz="1900" spc="-5" dirty="0">
                <a:latin typeface="Calibri"/>
                <a:cs typeface="Calibri"/>
              </a:rPr>
              <a:t>abscissa</a:t>
            </a:r>
            <a:r>
              <a:rPr sz="1900" spc="-35" dirty="0">
                <a:latin typeface="Calibri"/>
                <a:cs typeface="Calibri"/>
              </a:rPr>
              <a:t> </a:t>
            </a:r>
            <a:r>
              <a:rPr sz="1900" dirty="0">
                <a:latin typeface="Calibri"/>
                <a:cs typeface="Calibri"/>
              </a:rPr>
              <a:t>and</a:t>
            </a:r>
            <a:r>
              <a:rPr sz="1900" spc="-10" dirty="0">
                <a:latin typeface="Calibri"/>
                <a:cs typeface="Calibri"/>
              </a:rPr>
              <a:t> </a:t>
            </a:r>
            <a:r>
              <a:rPr sz="1900" spc="-5" dirty="0">
                <a:latin typeface="Calibri"/>
                <a:cs typeface="Calibri"/>
              </a:rPr>
              <a:t>the </a:t>
            </a:r>
            <a:r>
              <a:rPr sz="1900" dirty="0">
                <a:latin typeface="Calibri"/>
                <a:cs typeface="Calibri"/>
              </a:rPr>
              <a:t> </a:t>
            </a:r>
            <a:r>
              <a:rPr sz="1900" spc="-5" dirty="0">
                <a:latin typeface="Calibri"/>
                <a:cs typeface="Calibri"/>
              </a:rPr>
              <a:t>corresponding</a:t>
            </a:r>
            <a:r>
              <a:rPr sz="1900" spc="-20" dirty="0">
                <a:latin typeface="Calibri"/>
                <a:cs typeface="Calibri"/>
              </a:rPr>
              <a:t> Greater</a:t>
            </a:r>
            <a:r>
              <a:rPr sz="1900" spc="40" dirty="0">
                <a:latin typeface="Calibri"/>
                <a:cs typeface="Calibri"/>
              </a:rPr>
              <a:t> </a:t>
            </a:r>
            <a:r>
              <a:rPr sz="1900" spc="-5" dirty="0">
                <a:latin typeface="Calibri"/>
                <a:cs typeface="Calibri"/>
              </a:rPr>
              <a:t>than</a:t>
            </a:r>
            <a:r>
              <a:rPr sz="1900" dirty="0">
                <a:latin typeface="Calibri"/>
                <a:cs typeface="Calibri"/>
              </a:rPr>
              <a:t> </a:t>
            </a:r>
            <a:r>
              <a:rPr sz="1900" spc="-10" dirty="0">
                <a:latin typeface="Calibri"/>
                <a:cs typeface="Calibri"/>
              </a:rPr>
              <a:t>cumulative</a:t>
            </a:r>
            <a:r>
              <a:rPr sz="1900" spc="50" dirty="0">
                <a:latin typeface="Calibri"/>
                <a:cs typeface="Calibri"/>
              </a:rPr>
              <a:t> </a:t>
            </a:r>
            <a:r>
              <a:rPr sz="1900" spc="-10" dirty="0">
                <a:latin typeface="Calibri"/>
                <a:cs typeface="Calibri"/>
              </a:rPr>
              <a:t>frequencies</a:t>
            </a:r>
            <a:r>
              <a:rPr sz="1900" spc="10" dirty="0">
                <a:latin typeface="Calibri"/>
                <a:cs typeface="Calibri"/>
              </a:rPr>
              <a:t> </a:t>
            </a:r>
            <a:r>
              <a:rPr sz="1900" spc="-5" dirty="0">
                <a:latin typeface="Calibri"/>
                <a:cs typeface="Calibri"/>
              </a:rPr>
              <a:t>as</a:t>
            </a:r>
            <a:r>
              <a:rPr sz="1900" spc="-10" dirty="0">
                <a:latin typeface="Calibri"/>
                <a:cs typeface="Calibri"/>
              </a:rPr>
              <a:t> ordinates.</a:t>
            </a:r>
            <a:r>
              <a:rPr sz="1900" spc="10" dirty="0">
                <a:latin typeface="Calibri"/>
                <a:cs typeface="Calibri"/>
              </a:rPr>
              <a:t> </a:t>
            </a:r>
            <a:r>
              <a:rPr sz="1900" spc="-5" dirty="0">
                <a:latin typeface="Calibri"/>
                <a:cs typeface="Calibri"/>
              </a:rPr>
              <a:t>Join the</a:t>
            </a:r>
            <a:r>
              <a:rPr sz="1900" spc="25" dirty="0">
                <a:latin typeface="Calibri"/>
                <a:cs typeface="Calibri"/>
              </a:rPr>
              <a:t> </a:t>
            </a:r>
            <a:r>
              <a:rPr sz="1900" spc="-5" dirty="0">
                <a:latin typeface="Calibri"/>
                <a:cs typeface="Calibri"/>
              </a:rPr>
              <a:t>points</a:t>
            </a:r>
            <a:r>
              <a:rPr sz="1900" spc="-15" dirty="0">
                <a:latin typeface="Calibri"/>
                <a:cs typeface="Calibri"/>
              </a:rPr>
              <a:t> </a:t>
            </a:r>
            <a:r>
              <a:rPr sz="1900" dirty="0">
                <a:latin typeface="Calibri"/>
                <a:cs typeface="Calibri"/>
              </a:rPr>
              <a:t>by</a:t>
            </a:r>
            <a:r>
              <a:rPr sz="1900" spc="-5" dirty="0">
                <a:latin typeface="Calibri"/>
                <a:cs typeface="Calibri"/>
              </a:rPr>
              <a:t> a</a:t>
            </a:r>
            <a:r>
              <a:rPr sz="1900" spc="10" dirty="0">
                <a:latin typeface="Calibri"/>
                <a:cs typeface="Calibri"/>
              </a:rPr>
              <a:t> </a:t>
            </a:r>
            <a:r>
              <a:rPr sz="1900" spc="-15" dirty="0">
                <a:latin typeface="Calibri"/>
                <a:cs typeface="Calibri"/>
              </a:rPr>
              <a:t>free</a:t>
            </a:r>
            <a:r>
              <a:rPr sz="1900" dirty="0">
                <a:latin typeface="Calibri"/>
                <a:cs typeface="Calibri"/>
              </a:rPr>
              <a:t> hand </a:t>
            </a:r>
            <a:r>
              <a:rPr sz="1900" spc="-415" dirty="0">
                <a:latin typeface="Calibri"/>
                <a:cs typeface="Calibri"/>
              </a:rPr>
              <a:t> </a:t>
            </a:r>
            <a:r>
              <a:rPr sz="1900" spc="-5" dirty="0">
                <a:latin typeface="Calibri"/>
                <a:cs typeface="Calibri"/>
              </a:rPr>
              <a:t>smooth</a:t>
            </a:r>
            <a:r>
              <a:rPr sz="1900" spc="-15" dirty="0">
                <a:latin typeface="Calibri"/>
                <a:cs typeface="Calibri"/>
              </a:rPr>
              <a:t> </a:t>
            </a:r>
            <a:r>
              <a:rPr sz="1900" spc="-5" dirty="0">
                <a:latin typeface="Calibri"/>
                <a:cs typeface="Calibri"/>
              </a:rPr>
              <a:t>curve</a:t>
            </a:r>
            <a:r>
              <a:rPr sz="1900" spc="-10" dirty="0">
                <a:latin typeface="Calibri"/>
                <a:cs typeface="Calibri"/>
              </a:rPr>
              <a:t> </a:t>
            </a:r>
            <a:r>
              <a:rPr sz="1900" spc="-20" dirty="0">
                <a:latin typeface="Calibri"/>
                <a:cs typeface="Calibri"/>
              </a:rPr>
              <a:t>to</a:t>
            </a:r>
            <a:r>
              <a:rPr sz="1900" dirty="0">
                <a:latin typeface="Calibri"/>
                <a:cs typeface="Calibri"/>
              </a:rPr>
              <a:t> </a:t>
            </a:r>
            <a:r>
              <a:rPr sz="1900" spc="-15" dirty="0">
                <a:latin typeface="Calibri"/>
                <a:cs typeface="Calibri"/>
              </a:rPr>
              <a:t>get</a:t>
            </a:r>
            <a:r>
              <a:rPr sz="1900" spc="10" dirty="0">
                <a:latin typeface="Calibri"/>
                <a:cs typeface="Calibri"/>
              </a:rPr>
              <a:t> </a:t>
            </a:r>
            <a:r>
              <a:rPr sz="1900" spc="-5" dirty="0">
                <a:latin typeface="Calibri"/>
                <a:cs typeface="Calibri"/>
              </a:rPr>
              <a:t>the</a:t>
            </a:r>
            <a:r>
              <a:rPr sz="1900" spc="15" dirty="0">
                <a:latin typeface="Calibri"/>
                <a:cs typeface="Calibri"/>
              </a:rPr>
              <a:t> </a:t>
            </a:r>
            <a:r>
              <a:rPr sz="1900" spc="-5" dirty="0">
                <a:latin typeface="Calibri"/>
                <a:cs typeface="Calibri"/>
              </a:rPr>
              <a:t>“More</a:t>
            </a:r>
            <a:r>
              <a:rPr sz="1900" spc="-30" dirty="0">
                <a:latin typeface="Calibri"/>
                <a:cs typeface="Calibri"/>
              </a:rPr>
              <a:t> </a:t>
            </a:r>
            <a:r>
              <a:rPr sz="1900" spc="-5" dirty="0">
                <a:latin typeface="Calibri"/>
                <a:cs typeface="Calibri"/>
              </a:rPr>
              <a:t>than</a:t>
            </a:r>
            <a:r>
              <a:rPr sz="1900" spc="10" dirty="0">
                <a:latin typeface="Calibri"/>
                <a:cs typeface="Calibri"/>
              </a:rPr>
              <a:t> </a:t>
            </a:r>
            <a:r>
              <a:rPr sz="1900" spc="-40" dirty="0">
                <a:latin typeface="Calibri"/>
                <a:cs typeface="Calibri"/>
              </a:rPr>
              <a:t>Ogive”.</a:t>
            </a:r>
            <a:r>
              <a:rPr sz="1900" spc="45" dirty="0">
                <a:latin typeface="Calibri"/>
                <a:cs typeface="Calibri"/>
              </a:rPr>
              <a:t> </a:t>
            </a:r>
            <a:r>
              <a:rPr sz="1900" spc="-5" dirty="0">
                <a:latin typeface="Calibri"/>
                <a:cs typeface="Calibri"/>
              </a:rPr>
              <a:t>It</a:t>
            </a:r>
            <a:r>
              <a:rPr sz="1900" spc="-10" dirty="0">
                <a:latin typeface="Calibri"/>
                <a:cs typeface="Calibri"/>
              </a:rPr>
              <a:t> </a:t>
            </a:r>
            <a:r>
              <a:rPr sz="1900" spc="-5" dirty="0">
                <a:latin typeface="Calibri"/>
                <a:cs typeface="Calibri"/>
              </a:rPr>
              <a:t>is</a:t>
            </a:r>
            <a:r>
              <a:rPr sz="1900" dirty="0">
                <a:latin typeface="Calibri"/>
                <a:cs typeface="Calibri"/>
              </a:rPr>
              <a:t> </a:t>
            </a:r>
            <a:r>
              <a:rPr sz="1900" spc="-5" dirty="0">
                <a:latin typeface="Calibri"/>
                <a:cs typeface="Calibri"/>
              </a:rPr>
              <a:t>a</a:t>
            </a:r>
            <a:r>
              <a:rPr sz="1900" spc="5" dirty="0">
                <a:latin typeface="Calibri"/>
                <a:cs typeface="Calibri"/>
              </a:rPr>
              <a:t> </a:t>
            </a:r>
            <a:r>
              <a:rPr sz="1900" spc="-10" dirty="0">
                <a:latin typeface="Calibri"/>
                <a:cs typeface="Calibri"/>
              </a:rPr>
              <a:t>falling</a:t>
            </a:r>
            <a:r>
              <a:rPr sz="1900" spc="15" dirty="0">
                <a:latin typeface="Calibri"/>
                <a:cs typeface="Calibri"/>
              </a:rPr>
              <a:t> </a:t>
            </a:r>
            <a:r>
              <a:rPr sz="1900" spc="-5" dirty="0">
                <a:latin typeface="Calibri"/>
                <a:cs typeface="Calibri"/>
              </a:rPr>
              <a:t>curve.</a:t>
            </a:r>
            <a:endParaRPr sz="1900">
              <a:latin typeface="Calibri"/>
              <a:cs typeface="Calibri"/>
            </a:endParaRPr>
          </a:p>
        </p:txBody>
      </p:sp>
    </p:spTree>
    <p:extLst>
      <p:ext uri="{BB962C8B-B14F-4D97-AF65-F5344CB8AC3E}">
        <p14:creationId xmlns:p14="http://schemas.microsoft.com/office/powerpoint/2010/main" val="346873767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extLst>
              <p:ext uri="{D42A27DB-BD31-4B8C-83A1-F6EECF244321}">
                <p14:modId xmlns:p14="http://schemas.microsoft.com/office/powerpoint/2010/main" val="2898118894"/>
              </p:ext>
            </p:extLst>
          </p:nvPr>
        </p:nvGraphicFramePr>
        <p:xfrm>
          <a:off x="0" y="640588"/>
          <a:ext cx="9075580" cy="4806599"/>
        </p:xfrm>
        <a:graphic>
          <a:graphicData uri="http://schemas.openxmlformats.org/drawingml/2006/table">
            <a:tbl>
              <a:tblPr firstRow="1" bandRow="1">
                <a:tableStyleId>{2D5ABB26-0587-4C30-8999-92F81FD0307C}</a:tableStyleId>
              </a:tblPr>
              <a:tblGrid>
                <a:gridCol w="73025"/>
                <a:gridCol w="1573094"/>
                <a:gridCol w="1084381"/>
                <a:gridCol w="2245519"/>
                <a:gridCol w="1375886"/>
                <a:gridCol w="978694"/>
                <a:gridCol w="776288"/>
                <a:gridCol w="968693"/>
              </a:tblGrid>
              <a:tr h="124116">
                <a:tc rowSpan="14">
                  <a:txBody>
                    <a:bodyPr/>
                    <a:lstStyle/>
                    <a:p>
                      <a:pPr>
                        <a:lnSpc>
                          <a:spcPct val="100000"/>
                        </a:lnSpc>
                      </a:pPr>
                      <a:endParaRPr sz="2300" dirty="0">
                        <a:latin typeface="Times New Roman"/>
                        <a:cs typeface="Times New Roman"/>
                      </a:endParaRPr>
                    </a:p>
                  </a:txBody>
                  <a:tcPr marL="0" marR="0" marT="0" marB="0"/>
                </a:tc>
                <a:tc rowSpan="3">
                  <a:txBody>
                    <a:bodyPr/>
                    <a:lstStyle/>
                    <a:p>
                      <a:pPr marL="408940" marR="319405" indent="-82550">
                        <a:lnSpc>
                          <a:spcPct val="100000"/>
                        </a:lnSpc>
                        <a:spcBef>
                          <a:spcPts val="690"/>
                        </a:spcBef>
                      </a:pPr>
                      <a:r>
                        <a:rPr sz="2400" b="1" spc="-95" dirty="0">
                          <a:solidFill>
                            <a:srgbClr val="FFFFFF"/>
                          </a:solidFill>
                          <a:latin typeface="Calibri"/>
                          <a:cs typeface="Calibri"/>
                        </a:rPr>
                        <a:t>W</a:t>
                      </a:r>
                      <a:r>
                        <a:rPr sz="2400" b="1" spc="-10" dirty="0">
                          <a:solidFill>
                            <a:srgbClr val="FFFFFF"/>
                          </a:solidFill>
                          <a:latin typeface="Calibri"/>
                          <a:cs typeface="Calibri"/>
                        </a:rPr>
                        <a:t>ee</a:t>
                      </a:r>
                      <a:r>
                        <a:rPr sz="2400" b="1" dirty="0">
                          <a:solidFill>
                            <a:srgbClr val="FFFFFF"/>
                          </a:solidFill>
                          <a:latin typeface="Calibri"/>
                          <a:cs typeface="Calibri"/>
                        </a:rPr>
                        <a:t>k</a:t>
                      </a:r>
                      <a:r>
                        <a:rPr sz="2400" b="1" spc="10" dirty="0">
                          <a:solidFill>
                            <a:srgbClr val="FFFFFF"/>
                          </a:solidFill>
                          <a:latin typeface="Calibri"/>
                          <a:cs typeface="Calibri"/>
                        </a:rPr>
                        <a:t>l</a:t>
                      </a:r>
                      <a:r>
                        <a:rPr sz="2400" b="1" dirty="0">
                          <a:solidFill>
                            <a:srgbClr val="FFFFFF"/>
                          </a:solidFill>
                          <a:latin typeface="Calibri"/>
                          <a:cs typeface="Calibri"/>
                        </a:rPr>
                        <a:t>y  </a:t>
                      </a:r>
                      <a:r>
                        <a:rPr sz="2400" b="1" spc="-25" dirty="0">
                          <a:solidFill>
                            <a:srgbClr val="FFFFFF"/>
                          </a:solidFill>
                          <a:latin typeface="Calibri"/>
                          <a:cs typeface="Calibri"/>
                        </a:rPr>
                        <a:t>wages</a:t>
                      </a:r>
                      <a:endParaRPr sz="2400" dirty="0">
                        <a:latin typeface="Calibri"/>
                        <a:cs typeface="Calibri"/>
                      </a:endParaRPr>
                    </a:p>
                  </a:txBody>
                  <a:tcPr marL="0" marR="0" marT="87630" marB="0">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rowSpan="3">
                  <a:txBody>
                    <a:bodyPr/>
                    <a:lstStyle/>
                    <a:p>
                      <a:pPr marL="387985" marR="186055" indent="-195580">
                        <a:lnSpc>
                          <a:spcPct val="100000"/>
                        </a:lnSpc>
                        <a:spcBef>
                          <a:spcPts val="690"/>
                        </a:spcBef>
                      </a:pPr>
                      <a:r>
                        <a:rPr sz="1200" b="1" spc="-10" dirty="0">
                          <a:solidFill>
                            <a:srgbClr val="FFFFFF"/>
                          </a:solidFill>
                          <a:latin typeface="Calibri"/>
                          <a:cs typeface="Calibri"/>
                        </a:rPr>
                        <a:t>Number </a:t>
                      </a:r>
                      <a:r>
                        <a:rPr sz="1200" b="1" spc="-5" dirty="0">
                          <a:solidFill>
                            <a:srgbClr val="FFFFFF"/>
                          </a:solidFill>
                          <a:latin typeface="Calibri"/>
                          <a:cs typeface="Calibri"/>
                        </a:rPr>
                        <a:t>of </a:t>
                      </a:r>
                      <a:r>
                        <a:rPr sz="1200" b="1" spc="-575" dirty="0">
                          <a:solidFill>
                            <a:srgbClr val="FFFFFF"/>
                          </a:solidFill>
                          <a:latin typeface="Calibri"/>
                          <a:cs typeface="Calibri"/>
                        </a:rPr>
                        <a:t> </a:t>
                      </a:r>
                      <a:r>
                        <a:rPr sz="1200" b="1" spc="-30" dirty="0">
                          <a:solidFill>
                            <a:srgbClr val="FFFFFF"/>
                          </a:solidFill>
                          <a:latin typeface="Calibri"/>
                          <a:cs typeface="Calibri"/>
                        </a:rPr>
                        <a:t>workers</a:t>
                      </a:r>
                      <a:endParaRPr sz="1200" dirty="0">
                        <a:latin typeface="Calibri"/>
                        <a:cs typeface="Calibri"/>
                      </a:endParaRPr>
                    </a:p>
                  </a:txBody>
                  <a:tcPr marL="0" marR="0" marT="8763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rowSpan="2">
                  <a:txBody>
                    <a:bodyPr/>
                    <a:lstStyle/>
                    <a:p>
                      <a:pPr marL="960755">
                        <a:lnSpc>
                          <a:spcPct val="100000"/>
                        </a:lnSpc>
                        <a:spcBef>
                          <a:spcPts val="710"/>
                        </a:spcBef>
                      </a:pPr>
                      <a:r>
                        <a:rPr sz="2400" spc="-5" dirty="0">
                          <a:solidFill>
                            <a:srgbClr val="FFFFFF"/>
                          </a:solidFill>
                          <a:latin typeface="Calibri Light"/>
                          <a:cs typeface="Calibri Light"/>
                        </a:rPr>
                        <a:t>EXAMPLE</a:t>
                      </a:r>
                      <a:endParaRPr sz="2400" dirty="0">
                        <a:latin typeface="Calibri Light"/>
                        <a:cs typeface="Calibri Light"/>
                      </a:endParaRPr>
                    </a:p>
                  </a:txBody>
                  <a:tcPr marL="0" marR="0" marT="90170" marB="0">
                    <a:lnL w="12700">
                      <a:solidFill>
                        <a:srgbClr val="FFFFFF"/>
                      </a:solidFill>
                      <a:prstDash val="solid"/>
                    </a:lnL>
                    <a:lnR w="12700">
                      <a:solidFill>
                        <a:srgbClr val="FFFFFF"/>
                      </a:solidFill>
                      <a:prstDash val="solid"/>
                    </a:lnR>
                    <a:solidFill>
                      <a:srgbClr val="000000"/>
                    </a:solidFill>
                  </a:tcPr>
                </a:tc>
                <a:tc>
                  <a:txBody>
                    <a:bodyPr/>
                    <a:lstStyle/>
                    <a:p>
                      <a:pPr>
                        <a:lnSpc>
                          <a:spcPct val="100000"/>
                        </a:lnSpc>
                      </a:pPr>
                      <a:endParaRPr sz="500">
                        <a:latin typeface="Times New Roman"/>
                        <a:cs typeface="Times New Roman"/>
                      </a:endParaRPr>
                    </a:p>
                  </a:txBody>
                  <a:tcPr marL="0" marR="0" marT="0" marB="0">
                    <a:lnL w="12700" cap="flat" cmpd="sng" algn="ctr">
                      <a:solidFill>
                        <a:srgbClr val="FFFFFF"/>
                      </a:solidFill>
                      <a:prstDash val="solid"/>
                      <a:round/>
                      <a:headEnd type="none" w="med" len="med"/>
                      <a:tailEnd type="none" w="med" len="med"/>
                    </a:lnL>
                    <a:lnB w="12700">
                      <a:solidFill>
                        <a:srgbClr val="FFFFFF"/>
                      </a:solidFill>
                      <a:prstDash val="solid"/>
                    </a:lnB>
                    <a:solidFill>
                      <a:srgbClr val="000000"/>
                    </a:solidFill>
                  </a:tcPr>
                </a:tc>
                <a:tc>
                  <a:txBody>
                    <a:bodyPr/>
                    <a:lstStyle/>
                    <a:p>
                      <a:pPr>
                        <a:lnSpc>
                          <a:spcPct val="100000"/>
                        </a:lnSpc>
                      </a:pPr>
                      <a:endParaRPr sz="500">
                        <a:latin typeface="Times New Roman"/>
                        <a:cs typeface="Times New Roman"/>
                      </a:endParaRPr>
                    </a:p>
                  </a:txBody>
                  <a:tcPr marL="0" marR="0" marT="0" marB="0">
                    <a:lnB w="12700">
                      <a:solidFill>
                        <a:srgbClr val="FFFFFF"/>
                      </a:solidFill>
                      <a:prstDash val="solid"/>
                    </a:lnB>
                    <a:solidFill>
                      <a:srgbClr val="000000"/>
                    </a:solidFill>
                  </a:tcPr>
                </a:tc>
                <a:tc>
                  <a:txBody>
                    <a:bodyPr/>
                    <a:lstStyle/>
                    <a:p>
                      <a:pPr>
                        <a:lnSpc>
                          <a:spcPct val="100000"/>
                        </a:lnSpc>
                      </a:pPr>
                      <a:endParaRPr sz="500">
                        <a:latin typeface="Times New Roman"/>
                        <a:cs typeface="Times New Roman"/>
                      </a:endParaRPr>
                    </a:p>
                  </a:txBody>
                  <a:tcPr marL="0" marR="0" marT="0" marB="0">
                    <a:lnB w="12700">
                      <a:solidFill>
                        <a:srgbClr val="FFFFFF"/>
                      </a:solidFill>
                      <a:prstDash val="solid"/>
                    </a:lnB>
                    <a:solidFill>
                      <a:srgbClr val="000000"/>
                    </a:solidFill>
                  </a:tcPr>
                </a:tc>
                <a:tc>
                  <a:txBody>
                    <a:bodyPr/>
                    <a:lstStyle/>
                    <a:p>
                      <a:pPr>
                        <a:lnSpc>
                          <a:spcPct val="100000"/>
                        </a:lnSpc>
                      </a:pPr>
                      <a:endParaRPr sz="500">
                        <a:latin typeface="Times New Roman"/>
                        <a:cs typeface="Times New Roman"/>
                      </a:endParaRPr>
                    </a:p>
                  </a:txBody>
                  <a:tcPr marL="0" marR="0" marT="0" marB="0">
                    <a:lnB w="12700">
                      <a:solidFill>
                        <a:srgbClr val="FFFFFF"/>
                      </a:solidFill>
                      <a:prstDash val="solid"/>
                    </a:lnB>
                    <a:solidFill>
                      <a:srgbClr val="000000"/>
                    </a:solidFill>
                  </a:tcPr>
                </a:tc>
              </a:tr>
              <a:tr h="640714">
                <a:tc vMerge="1">
                  <a:txBody>
                    <a:bodyPr/>
                    <a:lstStyle/>
                    <a:p>
                      <a:endParaRPr/>
                    </a:p>
                  </a:txBody>
                  <a:tcPr marL="0" marR="0" marT="0" marB="0"/>
                </a:tc>
                <a:tc vMerge="1">
                  <a:txBody>
                    <a:bodyPr/>
                    <a:lstStyle/>
                    <a:p>
                      <a:endParaRPr/>
                    </a:p>
                  </a:txBody>
                  <a:tcPr marL="0" marR="0" marT="87630" marB="0">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vMerge="1">
                  <a:txBody>
                    <a:bodyPr/>
                    <a:lstStyle/>
                    <a:p>
                      <a:endParaRPr/>
                    </a:p>
                  </a:txBody>
                  <a:tcPr marL="0" marR="0" marT="8763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vMerge="1">
                  <a:txBody>
                    <a:bodyPr/>
                    <a:lstStyle/>
                    <a:p>
                      <a:endParaRPr/>
                    </a:p>
                  </a:txBody>
                  <a:tcPr marL="0" marR="0" marT="90170" marB="0">
                    <a:lnL w="12700">
                      <a:solidFill>
                        <a:srgbClr val="FFFFFF"/>
                      </a:solidFill>
                      <a:prstDash val="solid"/>
                    </a:lnL>
                    <a:lnR w="12700">
                      <a:solidFill>
                        <a:srgbClr val="FFFFFF"/>
                      </a:solidFill>
                      <a:prstDash val="solid"/>
                    </a:lnR>
                    <a:solidFill>
                      <a:srgbClr val="000000"/>
                    </a:solidFill>
                  </a:tcPr>
                </a:tc>
                <a:tc>
                  <a:txBody>
                    <a:bodyPr/>
                    <a:lstStyle/>
                    <a:p>
                      <a:pPr>
                        <a:lnSpc>
                          <a:spcPct val="100000"/>
                        </a:lnSpc>
                      </a:pPr>
                      <a:endParaRPr sz="23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solidFill>
                      <a:srgbClr val="4471C4"/>
                    </a:solidFill>
                  </a:tcPr>
                </a:tc>
                <a:tc>
                  <a:txBody>
                    <a:bodyPr/>
                    <a:lstStyle/>
                    <a:p>
                      <a:pPr>
                        <a:lnSpc>
                          <a:spcPct val="100000"/>
                        </a:lnSpc>
                      </a:pPr>
                      <a:endParaRPr sz="2850">
                        <a:latin typeface="Times New Roman"/>
                        <a:cs typeface="Times New Roman"/>
                      </a:endParaRPr>
                    </a:p>
                    <a:p>
                      <a:pPr algn="ctr">
                        <a:lnSpc>
                          <a:spcPts val="1664"/>
                        </a:lnSpc>
                      </a:pPr>
                      <a:r>
                        <a:rPr sz="2100" b="1" dirty="0">
                          <a:solidFill>
                            <a:srgbClr val="FFFFFF"/>
                          </a:solidFill>
                          <a:latin typeface="Calibri"/>
                          <a:cs typeface="Calibri"/>
                        </a:rPr>
                        <a:t>Number</a:t>
                      </a:r>
                      <a:endParaRPr sz="2100">
                        <a:latin typeface="Calibri"/>
                        <a:cs typeface="Calibri"/>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solidFill>
                      <a:srgbClr val="4471C4"/>
                    </a:solidFill>
                  </a:tcPr>
                </a:tc>
                <a:tc>
                  <a:txBody>
                    <a:bodyPr/>
                    <a:lstStyle/>
                    <a:p>
                      <a:pPr>
                        <a:lnSpc>
                          <a:spcPct val="100000"/>
                        </a:lnSpc>
                      </a:pPr>
                      <a:endParaRPr sz="2850">
                        <a:latin typeface="Times New Roman"/>
                        <a:cs typeface="Times New Roman"/>
                      </a:endParaRPr>
                    </a:p>
                    <a:p>
                      <a:pPr marL="349250">
                        <a:lnSpc>
                          <a:spcPts val="1664"/>
                        </a:lnSpc>
                      </a:pPr>
                      <a:r>
                        <a:rPr sz="2100" b="1" spc="5" dirty="0">
                          <a:solidFill>
                            <a:srgbClr val="FFFFFF"/>
                          </a:solidFill>
                          <a:latin typeface="Calibri"/>
                          <a:cs typeface="Calibri"/>
                        </a:rPr>
                        <a:t>C.F</a:t>
                      </a:r>
                      <a:endParaRPr sz="2100">
                        <a:latin typeface="Calibri"/>
                        <a:cs typeface="Calibri"/>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solidFill>
                      <a:srgbClr val="4471C4"/>
                    </a:solidFill>
                  </a:tcPr>
                </a:tc>
                <a:tc>
                  <a:txBody>
                    <a:bodyPr/>
                    <a:lstStyle/>
                    <a:p>
                      <a:pPr>
                        <a:lnSpc>
                          <a:spcPct val="100000"/>
                        </a:lnSpc>
                      </a:pPr>
                      <a:endParaRPr sz="2300">
                        <a:latin typeface="Times New Roman"/>
                        <a:cs typeface="Times New Roman"/>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solidFill>
                      <a:srgbClr val="4471C4"/>
                    </a:solidFill>
                  </a:tcPr>
                </a:tc>
              </a:tr>
              <a:tr h="270256">
                <a:tc vMerge="1">
                  <a:txBody>
                    <a:bodyPr/>
                    <a:lstStyle/>
                    <a:p>
                      <a:endParaRPr/>
                    </a:p>
                  </a:txBody>
                  <a:tcPr marL="0" marR="0" marT="0" marB="0"/>
                </a:tc>
                <a:tc vMerge="1">
                  <a:txBody>
                    <a:bodyPr/>
                    <a:lstStyle/>
                    <a:p>
                      <a:endParaRPr/>
                    </a:p>
                  </a:txBody>
                  <a:tcPr marL="0" marR="0" marT="87630" marB="0">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vMerge="1">
                  <a:txBody>
                    <a:bodyPr/>
                    <a:lstStyle/>
                    <a:p>
                      <a:endParaRPr/>
                    </a:p>
                  </a:txBody>
                  <a:tcPr marL="0" marR="0" marT="87630"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rowSpan="10">
                  <a:txBody>
                    <a:bodyPr/>
                    <a:lstStyle/>
                    <a:p>
                      <a:pPr>
                        <a:lnSpc>
                          <a:spcPct val="100000"/>
                        </a:lnSpc>
                      </a:pPr>
                      <a:endParaRPr sz="2300" dirty="0">
                        <a:latin typeface="Times New Roman"/>
                        <a:cs typeface="Times New Roman"/>
                      </a:endParaRPr>
                    </a:p>
                  </a:txBody>
                  <a:tcPr marL="0" marR="0" marT="0" marB="0">
                    <a:lnL w="12700">
                      <a:solidFill>
                        <a:srgbClr val="FFFFFF"/>
                      </a:solidFill>
                      <a:prstDash val="solid"/>
                    </a:lnL>
                    <a:lnR w="12700">
                      <a:solidFill>
                        <a:srgbClr val="FFFFFF"/>
                      </a:solidFill>
                      <a:prstDash val="solid"/>
                    </a:lnR>
                  </a:tcPr>
                </a:tc>
                <a:tc rowSpan="3">
                  <a:txBody>
                    <a:bodyPr/>
                    <a:lstStyle/>
                    <a:p>
                      <a:pPr marL="126364">
                        <a:lnSpc>
                          <a:spcPct val="100000"/>
                        </a:lnSpc>
                        <a:spcBef>
                          <a:spcPts val="755"/>
                        </a:spcBef>
                      </a:pPr>
                      <a:r>
                        <a:rPr sz="2100" b="1" spc="-10" dirty="0">
                          <a:solidFill>
                            <a:srgbClr val="FFFFFF"/>
                          </a:solidFill>
                          <a:latin typeface="Calibri"/>
                          <a:cs typeface="Calibri"/>
                        </a:rPr>
                        <a:t>Weekly</a:t>
                      </a:r>
                      <a:r>
                        <a:rPr sz="2100" b="1" spc="-55" dirty="0">
                          <a:solidFill>
                            <a:srgbClr val="FFFFFF"/>
                          </a:solidFill>
                          <a:latin typeface="Calibri"/>
                          <a:cs typeface="Calibri"/>
                        </a:rPr>
                        <a:t> </a:t>
                      </a:r>
                      <a:r>
                        <a:rPr sz="2100" b="1" spc="-5" dirty="0">
                          <a:solidFill>
                            <a:srgbClr val="FFFFFF"/>
                          </a:solidFill>
                          <a:latin typeface="Calibri"/>
                          <a:cs typeface="Calibri"/>
                        </a:rPr>
                        <a:t>wages</a:t>
                      </a:r>
                      <a:endParaRPr sz="2100" dirty="0">
                        <a:latin typeface="Calibri"/>
                        <a:cs typeface="Calibri"/>
                      </a:endParaRPr>
                    </a:p>
                  </a:txBody>
                  <a:tcPr marL="0" marR="0" marT="95885" marB="0">
                    <a:lnL w="12700">
                      <a:solidFill>
                        <a:srgbClr val="FFFFFF"/>
                      </a:solidFill>
                      <a:prstDash val="solid"/>
                    </a:lnL>
                    <a:lnR w="12700">
                      <a:solidFill>
                        <a:srgbClr val="FFFFFF"/>
                      </a:solidFill>
                      <a:prstDash val="solid"/>
                    </a:lnR>
                    <a:lnB w="38100">
                      <a:solidFill>
                        <a:srgbClr val="FFFFFF"/>
                      </a:solidFill>
                      <a:prstDash val="solid"/>
                    </a:lnB>
                    <a:solidFill>
                      <a:srgbClr val="4471C4"/>
                    </a:solidFill>
                  </a:tcPr>
                </a:tc>
                <a:tc rowSpan="3">
                  <a:txBody>
                    <a:bodyPr/>
                    <a:lstStyle/>
                    <a:p>
                      <a:pPr marL="208279" marR="197485" indent="329565">
                        <a:lnSpc>
                          <a:spcPct val="100000"/>
                        </a:lnSpc>
                        <a:spcBef>
                          <a:spcPts val="755"/>
                        </a:spcBef>
                      </a:pPr>
                      <a:r>
                        <a:rPr sz="1200" b="1" dirty="0">
                          <a:solidFill>
                            <a:srgbClr val="FFFFFF"/>
                          </a:solidFill>
                          <a:latin typeface="Calibri"/>
                          <a:cs typeface="Calibri"/>
                        </a:rPr>
                        <a:t>of </a:t>
                      </a:r>
                      <a:r>
                        <a:rPr sz="1200" b="1" spc="5" dirty="0">
                          <a:solidFill>
                            <a:srgbClr val="FFFFFF"/>
                          </a:solidFill>
                          <a:latin typeface="Calibri"/>
                          <a:cs typeface="Calibri"/>
                        </a:rPr>
                        <a:t> </a:t>
                      </a:r>
                      <a:r>
                        <a:rPr sz="1200" b="1" spc="-15" dirty="0">
                          <a:solidFill>
                            <a:srgbClr val="FFFFFF"/>
                          </a:solidFill>
                          <a:latin typeface="Calibri"/>
                          <a:cs typeface="Calibri"/>
                        </a:rPr>
                        <a:t>w</a:t>
                      </a:r>
                      <a:r>
                        <a:rPr sz="1200" b="1" spc="-10" dirty="0">
                          <a:solidFill>
                            <a:srgbClr val="FFFFFF"/>
                          </a:solidFill>
                          <a:latin typeface="Calibri"/>
                          <a:cs typeface="Calibri"/>
                        </a:rPr>
                        <a:t>o</a:t>
                      </a:r>
                      <a:r>
                        <a:rPr sz="1200" b="1" spc="-5" dirty="0">
                          <a:solidFill>
                            <a:srgbClr val="FFFFFF"/>
                          </a:solidFill>
                          <a:latin typeface="Calibri"/>
                          <a:cs typeface="Calibri"/>
                        </a:rPr>
                        <a:t>r</a:t>
                      </a:r>
                      <a:r>
                        <a:rPr sz="1200" b="1" spc="-65" dirty="0">
                          <a:solidFill>
                            <a:srgbClr val="FFFFFF"/>
                          </a:solidFill>
                          <a:latin typeface="Calibri"/>
                          <a:cs typeface="Calibri"/>
                        </a:rPr>
                        <a:t>k</a:t>
                      </a:r>
                      <a:r>
                        <a:rPr sz="1200" b="1" spc="-10" dirty="0">
                          <a:solidFill>
                            <a:srgbClr val="FFFFFF"/>
                          </a:solidFill>
                          <a:latin typeface="Calibri"/>
                          <a:cs typeface="Calibri"/>
                        </a:rPr>
                        <a:t>e</a:t>
                      </a:r>
                      <a:r>
                        <a:rPr sz="1200" b="1" spc="-35" dirty="0">
                          <a:solidFill>
                            <a:srgbClr val="FFFFFF"/>
                          </a:solidFill>
                          <a:latin typeface="Calibri"/>
                          <a:cs typeface="Calibri"/>
                        </a:rPr>
                        <a:t>r</a:t>
                      </a:r>
                      <a:r>
                        <a:rPr sz="1200" b="1" dirty="0">
                          <a:solidFill>
                            <a:srgbClr val="FFFFFF"/>
                          </a:solidFill>
                          <a:latin typeface="Calibri"/>
                          <a:cs typeface="Calibri"/>
                        </a:rPr>
                        <a:t>s</a:t>
                      </a:r>
                      <a:endParaRPr sz="1200" dirty="0">
                        <a:latin typeface="Calibri"/>
                        <a:cs typeface="Calibri"/>
                      </a:endParaRPr>
                    </a:p>
                  </a:txBody>
                  <a:tcPr marL="0" marR="0" marT="95885" marB="0">
                    <a:lnL w="12700">
                      <a:solidFill>
                        <a:srgbClr val="FFFFFF"/>
                      </a:solidFill>
                      <a:prstDash val="solid"/>
                    </a:lnL>
                    <a:lnR w="12700">
                      <a:solidFill>
                        <a:srgbClr val="FFFFFF"/>
                      </a:solidFill>
                      <a:prstDash val="solid"/>
                    </a:lnR>
                    <a:lnB w="38100">
                      <a:solidFill>
                        <a:srgbClr val="FFFFFF"/>
                      </a:solidFill>
                      <a:prstDash val="solid"/>
                    </a:lnB>
                    <a:solidFill>
                      <a:srgbClr val="4471C4"/>
                    </a:solidFill>
                  </a:tcPr>
                </a:tc>
                <a:tc rowSpan="3">
                  <a:txBody>
                    <a:bodyPr/>
                    <a:lstStyle/>
                    <a:p>
                      <a:pPr marL="220979" marR="209550" indent="48260">
                        <a:lnSpc>
                          <a:spcPct val="100000"/>
                        </a:lnSpc>
                        <a:spcBef>
                          <a:spcPts val="755"/>
                        </a:spcBef>
                      </a:pPr>
                      <a:r>
                        <a:rPr lang="en-US" sz="1100" dirty="0" err="1" smtClean="0">
                          <a:solidFill>
                            <a:schemeClr val="bg1"/>
                          </a:solidFill>
                          <a:latin typeface="Calibri"/>
                          <a:cs typeface="Calibri"/>
                        </a:rPr>
                        <a:t>Lesss</a:t>
                      </a:r>
                      <a:r>
                        <a:rPr lang="en-US" sz="1100" dirty="0" smtClean="0">
                          <a:solidFill>
                            <a:schemeClr val="bg1"/>
                          </a:solidFill>
                          <a:latin typeface="Calibri"/>
                          <a:cs typeface="Calibri"/>
                        </a:rPr>
                        <a:t> than</a:t>
                      </a:r>
                      <a:endParaRPr sz="1100" dirty="0">
                        <a:solidFill>
                          <a:schemeClr val="bg1"/>
                        </a:solidFill>
                        <a:latin typeface="Calibri"/>
                        <a:cs typeface="Calibri"/>
                      </a:endParaRPr>
                    </a:p>
                  </a:txBody>
                  <a:tcPr marL="0" marR="0" marT="95885" marB="0">
                    <a:lnL w="12700">
                      <a:solidFill>
                        <a:srgbClr val="FFFFFF"/>
                      </a:solidFill>
                      <a:prstDash val="solid"/>
                    </a:lnL>
                    <a:lnR w="12700">
                      <a:solidFill>
                        <a:srgbClr val="FFFFFF"/>
                      </a:solidFill>
                      <a:prstDash val="solid"/>
                    </a:lnR>
                    <a:lnB w="38100">
                      <a:solidFill>
                        <a:srgbClr val="FFFFFF"/>
                      </a:solidFill>
                      <a:prstDash val="solid"/>
                    </a:lnB>
                    <a:solidFill>
                      <a:srgbClr val="4471C4"/>
                    </a:solidFill>
                  </a:tcPr>
                </a:tc>
                <a:tc rowSpan="3">
                  <a:txBody>
                    <a:bodyPr/>
                    <a:lstStyle/>
                    <a:p>
                      <a:pPr marL="106045">
                        <a:lnSpc>
                          <a:spcPts val="2014"/>
                        </a:lnSpc>
                      </a:pPr>
                      <a:r>
                        <a:rPr sz="2100" b="1" spc="10" dirty="0">
                          <a:solidFill>
                            <a:srgbClr val="FFFFFF"/>
                          </a:solidFill>
                          <a:latin typeface="Calibri"/>
                          <a:cs typeface="Calibri"/>
                        </a:rPr>
                        <a:t>C.F</a:t>
                      </a:r>
                      <a:r>
                        <a:rPr sz="2100" b="1" spc="-70" dirty="0">
                          <a:solidFill>
                            <a:srgbClr val="FFFFFF"/>
                          </a:solidFill>
                          <a:latin typeface="Calibri"/>
                          <a:cs typeface="Calibri"/>
                        </a:rPr>
                        <a:t> </a:t>
                      </a:r>
                      <a:r>
                        <a:rPr sz="2100" b="1" spc="-5" dirty="0">
                          <a:solidFill>
                            <a:srgbClr val="FFFFFF"/>
                          </a:solidFill>
                          <a:latin typeface="Calibri"/>
                          <a:cs typeface="Calibri"/>
                        </a:rPr>
                        <a:t>(More</a:t>
                      </a:r>
                      <a:endParaRPr sz="2100" dirty="0">
                        <a:latin typeface="Calibri"/>
                        <a:cs typeface="Calibri"/>
                      </a:endParaRPr>
                    </a:p>
                    <a:p>
                      <a:pPr marL="349885">
                        <a:lnSpc>
                          <a:spcPct val="100000"/>
                        </a:lnSpc>
                      </a:pPr>
                      <a:r>
                        <a:rPr sz="2100" b="1" dirty="0">
                          <a:solidFill>
                            <a:srgbClr val="FFFFFF"/>
                          </a:solidFill>
                          <a:latin typeface="Calibri"/>
                          <a:cs typeface="Calibri"/>
                        </a:rPr>
                        <a:t>than)</a:t>
                      </a:r>
                      <a:endParaRPr sz="2100" dirty="0">
                        <a:latin typeface="Calibri"/>
                        <a:cs typeface="Calibri"/>
                      </a:endParaRPr>
                    </a:p>
                  </a:txBody>
                  <a:tcPr marL="0" marR="0" marT="0" marB="0">
                    <a:lnL w="12700">
                      <a:solidFill>
                        <a:srgbClr val="FFFFFF"/>
                      </a:solidFill>
                      <a:prstDash val="solid"/>
                    </a:lnL>
                    <a:lnR w="12700">
                      <a:solidFill>
                        <a:srgbClr val="FFFFFF"/>
                      </a:solidFill>
                      <a:prstDash val="solid"/>
                    </a:lnR>
                    <a:lnB w="38100">
                      <a:solidFill>
                        <a:srgbClr val="FFFFFF"/>
                      </a:solidFill>
                      <a:prstDash val="solid"/>
                    </a:lnB>
                    <a:solidFill>
                      <a:srgbClr val="4471C4"/>
                    </a:solidFill>
                  </a:tcPr>
                </a:tc>
              </a:tr>
              <a:tr h="615441">
                <a:tc vMerge="1">
                  <a:txBody>
                    <a:bodyPr/>
                    <a:lstStyle/>
                    <a:p>
                      <a:endParaRPr/>
                    </a:p>
                  </a:txBody>
                  <a:tcPr marL="0" marR="0" marT="0" marB="0"/>
                </a:tc>
                <a:tc>
                  <a:txBody>
                    <a:bodyPr/>
                    <a:lstStyle/>
                    <a:p>
                      <a:pPr marL="424180">
                        <a:lnSpc>
                          <a:spcPct val="100000"/>
                        </a:lnSpc>
                        <a:spcBef>
                          <a:spcPts val="695"/>
                        </a:spcBef>
                      </a:pPr>
                      <a:r>
                        <a:rPr sz="2600" spc="-5" dirty="0">
                          <a:latin typeface="Calibri"/>
                          <a:cs typeface="Calibri"/>
                        </a:rPr>
                        <a:t>0</a:t>
                      </a:r>
                      <a:r>
                        <a:rPr sz="2600" spc="-40" dirty="0">
                          <a:latin typeface="Calibri"/>
                          <a:cs typeface="Calibri"/>
                        </a:rPr>
                        <a:t> </a:t>
                      </a:r>
                      <a:r>
                        <a:rPr sz="2600" spc="-5" dirty="0">
                          <a:latin typeface="Calibri"/>
                          <a:cs typeface="Calibri"/>
                        </a:rPr>
                        <a:t>–</a:t>
                      </a:r>
                      <a:r>
                        <a:rPr sz="2600" spc="-15" dirty="0">
                          <a:latin typeface="Calibri"/>
                          <a:cs typeface="Calibri"/>
                        </a:rPr>
                        <a:t> </a:t>
                      </a:r>
                      <a:r>
                        <a:rPr sz="2600" dirty="0">
                          <a:latin typeface="Calibri"/>
                          <a:cs typeface="Calibri"/>
                        </a:rPr>
                        <a:t>20</a:t>
                      </a:r>
                      <a:endParaRPr sz="2600">
                        <a:latin typeface="Calibri"/>
                        <a:cs typeface="Calibri"/>
                      </a:endParaRPr>
                    </a:p>
                  </a:txBody>
                  <a:tcPr marL="0" marR="0" marT="8826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algn="ctr">
                        <a:lnSpc>
                          <a:spcPct val="100000"/>
                        </a:lnSpc>
                        <a:spcBef>
                          <a:spcPts val="695"/>
                        </a:spcBef>
                      </a:pPr>
                      <a:r>
                        <a:rPr sz="2600" dirty="0">
                          <a:latin typeface="Calibri"/>
                          <a:cs typeface="Calibri"/>
                        </a:rPr>
                        <a:t>41</a:t>
                      </a:r>
                    </a:p>
                  </a:txBody>
                  <a:tcPr marL="0" marR="0" marT="8826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vMerge="1">
                  <a:txBody>
                    <a:bodyPr/>
                    <a:lstStyle/>
                    <a:p>
                      <a:endParaRPr/>
                    </a:p>
                  </a:txBody>
                  <a:tcPr marL="0" marR="0" marT="0" marB="0">
                    <a:lnL w="12700">
                      <a:solidFill>
                        <a:srgbClr val="FFFFFF"/>
                      </a:solidFill>
                      <a:prstDash val="solid"/>
                    </a:lnL>
                    <a:lnR w="12700">
                      <a:solidFill>
                        <a:srgbClr val="FFFFFF"/>
                      </a:solidFill>
                      <a:prstDash val="solid"/>
                    </a:lnR>
                  </a:tcPr>
                </a:tc>
                <a:tc vMerge="1">
                  <a:txBody>
                    <a:bodyPr/>
                    <a:lstStyle/>
                    <a:p>
                      <a:endParaRPr/>
                    </a:p>
                  </a:txBody>
                  <a:tcPr marL="0" marR="0" marT="95885" marB="0">
                    <a:lnL w="12700">
                      <a:solidFill>
                        <a:srgbClr val="FFFFFF"/>
                      </a:solidFill>
                      <a:prstDash val="solid"/>
                    </a:lnL>
                    <a:lnR w="12700">
                      <a:solidFill>
                        <a:srgbClr val="FFFFFF"/>
                      </a:solidFill>
                      <a:prstDash val="solid"/>
                    </a:lnR>
                    <a:lnB w="38100">
                      <a:solidFill>
                        <a:srgbClr val="FFFFFF"/>
                      </a:solidFill>
                      <a:prstDash val="solid"/>
                    </a:lnB>
                    <a:solidFill>
                      <a:srgbClr val="4471C4"/>
                    </a:solidFill>
                  </a:tcPr>
                </a:tc>
                <a:tc vMerge="1">
                  <a:txBody>
                    <a:bodyPr/>
                    <a:lstStyle/>
                    <a:p>
                      <a:endParaRPr/>
                    </a:p>
                  </a:txBody>
                  <a:tcPr marL="0" marR="0" marT="95885" marB="0">
                    <a:lnL w="12700">
                      <a:solidFill>
                        <a:srgbClr val="FFFFFF"/>
                      </a:solidFill>
                      <a:prstDash val="solid"/>
                    </a:lnL>
                    <a:lnR w="12700">
                      <a:solidFill>
                        <a:srgbClr val="FFFFFF"/>
                      </a:solidFill>
                      <a:prstDash val="solid"/>
                    </a:lnR>
                    <a:lnB w="38100">
                      <a:solidFill>
                        <a:srgbClr val="FFFFFF"/>
                      </a:solidFill>
                      <a:prstDash val="solid"/>
                    </a:lnB>
                    <a:solidFill>
                      <a:srgbClr val="4471C4"/>
                    </a:solidFill>
                  </a:tcPr>
                </a:tc>
                <a:tc vMerge="1">
                  <a:txBody>
                    <a:bodyPr/>
                    <a:lstStyle/>
                    <a:p>
                      <a:endParaRPr/>
                    </a:p>
                  </a:txBody>
                  <a:tcPr marL="0" marR="0" marT="95885" marB="0">
                    <a:lnL w="12700">
                      <a:solidFill>
                        <a:srgbClr val="FFFFFF"/>
                      </a:solidFill>
                      <a:prstDash val="solid"/>
                    </a:lnL>
                    <a:lnR w="12700">
                      <a:solidFill>
                        <a:srgbClr val="FFFFFF"/>
                      </a:solidFill>
                      <a:prstDash val="solid"/>
                    </a:lnR>
                    <a:lnB w="38100">
                      <a:solidFill>
                        <a:srgbClr val="FFFFFF"/>
                      </a:solidFill>
                      <a:prstDash val="solid"/>
                    </a:lnB>
                    <a:solidFill>
                      <a:srgbClr val="4471C4"/>
                    </a:solidFill>
                  </a:tcPr>
                </a:tc>
                <a:tc vMerge="1">
                  <a:txBody>
                    <a:bodyPr/>
                    <a:lstStyle/>
                    <a:p>
                      <a:endParaRPr/>
                    </a:p>
                  </a:txBody>
                  <a:tcPr marL="0" marR="0" marT="0" marB="0">
                    <a:lnL w="12700">
                      <a:solidFill>
                        <a:srgbClr val="FFFFFF"/>
                      </a:solidFill>
                      <a:prstDash val="solid"/>
                    </a:lnL>
                    <a:lnR w="12700">
                      <a:solidFill>
                        <a:srgbClr val="FFFFFF"/>
                      </a:solidFill>
                      <a:prstDash val="solid"/>
                    </a:lnR>
                    <a:lnB w="38100">
                      <a:solidFill>
                        <a:srgbClr val="FFFFFF"/>
                      </a:solidFill>
                      <a:prstDash val="solid"/>
                    </a:lnB>
                    <a:solidFill>
                      <a:srgbClr val="4471C4"/>
                    </a:solidFill>
                  </a:tcPr>
                </a:tc>
              </a:tr>
              <a:tr h="299212">
                <a:tc vMerge="1">
                  <a:txBody>
                    <a:bodyPr/>
                    <a:lstStyle/>
                    <a:p>
                      <a:endParaRPr/>
                    </a:p>
                  </a:txBody>
                  <a:tcPr marL="0" marR="0" marT="0" marB="0"/>
                </a:tc>
                <a:tc rowSpan="2">
                  <a:txBody>
                    <a:bodyPr/>
                    <a:lstStyle/>
                    <a:p>
                      <a:pPr marL="341630">
                        <a:lnSpc>
                          <a:spcPct val="100000"/>
                        </a:lnSpc>
                        <a:spcBef>
                          <a:spcPts val="695"/>
                        </a:spcBef>
                      </a:pPr>
                      <a:r>
                        <a:rPr sz="2600" spc="-5" dirty="0">
                          <a:latin typeface="Calibri"/>
                          <a:cs typeface="Calibri"/>
                        </a:rPr>
                        <a:t>20</a:t>
                      </a:r>
                      <a:r>
                        <a:rPr sz="2600" spc="-40" dirty="0">
                          <a:latin typeface="Calibri"/>
                          <a:cs typeface="Calibri"/>
                        </a:rPr>
                        <a:t> </a:t>
                      </a:r>
                      <a:r>
                        <a:rPr sz="2600" spc="-5" dirty="0">
                          <a:latin typeface="Calibri"/>
                          <a:cs typeface="Calibri"/>
                        </a:rPr>
                        <a:t>–</a:t>
                      </a:r>
                      <a:r>
                        <a:rPr sz="2600" spc="-10" dirty="0">
                          <a:latin typeface="Calibri"/>
                          <a:cs typeface="Calibri"/>
                        </a:rPr>
                        <a:t> </a:t>
                      </a:r>
                      <a:r>
                        <a:rPr sz="2600" dirty="0">
                          <a:latin typeface="Calibri"/>
                          <a:cs typeface="Calibri"/>
                        </a:rPr>
                        <a:t>40</a:t>
                      </a:r>
                      <a:endParaRPr sz="2600">
                        <a:latin typeface="Calibri"/>
                        <a:cs typeface="Calibri"/>
                      </a:endParaRPr>
                    </a:p>
                  </a:txBody>
                  <a:tcPr marL="0" marR="0" marT="882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rowSpan="2">
                  <a:txBody>
                    <a:bodyPr/>
                    <a:lstStyle/>
                    <a:p>
                      <a:pPr algn="ctr">
                        <a:lnSpc>
                          <a:spcPct val="100000"/>
                        </a:lnSpc>
                        <a:spcBef>
                          <a:spcPts val="695"/>
                        </a:spcBef>
                      </a:pPr>
                      <a:r>
                        <a:rPr sz="2600" dirty="0">
                          <a:latin typeface="Calibri"/>
                          <a:cs typeface="Calibri"/>
                        </a:rPr>
                        <a:t>51</a:t>
                      </a:r>
                      <a:endParaRPr sz="2600">
                        <a:latin typeface="Calibri"/>
                        <a:cs typeface="Calibri"/>
                      </a:endParaRPr>
                    </a:p>
                  </a:txBody>
                  <a:tcPr marL="0" marR="0" marT="882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vMerge="1">
                  <a:txBody>
                    <a:bodyPr/>
                    <a:lstStyle/>
                    <a:p>
                      <a:endParaRPr/>
                    </a:p>
                  </a:txBody>
                  <a:tcPr marL="0" marR="0" marT="0" marB="0">
                    <a:lnL w="12700">
                      <a:solidFill>
                        <a:srgbClr val="FFFFFF"/>
                      </a:solidFill>
                      <a:prstDash val="solid"/>
                    </a:lnL>
                    <a:lnR w="12700">
                      <a:solidFill>
                        <a:srgbClr val="FFFFFF"/>
                      </a:solidFill>
                      <a:prstDash val="solid"/>
                    </a:lnR>
                  </a:tcPr>
                </a:tc>
                <a:tc vMerge="1">
                  <a:txBody>
                    <a:bodyPr/>
                    <a:lstStyle/>
                    <a:p>
                      <a:endParaRPr/>
                    </a:p>
                  </a:txBody>
                  <a:tcPr marL="0" marR="0" marT="95885" marB="0">
                    <a:lnL w="12700">
                      <a:solidFill>
                        <a:srgbClr val="FFFFFF"/>
                      </a:solidFill>
                      <a:prstDash val="solid"/>
                    </a:lnL>
                    <a:lnR w="12700">
                      <a:solidFill>
                        <a:srgbClr val="FFFFFF"/>
                      </a:solidFill>
                      <a:prstDash val="solid"/>
                    </a:lnR>
                    <a:lnB w="38100">
                      <a:solidFill>
                        <a:srgbClr val="FFFFFF"/>
                      </a:solidFill>
                      <a:prstDash val="solid"/>
                    </a:lnB>
                    <a:solidFill>
                      <a:srgbClr val="4471C4"/>
                    </a:solidFill>
                  </a:tcPr>
                </a:tc>
                <a:tc vMerge="1">
                  <a:txBody>
                    <a:bodyPr/>
                    <a:lstStyle/>
                    <a:p>
                      <a:endParaRPr/>
                    </a:p>
                  </a:txBody>
                  <a:tcPr marL="0" marR="0" marT="95885" marB="0">
                    <a:lnL w="12700">
                      <a:solidFill>
                        <a:srgbClr val="FFFFFF"/>
                      </a:solidFill>
                      <a:prstDash val="solid"/>
                    </a:lnL>
                    <a:lnR w="12700">
                      <a:solidFill>
                        <a:srgbClr val="FFFFFF"/>
                      </a:solidFill>
                      <a:prstDash val="solid"/>
                    </a:lnR>
                    <a:lnB w="38100">
                      <a:solidFill>
                        <a:srgbClr val="FFFFFF"/>
                      </a:solidFill>
                      <a:prstDash val="solid"/>
                    </a:lnB>
                    <a:solidFill>
                      <a:srgbClr val="4471C4"/>
                    </a:solidFill>
                  </a:tcPr>
                </a:tc>
                <a:tc vMerge="1">
                  <a:txBody>
                    <a:bodyPr/>
                    <a:lstStyle/>
                    <a:p>
                      <a:endParaRPr/>
                    </a:p>
                  </a:txBody>
                  <a:tcPr marL="0" marR="0" marT="95885" marB="0">
                    <a:lnL w="12700">
                      <a:solidFill>
                        <a:srgbClr val="FFFFFF"/>
                      </a:solidFill>
                      <a:prstDash val="solid"/>
                    </a:lnL>
                    <a:lnR w="12700">
                      <a:solidFill>
                        <a:srgbClr val="FFFFFF"/>
                      </a:solidFill>
                      <a:prstDash val="solid"/>
                    </a:lnR>
                    <a:lnB w="38100">
                      <a:solidFill>
                        <a:srgbClr val="FFFFFF"/>
                      </a:solidFill>
                      <a:prstDash val="solid"/>
                    </a:lnB>
                    <a:solidFill>
                      <a:srgbClr val="4471C4"/>
                    </a:solidFill>
                  </a:tcPr>
                </a:tc>
                <a:tc vMerge="1">
                  <a:txBody>
                    <a:bodyPr/>
                    <a:lstStyle/>
                    <a:p>
                      <a:endParaRPr/>
                    </a:p>
                  </a:txBody>
                  <a:tcPr marL="0" marR="0" marT="0" marB="0">
                    <a:lnL w="12700">
                      <a:solidFill>
                        <a:srgbClr val="FFFFFF"/>
                      </a:solidFill>
                      <a:prstDash val="solid"/>
                    </a:lnL>
                    <a:lnR w="12700">
                      <a:solidFill>
                        <a:srgbClr val="FFFFFF"/>
                      </a:solidFill>
                      <a:prstDash val="solid"/>
                    </a:lnR>
                    <a:lnB w="38100">
                      <a:solidFill>
                        <a:srgbClr val="FFFFFF"/>
                      </a:solidFill>
                      <a:prstDash val="solid"/>
                    </a:lnB>
                    <a:solidFill>
                      <a:srgbClr val="4471C4"/>
                    </a:solidFill>
                  </a:tcPr>
                </a:tc>
              </a:tr>
              <a:tr h="316229">
                <a:tc vMerge="1">
                  <a:txBody>
                    <a:bodyPr/>
                    <a:lstStyle/>
                    <a:p>
                      <a:endParaRPr/>
                    </a:p>
                  </a:txBody>
                  <a:tcPr marL="0" marR="0" marT="0" marB="0"/>
                </a:tc>
                <a:tc vMerge="1">
                  <a:txBody>
                    <a:bodyPr/>
                    <a:lstStyle/>
                    <a:p>
                      <a:endParaRPr/>
                    </a:p>
                  </a:txBody>
                  <a:tcPr marL="0" marR="0" marT="882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vMerge="1">
                  <a:txBody>
                    <a:bodyPr/>
                    <a:lstStyle/>
                    <a:p>
                      <a:endParaRPr/>
                    </a:p>
                  </a:txBody>
                  <a:tcPr marL="0" marR="0" marT="882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vMerge="1">
                  <a:txBody>
                    <a:bodyPr/>
                    <a:lstStyle/>
                    <a:p>
                      <a:endParaRPr/>
                    </a:p>
                  </a:txBody>
                  <a:tcPr marL="0" marR="0" marT="0" marB="0">
                    <a:lnL w="12700">
                      <a:solidFill>
                        <a:srgbClr val="FFFFFF"/>
                      </a:solidFill>
                      <a:prstDash val="solid"/>
                    </a:lnL>
                    <a:lnR w="12700">
                      <a:solidFill>
                        <a:srgbClr val="FFFFFF"/>
                      </a:solidFill>
                      <a:prstDash val="solid"/>
                    </a:lnR>
                  </a:tcPr>
                </a:tc>
                <a:tc rowSpan="2">
                  <a:txBody>
                    <a:bodyPr/>
                    <a:lstStyle/>
                    <a:p>
                      <a:pPr marL="583565">
                        <a:lnSpc>
                          <a:spcPct val="100000"/>
                        </a:lnSpc>
                        <a:spcBef>
                          <a:spcPts val="860"/>
                        </a:spcBef>
                      </a:pPr>
                      <a:r>
                        <a:rPr sz="2100" spc="5" dirty="0">
                          <a:latin typeface="Calibri"/>
                          <a:cs typeface="Calibri"/>
                        </a:rPr>
                        <a:t>0</a:t>
                      </a:r>
                      <a:r>
                        <a:rPr sz="2100" spc="-40" dirty="0">
                          <a:latin typeface="Calibri"/>
                          <a:cs typeface="Calibri"/>
                        </a:rPr>
                        <a:t> </a:t>
                      </a:r>
                      <a:r>
                        <a:rPr sz="2100" spc="5" dirty="0">
                          <a:latin typeface="Calibri"/>
                          <a:cs typeface="Calibri"/>
                        </a:rPr>
                        <a:t>–</a:t>
                      </a:r>
                      <a:r>
                        <a:rPr sz="2100" spc="-20" dirty="0">
                          <a:latin typeface="Calibri"/>
                          <a:cs typeface="Calibri"/>
                        </a:rPr>
                        <a:t> </a:t>
                      </a:r>
                      <a:r>
                        <a:rPr sz="2100" spc="10" dirty="0">
                          <a:latin typeface="Calibri"/>
                          <a:cs typeface="Calibri"/>
                        </a:rPr>
                        <a:t>20</a:t>
                      </a:r>
                      <a:endParaRPr sz="2100">
                        <a:latin typeface="Calibri"/>
                        <a:cs typeface="Calibri"/>
                      </a:endParaRPr>
                    </a:p>
                  </a:txBody>
                  <a:tcPr marL="0" marR="0" marT="10922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rowSpan="2">
                  <a:txBody>
                    <a:bodyPr/>
                    <a:lstStyle/>
                    <a:p>
                      <a:pPr marL="2540" algn="ctr">
                        <a:lnSpc>
                          <a:spcPct val="100000"/>
                        </a:lnSpc>
                        <a:spcBef>
                          <a:spcPts val="860"/>
                        </a:spcBef>
                      </a:pPr>
                      <a:r>
                        <a:rPr sz="2100" spc="10" dirty="0">
                          <a:latin typeface="Calibri"/>
                          <a:cs typeface="Calibri"/>
                        </a:rPr>
                        <a:t>41</a:t>
                      </a:r>
                      <a:endParaRPr sz="2100">
                        <a:latin typeface="Calibri"/>
                        <a:cs typeface="Calibri"/>
                      </a:endParaRPr>
                    </a:p>
                  </a:txBody>
                  <a:tcPr marL="0" marR="0" marT="10922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rowSpan="2">
                  <a:txBody>
                    <a:bodyPr/>
                    <a:lstStyle/>
                    <a:p>
                      <a:pPr marL="5080" algn="ctr">
                        <a:lnSpc>
                          <a:spcPct val="100000"/>
                        </a:lnSpc>
                        <a:spcBef>
                          <a:spcPts val="860"/>
                        </a:spcBef>
                      </a:pPr>
                      <a:r>
                        <a:rPr sz="2100" spc="10" dirty="0">
                          <a:latin typeface="Calibri"/>
                          <a:cs typeface="Calibri"/>
                        </a:rPr>
                        <a:t>41</a:t>
                      </a:r>
                      <a:endParaRPr sz="2100">
                        <a:latin typeface="Calibri"/>
                        <a:cs typeface="Calibri"/>
                      </a:endParaRPr>
                    </a:p>
                  </a:txBody>
                  <a:tcPr marL="0" marR="0" marT="10922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rowSpan="2">
                  <a:txBody>
                    <a:bodyPr/>
                    <a:lstStyle/>
                    <a:p>
                      <a:pPr marL="3175" algn="ctr">
                        <a:lnSpc>
                          <a:spcPct val="100000"/>
                        </a:lnSpc>
                        <a:spcBef>
                          <a:spcPts val="860"/>
                        </a:spcBef>
                      </a:pPr>
                      <a:r>
                        <a:rPr sz="2100" spc="10" dirty="0">
                          <a:latin typeface="Calibri"/>
                          <a:cs typeface="Calibri"/>
                        </a:rPr>
                        <a:t>201</a:t>
                      </a:r>
                      <a:endParaRPr sz="2100">
                        <a:latin typeface="Calibri"/>
                        <a:cs typeface="Calibri"/>
                      </a:endParaRPr>
                    </a:p>
                  </a:txBody>
                  <a:tcPr marL="0" marR="0" marT="10922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r>
              <a:tr h="253237">
                <a:tc vMerge="1">
                  <a:txBody>
                    <a:bodyPr/>
                    <a:lstStyle/>
                    <a:p>
                      <a:endParaRPr/>
                    </a:p>
                  </a:txBody>
                  <a:tcPr marL="0" marR="0" marT="0" marB="0"/>
                </a:tc>
                <a:tc rowSpan="2">
                  <a:txBody>
                    <a:bodyPr/>
                    <a:lstStyle/>
                    <a:p>
                      <a:pPr marL="341630">
                        <a:lnSpc>
                          <a:spcPct val="100000"/>
                        </a:lnSpc>
                        <a:spcBef>
                          <a:spcPts val="695"/>
                        </a:spcBef>
                      </a:pPr>
                      <a:r>
                        <a:rPr sz="2600" spc="-5" dirty="0">
                          <a:latin typeface="Calibri"/>
                          <a:cs typeface="Calibri"/>
                        </a:rPr>
                        <a:t>40</a:t>
                      </a:r>
                      <a:r>
                        <a:rPr sz="2600" spc="-40" dirty="0">
                          <a:latin typeface="Calibri"/>
                          <a:cs typeface="Calibri"/>
                        </a:rPr>
                        <a:t> </a:t>
                      </a:r>
                      <a:r>
                        <a:rPr sz="2600" spc="-5" dirty="0">
                          <a:latin typeface="Calibri"/>
                          <a:cs typeface="Calibri"/>
                        </a:rPr>
                        <a:t>–</a:t>
                      </a:r>
                      <a:r>
                        <a:rPr sz="2600" spc="-10" dirty="0">
                          <a:latin typeface="Calibri"/>
                          <a:cs typeface="Calibri"/>
                        </a:rPr>
                        <a:t> </a:t>
                      </a:r>
                      <a:r>
                        <a:rPr sz="2600" dirty="0">
                          <a:latin typeface="Calibri"/>
                          <a:cs typeface="Calibri"/>
                        </a:rPr>
                        <a:t>60</a:t>
                      </a:r>
                      <a:endParaRPr sz="2600">
                        <a:latin typeface="Calibri"/>
                        <a:cs typeface="Calibri"/>
                      </a:endParaRPr>
                    </a:p>
                  </a:txBody>
                  <a:tcPr marL="0" marR="0" marT="882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rowSpan="2">
                  <a:txBody>
                    <a:bodyPr/>
                    <a:lstStyle/>
                    <a:p>
                      <a:pPr algn="ctr">
                        <a:lnSpc>
                          <a:spcPct val="100000"/>
                        </a:lnSpc>
                        <a:spcBef>
                          <a:spcPts val="695"/>
                        </a:spcBef>
                      </a:pPr>
                      <a:r>
                        <a:rPr sz="2600" dirty="0">
                          <a:latin typeface="Calibri"/>
                          <a:cs typeface="Calibri"/>
                        </a:rPr>
                        <a:t>64</a:t>
                      </a:r>
                      <a:endParaRPr sz="2600">
                        <a:latin typeface="Calibri"/>
                        <a:cs typeface="Calibri"/>
                      </a:endParaRPr>
                    </a:p>
                  </a:txBody>
                  <a:tcPr marL="0" marR="0" marT="882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vMerge="1">
                  <a:txBody>
                    <a:bodyPr/>
                    <a:lstStyle/>
                    <a:p>
                      <a:endParaRPr/>
                    </a:p>
                  </a:txBody>
                  <a:tcPr marL="0" marR="0" marT="0" marB="0">
                    <a:lnL w="12700">
                      <a:solidFill>
                        <a:srgbClr val="FFFFFF"/>
                      </a:solidFill>
                      <a:prstDash val="solid"/>
                    </a:lnL>
                    <a:lnR w="12700">
                      <a:solidFill>
                        <a:srgbClr val="FFFFFF"/>
                      </a:solidFill>
                      <a:prstDash val="solid"/>
                    </a:lnR>
                  </a:tcPr>
                </a:tc>
                <a:tc vMerge="1">
                  <a:txBody>
                    <a:bodyPr/>
                    <a:lstStyle/>
                    <a:p>
                      <a:endParaRPr/>
                    </a:p>
                  </a:txBody>
                  <a:tcPr marL="0" marR="0" marT="10922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vMerge="1">
                  <a:txBody>
                    <a:bodyPr/>
                    <a:lstStyle/>
                    <a:p>
                      <a:endParaRPr/>
                    </a:p>
                  </a:txBody>
                  <a:tcPr marL="0" marR="0" marT="10922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vMerge="1">
                  <a:txBody>
                    <a:bodyPr/>
                    <a:lstStyle/>
                    <a:p>
                      <a:endParaRPr/>
                    </a:p>
                  </a:txBody>
                  <a:tcPr marL="0" marR="0" marT="10922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vMerge="1">
                  <a:txBody>
                    <a:bodyPr/>
                    <a:lstStyle/>
                    <a:p>
                      <a:endParaRPr/>
                    </a:p>
                  </a:txBody>
                  <a:tcPr marL="0" marR="0" marT="10922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r>
              <a:tr h="362204">
                <a:tc vMerge="1">
                  <a:txBody>
                    <a:bodyPr/>
                    <a:lstStyle/>
                    <a:p>
                      <a:endParaRPr/>
                    </a:p>
                  </a:txBody>
                  <a:tcPr marL="0" marR="0" marT="0" marB="0"/>
                </a:tc>
                <a:tc vMerge="1">
                  <a:txBody>
                    <a:bodyPr/>
                    <a:lstStyle/>
                    <a:p>
                      <a:endParaRPr/>
                    </a:p>
                  </a:txBody>
                  <a:tcPr marL="0" marR="0" marT="882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vMerge="1">
                  <a:txBody>
                    <a:bodyPr/>
                    <a:lstStyle/>
                    <a:p>
                      <a:endParaRPr/>
                    </a:p>
                  </a:txBody>
                  <a:tcPr marL="0" marR="0" marT="8826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vMerge="1">
                  <a:txBody>
                    <a:bodyPr/>
                    <a:lstStyle/>
                    <a:p>
                      <a:endParaRPr/>
                    </a:p>
                  </a:txBody>
                  <a:tcPr marL="0" marR="0" marT="0" marB="0">
                    <a:lnL w="12700">
                      <a:solidFill>
                        <a:srgbClr val="FFFFFF"/>
                      </a:solidFill>
                      <a:prstDash val="solid"/>
                    </a:lnL>
                    <a:lnR w="12700">
                      <a:solidFill>
                        <a:srgbClr val="FFFFFF"/>
                      </a:solidFill>
                      <a:prstDash val="solid"/>
                    </a:lnR>
                  </a:tcPr>
                </a:tc>
                <a:tc rowSpan="2">
                  <a:txBody>
                    <a:bodyPr/>
                    <a:lstStyle/>
                    <a:p>
                      <a:pPr marL="516255">
                        <a:lnSpc>
                          <a:spcPct val="100000"/>
                        </a:lnSpc>
                        <a:spcBef>
                          <a:spcPts val="860"/>
                        </a:spcBef>
                      </a:pPr>
                      <a:r>
                        <a:rPr sz="2100" spc="5" dirty="0">
                          <a:latin typeface="Calibri"/>
                          <a:cs typeface="Calibri"/>
                        </a:rPr>
                        <a:t>20</a:t>
                      </a:r>
                      <a:r>
                        <a:rPr sz="2100" spc="-60" dirty="0">
                          <a:latin typeface="Calibri"/>
                          <a:cs typeface="Calibri"/>
                        </a:rPr>
                        <a:t> </a:t>
                      </a:r>
                      <a:r>
                        <a:rPr sz="2100" spc="5" dirty="0">
                          <a:latin typeface="Calibri"/>
                          <a:cs typeface="Calibri"/>
                        </a:rPr>
                        <a:t>–</a:t>
                      </a:r>
                      <a:r>
                        <a:rPr sz="2100" spc="-20" dirty="0">
                          <a:latin typeface="Calibri"/>
                          <a:cs typeface="Calibri"/>
                        </a:rPr>
                        <a:t> </a:t>
                      </a:r>
                      <a:r>
                        <a:rPr sz="2100" spc="10" dirty="0">
                          <a:latin typeface="Calibri"/>
                          <a:cs typeface="Calibri"/>
                        </a:rPr>
                        <a:t>40</a:t>
                      </a:r>
                      <a:endParaRPr sz="2100">
                        <a:latin typeface="Calibri"/>
                        <a:cs typeface="Calibri"/>
                      </a:endParaRPr>
                    </a:p>
                  </a:txBody>
                  <a:tcPr marL="0" marR="0" marT="10922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rowSpan="2">
                  <a:txBody>
                    <a:bodyPr/>
                    <a:lstStyle/>
                    <a:p>
                      <a:pPr marL="2540" algn="ctr">
                        <a:lnSpc>
                          <a:spcPct val="100000"/>
                        </a:lnSpc>
                        <a:spcBef>
                          <a:spcPts val="860"/>
                        </a:spcBef>
                      </a:pPr>
                      <a:r>
                        <a:rPr sz="2100" spc="10" dirty="0">
                          <a:latin typeface="Calibri"/>
                          <a:cs typeface="Calibri"/>
                        </a:rPr>
                        <a:t>51</a:t>
                      </a:r>
                      <a:endParaRPr sz="2100">
                        <a:latin typeface="Calibri"/>
                        <a:cs typeface="Calibri"/>
                      </a:endParaRPr>
                    </a:p>
                  </a:txBody>
                  <a:tcPr marL="0" marR="0" marT="10922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rowSpan="2">
                  <a:txBody>
                    <a:bodyPr/>
                    <a:lstStyle/>
                    <a:p>
                      <a:pPr marL="5080" algn="ctr">
                        <a:lnSpc>
                          <a:spcPct val="100000"/>
                        </a:lnSpc>
                        <a:spcBef>
                          <a:spcPts val="860"/>
                        </a:spcBef>
                      </a:pPr>
                      <a:r>
                        <a:rPr sz="2100" spc="10" dirty="0">
                          <a:latin typeface="Calibri"/>
                          <a:cs typeface="Calibri"/>
                        </a:rPr>
                        <a:t>92</a:t>
                      </a:r>
                      <a:endParaRPr sz="2100">
                        <a:latin typeface="Calibri"/>
                        <a:cs typeface="Calibri"/>
                      </a:endParaRPr>
                    </a:p>
                  </a:txBody>
                  <a:tcPr marL="0" marR="0" marT="10922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rowSpan="2">
                  <a:txBody>
                    <a:bodyPr/>
                    <a:lstStyle/>
                    <a:p>
                      <a:pPr marL="3175" algn="ctr">
                        <a:lnSpc>
                          <a:spcPct val="100000"/>
                        </a:lnSpc>
                        <a:spcBef>
                          <a:spcPts val="860"/>
                        </a:spcBef>
                      </a:pPr>
                      <a:r>
                        <a:rPr sz="2100" spc="10" dirty="0">
                          <a:latin typeface="Calibri"/>
                          <a:cs typeface="Calibri"/>
                        </a:rPr>
                        <a:t>160</a:t>
                      </a:r>
                      <a:endParaRPr sz="2100">
                        <a:latin typeface="Calibri"/>
                        <a:cs typeface="Calibri"/>
                      </a:endParaRPr>
                    </a:p>
                  </a:txBody>
                  <a:tcPr marL="0" marR="0" marT="10922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r>
              <a:tr h="207263">
                <a:tc vMerge="1">
                  <a:txBody>
                    <a:bodyPr/>
                    <a:lstStyle/>
                    <a:p>
                      <a:endParaRPr/>
                    </a:p>
                  </a:txBody>
                  <a:tcPr marL="0" marR="0" marT="0" marB="0"/>
                </a:tc>
                <a:tc rowSpan="2">
                  <a:txBody>
                    <a:bodyPr/>
                    <a:lstStyle/>
                    <a:p>
                      <a:pPr marL="341630">
                        <a:lnSpc>
                          <a:spcPct val="100000"/>
                        </a:lnSpc>
                        <a:spcBef>
                          <a:spcPts val="700"/>
                        </a:spcBef>
                      </a:pPr>
                      <a:r>
                        <a:rPr sz="2600" spc="-5" dirty="0">
                          <a:latin typeface="Calibri"/>
                          <a:cs typeface="Calibri"/>
                        </a:rPr>
                        <a:t>60</a:t>
                      </a:r>
                      <a:r>
                        <a:rPr sz="2600" spc="-40" dirty="0">
                          <a:latin typeface="Calibri"/>
                          <a:cs typeface="Calibri"/>
                        </a:rPr>
                        <a:t> </a:t>
                      </a:r>
                      <a:r>
                        <a:rPr sz="2600" spc="-5" dirty="0">
                          <a:latin typeface="Calibri"/>
                          <a:cs typeface="Calibri"/>
                        </a:rPr>
                        <a:t>–</a:t>
                      </a:r>
                      <a:r>
                        <a:rPr sz="2600" spc="-10" dirty="0">
                          <a:latin typeface="Calibri"/>
                          <a:cs typeface="Calibri"/>
                        </a:rPr>
                        <a:t> </a:t>
                      </a:r>
                      <a:r>
                        <a:rPr sz="2600" dirty="0">
                          <a:latin typeface="Calibri"/>
                          <a:cs typeface="Calibri"/>
                        </a:rPr>
                        <a:t>80</a:t>
                      </a:r>
                      <a:endParaRPr sz="2600">
                        <a:latin typeface="Calibri"/>
                        <a:cs typeface="Calibri"/>
                      </a:endParaRPr>
                    </a:p>
                  </a:txBody>
                  <a:tcPr marL="0" marR="0" marT="889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rowSpan="2">
                  <a:txBody>
                    <a:bodyPr/>
                    <a:lstStyle/>
                    <a:p>
                      <a:pPr algn="ctr">
                        <a:lnSpc>
                          <a:spcPct val="100000"/>
                        </a:lnSpc>
                        <a:spcBef>
                          <a:spcPts val="700"/>
                        </a:spcBef>
                      </a:pPr>
                      <a:r>
                        <a:rPr sz="2600" dirty="0">
                          <a:latin typeface="Calibri"/>
                          <a:cs typeface="Calibri"/>
                        </a:rPr>
                        <a:t>38</a:t>
                      </a:r>
                      <a:endParaRPr sz="2600">
                        <a:latin typeface="Calibri"/>
                        <a:cs typeface="Calibri"/>
                      </a:endParaRPr>
                    </a:p>
                  </a:txBody>
                  <a:tcPr marL="0" marR="0" marT="889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vMerge="1">
                  <a:txBody>
                    <a:bodyPr/>
                    <a:lstStyle/>
                    <a:p>
                      <a:endParaRPr/>
                    </a:p>
                  </a:txBody>
                  <a:tcPr marL="0" marR="0" marT="0" marB="0">
                    <a:lnL w="12700">
                      <a:solidFill>
                        <a:srgbClr val="FFFFFF"/>
                      </a:solidFill>
                      <a:prstDash val="solid"/>
                    </a:lnL>
                    <a:lnR w="12700">
                      <a:solidFill>
                        <a:srgbClr val="FFFFFF"/>
                      </a:solidFill>
                      <a:prstDash val="solid"/>
                    </a:lnR>
                  </a:tcPr>
                </a:tc>
                <a:tc vMerge="1">
                  <a:txBody>
                    <a:bodyPr/>
                    <a:lstStyle/>
                    <a:p>
                      <a:endParaRPr/>
                    </a:p>
                  </a:txBody>
                  <a:tcPr marL="0" marR="0" marT="10922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vMerge="1">
                  <a:txBody>
                    <a:bodyPr/>
                    <a:lstStyle/>
                    <a:p>
                      <a:endParaRPr/>
                    </a:p>
                  </a:txBody>
                  <a:tcPr marL="0" marR="0" marT="10922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vMerge="1">
                  <a:txBody>
                    <a:bodyPr/>
                    <a:lstStyle/>
                    <a:p>
                      <a:endParaRPr/>
                    </a:p>
                  </a:txBody>
                  <a:tcPr marL="0" marR="0" marT="10922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vMerge="1">
                  <a:txBody>
                    <a:bodyPr/>
                    <a:lstStyle/>
                    <a:p>
                      <a:endParaRPr/>
                    </a:p>
                  </a:txBody>
                  <a:tcPr marL="0" marR="0" marT="10922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r>
              <a:tr h="408177">
                <a:tc vMerge="1">
                  <a:txBody>
                    <a:bodyPr/>
                    <a:lstStyle/>
                    <a:p>
                      <a:endParaRPr/>
                    </a:p>
                  </a:txBody>
                  <a:tcPr marL="0" marR="0" marT="0" marB="0"/>
                </a:tc>
                <a:tc vMerge="1">
                  <a:txBody>
                    <a:bodyPr/>
                    <a:lstStyle/>
                    <a:p>
                      <a:endParaRPr/>
                    </a:p>
                  </a:txBody>
                  <a:tcPr marL="0" marR="0" marT="889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vMerge="1">
                  <a:txBody>
                    <a:bodyPr/>
                    <a:lstStyle/>
                    <a:p>
                      <a:endParaRPr/>
                    </a:p>
                  </a:txBody>
                  <a:tcPr marL="0" marR="0" marT="889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vMerge="1">
                  <a:txBody>
                    <a:bodyPr/>
                    <a:lstStyle/>
                    <a:p>
                      <a:endParaRPr/>
                    </a:p>
                  </a:txBody>
                  <a:tcPr marL="0" marR="0" marT="0" marB="0">
                    <a:lnL w="12700">
                      <a:solidFill>
                        <a:srgbClr val="FFFFFF"/>
                      </a:solidFill>
                      <a:prstDash val="solid"/>
                    </a:lnL>
                    <a:lnR w="12700">
                      <a:solidFill>
                        <a:srgbClr val="FFFFFF"/>
                      </a:solidFill>
                      <a:prstDash val="solid"/>
                    </a:lnR>
                  </a:tcPr>
                </a:tc>
                <a:tc rowSpan="2">
                  <a:txBody>
                    <a:bodyPr/>
                    <a:lstStyle/>
                    <a:p>
                      <a:pPr marL="516255">
                        <a:lnSpc>
                          <a:spcPct val="100000"/>
                        </a:lnSpc>
                        <a:spcBef>
                          <a:spcPts val="865"/>
                        </a:spcBef>
                      </a:pPr>
                      <a:r>
                        <a:rPr sz="2100" spc="5" dirty="0">
                          <a:latin typeface="Calibri"/>
                          <a:cs typeface="Calibri"/>
                        </a:rPr>
                        <a:t>40</a:t>
                      </a:r>
                      <a:r>
                        <a:rPr sz="2100" spc="-60" dirty="0">
                          <a:latin typeface="Calibri"/>
                          <a:cs typeface="Calibri"/>
                        </a:rPr>
                        <a:t> </a:t>
                      </a:r>
                      <a:r>
                        <a:rPr sz="2100" spc="5" dirty="0">
                          <a:latin typeface="Calibri"/>
                          <a:cs typeface="Calibri"/>
                        </a:rPr>
                        <a:t>–</a:t>
                      </a:r>
                      <a:r>
                        <a:rPr sz="2100" spc="-25" dirty="0">
                          <a:latin typeface="Calibri"/>
                          <a:cs typeface="Calibri"/>
                        </a:rPr>
                        <a:t> </a:t>
                      </a:r>
                      <a:r>
                        <a:rPr sz="2100" spc="10" dirty="0">
                          <a:latin typeface="Calibri"/>
                          <a:cs typeface="Calibri"/>
                        </a:rPr>
                        <a:t>60</a:t>
                      </a:r>
                      <a:endParaRPr sz="2100" dirty="0">
                        <a:latin typeface="Calibri"/>
                        <a:cs typeface="Calibri"/>
                      </a:endParaRPr>
                    </a:p>
                  </a:txBody>
                  <a:tcPr marL="0" marR="0" marT="1098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rowSpan="2">
                  <a:txBody>
                    <a:bodyPr/>
                    <a:lstStyle/>
                    <a:p>
                      <a:pPr marL="2540" algn="ctr">
                        <a:lnSpc>
                          <a:spcPct val="100000"/>
                        </a:lnSpc>
                        <a:spcBef>
                          <a:spcPts val="865"/>
                        </a:spcBef>
                      </a:pPr>
                      <a:r>
                        <a:rPr sz="2100" spc="10" dirty="0">
                          <a:latin typeface="Calibri"/>
                          <a:cs typeface="Calibri"/>
                        </a:rPr>
                        <a:t>64</a:t>
                      </a:r>
                      <a:endParaRPr sz="2100">
                        <a:latin typeface="Calibri"/>
                        <a:cs typeface="Calibri"/>
                      </a:endParaRPr>
                    </a:p>
                  </a:txBody>
                  <a:tcPr marL="0" marR="0" marT="1098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rowSpan="2">
                  <a:txBody>
                    <a:bodyPr/>
                    <a:lstStyle/>
                    <a:p>
                      <a:pPr marL="312420">
                        <a:lnSpc>
                          <a:spcPct val="100000"/>
                        </a:lnSpc>
                        <a:spcBef>
                          <a:spcPts val="865"/>
                        </a:spcBef>
                      </a:pPr>
                      <a:r>
                        <a:rPr sz="2100" spc="10" dirty="0">
                          <a:latin typeface="Calibri"/>
                          <a:cs typeface="Calibri"/>
                        </a:rPr>
                        <a:t>156</a:t>
                      </a:r>
                      <a:endParaRPr sz="2100">
                        <a:latin typeface="Calibri"/>
                        <a:cs typeface="Calibri"/>
                      </a:endParaRPr>
                    </a:p>
                  </a:txBody>
                  <a:tcPr marL="0" marR="0" marT="1098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rowSpan="2">
                  <a:txBody>
                    <a:bodyPr/>
                    <a:lstStyle/>
                    <a:p>
                      <a:pPr marL="3175" algn="ctr">
                        <a:lnSpc>
                          <a:spcPct val="100000"/>
                        </a:lnSpc>
                        <a:spcBef>
                          <a:spcPts val="865"/>
                        </a:spcBef>
                      </a:pPr>
                      <a:r>
                        <a:rPr sz="2100" spc="10" dirty="0">
                          <a:latin typeface="Calibri"/>
                          <a:cs typeface="Calibri"/>
                        </a:rPr>
                        <a:t>109</a:t>
                      </a:r>
                      <a:endParaRPr sz="2100">
                        <a:latin typeface="Calibri"/>
                        <a:cs typeface="Calibri"/>
                      </a:endParaRPr>
                    </a:p>
                  </a:txBody>
                  <a:tcPr marL="0" marR="0" marT="1098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r>
              <a:tr h="161289">
                <a:tc vMerge="1">
                  <a:txBody>
                    <a:bodyPr/>
                    <a:lstStyle/>
                    <a:p>
                      <a:endParaRPr/>
                    </a:p>
                  </a:txBody>
                  <a:tcPr marL="0" marR="0" marT="0" marB="0"/>
                </a:tc>
                <a:tc rowSpan="2">
                  <a:txBody>
                    <a:bodyPr/>
                    <a:lstStyle/>
                    <a:p>
                      <a:pPr marL="256540">
                        <a:lnSpc>
                          <a:spcPct val="100000"/>
                        </a:lnSpc>
                        <a:spcBef>
                          <a:spcPts val="700"/>
                        </a:spcBef>
                      </a:pPr>
                      <a:r>
                        <a:rPr sz="2600" spc="-5" dirty="0">
                          <a:latin typeface="Calibri"/>
                          <a:cs typeface="Calibri"/>
                        </a:rPr>
                        <a:t>80</a:t>
                      </a:r>
                      <a:r>
                        <a:rPr sz="2600" spc="-40" dirty="0">
                          <a:latin typeface="Calibri"/>
                          <a:cs typeface="Calibri"/>
                        </a:rPr>
                        <a:t> </a:t>
                      </a:r>
                      <a:r>
                        <a:rPr sz="2600" spc="-5" dirty="0">
                          <a:latin typeface="Calibri"/>
                          <a:cs typeface="Calibri"/>
                        </a:rPr>
                        <a:t>–</a:t>
                      </a:r>
                      <a:r>
                        <a:rPr sz="2600" spc="-10" dirty="0">
                          <a:latin typeface="Calibri"/>
                          <a:cs typeface="Calibri"/>
                        </a:rPr>
                        <a:t> </a:t>
                      </a:r>
                      <a:r>
                        <a:rPr sz="2600" dirty="0">
                          <a:latin typeface="Calibri"/>
                          <a:cs typeface="Calibri"/>
                        </a:rPr>
                        <a:t>100</a:t>
                      </a:r>
                      <a:endParaRPr sz="2600">
                        <a:latin typeface="Calibri"/>
                        <a:cs typeface="Calibri"/>
                      </a:endParaRPr>
                    </a:p>
                  </a:txBody>
                  <a:tcPr marL="0" marR="0" marT="889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rowSpan="2">
                  <a:txBody>
                    <a:bodyPr/>
                    <a:lstStyle/>
                    <a:p>
                      <a:pPr algn="ctr">
                        <a:lnSpc>
                          <a:spcPct val="100000"/>
                        </a:lnSpc>
                        <a:spcBef>
                          <a:spcPts val="700"/>
                        </a:spcBef>
                      </a:pPr>
                      <a:r>
                        <a:rPr sz="2600" dirty="0">
                          <a:latin typeface="Calibri"/>
                          <a:cs typeface="Calibri"/>
                        </a:rPr>
                        <a:t>7</a:t>
                      </a:r>
                      <a:endParaRPr sz="2600">
                        <a:latin typeface="Calibri"/>
                        <a:cs typeface="Calibri"/>
                      </a:endParaRPr>
                    </a:p>
                  </a:txBody>
                  <a:tcPr marL="0" marR="0" marT="889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vMerge="1">
                  <a:txBody>
                    <a:bodyPr/>
                    <a:lstStyle/>
                    <a:p>
                      <a:endParaRPr/>
                    </a:p>
                  </a:txBody>
                  <a:tcPr marL="0" marR="0" marT="0" marB="0">
                    <a:lnL w="12700">
                      <a:solidFill>
                        <a:srgbClr val="FFFFFF"/>
                      </a:solidFill>
                      <a:prstDash val="solid"/>
                    </a:lnL>
                    <a:lnR w="12700">
                      <a:solidFill>
                        <a:srgbClr val="FFFFFF"/>
                      </a:solidFill>
                      <a:prstDash val="solid"/>
                    </a:lnR>
                  </a:tcPr>
                </a:tc>
                <a:tc vMerge="1">
                  <a:txBody>
                    <a:bodyPr/>
                    <a:lstStyle/>
                    <a:p>
                      <a:endParaRPr/>
                    </a:p>
                  </a:txBody>
                  <a:tcPr marL="0" marR="0" marT="1098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vMerge="1">
                  <a:txBody>
                    <a:bodyPr/>
                    <a:lstStyle/>
                    <a:p>
                      <a:endParaRPr/>
                    </a:p>
                  </a:txBody>
                  <a:tcPr marL="0" marR="0" marT="1098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vMerge="1">
                  <a:txBody>
                    <a:bodyPr/>
                    <a:lstStyle/>
                    <a:p>
                      <a:endParaRPr/>
                    </a:p>
                  </a:txBody>
                  <a:tcPr marL="0" marR="0" marT="1098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vMerge="1">
                  <a:txBody>
                    <a:bodyPr/>
                    <a:lstStyle/>
                    <a:p>
                      <a:endParaRPr/>
                    </a:p>
                  </a:txBody>
                  <a:tcPr marL="0" marR="0" marT="1098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r>
              <a:tr h="454152">
                <a:tc vMerge="1">
                  <a:txBody>
                    <a:bodyPr/>
                    <a:lstStyle/>
                    <a:p>
                      <a:endParaRPr/>
                    </a:p>
                  </a:txBody>
                  <a:tcPr marL="0" marR="0" marT="0" marB="0"/>
                </a:tc>
                <a:tc vMerge="1">
                  <a:txBody>
                    <a:bodyPr/>
                    <a:lstStyle/>
                    <a:p>
                      <a:endParaRPr/>
                    </a:p>
                  </a:txBody>
                  <a:tcPr marL="0" marR="0" marT="889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vMerge="1">
                  <a:txBody>
                    <a:bodyPr/>
                    <a:lstStyle/>
                    <a:p>
                      <a:endParaRPr/>
                    </a:p>
                  </a:txBody>
                  <a:tcPr marL="0" marR="0" marT="8890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vMerge="1">
                  <a:txBody>
                    <a:bodyPr/>
                    <a:lstStyle/>
                    <a:p>
                      <a:endParaRPr/>
                    </a:p>
                  </a:txBody>
                  <a:tcPr marL="0" marR="0" marT="0" marB="0">
                    <a:lnL w="12700">
                      <a:solidFill>
                        <a:srgbClr val="FFFFFF"/>
                      </a:solidFill>
                      <a:prstDash val="solid"/>
                    </a:lnL>
                    <a:lnR w="12700">
                      <a:solidFill>
                        <a:srgbClr val="FFFFFF"/>
                      </a:solidFill>
                      <a:prstDash val="solid"/>
                    </a:lnR>
                  </a:tcPr>
                </a:tc>
                <a:tc rowSpan="2">
                  <a:txBody>
                    <a:bodyPr/>
                    <a:lstStyle/>
                    <a:p>
                      <a:pPr marL="516255">
                        <a:lnSpc>
                          <a:spcPct val="100000"/>
                        </a:lnSpc>
                        <a:spcBef>
                          <a:spcPts val="865"/>
                        </a:spcBef>
                      </a:pPr>
                      <a:r>
                        <a:rPr sz="2100" spc="5" dirty="0">
                          <a:latin typeface="Calibri"/>
                          <a:cs typeface="Calibri"/>
                        </a:rPr>
                        <a:t>60</a:t>
                      </a:r>
                      <a:r>
                        <a:rPr sz="2100" spc="-60" dirty="0">
                          <a:latin typeface="Calibri"/>
                          <a:cs typeface="Calibri"/>
                        </a:rPr>
                        <a:t> </a:t>
                      </a:r>
                      <a:r>
                        <a:rPr sz="2100" spc="5" dirty="0">
                          <a:latin typeface="Calibri"/>
                          <a:cs typeface="Calibri"/>
                        </a:rPr>
                        <a:t>–</a:t>
                      </a:r>
                      <a:r>
                        <a:rPr sz="2100" spc="-25" dirty="0">
                          <a:latin typeface="Calibri"/>
                          <a:cs typeface="Calibri"/>
                        </a:rPr>
                        <a:t> </a:t>
                      </a:r>
                      <a:r>
                        <a:rPr sz="2100" spc="10" dirty="0">
                          <a:latin typeface="Calibri"/>
                          <a:cs typeface="Calibri"/>
                        </a:rPr>
                        <a:t>80</a:t>
                      </a:r>
                      <a:endParaRPr sz="2100" dirty="0">
                        <a:latin typeface="Calibri"/>
                        <a:cs typeface="Calibri"/>
                      </a:endParaRPr>
                    </a:p>
                  </a:txBody>
                  <a:tcPr marL="0" marR="0" marT="1098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rowSpan="2">
                  <a:txBody>
                    <a:bodyPr/>
                    <a:lstStyle/>
                    <a:p>
                      <a:pPr marL="2540" algn="ctr">
                        <a:lnSpc>
                          <a:spcPct val="100000"/>
                        </a:lnSpc>
                        <a:spcBef>
                          <a:spcPts val="865"/>
                        </a:spcBef>
                      </a:pPr>
                      <a:r>
                        <a:rPr sz="2100" spc="10" dirty="0">
                          <a:latin typeface="Calibri"/>
                          <a:cs typeface="Calibri"/>
                        </a:rPr>
                        <a:t>38</a:t>
                      </a:r>
                      <a:endParaRPr sz="2100">
                        <a:latin typeface="Calibri"/>
                        <a:cs typeface="Calibri"/>
                      </a:endParaRPr>
                    </a:p>
                  </a:txBody>
                  <a:tcPr marL="0" marR="0" marT="1098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rowSpan="2">
                  <a:txBody>
                    <a:bodyPr/>
                    <a:lstStyle/>
                    <a:p>
                      <a:pPr marL="312420">
                        <a:lnSpc>
                          <a:spcPct val="100000"/>
                        </a:lnSpc>
                        <a:spcBef>
                          <a:spcPts val="865"/>
                        </a:spcBef>
                      </a:pPr>
                      <a:r>
                        <a:rPr sz="2100" spc="10" dirty="0">
                          <a:latin typeface="Calibri"/>
                          <a:cs typeface="Calibri"/>
                        </a:rPr>
                        <a:t>194</a:t>
                      </a:r>
                      <a:endParaRPr sz="2100">
                        <a:latin typeface="Calibri"/>
                        <a:cs typeface="Calibri"/>
                      </a:endParaRPr>
                    </a:p>
                  </a:txBody>
                  <a:tcPr marL="0" marR="0" marT="1098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rowSpan="2">
                  <a:txBody>
                    <a:bodyPr/>
                    <a:lstStyle/>
                    <a:p>
                      <a:pPr marL="6350" algn="ctr">
                        <a:lnSpc>
                          <a:spcPct val="100000"/>
                        </a:lnSpc>
                        <a:spcBef>
                          <a:spcPts val="865"/>
                        </a:spcBef>
                      </a:pPr>
                      <a:r>
                        <a:rPr sz="2100" spc="10" dirty="0">
                          <a:latin typeface="Calibri"/>
                          <a:cs typeface="Calibri"/>
                        </a:rPr>
                        <a:t>45</a:t>
                      </a:r>
                      <a:endParaRPr sz="2100" dirty="0">
                        <a:latin typeface="Calibri"/>
                        <a:cs typeface="Calibri"/>
                      </a:endParaRPr>
                    </a:p>
                  </a:txBody>
                  <a:tcPr marL="0" marR="0" marT="1098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r>
              <a:tr h="115315">
                <a:tc vMerge="1">
                  <a:txBody>
                    <a:bodyPr/>
                    <a:lstStyle/>
                    <a:p>
                      <a:endParaRPr/>
                    </a:p>
                  </a:txBody>
                  <a:tcPr marL="0" marR="0" marT="0" marB="0"/>
                </a:tc>
                <a:tc rowSpan="2" gridSpan="3">
                  <a:txBody>
                    <a:bodyPr/>
                    <a:lstStyle/>
                    <a:p>
                      <a:pPr>
                        <a:lnSpc>
                          <a:spcPct val="100000"/>
                        </a:lnSpc>
                      </a:pPr>
                      <a:endParaRPr sz="2300">
                        <a:latin typeface="Times New Roman"/>
                        <a:cs typeface="Times New Roman"/>
                      </a:endParaRPr>
                    </a:p>
                  </a:txBody>
                  <a:tcPr marL="0" marR="0" marT="0" marB="0">
                    <a:lnR w="12700">
                      <a:solidFill>
                        <a:srgbClr val="FFFFFF"/>
                      </a:solidFill>
                      <a:prstDash val="solid"/>
                    </a:lnR>
                    <a:lnT w="12700" cap="flat" cmpd="sng" algn="ctr">
                      <a:solidFill>
                        <a:srgbClr val="FFFFFF"/>
                      </a:solidFill>
                      <a:prstDash val="solid"/>
                      <a:round/>
                      <a:headEnd type="none" w="med" len="med"/>
                      <a:tailEnd type="none" w="med" len="med"/>
                    </a:lnT>
                  </a:tcPr>
                </a:tc>
                <a:tc rowSpan="2" hMerge="1">
                  <a:txBody>
                    <a:bodyPr/>
                    <a:lstStyle/>
                    <a:p>
                      <a:endParaRPr/>
                    </a:p>
                  </a:txBody>
                  <a:tcPr marL="0" marR="0" marT="0" marB="0"/>
                </a:tc>
                <a:tc rowSpan="2" hMerge="1">
                  <a:txBody>
                    <a:bodyPr/>
                    <a:lstStyle/>
                    <a:p>
                      <a:endParaRPr/>
                    </a:p>
                  </a:txBody>
                  <a:tcPr marL="0" marR="0" marT="0" marB="0"/>
                </a:tc>
                <a:tc vMerge="1">
                  <a:txBody>
                    <a:bodyPr/>
                    <a:lstStyle/>
                    <a:p>
                      <a:endParaRPr/>
                    </a:p>
                  </a:txBody>
                  <a:tcPr marL="0" marR="0" marT="1098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vMerge="1">
                  <a:txBody>
                    <a:bodyPr/>
                    <a:lstStyle/>
                    <a:p>
                      <a:endParaRPr/>
                    </a:p>
                  </a:txBody>
                  <a:tcPr marL="0" marR="0" marT="1098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vMerge="1">
                  <a:txBody>
                    <a:bodyPr/>
                    <a:lstStyle/>
                    <a:p>
                      <a:endParaRPr/>
                    </a:p>
                  </a:txBody>
                  <a:tcPr marL="0" marR="0" marT="1098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vMerge="1">
                  <a:txBody>
                    <a:bodyPr/>
                    <a:lstStyle/>
                    <a:p>
                      <a:endParaRPr/>
                    </a:p>
                  </a:txBody>
                  <a:tcPr marL="0" marR="0" marT="1098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r>
              <a:tr h="569468">
                <a:tc vMerge="1">
                  <a:txBody>
                    <a:bodyPr/>
                    <a:lstStyle/>
                    <a:p>
                      <a:endParaRPr/>
                    </a:p>
                  </a:txBody>
                  <a:tcPr marL="0" marR="0" marT="0" marB="0"/>
                </a:tc>
                <a:tc gridSpan="3" vMerge="1">
                  <a:txBody>
                    <a:bodyPr/>
                    <a:lstStyle/>
                    <a:p>
                      <a:endParaRPr/>
                    </a:p>
                  </a:txBody>
                  <a:tcPr marL="0" marR="0" marT="0" marB="0">
                    <a:lnR w="12700">
                      <a:solidFill>
                        <a:srgbClr val="FFFFFF"/>
                      </a:solidFill>
                      <a:prstDash val="solid"/>
                    </a:lnR>
                  </a:tcPr>
                </a:tc>
                <a:tc hMerge="1" vMerge="1">
                  <a:txBody>
                    <a:bodyPr/>
                    <a:lstStyle/>
                    <a:p>
                      <a:endParaRPr/>
                    </a:p>
                  </a:txBody>
                  <a:tcPr marL="0" marR="0" marT="0" marB="0"/>
                </a:tc>
                <a:tc hMerge="1" vMerge="1">
                  <a:txBody>
                    <a:bodyPr/>
                    <a:lstStyle/>
                    <a:p>
                      <a:endParaRPr/>
                    </a:p>
                  </a:txBody>
                  <a:tcPr marL="0" marR="0" marT="0" marB="0"/>
                </a:tc>
                <a:tc>
                  <a:txBody>
                    <a:bodyPr/>
                    <a:lstStyle/>
                    <a:p>
                      <a:pPr marL="446405">
                        <a:lnSpc>
                          <a:spcPct val="100000"/>
                        </a:lnSpc>
                        <a:spcBef>
                          <a:spcPts val="865"/>
                        </a:spcBef>
                      </a:pPr>
                      <a:r>
                        <a:rPr sz="2100" spc="5" dirty="0">
                          <a:latin typeface="Calibri"/>
                          <a:cs typeface="Calibri"/>
                        </a:rPr>
                        <a:t>80</a:t>
                      </a:r>
                      <a:r>
                        <a:rPr sz="2100" spc="-60" dirty="0">
                          <a:latin typeface="Calibri"/>
                          <a:cs typeface="Calibri"/>
                        </a:rPr>
                        <a:t> </a:t>
                      </a:r>
                      <a:r>
                        <a:rPr sz="2100" spc="5" dirty="0">
                          <a:latin typeface="Calibri"/>
                          <a:cs typeface="Calibri"/>
                        </a:rPr>
                        <a:t>–</a:t>
                      </a:r>
                      <a:r>
                        <a:rPr sz="2100" spc="-25" dirty="0">
                          <a:latin typeface="Calibri"/>
                          <a:cs typeface="Calibri"/>
                        </a:rPr>
                        <a:t> </a:t>
                      </a:r>
                      <a:r>
                        <a:rPr sz="2100" spc="10" dirty="0">
                          <a:latin typeface="Calibri"/>
                          <a:cs typeface="Calibri"/>
                        </a:rPr>
                        <a:t>100</a:t>
                      </a:r>
                      <a:endParaRPr sz="2100">
                        <a:latin typeface="Calibri"/>
                        <a:cs typeface="Calibri"/>
                      </a:endParaRPr>
                    </a:p>
                  </a:txBody>
                  <a:tcPr marL="0" marR="0" marT="1098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algn="ctr">
                        <a:lnSpc>
                          <a:spcPct val="100000"/>
                        </a:lnSpc>
                        <a:spcBef>
                          <a:spcPts val="865"/>
                        </a:spcBef>
                      </a:pPr>
                      <a:r>
                        <a:rPr sz="2100" dirty="0">
                          <a:latin typeface="Calibri"/>
                          <a:cs typeface="Calibri"/>
                        </a:rPr>
                        <a:t>7</a:t>
                      </a:r>
                      <a:endParaRPr sz="2100">
                        <a:latin typeface="Calibri"/>
                        <a:cs typeface="Calibri"/>
                      </a:endParaRPr>
                    </a:p>
                  </a:txBody>
                  <a:tcPr marL="0" marR="0" marT="1098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312420">
                        <a:lnSpc>
                          <a:spcPct val="100000"/>
                        </a:lnSpc>
                        <a:spcBef>
                          <a:spcPts val="865"/>
                        </a:spcBef>
                      </a:pPr>
                      <a:r>
                        <a:rPr sz="2100" spc="10" dirty="0">
                          <a:latin typeface="Calibri"/>
                          <a:cs typeface="Calibri"/>
                        </a:rPr>
                        <a:t>201</a:t>
                      </a:r>
                      <a:endParaRPr sz="2100">
                        <a:latin typeface="Calibri"/>
                        <a:cs typeface="Calibri"/>
                      </a:endParaRPr>
                    </a:p>
                  </a:txBody>
                  <a:tcPr marL="0" marR="0" marT="1098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1905" algn="ctr">
                        <a:lnSpc>
                          <a:spcPct val="100000"/>
                        </a:lnSpc>
                        <a:spcBef>
                          <a:spcPts val="865"/>
                        </a:spcBef>
                      </a:pPr>
                      <a:r>
                        <a:rPr sz="2100" dirty="0">
                          <a:latin typeface="Calibri"/>
                          <a:cs typeface="Calibri"/>
                        </a:rPr>
                        <a:t>7</a:t>
                      </a:r>
                    </a:p>
                  </a:txBody>
                  <a:tcPr marL="0" marR="0" marT="1098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r>
            </a:tbl>
          </a:graphicData>
        </a:graphic>
      </p:graphicFrame>
      <p:pic>
        <p:nvPicPr>
          <p:cNvPr id="3" name="object 3"/>
          <p:cNvPicPr/>
          <p:nvPr/>
        </p:nvPicPr>
        <p:blipFill>
          <a:blip r:embed="rId2" cstate="print"/>
          <a:stretch>
            <a:fillRect/>
          </a:stretch>
        </p:blipFill>
        <p:spPr>
          <a:xfrm>
            <a:off x="2987824" y="2286856"/>
            <a:ext cx="2016224" cy="2879217"/>
          </a:xfrm>
          <a:prstGeom prst="rect">
            <a:avLst/>
          </a:prstGeom>
        </p:spPr>
      </p:pic>
    </p:spTree>
    <p:extLst>
      <p:ext uri="{BB962C8B-B14F-4D97-AF65-F5344CB8AC3E}">
        <p14:creationId xmlns:p14="http://schemas.microsoft.com/office/powerpoint/2010/main" val="148471416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1687246-F724-4D70-9F1A-28081434CE4B}"/>
              </a:ext>
            </a:extLst>
          </p:cNvPr>
          <p:cNvSpPr>
            <a:spLocks noGrp="1"/>
          </p:cNvSpPr>
          <p:nvPr>
            <p:ph type="title"/>
          </p:nvPr>
        </p:nvSpPr>
        <p:spPr/>
        <p:txBody>
          <a:bodyPr>
            <a:normAutofit fontScale="90000"/>
          </a:bodyPr>
          <a:lstStyle/>
          <a:p>
            <a:r>
              <a:rPr lang="en-US" b="1" i="0" dirty="0">
                <a:solidFill>
                  <a:srgbClr val="000000"/>
                </a:solidFill>
                <a:effectLst/>
                <a:latin typeface="Open Sans" panose="020B0606030504020204" pitchFamily="34" charset="0"/>
              </a:rPr>
              <a:t>What is Cumulative Frequency?</a:t>
            </a:r>
            <a:br>
              <a:rPr lang="en-US" b="1" i="0" dirty="0">
                <a:solidFill>
                  <a:srgbClr val="000000"/>
                </a:solidFill>
                <a:effectLst/>
                <a:latin typeface="Open Sans" panose="020B0606030504020204" pitchFamily="34" charset="0"/>
              </a:rPr>
            </a:br>
            <a:endParaRPr lang="en-IN" dirty="0"/>
          </a:p>
        </p:txBody>
      </p:sp>
      <p:sp>
        <p:nvSpPr>
          <p:cNvPr id="3" name="Content Placeholder 2">
            <a:extLst>
              <a:ext uri="{FF2B5EF4-FFF2-40B4-BE49-F238E27FC236}">
                <a16:creationId xmlns="" xmlns:a16="http://schemas.microsoft.com/office/drawing/2014/main" id="{FDBB3BF5-E5EA-45CB-A626-B9B6D887C5A8}"/>
              </a:ext>
            </a:extLst>
          </p:cNvPr>
          <p:cNvSpPr>
            <a:spLocks noGrp="1"/>
          </p:cNvSpPr>
          <p:nvPr>
            <p:ph idx="1"/>
          </p:nvPr>
        </p:nvSpPr>
        <p:spPr/>
        <p:txBody>
          <a:bodyPr>
            <a:normAutofit fontScale="92500" lnSpcReduction="10000"/>
          </a:bodyPr>
          <a:lstStyle/>
          <a:p>
            <a:pPr algn="l"/>
            <a:r>
              <a:rPr lang="en-US" b="0" i="0" dirty="0">
                <a:effectLst/>
                <a:latin typeface="Minion Pro"/>
              </a:rPr>
              <a:t>The frequency is the number of times an event occurs within a given scenario. </a:t>
            </a:r>
          </a:p>
          <a:p>
            <a:pPr algn="l"/>
            <a:r>
              <a:rPr lang="en-US" b="0" i="0" dirty="0">
                <a:effectLst/>
                <a:latin typeface="Minion Pro"/>
              </a:rPr>
              <a:t>Cumulative frequency is defined as the running total of frequencies. </a:t>
            </a:r>
          </a:p>
          <a:p>
            <a:pPr algn="l"/>
            <a:r>
              <a:rPr lang="en-US" b="0" i="0" dirty="0">
                <a:effectLst/>
                <a:latin typeface="Minion Pro"/>
              </a:rPr>
              <a:t>It is the sum of all the previous frequencies up to the current point.</a:t>
            </a:r>
          </a:p>
          <a:p>
            <a:pPr algn="l"/>
            <a:r>
              <a:rPr lang="en-US" b="0" i="0" dirty="0">
                <a:solidFill>
                  <a:srgbClr val="273239"/>
                </a:solidFill>
                <a:effectLst/>
                <a:latin typeface="urw-din"/>
              </a:rPr>
              <a:t>OR we can say, the cumulative frequency of a class is the frequency calculated by adding the frequencies of all the classes preceding the given class.</a:t>
            </a:r>
            <a:endParaRPr lang="en-US" b="0" i="0" dirty="0">
              <a:effectLst/>
              <a:latin typeface="Minion Pro"/>
            </a:endParaRPr>
          </a:p>
          <a:p>
            <a:endParaRPr lang="en-IN" dirty="0"/>
          </a:p>
        </p:txBody>
      </p:sp>
    </p:spTree>
    <p:extLst>
      <p:ext uri="{BB962C8B-B14F-4D97-AF65-F5344CB8AC3E}">
        <p14:creationId xmlns:p14="http://schemas.microsoft.com/office/powerpoint/2010/main" val="359358488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180EB07-C08F-4615-A7AE-1CA7DC11B5DE}"/>
              </a:ext>
            </a:extLst>
          </p:cNvPr>
          <p:cNvSpPr>
            <a:spLocks noGrp="1"/>
          </p:cNvSpPr>
          <p:nvPr>
            <p:ph type="title"/>
          </p:nvPr>
        </p:nvSpPr>
        <p:spPr/>
        <p:txBody>
          <a:bodyPr/>
          <a:lstStyle/>
          <a:p>
            <a:r>
              <a:rPr lang="en-US" dirty="0"/>
              <a:t>Example of Cumulative Frequency</a:t>
            </a:r>
            <a:endParaRPr lang="en-IN" dirty="0"/>
          </a:p>
        </p:txBody>
      </p:sp>
      <p:graphicFrame>
        <p:nvGraphicFramePr>
          <p:cNvPr id="4" name="Content Placeholder 3">
            <a:extLst>
              <a:ext uri="{FF2B5EF4-FFF2-40B4-BE49-F238E27FC236}">
                <a16:creationId xmlns="" xmlns:a16="http://schemas.microsoft.com/office/drawing/2014/main" id="{E59AEA13-64EC-445C-A5B5-0AD319A0084A}"/>
              </a:ext>
            </a:extLst>
          </p:cNvPr>
          <p:cNvGraphicFramePr>
            <a:graphicFrameLocks noGrp="1"/>
          </p:cNvGraphicFramePr>
          <p:nvPr>
            <p:ph idx="1"/>
          </p:nvPr>
        </p:nvGraphicFramePr>
        <p:xfrm>
          <a:off x="1000124" y="1690687"/>
          <a:ext cx="5879306" cy="4712980"/>
        </p:xfrm>
        <a:graphic>
          <a:graphicData uri="http://schemas.openxmlformats.org/drawingml/2006/table">
            <a:tbl>
              <a:tblPr/>
              <a:tblGrid>
                <a:gridCol w="1956135">
                  <a:extLst>
                    <a:ext uri="{9D8B030D-6E8A-4147-A177-3AD203B41FA5}">
                      <a16:colId xmlns="" xmlns:a16="http://schemas.microsoft.com/office/drawing/2014/main" val="2230750172"/>
                    </a:ext>
                  </a:extLst>
                </a:gridCol>
                <a:gridCol w="1956135">
                  <a:extLst>
                    <a:ext uri="{9D8B030D-6E8A-4147-A177-3AD203B41FA5}">
                      <a16:colId xmlns="" xmlns:a16="http://schemas.microsoft.com/office/drawing/2014/main" val="1387247396"/>
                    </a:ext>
                  </a:extLst>
                </a:gridCol>
                <a:gridCol w="1967036">
                  <a:extLst>
                    <a:ext uri="{9D8B030D-6E8A-4147-A177-3AD203B41FA5}">
                      <a16:colId xmlns="" xmlns:a16="http://schemas.microsoft.com/office/drawing/2014/main" val="3909259119"/>
                    </a:ext>
                  </a:extLst>
                </a:gridCol>
              </a:tblGrid>
              <a:tr h="1376987">
                <a:tc>
                  <a:txBody>
                    <a:bodyPr/>
                    <a:lstStyle/>
                    <a:p>
                      <a:pPr algn="l" fontAlgn="ctr"/>
                      <a:r>
                        <a:rPr lang="en-IN" sz="2800" b="0">
                          <a:effectLst/>
                        </a:rPr>
                        <a:t>Marks</a:t>
                      </a:r>
                    </a:p>
                  </a:txBody>
                  <a:tcPr marL="71438" marR="71438" marT="95250" marB="95250" anchor="ctr">
                    <a:lnL w="6350" cap="flat" cmpd="sng" algn="ctr">
                      <a:solidFill>
                        <a:srgbClr val="D05180"/>
                      </a:solidFill>
                      <a:prstDash val="solid"/>
                      <a:round/>
                      <a:headEnd type="none" w="med" len="med"/>
                      <a:tailEnd type="none" w="med" len="med"/>
                    </a:lnL>
                    <a:lnR w="6350" cap="flat" cmpd="sng" algn="ctr">
                      <a:solidFill>
                        <a:srgbClr val="D05180"/>
                      </a:solidFill>
                      <a:prstDash val="solid"/>
                      <a:round/>
                      <a:headEnd type="none" w="med" len="med"/>
                      <a:tailEnd type="none" w="med" len="med"/>
                    </a:lnR>
                    <a:lnT w="6350" cap="flat" cmpd="sng" algn="ctr">
                      <a:solidFill>
                        <a:srgbClr val="D05180"/>
                      </a:solidFill>
                      <a:prstDash val="solid"/>
                      <a:round/>
                      <a:headEnd type="none" w="med" len="med"/>
                      <a:tailEnd type="none" w="med" len="med"/>
                    </a:lnT>
                    <a:lnB w="6350" cap="flat" cmpd="sng" algn="ctr">
                      <a:solidFill>
                        <a:srgbClr val="305280"/>
                      </a:solidFill>
                      <a:prstDash val="solid"/>
                      <a:round/>
                      <a:headEnd type="none" w="med" len="med"/>
                      <a:tailEnd type="none" w="med" len="med"/>
                    </a:lnB>
                    <a:solidFill>
                      <a:srgbClr val="FFFFFF"/>
                    </a:solidFill>
                  </a:tcPr>
                </a:tc>
                <a:tc>
                  <a:txBody>
                    <a:bodyPr/>
                    <a:lstStyle/>
                    <a:p>
                      <a:pPr algn="l" fontAlgn="ctr"/>
                      <a:r>
                        <a:rPr lang="en-IN" sz="2800" b="0">
                          <a:effectLst/>
                        </a:rPr>
                        <a:t>Frequency</a:t>
                      </a:r>
                      <a:endParaRPr lang="en-IN" sz="2800" b="0">
                        <a:effectLst/>
                        <a:latin typeface="Minion Pro"/>
                      </a:endParaRPr>
                    </a:p>
                    <a:p>
                      <a:pPr algn="l" fontAlgn="ctr"/>
                      <a:r>
                        <a:rPr lang="en-IN" sz="2800" b="0">
                          <a:effectLst/>
                          <a:latin typeface="Minion Pro"/>
                        </a:rPr>
                        <a:t>(No. of Students)</a:t>
                      </a:r>
                    </a:p>
                  </a:txBody>
                  <a:tcPr marL="71438" marR="71438" marT="95250" marB="95250" anchor="ctr">
                    <a:lnL w="6350" cap="flat" cmpd="sng" algn="ctr">
                      <a:solidFill>
                        <a:srgbClr val="D05180"/>
                      </a:solidFill>
                      <a:prstDash val="solid"/>
                      <a:round/>
                      <a:headEnd type="none" w="med" len="med"/>
                      <a:tailEnd type="none" w="med" len="med"/>
                    </a:lnL>
                    <a:lnR w="6350" cap="flat" cmpd="sng" algn="ctr">
                      <a:solidFill>
                        <a:srgbClr val="D05180"/>
                      </a:solidFill>
                      <a:prstDash val="solid"/>
                      <a:round/>
                      <a:headEnd type="none" w="med" len="med"/>
                      <a:tailEnd type="none" w="med" len="med"/>
                    </a:lnR>
                    <a:lnT w="6350" cap="flat" cmpd="sng" algn="ctr">
                      <a:solidFill>
                        <a:srgbClr val="D05180"/>
                      </a:solidFill>
                      <a:prstDash val="solid"/>
                      <a:round/>
                      <a:headEnd type="none" w="med" len="med"/>
                      <a:tailEnd type="none" w="med" len="med"/>
                    </a:lnT>
                    <a:lnB w="6350" cap="flat" cmpd="sng" algn="ctr">
                      <a:solidFill>
                        <a:srgbClr val="305280"/>
                      </a:solidFill>
                      <a:prstDash val="solid"/>
                      <a:round/>
                      <a:headEnd type="none" w="med" len="med"/>
                      <a:tailEnd type="none" w="med" len="med"/>
                    </a:lnB>
                    <a:solidFill>
                      <a:srgbClr val="FFFFFF"/>
                    </a:solidFill>
                  </a:tcPr>
                </a:tc>
                <a:tc>
                  <a:txBody>
                    <a:bodyPr/>
                    <a:lstStyle/>
                    <a:p>
                      <a:pPr algn="l" fontAlgn="ctr"/>
                      <a:r>
                        <a:rPr lang="en-IN" sz="2800" b="0">
                          <a:effectLst/>
                        </a:rPr>
                        <a:t>Cumulative Frequency</a:t>
                      </a:r>
                    </a:p>
                  </a:txBody>
                  <a:tcPr marL="71438" marR="71438" marT="95250" marB="95250" anchor="ctr">
                    <a:lnL w="6350" cap="flat" cmpd="sng" algn="ctr">
                      <a:solidFill>
                        <a:srgbClr val="D05180"/>
                      </a:solidFill>
                      <a:prstDash val="solid"/>
                      <a:round/>
                      <a:headEnd type="none" w="med" len="med"/>
                      <a:tailEnd type="none" w="med" len="med"/>
                    </a:lnL>
                    <a:lnR w="6350" cap="flat" cmpd="sng" algn="ctr">
                      <a:solidFill>
                        <a:srgbClr val="D05180"/>
                      </a:solidFill>
                      <a:prstDash val="solid"/>
                      <a:round/>
                      <a:headEnd type="none" w="med" len="med"/>
                      <a:tailEnd type="none" w="med" len="med"/>
                    </a:lnR>
                    <a:lnT w="6350" cap="flat" cmpd="sng" algn="ctr">
                      <a:solidFill>
                        <a:srgbClr val="D05180"/>
                      </a:solidFill>
                      <a:prstDash val="solid"/>
                      <a:round/>
                      <a:headEnd type="none" w="med" len="med"/>
                      <a:tailEnd type="none" w="med" len="med"/>
                    </a:lnT>
                    <a:lnB w="6350" cap="flat" cmpd="sng" algn="ctr">
                      <a:solidFill>
                        <a:srgbClr val="305280"/>
                      </a:solidFill>
                      <a:prstDash val="solid"/>
                      <a:round/>
                      <a:headEnd type="none" w="med" len="med"/>
                      <a:tailEnd type="none" w="med" len="med"/>
                    </a:lnB>
                    <a:solidFill>
                      <a:srgbClr val="FFFFFF"/>
                    </a:solidFill>
                  </a:tcPr>
                </a:tc>
                <a:extLst>
                  <a:ext uri="{0D108BD9-81ED-4DB2-BD59-A6C34878D82A}">
                    <a16:rowId xmlns="" xmlns:a16="http://schemas.microsoft.com/office/drawing/2014/main" val="3916158652"/>
                  </a:ext>
                </a:extLst>
              </a:tr>
              <a:tr h="810580">
                <a:tc>
                  <a:txBody>
                    <a:bodyPr/>
                    <a:lstStyle/>
                    <a:p>
                      <a:pPr algn="l" fontAlgn="ctr"/>
                      <a:r>
                        <a:rPr lang="en-IN" sz="2800" b="0">
                          <a:effectLst/>
                        </a:rPr>
                        <a:t>0 – 5</a:t>
                      </a:r>
                    </a:p>
                  </a:txBody>
                  <a:tcPr marL="71438" marR="71438" marT="95250" marB="95250" anchor="ctr">
                    <a:lnL w="6350" cap="flat" cmpd="sng" algn="ctr">
                      <a:solidFill>
                        <a:srgbClr val="305280"/>
                      </a:solidFill>
                      <a:prstDash val="solid"/>
                      <a:round/>
                      <a:headEnd type="none" w="med" len="med"/>
                      <a:tailEnd type="none" w="med" len="med"/>
                    </a:lnL>
                    <a:lnR w="6350" cap="flat" cmpd="sng" algn="ctr">
                      <a:solidFill>
                        <a:srgbClr val="305280"/>
                      </a:solidFill>
                      <a:prstDash val="solid"/>
                      <a:round/>
                      <a:headEnd type="none" w="med" len="med"/>
                      <a:tailEnd type="none" w="med" len="med"/>
                    </a:lnR>
                    <a:lnT w="6350" cap="flat" cmpd="sng" algn="ctr">
                      <a:solidFill>
                        <a:srgbClr val="305280"/>
                      </a:solidFill>
                      <a:prstDash val="solid"/>
                      <a:round/>
                      <a:headEnd type="none" w="med" len="med"/>
                      <a:tailEnd type="none" w="med" len="med"/>
                    </a:lnT>
                    <a:lnB w="6350" cap="flat" cmpd="sng" algn="ctr">
                      <a:solidFill>
                        <a:srgbClr val="505C80"/>
                      </a:solidFill>
                      <a:prstDash val="solid"/>
                      <a:round/>
                      <a:headEnd type="none" w="med" len="med"/>
                      <a:tailEnd type="none" w="med" len="med"/>
                    </a:lnB>
                    <a:solidFill>
                      <a:srgbClr val="FFFFFF"/>
                    </a:solidFill>
                  </a:tcPr>
                </a:tc>
                <a:tc>
                  <a:txBody>
                    <a:bodyPr/>
                    <a:lstStyle/>
                    <a:p>
                      <a:pPr algn="ctr" fontAlgn="ctr"/>
                      <a:r>
                        <a:rPr lang="en-IN" sz="2800" b="0">
                          <a:effectLst/>
                        </a:rPr>
                        <a:t>2</a:t>
                      </a:r>
                    </a:p>
                  </a:txBody>
                  <a:tcPr marL="71438" marR="71438" marT="95250" marB="95250" anchor="ctr">
                    <a:lnL w="6350" cap="flat" cmpd="sng" algn="ctr">
                      <a:solidFill>
                        <a:srgbClr val="305280"/>
                      </a:solidFill>
                      <a:prstDash val="solid"/>
                      <a:round/>
                      <a:headEnd type="none" w="med" len="med"/>
                      <a:tailEnd type="none" w="med" len="med"/>
                    </a:lnL>
                    <a:lnR w="6350" cap="flat" cmpd="sng" algn="ctr">
                      <a:solidFill>
                        <a:srgbClr val="305280"/>
                      </a:solidFill>
                      <a:prstDash val="solid"/>
                      <a:round/>
                      <a:headEnd type="none" w="med" len="med"/>
                      <a:tailEnd type="none" w="med" len="med"/>
                    </a:lnR>
                    <a:lnT w="6350" cap="flat" cmpd="sng" algn="ctr">
                      <a:solidFill>
                        <a:srgbClr val="305280"/>
                      </a:solidFill>
                      <a:prstDash val="solid"/>
                      <a:round/>
                      <a:headEnd type="none" w="med" len="med"/>
                      <a:tailEnd type="none" w="med" len="med"/>
                    </a:lnT>
                    <a:lnB w="6350" cap="flat" cmpd="sng" algn="ctr">
                      <a:solidFill>
                        <a:srgbClr val="505C80"/>
                      </a:solidFill>
                      <a:prstDash val="solid"/>
                      <a:round/>
                      <a:headEnd type="none" w="med" len="med"/>
                      <a:tailEnd type="none" w="med" len="med"/>
                    </a:lnB>
                    <a:solidFill>
                      <a:srgbClr val="FFFFFF"/>
                    </a:solidFill>
                  </a:tcPr>
                </a:tc>
                <a:tc>
                  <a:txBody>
                    <a:bodyPr/>
                    <a:lstStyle/>
                    <a:p>
                      <a:pPr algn="ctr" fontAlgn="ctr"/>
                      <a:r>
                        <a:rPr lang="en-IN" sz="2800" b="0">
                          <a:effectLst/>
                        </a:rPr>
                        <a:t>2</a:t>
                      </a:r>
                    </a:p>
                  </a:txBody>
                  <a:tcPr marL="71438" marR="71438" marT="95250" marB="95250" anchor="ctr">
                    <a:lnL w="6350" cap="flat" cmpd="sng" algn="ctr">
                      <a:solidFill>
                        <a:srgbClr val="305280"/>
                      </a:solidFill>
                      <a:prstDash val="solid"/>
                      <a:round/>
                      <a:headEnd type="none" w="med" len="med"/>
                      <a:tailEnd type="none" w="med" len="med"/>
                    </a:lnL>
                    <a:lnR w="6350" cap="flat" cmpd="sng" algn="ctr">
                      <a:solidFill>
                        <a:srgbClr val="305280"/>
                      </a:solidFill>
                      <a:prstDash val="solid"/>
                      <a:round/>
                      <a:headEnd type="none" w="med" len="med"/>
                      <a:tailEnd type="none" w="med" len="med"/>
                    </a:lnR>
                    <a:lnT w="6350" cap="flat" cmpd="sng" algn="ctr">
                      <a:solidFill>
                        <a:srgbClr val="305280"/>
                      </a:solidFill>
                      <a:prstDash val="solid"/>
                      <a:round/>
                      <a:headEnd type="none" w="med" len="med"/>
                      <a:tailEnd type="none" w="med" len="med"/>
                    </a:lnT>
                    <a:lnB w="6350" cap="flat" cmpd="sng" algn="ctr">
                      <a:solidFill>
                        <a:srgbClr val="505C80"/>
                      </a:solidFill>
                      <a:prstDash val="solid"/>
                      <a:round/>
                      <a:headEnd type="none" w="med" len="med"/>
                      <a:tailEnd type="none" w="med" len="med"/>
                    </a:lnB>
                    <a:solidFill>
                      <a:srgbClr val="FFFFFF"/>
                    </a:solidFill>
                  </a:tcPr>
                </a:tc>
                <a:extLst>
                  <a:ext uri="{0D108BD9-81ED-4DB2-BD59-A6C34878D82A}">
                    <a16:rowId xmlns="" xmlns:a16="http://schemas.microsoft.com/office/drawing/2014/main" val="994562132"/>
                  </a:ext>
                </a:extLst>
              </a:tr>
              <a:tr h="810580">
                <a:tc>
                  <a:txBody>
                    <a:bodyPr/>
                    <a:lstStyle/>
                    <a:p>
                      <a:pPr algn="l" fontAlgn="ctr"/>
                      <a:r>
                        <a:rPr lang="en-IN" sz="2800" b="0">
                          <a:effectLst/>
                        </a:rPr>
                        <a:t>5 – 10</a:t>
                      </a:r>
                    </a:p>
                  </a:txBody>
                  <a:tcPr marL="71438" marR="71438" marT="95250" marB="95250" anchor="ctr">
                    <a:lnL w="6350" cap="flat" cmpd="sng" algn="ctr">
                      <a:solidFill>
                        <a:srgbClr val="505C80"/>
                      </a:solidFill>
                      <a:prstDash val="solid"/>
                      <a:round/>
                      <a:headEnd type="none" w="med" len="med"/>
                      <a:tailEnd type="none" w="med" len="med"/>
                    </a:lnL>
                    <a:lnR w="6350" cap="flat" cmpd="sng" algn="ctr">
                      <a:solidFill>
                        <a:srgbClr val="505C80"/>
                      </a:solidFill>
                      <a:prstDash val="solid"/>
                      <a:round/>
                      <a:headEnd type="none" w="med" len="med"/>
                      <a:tailEnd type="none" w="med" len="med"/>
                    </a:lnR>
                    <a:lnT w="6350" cap="flat" cmpd="sng" algn="ctr">
                      <a:solidFill>
                        <a:srgbClr val="505C80"/>
                      </a:solidFill>
                      <a:prstDash val="solid"/>
                      <a:round/>
                      <a:headEnd type="none" w="med" len="med"/>
                      <a:tailEnd type="none" w="med" len="med"/>
                    </a:lnT>
                    <a:lnB w="6350" cap="flat" cmpd="sng" algn="ctr">
                      <a:solidFill>
                        <a:srgbClr val="80697F"/>
                      </a:solidFill>
                      <a:prstDash val="solid"/>
                      <a:round/>
                      <a:headEnd type="none" w="med" len="med"/>
                      <a:tailEnd type="none" w="med" len="med"/>
                    </a:lnB>
                    <a:solidFill>
                      <a:srgbClr val="FFFFFF"/>
                    </a:solidFill>
                  </a:tcPr>
                </a:tc>
                <a:tc>
                  <a:txBody>
                    <a:bodyPr/>
                    <a:lstStyle/>
                    <a:p>
                      <a:pPr algn="ctr" fontAlgn="ctr"/>
                      <a:r>
                        <a:rPr lang="en-IN" sz="2800" b="0">
                          <a:effectLst/>
                        </a:rPr>
                        <a:t>10</a:t>
                      </a:r>
                    </a:p>
                  </a:txBody>
                  <a:tcPr marL="71438" marR="71438" marT="95250" marB="95250" anchor="ctr">
                    <a:lnL w="6350" cap="flat" cmpd="sng" algn="ctr">
                      <a:solidFill>
                        <a:srgbClr val="505C80"/>
                      </a:solidFill>
                      <a:prstDash val="solid"/>
                      <a:round/>
                      <a:headEnd type="none" w="med" len="med"/>
                      <a:tailEnd type="none" w="med" len="med"/>
                    </a:lnL>
                    <a:lnR w="6350" cap="flat" cmpd="sng" algn="ctr">
                      <a:solidFill>
                        <a:srgbClr val="505C80"/>
                      </a:solidFill>
                      <a:prstDash val="solid"/>
                      <a:round/>
                      <a:headEnd type="none" w="med" len="med"/>
                      <a:tailEnd type="none" w="med" len="med"/>
                    </a:lnR>
                    <a:lnT w="6350" cap="flat" cmpd="sng" algn="ctr">
                      <a:solidFill>
                        <a:srgbClr val="505C80"/>
                      </a:solidFill>
                      <a:prstDash val="solid"/>
                      <a:round/>
                      <a:headEnd type="none" w="med" len="med"/>
                      <a:tailEnd type="none" w="med" len="med"/>
                    </a:lnT>
                    <a:lnB w="6350" cap="flat" cmpd="sng" algn="ctr">
                      <a:solidFill>
                        <a:srgbClr val="80697F"/>
                      </a:solidFill>
                      <a:prstDash val="solid"/>
                      <a:round/>
                      <a:headEnd type="none" w="med" len="med"/>
                      <a:tailEnd type="none" w="med" len="med"/>
                    </a:lnB>
                    <a:solidFill>
                      <a:srgbClr val="FFFFFF"/>
                    </a:solidFill>
                  </a:tcPr>
                </a:tc>
                <a:tc>
                  <a:txBody>
                    <a:bodyPr/>
                    <a:lstStyle/>
                    <a:p>
                      <a:pPr algn="ctr" fontAlgn="ctr"/>
                      <a:r>
                        <a:rPr lang="en-IN" sz="2800" b="0">
                          <a:effectLst/>
                        </a:rPr>
                        <a:t>12</a:t>
                      </a:r>
                    </a:p>
                  </a:txBody>
                  <a:tcPr marL="71438" marR="71438" marT="95250" marB="95250" anchor="ctr">
                    <a:lnL w="6350" cap="flat" cmpd="sng" algn="ctr">
                      <a:solidFill>
                        <a:srgbClr val="505C80"/>
                      </a:solidFill>
                      <a:prstDash val="solid"/>
                      <a:round/>
                      <a:headEnd type="none" w="med" len="med"/>
                      <a:tailEnd type="none" w="med" len="med"/>
                    </a:lnL>
                    <a:lnR w="6350" cap="flat" cmpd="sng" algn="ctr">
                      <a:solidFill>
                        <a:srgbClr val="505C80"/>
                      </a:solidFill>
                      <a:prstDash val="solid"/>
                      <a:round/>
                      <a:headEnd type="none" w="med" len="med"/>
                      <a:tailEnd type="none" w="med" len="med"/>
                    </a:lnR>
                    <a:lnT w="6350" cap="flat" cmpd="sng" algn="ctr">
                      <a:solidFill>
                        <a:srgbClr val="505C80"/>
                      </a:solidFill>
                      <a:prstDash val="solid"/>
                      <a:round/>
                      <a:headEnd type="none" w="med" len="med"/>
                      <a:tailEnd type="none" w="med" len="med"/>
                    </a:lnT>
                    <a:lnB w="6350" cap="flat" cmpd="sng" algn="ctr">
                      <a:solidFill>
                        <a:srgbClr val="80697F"/>
                      </a:solidFill>
                      <a:prstDash val="solid"/>
                      <a:round/>
                      <a:headEnd type="none" w="med" len="med"/>
                      <a:tailEnd type="none" w="med" len="med"/>
                    </a:lnB>
                    <a:solidFill>
                      <a:srgbClr val="FFFFFF"/>
                    </a:solidFill>
                  </a:tcPr>
                </a:tc>
                <a:extLst>
                  <a:ext uri="{0D108BD9-81ED-4DB2-BD59-A6C34878D82A}">
                    <a16:rowId xmlns="" xmlns:a16="http://schemas.microsoft.com/office/drawing/2014/main" val="2192163235"/>
                  </a:ext>
                </a:extLst>
              </a:tr>
              <a:tr h="810580">
                <a:tc>
                  <a:txBody>
                    <a:bodyPr/>
                    <a:lstStyle/>
                    <a:p>
                      <a:pPr algn="l" fontAlgn="ctr"/>
                      <a:r>
                        <a:rPr lang="en-IN" sz="2800" b="0">
                          <a:effectLst/>
                        </a:rPr>
                        <a:t>10 – 15</a:t>
                      </a:r>
                    </a:p>
                  </a:txBody>
                  <a:tcPr marL="71438" marR="71438" marT="95250" marB="95250" anchor="ctr">
                    <a:lnL w="6350" cap="flat" cmpd="sng" algn="ctr">
                      <a:solidFill>
                        <a:srgbClr val="80697F"/>
                      </a:solidFill>
                      <a:prstDash val="solid"/>
                      <a:round/>
                      <a:headEnd type="none" w="med" len="med"/>
                      <a:tailEnd type="none" w="med" len="med"/>
                    </a:lnL>
                    <a:lnR w="6350" cap="flat" cmpd="sng" algn="ctr">
                      <a:solidFill>
                        <a:srgbClr val="80697F"/>
                      </a:solidFill>
                      <a:prstDash val="solid"/>
                      <a:round/>
                      <a:headEnd type="none" w="med" len="med"/>
                      <a:tailEnd type="none" w="med" len="med"/>
                    </a:lnR>
                    <a:lnT w="6350" cap="flat" cmpd="sng" algn="ctr">
                      <a:solidFill>
                        <a:srgbClr val="80697F"/>
                      </a:solidFill>
                      <a:prstDash val="solid"/>
                      <a:round/>
                      <a:headEnd type="none" w="med" len="med"/>
                      <a:tailEnd type="none" w="med" len="med"/>
                    </a:lnT>
                    <a:lnB w="6350" cap="flat" cmpd="sng" algn="ctr">
                      <a:solidFill>
                        <a:srgbClr val="905F7F"/>
                      </a:solidFill>
                      <a:prstDash val="solid"/>
                      <a:round/>
                      <a:headEnd type="none" w="med" len="med"/>
                      <a:tailEnd type="none" w="med" len="med"/>
                    </a:lnB>
                    <a:solidFill>
                      <a:srgbClr val="FFFFFF"/>
                    </a:solidFill>
                  </a:tcPr>
                </a:tc>
                <a:tc>
                  <a:txBody>
                    <a:bodyPr/>
                    <a:lstStyle/>
                    <a:p>
                      <a:pPr algn="ctr" fontAlgn="ctr"/>
                      <a:r>
                        <a:rPr lang="en-IN" sz="2800" b="0">
                          <a:effectLst/>
                        </a:rPr>
                        <a:t>5</a:t>
                      </a:r>
                    </a:p>
                  </a:txBody>
                  <a:tcPr marL="71438" marR="71438" marT="95250" marB="95250" anchor="ctr">
                    <a:lnL w="6350" cap="flat" cmpd="sng" algn="ctr">
                      <a:solidFill>
                        <a:srgbClr val="80697F"/>
                      </a:solidFill>
                      <a:prstDash val="solid"/>
                      <a:round/>
                      <a:headEnd type="none" w="med" len="med"/>
                      <a:tailEnd type="none" w="med" len="med"/>
                    </a:lnL>
                    <a:lnR w="6350" cap="flat" cmpd="sng" algn="ctr">
                      <a:solidFill>
                        <a:srgbClr val="80697F"/>
                      </a:solidFill>
                      <a:prstDash val="solid"/>
                      <a:round/>
                      <a:headEnd type="none" w="med" len="med"/>
                      <a:tailEnd type="none" w="med" len="med"/>
                    </a:lnR>
                    <a:lnT w="6350" cap="flat" cmpd="sng" algn="ctr">
                      <a:solidFill>
                        <a:srgbClr val="80697F"/>
                      </a:solidFill>
                      <a:prstDash val="solid"/>
                      <a:round/>
                      <a:headEnd type="none" w="med" len="med"/>
                      <a:tailEnd type="none" w="med" len="med"/>
                    </a:lnT>
                    <a:lnB w="6350" cap="flat" cmpd="sng" algn="ctr">
                      <a:solidFill>
                        <a:srgbClr val="905F7F"/>
                      </a:solidFill>
                      <a:prstDash val="solid"/>
                      <a:round/>
                      <a:headEnd type="none" w="med" len="med"/>
                      <a:tailEnd type="none" w="med" len="med"/>
                    </a:lnB>
                    <a:solidFill>
                      <a:srgbClr val="FFFFFF"/>
                    </a:solidFill>
                  </a:tcPr>
                </a:tc>
                <a:tc>
                  <a:txBody>
                    <a:bodyPr/>
                    <a:lstStyle/>
                    <a:p>
                      <a:pPr algn="ctr" fontAlgn="ctr"/>
                      <a:r>
                        <a:rPr lang="en-IN" sz="2800" b="0">
                          <a:effectLst/>
                        </a:rPr>
                        <a:t>17</a:t>
                      </a:r>
                    </a:p>
                  </a:txBody>
                  <a:tcPr marL="71438" marR="71438" marT="95250" marB="95250" anchor="ctr">
                    <a:lnL w="6350" cap="flat" cmpd="sng" algn="ctr">
                      <a:solidFill>
                        <a:srgbClr val="80697F"/>
                      </a:solidFill>
                      <a:prstDash val="solid"/>
                      <a:round/>
                      <a:headEnd type="none" w="med" len="med"/>
                      <a:tailEnd type="none" w="med" len="med"/>
                    </a:lnL>
                    <a:lnR w="6350" cap="flat" cmpd="sng" algn="ctr">
                      <a:solidFill>
                        <a:srgbClr val="80697F"/>
                      </a:solidFill>
                      <a:prstDash val="solid"/>
                      <a:round/>
                      <a:headEnd type="none" w="med" len="med"/>
                      <a:tailEnd type="none" w="med" len="med"/>
                    </a:lnR>
                    <a:lnT w="6350" cap="flat" cmpd="sng" algn="ctr">
                      <a:solidFill>
                        <a:srgbClr val="80697F"/>
                      </a:solidFill>
                      <a:prstDash val="solid"/>
                      <a:round/>
                      <a:headEnd type="none" w="med" len="med"/>
                      <a:tailEnd type="none" w="med" len="med"/>
                    </a:lnT>
                    <a:lnB w="6350" cap="flat" cmpd="sng" algn="ctr">
                      <a:solidFill>
                        <a:srgbClr val="905F7F"/>
                      </a:solidFill>
                      <a:prstDash val="solid"/>
                      <a:round/>
                      <a:headEnd type="none" w="med" len="med"/>
                      <a:tailEnd type="none" w="med" len="med"/>
                    </a:lnB>
                    <a:solidFill>
                      <a:srgbClr val="FFFFFF"/>
                    </a:solidFill>
                  </a:tcPr>
                </a:tc>
                <a:extLst>
                  <a:ext uri="{0D108BD9-81ED-4DB2-BD59-A6C34878D82A}">
                    <a16:rowId xmlns="" xmlns:a16="http://schemas.microsoft.com/office/drawing/2014/main" val="1089472588"/>
                  </a:ext>
                </a:extLst>
              </a:tr>
              <a:tr h="810580">
                <a:tc>
                  <a:txBody>
                    <a:bodyPr/>
                    <a:lstStyle/>
                    <a:p>
                      <a:pPr algn="l" fontAlgn="ctr"/>
                      <a:r>
                        <a:rPr lang="en-IN" sz="2800" b="0">
                          <a:effectLst/>
                        </a:rPr>
                        <a:t>15 – 20</a:t>
                      </a:r>
                    </a:p>
                  </a:txBody>
                  <a:tcPr marL="71438" marR="71438" marT="95250" marB="95250" anchor="ctr">
                    <a:lnL w="6350" cap="flat" cmpd="sng" algn="ctr">
                      <a:solidFill>
                        <a:srgbClr val="905F7F"/>
                      </a:solidFill>
                      <a:prstDash val="solid"/>
                      <a:round/>
                      <a:headEnd type="none" w="med" len="med"/>
                      <a:tailEnd type="none" w="med" len="med"/>
                    </a:lnL>
                    <a:lnR w="6350" cap="flat" cmpd="sng" algn="ctr">
                      <a:solidFill>
                        <a:srgbClr val="905F7F"/>
                      </a:solidFill>
                      <a:prstDash val="solid"/>
                      <a:round/>
                      <a:headEnd type="none" w="med" len="med"/>
                      <a:tailEnd type="none" w="med" len="med"/>
                    </a:lnR>
                    <a:lnT w="6350" cap="flat" cmpd="sng" algn="ctr">
                      <a:solidFill>
                        <a:srgbClr val="905F7F"/>
                      </a:solidFill>
                      <a:prstDash val="solid"/>
                      <a:round/>
                      <a:headEnd type="none" w="med" len="med"/>
                      <a:tailEnd type="none" w="med" len="med"/>
                    </a:lnT>
                    <a:lnB w="6350" cap="flat" cmpd="sng" algn="ctr">
                      <a:solidFill>
                        <a:srgbClr val="905F7F"/>
                      </a:solidFill>
                      <a:prstDash val="solid"/>
                      <a:round/>
                      <a:headEnd type="none" w="med" len="med"/>
                      <a:tailEnd type="none" w="med" len="med"/>
                    </a:lnB>
                    <a:solidFill>
                      <a:srgbClr val="FFFFFF"/>
                    </a:solidFill>
                  </a:tcPr>
                </a:tc>
                <a:tc>
                  <a:txBody>
                    <a:bodyPr/>
                    <a:lstStyle/>
                    <a:p>
                      <a:pPr algn="ctr" fontAlgn="ctr"/>
                      <a:r>
                        <a:rPr lang="en-IN" sz="2800" b="0">
                          <a:effectLst/>
                        </a:rPr>
                        <a:t>5</a:t>
                      </a:r>
                    </a:p>
                  </a:txBody>
                  <a:tcPr marL="71438" marR="71438" marT="95250" marB="95250" anchor="ctr">
                    <a:lnL w="6350" cap="flat" cmpd="sng" algn="ctr">
                      <a:solidFill>
                        <a:srgbClr val="905F7F"/>
                      </a:solidFill>
                      <a:prstDash val="solid"/>
                      <a:round/>
                      <a:headEnd type="none" w="med" len="med"/>
                      <a:tailEnd type="none" w="med" len="med"/>
                    </a:lnL>
                    <a:lnR w="6350" cap="flat" cmpd="sng" algn="ctr">
                      <a:solidFill>
                        <a:srgbClr val="905F7F"/>
                      </a:solidFill>
                      <a:prstDash val="solid"/>
                      <a:round/>
                      <a:headEnd type="none" w="med" len="med"/>
                      <a:tailEnd type="none" w="med" len="med"/>
                    </a:lnR>
                    <a:lnT w="6350" cap="flat" cmpd="sng" algn="ctr">
                      <a:solidFill>
                        <a:srgbClr val="905F7F"/>
                      </a:solidFill>
                      <a:prstDash val="solid"/>
                      <a:round/>
                      <a:headEnd type="none" w="med" len="med"/>
                      <a:tailEnd type="none" w="med" len="med"/>
                    </a:lnT>
                    <a:lnB w="6350" cap="flat" cmpd="sng" algn="ctr">
                      <a:solidFill>
                        <a:srgbClr val="905F7F"/>
                      </a:solidFill>
                      <a:prstDash val="solid"/>
                      <a:round/>
                      <a:headEnd type="none" w="med" len="med"/>
                      <a:tailEnd type="none" w="med" len="med"/>
                    </a:lnB>
                    <a:solidFill>
                      <a:srgbClr val="FFFFFF"/>
                    </a:solidFill>
                  </a:tcPr>
                </a:tc>
                <a:tc>
                  <a:txBody>
                    <a:bodyPr/>
                    <a:lstStyle/>
                    <a:p>
                      <a:pPr algn="ctr" fontAlgn="ctr"/>
                      <a:r>
                        <a:rPr lang="en-IN" sz="2800" b="0" dirty="0">
                          <a:effectLst/>
                        </a:rPr>
                        <a:t>22</a:t>
                      </a:r>
                    </a:p>
                  </a:txBody>
                  <a:tcPr marL="71438" marR="71438" marT="95250" marB="95250" anchor="ctr">
                    <a:lnL w="6350" cap="flat" cmpd="sng" algn="ctr">
                      <a:solidFill>
                        <a:srgbClr val="905F7F"/>
                      </a:solidFill>
                      <a:prstDash val="solid"/>
                      <a:round/>
                      <a:headEnd type="none" w="med" len="med"/>
                      <a:tailEnd type="none" w="med" len="med"/>
                    </a:lnL>
                    <a:lnR w="6350" cap="flat" cmpd="sng" algn="ctr">
                      <a:solidFill>
                        <a:srgbClr val="905F7F"/>
                      </a:solidFill>
                      <a:prstDash val="solid"/>
                      <a:round/>
                      <a:headEnd type="none" w="med" len="med"/>
                      <a:tailEnd type="none" w="med" len="med"/>
                    </a:lnR>
                    <a:lnT w="6350" cap="flat" cmpd="sng" algn="ctr">
                      <a:solidFill>
                        <a:srgbClr val="905F7F"/>
                      </a:solidFill>
                      <a:prstDash val="solid"/>
                      <a:round/>
                      <a:headEnd type="none" w="med" len="med"/>
                      <a:tailEnd type="none" w="med" len="med"/>
                    </a:lnT>
                    <a:lnB w="6350" cap="flat" cmpd="sng" algn="ctr">
                      <a:solidFill>
                        <a:srgbClr val="905F7F"/>
                      </a:solidFill>
                      <a:prstDash val="solid"/>
                      <a:round/>
                      <a:headEnd type="none" w="med" len="med"/>
                      <a:tailEnd type="none" w="med" len="med"/>
                    </a:lnB>
                    <a:solidFill>
                      <a:srgbClr val="FFFFFF"/>
                    </a:solidFill>
                  </a:tcPr>
                </a:tc>
                <a:extLst>
                  <a:ext uri="{0D108BD9-81ED-4DB2-BD59-A6C34878D82A}">
                    <a16:rowId xmlns="" xmlns:a16="http://schemas.microsoft.com/office/drawing/2014/main" val="1897721466"/>
                  </a:ext>
                </a:extLst>
              </a:tr>
            </a:tbl>
          </a:graphicData>
        </a:graphic>
      </p:graphicFrame>
    </p:spTree>
    <p:extLst>
      <p:ext uri="{BB962C8B-B14F-4D97-AF65-F5344CB8AC3E}">
        <p14:creationId xmlns:p14="http://schemas.microsoft.com/office/powerpoint/2010/main" val="404384314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A1A97EE-352E-4512-87A2-D0F32F757C4E}"/>
              </a:ext>
            </a:extLst>
          </p:cNvPr>
          <p:cNvSpPr>
            <a:spLocks noGrp="1"/>
          </p:cNvSpPr>
          <p:nvPr>
            <p:ph type="title"/>
          </p:nvPr>
        </p:nvSpPr>
        <p:spPr/>
        <p:txBody>
          <a:bodyPr>
            <a:normAutofit fontScale="90000"/>
          </a:bodyPr>
          <a:lstStyle/>
          <a:p>
            <a:r>
              <a:rPr lang="en-US" dirty="0"/>
              <a:t>What is  Cumulative Frequency Distribution?</a:t>
            </a:r>
            <a:endParaRPr lang="en-IN" dirty="0"/>
          </a:p>
        </p:txBody>
      </p:sp>
      <p:sp>
        <p:nvSpPr>
          <p:cNvPr id="3" name="Content Placeholder 2">
            <a:extLst>
              <a:ext uri="{FF2B5EF4-FFF2-40B4-BE49-F238E27FC236}">
                <a16:creationId xmlns="" xmlns:a16="http://schemas.microsoft.com/office/drawing/2014/main" id="{224C2C1F-80F9-473A-94BC-9F59F47FA42A}"/>
              </a:ext>
            </a:extLst>
          </p:cNvPr>
          <p:cNvSpPr>
            <a:spLocks noGrp="1"/>
          </p:cNvSpPr>
          <p:nvPr>
            <p:ph idx="1"/>
          </p:nvPr>
        </p:nvSpPr>
        <p:spPr>
          <a:xfrm>
            <a:off x="628650" y="1843087"/>
            <a:ext cx="5657850" cy="4351338"/>
          </a:xfrm>
        </p:spPr>
        <p:txBody>
          <a:bodyPr>
            <a:normAutofit fontScale="92500" lnSpcReduction="20000"/>
          </a:bodyPr>
          <a:lstStyle/>
          <a:p>
            <a:r>
              <a:rPr lang="en-US" b="0" i="0" dirty="0">
                <a:solidFill>
                  <a:srgbClr val="202124"/>
                </a:solidFill>
                <a:effectLst/>
                <a:latin typeface="arial" panose="020B0604020202020204" pitchFamily="34" charset="0"/>
              </a:rPr>
              <a:t>A </a:t>
            </a:r>
            <a:r>
              <a:rPr lang="en-US" b="1" i="0" dirty="0">
                <a:solidFill>
                  <a:srgbClr val="202124"/>
                </a:solidFill>
                <a:effectLst/>
                <a:latin typeface="arial" panose="020B0604020202020204" pitchFamily="34" charset="0"/>
              </a:rPr>
              <a:t>curve that represents the cumulative frequency distribution of grouped data on a graph</a:t>
            </a:r>
            <a:r>
              <a:rPr lang="en-US" b="0" i="0" dirty="0">
                <a:solidFill>
                  <a:srgbClr val="202124"/>
                </a:solidFill>
                <a:effectLst/>
                <a:latin typeface="arial" panose="020B0604020202020204" pitchFamily="34" charset="0"/>
              </a:rPr>
              <a:t> is called a Cumulative Frequency Curve or an Ogive. </a:t>
            </a:r>
          </a:p>
          <a:p>
            <a:r>
              <a:rPr lang="en-US" b="0" i="0" dirty="0">
                <a:solidFill>
                  <a:srgbClr val="202124"/>
                </a:solidFill>
                <a:effectLst/>
                <a:latin typeface="arial" panose="020B0604020202020204" pitchFamily="34" charset="0"/>
              </a:rPr>
              <a:t>Representing cumulative frequency data on a graph is the most efficient way to understand the data and derive results.</a:t>
            </a:r>
            <a:endParaRPr lang="en-IN" dirty="0"/>
          </a:p>
        </p:txBody>
      </p:sp>
      <p:pic>
        <p:nvPicPr>
          <p:cNvPr id="5" name="Picture 4">
            <a:extLst>
              <a:ext uri="{FF2B5EF4-FFF2-40B4-BE49-F238E27FC236}">
                <a16:creationId xmlns="" xmlns:a16="http://schemas.microsoft.com/office/drawing/2014/main" id="{0DE65ED5-3BA0-4D00-9544-8C7776B9CBF3}"/>
              </a:ext>
            </a:extLst>
          </p:cNvPr>
          <p:cNvPicPr>
            <a:picLocks noChangeAspect="1"/>
          </p:cNvPicPr>
          <p:nvPr/>
        </p:nvPicPr>
        <p:blipFill>
          <a:blip r:embed="rId2"/>
          <a:stretch>
            <a:fillRect/>
          </a:stretch>
        </p:blipFill>
        <p:spPr>
          <a:xfrm>
            <a:off x="6415087" y="1843088"/>
            <a:ext cx="2386013" cy="3171825"/>
          </a:xfrm>
          <a:prstGeom prst="rect">
            <a:avLst/>
          </a:prstGeom>
        </p:spPr>
      </p:pic>
    </p:spTree>
    <p:extLst>
      <p:ext uri="{BB962C8B-B14F-4D97-AF65-F5344CB8AC3E}">
        <p14:creationId xmlns:p14="http://schemas.microsoft.com/office/powerpoint/2010/main" val="415412684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86BC2A3-28CE-440D-BEAE-D7F0CF888F16}"/>
              </a:ext>
            </a:extLst>
          </p:cNvPr>
          <p:cNvSpPr>
            <a:spLocks noGrp="1"/>
          </p:cNvSpPr>
          <p:nvPr>
            <p:ph type="title"/>
          </p:nvPr>
        </p:nvSpPr>
        <p:spPr/>
        <p:txBody>
          <a:bodyPr>
            <a:normAutofit fontScale="90000"/>
          </a:bodyPr>
          <a:lstStyle/>
          <a:p>
            <a:r>
              <a:rPr lang="en-US" dirty="0"/>
              <a:t>Types of Cumulative Frequency Curves</a:t>
            </a:r>
            <a:endParaRPr lang="en-IN" dirty="0"/>
          </a:p>
        </p:txBody>
      </p:sp>
      <p:sp>
        <p:nvSpPr>
          <p:cNvPr id="3" name="Content Placeholder 2">
            <a:extLst>
              <a:ext uri="{FF2B5EF4-FFF2-40B4-BE49-F238E27FC236}">
                <a16:creationId xmlns="" xmlns:a16="http://schemas.microsoft.com/office/drawing/2014/main" id="{3EAAE13A-8A26-4090-A225-B22978C45DC5}"/>
              </a:ext>
            </a:extLst>
          </p:cNvPr>
          <p:cNvSpPr>
            <a:spLocks noGrp="1"/>
          </p:cNvSpPr>
          <p:nvPr>
            <p:ph idx="1"/>
          </p:nvPr>
        </p:nvSpPr>
        <p:spPr/>
        <p:txBody>
          <a:bodyPr/>
          <a:lstStyle/>
          <a:p>
            <a:pPr algn="l"/>
            <a:r>
              <a:rPr lang="en-US" b="0" i="0" dirty="0">
                <a:effectLst/>
                <a:latin typeface="Minion Pro"/>
              </a:rPr>
              <a:t>There are two types of Cumulative Frequency Curves (or Ogives) :</a:t>
            </a:r>
          </a:p>
          <a:p>
            <a:pPr lvl="1"/>
            <a:r>
              <a:rPr lang="en-US" b="0" i="0" dirty="0">
                <a:solidFill>
                  <a:srgbClr val="0B0B0B"/>
                </a:solidFill>
                <a:effectLst/>
                <a:latin typeface="Minion Pro"/>
              </a:rPr>
              <a:t>More than type Cumulative Frequency Curve</a:t>
            </a:r>
          </a:p>
          <a:p>
            <a:pPr lvl="1"/>
            <a:r>
              <a:rPr lang="en-US" b="0" i="0" dirty="0">
                <a:solidFill>
                  <a:srgbClr val="0B0B0B"/>
                </a:solidFill>
                <a:effectLst/>
                <a:latin typeface="Minion Pro"/>
              </a:rPr>
              <a:t>Less than type Cumulative Frequency Curve</a:t>
            </a:r>
          </a:p>
          <a:p>
            <a:endParaRPr lang="en-IN" dirty="0"/>
          </a:p>
        </p:txBody>
      </p:sp>
    </p:spTree>
    <p:extLst>
      <p:ext uri="{BB962C8B-B14F-4D97-AF65-F5344CB8AC3E}">
        <p14:creationId xmlns:p14="http://schemas.microsoft.com/office/powerpoint/2010/main" val="385362209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810BE41-00D2-4B56-BC47-6518A5E1CAED}"/>
              </a:ext>
            </a:extLst>
          </p:cNvPr>
          <p:cNvSpPr>
            <a:spLocks noGrp="1"/>
          </p:cNvSpPr>
          <p:nvPr>
            <p:ph type="title"/>
          </p:nvPr>
        </p:nvSpPr>
        <p:spPr>
          <a:xfrm>
            <a:off x="185737" y="1"/>
            <a:ext cx="8329613" cy="1690688"/>
          </a:xfrm>
        </p:spPr>
        <p:txBody>
          <a:bodyPr>
            <a:normAutofit fontScale="90000"/>
          </a:bodyPr>
          <a:lstStyle/>
          <a:p>
            <a:r>
              <a:rPr lang="en-US" b="1" i="0" dirty="0">
                <a:solidFill>
                  <a:srgbClr val="000000"/>
                </a:solidFill>
                <a:effectLst/>
                <a:latin typeface="Open Sans" panose="020B0606030504020204" pitchFamily="34" charset="0"/>
              </a:rPr>
              <a:t>Type-1 :  More Than Type Cumulative Frequency Curve</a:t>
            </a:r>
            <a:br>
              <a:rPr lang="en-US" b="1" i="0" dirty="0">
                <a:solidFill>
                  <a:srgbClr val="000000"/>
                </a:solidFill>
                <a:effectLst/>
                <a:latin typeface="Open Sans" panose="020B0606030504020204" pitchFamily="34" charset="0"/>
              </a:rPr>
            </a:br>
            <a:endParaRPr lang="en-IN" dirty="0"/>
          </a:p>
        </p:txBody>
      </p:sp>
      <p:sp>
        <p:nvSpPr>
          <p:cNvPr id="3" name="Content Placeholder 2">
            <a:extLst>
              <a:ext uri="{FF2B5EF4-FFF2-40B4-BE49-F238E27FC236}">
                <a16:creationId xmlns="" xmlns:a16="http://schemas.microsoft.com/office/drawing/2014/main" id="{E3994FD3-B1C0-4F9C-A486-2C80FB7DC06F}"/>
              </a:ext>
            </a:extLst>
          </p:cNvPr>
          <p:cNvSpPr>
            <a:spLocks noGrp="1"/>
          </p:cNvSpPr>
          <p:nvPr>
            <p:ph idx="1"/>
          </p:nvPr>
        </p:nvSpPr>
        <p:spPr/>
        <p:txBody>
          <a:bodyPr>
            <a:normAutofit fontScale="92500" lnSpcReduction="10000"/>
          </a:bodyPr>
          <a:lstStyle/>
          <a:p>
            <a:pPr algn="l"/>
            <a:r>
              <a:rPr lang="en-US" b="0" i="0" dirty="0">
                <a:effectLst/>
                <a:latin typeface="Minion Pro"/>
              </a:rPr>
              <a:t>Here we use the lower limit of the classes to plot the curve.</a:t>
            </a:r>
          </a:p>
          <a:p>
            <a:pPr algn="l"/>
            <a:r>
              <a:rPr lang="en-US" b="0" i="0" dirty="0">
                <a:effectLst/>
                <a:latin typeface="Minion Pro"/>
              </a:rPr>
              <a:t>How to plot a More than type Ogive:</a:t>
            </a:r>
          </a:p>
          <a:p>
            <a:pPr algn="l">
              <a:buFont typeface="+mj-lt"/>
              <a:buAutoNum type="arabicPeriod"/>
            </a:pPr>
            <a:r>
              <a:rPr lang="en-US" b="0" i="0" dirty="0">
                <a:solidFill>
                  <a:srgbClr val="0B0B0B"/>
                </a:solidFill>
                <a:effectLst/>
                <a:latin typeface="Minion Pro"/>
              </a:rPr>
              <a:t>In the graph, put the lower limit on the x-axis</a:t>
            </a:r>
          </a:p>
          <a:p>
            <a:pPr algn="l">
              <a:buFont typeface="+mj-lt"/>
              <a:buAutoNum type="arabicPeriod"/>
            </a:pPr>
            <a:r>
              <a:rPr lang="en-US" b="0" i="0" dirty="0">
                <a:solidFill>
                  <a:srgbClr val="0B0B0B"/>
                </a:solidFill>
                <a:effectLst/>
                <a:latin typeface="Minion Pro"/>
              </a:rPr>
              <a:t>Mark the cumulative frequency on the y-axis.</a:t>
            </a:r>
          </a:p>
          <a:p>
            <a:pPr algn="l">
              <a:buFont typeface="+mj-lt"/>
              <a:buAutoNum type="arabicPeriod"/>
            </a:pPr>
            <a:r>
              <a:rPr lang="en-US" b="0" i="0" dirty="0">
                <a:solidFill>
                  <a:srgbClr val="0B0B0B"/>
                </a:solidFill>
                <a:effectLst/>
                <a:latin typeface="Minion Pro"/>
              </a:rPr>
              <a:t>Plot the points (</a:t>
            </a:r>
            <a:r>
              <a:rPr lang="en-US" b="0" i="0" dirty="0" err="1">
                <a:solidFill>
                  <a:srgbClr val="0B0B0B"/>
                </a:solidFill>
                <a:effectLst/>
                <a:latin typeface="Minion Pro"/>
              </a:rPr>
              <a:t>x,y</a:t>
            </a:r>
            <a:r>
              <a:rPr lang="en-US" b="0" i="0" dirty="0">
                <a:solidFill>
                  <a:srgbClr val="0B0B0B"/>
                </a:solidFill>
                <a:effectLst/>
                <a:latin typeface="Minion Pro"/>
              </a:rPr>
              <a:t>) using lower limits (x) and their corresponding Cumulative frequency (y)</a:t>
            </a:r>
          </a:p>
          <a:p>
            <a:pPr algn="l">
              <a:buFont typeface="+mj-lt"/>
              <a:buAutoNum type="arabicPeriod"/>
            </a:pPr>
            <a:r>
              <a:rPr lang="en-US" b="0" i="0" dirty="0">
                <a:solidFill>
                  <a:srgbClr val="0B0B0B"/>
                </a:solidFill>
                <a:effectLst/>
                <a:latin typeface="Minion Pro"/>
              </a:rPr>
              <a:t>Join the points by a smooth freehand curve. It looks like an upside down </a:t>
            </a:r>
            <a:r>
              <a:rPr lang="en-US" b="0" i="1" dirty="0">
                <a:solidFill>
                  <a:srgbClr val="0B0B0B"/>
                </a:solidFill>
                <a:effectLst/>
                <a:latin typeface="Minion Pro"/>
              </a:rPr>
              <a:t>S.</a:t>
            </a:r>
            <a:endParaRPr lang="en-US" b="0" i="0" dirty="0">
              <a:solidFill>
                <a:srgbClr val="0B0B0B"/>
              </a:solidFill>
              <a:effectLst/>
              <a:latin typeface="Minion Pro"/>
            </a:endParaRPr>
          </a:p>
          <a:p>
            <a:endParaRPr lang="en-IN" dirty="0"/>
          </a:p>
        </p:txBody>
      </p:sp>
    </p:spTree>
    <p:extLst>
      <p:ext uri="{BB962C8B-B14F-4D97-AF65-F5344CB8AC3E}">
        <p14:creationId xmlns:p14="http://schemas.microsoft.com/office/powerpoint/2010/main" val="212940620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380B4AE-C607-4FDE-8A53-EDEE5E758848}"/>
              </a:ext>
            </a:extLst>
          </p:cNvPr>
          <p:cNvSpPr>
            <a:spLocks noGrp="1"/>
          </p:cNvSpPr>
          <p:nvPr>
            <p:ph type="title"/>
          </p:nvPr>
        </p:nvSpPr>
        <p:spPr>
          <a:xfrm>
            <a:off x="385762" y="133351"/>
            <a:ext cx="8701088" cy="1557338"/>
          </a:xfrm>
        </p:spPr>
        <p:txBody>
          <a:bodyPr>
            <a:normAutofit fontScale="90000"/>
          </a:bodyPr>
          <a:lstStyle/>
          <a:p>
            <a:r>
              <a:rPr lang="en-US" b="1" i="0" dirty="0">
                <a:solidFill>
                  <a:srgbClr val="000000"/>
                </a:solidFill>
                <a:effectLst/>
                <a:latin typeface="Open Sans" panose="020B0606030504020204" pitchFamily="34" charset="0"/>
              </a:rPr>
              <a:t>Type -2 Less Than Type Cumulative Frequency Curve</a:t>
            </a:r>
            <a:br>
              <a:rPr lang="en-US" b="1" i="0" dirty="0">
                <a:solidFill>
                  <a:srgbClr val="000000"/>
                </a:solidFill>
                <a:effectLst/>
                <a:latin typeface="Open Sans" panose="020B0606030504020204" pitchFamily="34" charset="0"/>
              </a:rPr>
            </a:br>
            <a:endParaRPr lang="en-IN" dirty="0"/>
          </a:p>
        </p:txBody>
      </p:sp>
      <p:sp>
        <p:nvSpPr>
          <p:cNvPr id="3" name="Content Placeholder 2">
            <a:extLst>
              <a:ext uri="{FF2B5EF4-FFF2-40B4-BE49-F238E27FC236}">
                <a16:creationId xmlns="" xmlns:a16="http://schemas.microsoft.com/office/drawing/2014/main" id="{397E6912-DDB7-43FA-9456-04886B40401A}"/>
              </a:ext>
            </a:extLst>
          </p:cNvPr>
          <p:cNvSpPr>
            <a:spLocks noGrp="1"/>
          </p:cNvSpPr>
          <p:nvPr>
            <p:ph idx="1"/>
          </p:nvPr>
        </p:nvSpPr>
        <p:spPr>
          <a:xfrm>
            <a:off x="557212" y="1825625"/>
            <a:ext cx="7958138" cy="4351338"/>
          </a:xfrm>
        </p:spPr>
        <p:txBody>
          <a:bodyPr>
            <a:normAutofit fontScale="85000" lnSpcReduction="10000"/>
          </a:bodyPr>
          <a:lstStyle/>
          <a:p>
            <a:pPr algn="l"/>
            <a:r>
              <a:rPr lang="en-US" b="0" i="0" dirty="0">
                <a:effectLst/>
                <a:latin typeface="Minion Pro"/>
              </a:rPr>
              <a:t>Here we use the upper limit of the classes to plot the curve.</a:t>
            </a:r>
          </a:p>
          <a:p>
            <a:pPr algn="l"/>
            <a:r>
              <a:rPr lang="en-US" b="0" i="0" dirty="0">
                <a:effectLst/>
                <a:latin typeface="Minion Pro"/>
              </a:rPr>
              <a:t>How to plot a Less than type Ogive:</a:t>
            </a:r>
          </a:p>
          <a:p>
            <a:pPr algn="l">
              <a:buFont typeface="+mj-lt"/>
              <a:buAutoNum type="arabicPeriod"/>
            </a:pPr>
            <a:r>
              <a:rPr lang="en-US" b="0" i="0" dirty="0">
                <a:solidFill>
                  <a:srgbClr val="0B0B0B"/>
                </a:solidFill>
                <a:effectLst/>
                <a:latin typeface="Minion Pro"/>
              </a:rPr>
              <a:t>In the graph, put the upper limit on the x-axis</a:t>
            </a:r>
          </a:p>
          <a:p>
            <a:pPr algn="l">
              <a:buFont typeface="+mj-lt"/>
              <a:buAutoNum type="arabicPeriod"/>
            </a:pPr>
            <a:r>
              <a:rPr lang="en-US" b="0" i="0" dirty="0">
                <a:solidFill>
                  <a:srgbClr val="0B0B0B"/>
                </a:solidFill>
                <a:effectLst/>
                <a:latin typeface="Minion Pro"/>
              </a:rPr>
              <a:t>Mark the cumulative frequency on the y-axis.</a:t>
            </a:r>
          </a:p>
          <a:p>
            <a:pPr algn="l">
              <a:buFont typeface="+mj-lt"/>
              <a:buAutoNum type="arabicPeriod"/>
            </a:pPr>
            <a:r>
              <a:rPr lang="en-US" b="0" i="0" dirty="0">
                <a:solidFill>
                  <a:srgbClr val="0B0B0B"/>
                </a:solidFill>
                <a:effectLst/>
                <a:latin typeface="Minion Pro"/>
              </a:rPr>
              <a:t>Plot the points (</a:t>
            </a:r>
            <a:r>
              <a:rPr lang="en-US" b="0" i="0" dirty="0" err="1">
                <a:solidFill>
                  <a:srgbClr val="0B0B0B"/>
                </a:solidFill>
                <a:effectLst/>
                <a:latin typeface="Minion Pro"/>
              </a:rPr>
              <a:t>x,y</a:t>
            </a:r>
            <a:r>
              <a:rPr lang="en-US" b="0" i="0" dirty="0">
                <a:solidFill>
                  <a:srgbClr val="0B0B0B"/>
                </a:solidFill>
                <a:effectLst/>
                <a:latin typeface="Minion Pro"/>
              </a:rPr>
              <a:t>) using upper limits (x) and their corresponding Cumulative frequency (y)</a:t>
            </a:r>
          </a:p>
          <a:p>
            <a:pPr algn="l">
              <a:buFont typeface="+mj-lt"/>
              <a:buAutoNum type="arabicPeriod"/>
            </a:pPr>
            <a:r>
              <a:rPr lang="en-US" b="0" i="0" dirty="0">
                <a:solidFill>
                  <a:srgbClr val="0B0B0B"/>
                </a:solidFill>
                <a:effectLst/>
                <a:latin typeface="Minion Pro"/>
              </a:rPr>
              <a:t>Join the points by a smooth freehand curve. It looks like an elongated </a:t>
            </a:r>
            <a:r>
              <a:rPr lang="en-US" b="0" i="1" dirty="0">
                <a:solidFill>
                  <a:srgbClr val="0B0B0B"/>
                </a:solidFill>
                <a:effectLst/>
                <a:latin typeface="Minion Pro"/>
              </a:rPr>
              <a:t>S.</a:t>
            </a:r>
            <a:endParaRPr lang="en-US" b="0" i="0" dirty="0">
              <a:solidFill>
                <a:srgbClr val="0B0B0B"/>
              </a:solidFill>
              <a:effectLst/>
              <a:latin typeface="Minion Pro"/>
            </a:endParaRPr>
          </a:p>
          <a:p>
            <a:endParaRPr lang="en-IN" dirty="0"/>
          </a:p>
        </p:txBody>
      </p:sp>
    </p:spTree>
    <p:extLst>
      <p:ext uri="{BB962C8B-B14F-4D97-AF65-F5344CB8AC3E}">
        <p14:creationId xmlns:p14="http://schemas.microsoft.com/office/powerpoint/2010/main" val="214168154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D3812D7-23DC-4FAC-A3BA-454581E8607D}"/>
              </a:ext>
            </a:extLst>
          </p:cNvPr>
          <p:cNvSpPr>
            <a:spLocks noGrp="1"/>
          </p:cNvSpPr>
          <p:nvPr>
            <p:ph type="title"/>
          </p:nvPr>
        </p:nvSpPr>
        <p:spPr/>
        <p:txBody>
          <a:bodyPr/>
          <a:lstStyle/>
          <a:p>
            <a:r>
              <a:rPr lang="en-US" dirty="0"/>
              <a:t>How to draw Cumulative Graphs? </a:t>
            </a:r>
            <a:endParaRPr lang="en-IN" dirty="0"/>
          </a:p>
        </p:txBody>
      </p:sp>
      <p:sp>
        <p:nvSpPr>
          <p:cNvPr id="3" name="Content Placeholder 2">
            <a:extLst>
              <a:ext uri="{FF2B5EF4-FFF2-40B4-BE49-F238E27FC236}">
                <a16:creationId xmlns="" xmlns:a16="http://schemas.microsoft.com/office/drawing/2014/main" id="{3BB585F6-D512-41C2-94C7-010B90D5FE56}"/>
              </a:ext>
            </a:extLst>
          </p:cNvPr>
          <p:cNvSpPr>
            <a:spLocks noGrp="1"/>
          </p:cNvSpPr>
          <p:nvPr>
            <p:ph idx="1"/>
          </p:nvPr>
        </p:nvSpPr>
        <p:spPr/>
        <p:txBody>
          <a:bodyPr>
            <a:normAutofit/>
          </a:bodyPr>
          <a:lstStyle/>
          <a:p>
            <a:r>
              <a:rPr lang="en-US" b="0" i="0" dirty="0">
                <a:effectLst/>
                <a:latin typeface="Minion Pro"/>
              </a:rPr>
              <a:t>Cumulative Graphs can also be used to calculate the Median of given data.</a:t>
            </a:r>
          </a:p>
          <a:p>
            <a:r>
              <a:rPr lang="en-US" b="0" i="0" dirty="0">
                <a:effectLst/>
                <a:latin typeface="Minion Pro"/>
              </a:rPr>
              <a:t> If you draw both the curves on the same graph, the point at which they intersect, the corresponding value on the x-axis, represents the Median of the given data set.</a:t>
            </a:r>
          </a:p>
          <a:p>
            <a:pPr marL="0" indent="0">
              <a:buNone/>
            </a:pPr>
            <a:endParaRPr lang="en-IN" dirty="0"/>
          </a:p>
        </p:txBody>
      </p:sp>
    </p:spTree>
    <p:extLst>
      <p:ext uri="{BB962C8B-B14F-4D97-AF65-F5344CB8AC3E}">
        <p14:creationId xmlns:p14="http://schemas.microsoft.com/office/powerpoint/2010/main" val="397587684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5B3EA0C-DCB7-4787-A0DA-39D4054DA168}"/>
              </a:ext>
            </a:extLst>
          </p:cNvPr>
          <p:cNvSpPr>
            <a:spLocks noGrp="1"/>
          </p:cNvSpPr>
          <p:nvPr>
            <p:ph type="title"/>
          </p:nvPr>
        </p:nvSpPr>
        <p:spPr/>
        <p:txBody>
          <a:bodyPr>
            <a:normAutofit fontScale="90000"/>
          </a:bodyPr>
          <a:lstStyle/>
          <a:p>
            <a:r>
              <a:rPr lang="en-US" b="1" i="0" dirty="0">
                <a:solidFill>
                  <a:srgbClr val="273239"/>
                </a:solidFill>
                <a:effectLst/>
                <a:latin typeface="urw-din"/>
              </a:rPr>
              <a:t>How to draw less than cumulative frequency curve?</a:t>
            </a:r>
            <a:r>
              <a:rPr lang="en-US" b="0" i="0" dirty="0">
                <a:solidFill>
                  <a:srgbClr val="273239"/>
                </a:solidFill>
                <a:effectLst/>
                <a:latin typeface="urw-din"/>
              </a:rPr>
              <a:t/>
            </a:r>
            <a:br>
              <a:rPr lang="en-US" b="0" i="0" dirty="0">
                <a:solidFill>
                  <a:srgbClr val="273239"/>
                </a:solidFill>
                <a:effectLst/>
                <a:latin typeface="urw-din"/>
              </a:rPr>
            </a:br>
            <a:endParaRPr lang="en-IN" dirty="0"/>
          </a:p>
        </p:txBody>
      </p:sp>
      <p:sp>
        <p:nvSpPr>
          <p:cNvPr id="3" name="Content Placeholder 2">
            <a:extLst>
              <a:ext uri="{FF2B5EF4-FFF2-40B4-BE49-F238E27FC236}">
                <a16:creationId xmlns="" xmlns:a16="http://schemas.microsoft.com/office/drawing/2014/main" id="{71C9B02D-AC54-47D9-9D53-86E66633C5E9}"/>
              </a:ext>
            </a:extLst>
          </p:cNvPr>
          <p:cNvSpPr>
            <a:spLocks noGrp="1"/>
          </p:cNvSpPr>
          <p:nvPr>
            <p:ph idx="1"/>
          </p:nvPr>
        </p:nvSpPr>
        <p:spPr>
          <a:xfrm>
            <a:off x="628650" y="1428751"/>
            <a:ext cx="7886700" cy="5153025"/>
          </a:xfrm>
        </p:spPr>
        <p:txBody>
          <a:bodyPr>
            <a:normAutofit fontScale="55000" lnSpcReduction="20000"/>
          </a:bodyPr>
          <a:lstStyle/>
          <a:p>
            <a:pPr marL="0" indent="0" algn="l" fontAlgn="base">
              <a:buNone/>
            </a:pPr>
            <a:r>
              <a:rPr lang="en-US" sz="4000" b="0" i="0" dirty="0">
                <a:solidFill>
                  <a:srgbClr val="273239"/>
                </a:solidFill>
                <a:effectLst/>
                <a:latin typeface="urw-din"/>
              </a:rPr>
              <a:t>In this case, we use the upper limit of the classes to draw the curve. </a:t>
            </a:r>
          </a:p>
          <a:p>
            <a:pPr marL="0" indent="0" algn="l" fontAlgn="base">
              <a:buNone/>
            </a:pPr>
            <a:r>
              <a:rPr lang="en-US" sz="4000" b="0" i="0" dirty="0">
                <a:solidFill>
                  <a:srgbClr val="273239"/>
                </a:solidFill>
                <a:effectLst/>
                <a:latin typeface="urw-din"/>
              </a:rPr>
              <a:t>Now, the step-by-step process of plotting a less than cumulative frequency curve:</a:t>
            </a:r>
          </a:p>
          <a:p>
            <a:pPr algn="l" fontAlgn="base">
              <a:buFont typeface="+mj-lt"/>
              <a:buAutoNum type="arabicPeriod"/>
            </a:pPr>
            <a:r>
              <a:rPr lang="en-US" sz="4000" b="0" i="0" dirty="0">
                <a:solidFill>
                  <a:srgbClr val="273239"/>
                </a:solidFill>
                <a:effectLst/>
                <a:latin typeface="urw-din"/>
              </a:rPr>
              <a:t>Take a graph paper and mark the upper-class limits along the x-axis and the corresponding cumulative frequencies along the y-axis.</a:t>
            </a:r>
          </a:p>
          <a:p>
            <a:pPr algn="l" fontAlgn="base">
              <a:buFont typeface="+mj-lt"/>
              <a:buAutoNum type="arabicPeriod"/>
            </a:pPr>
            <a:r>
              <a:rPr lang="en-US" sz="4000" b="0" i="0" dirty="0">
                <a:solidFill>
                  <a:srgbClr val="273239"/>
                </a:solidFill>
                <a:effectLst/>
                <a:latin typeface="urw-din"/>
              </a:rPr>
              <a:t>Join these points successively by line segments, we will get a polygon, known as a cumulative frequency polygon.</a:t>
            </a:r>
          </a:p>
          <a:p>
            <a:pPr algn="l" fontAlgn="base">
              <a:buFont typeface="+mj-lt"/>
              <a:buAutoNum type="arabicPeriod"/>
            </a:pPr>
            <a:r>
              <a:rPr lang="en-US" sz="4000" b="0" i="0" dirty="0">
                <a:solidFill>
                  <a:srgbClr val="273239"/>
                </a:solidFill>
                <a:effectLst/>
                <a:latin typeface="urw-din"/>
              </a:rPr>
              <a:t>Join these points successively by a smooth curve, we will get a curve, known as cumulative frequency graph.</a:t>
            </a:r>
          </a:p>
          <a:p>
            <a:pPr algn="l" fontAlgn="base">
              <a:buFont typeface="+mj-lt"/>
              <a:buAutoNum type="arabicPeriod"/>
            </a:pPr>
            <a:r>
              <a:rPr lang="en-US" sz="4000" b="0" i="0" dirty="0">
                <a:solidFill>
                  <a:srgbClr val="273239"/>
                </a:solidFill>
                <a:effectLst/>
                <a:latin typeface="urw-din"/>
              </a:rPr>
              <a:t>Take a point A (0, N/2) on the y-axis and draw AP || x-axis, cutting the above curve at a point P. Draw PM ⊥ to the x-axis, cutting the x-axis at M.</a:t>
            </a:r>
          </a:p>
          <a:p>
            <a:pPr algn="l" fontAlgn="base">
              <a:buFont typeface="+mj-lt"/>
              <a:buAutoNum type="arabicPeriod"/>
            </a:pPr>
            <a:r>
              <a:rPr lang="en-US" sz="4000" b="0" i="0" dirty="0">
                <a:solidFill>
                  <a:srgbClr val="273239"/>
                </a:solidFill>
                <a:effectLst/>
                <a:latin typeface="urw-din"/>
              </a:rPr>
              <a:t>Then, the median length of OM.</a:t>
            </a:r>
          </a:p>
          <a:p>
            <a:endParaRPr lang="en-IN" dirty="0"/>
          </a:p>
        </p:txBody>
      </p:sp>
    </p:spTree>
    <p:extLst>
      <p:ext uri="{BB962C8B-B14F-4D97-AF65-F5344CB8AC3E}">
        <p14:creationId xmlns:p14="http://schemas.microsoft.com/office/powerpoint/2010/main" val="51267485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F83EE316-C3F1-4D42-998C-C14B7E0645A7}"/>
              </a:ext>
            </a:extLst>
          </p:cNvPr>
          <p:cNvSpPr>
            <a:spLocks noGrp="1"/>
          </p:cNvSpPr>
          <p:nvPr>
            <p:ph type="title"/>
          </p:nvPr>
        </p:nvSpPr>
        <p:spPr>
          <a:xfrm>
            <a:off x="628650" y="365126"/>
            <a:ext cx="7886700" cy="1006475"/>
          </a:xfrm>
        </p:spPr>
        <p:txBody>
          <a:bodyPr>
            <a:normAutofit fontScale="90000"/>
          </a:bodyPr>
          <a:lstStyle/>
          <a:p>
            <a:r>
              <a:rPr lang="en-US" b="1" dirty="0">
                <a:solidFill>
                  <a:srgbClr val="273239"/>
                </a:solidFill>
                <a:latin typeface="urw-din"/>
              </a:rPr>
              <a:t>L</a:t>
            </a:r>
            <a:r>
              <a:rPr lang="en-US" b="1" i="0" dirty="0">
                <a:solidFill>
                  <a:srgbClr val="273239"/>
                </a:solidFill>
                <a:effectLst/>
                <a:latin typeface="urw-din"/>
              </a:rPr>
              <a:t>ess than cumulative frequency curve</a:t>
            </a:r>
            <a:endParaRPr lang="en-IN" dirty="0"/>
          </a:p>
        </p:txBody>
      </p:sp>
      <p:pic>
        <p:nvPicPr>
          <p:cNvPr id="4" name="Picture 3">
            <a:extLst>
              <a:ext uri="{FF2B5EF4-FFF2-40B4-BE49-F238E27FC236}">
                <a16:creationId xmlns="" xmlns:a16="http://schemas.microsoft.com/office/drawing/2014/main" id="{80F149DD-27DB-4F5A-9DF9-FE49052827BF}"/>
              </a:ext>
            </a:extLst>
          </p:cNvPr>
          <p:cNvPicPr>
            <a:picLocks noChangeAspect="1"/>
          </p:cNvPicPr>
          <p:nvPr/>
        </p:nvPicPr>
        <p:blipFill>
          <a:blip r:embed="rId2"/>
          <a:stretch>
            <a:fillRect/>
          </a:stretch>
        </p:blipFill>
        <p:spPr>
          <a:xfrm>
            <a:off x="1457325" y="1562100"/>
            <a:ext cx="4572000" cy="4572000"/>
          </a:xfrm>
          <a:prstGeom prst="rect">
            <a:avLst/>
          </a:prstGeom>
        </p:spPr>
      </p:pic>
    </p:spTree>
    <p:extLst>
      <p:ext uri="{BB962C8B-B14F-4D97-AF65-F5344CB8AC3E}">
        <p14:creationId xmlns:p14="http://schemas.microsoft.com/office/powerpoint/2010/main" val="417018003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63067398-2908-4A01-99B4-F2DFBBCB00A7}"/>
              </a:ext>
            </a:extLst>
          </p:cNvPr>
          <p:cNvSpPr>
            <a:spLocks noGrp="1"/>
          </p:cNvSpPr>
          <p:nvPr>
            <p:ph type="title"/>
          </p:nvPr>
        </p:nvSpPr>
        <p:spPr/>
        <p:txBody>
          <a:bodyPr>
            <a:normAutofit fontScale="90000"/>
          </a:bodyPr>
          <a:lstStyle/>
          <a:p>
            <a:r>
              <a:rPr lang="en-US" b="1" i="0" dirty="0">
                <a:solidFill>
                  <a:srgbClr val="273239"/>
                </a:solidFill>
                <a:effectLst/>
                <a:latin typeface="urw-din"/>
              </a:rPr>
              <a:t>More than cumulative frequency curve</a:t>
            </a:r>
            <a:endParaRPr lang="en-IN" dirty="0"/>
          </a:p>
        </p:txBody>
      </p:sp>
      <p:sp>
        <p:nvSpPr>
          <p:cNvPr id="3" name="Content Placeholder 2">
            <a:extLst>
              <a:ext uri="{FF2B5EF4-FFF2-40B4-BE49-F238E27FC236}">
                <a16:creationId xmlns="" xmlns:a16="http://schemas.microsoft.com/office/drawing/2014/main" id="{FFA7FC7D-CC8D-47E4-8037-E0C5FE91386A}"/>
              </a:ext>
            </a:extLst>
          </p:cNvPr>
          <p:cNvSpPr>
            <a:spLocks noGrp="1"/>
          </p:cNvSpPr>
          <p:nvPr>
            <p:ph idx="1"/>
          </p:nvPr>
        </p:nvSpPr>
        <p:spPr/>
        <p:txBody>
          <a:bodyPr>
            <a:normAutofit fontScale="92500"/>
          </a:bodyPr>
          <a:lstStyle/>
          <a:p>
            <a:r>
              <a:rPr lang="en-US" b="0" i="0" dirty="0">
                <a:solidFill>
                  <a:srgbClr val="273239"/>
                </a:solidFill>
                <a:effectLst/>
                <a:latin typeface="urw-din"/>
              </a:rPr>
              <a:t>As we know that the cumulative frequency curves are created using the cumulative frequencies so, in more than cumulative frequency curve, the frequencies of succeeding class or interval are added to the current class or interval frequency. </a:t>
            </a:r>
          </a:p>
          <a:p>
            <a:r>
              <a:rPr lang="en-US" b="0" i="0" dirty="0">
                <a:solidFill>
                  <a:srgbClr val="273239"/>
                </a:solidFill>
                <a:effectLst/>
                <a:latin typeface="urw-din"/>
              </a:rPr>
              <a:t>You can create more than cumulative frequency by subtracting the frequency of the second-class from the first class and so on.</a:t>
            </a:r>
            <a:endParaRPr lang="en-IN" dirty="0"/>
          </a:p>
        </p:txBody>
      </p:sp>
    </p:spTree>
    <p:extLst>
      <p:ext uri="{BB962C8B-B14F-4D97-AF65-F5344CB8AC3E}">
        <p14:creationId xmlns:p14="http://schemas.microsoft.com/office/powerpoint/2010/main" val="189429357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DE13E66-53E5-4F35-A302-61B6235461B0}"/>
              </a:ext>
            </a:extLst>
          </p:cNvPr>
          <p:cNvSpPr>
            <a:spLocks noGrp="1"/>
          </p:cNvSpPr>
          <p:nvPr>
            <p:ph type="title"/>
          </p:nvPr>
        </p:nvSpPr>
        <p:spPr/>
        <p:txBody>
          <a:bodyPr>
            <a:normAutofit fontScale="90000"/>
          </a:bodyPr>
          <a:lstStyle/>
          <a:p>
            <a:r>
              <a:rPr lang="en-US" b="1" i="0" dirty="0">
                <a:solidFill>
                  <a:srgbClr val="273239"/>
                </a:solidFill>
                <a:effectLst/>
                <a:latin typeface="urw-din"/>
              </a:rPr>
              <a:t>How to draw more than cumulative frequency curve?</a:t>
            </a:r>
            <a:r>
              <a:rPr lang="en-US" b="0" i="0" dirty="0">
                <a:solidFill>
                  <a:srgbClr val="273239"/>
                </a:solidFill>
                <a:effectLst/>
                <a:latin typeface="urw-din"/>
              </a:rPr>
              <a:t/>
            </a:r>
            <a:br>
              <a:rPr lang="en-US" b="0" i="0" dirty="0">
                <a:solidFill>
                  <a:srgbClr val="273239"/>
                </a:solidFill>
                <a:effectLst/>
                <a:latin typeface="urw-din"/>
              </a:rPr>
            </a:br>
            <a:endParaRPr lang="en-IN" dirty="0"/>
          </a:p>
        </p:txBody>
      </p:sp>
      <p:sp>
        <p:nvSpPr>
          <p:cNvPr id="3" name="Content Placeholder 2">
            <a:extLst>
              <a:ext uri="{FF2B5EF4-FFF2-40B4-BE49-F238E27FC236}">
                <a16:creationId xmlns="" xmlns:a16="http://schemas.microsoft.com/office/drawing/2014/main" id="{E720E7D1-0782-49CA-BEDD-28C459B7EA75}"/>
              </a:ext>
            </a:extLst>
          </p:cNvPr>
          <p:cNvSpPr>
            <a:spLocks noGrp="1"/>
          </p:cNvSpPr>
          <p:nvPr>
            <p:ph idx="1"/>
          </p:nvPr>
        </p:nvSpPr>
        <p:spPr/>
        <p:txBody>
          <a:bodyPr>
            <a:normAutofit fontScale="70000" lnSpcReduction="20000"/>
          </a:bodyPr>
          <a:lstStyle/>
          <a:p>
            <a:pPr algn="l" fontAlgn="base"/>
            <a:r>
              <a:rPr lang="en-US" b="0" i="0" dirty="0">
                <a:solidFill>
                  <a:srgbClr val="273239"/>
                </a:solidFill>
                <a:effectLst/>
                <a:latin typeface="urw-din"/>
              </a:rPr>
              <a:t>In this case, we use the lower limit of the classes to draw the curve. Now, the step-by-step process of plotting a more than Cumulative Frequency curve:</a:t>
            </a:r>
          </a:p>
          <a:p>
            <a:pPr algn="l" fontAlgn="base">
              <a:buFont typeface="+mj-lt"/>
              <a:buAutoNum type="arabicPeriod"/>
            </a:pPr>
            <a:r>
              <a:rPr lang="en-US" b="0" i="0" dirty="0">
                <a:solidFill>
                  <a:srgbClr val="273239"/>
                </a:solidFill>
                <a:effectLst/>
                <a:latin typeface="urw-din"/>
              </a:rPr>
              <a:t>Take a graph paper and mark the lower class limits along the x-axis and the corresponding cumulative frequencies along the y-axis.</a:t>
            </a:r>
          </a:p>
          <a:p>
            <a:pPr algn="l" fontAlgn="base">
              <a:buFont typeface="+mj-lt"/>
              <a:buAutoNum type="arabicPeriod"/>
            </a:pPr>
            <a:r>
              <a:rPr lang="en-US" b="0" i="0" dirty="0">
                <a:solidFill>
                  <a:srgbClr val="273239"/>
                </a:solidFill>
                <a:effectLst/>
                <a:latin typeface="urw-din"/>
              </a:rPr>
              <a:t>Join these points successively by line segments, we will get a polygon, known as a cumulative frequency polygon.</a:t>
            </a:r>
          </a:p>
          <a:p>
            <a:pPr algn="l" fontAlgn="base">
              <a:buFont typeface="+mj-lt"/>
              <a:buAutoNum type="arabicPeriod"/>
            </a:pPr>
            <a:r>
              <a:rPr lang="en-US" b="0" i="0" dirty="0">
                <a:solidFill>
                  <a:srgbClr val="273239"/>
                </a:solidFill>
                <a:effectLst/>
                <a:latin typeface="urw-din"/>
              </a:rPr>
              <a:t>Join these points successively by a smooth curve, we will get a curve, known as cumulative frequency graph.</a:t>
            </a:r>
          </a:p>
          <a:p>
            <a:pPr algn="l" fontAlgn="base">
              <a:buFont typeface="+mj-lt"/>
              <a:buAutoNum type="arabicPeriod"/>
            </a:pPr>
            <a:r>
              <a:rPr lang="en-US" b="0" i="0" dirty="0">
                <a:solidFill>
                  <a:srgbClr val="273239"/>
                </a:solidFill>
                <a:effectLst/>
                <a:latin typeface="urw-din"/>
              </a:rPr>
              <a:t>We assume that P be the point of intersection of less than’ and ‘more than curves. Draw PM ⊥ to the y-axis, cutting x-axis at M.</a:t>
            </a:r>
          </a:p>
          <a:p>
            <a:pPr algn="l" fontAlgn="base">
              <a:buFont typeface="+mj-lt"/>
              <a:buAutoNum type="arabicPeriod"/>
            </a:pPr>
            <a:r>
              <a:rPr lang="en-US" b="0" i="0" dirty="0">
                <a:solidFill>
                  <a:srgbClr val="273239"/>
                </a:solidFill>
                <a:effectLst/>
                <a:latin typeface="urw-din"/>
              </a:rPr>
              <a:t>Then, median = length of OM.</a:t>
            </a:r>
          </a:p>
          <a:p>
            <a:endParaRPr lang="en-IN" dirty="0"/>
          </a:p>
        </p:txBody>
      </p:sp>
    </p:spTree>
    <p:extLst>
      <p:ext uri="{BB962C8B-B14F-4D97-AF65-F5344CB8AC3E}">
        <p14:creationId xmlns:p14="http://schemas.microsoft.com/office/powerpoint/2010/main" val="101830332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4EC2A22-208A-471E-A8C4-87E7F3A76359}"/>
              </a:ext>
            </a:extLst>
          </p:cNvPr>
          <p:cNvSpPr>
            <a:spLocks noGrp="1"/>
          </p:cNvSpPr>
          <p:nvPr>
            <p:ph type="title"/>
          </p:nvPr>
        </p:nvSpPr>
        <p:spPr>
          <a:xfrm>
            <a:off x="552375" y="608474"/>
            <a:ext cx="7886700" cy="1325563"/>
          </a:xfrm>
        </p:spPr>
        <p:txBody>
          <a:bodyPr>
            <a:normAutofit fontScale="90000"/>
          </a:bodyPr>
          <a:lstStyle/>
          <a:p>
            <a:r>
              <a:rPr lang="en-US" dirty="0"/>
              <a:t>Example of </a:t>
            </a:r>
            <a:r>
              <a:rPr lang="en-US" b="1" i="0" dirty="0">
                <a:solidFill>
                  <a:srgbClr val="273239"/>
                </a:solidFill>
                <a:effectLst/>
                <a:latin typeface="urw-din"/>
              </a:rPr>
              <a:t>More than cumulative frequency curve</a:t>
            </a:r>
            <a:endParaRPr lang="en-IN" dirty="0"/>
          </a:p>
        </p:txBody>
      </p:sp>
      <p:pic>
        <p:nvPicPr>
          <p:cNvPr id="4098" name="Picture 2" descr="Lightbox">
            <a:extLst>
              <a:ext uri="{FF2B5EF4-FFF2-40B4-BE49-F238E27FC236}">
                <a16:creationId xmlns="" xmlns:a16="http://schemas.microsoft.com/office/drawing/2014/main" id="{C5411584-3DD0-43B4-8CDE-DB63082338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5983" y="2281085"/>
            <a:ext cx="3974690" cy="39684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4318165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7FE3A25-4725-48E5-BF2B-0441A8150382}"/>
              </a:ext>
            </a:extLst>
          </p:cNvPr>
          <p:cNvSpPr>
            <a:spLocks noGrp="1"/>
          </p:cNvSpPr>
          <p:nvPr>
            <p:ph type="title"/>
          </p:nvPr>
        </p:nvSpPr>
        <p:spPr/>
        <p:txBody>
          <a:bodyPr/>
          <a:lstStyle/>
          <a:p>
            <a:r>
              <a:rPr lang="en-US" dirty="0"/>
              <a:t>Example 1:</a:t>
            </a:r>
            <a:endParaRPr lang="en-IN" dirty="0"/>
          </a:p>
        </p:txBody>
      </p:sp>
      <p:sp>
        <p:nvSpPr>
          <p:cNvPr id="3" name="Content Placeholder 2">
            <a:extLst>
              <a:ext uri="{FF2B5EF4-FFF2-40B4-BE49-F238E27FC236}">
                <a16:creationId xmlns="" xmlns:a16="http://schemas.microsoft.com/office/drawing/2014/main" id="{8B85041C-857B-4157-B996-4E0529CCB523}"/>
              </a:ext>
            </a:extLst>
          </p:cNvPr>
          <p:cNvSpPr>
            <a:spLocks noGrp="1"/>
          </p:cNvSpPr>
          <p:nvPr>
            <p:ph idx="1"/>
          </p:nvPr>
        </p:nvSpPr>
        <p:spPr>
          <a:xfrm>
            <a:off x="628650" y="1825625"/>
            <a:ext cx="4757738" cy="4351338"/>
          </a:xfrm>
        </p:spPr>
        <p:txBody>
          <a:bodyPr/>
          <a:lstStyle/>
          <a:p>
            <a:r>
              <a:rPr lang="en-US" b="1" i="0" dirty="0">
                <a:solidFill>
                  <a:srgbClr val="273239"/>
                </a:solidFill>
                <a:effectLst/>
                <a:latin typeface="urw-din"/>
              </a:rPr>
              <a:t>Following is the age distribution of group students.</a:t>
            </a:r>
          </a:p>
          <a:p>
            <a:r>
              <a:rPr lang="en-US" b="1" i="0" dirty="0">
                <a:solidFill>
                  <a:srgbClr val="273239"/>
                </a:solidFill>
                <a:effectLst/>
                <a:latin typeface="urw-din"/>
              </a:rPr>
              <a:t> Now, draw the cumulative frequency curve of less than type and find the median value.</a:t>
            </a:r>
          </a:p>
          <a:p>
            <a:endParaRPr lang="en-IN" dirty="0"/>
          </a:p>
        </p:txBody>
      </p:sp>
      <p:graphicFrame>
        <p:nvGraphicFramePr>
          <p:cNvPr id="4" name="Table 3">
            <a:extLst>
              <a:ext uri="{FF2B5EF4-FFF2-40B4-BE49-F238E27FC236}">
                <a16:creationId xmlns="" xmlns:a16="http://schemas.microsoft.com/office/drawing/2014/main" id="{F72B60CC-B5FD-491E-809F-F2A556ADEB96}"/>
              </a:ext>
            </a:extLst>
          </p:cNvPr>
          <p:cNvGraphicFramePr>
            <a:graphicFrameLocks noGrp="1"/>
          </p:cNvGraphicFramePr>
          <p:nvPr/>
        </p:nvGraphicFramePr>
        <p:xfrm>
          <a:off x="5579268" y="910033"/>
          <a:ext cx="2936082" cy="5266930"/>
        </p:xfrm>
        <a:graphic>
          <a:graphicData uri="http://schemas.openxmlformats.org/drawingml/2006/table">
            <a:tbl>
              <a:tblPr/>
              <a:tblGrid>
                <a:gridCol w="1468041">
                  <a:extLst>
                    <a:ext uri="{9D8B030D-6E8A-4147-A177-3AD203B41FA5}">
                      <a16:colId xmlns="" xmlns:a16="http://schemas.microsoft.com/office/drawing/2014/main" val="2714449741"/>
                    </a:ext>
                  </a:extLst>
                </a:gridCol>
                <a:gridCol w="1468041">
                  <a:extLst>
                    <a:ext uri="{9D8B030D-6E8A-4147-A177-3AD203B41FA5}">
                      <a16:colId xmlns="" xmlns:a16="http://schemas.microsoft.com/office/drawing/2014/main" val="3178293497"/>
                    </a:ext>
                  </a:extLst>
                </a:gridCol>
              </a:tblGrid>
              <a:tr h="233460">
                <a:tc>
                  <a:txBody>
                    <a:bodyPr/>
                    <a:lstStyle/>
                    <a:p>
                      <a:pPr algn="ctr" fontAlgn="base"/>
                      <a:r>
                        <a:rPr lang="en-IN" sz="1800" b="0">
                          <a:effectLst/>
                        </a:rPr>
                        <a:t>Age (in years)</a:t>
                      </a:r>
                    </a:p>
                  </a:txBody>
                  <a:tcPr marL="43537" marR="43537" marT="58049" marB="580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IN" sz="1800" b="0" dirty="0">
                          <a:effectLst/>
                        </a:rPr>
                        <a:t>Frequency</a:t>
                      </a:r>
                    </a:p>
                  </a:txBody>
                  <a:tcPr marL="43537" marR="43537" marT="58049" marB="580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 xmlns:a16="http://schemas.microsoft.com/office/drawing/2014/main" val="1569816867"/>
                  </a:ext>
                </a:extLst>
              </a:tr>
              <a:tr h="250151">
                <a:tc>
                  <a:txBody>
                    <a:bodyPr/>
                    <a:lstStyle/>
                    <a:p>
                      <a:pPr algn="ctr" fontAlgn="base"/>
                      <a:r>
                        <a:rPr lang="en-IN" sz="1600" b="0">
                          <a:effectLst/>
                        </a:rPr>
                        <a:t>4-5</a:t>
                      </a:r>
                    </a:p>
                  </a:txBody>
                  <a:tcPr marL="43537" marR="43537" marT="81268" marB="812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IN" sz="1600" b="0">
                          <a:effectLst/>
                        </a:rPr>
                        <a:t>36</a:t>
                      </a:r>
                    </a:p>
                  </a:txBody>
                  <a:tcPr marL="43537" marR="43537" marT="81268" marB="812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 xmlns:a16="http://schemas.microsoft.com/office/drawing/2014/main" val="2486814657"/>
                  </a:ext>
                </a:extLst>
              </a:tr>
              <a:tr h="250151">
                <a:tc>
                  <a:txBody>
                    <a:bodyPr/>
                    <a:lstStyle/>
                    <a:p>
                      <a:pPr algn="ctr" fontAlgn="base"/>
                      <a:r>
                        <a:rPr lang="en-IN" sz="1600" b="0">
                          <a:effectLst/>
                        </a:rPr>
                        <a:t>5-6</a:t>
                      </a:r>
                    </a:p>
                  </a:txBody>
                  <a:tcPr marL="43537" marR="43537" marT="81268" marB="812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IN" sz="1600" b="0" dirty="0">
                          <a:effectLst/>
                        </a:rPr>
                        <a:t>42</a:t>
                      </a:r>
                    </a:p>
                  </a:txBody>
                  <a:tcPr marL="43537" marR="43537" marT="81268" marB="812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 xmlns:a16="http://schemas.microsoft.com/office/drawing/2014/main" val="608630630"/>
                  </a:ext>
                </a:extLst>
              </a:tr>
              <a:tr h="250151">
                <a:tc>
                  <a:txBody>
                    <a:bodyPr/>
                    <a:lstStyle/>
                    <a:p>
                      <a:pPr algn="ctr" fontAlgn="base"/>
                      <a:r>
                        <a:rPr lang="en-IN" sz="1600" b="0">
                          <a:effectLst/>
                        </a:rPr>
                        <a:t>6-7</a:t>
                      </a:r>
                    </a:p>
                  </a:txBody>
                  <a:tcPr marL="43537" marR="43537" marT="81268" marB="812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IN" sz="1600" b="0">
                          <a:effectLst/>
                        </a:rPr>
                        <a:t>52</a:t>
                      </a:r>
                    </a:p>
                  </a:txBody>
                  <a:tcPr marL="43537" marR="43537" marT="81268" marB="812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 xmlns:a16="http://schemas.microsoft.com/office/drawing/2014/main" val="1579610151"/>
                  </a:ext>
                </a:extLst>
              </a:tr>
              <a:tr h="250151">
                <a:tc>
                  <a:txBody>
                    <a:bodyPr/>
                    <a:lstStyle/>
                    <a:p>
                      <a:pPr algn="ctr" fontAlgn="base"/>
                      <a:r>
                        <a:rPr lang="en-IN" sz="1600" b="0">
                          <a:effectLst/>
                        </a:rPr>
                        <a:t>7-8</a:t>
                      </a:r>
                    </a:p>
                  </a:txBody>
                  <a:tcPr marL="43537" marR="43537" marT="81268" marB="812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IN" sz="1600" b="0" dirty="0">
                          <a:effectLst/>
                        </a:rPr>
                        <a:t>60</a:t>
                      </a:r>
                    </a:p>
                  </a:txBody>
                  <a:tcPr marL="43537" marR="43537" marT="81268" marB="812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 xmlns:a16="http://schemas.microsoft.com/office/drawing/2014/main" val="908988388"/>
                  </a:ext>
                </a:extLst>
              </a:tr>
              <a:tr h="250151">
                <a:tc>
                  <a:txBody>
                    <a:bodyPr/>
                    <a:lstStyle/>
                    <a:p>
                      <a:pPr algn="ctr" fontAlgn="base"/>
                      <a:r>
                        <a:rPr lang="en-IN" sz="1600" b="0">
                          <a:effectLst/>
                        </a:rPr>
                        <a:t>8-9</a:t>
                      </a:r>
                    </a:p>
                  </a:txBody>
                  <a:tcPr marL="43537" marR="43537" marT="81268" marB="812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IN" sz="1600" b="0">
                          <a:effectLst/>
                        </a:rPr>
                        <a:t>68</a:t>
                      </a:r>
                    </a:p>
                  </a:txBody>
                  <a:tcPr marL="43537" marR="43537" marT="81268" marB="812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 xmlns:a16="http://schemas.microsoft.com/office/drawing/2014/main" val="2940607764"/>
                  </a:ext>
                </a:extLst>
              </a:tr>
              <a:tr h="250151">
                <a:tc>
                  <a:txBody>
                    <a:bodyPr/>
                    <a:lstStyle/>
                    <a:p>
                      <a:pPr algn="ctr" fontAlgn="base"/>
                      <a:r>
                        <a:rPr lang="en-IN" sz="1600" b="0">
                          <a:effectLst/>
                        </a:rPr>
                        <a:t>9-10</a:t>
                      </a:r>
                    </a:p>
                  </a:txBody>
                  <a:tcPr marL="43537" marR="43537" marT="81268" marB="812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IN" sz="1600" b="0">
                          <a:effectLst/>
                        </a:rPr>
                        <a:t>84</a:t>
                      </a:r>
                    </a:p>
                  </a:txBody>
                  <a:tcPr marL="43537" marR="43537" marT="81268" marB="812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 xmlns:a16="http://schemas.microsoft.com/office/drawing/2014/main" val="1743717112"/>
                  </a:ext>
                </a:extLst>
              </a:tr>
              <a:tr h="250151">
                <a:tc>
                  <a:txBody>
                    <a:bodyPr/>
                    <a:lstStyle/>
                    <a:p>
                      <a:pPr algn="ctr" fontAlgn="base"/>
                      <a:r>
                        <a:rPr lang="en-IN" sz="1600" b="0">
                          <a:effectLst/>
                        </a:rPr>
                        <a:t>10-11</a:t>
                      </a:r>
                    </a:p>
                  </a:txBody>
                  <a:tcPr marL="43537" marR="43537" marT="81268" marB="812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IN" sz="1600" b="0" dirty="0">
                          <a:effectLst/>
                        </a:rPr>
                        <a:t>96</a:t>
                      </a:r>
                    </a:p>
                  </a:txBody>
                  <a:tcPr marL="43537" marR="43537" marT="81268" marB="812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 xmlns:a16="http://schemas.microsoft.com/office/drawing/2014/main" val="3090756681"/>
                  </a:ext>
                </a:extLst>
              </a:tr>
              <a:tr h="250151">
                <a:tc>
                  <a:txBody>
                    <a:bodyPr/>
                    <a:lstStyle/>
                    <a:p>
                      <a:pPr algn="ctr" fontAlgn="base"/>
                      <a:r>
                        <a:rPr lang="en-IN" sz="1600" b="0">
                          <a:effectLst/>
                        </a:rPr>
                        <a:t>11-12</a:t>
                      </a:r>
                    </a:p>
                  </a:txBody>
                  <a:tcPr marL="43537" marR="43537" marT="81268" marB="812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IN" sz="1600" b="0">
                          <a:effectLst/>
                        </a:rPr>
                        <a:t>82</a:t>
                      </a:r>
                    </a:p>
                  </a:txBody>
                  <a:tcPr marL="43537" marR="43537" marT="81268" marB="812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 xmlns:a16="http://schemas.microsoft.com/office/drawing/2014/main" val="1530862939"/>
                  </a:ext>
                </a:extLst>
              </a:tr>
              <a:tr h="250151">
                <a:tc>
                  <a:txBody>
                    <a:bodyPr/>
                    <a:lstStyle/>
                    <a:p>
                      <a:pPr algn="ctr" fontAlgn="base"/>
                      <a:r>
                        <a:rPr lang="en-IN" sz="1600" b="0">
                          <a:effectLst/>
                        </a:rPr>
                        <a:t>12-13</a:t>
                      </a:r>
                    </a:p>
                  </a:txBody>
                  <a:tcPr marL="43537" marR="43537" marT="81268" marB="812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IN" sz="1600" b="0" dirty="0">
                          <a:effectLst/>
                        </a:rPr>
                        <a:t>66</a:t>
                      </a:r>
                    </a:p>
                  </a:txBody>
                  <a:tcPr marL="43537" marR="43537" marT="81268" marB="812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 xmlns:a16="http://schemas.microsoft.com/office/drawing/2014/main" val="1690334207"/>
                  </a:ext>
                </a:extLst>
              </a:tr>
              <a:tr h="250151">
                <a:tc>
                  <a:txBody>
                    <a:bodyPr/>
                    <a:lstStyle/>
                    <a:p>
                      <a:pPr algn="ctr" fontAlgn="base"/>
                      <a:r>
                        <a:rPr lang="en-IN" sz="1600" b="0">
                          <a:effectLst/>
                        </a:rPr>
                        <a:t>13-14</a:t>
                      </a:r>
                    </a:p>
                  </a:txBody>
                  <a:tcPr marL="43537" marR="43537" marT="81268" marB="812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IN" sz="1600" b="0" dirty="0">
                          <a:effectLst/>
                        </a:rPr>
                        <a:t>48</a:t>
                      </a:r>
                    </a:p>
                  </a:txBody>
                  <a:tcPr marL="43537" marR="43537" marT="81268" marB="812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 xmlns:a16="http://schemas.microsoft.com/office/drawing/2014/main" val="4033213691"/>
                  </a:ext>
                </a:extLst>
              </a:tr>
              <a:tr h="250151">
                <a:tc>
                  <a:txBody>
                    <a:bodyPr/>
                    <a:lstStyle/>
                    <a:p>
                      <a:pPr algn="ctr" fontAlgn="base"/>
                      <a:r>
                        <a:rPr lang="en-IN" sz="1600" b="0">
                          <a:effectLst/>
                        </a:rPr>
                        <a:t>14-15</a:t>
                      </a:r>
                    </a:p>
                  </a:txBody>
                  <a:tcPr marL="43537" marR="43537" marT="81268" marB="812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IN" sz="1600" b="0" dirty="0">
                          <a:effectLst/>
                        </a:rPr>
                        <a:t>50</a:t>
                      </a:r>
                    </a:p>
                  </a:txBody>
                  <a:tcPr marL="43537" marR="43537" marT="81268" marB="812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 xmlns:a16="http://schemas.microsoft.com/office/drawing/2014/main" val="3972298886"/>
                  </a:ext>
                </a:extLst>
              </a:tr>
              <a:tr h="250151">
                <a:tc>
                  <a:txBody>
                    <a:bodyPr/>
                    <a:lstStyle/>
                    <a:p>
                      <a:pPr algn="ctr" fontAlgn="base"/>
                      <a:r>
                        <a:rPr lang="en-IN" sz="1600" b="0">
                          <a:effectLst/>
                        </a:rPr>
                        <a:t>15-16</a:t>
                      </a:r>
                    </a:p>
                  </a:txBody>
                  <a:tcPr marL="43537" marR="43537" marT="81268" marB="812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r>
                        <a:rPr lang="en-IN" sz="1600" b="0" dirty="0">
                          <a:effectLst/>
                        </a:rPr>
                        <a:t>16</a:t>
                      </a:r>
                    </a:p>
                  </a:txBody>
                  <a:tcPr marL="43537" marR="43537" marT="81268" marB="812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 xmlns:a16="http://schemas.microsoft.com/office/drawing/2014/main" val="842944948"/>
                  </a:ext>
                </a:extLst>
              </a:tr>
            </a:tbl>
          </a:graphicData>
        </a:graphic>
      </p:graphicFrame>
    </p:spTree>
    <p:extLst>
      <p:ext uri="{BB962C8B-B14F-4D97-AF65-F5344CB8AC3E}">
        <p14:creationId xmlns:p14="http://schemas.microsoft.com/office/powerpoint/2010/main" val="37041125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3612DD9-14A0-4299-A893-55C5BCCC90BA}"/>
              </a:ext>
            </a:extLst>
          </p:cNvPr>
          <p:cNvSpPr>
            <a:spLocks noGrp="1"/>
          </p:cNvSpPr>
          <p:nvPr>
            <p:ph type="title"/>
          </p:nvPr>
        </p:nvSpPr>
        <p:spPr>
          <a:xfrm>
            <a:off x="628650" y="365126"/>
            <a:ext cx="3436144" cy="1325563"/>
          </a:xfrm>
        </p:spPr>
        <p:txBody>
          <a:bodyPr>
            <a:normAutofit fontScale="90000"/>
          </a:bodyPr>
          <a:lstStyle/>
          <a:p>
            <a:r>
              <a:rPr lang="en-US" dirty="0"/>
              <a:t>Add CF in Given Table</a:t>
            </a:r>
            <a:endParaRPr lang="en-IN" dirty="0"/>
          </a:p>
        </p:txBody>
      </p:sp>
      <p:graphicFrame>
        <p:nvGraphicFramePr>
          <p:cNvPr id="4" name="Table 3">
            <a:extLst>
              <a:ext uri="{FF2B5EF4-FFF2-40B4-BE49-F238E27FC236}">
                <a16:creationId xmlns="" xmlns:a16="http://schemas.microsoft.com/office/drawing/2014/main" id="{5E2D4F2D-1289-467D-B405-F777FF3F3EDA}"/>
              </a:ext>
            </a:extLst>
          </p:cNvPr>
          <p:cNvGraphicFramePr>
            <a:graphicFrameLocks noGrp="1"/>
          </p:cNvGraphicFramePr>
          <p:nvPr/>
        </p:nvGraphicFramePr>
        <p:xfrm>
          <a:off x="4872038" y="502066"/>
          <a:ext cx="3829047" cy="5889213"/>
        </p:xfrm>
        <a:graphic>
          <a:graphicData uri="http://schemas.openxmlformats.org/drawingml/2006/table">
            <a:tbl>
              <a:tblPr/>
              <a:tblGrid>
                <a:gridCol w="1276349">
                  <a:extLst>
                    <a:ext uri="{9D8B030D-6E8A-4147-A177-3AD203B41FA5}">
                      <a16:colId xmlns="" xmlns:a16="http://schemas.microsoft.com/office/drawing/2014/main" val="2429470276"/>
                    </a:ext>
                  </a:extLst>
                </a:gridCol>
                <a:gridCol w="1276349">
                  <a:extLst>
                    <a:ext uri="{9D8B030D-6E8A-4147-A177-3AD203B41FA5}">
                      <a16:colId xmlns="" xmlns:a16="http://schemas.microsoft.com/office/drawing/2014/main" val="2098617227"/>
                    </a:ext>
                  </a:extLst>
                </a:gridCol>
                <a:gridCol w="1276349">
                  <a:extLst>
                    <a:ext uri="{9D8B030D-6E8A-4147-A177-3AD203B41FA5}">
                      <a16:colId xmlns="" xmlns:a16="http://schemas.microsoft.com/office/drawing/2014/main" val="13102457"/>
                    </a:ext>
                  </a:extLst>
                </a:gridCol>
              </a:tblGrid>
              <a:tr h="436545">
                <a:tc>
                  <a:txBody>
                    <a:bodyPr/>
                    <a:lstStyle/>
                    <a:p>
                      <a:pPr algn="ctr" fontAlgn="base"/>
                      <a:r>
                        <a:rPr lang="en-IN" sz="1300" b="0" dirty="0">
                          <a:effectLst/>
                        </a:rPr>
                        <a:t>Age (in years)</a:t>
                      </a:r>
                    </a:p>
                  </a:txBody>
                  <a:tcPr marL="43537" marR="43537" marT="58049" marB="580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pPr algn="ctr" fontAlgn="base"/>
                      <a:r>
                        <a:rPr lang="en-IN" sz="1800" b="0" dirty="0">
                          <a:effectLst/>
                        </a:rPr>
                        <a:t>Frequency</a:t>
                      </a:r>
                    </a:p>
                  </a:txBody>
                  <a:tcPr marL="43537" marR="43537" marT="58049" marB="580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pPr algn="ctr" fontAlgn="base"/>
                      <a:r>
                        <a:rPr lang="en-IN" sz="1300" b="0">
                          <a:effectLst/>
                        </a:rPr>
                        <a:t>c.f.</a:t>
                      </a:r>
                    </a:p>
                  </a:txBody>
                  <a:tcPr marL="43537" marR="43537" marT="58049" marB="580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extLst>
                  <a:ext uri="{0D108BD9-81ED-4DB2-BD59-A6C34878D82A}">
                    <a16:rowId xmlns="" xmlns:a16="http://schemas.microsoft.com/office/drawing/2014/main" val="3523140226"/>
                  </a:ext>
                </a:extLst>
              </a:tr>
              <a:tr h="454389">
                <a:tc>
                  <a:txBody>
                    <a:bodyPr/>
                    <a:lstStyle/>
                    <a:p>
                      <a:pPr algn="ctr" fontAlgn="base"/>
                      <a:r>
                        <a:rPr lang="en-IN" sz="1100" b="0">
                          <a:effectLst/>
                        </a:rPr>
                        <a:t>Less than 5</a:t>
                      </a:r>
                    </a:p>
                  </a:txBody>
                  <a:tcPr marL="43537" marR="43537" marT="81268" marB="812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pPr algn="ctr" fontAlgn="base"/>
                      <a:r>
                        <a:rPr lang="en-IN" sz="1600" b="0">
                          <a:effectLst/>
                        </a:rPr>
                        <a:t>36</a:t>
                      </a:r>
                    </a:p>
                  </a:txBody>
                  <a:tcPr marL="43537" marR="43537" marT="81268" marB="812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pPr algn="ctr" fontAlgn="base"/>
                      <a:r>
                        <a:rPr lang="en-IN" sz="1100" b="0" dirty="0">
                          <a:effectLst/>
                        </a:rPr>
                        <a:t>36</a:t>
                      </a:r>
                    </a:p>
                  </a:txBody>
                  <a:tcPr marL="43537" marR="43537" marT="81268" marB="812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extLst>
                  <a:ext uri="{0D108BD9-81ED-4DB2-BD59-A6C34878D82A}">
                    <a16:rowId xmlns="" xmlns:a16="http://schemas.microsoft.com/office/drawing/2014/main" val="1238311730"/>
                  </a:ext>
                </a:extLst>
              </a:tr>
              <a:tr h="454389">
                <a:tc>
                  <a:txBody>
                    <a:bodyPr/>
                    <a:lstStyle/>
                    <a:p>
                      <a:pPr algn="ctr" fontAlgn="base"/>
                      <a:r>
                        <a:rPr lang="en-IN" sz="1100" b="0" dirty="0">
                          <a:effectLst/>
                        </a:rPr>
                        <a:t>Less than 6</a:t>
                      </a:r>
                    </a:p>
                  </a:txBody>
                  <a:tcPr marL="43537" marR="43537" marT="81268" marB="812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pPr algn="ctr" fontAlgn="base"/>
                      <a:r>
                        <a:rPr lang="en-IN" sz="1600" b="0" dirty="0">
                          <a:effectLst/>
                        </a:rPr>
                        <a:t>42</a:t>
                      </a:r>
                    </a:p>
                  </a:txBody>
                  <a:tcPr marL="43537" marR="43537" marT="81268" marB="812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pPr algn="ctr" fontAlgn="base"/>
                      <a:r>
                        <a:rPr lang="en-IN" sz="1100" b="0">
                          <a:effectLst/>
                        </a:rPr>
                        <a:t>78</a:t>
                      </a:r>
                    </a:p>
                  </a:txBody>
                  <a:tcPr marL="43537" marR="43537" marT="81268" marB="812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extLst>
                  <a:ext uri="{0D108BD9-81ED-4DB2-BD59-A6C34878D82A}">
                    <a16:rowId xmlns="" xmlns:a16="http://schemas.microsoft.com/office/drawing/2014/main" val="788575057"/>
                  </a:ext>
                </a:extLst>
              </a:tr>
              <a:tr h="454389">
                <a:tc>
                  <a:txBody>
                    <a:bodyPr/>
                    <a:lstStyle/>
                    <a:p>
                      <a:pPr algn="ctr" fontAlgn="base"/>
                      <a:r>
                        <a:rPr lang="en-IN" sz="1100" b="0">
                          <a:effectLst/>
                        </a:rPr>
                        <a:t>Less than 7</a:t>
                      </a:r>
                    </a:p>
                  </a:txBody>
                  <a:tcPr marL="43537" marR="43537" marT="81268" marB="812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pPr algn="ctr" fontAlgn="base"/>
                      <a:r>
                        <a:rPr lang="en-IN" sz="1600" b="0">
                          <a:effectLst/>
                        </a:rPr>
                        <a:t>52</a:t>
                      </a:r>
                    </a:p>
                  </a:txBody>
                  <a:tcPr marL="43537" marR="43537" marT="81268" marB="812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pPr algn="ctr" fontAlgn="base"/>
                      <a:r>
                        <a:rPr lang="en-IN" sz="1100" b="0">
                          <a:effectLst/>
                        </a:rPr>
                        <a:t>130</a:t>
                      </a:r>
                    </a:p>
                  </a:txBody>
                  <a:tcPr marL="43537" marR="43537" marT="81268" marB="812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extLst>
                  <a:ext uri="{0D108BD9-81ED-4DB2-BD59-A6C34878D82A}">
                    <a16:rowId xmlns="" xmlns:a16="http://schemas.microsoft.com/office/drawing/2014/main" val="2181601072"/>
                  </a:ext>
                </a:extLst>
              </a:tr>
              <a:tr h="454389">
                <a:tc>
                  <a:txBody>
                    <a:bodyPr/>
                    <a:lstStyle/>
                    <a:p>
                      <a:pPr algn="ctr" fontAlgn="base"/>
                      <a:r>
                        <a:rPr lang="en-IN" sz="1100" b="0" dirty="0">
                          <a:effectLst/>
                        </a:rPr>
                        <a:t>Less than 8</a:t>
                      </a:r>
                    </a:p>
                  </a:txBody>
                  <a:tcPr marL="43537" marR="43537" marT="81268" marB="812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pPr algn="ctr" fontAlgn="base"/>
                      <a:r>
                        <a:rPr lang="en-IN" sz="1600" b="0" dirty="0">
                          <a:effectLst/>
                        </a:rPr>
                        <a:t>60</a:t>
                      </a:r>
                    </a:p>
                  </a:txBody>
                  <a:tcPr marL="43537" marR="43537" marT="81268" marB="812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pPr algn="ctr" fontAlgn="base"/>
                      <a:r>
                        <a:rPr lang="en-IN" sz="1100" b="0" dirty="0">
                          <a:effectLst/>
                        </a:rPr>
                        <a:t>190</a:t>
                      </a:r>
                    </a:p>
                  </a:txBody>
                  <a:tcPr marL="43537" marR="43537" marT="81268" marB="812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extLst>
                  <a:ext uri="{0D108BD9-81ED-4DB2-BD59-A6C34878D82A}">
                    <a16:rowId xmlns="" xmlns:a16="http://schemas.microsoft.com/office/drawing/2014/main" val="1659715674"/>
                  </a:ext>
                </a:extLst>
              </a:tr>
              <a:tr h="454389">
                <a:tc>
                  <a:txBody>
                    <a:bodyPr/>
                    <a:lstStyle/>
                    <a:p>
                      <a:pPr algn="ctr" fontAlgn="base"/>
                      <a:r>
                        <a:rPr lang="en-IN" sz="1100" b="0">
                          <a:effectLst/>
                        </a:rPr>
                        <a:t>Less than 9</a:t>
                      </a:r>
                    </a:p>
                  </a:txBody>
                  <a:tcPr marL="43537" marR="43537" marT="81268" marB="812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pPr algn="ctr" fontAlgn="base"/>
                      <a:r>
                        <a:rPr lang="en-IN" sz="1600" b="0">
                          <a:effectLst/>
                        </a:rPr>
                        <a:t>68</a:t>
                      </a:r>
                    </a:p>
                  </a:txBody>
                  <a:tcPr marL="43537" marR="43537" marT="81268" marB="812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pPr algn="ctr" fontAlgn="base"/>
                      <a:r>
                        <a:rPr lang="en-IN" sz="1100" b="0">
                          <a:effectLst/>
                        </a:rPr>
                        <a:t>258</a:t>
                      </a:r>
                    </a:p>
                  </a:txBody>
                  <a:tcPr marL="43537" marR="43537" marT="81268" marB="812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extLst>
                  <a:ext uri="{0D108BD9-81ED-4DB2-BD59-A6C34878D82A}">
                    <a16:rowId xmlns="" xmlns:a16="http://schemas.microsoft.com/office/drawing/2014/main" val="2083238098"/>
                  </a:ext>
                </a:extLst>
              </a:tr>
              <a:tr h="454389">
                <a:tc>
                  <a:txBody>
                    <a:bodyPr/>
                    <a:lstStyle/>
                    <a:p>
                      <a:pPr algn="ctr" fontAlgn="base"/>
                      <a:r>
                        <a:rPr lang="en-IN" sz="1100" b="0" dirty="0">
                          <a:effectLst/>
                        </a:rPr>
                        <a:t>Less than 10</a:t>
                      </a:r>
                    </a:p>
                  </a:txBody>
                  <a:tcPr marL="43537" marR="43537" marT="81268" marB="812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pPr algn="ctr" fontAlgn="base"/>
                      <a:r>
                        <a:rPr lang="en-IN" sz="1600" b="0">
                          <a:effectLst/>
                        </a:rPr>
                        <a:t>84</a:t>
                      </a:r>
                    </a:p>
                  </a:txBody>
                  <a:tcPr marL="43537" marR="43537" marT="81268" marB="812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pPr algn="ctr" fontAlgn="base"/>
                      <a:r>
                        <a:rPr lang="en-IN" sz="1100" b="0" dirty="0">
                          <a:effectLst/>
                        </a:rPr>
                        <a:t>342</a:t>
                      </a:r>
                    </a:p>
                  </a:txBody>
                  <a:tcPr marL="43537" marR="43537" marT="81268" marB="812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extLst>
                  <a:ext uri="{0D108BD9-81ED-4DB2-BD59-A6C34878D82A}">
                    <a16:rowId xmlns="" xmlns:a16="http://schemas.microsoft.com/office/drawing/2014/main" val="836946720"/>
                  </a:ext>
                </a:extLst>
              </a:tr>
              <a:tr h="454389">
                <a:tc>
                  <a:txBody>
                    <a:bodyPr/>
                    <a:lstStyle/>
                    <a:p>
                      <a:pPr algn="ctr" fontAlgn="base"/>
                      <a:r>
                        <a:rPr lang="en-IN" sz="1100" b="0" dirty="0">
                          <a:effectLst/>
                        </a:rPr>
                        <a:t>Less than 11</a:t>
                      </a:r>
                    </a:p>
                  </a:txBody>
                  <a:tcPr marL="43537" marR="43537" marT="81268" marB="812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pPr algn="ctr" fontAlgn="base"/>
                      <a:r>
                        <a:rPr lang="en-IN" sz="1600" b="0" dirty="0">
                          <a:effectLst/>
                        </a:rPr>
                        <a:t>96</a:t>
                      </a:r>
                    </a:p>
                  </a:txBody>
                  <a:tcPr marL="43537" marR="43537" marT="81268" marB="812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pPr algn="ctr" fontAlgn="base"/>
                      <a:r>
                        <a:rPr lang="en-IN" sz="1100" b="0">
                          <a:effectLst/>
                        </a:rPr>
                        <a:t>438</a:t>
                      </a:r>
                    </a:p>
                  </a:txBody>
                  <a:tcPr marL="43537" marR="43537" marT="81268" marB="812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extLst>
                  <a:ext uri="{0D108BD9-81ED-4DB2-BD59-A6C34878D82A}">
                    <a16:rowId xmlns="" xmlns:a16="http://schemas.microsoft.com/office/drawing/2014/main" val="644213313"/>
                  </a:ext>
                </a:extLst>
              </a:tr>
              <a:tr h="454389">
                <a:tc>
                  <a:txBody>
                    <a:bodyPr/>
                    <a:lstStyle/>
                    <a:p>
                      <a:pPr algn="ctr" fontAlgn="base"/>
                      <a:r>
                        <a:rPr lang="en-IN" sz="1100" b="0" dirty="0">
                          <a:effectLst/>
                        </a:rPr>
                        <a:t>Less than 12</a:t>
                      </a:r>
                    </a:p>
                  </a:txBody>
                  <a:tcPr marL="43537" marR="43537" marT="81268" marB="812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pPr algn="ctr" fontAlgn="base"/>
                      <a:r>
                        <a:rPr lang="en-IN" sz="1600" b="0">
                          <a:effectLst/>
                        </a:rPr>
                        <a:t>82</a:t>
                      </a:r>
                    </a:p>
                  </a:txBody>
                  <a:tcPr marL="43537" marR="43537" marT="81268" marB="812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pPr algn="ctr" fontAlgn="base"/>
                      <a:r>
                        <a:rPr lang="en-IN" sz="1100" b="0" dirty="0">
                          <a:effectLst/>
                        </a:rPr>
                        <a:t>520</a:t>
                      </a:r>
                    </a:p>
                  </a:txBody>
                  <a:tcPr marL="43537" marR="43537" marT="81268" marB="812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extLst>
                  <a:ext uri="{0D108BD9-81ED-4DB2-BD59-A6C34878D82A}">
                    <a16:rowId xmlns="" xmlns:a16="http://schemas.microsoft.com/office/drawing/2014/main" val="2825827734"/>
                  </a:ext>
                </a:extLst>
              </a:tr>
              <a:tr h="454389">
                <a:tc>
                  <a:txBody>
                    <a:bodyPr/>
                    <a:lstStyle/>
                    <a:p>
                      <a:pPr algn="ctr" fontAlgn="base"/>
                      <a:r>
                        <a:rPr lang="en-IN" sz="1100" b="0" dirty="0">
                          <a:effectLst/>
                        </a:rPr>
                        <a:t>Less than 13</a:t>
                      </a:r>
                    </a:p>
                  </a:txBody>
                  <a:tcPr marL="43537" marR="43537" marT="81268" marB="812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pPr algn="ctr" fontAlgn="base"/>
                      <a:r>
                        <a:rPr lang="en-IN" sz="1600" b="0" dirty="0">
                          <a:effectLst/>
                        </a:rPr>
                        <a:t>66</a:t>
                      </a:r>
                    </a:p>
                  </a:txBody>
                  <a:tcPr marL="43537" marR="43537" marT="81268" marB="812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pPr algn="ctr" fontAlgn="base"/>
                      <a:r>
                        <a:rPr lang="en-IN" sz="1100" b="0" dirty="0">
                          <a:effectLst/>
                        </a:rPr>
                        <a:t>586</a:t>
                      </a:r>
                    </a:p>
                  </a:txBody>
                  <a:tcPr marL="43537" marR="43537" marT="81268" marB="812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extLst>
                  <a:ext uri="{0D108BD9-81ED-4DB2-BD59-A6C34878D82A}">
                    <a16:rowId xmlns="" xmlns:a16="http://schemas.microsoft.com/office/drawing/2014/main" val="634587259"/>
                  </a:ext>
                </a:extLst>
              </a:tr>
              <a:tr h="454389">
                <a:tc>
                  <a:txBody>
                    <a:bodyPr/>
                    <a:lstStyle/>
                    <a:p>
                      <a:pPr algn="ctr" fontAlgn="base"/>
                      <a:r>
                        <a:rPr lang="en-IN" sz="1100" b="0" dirty="0">
                          <a:effectLst/>
                        </a:rPr>
                        <a:t>Less than 14</a:t>
                      </a:r>
                    </a:p>
                  </a:txBody>
                  <a:tcPr marL="43537" marR="43537" marT="81268" marB="812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pPr algn="ctr" fontAlgn="base"/>
                      <a:r>
                        <a:rPr lang="en-IN" sz="1600" b="0" dirty="0">
                          <a:effectLst/>
                        </a:rPr>
                        <a:t>48</a:t>
                      </a:r>
                    </a:p>
                  </a:txBody>
                  <a:tcPr marL="43537" marR="43537" marT="81268" marB="812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pPr algn="ctr" fontAlgn="base"/>
                      <a:r>
                        <a:rPr lang="en-IN" sz="1100" b="0" dirty="0">
                          <a:effectLst/>
                        </a:rPr>
                        <a:t>634</a:t>
                      </a:r>
                    </a:p>
                  </a:txBody>
                  <a:tcPr marL="43537" marR="43537" marT="81268" marB="812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extLst>
                  <a:ext uri="{0D108BD9-81ED-4DB2-BD59-A6C34878D82A}">
                    <a16:rowId xmlns="" xmlns:a16="http://schemas.microsoft.com/office/drawing/2014/main" val="821337744"/>
                  </a:ext>
                </a:extLst>
              </a:tr>
              <a:tr h="454389">
                <a:tc>
                  <a:txBody>
                    <a:bodyPr/>
                    <a:lstStyle/>
                    <a:p>
                      <a:pPr algn="ctr" fontAlgn="base"/>
                      <a:r>
                        <a:rPr lang="en-IN" sz="1100" b="0" dirty="0">
                          <a:effectLst/>
                        </a:rPr>
                        <a:t>Less than 15</a:t>
                      </a:r>
                    </a:p>
                  </a:txBody>
                  <a:tcPr marL="43537" marR="43537" marT="81268" marB="812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pPr algn="ctr" fontAlgn="base"/>
                      <a:r>
                        <a:rPr lang="en-IN" sz="1600" b="0" dirty="0">
                          <a:effectLst/>
                        </a:rPr>
                        <a:t>50</a:t>
                      </a:r>
                    </a:p>
                  </a:txBody>
                  <a:tcPr marL="43537" marR="43537" marT="81268" marB="812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pPr algn="ctr" fontAlgn="base"/>
                      <a:r>
                        <a:rPr lang="en-IN" sz="1100" b="0" dirty="0">
                          <a:effectLst/>
                        </a:rPr>
                        <a:t>684</a:t>
                      </a:r>
                    </a:p>
                  </a:txBody>
                  <a:tcPr marL="43537" marR="43537" marT="81268" marB="812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extLst>
                  <a:ext uri="{0D108BD9-81ED-4DB2-BD59-A6C34878D82A}">
                    <a16:rowId xmlns="" xmlns:a16="http://schemas.microsoft.com/office/drawing/2014/main" val="3434332031"/>
                  </a:ext>
                </a:extLst>
              </a:tr>
              <a:tr h="454389">
                <a:tc>
                  <a:txBody>
                    <a:bodyPr/>
                    <a:lstStyle/>
                    <a:p>
                      <a:pPr algn="ctr" fontAlgn="base"/>
                      <a:r>
                        <a:rPr lang="en-IN" sz="1100" b="0" dirty="0">
                          <a:effectLst/>
                        </a:rPr>
                        <a:t>Less than 16</a:t>
                      </a:r>
                    </a:p>
                  </a:txBody>
                  <a:tcPr marL="43537" marR="43537" marT="81268" marB="812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pPr algn="ctr" fontAlgn="base"/>
                      <a:r>
                        <a:rPr lang="en-IN" sz="1600" b="0" dirty="0">
                          <a:effectLst/>
                        </a:rPr>
                        <a:t>16</a:t>
                      </a:r>
                    </a:p>
                  </a:txBody>
                  <a:tcPr marL="43537" marR="43537" marT="81268" marB="812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pPr algn="ctr" fontAlgn="base"/>
                      <a:r>
                        <a:rPr lang="en-IN" sz="1100" b="0" dirty="0">
                          <a:effectLst/>
                        </a:rPr>
                        <a:t>700</a:t>
                      </a:r>
                    </a:p>
                  </a:txBody>
                  <a:tcPr marL="43537" marR="43537" marT="81268" marB="812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extLst>
                  <a:ext uri="{0D108BD9-81ED-4DB2-BD59-A6C34878D82A}">
                    <a16:rowId xmlns="" xmlns:a16="http://schemas.microsoft.com/office/drawing/2014/main" val="4149761530"/>
                  </a:ext>
                </a:extLst>
              </a:tr>
            </a:tbl>
          </a:graphicData>
        </a:graphic>
      </p:graphicFrame>
    </p:spTree>
    <p:extLst>
      <p:ext uri="{BB962C8B-B14F-4D97-AF65-F5344CB8AC3E}">
        <p14:creationId xmlns:p14="http://schemas.microsoft.com/office/powerpoint/2010/main" val="171309416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696D0C9-9020-4D97-87EE-E56DEFC29159}"/>
              </a:ext>
            </a:extLst>
          </p:cNvPr>
          <p:cNvSpPr>
            <a:spLocks noGrp="1"/>
          </p:cNvSpPr>
          <p:nvPr>
            <p:ph type="title"/>
          </p:nvPr>
        </p:nvSpPr>
        <p:spPr/>
        <p:txBody>
          <a:bodyPr/>
          <a:lstStyle/>
          <a:p>
            <a:r>
              <a:rPr lang="en-US" dirty="0"/>
              <a:t>Procedure</a:t>
            </a:r>
            <a:endParaRPr lang="en-IN" dirty="0"/>
          </a:p>
        </p:txBody>
      </p:sp>
      <p:sp>
        <p:nvSpPr>
          <p:cNvPr id="3" name="Content Placeholder 2">
            <a:extLst>
              <a:ext uri="{FF2B5EF4-FFF2-40B4-BE49-F238E27FC236}">
                <a16:creationId xmlns="" xmlns:a16="http://schemas.microsoft.com/office/drawing/2014/main" id="{C51CAA67-9616-42B6-A839-1AAF1447F240}"/>
              </a:ext>
            </a:extLst>
          </p:cNvPr>
          <p:cNvSpPr>
            <a:spLocks noGrp="1"/>
          </p:cNvSpPr>
          <p:nvPr>
            <p:ph idx="1"/>
          </p:nvPr>
        </p:nvSpPr>
        <p:spPr/>
        <p:txBody>
          <a:bodyPr>
            <a:normAutofit fontScale="85000" lnSpcReduction="20000"/>
          </a:bodyPr>
          <a:lstStyle/>
          <a:p>
            <a:pPr algn="l" fontAlgn="base"/>
            <a:r>
              <a:rPr lang="en-US" b="0" i="1" dirty="0">
                <a:solidFill>
                  <a:srgbClr val="273239"/>
                </a:solidFill>
                <a:effectLst/>
                <a:latin typeface="urw-din"/>
              </a:rPr>
              <a:t>On a graph paper, take the scale </a:t>
            </a:r>
          </a:p>
          <a:p>
            <a:pPr algn="l" fontAlgn="base"/>
            <a:r>
              <a:rPr lang="en-US" b="0" i="1" dirty="0">
                <a:solidFill>
                  <a:srgbClr val="273239"/>
                </a:solidFill>
                <a:effectLst/>
                <a:latin typeface="urw-din"/>
              </a:rPr>
              <a:t>Along the x-axis: 5 small div. = 1. </a:t>
            </a:r>
          </a:p>
          <a:p>
            <a:pPr algn="l" fontAlgn="base"/>
            <a:r>
              <a:rPr lang="en-US" b="0" i="1" dirty="0">
                <a:solidFill>
                  <a:srgbClr val="273239"/>
                </a:solidFill>
                <a:effectLst/>
                <a:latin typeface="urw-din"/>
              </a:rPr>
              <a:t>Along the y-axis: 1 small div. = 10. </a:t>
            </a:r>
          </a:p>
          <a:p>
            <a:pPr algn="l" fontAlgn="base"/>
            <a:r>
              <a:rPr lang="en-US" b="0" i="1" dirty="0">
                <a:solidFill>
                  <a:srgbClr val="273239"/>
                </a:solidFill>
                <a:effectLst/>
                <a:latin typeface="urw-din"/>
              </a:rPr>
              <a:t>And, plot all the points A(5, 36), B(6, 78), C(7, 130), D(8, 190), E(9, 258), F(10, 342), G(11, 438),H(12, 520), I(13, 586), J(14, 634), K(15, 684) and L(16, 700). </a:t>
            </a:r>
          </a:p>
          <a:p>
            <a:pPr algn="l" fontAlgn="base"/>
            <a:r>
              <a:rPr lang="en-US" b="0" i="1" dirty="0">
                <a:solidFill>
                  <a:srgbClr val="273239"/>
                </a:solidFill>
                <a:effectLst/>
                <a:latin typeface="urw-din"/>
              </a:rPr>
              <a:t>Join these points successively with a freehand, we will get the cumulative frequency curve or an ogive. </a:t>
            </a:r>
          </a:p>
          <a:p>
            <a:pPr algn="l" fontAlgn="base"/>
            <a:r>
              <a:rPr lang="en-US" b="0" i="1" dirty="0">
                <a:solidFill>
                  <a:srgbClr val="273239"/>
                </a:solidFill>
                <a:effectLst/>
                <a:latin typeface="urw-din"/>
              </a:rPr>
              <a:t>Here, N = 700 ⇒ N/2 = 350</a:t>
            </a:r>
          </a:p>
          <a:p>
            <a:endParaRPr lang="en-IN" dirty="0"/>
          </a:p>
        </p:txBody>
      </p:sp>
    </p:spTree>
    <p:extLst>
      <p:ext uri="{BB962C8B-B14F-4D97-AF65-F5344CB8AC3E}">
        <p14:creationId xmlns:p14="http://schemas.microsoft.com/office/powerpoint/2010/main" val="115676723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801E33E-E4AF-4EF9-95D3-E9FAE416C99B}"/>
              </a:ext>
            </a:extLst>
          </p:cNvPr>
          <p:cNvSpPr>
            <a:spLocks noGrp="1"/>
          </p:cNvSpPr>
          <p:nvPr>
            <p:ph type="title"/>
          </p:nvPr>
        </p:nvSpPr>
        <p:spPr/>
        <p:txBody>
          <a:bodyPr/>
          <a:lstStyle/>
          <a:p>
            <a:r>
              <a:rPr lang="en-US" dirty="0"/>
              <a:t>Ogive Curve</a:t>
            </a:r>
            <a:endParaRPr lang="en-IN" dirty="0"/>
          </a:p>
        </p:txBody>
      </p:sp>
      <p:pic>
        <p:nvPicPr>
          <p:cNvPr id="4" name="Picture 3">
            <a:extLst>
              <a:ext uri="{FF2B5EF4-FFF2-40B4-BE49-F238E27FC236}">
                <a16:creationId xmlns="" xmlns:a16="http://schemas.microsoft.com/office/drawing/2014/main" id="{AD1683CE-0510-475C-943F-01434FE8A0ED}"/>
              </a:ext>
            </a:extLst>
          </p:cNvPr>
          <p:cNvPicPr>
            <a:picLocks noChangeAspect="1"/>
          </p:cNvPicPr>
          <p:nvPr/>
        </p:nvPicPr>
        <p:blipFill>
          <a:blip r:embed="rId2"/>
          <a:stretch>
            <a:fillRect/>
          </a:stretch>
        </p:blipFill>
        <p:spPr>
          <a:xfrm>
            <a:off x="628650" y="2219325"/>
            <a:ext cx="4800600" cy="4419600"/>
          </a:xfrm>
          <a:prstGeom prst="rect">
            <a:avLst/>
          </a:prstGeom>
        </p:spPr>
      </p:pic>
    </p:spTree>
    <p:extLst>
      <p:ext uri="{BB962C8B-B14F-4D97-AF65-F5344CB8AC3E}">
        <p14:creationId xmlns:p14="http://schemas.microsoft.com/office/powerpoint/2010/main" val="26394437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84</TotalTime>
  <Words>2928</Words>
  <Application>Microsoft Office PowerPoint</Application>
  <PresentationFormat>On-screen Show (4:3)</PresentationFormat>
  <Paragraphs>517</Paragraphs>
  <Slides>54</Slides>
  <Notes>1</Notes>
  <HiddenSlides>0</HiddenSlides>
  <MMClips>0</MMClips>
  <ScaleCrop>false</ScaleCrop>
  <HeadingPairs>
    <vt:vector size="4" baseType="variant">
      <vt:variant>
        <vt:lpstr>Theme</vt:lpstr>
      </vt:variant>
      <vt:variant>
        <vt:i4>1</vt:i4>
      </vt:variant>
      <vt:variant>
        <vt:lpstr>Slide Titles</vt:lpstr>
      </vt:variant>
      <vt:variant>
        <vt:i4>54</vt:i4>
      </vt:variant>
    </vt:vector>
  </HeadingPairs>
  <TitlesOfParts>
    <vt:vector size="55" baseType="lpstr">
      <vt:lpstr>Office Theme</vt:lpstr>
      <vt:lpstr>Lecture 9:  Frequency Distribution</vt:lpstr>
      <vt:lpstr>PowerPoint Presentation</vt:lpstr>
      <vt:lpstr>Agenda – Exploring Data Using Descriptive Measures</vt:lpstr>
      <vt:lpstr>PowerPoint Presentation</vt:lpstr>
      <vt:lpstr>Exploring data using  descriptive measures</vt:lpstr>
      <vt:lpstr>Descriptive Statistics for  Continuous Variables</vt:lpstr>
      <vt:lpstr>PowerPoint Presentation</vt:lpstr>
      <vt:lpstr>Types of Descriptive Statistics</vt:lpstr>
      <vt:lpstr>Frequency distribution</vt:lpstr>
      <vt:lpstr>Frequency Distribution: Simple</vt:lpstr>
      <vt:lpstr>PowerPoint Presentation</vt:lpstr>
      <vt:lpstr>PowerPoint Presentation</vt:lpstr>
      <vt:lpstr>Continuous  Frequency  Distribution</vt:lpstr>
      <vt:lpstr>Things to be taken care</vt:lpstr>
      <vt:lpstr>Relative Frequency  Distribution</vt:lpstr>
      <vt:lpstr>Cumulative  Frequency  Distributions</vt:lpstr>
      <vt:lpstr>Cumulative Frequency</vt:lpstr>
      <vt:lpstr>Frequency Distributions</vt:lpstr>
      <vt:lpstr>Relative Frequency: Total student 20</vt:lpstr>
      <vt:lpstr>PowerPoint Presentation</vt:lpstr>
      <vt:lpstr>Grouped Frequency Distribution </vt:lpstr>
      <vt:lpstr>Grouped Frequency Distribution</vt:lpstr>
      <vt:lpstr>Grouped Frequency Distribution (cont.)</vt:lpstr>
      <vt:lpstr>PowerPoint Presentation</vt:lpstr>
      <vt:lpstr>Group Frequency Distributions </vt:lpstr>
      <vt:lpstr>SUMMARY –Frequency Distribution</vt:lpstr>
      <vt:lpstr>Graphs for Frequency Distribution</vt:lpstr>
      <vt:lpstr>Graphs for  Frequency  Distribution</vt:lpstr>
      <vt:lpstr>Bar Chart</vt:lpstr>
      <vt:lpstr>Histogram</vt:lpstr>
      <vt:lpstr>PowerPoint Presentation</vt:lpstr>
      <vt:lpstr>Effect of Bin Size  on Histogram</vt:lpstr>
      <vt:lpstr>Frequency polygon</vt:lpstr>
      <vt:lpstr>EXAMPLE</vt:lpstr>
      <vt:lpstr>Frequency curve</vt:lpstr>
      <vt:lpstr>PowerPoint Presentation</vt:lpstr>
      <vt:lpstr>TYPES OF CUMILATIVE FREQUENCY  CURVE</vt:lpstr>
      <vt:lpstr>PowerPoint Presentation</vt:lpstr>
      <vt:lpstr>What is Cumulative Frequency? </vt:lpstr>
      <vt:lpstr>Example of Cumulative Frequency</vt:lpstr>
      <vt:lpstr>What is  Cumulative Frequency Distribution?</vt:lpstr>
      <vt:lpstr>Types of Cumulative Frequency Curves</vt:lpstr>
      <vt:lpstr>Type-1 :  More Than Type Cumulative Frequency Curve </vt:lpstr>
      <vt:lpstr>Type -2 Less Than Type Cumulative Frequency Curve </vt:lpstr>
      <vt:lpstr>How to draw Cumulative Graphs? </vt:lpstr>
      <vt:lpstr>How to draw less than cumulative frequency curve? </vt:lpstr>
      <vt:lpstr>Less than cumulative frequency curve</vt:lpstr>
      <vt:lpstr>More than cumulative frequency curve</vt:lpstr>
      <vt:lpstr>How to draw more than cumulative frequency curve? </vt:lpstr>
      <vt:lpstr>Example of More than cumulative frequency curve</vt:lpstr>
      <vt:lpstr>Example 1:</vt:lpstr>
      <vt:lpstr>Add CF in Given Table</vt:lpstr>
      <vt:lpstr>Procedure</vt:lpstr>
      <vt:lpstr>Ogive Curve</vt:lpstr>
    </vt:vector>
  </TitlesOfParts>
  <Company>HP Inc.</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9:  Frequency Distribution</dc:title>
  <dc:creator>Admin</dc:creator>
  <cp:lastModifiedBy>Admin</cp:lastModifiedBy>
  <cp:revision>9</cp:revision>
  <dcterms:created xsi:type="dcterms:W3CDTF">2023-08-10T18:43:01Z</dcterms:created>
  <dcterms:modified xsi:type="dcterms:W3CDTF">2023-08-11T05:33:04Z</dcterms:modified>
</cp:coreProperties>
</file>