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74" r:id="rId3"/>
    <p:sldId id="264" r:id="rId4"/>
    <p:sldId id="258" r:id="rId5"/>
    <p:sldId id="265" r:id="rId6"/>
    <p:sldId id="266" r:id="rId7"/>
    <p:sldId id="267" r:id="rId8"/>
    <p:sldId id="257" r:id="rId9"/>
    <p:sldId id="260" r:id="rId10"/>
    <p:sldId id="261" r:id="rId11"/>
    <p:sldId id="262" r:id="rId12"/>
    <p:sldId id="269" r:id="rId13"/>
    <p:sldId id="270" r:id="rId14"/>
    <p:sldId id="272" r:id="rId15"/>
    <p:sldId id="276" r:id="rId16"/>
    <p:sldId id="277" r:id="rId17"/>
    <p:sldId id="278" r:id="rId18"/>
    <p:sldId id="275" r:id="rId19"/>
    <p:sldId id="268" r:id="rId20"/>
    <p:sldId id="27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DE70C0-C759-4D0B-A018-2DA768E46600}" type="datetimeFigureOut">
              <a:rPr lang="en-IN" smtClean="0"/>
              <a:t>15-02-2022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A1936-F6DE-4047-9393-907D3B7A8668}" type="slidenum">
              <a:rPr lang="en-IN" smtClean="0"/>
              <a:t>‹#›</a:t>
            </a:fld>
            <a:endParaRPr lang="en-IN"/>
          </a:p>
        </p:txBody>
      </p:sp>
    </p:spTree>
    <p:extLst>
      <p:ext uri="{BB962C8B-B14F-4D97-AF65-F5344CB8AC3E}">
        <p14:creationId xmlns:p14="http://schemas.microsoft.com/office/powerpoint/2010/main" val="1681242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A11319-80F4-48C0-9F79-B08D8B43EBDB}" type="slidenum">
              <a:rPr lang="en-US"/>
              <a:pPr/>
              <a:t>4</a:t>
            </a:fld>
            <a:endParaRPr lang="en-US"/>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417CC7-A06C-409A-9A02-86602B1F3852}" type="slidenum">
              <a:rPr lang="en-US"/>
              <a:pPr/>
              <a:t>9</a:t>
            </a:fld>
            <a:endParaRPr lang="en-US"/>
          </a:p>
        </p:txBody>
      </p:sp>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9C6E3C-2F42-402F-AD6B-8F5966674D5E}" type="slidenum">
              <a:rPr lang="en-US"/>
              <a:pPr/>
              <a:t>10</a:t>
            </a:fld>
            <a:endParaRPr lang="en-US"/>
          </a:p>
        </p:txBody>
      </p:sp>
      <p:sp>
        <p:nvSpPr>
          <p:cNvPr id="110594"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1F20DC-1CC6-4C49-9F2C-A88210FFE6F9}" type="slidenum">
              <a:rPr lang="en-US"/>
              <a:pPr/>
              <a:t>11</a:t>
            </a:fld>
            <a:endParaRPr lang="en-US"/>
          </a:p>
        </p:txBody>
      </p:sp>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2F8863D9-CB5B-4FBB-99F5-89A0F8B9C5AC}" type="datetimeFigureOut">
              <a:rPr lang="en-IN" smtClean="0"/>
              <a:t>15-02-2022</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59195553-AF9B-48BD-8FFE-5FBE59EEA827}"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F8863D9-CB5B-4FBB-99F5-89A0F8B9C5AC}" type="datetimeFigureOut">
              <a:rPr lang="en-IN" smtClean="0"/>
              <a:t>15-02-2022</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59195553-AF9B-48BD-8FFE-5FBE59EEA827}" type="slidenum">
              <a:rPr lang="en-IN" smtClean="0"/>
              <a:t>‹#›</a:t>
            </a:fld>
            <a:endParaRPr lang="en-IN"/>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2F8863D9-CB5B-4FBB-99F5-89A0F8B9C5AC}" type="datetimeFigureOut">
              <a:rPr lang="en-IN" smtClean="0"/>
              <a:t>15-02-2022</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59195553-AF9B-48BD-8FFE-5FBE59EEA827}"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2F8863D9-CB5B-4FBB-99F5-89A0F8B9C5AC}" type="datetimeFigureOut">
              <a:rPr lang="en-IN" smtClean="0"/>
              <a:t>15-02-2022</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59195553-AF9B-48BD-8FFE-5FBE59EEA827}" type="slidenum">
              <a:rPr lang="en-IN" smtClean="0"/>
              <a:t>‹#›</a:t>
            </a:fld>
            <a:endParaRPr lang="en-IN"/>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2F8863D9-CB5B-4FBB-99F5-89A0F8B9C5AC}" type="datetimeFigureOut">
              <a:rPr lang="en-IN" smtClean="0"/>
              <a:t>15-02-2022</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59195553-AF9B-48BD-8FFE-5FBE59EEA827}"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2F8863D9-CB5B-4FBB-99F5-89A0F8B9C5AC}" type="datetimeFigureOut">
              <a:rPr lang="en-IN" smtClean="0"/>
              <a:t>15-02-2022</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59195553-AF9B-48BD-8FFE-5FBE59EEA827}" type="slidenum">
              <a:rPr lang="en-IN" smtClean="0"/>
              <a:t>‹#›</a:t>
            </a:fld>
            <a:endParaRPr lang="en-IN"/>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2F8863D9-CB5B-4FBB-99F5-89A0F8B9C5AC}" type="datetimeFigureOut">
              <a:rPr lang="en-IN" smtClean="0"/>
              <a:t>15-02-2022</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59195553-AF9B-48BD-8FFE-5FBE59EEA827}"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2F8863D9-CB5B-4FBB-99F5-89A0F8B9C5AC}" type="datetimeFigureOut">
              <a:rPr lang="en-IN" smtClean="0"/>
              <a:t>15-02-2022</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59195553-AF9B-48BD-8FFE-5FBE59EEA827}"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2F8863D9-CB5B-4FBB-99F5-89A0F8B9C5AC}" type="datetimeFigureOut">
              <a:rPr lang="en-IN" smtClean="0"/>
              <a:t>15-02-2022</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59195553-AF9B-48BD-8FFE-5FBE59EEA827}"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F8863D9-CB5B-4FBB-99F5-89A0F8B9C5AC}" type="datetimeFigureOut">
              <a:rPr lang="en-IN" smtClean="0"/>
              <a:t>15-02-2022</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59195553-AF9B-48BD-8FFE-5FBE59EEA827}"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F8863D9-CB5B-4FBB-99F5-89A0F8B9C5AC}" type="datetimeFigureOut">
              <a:rPr lang="en-IN" smtClean="0"/>
              <a:t>15-02-2022</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59195553-AF9B-48BD-8FFE-5FBE59EEA827}"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2F8863D9-CB5B-4FBB-99F5-89A0F8B9C5AC}" type="datetimeFigureOut">
              <a:rPr lang="en-IN" smtClean="0"/>
              <a:t>15-02-2022</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59195553-AF9B-48BD-8FFE-5FBE59EEA827}"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i="1" dirty="0" smtClean="0"/>
              <a:t>Spatial Databases</a:t>
            </a:r>
            <a:endParaRPr lang="en-IN" i="1" dirty="0"/>
          </a:p>
        </p:txBody>
      </p:sp>
      <p:sp>
        <p:nvSpPr>
          <p:cNvPr id="3" name="Subtitle 2"/>
          <p:cNvSpPr>
            <a:spLocks noGrp="1"/>
          </p:cNvSpPr>
          <p:nvPr>
            <p:ph type="subTitle" idx="1"/>
          </p:nvPr>
        </p:nvSpPr>
        <p:spPr/>
        <p:txBody>
          <a:bodyPr/>
          <a:lstStyle/>
          <a:p>
            <a:pPr algn="r"/>
            <a:endParaRPr lang="en-IN" dirty="0"/>
          </a:p>
        </p:txBody>
      </p:sp>
    </p:spTree>
    <p:extLst>
      <p:ext uri="{BB962C8B-B14F-4D97-AF65-F5344CB8AC3E}">
        <p14:creationId xmlns:p14="http://schemas.microsoft.com/office/powerpoint/2010/main" val="12257933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200000"/>
              </a:lnSpc>
            </a:pPr>
            <a:r>
              <a:rPr lang="en-US" dirty="0"/>
              <a:t>Spatial Database Components, Spatial Objects</a:t>
            </a:r>
          </a:p>
          <a:p>
            <a:pPr>
              <a:lnSpc>
                <a:spcPct val="200000"/>
              </a:lnSpc>
            </a:pPr>
            <a:r>
              <a:rPr lang="en-IN" dirty="0" smtClean="0"/>
              <a:t>Spatial </a:t>
            </a:r>
            <a:r>
              <a:rPr lang="en-IN" dirty="0"/>
              <a:t>Dimensions, Spatial Relations, Spatial SQL Queries</a:t>
            </a:r>
          </a:p>
        </p:txBody>
      </p:sp>
    </p:spTree>
    <p:extLst>
      <p:ext uri="{BB962C8B-B14F-4D97-AF65-F5344CB8AC3E}">
        <p14:creationId xmlns:p14="http://schemas.microsoft.com/office/powerpoint/2010/main" val="257431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lgn="ctr" eaLnBrk="1" hangingPunct="1"/>
            <a:r>
              <a:rPr lang="en-US" altLang="en-US" smtClean="0"/>
              <a:t>What is a Spatial Database?</a:t>
            </a:r>
          </a:p>
        </p:txBody>
      </p:sp>
      <p:sp>
        <p:nvSpPr>
          <p:cNvPr id="5123" name="Rectangle 3"/>
          <p:cNvSpPr>
            <a:spLocks noGrp="1" noChangeArrowheads="1"/>
          </p:cNvSpPr>
          <p:nvPr>
            <p:ph type="body" idx="1"/>
          </p:nvPr>
        </p:nvSpPr>
        <p:spPr/>
        <p:txBody>
          <a:bodyPr/>
          <a:lstStyle/>
          <a:p>
            <a:pPr marL="609600" indent="-609600" eaLnBrk="1" hangingPunct="1"/>
            <a:r>
              <a:rPr lang="en-US" altLang="en-US" sz="2800" smtClean="0"/>
              <a:t>A SDBMS is a DBMS</a:t>
            </a:r>
          </a:p>
          <a:p>
            <a:pPr marL="609600" indent="-609600" eaLnBrk="1" hangingPunct="1"/>
            <a:r>
              <a:rPr lang="en-US" altLang="en-US" sz="2800" smtClean="0"/>
              <a:t>It offers spatial data types/data models/ query language</a:t>
            </a:r>
          </a:p>
          <a:p>
            <a:pPr marL="990600" lvl="1" indent="-533400" eaLnBrk="1" hangingPunct="1"/>
            <a:r>
              <a:rPr lang="en-US" altLang="en-US" sz="2400" smtClean="0"/>
              <a:t>Support spatial properties/operations</a:t>
            </a:r>
          </a:p>
          <a:p>
            <a:pPr marL="609600" indent="-609600" eaLnBrk="1" hangingPunct="1"/>
            <a:r>
              <a:rPr lang="en-US" altLang="en-US" sz="2800" smtClean="0"/>
              <a:t>It supports spatial data types in its implementation</a:t>
            </a:r>
          </a:p>
          <a:p>
            <a:pPr marL="990600" lvl="1" indent="-533400" eaLnBrk="1" hangingPunct="1"/>
            <a:r>
              <a:rPr lang="en-US" altLang="en-US" sz="2400" smtClean="0"/>
              <a:t>Support spatial indexing, algorithms for spatial selection and join</a:t>
            </a:r>
          </a:p>
        </p:txBody>
      </p:sp>
    </p:spTree>
    <p:extLst>
      <p:ext uri="{BB962C8B-B14F-4D97-AF65-F5344CB8AC3E}">
        <p14:creationId xmlns:p14="http://schemas.microsoft.com/office/powerpoint/2010/main" val="7283971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85800" y="381000"/>
            <a:ext cx="7772400" cy="838200"/>
          </a:xfrm>
        </p:spPr>
        <p:txBody>
          <a:bodyPr/>
          <a:lstStyle/>
          <a:p>
            <a:pPr algn="just"/>
            <a:r>
              <a:rPr lang="en-US" sz="2800" b="1" dirty="0"/>
              <a:t>Spatial </a:t>
            </a:r>
            <a:r>
              <a:rPr lang="en-US" sz="2800" b="1" dirty="0" err="1" smtClean="0"/>
              <a:t>DataBases</a:t>
            </a:r>
            <a:endParaRPr lang="en-US" sz="2800" b="1" dirty="0"/>
          </a:p>
        </p:txBody>
      </p:sp>
      <p:sp>
        <p:nvSpPr>
          <p:cNvPr id="26627" name="Rectangle 3"/>
          <p:cNvSpPr>
            <a:spLocks noGrp="1" noChangeArrowheads="1"/>
          </p:cNvSpPr>
          <p:nvPr>
            <p:ph type="body" idx="1"/>
          </p:nvPr>
        </p:nvSpPr>
        <p:spPr>
          <a:xfrm>
            <a:off x="685800" y="1371600"/>
            <a:ext cx="7772400" cy="4800600"/>
          </a:xfrm>
        </p:spPr>
        <p:txBody>
          <a:bodyPr/>
          <a:lstStyle/>
          <a:p>
            <a:pPr algn="just">
              <a:buClr>
                <a:schemeClr val="folHlink"/>
              </a:buClr>
              <a:buFont typeface="Wingdings" pitchFamily="2" charset="2"/>
              <a:buChar char="§"/>
            </a:pPr>
            <a:r>
              <a:rPr lang="en-US" sz="2200" dirty="0" smtClean="0"/>
              <a:t>The </a:t>
            </a:r>
            <a:r>
              <a:rPr lang="en-US" sz="2200" dirty="0"/>
              <a:t>contents of a spatial data base present a particular view of the world. </a:t>
            </a:r>
            <a:endParaRPr lang="en-US" sz="2200" dirty="0" smtClean="0"/>
          </a:p>
          <a:p>
            <a:pPr algn="just">
              <a:buClr>
                <a:schemeClr val="folHlink"/>
              </a:buClr>
              <a:buFont typeface="Wingdings" pitchFamily="2" charset="2"/>
              <a:buChar char="§"/>
            </a:pPr>
            <a:r>
              <a:rPr lang="en-US" sz="2200" dirty="0" smtClean="0"/>
              <a:t>The </a:t>
            </a:r>
            <a:r>
              <a:rPr lang="en-US" sz="2200" dirty="0"/>
              <a:t>user of the spatial data base sees the real world through the medium of the data base, therefore the measurements and samples contained in the data base must be maintained as complete and accurate as possible to present a view of the real world.</a:t>
            </a:r>
          </a:p>
          <a:p>
            <a:pPr algn="just">
              <a:buClr>
                <a:schemeClr val="folHlink"/>
              </a:buClr>
              <a:buFont typeface="Wingdings" pitchFamily="2" charset="2"/>
              <a:buChar char="§"/>
            </a:pPr>
            <a:r>
              <a:rPr lang="en-US" sz="2200" dirty="0"/>
              <a:t>The contents of a spatial </a:t>
            </a:r>
            <a:r>
              <a:rPr lang="en-US" sz="2200" dirty="0" smtClean="0"/>
              <a:t>database are special </a:t>
            </a:r>
            <a:r>
              <a:rPr lang="en-US" sz="2200" dirty="0"/>
              <a:t>in terms of: </a:t>
            </a:r>
          </a:p>
          <a:p>
            <a:pPr lvl="2" algn="just"/>
            <a:r>
              <a:rPr lang="en-US" sz="2200" dirty="0"/>
              <a:t>themes and characteristics captured (attributes),  </a:t>
            </a:r>
          </a:p>
          <a:p>
            <a:pPr lvl="2" algn="just"/>
            <a:r>
              <a:rPr lang="en-US" sz="2200" dirty="0"/>
              <a:t>the time period covered, and  </a:t>
            </a:r>
          </a:p>
          <a:p>
            <a:pPr lvl="2" algn="just"/>
            <a:r>
              <a:rPr lang="en-US" sz="2200" dirty="0"/>
              <a:t>the study area (spatial entities)</a:t>
            </a:r>
            <a:endParaRPr lang="en-US" sz="2200" b="1" dirty="0"/>
          </a:p>
          <a:p>
            <a:pPr lvl="2" algn="just">
              <a:buFont typeface="Wingdings" pitchFamily="2" charset="2"/>
              <a:buNone/>
            </a:pPr>
            <a:endParaRPr lang="en-US" sz="2200" b="1" dirty="0"/>
          </a:p>
        </p:txBody>
      </p:sp>
    </p:spTree>
    <p:extLst>
      <p:ext uri="{BB962C8B-B14F-4D97-AF65-F5344CB8AC3E}">
        <p14:creationId xmlns:p14="http://schemas.microsoft.com/office/powerpoint/2010/main" val="30822052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lgn="ctr" eaLnBrk="1" hangingPunct="1"/>
            <a:r>
              <a:rPr lang="en-US" altLang="en-US" smtClean="0"/>
              <a:t>Spatial Representation</a:t>
            </a:r>
          </a:p>
        </p:txBody>
      </p:sp>
      <p:sp>
        <p:nvSpPr>
          <p:cNvPr id="6147" name="Rectangle 3"/>
          <p:cNvSpPr>
            <a:spLocks noGrp="1" noChangeArrowheads="1"/>
          </p:cNvSpPr>
          <p:nvPr>
            <p:ph type="body" idx="1"/>
          </p:nvPr>
        </p:nvSpPr>
        <p:spPr>
          <a:xfrm>
            <a:off x="914400" y="1981200"/>
            <a:ext cx="7772400" cy="4306888"/>
          </a:xfrm>
        </p:spPr>
        <p:txBody>
          <a:bodyPr/>
          <a:lstStyle/>
          <a:p>
            <a:pPr eaLnBrk="1" hangingPunct="1"/>
            <a:r>
              <a:rPr lang="en-US" altLang="en-US" smtClean="0"/>
              <a:t>Raster model:</a:t>
            </a:r>
          </a:p>
          <a:p>
            <a:pPr eaLnBrk="1" hangingPunct="1">
              <a:buFont typeface="Wingdings" pitchFamily="2" charset="2"/>
              <a:buNone/>
            </a:pPr>
            <a:endParaRPr lang="en-US" altLang="en-US" smtClean="0"/>
          </a:p>
          <a:p>
            <a:pPr eaLnBrk="1" hangingPunct="1">
              <a:buFont typeface="Wingdings" pitchFamily="2" charset="2"/>
              <a:buNone/>
            </a:pPr>
            <a:endParaRPr lang="en-US" altLang="en-US" smtClean="0"/>
          </a:p>
          <a:p>
            <a:pPr eaLnBrk="1" hangingPunct="1"/>
            <a:endParaRPr lang="en-US" altLang="en-US" smtClean="0"/>
          </a:p>
          <a:p>
            <a:pPr eaLnBrk="1" hangingPunct="1"/>
            <a:r>
              <a:rPr lang="en-US" altLang="en-US" smtClean="0"/>
              <a:t>Vector model:</a:t>
            </a:r>
          </a:p>
        </p:txBody>
      </p:sp>
      <p:pic>
        <p:nvPicPr>
          <p:cNvPr id="6148" name="Picture 4" descr="ras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905000"/>
            <a:ext cx="2819400"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5" descr="vec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191000"/>
            <a:ext cx="2819400" cy="248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19057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ctr" eaLnBrk="1" hangingPunct="1"/>
            <a:r>
              <a:rPr lang="en-US" altLang="en-US" smtClean="0"/>
              <a:t>Spatial data types</a:t>
            </a:r>
          </a:p>
        </p:txBody>
      </p:sp>
      <p:sp>
        <p:nvSpPr>
          <p:cNvPr id="7171" name="Rectangle 3"/>
          <p:cNvSpPr>
            <a:spLocks noGrp="1" noChangeArrowheads="1"/>
          </p:cNvSpPr>
          <p:nvPr>
            <p:ph type="body" idx="1"/>
          </p:nvPr>
        </p:nvSpPr>
        <p:spPr>
          <a:xfrm>
            <a:off x="685800" y="3429000"/>
            <a:ext cx="7772400" cy="2703513"/>
          </a:xfrm>
        </p:spPr>
        <p:txBody>
          <a:bodyPr/>
          <a:lstStyle/>
          <a:p>
            <a:pPr eaLnBrk="1" hangingPunct="1"/>
            <a:r>
              <a:rPr lang="en-US" altLang="en-US" u="sng" smtClean="0"/>
              <a:t>Point</a:t>
            </a:r>
            <a:r>
              <a:rPr lang="en-US" altLang="en-US" smtClean="0"/>
              <a:t> : 2 real numbers</a:t>
            </a:r>
          </a:p>
          <a:p>
            <a:pPr eaLnBrk="1" hangingPunct="1"/>
            <a:r>
              <a:rPr lang="en-US" altLang="en-US" u="sng" smtClean="0"/>
              <a:t>Line</a:t>
            </a:r>
            <a:r>
              <a:rPr lang="en-US" altLang="en-US" smtClean="0"/>
              <a:t> : sequence of points</a:t>
            </a:r>
          </a:p>
          <a:p>
            <a:pPr eaLnBrk="1" hangingPunct="1"/>
            <a:r>
              <a:rPr lang="en-US" altLang="en-US" u="sng" smtClean="0"/>
              <a:t>Region</a:t>
            </a:r>
            <a:r>
              <a:rPr lang="en-US" altLang="en-US" smtClean="0"/>
              <a:t> : area included inside n-points</a:t>
            </a:r>
          </a:p>
        </p:txBody>
      </p:sp>
      <p:sp>
        <p:nvSpPr>
          <p:cNvPr id="7172" name="Freeform 5"/>
          <p:cNvSpPr>
            <a:spLocks/>
          </p:cNvSpPr>
          <p:nvPr/>
        </p:nvSpPr>
        <p:spPr bwMode="auto">
          <a:xfrm>
            <a:off x="5954713" y="2159000"/>
            <a:ext cx="1130300" cy="946150"/>
          </a:xfrm>
          <a:custGeom>
            <a:avLst/>
            <a:gdLst>
              <a:gd name="T0" fmla="*/ 187 w 712"/>
              <a:gd name="T1" fmla="*/ 47 h 596"/>
              <a:gd name="T2" fmla="*/ 147 w 712"/>
              <a:gd name="T3" fmla="*/ 247 h 596"/>
              <a:gd name="T4" fmla="*/ 120 w 712"/>
              <a:gd name="T5" fmla="*/ 341 h 596"/>
              <a:gd name="T6" fmla="*/ 0 w 712"/>
              <a:gd name="T7" fmla="*/ 422 h 596"/>
              <a:gd name="T8" fmla="*/ 40 w 712"/>
              <a:gd name="T9" fmla="*/ 435 h 596"/>
              <a:gd name="T10" fmla="*/ 107 w 712"/>
              <a:gd name="T11" fmla="*/ 448 h 596"/>
              <a:gd name="T12" fmla="*/ 187 w 712"/>
              <a:gd name="T13" fmla="*/ 475 h 596"/>
              <a:gd name="T14" fmla="*/ 241 w 712"/>
              <a:gd name="T15" fmla="*/ 556 h 596"/>
              <a:gd name="T16" fmla="*/ 321 w 712"/>
              <a:gd name="T17" fmla="*/ 582 h 596"/>
              <a:gd name="T18" fmla="*/ 361 w 712"/>
              <a:gd name="T19" fmla="*/ 596 h 596"/>
              <a:gd name="T20" fmla="*/ 482 w 712"/>
              <a:gd name="T21" fmla="*/ 582 h 596"/>
              <a:gd name="T22" fmla="*/ 549 w 712"/>
              <a:gd name="T23" fmla="*/ 448 h 596"/>
              <a:gd name="T24" fmla="*/ 643 w 712"/>
              <a:gd name="T25" fmla="*/ 368 h 596"/>
              <a:gd name="T26" fmla="*/ 629 w 712"/>
              <a:gd name="T27" fmla="*/ 73 h 596"/>
              <a:gd name="T28" fmla="*/ 549 w 712"/>
              <a:gd name="T29" fmla="*/ 20 h 596"/>
              <a:gd name="T30" fmla="*/ 442 w 712"/>
              <a:gd name="T31" fmla="*/ 6 h 596"/>
              <a:gd name="T32" fmla="*/ 281 w 712"/>
              <a:gd name="T33" fmla="*/ 20 h 596"/>
              <a:gd name="T34" fmla="*/ 254 w 712"/>
              <a:gd name="T35" fmla="*/ 60 h 596"/>
              <a:gd name="T36" fmla="*/ 241 w 712"/>
              <a:gd name="T37" fmla="*/ 20 h 596"/>
              <a:gd name="T38" fmla="*/ 174 w 712"/>
              <a:gd name="T39" fmla="*/ 73 h 596"/>
              <a:gd name="T40" fmla="*/ 187 w 712"/>
              <a:gd name="T41" fmla="*/ 47 h 5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12"/>
              <a:gd name="T64" fmla="*/ 0 h 596"/>
              <a:gd name="T65" fmla="*/ 712 w 712"/>
              <a:gd name="T66" fmla="*/ 596 h 5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12" h="596">
                <a:moveTo>
                  <a:pt x="187" y="47"/>
                </a:moveTo>
                <a:cubicBezTo>
                  <a:pt x="168" y="181"/>
                  <a:pt x="182" y="105"/>
                  <a:pt x="147" y="247"/>
                </a:cubicBezTo>
                <a:cubicBezTo>
                  <a:pt x="144" y="259"/>
                  <a:pt x="130" y="326"/>
                  <a:pt x="120" y="341"/>
                </a:cubicBezTo>
                <a:cubicBezTo>
                  <a:pt x="90" y="385"/>
                  <a:pt x="42" y="394"/>
                  <a:pt x="0" y="422"/>
                </a:cubicBezTo>
                <a:cubicBezTo>
                  <a:pt x="13" y="426"/>
                  <a:pt x="26" y="432"/>
                  <a:pt x="40" y="435"/>
                </a:cubicBezTo>
                <a:cubicBezTo>
                  <a:pt x="62" y="440"/>
                  <a:pt x="85" y="442"/>
                  <a:pt x="107" y="448"/>
                </a:cubicBezTo>
                <a:cubicBezTo>
                  <a:pt x="134" y="455"/>
                  <a:pt x="187" y="475"/>
                  <a:pt x="187" y="475"/>
                </a:cubicBezTo>
                <a:cubicBezTo>
                  <a:pt x="205" y="502"/>
                  <a:pt x="223" y="529"/>
                  <a:pt x="241" y="556"/>
                </a:cubicBezTo>
                <a:cubicBezTo>
                  <a:pt x="257" y="579"/>
                  <a:pt x="294" y="573"/>
                  <a:pt x="321" y="582"/>
                </a:cubicBezTo>
                <a:cubicBezTo>
                  <a:pt x="334" y="586"/>
                  <a:pt x="361" y="596"/>
                  <a:pt x="361" y="596"/>
                </a:cubicBezTo>
                <a:cubicBezTo>
                  <a:pt x="401" y="591"/>
                  <a:pt x="444" y="596"/>
                  <a:pt x="482" y="582"/>
                </a:cubicBezTo>
                <a:cubicBezTo>
                  <a:pt x="500" y="575"/>
                  <a:pt x="533" y="472"/>
                  <a:pt x="549" y="448"/>
                </a:cubicBezTo>
                <a:cubicBezTo>
                  <a:pt x="569" y="388"/>
                  <a:pt x="585" y="387"/>
                  <a:pt x="643" y="368"/>
                </a:cubicBezTo>
                <a:cubicBezTo>
                  <a:pt x="712" y="262"/>
                  <a:pt x="668" y="184"/>
                  <a:pt x="629" y="73"/>
                </a:cubicBezTo>
                <a:cubicBezTo>
                  <a:pt x="618" y="43"/>
                  <a:pt x="576" y="38"/>
                  <a:pt x="549" y="20"/>
                </a:cubicBezTo>
                <a:cubicBezTo>
                  <a:pt x="519" y="0"/>
                  <a:pt x="478" y="11"/>
                  <a:pt x="442" y="6"/>
                </a:cubicBezTo>
                <a:cubicBezTo>
                  <a:pt x="388" y="11"/>
                  <a:pt x="333" y="5"/>
                  <a:pt x="281" y="20"/>
                </a:cubicBezTo>
                <a:cubicBezTo>
                  <a:pt x="266" y="24"/>
                  <a:pt x="270" y="60"/>
                  <a:pt x="254" y="60"/>
                </a:cubicBezTo>
                <a:cubicBezTo>
                  <a:pt x="240" y="60"/>
                  <a:pt x="245" y="33"/>
                  <a:pt x="241" y="20"/>
                </a:cubicBezTo>
                <a:cubicBezTo>
                  <a:pt x="232" y="33"/>
                  <a:pt x="207" y="89"/>
                  <a:pt x="174" y="73"/>
                </a:cubicBezTo>
                <a:cubicBezTo>
                  <a:pt x="165" y="69"/>
                  <a:pt x="183" y="56"/>
                  <a:pt x="187" y="47"/>
                </a:cubicBezTo>
                <a:close/>
              </a:path>
            </a:pathLst>
          </a:custGeom>
          <a:solidFill>
            <a:srgbClr val="CC99FF"/>
          </a:solidFill>
          <a:ln w="9525">
            <a:solidFill>
              <a:schemeClr val="tx1"/>
            </a:solidFill>
            <a:miter lim="800000"/>
            <a:headEnd/>
            <a:tailEnd/>
          </a:ln>
        </p:spPr>
        <p:txBody>
          <a:bodyPr wrap="none"/>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endParaRPr lang="en-US" altLang="en-US"/>
          </a:p>
        </p:txBody>
      </p:sp>
      <p:sp>
        <p:nvSpPr>
          <p:cNvPr id="7173" name="Oval 6"/>
          <p:cNvSpPr>
            <a:spLocks noChangeArrowheads="1"/>
          </p:cNvSpPr>
          <p:nvPr/>
        </p:nvSpPr>
        <p:spPr bwMode="auto">
          <a:xfrm>
            <a:off x="1752600" y="2438400"/>
            <a:ext cx="76200" cy="76200"/>
          </a:xfrm>
          <a:prstGeom prst="ellipse">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endParaRPr lang="en-US" altLang="en-US"/>
          </a:p>
        </p:txBody>
      </p:sp>
      <p:sp>
        <p:nvSpPr>
          <p:cNvPr id="7174" name="Text Box 7"/>
          <p:cNvSpPr txBox="1">
            <a:spLocks noChangeArrowheads="1"/>
          </p:cNvSpPr>
          <p:nvPr/>
        </p:nvSpPr>
        <p:spPr bwMode="auto">
          <a:xfrm>
            <a:off x="1431925" y="2700338"/>
            <a:ext cx="858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altLang="en-US"/>
              <a:t>point</a:t>
            </a:r>
          </a:p>
        </p:txBody>
      </p:sp>
      <p:sp>
        <p:nvSpPr>
          <p:cNvPr id="7175" name="Text Box 8"/>
          <p:cNvSpPr txBox="1">
            <a:spLocks noChangeArrowheads="1"/>
          </p:cNvSpPr>
          <p:nvPr/>
        </p:nvSpPr>
        <p:spPr bwMode="auto">
          <a:xfrm>
            <a:off x="4022725" y="2852738"/>
            <a:ext cx="65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altLang="en-US"/>
              <a:t>line</a:t>
            </a:r>
          </a:p>
        </p:txBody>
      </p:sp>
      <p:sp>
        <p:nvSpPr>
          <p:cNvPr id="7176" name="Text Box 9"/>
          <p:cNvSpPr txBox="1">
            <a:spLocks noChangeArrowheads="1"/>
          </p:cNvSpPr>
          <p:nvPr/>
        </p:nvSpPr>
        <p:spPr bwMode="auto">
          <a:xfrm>
            <a:off x="7299325" y="2624138"/>
            <a:ext cx="1027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altLang="en-US"/>
              <a:t>region</a:t>
            </a:r>
          </a:p>
        </p:txBody>
      </p:sp>
      <p:cxnSp>
        <p:nvCxnSpPr>
          <p:cNvPr id="7177" name="AutoShape 11"/>
          <p:cNvCxnSpPr>
            <a:cxnSpLocks noChangeShapeType="1"/>
          </p:cNvCxnSpPr>
          <p:nvPr/>
        </p:nvCxnSpPr>
        <p:spPr bwMode="auto">
          <a:xfrm flipV="1">
            <a:off x="3124200" y="2133600"/>
            <a:ext cx="1447800" cy="838200"/>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8893544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ctr" eaLnBrk="1" hangingPunct="1"/>
            <a:r>
              <a:rPr lang="en-US" altLang="en-US" smtClean="0"/>
              <a:t>Spatial Relationships</a:t>
            </a:r>
          </a:p>
        </p:txBody>
      </p:sp>
      <p:sp>
        <p:nvSpPr>
          <p:cNvPr id="8195" name="Rectangle 3"/>
          <p:cNvSpPr>
            <a:spLocks noGrp="1" noChangeArrowheads="1"/>
          </p:cNvSpPr>
          <p:nvPr>
            <p:ph type="body" idx="1"/>
          </p:nvPr>
        </p:nvSpPr>
        <p:spPr/>
        <p:txBody>
          <a:bodyPr/>
          <a:lstStyle/>
          <a:p>
            <a:pPr eaLnBrk="1" hangingPunct="1">
              <a:lnSpc>
                <a:spcPct val="90000"/>
              </a:lnSpc>
            </a:pPr>
            <a:r>
              <a:rPr lang="en-US" altLang="en-US" smtClean="0"/>
              <a:t>Topological relationships:</a:t>
            </a:r>
          </a:p>
          <a:p>
            <a:pPr lvl="1" eaLnBrk="1" hangingPunct="1">
              <a:lnSpc>
                <a:spcPct val="90000"/>
              </a:lnSpc>
            </a:pPr>
            <a:r>
              <a:rPr lang="en-US" altLang="en-US" smtClean="0"/>
              <a:t>adjacent, inside, disjoint, etc</a:t>
            </a:r>
          </a:p>
          <a:p>
            <a:pPr eaLnBrk="1" hangingPunct="1">
              <a:lnSpc>
                <a:spcPct val="90000"/>
              </a:lnSpc>
            </a:pPr>
            <a:r>
              <a:rPr lang="en-US" altLang="en-US" smtClean="0"/>
              <a:t>Direction relationships:</a:t>
            </a:r>
          </a:p>
          <a:p>
            <a:pPr lvl="1" eaLnBrk="1" hangingPunct="1">
              <a:lnSpc>
                <a:spcPct val="90000"/>
              </a:lnSpc>
            </a:pPr>
            <a:r>
              <a:rPr lang="en-US" altLang="en-US" smtClean="0"/>
              <a:t>Above, below, north_of, etc</a:t>
            </a:r>
          </a:p>
          <a:p>
            <a:pPr eaLnBrk="1" hangingPunct="1">
              <a:lnSpc>
                <a:spcPct val="90000"/>
              </a:lnSpc>
            </a:pPr>
            <a:r>
              <a:rPr lang="en-US" altLang="en-US" smtClean="0"/>
              <a:t>Metric relationships:</a:t>
            </a:r>
          </a:p>
          <a:p>
            <a:pPr lvl="1" eaLnBrk="1" hangingPunct="1">
              <a:lnSpc>
                <a:spcPct val="90000"/>
              </a:lnSpc>
            </a:pPr>
            <a:r>
              <a:rPr lang="en-US" altLang="en-US" smtClean="0"/>
              <a:t>“distance &lt; 100”</a:t>
            </a:r>
          </a:p>
          <a:p>
            <a:pPr eaLnBrk="1" hangingPunct="1">
              <a:lnSpc>
                <a:spcPct val="90000"/>
              </a:lnSpc>
            </a:pPr>
            <a:r>
              <a:rPr lang="en-US" altLang="en-US" smtClean="0"/>
              <a:t>And operations to express the relationships</a:t>
            </a:r>
          </a:p>
        </p:txBody>
      </p:sp>
    </p:spTree>
    <p:extLst>
      <p:ext uri="{BB962C8B-B14F-4D97-AF65-F5344CB8AC3E}">
        <p14:creationId xmlns:p14="http://schemas.microsoft.com/office/powerpoint/2010/main" val="38347238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lnSpc>
                <a:spcPct val="90000"/>
              </a:lnSpc>
              <a:buFont typeface="Wingdings" pitchFamily="2" charset="2"/>
              <a:buNone/>
            </a:pPr>
            <a:r>
              <a:rPr lang="en-US" sz="2200" dirty="0">
                <a:cs typeface="Times New Roman" charset="0"/>
              </a:rPr>
              <a:t>	</a:t>
            </a:r>
            <a:r>
              <a:rPr lang="en-US" sz="2200" u="sng" dirty="0">
                <a:cs typeface="Times New Roman" charset="0"/>
              </a:rPr>
              <a:t>The contents of a spatial data base include: </a:t>
            </a:r>
            <a:endParaRPr lang="en-US" sz="2200" dirty="0">
              <a:cs typeface="Times New Roman" charset="0"/>
            </a:endParaRPr>
          </a:p>
          <a:p>
            <a:pPr lvl="1" algn="just">
              <a:lnSpc>
                <a:spcPct val="90000"/>
              </a:lnSpc>
              <a:buClr>
                <a:schemeClr val="folHlink"/>
              </a:buClr>
              <a:buFont typeface="Wingdings" pitchFamily="2" charset="2"/>
              <a:buChar char="§"/>
            </a:pPr>
            <a:r>
              <a:rPr lang="en-US" sz="2200" dirty="0">
                <a:cs typeface="Times New Roman" charset="0"/>
              </a:rPr>
              <a:t>	</a:t>
            </a:r>
            <a:r>
              <a:rPr lang="en-US" sz="2200" dirty="0" smtClean="0">
                <a:cs typeface="Times New Roman" charset="0"/>
              </a:rPr>
              <a:t>Digital </a:t>
            </a:r>
            <a:r>
              <a:rPr lang="en-US" sz="2200" dirty="0">
                <a:cs typeface="Times New Roman" charset="0"/>
              </a:rPr>
              <a:t>versions of real objects 					(e.g. lakes),  </a:t>
            </a:r>
          </a:p>
          <a:p>
            <a:pPr lvl="1" algn="just">
              <a:lnSpc>
                <a:spcPct val="90000"/>
              </a:lnSpc>
              <a:buClr>
                <a:schemeClr val="folHlink"/>
              </a:buClr>
              <a:buFont typeface="Wingdings" pitchFamily="2" charset="2"/>
              <a:buChar char="§"/>
            </a:pPr>
            <a:r>
              <a:rPr lang="en-US" sz="2200" dirty="0">
                <a:cs typeface="Times New Roman" charset="0"/>
              </a:rPr>
              <a:t>	</a:t>
            </a:r>
            <a:r>
              <a:rPr lang="en-US" sz="2200" dirty="0" smtClean="0">
                <a:cs typeface="Times New Roman" charset="0"/>
              </a:rPr>
              <a:t>Digital </a:t>
            </a:r>
            <a:r>
              <a:rPr lang="en-US" sz="2200" dirty="0">
                <a:cs typeface="Times New Roman" charset="0"/>
              </a:rPr>
              <a:t>versions of artificial map features 				(e.g. contours), </a:t>
            </a:r>
          </a:p>
          <a:p>
            <a:pPr lvl="1">
              <a:lnSpc>
                <a:spcPct val="90000"/>
              </a:lnSpc>
              <a:buClr>
                <a:schemeClr val="folHlink"/>
              </a:buClr>
              <a:buFont typeface="Wingdings" pitchFamily="2" charset="2"/>
              <a:buChar char="§"/>
            </a:pPr>
            <a:r>
              <a:rPr lang="en-US" sz="2200" dirty="0">
                <a:cs typeface="Times New Roman" charset="0"/>
              </a:rPr>
              <a:t>	</a:t>
            </a:r>
            <a:r>
              <a:rPr lang="en-US" sz="2200" dirty="0" smtClean="0">
                <a:cs typeface="Times New Roman" charset="0"/>
              </a:rPr>
              <a:t>Artificial </a:t>
            </a:r>
            <a:r>
              <a:rPr lang="en-US" sz="2200" dirty="0">
                <a:cs typeface="Times New Roman" charset="0"/>
              </a:rPr>
              <a:t>objects created for the purposes of the data </a:t>
            </a:r>
            <a:r>
              <a:rPr lang="en-US" sz="2200" dirty="0" smtClean="0">
                <a:cs typeface="Times New Roman" charset="0"/>
              </a:rPr>
              <a:t>base (e.g</a:t>
            </a:r>
            <a:r>
              <a:rPr lang="en-US" sz="2200" dirty="0">
                <a:cs typeface="Times New Roman" charset="0"/>
              </a:rPr>
              <a:t>. pixels).  </a:t>
            </a:r>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36419723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685800" y="457200"/>
            <a:ext cx="7772400" cy="838200"/>
          </a:xfrm>
        </p:spPr>
        <p:txBody>
          <a:bodyPr/>
          <a:lstStyle/>
          <a:p>
            <a:r>
              <a:rPr lang="en-US">
                <a:cs typeface="Times New Roman" charset="0"/>
              </a:rPr>
              <a:t>Components of Spatial Data</a:t>
            </a:r>
            <a:r>
              <a:rPr lang="en-US"/>
              <a:t> </a:t>
            </a:r>
          </a:p>
        </p:txBody>
      </p:sp>
      <p:sp>
        <p:nvSpPr>
          <p:cNvPr id="48131" name="Rectangle 3"/>
          <p:cNvSpPr>
            <a:spLocks noGrp="1" noChangeArrowheads="1"/>
          </p:cNvSpPr>
          <p:nvPr>
            <p:ph type="body" idx="1"/>
          </p:nvPr>
        </p:nvSpPr>
        <p:spPr>
          <a:xfrm>
            <a:off x="228600" y="1295400"/>
            <a:ext cx="8610600" cy="5257800"/>
          </a:xfrm>
        </p:spPr>
        <p:txBody>
          <a:bodyPr>
            <a:normAutofit/>
          </a:bodyPr>
          <a:lstStyle/>
          <a:p>
            <a:pPr algn="just">
              <a:buFont typeface="Wingdings" pitchFamily="2" charset="2"/>
              <a:buNone/>
            </a:pPr>
            <a:r>
              <a:rPr lang="en-US" sz="2200" i="1" u="sng" dirty="0">
                <a:cs typeface="Times New Roman" charset="0"/>
              </a:rPr>
              <a:t>Time</a:t>
            </a:r>
            <a:r>
              <a:rPr lang="en-US" sz="2200" u="sng" dirty="0">
                <a:cs typeface="Times New Roman" charset="0"/>
              </a:rPr>
              <a:t>:</a:t>
            </a:r>
            <a:r>
              <a:rPr lang="en-US" sz="2200" dirty="0">
                <a:cs typeface="Times New Roman" charset="0"/>
              </a:rPr>
              <a:t> </a:t>
            </a:r>
          </a:p>
          <a:p>
            <a:pPr algn="just">
              <a:buFont typeface="Wingdings" pitchFamily="2" charset="2"/>
              <a:buNone/>
            </a:pPr>
            <a:r>
              <a:rPr lang="en-US" sz="2200" dirty="0">
                <a:cs typeface="Times New Roman" charset="0"/>
              </a:rPr>
              <a:t>	 The temporal mode can be captured in several ways:</a:t>
            </a:r>
            <a:br>
              <a:rPr lang="en-US" sz="2200" dirty="0">
                <a:cs typeface="Times New Roman" charset="0"/>
              </a:rPr>
            </a:br>
            <a:r>
              <a:rPr lang="en-US" sz="2200" dirty="0">
                <a:cs typeface="Times New Roman" charset="0"/>
              </a:rPr>
              <a:t>- by specifying the interval of time over which an object exists, </a:t>
            </a:r>
            <a:br>
              <a:rPr lang="en-US" sz="2200" dirty="0">
                <a:cs typeface="Times New Roman" charset="0"/>
              </a:rPr>
            </a:br>
            <a:r>
              <a:rPr lang="en-US" sz="2200" dirty="0">
                <a:cs typeface="Times New Roman" charset="0"/>
              </a:rPr>
              <a:t>- by capturing information at certain points in time, or</a:t>
            </a:r>
            <a:br>
              <a:rPr lang="en-US" sz="2200" dirty="0">
                <a:cs typeface="Times New Roman" charset="0"/>
              </a:rPr>
            </a:br>
            <a:r>
              <a:rPr lang="en-US" sz="2200" dirty="0">
                <a:cs typeface="Times New Roman" charset="0"/>
              </a:rPr>
              <a:t>-  by specifying the rates of movement of objects. </a:t>
            </a:r>
          </a:p>
          <a:p>
            <a:pPr algn="just"/>
            <a:endParaRPr lang="en-US" sz="2200" dirty="0">
              <a:cs typeface="Times New Roman" charset="0"/>
            </a:endParaRPr>
          </a:p>
          <a:p>
            <a:pPr algn="just">
              <a:buFont typeface="Wingdings" pitchFamily="2" charset="2"/>
              <a:buNone/>
            </a:pPr>
            <a:r>
              <a:rPr lang="en-US" sz="2200" dirty="0">
                <a:cs typeface="Times New Roman" charset="0"/>
              </a:rPr>
              <a:t>	Depending on how the temporal mode is captured, it may be included in a single attribute table, or be represented by series of attribute tables on the same objects through time. </a:t>
            </a:r>
            <a:endParaRPr lang="en-US" sz="2200" dirty="0" smtClean="0">
              <a:cs typeface="Times New Roman" charset="0"/>
            </a:endParaRPr>
          </a:p>
          <a:p>
            <a:pPr algn="just">
              <a:buFont typeface="Wingdings" pitchFamily="2" charset="2"/>
              <a:buNone/>
            </a:pPr>
            <a:r>
              <a:rPr lang="en-US" altLang="el-GR" sz="2200" dirty="0">
                <a:cs typeface="Times New Roman" charset="0"/>
              </a:rPr>
              <a:t>	</a:t>
            </a:r>
            <a:r>
              <a:rPr lang="en-US" altLang="el-GR" sz="2200" dirty="0" smtClean="0">
                <a:cs typeface="Times New Roman" charset="0"/>
              </a:rPr>
              <a:t>Spatial </a:t>
            </a:r>
            <a:r>
              <a:rPr lang="en-US" altLang="el-GR" sz="2200" dirty="0">
                <a:cs typeface="Times New Roman" charset="0"/>
              </a:rPr>
              <a:t>data model, query language, query processing, file organization and indices, query optimization, etc.</a:t>
            </a:r>
          </a:p>
          <a:p>
            <a:pPr algn="just">
              <a:buFont typeface="Wingdings" pitchFamily="2" charset="2"/>
              <a:buNone/>
            </a:pPr>
            <a:endParaRPr lang="en-US" sz="2200" dirty="0">
              <a:cs typeface="Times New Roman" charset="0"/>
            </a:endParaRPr>
          </a:p>
        </p:txBody>
      </p:sp>
    </p:spTree>
    <p:extLst>
      <p:ext uri="{BB962C8B-B14F-4D97-AF65-F5344CB8AC3E}">
        <p14:creationId xmlns:p14="http://schemas.microsoft.com/office/powerpoint/2010/main" val="32962976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85800" y="457200"/>
            <a:ext cx="7772400" cy="838200"/>
          </a:xfrm>
        </p:spPr>
        <p:txBody>
          <a:bodyPr/>
          <a:lstStyle/>
          <a:p>
            <a:r>
              <a:rPr lang="en-US" sz="3600" b="1">
                <a:cs typeface="Times New Roman" charset="0"/>
              </a:rPr>
              <a:t>Scales (Levels) of Measurement</a:t>
            </a:r>
            <a:r>
              <a:rPr lang="en-US" sz="3600"/>
              <a:t> </a:t>
            </a:r>
          </a:p>
        </p:txBody>
      </p:sp>
      <p:sp>
        <p:nvSpPr>
          <p:cNvPr id="49155" name="Rectangle 3"/>
          <p:cNvSpPr>
            <a:spLocks noGrp="1" noChangeArrowheads="1"/>
          </p:cNvSpPr>
          <p:nvPr>
            <p:ph type="body" idx="1"/>
          </p:nvPr>
        </p:nvSpPr>
        <p:spPr>
          <a:xfrm>
            <a:off x="228600" y="1295400"/>
            <a:ext cx="8610600" cy="5257800"/>
          </a:xfrm>
        </p:spPr>
        <p:txBody>
          <a:bodyPr>
            <a:normAutofit/>
          </a:bodyPr>
          <a:lstStyle/>
          <a:p>
            <a:pPr algn="just">
              <a:buClr>
                <a:schemeClr val="folHlink"/>
              </a:buClr>
            </a:pPr>
            <a:r>
              <a:rPr lang="en-US" sz="2200" dirty="0">
                <a:cs typeface="Times New Roman" charset="0"/>
              </a:rPr>
              <a:t>Numerical values may be defined with respect to nominal, ordinal, interval, or ratio scales of measurement (or levels of measurement). It is important to </a:t>
            </a:r>
            <a:r>
              <a:rPr lang="en-US" sz="2200" dirty="0" err="1">
                <a:cs typeface="Times New Roman" charset="0"/>
              </a:rPr>
              <a:t>recognise</a:t>
            </a:r>
            <a:r>
              <a:rPr lang="en-US" sz="2200" dirty="0">
                <a:cs typeface="Times New Roman" charset="0"/>
              </a:rPr>
              <a:t> the scales of measurement used in spatial data as this determines the kinds of mathematical operations that can be performed on the data. </a:t>
            </a:r>
          </a:p>
          <a:p>
            <a:pPr algn="just">
              <a:buFont typeface="Wingdings" pitchFamily="2" charset="2"/>
              <a:buNone/>
            </a:pPr>
            <a:endParaRPr lang="en-US" sz="2200" dirty="0">
              <a:cs typeface="Times New Roman" charset="0"/>
            </a:endParaRPr>
          </a:p>
          <a:p>
            <a:pPr algn="just">
              <a:buClr>
                <a:schemeClr val="folHlink"/>
              </a:buClr>
            </a:pPr>
            <a:r>
              <a:rPr lang="en-US" sz="2200" dirty="0">
                <a:cs typeface="Times New Roman" charset="0"/>
              </a:rPr>
              <a:t>The different scales can be demonstrated using an example of a marathon race. </a:t>
            </a:r>
          </a:p>
        </p:txBody>
      </p:sp>
    </p:spTree>
    <p:extLst>
      <p:ext uri="{BB962C8B-B14F-4D97-AF65-F5344CB8AC3E}">
        <p14:creationId xmlns:p14="http://schemas.microsoft.com/office/powerpoint/2010/main" val="3441206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85800" y="457200"/>
            <a:ext cx="7772400" cy="838200"/>
          </a:xfrm>
        </p:spPr>
        <p:txBody>
          <a:bodyPr/>
          <a:lstStyle/>
          <a:p>
            <a:r>
              <a:rPr lang="en-US" sz="3600" b="1">
                <a:cs typeface="Times New Roman" charset="0"/>
              </a:rPr>
              <a:t>SPATIAL RELATIONS </a:t>
            </a:r>
          </a:p>
        </p:txBody>
      </p:sp>
      <p:sp>
        <p:nvSpPr>
          <p:cNvPr id="63491" name="Rectangle 3"/>
          <p:cNvSpPr>
            <a:spLocks noGrp="1" noChangeArrowheads="1"/>
          </p:cNvSpPr>
          <p:nvPr>
            <p:ph type="body" idx="1"/>
          </p:nvPr>
        </p:nvSpPr>
        <p:spPr>
          <a:xfrm>
            <a:off x="0" y="1219200"/>
            <a:ext cx="9144000" cy="5410200"/>
          </a:xfrm>
        </p:spPr>
        <p:txBody>
          <a:bodyPr>
            <a:normAutofit/>
          </a:bodyPr>
          <a:lstStyle/>
          <a:p>
            <a:pPr algn="just">
              <a:buFont typeface="Wingdings" pitchFamily="2" charset="2"/>
              <a:buNone/>
            </a:pPr>
            <a:r>
              <a:rPr lang="en-US" sz="2200" dirty="0">
                <a:cs typeface="Times New Roman" charset="0"/>
              </a:rPr>
              <a:t>  </a:t>
            </a:r>
            <a:r>
              <a:rPr lang="en-US" sz="2200" dirty="0" smtClean="0">
                <a:cs typeface="Times New Roman" charset="0"/>
              </a:rPr>
              <a:t>Relations </a:t>
            </a:r>
            <a:r>
              <a:rPr lang="en-US" sz="2200" dirty="0">
                <a:cs typeface="Times New Roman" charset="0"/>
              </a:rPr>
              <a:t>exist between spatial objects like distance, proximity, nearness, contained in etc.</a:t>
            </a:r>
          </a:p>
        </p:txBody>
      </p:sp>
      <p:graphicFrame>
        <p:nvGraphicFramePr>
          <p:cNvPr id="63552" name="Group 64"/>
          <p:cNvGraphicFramePr>
            <a:graphicFrameLocks noGrp="1"/>
          </p:cNvGraphicFramePr>
          <p:nvPr>
            <p:extLst>
              <p:ext uri="{D42A27DB-BD31-4B8C-83A1-F6EECF244321}">
                <p14:modId xmlns:p14="http://schemas.microsoft.com/office/powerpoint/2010/main" val="963460200"/>
              </p:ext>
            </p:extLst>
          </p:nvPr>
        </p:nvGraphicFramePr>
        <p:xfrm>
          <a:off x="1115616" y="2204864"/>
          <a:ext cx="7077075" cy="2990977"/>
        </p:xfrm>
        <a:graphic>
          <a:graphicData uri="http://schemas.openxmlformats.org/drawingml/2006/table">
            <a:tbl>
              <a:tblPr/>
              <a:tblGrid>
                <a:gridCol w="1219200"/>
                <a:gridCol w="1981200"/>
                <a:gridCol w="1600200"/>
                <a:gridCol w="2276475"/>
              </a:tblGrid>
              <a:tr h="63182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en-US" sz="2800" b="0" i="0" u="none" strike="noStrike" cap="none" normalizeH="0" baseline="0" dirty="0" smtClean="0">
                        <a:ln>
                          <a:noFill/>
                        </a:ln>
                        <a:solidFill>
                          <a:schemeClr val="tx1"/>
                        </a:solidFill>
                        <a:effectLst/>
                        <a:latin typeface="Times New Roman"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800" b="1" i="0" u="none" strike="noStrike" cap="none" normalizeH="0" baseline="0" dirty="0" smtClean="0">
                          <a:ln>
                            <a:noFill/>
                          </a:ln>
                          <a:solidFill>
                            <a:schemeClr val="tx1"/>
                          </a:solidFill>
                          <a:effectLst/>
                          <a:latin typeface="Times New Roman" charset="0"/>
                          <a:cs typeface="Times New Roman" charset="0"/>
                        </a:rPr>
                        <a:t>Points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800" b="1" i="0" u="none" strike="noStrike" cap="none" normalizeH="0" baseline="0" smtClean="0">
                          <a:ln>
                            <a:noFill/>
                          </a:ln>
                          <a:solidFill>
                            <a:schemeClr val="tx1"/>
                          </a:solidFill>
                          <a:effectLst/>
                          <a:latin typeface="Times New Roman" charset="0"/>
                          <a:cs typeface="Times New Roman" charset="0"/>
                        </a:rPr>
                        <a:t>Lines </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800" b="1" i="0" u="none" strike="noStrike" cap="none" normalizeH="0" baseline="0" smtClean="0">
                          <a:ln>
                            <a:noFill/>
                          </a:ln>
                          <a:solidFill>
                            <a:schemeClr val="tx1"/>
                          </a:solidFill>
                          <a:effectLst/>
                          <a:latin typeface="Times New Roman" charset="0"/>
                          <a:cs typeface="Times New Roman" charset="0"/>
                        </a:rPr>
                        <a:t>Areas </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892175">
                <a:tc>
                  <a:txBody>
                    <a:bodyPr/>
                    <a:lstStyle/>
                    <a:p>
                      <a:pPr marL="0" marR="0" lvl="0" indent="0" algn="just"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800" b="1" i="0" u="none" strike="noStrike" cap="none" normalizeH="0" baseline="0" smtClean="0">
                          <a:ln>
                            <a:noFill/>
                          </a:ln>
                          <a:solidFill>
                            <a:schemeClr val="tx1"/>
                          </a:solidFill>
                          <a:effectLst/>
                          <a:latin typeface="Times New Roman" charset="0"/>
                          <a:cs typeface="Times New Roman" charset="0"/>
                        </a:rPr>
                        <a:t>Points</a:t>
                      </a:r>
                      <a:endParaRPr kumimoji="0" lang="en-US" sz="2800" b="0" i="0" u="none" strike="noStrike" cap="none" normalizeH="0" baseline="0" smtClean="0">
                        <a:ln>
                          <a:noFill/>
                        </a:ln>
                        <a:solidFill>
                          <a:schemeClr val="tx1"/>
                        </a:solidFill>
                        <a:effectLst/>
                        <a:latin typeface="Times New Roman"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smtClean="0">
                          <a:ln>
                            <a:noFill/>
                          </a:ln>
                          <a:solidFill>
                            <a:schemeClr val="tx1"/>
                          </a:solidFill>
                          <a:effectLst/>
                          <a:latin typeface="Times New Roman" charset="0"/>
                        </a:rPr>
                        <a:t>    </a:t>
                      </a:r>
                      <a:r>
                        <a:rPr kumimoji="0" lang="en-US" sz="1800" b="1" i="0" u="none" strike="noStrike" cap="none" normalizeH="0" baseline="0" smtClean="0">
                          <a:ln>
                            <a:noFill/>
                          </a:ln>
                          <a:solidFill>
                            <a:schemeClr val="tx1"/>
                          </a:solidFill>
                          <a:effectLst/>
                          <a:latin typeface="Times New Roman" charset="0"/>
                        </a:rPr>
                        <a:t>is a neighbour of</a:t>
                      </a:r>
                    </a:p>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1" i="0" u="none" strike="noStrike" cap="none" normalizeH="0" baseline="0" smtClean="0">
                          <a:ln>
                            <a:noFill/>
                          </a:ln>
                          <a:solidFill>
                            <a:schemeClr val="tx1"/>
                          </a:solidFill>
                          <a:effectLst/>
                          <a:latin typeface="Times New Roman" charset="0"/>
                        </a:rPr>
                        <a:t>    is allocated to</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0" i="0" u="none" strike="noStrike" cap="none" normalizeH="0" baseline="0" smtClean="0">
                          <a:ln>
                            <a:noFill/>
                          </a:ln>
                          <a:solidFill>
                            <a:schemeClr val="tx1"/>
                          </a:solidFill>
                          <a:effectLst/>
                          <a:latin typeface="Times New Roman" charset="0"/>
                        </a:rPr>
                        <a:t>     </a:t>
                      </a:r>
                      <a:r>
                        <a:rPr kumimoji="0" lang="en-US" sz="1800" b="1" i="0" u="none" strike="noStrike" cap="none" normalizeH="0" baseline="0" smtClean="0">
                          <a:ln>
                            <a:noFill/>
                          </a:ln>
                          <a:solidFill>
                            <a:schemeClr val="tx1"/>
                          </a:solidFill>
                          <a:effectLst/>
                          <a:latin typeface="Times New Roman" charset="0"/>
                        </a:rPr>
                        <a:t>is near to</a:t>
                      </a:r>
                    </a:p>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1" i="0" u="none" strike="noStrike" cap="none" normalizeH="0" baseline="0" smtClean="0">
                          <a:ln>
                            <a:noFill/>
                          </a:ln>
                          <a:solidFill>
                            <a:schemeClr val="tx1"/>
                          </a:solidFill>
                          <a:effectLst/>
                          <a:latin typeface="Times New Roman" charset="0"/>
                        </a:rPr>
                        <a:t>     lies on</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0" i="0" u="none" strike="noStrike" cap="none" normalizeH="0" baseline="0" smtClean="0">
                          <a:ln>
                            <a:noFill/>
                          </a:ln>
                          <a:solidFill>
                            <a:schemeClr val="tx1"/>
                          </a:solidFill>
                          <a:effectLst/>
                          <a:latin typeface="Times New Roman" charset="0"/>
                        </a:rPr>
                        <a:t> </a:t>
                      </a:r>
                      <a:r>
                        <a:rPr kumimoji="0" lang="en-US" sz="1800" b="1" i="0" u="none" strike="noStrike" cap="none" normalizeH="0" baseline="0" smtClean="0">
                          <a:ln>
                            <a:noFill/>
                          </a:ln>
                          <a:solidFill>
                            <a:schemeClr val="tx1"/>
                          </a:solidFill>
                          <a:effectLst/>
                          <a:latin typeface="Times New Roman" charset="0"/>
                        </a:rPr>
                        <a:t>is a centroid of </a:t>
                      </a:r>
                    </a:p>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1" i="0" u="none" strike="noStrike" cap="none" normalizeH="0" baseline="0" smtClean="0">
                          <a:ln>
                            <a:noFill/>
                          </a:ln>
                          <a:solidFill>
                            <a:schemeClr val="tx1"/>
                          </a:solidFill>
                          <a:effectLst/>
                          <a:latin typeface="Times New Roman" charset="0"/>
                        </a:rPr>
                        <a:t> is within</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858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800" b="1" i="0" u="none" strike="noStrike" cap="none" normalizeH="0" baseline="0" smtClean="0">
                          <a:ln>
                            <a:noFill/>
                          </a:ln>
                          <a:solidFill>
                            <a:schemeClr val="tx1"/>
                          </a:solidFill>
                          <a:effectLst/>
                          <a:latin typeface="Times New Roman" charset="0"/>
                          <a:cs typeface="Times New Roman" charset="0"/>
                        </a:rPr>
                        <a:t>Lines</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en-US" sz="2800" b="0" i="0" u="none" strike="noStrike" cap="none" normalizeH="0" baseline="0" smtClean="0">
                        <a:ln>
                          <a:noFill/>
                        </a:ln>
                        <a:solidFill>
                          <a:schemeClr val="tx1"/>
                        </a:solidFill>
                        <a:effectLst/>
                        <a:latin typeface="Times New Roman"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1" i="0" u="none" strike="noStrike" cap="none" normalizeH="0" baseline="0" smtClean="0">
                          <a:ln>
                            <a:noFill/>
                          </a:ln>
                          <a:solidFill>
                            <a:schemeClr val="tx1"/>
                          </a:solidFill>
                          <a:effectLst/>
                          <a:latin typeface="Times New Roman" charset="0"/>
                        </a:rPr>
                        <a:t>crosses</a:t>
                      </a:r>
                    </a:p>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1" i="0" u="none" strike="noStrike" cap="none" normalizeH="0" baseline="0" smtClean="0">
                          <a:ln>
                            <a:noFill/>
                          </a:ln>
                          <a:solidFill>
                            <a:schemeClr val="tx1"/>
                          </a:solidFill>
                          <a:effectLst/>
                          <a:latin typeface="Times New Roman" charset="0"/>
                        </a:rPr>
                        <a:t>joins </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1" i="0" u="none" strike="noStrike" cap="none" normalizeH="0" baseline="0" smtClean="0">
                          <a:ln>
                            <a:noFill/>
                          </a:ln>
                          <a:solidFill>
                            <a:schemeClr val="tx1"/>
                          </a:solidFill>
                          <a:effectLst/>
                          <a:latin typeface="Times New Roman" charset="0"/>
                        </a:rPr>
                        <a:t>intersects</a:t>
                      </a:r>
                    </a:p>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1" i="0" u="none" strike="noStrike" cap="none" normalizeH="0" baseline="0" smtClean="0">
                          <a:ln>
                            <a:noFill/>
                          </a:ln>
                          <a:solidFill>
                            <a:schemeClr val="tx1"/>
                          </a:solidFill>
                          <a:effectLst/>
                          <a:latin typeface="Times New Roman" charset="0"/>
                        </a:rPr>
                        <a:t>is a boundary of </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31825">
                <a:tc>
                  <a:txBody>
                    <a:bodyPr/>
                    <a:lstStyle/>
                    <a:p>
                      <a:pPr marL="0" marR="0" lvl="0" indent="0" algn="just"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2800" b="1" i="0" u="none" strike="noStrike" cap="none" normalizeH="0" baseline="0" smtClean="0">
                          <a:ln>
                            <a:noFill/>
                          </a:ln>
                          <a:solidFill>
                            <a:schemeClr val="tx1"/>
                          </a:solidFill>
                          <a:effectLst/>
                          <a:latin typeface="Times New Roman" charset="0"/>
                          <a:cs typeface="Times New Roman" charset="0"/>
                        </a:rPr>
                        <a:t>Areas</a:t>
                      </a:r>
                      <a:endParaRPr kumimoji="0" lang="en-US" sz="2800" b="0" i="0" u="none" strike="noStrike" cap="none" normalizeH="0" baseline="0" smtClean="0">
                        <a:ln>
                          <a:noFill/>
                        </a:ln>
                        <a:solidFill>
                          <a:schemeClr val="tx1"/>
                        </a:solidFill>
                        <a:effectLst/>
                        <a:latin typeface="Times New Roman"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en-US" sz="2800" b="0" i="0" u="none" strike="noStrike" cap="none" normalizeH="0" baseline="0" smtClean="0">
                        <a:ln>
                          <a:noFill/>
                        </a:ln>
                        <a:solidFill>
                          <a:schemeClr val="tx1"/>
                        </a:solidFill>
                        <a:effectLst/>
                        <a:latin typeface="Times New Roman"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en-US" sz="2800" b="0" i="0" u="none" strike="noStrike" cap="none" normalizeH="0" baseline="0" smtClean="0">
                        <a:ln>
                          <a:noFill/>
                        </a:ln>
                        <a:solidFill>
                          <a:schemeClr val="tx1"/>
                        </a:solidFill>
                        <a:effectLst/>
                        <a:latin typeface="Times New Roman"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charset="0"/>
                        </a:rPr>
                        <a:t>is overlaid by</a:t>
                      </a:r>
                    </a:p>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800" b="1" i="0" u="none" strike="noStrike" cap="none" normalizeH="0" baseline="0" dirty="0" smtClean="0">
                          <a:ln>
                            <a:noFill/>
                          </a:ln>
                          <a:solidFill>
                            <a:schemeClr val="tx1"/>
                          </a:solidFill>
                          <a:effectLst/>
                          <a:latin typeface="Times New Roman" charset="0"/>
                        </a:rPr>
                        <a:t>is adjacent to</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7128715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ctr" eaLnBrk="1" hangingPunct="1"/>
            <a:r>
              <a:rPr lang="en-US" altLang="en-US" smtClean="0"/>
              <a:t>Examples</a:t>
            </a:r>
          </a:p>
        </p:txBody>
      </p:sp>
      <p:sp>
        <p:nvSpPr>
          <p:cNvPr id="10243" name="Rectangle 3"/>
          <p:cNvSpPr>
            <a:spLocks noGrp="1" noChangeArrowheads="1"/>
          </p:cNvSpPr>
          <p:nvPr>
            <p:ph type="body" idx="1"/>
          </p:nvPr>
        </p:nvSpPr>
        <p:spPr/>
        <p:txBody>
          <a:bodyPr/>
          <a:lstStyle/>
          <a:p>
            <a:pPr eaLnBrk="1" hangingPunct="1"/>
            <a:r>
              <a:rPr lang="en-US" altLang="en-US" sz="2400" smtClean="0"/>
              <a:t>A database</a:t>
            </a:r>
            <a:r>
              <a:rPr lang="en-US" altLang="en-US" sz="2000" smtClean="0"/>
              <a:t>:</a:t>
            </a:r>
          </a:p>
          <a:p>
            <a:pPr lvl="1" eaLnBrk="1" hangingPunct="1"/>
            <a:r>
              <a:rPr lang="en-US" altLang="en-US" sz="2000" smtClean="0"/>
              <a:t>Relation states(sname: string, area: region, spop: int)</a:t>
            </a:r>
          </a:p>
          <a:p>
            <a:pPr lvl="1" eaLnBrk="1" hangingPunct="1"/>
            <a:r>
              <a:rPr lang="en-US" altLang="en-US" sz="2000" smtClean="0"/>
              <a:t>Relation cities(cname: string, center: point; ext: region)</a:t>
            </a:r>
          </a:p>
          <a:p>
            <a:pPr lvl="1" eaLnBrk="1" hangingPunct="1"/>
            <a:r>
              <a:rPr lang="en-US" altLang="en-US" sz="2000" smtClean="0"/>
              <a:t>Relation rivers(rname: string, route:line)</a:t>
            </a:r>
          </a:p>
          <a:p>
            <a:pPr eaLnBrk="1" hangingPunct="1"/>
            <a:r>
              <a:rPr lang="en-US" altLang="en-US" sz="2400" smtClean="0"/>
              <a:t>SELECT * FROM rivers WHERE route intersects R</a:t>
            </a:r>
          </a:p>
          <a:p>
            <a:pPr eaLnBrk="1" hangingPunct="1"/>
            <a:r>
              <a:rPr lang="en-US" altLang="en-US" sz="2400" smtClean="0"/>
              <a:t>SELECT cname, sname FROM cities, states WHERE center inside area</a:t>
            </a:r>
          </a:p>
          <a:p>
            <a:pPr eaLnBrk="1" hangingPunct="1"/>
            <a:r>
              <a:rPr lang="en-US" altLang="en-US" sz="2400" smtClean="0"/>
              <a:t>SELECT rname, length(intersection(route, California)) FROM rivers WHERE route intersects California</a:t>
            </a:r>
          </a:p>
        </p:txBody>
      </p:sp>
    </p:spTree>
    <p:extLst>
      <p:ext uri="{BB962C8B-B14F-4D97-AF65-F5344CB8AC3E}">
        <p14:creationId xmlns:p14="http://schemas.microsoft.com/office/powerpoint/2010/main" val="23672621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lgn="ctr" eaLnBrk="1" hangingPunct="1"/>
            <a:r>
              <a:rPr lang="en-US" altLang="en-US" smtClean="0"/>
              <a:t>Spatial Queries</a:t>
            </a:r>
          </a:p>
        </p:txBody>
      </p:sp>
      <p:sp>
        <p:nvSpPr>
          <p:cNvPr id="11267" name="Rectangle 3"/>
          <p:cNvSpPr>
            <a:spLocks noGrp="1" noChangeArrowheads="1"/>
          </p:cNvSpPr>
          <p:nvPr>
            <p:ph type="body" idx="1"/>
          </p:nvPr>
        </p:nvSpPr>
        <p:spPr>
          <a:xfrm>
            <a:off x="474663" y="1981200"/>
            <a:ext cx="8193087" cy="4343400"/>
          </a:xfrm>
        </p:spPr>
        <p:txBody>
          <a:bodyPr/>
          <a:lstStyle/>
          <a:p>
            <a:pPr eaLnBrk="1" hangingPunct="1"/>
            <a:r>
              <a:rPr lang="en-US" altLang="en-US" smtClean="0"/>
              <a:t>Selection queries: “Find all objects inside query q”, inside-&gt; intersects, north</a:t>
            </a:r>
          </a:p>
          <a:p>
            <a:pPr eaLnBrk="1" hangingPunct="1"/>
            <a:r>
              <a:rPr lang="en-US" altLang="en-US" smtClean="0"/>
              <a:t>Nearest Neighbor-queries: “Find the closets object to a query point q”, k-closest objects</a:t>
            </a:r>
          </a:p>
          <a:p>
            <a:pPr eaLnBrk="1" hangingPunct="1"/>
            <a:r>
              <a:rPr lang="en-US" altLang="en-US" smtClean="0"/>
              <a:t>Spatial join queries: </a:t>
            </a:r>
            <a:r>
              <a:rPr lang="en-US" altLang="en-US" sz="2400" smtClean="0"/>
              <a:t>Two spatial relations S1 and S2, find all pairs: {x in S1, y in S2, and x rel y= true},</a:t>
            </a:r>
            <a:r>
              <a:rPr lang="en-US" altLang="en-US" smtClean="0"/>
              <a:t> rel= intersect, inside, etc</a:t>
            </a:r>
          </a:p>
        </p:txBody>
      </p:sp>
    </p:spTree>
    <p:extLst>
      <p:ext uri="{BB962C8B-B14F-4D97-AF65-F5344CB8AC3E}">
        <p14:creationId xmlns:p14="http://schemas.microsoft.com/office/powerpoint/2010/main" val="2348651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lgn="ctr" eaLnBrk="1" hangingPunct="1"/>
            <a:r>
              <a:rPr lang="en-US" altLang="en-US" smtClean="0"/>
              <a:t>Indexing using SAMs</a:t>
            </a:r>
          </a:p>
        </p:txBody>
      </p:sp>
      <p:sp>
        <p:nvSpPr>
          <p:cNvPr id="13315" name="Rectangle 3"/>
          <p:cNvSpPr>
            <a:spLocks noGrp="1" noChangeArrowheads="1"/>
          </p:cNvSpPr>
          <p:nvPr>
            <p:ph type="body" idx="1"/>
          </p:nvPr>
        </p:nvSpPr>
        <p:spPr/>
        <p:txBody>
          <a:bodyPr/>
          <a:lstStyle/>
          <a:p>
            <a:pPr eaLnBrk="1" hangingPunct="1"/>
            <a:r>
              <a:rPr lang="en-US" altLang="en-US" dirty="0" smtClean="0"/>
              <a:t>Approximate each region with a simple shape: usually Minimum Bounding Rectangle (MBR) = </a:t>
            </a:r>
            <a:r>
              <a:rPr lang="en-US" altLang="en-US" sz="2000" dirty="0" smtClean="0"/>
              <a:t>[(x1, x2), (y1, y2)]</a:t>
            </a:r>
          </a:p>
          <a:p>
            <a:pPr eaLnBrk="1" hangingPunct="1"/>
            <a:endParaRPr lang="en-US" altLang="en-US" sz="2000" dirty="0"/>
          </a:p>
          <a:p>
            <a:pPr eaLnBrk="1" hangingPunct="1"/>
            <a:r>
              <a:rPr lang="en-US" altLang="en-US" sz="2000" dirty="0" smtClean="0"/>
              <a:t>G-tree indexing </a:t>
            </a:r>
          </a:p>
          <a:p>
            <a:pPr eaLnBrk="1" hangingPunct="1"/>
            <a:r>
              <a:rPr lang="en-US" altLang="en-US" sz="2000" dirty="0" smtClean="0"/>
              <a:t>B-Tree indexing</a:t>
            </a:r>
          </a:p>
          <a:p>
            <a:pPr eaLnBrk="1" hangingPunct="1">
              <a:buFont typeface="Wingdings" pitchFamily="2" charset="2"/>
              <a:buNone/>
            </a:pPr>
            <a:endParaRPr lang="en-US" altLang="en-US" dirty="0" smtClean="0"/>
          </a:p>
        </p:txBody>
      </p:sp>
      <p:sp>
        <p:nvSpPr>
          <p:cNvPr id="13316" name="Freeform 4"/>
          <p:cNvSpPr>
            <a:spLocks/>
          </p:cNvSpPr>
          <p:nvPr/>
        </p:nvSpPr>
        <p:spPr bwMode="auto">
          <a:xfrm>
            <a:off x="3540125" y="4222750"/>
            <a:ext cx="2187575" cy="1235075"/>
          </a:xfrm>
          <a:custGeom>
            <a:avLst/>
            <a:gdLst>
              <a:gd name="T0" fmla="*/ 476 w 1378"/>
              <a:gd name="T1" fmla="*/ 86 h 778"/>
              <a:gd name="T2" fmla="*/ 422 w 1378"/>
              <a:gd name="T3" fmla="*/ 180 h 778"/>
              <a:gd name="T4" fmla="*/ 195 w 1378"/>
              <a:gd name="T5" fmla="*/ 394 h 778"/>
              <a:gd name="T6" fmla="*/ 141 w 1378"/>
              <a:gd name="T7" fmla="*/ 475 h 778"/>
              <a:gd name="T8" fmla="*/ 61 w 1378"/>
              <a:gd name="T9" fmla="*/ 528 h 778"/>
              <a:gd name="T10" fmla="*/ 7 w 1378"/>
              <a:gd name="T11" fmla="*/ 515 h 778"/>
              <a:gd name="T12" fmla="*/ 47 w 1378"/>
              <a:gd name="T13" fmla="*/ 501 h 778"/>
              <a:gd name="T14" fmla="*/ 101 w 1378"/>
              <a:gd name="T15" fmla="*/ 528 h 778"/>
              <a:gd name="T16" fmla="*/ 409 w 1378"/>
              <a:gd name="T17" fmla="*/ 582 h 778"/>
              <a:gd name="T18" fmla="*/ 583 w 1378"/>
              <a:gd name="T19" fmla="*/ 635 h 778"/>
              <a:gd name="T20" fmla="*/ 784 w 1378"/>
              <a:gd name="T21" fmla="*/ 716 h 778"/>
              <a:gd name="T22" fmla="*/ 931 w 1378"/>
              <a:gd name="T23" fmla="*/ 769 h 778"/>
              <a:gd name="T24" fmla="*/ 1052 w 1378"/>
              <a:gd name="T25" fmla="*/ 756 h 778"/>
              <a:gd name="T26" fmla="*/ 1079 w 1378"/>
              <a:gd name="T27" fmla="*/ 675 h 778"/>
              <a:gd name="T28" fmla="*/ 1333 w 1378"/>
              <a:gd name="T29" fmla="*/ 381 h 778"/>
              <a:gd name="T30" fmla="*/ 1347 w 1378"/>
              <a:gd name="T31" fmla="*/ 341 h 778"/>
              <a:gd name="T32" fmla="*/ 1373 w 1378"/>
              <a:gd name="T33" fmla="*/ 260 h 778"/>
              <a:gd name="T34" fmla="*/ 1159 w 1378"/>
              <a:gd name="T35" fmla="*/ 193 h 778"/>
              <a:gd name="T36" fmla="*/ 1079 w 1378"/>
              <a:gd name="T37" fmla="*/ 153 h 778"/>
              <a:gd name="T38" fmla="*/ 730 w 1378"/>
              <a:gd name="T39" fmla="*/ 86 h 778"/>
              <a:gd name="T40" fmla="*/ 596 w 1378"/>
              <a:gd name="T41" fmla="*/ 19 h 778"/>
              <a:gd name="T42" fmla="*/ 436 w 1378"/>
              <a:gd name="T43" fmla="*/ 32 h 778"/>
              <a:gd name="T44" fmla="*/ 476 w 1378"/>
              <a:gd name="T45" fmla="*/ 86 h 7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78"/>
              <a:gd name="T70" fmla="*/ 0 h 778"/>
              <a:gd name="T71" fmla="*/ 1378 w 1378"/>
              <a:gd name="T72" fmla="*/ 778 h 7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78" h="778">
                <a:moveTo>
                  <a:pt x="476" y="86"/>
                </a:moveTo>
                <a:cubicBezTo>
                  <a:pt x="458" y="117"/>
                  <a:pt x="444" y="151"/>
                  <a:pt x="422" y="180"/>
                </a:cubicBezTo>
                <a:cubicBezTo>
                  <a:pt x="359" y="263"/>
                  <a:pt x="262" y="314"/>
                  <a:pt x="195" y="394"/>
                </a:cubicBezTo>
                <a:cubicBezTo>
                  <a:pt x="174" y="419"/>
                  <a:pt x="168" y="457"/>
                  <a:pt x="141" y="475"/>
                </a:cubicBezTo>
                <a:cubicBezTo>
                  <a:pt x="114" y="493"/>
                  <a:pt x="61" y="528"/>
                  <a:pt x="61" y="528"/>
                </a:cubicBezTo>
                <a:cubicBezTo>
                  <a:pt x="43" y="524"/>
                  <a:pt x="16" y="531"/>
                  <a:pt x="7" y="515"/>
                </a:cubicBezTo>
                <a:cubicBezTo>
                  <a:pt x="0" y="502"/>
                  <a:pt x="33" y="499"/>
                  <a:pt x="47" y="501"/>
                </a:cubicBezTo>
                <a:cubicBezTo>
                  <a:pt x="67" y="504"/>
                  <a:pt x="82" y="522"/>
                  <a:pt x="101" y="528"/>
                </a:cubicBezTo>
                <a:cubicBezTo>
                  <a:pt x="249" y="574"/>
                  <a:pt x="261" y="568"/>
                  <a:pt x="409" y="582"/>
                </a:cubicBezTo>
                <a:cubicBezTo>
                  <a:pt x="469" y="597"/>
                  <a:pt x="523" y="621"/>
                  <a:pt x="583" y="635"/>
                </a:cubicBezTo>
                <a:cubicBezTo>
                  <a:pt x="651" y="681"/>
                  <a:pt x="701" y="695"/>
                  <a:pt x="784" y="716"/>
                </a:cubicBezTo>
                <a:cubicBezTo>
                  <a:pt x="832" y="728"/>
                  <a:pt x="879" y="756"/>
                  <a:pt x="931" y="769"/>
                </a:cubicBezTo>
                <a:cubicBezTo>
                  <a:pt x="971" y="765"/>
                  <a:pt x="1018" y="778"/>
                  <a:pt x="1052" y="756"/>
                </a:cubicBezTo>
                <a:cubicBezTo>
                  <a:pt x="1076" y="741"/>
                  <a:pt x="1059" y="695"/>
                  <a:pt x="1079" y="675"/>
                </a:cubicBezTo>
                <a:cubicBezTo>
                  <a:pt x="1170" y="584"/>
                  <a:pt x="1225" y="454"/>
                  <a:pt x="1333" y="381"/>
                </a:cubicBezTo>
                <a:cubicBezTo>
                  <a:pt x="1338" y="368"/>
                  <a:pt x="1343" y="354"/>
                  <a:pt x="1347" y="341"/>
                </a:cubicBezTo>
                <a:cubicBezTo>
                  <a:pt x="1356" y="314"/>
                  <a:pt x="1373" y="260"/>
                  <a:pt x="1373" y="260"/>
                </a:cubicBezTo>
                <a:cubicBezTo>
                  <a:pt x="1316" y="143"/>
                  <a:pt x="1378" y="232"/>
                  <a:pt x="1159" y="193"/>
                </a:cubicBezTo>
                <a:cubicBezTo>
                  <a:pt x="1130" y="188"/>
                  <a:pt x="1108" y="160"/>
                  <a:pt x="1079" y="153"/>
                </a:cubicBezTo>
                <a:cubicBezTo>
                  <a:pt x="967" y="126"/>
                  <a:pt x="845" y="108"/>
                  <a:pt x="730" y="86"/>
                </a:cubicBezTo>
                <a:cubicBezTo>
                  <a:pt x="707" y="15"/>
                  <a:pt x="670" y="31"/>
                  <a:pt x="596" y="19"/>
                </a:cubicBezTo>
                <a:cubicBezTo>
                  <a:pt x="539" y="0"/>
                  <a:pt x="492" y="14"/>
                  <a:pt x="436" y="32"/>
                </a:cubicBezTo>
                <a:cubicBezTo>
                  <a:pt x="451" y="95"/>
                  <a:pt x="430" y="86"/>
                  <a:pt x="476" y="86"/>
                </a:cubicBezTo>
                <a:close/>
              </a:path>
            </a:pathLst>
          </a:custGeom>
          <a:solidFill>
            <a:schemeClr val="accent1"/>
          </a:solidFill>
          <a:ln w="9525">
            <a:solidFill>
              <a:schemeClr val="tx1"/>
            </a:solidFill>
            <a:miter lim="800000"/>
            <a:headEnd/>
            <a:tailEnd/>
          </a:ln>
        </p:spPr>
        <p:txBody>
          <a:bodyPr wrap="none"/>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endParaRPr lang="en-US" altLang="en-US"/>
          </a:p>
        </p:txBody>
      </p:sp>
      <p:sp>
        <p:nvSpPr>
          <p:cNvPr id="13317" name="Rectangle 5"/>
          <p:cNvSpPr>
            <a:spLocks noChangeArrowheads="1"/>
          </p:cNvSpPr>
          <p:nvPr/>
        </p:nvSpPr>
        <p:spPr bwMode="auto">
          <a:xfrm>
            <a:off x="3505200" y="4267200"/>
            <a:ext cx="2286000" cy="1219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endParaRPr lang="en-US" altLang="en-US"/>
          </a:p>
        </p:txBody>
      </p:sp>
      <p:sp>
        <p:nvSpPr>
          <p:cNvPr id="13318" name="Line 6"/>
          <p:cNvSpPr>
            <a:spLocks noChangeShapeType="1"/>
          </p:cNvSpPr>
          <p:nvPr/>
        </p:nvSpPr>
        <p:spPr bwMode="auto">
          <a:xfrm>
            <a:off x="1981200" y="3581400"/>
            <a:ext cx="0" cy="2819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13319" name="Line 7"/>
          <p:cNvSpPr>
            <a:spLocks noChangeShapeType="1"/>
          </p:cNvSpPr>
          <p:nvPr/>
        </p:nvSpPr>
        <p:spPr bwMode="auto">
          <a:xfrm>
            <a:off x="1524000" y="5791200"/>
            <a:ext cx="7086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13320" name="Line 8"/>
          <p:cNvSpPr>
            <a:spLocks noChangeShapeType="1"/>
          </p:cNvSpPr>
          <p:nvPr/>
        </p:nvSpPr>
        <p:spPr bwMode="auto">
          <a:xfrm>
            <a:off x="3505200" y="54864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13321" name="Line 9"/>
          <p:cNvSpPr>
            <a:spLocks noChangeShapeType="1"/>
          </p:cNvSpPr>
          <p:nvPr/>
        </p:nvSpPr>
        <p:spPr bwMode="auto">
          <a:xfrm>
            <a:off x="5791200" y="54864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13322" name="Text Box 10"/>
          <p:cNvSpPr txBox="1">
            <a:spLocks noChangeArrowheads="1"/>
          </p:cNvSpPr>
          <p:nvPr/>
        </p:nvSpPr>
        <p:spPr bwMode="auto">
          <a:xfrm>
            <a:off x="3413125" y="5900738"/>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altLang="en-US"/>
              <a:t>x1</a:t>
            </a:r>
          </a:p>
        </p:txBody>
      </p:sp>
      <p:sp>
        <p:nvSpPr>
          <p:cNvPr id="13323" name="Text Box 11"/>
          <p:cNvSpPr txBox="1">
            <a:spLocks noChangeArrowheads="1"/>
          </p:cNvSpPr>
          <p:nvPr/>
        </p:nvSpPr>
        <p:spPr bwMode="auto">
          <a:xfrm>
            <a:off x="5562600" y="586740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altLang="en-US"/>
              <a:t>x2</a:t>
            </a:r>
          </a:p>
        </p:txBody>
      </p:sp>
      <p:sp>
        <p:nvSpPr>
          <p:cNvPr id="13324" name="Line 12"/>
          <p:cNvSpPr>
            <a:spLocks noChangeShapeType="1"/>
          </p:cNvSpPr>
          <p:nvPr/>
        </p:nvSpPr>
        <p:spPr bwMode="auto">
          <a:xfrm flipH="1">
            <a:off x="1981200" y="5486400"/>
            <a:ext cx="1524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13325" name="Line 13"/>
          <p:cNvSpPr>
            <a:spLocks noChangeShapeType="1"/>
          </p:cNvSpPr>
          <p:nvPr/>
        </p:nvSpPr>
        <p:spPr bwMode="auto">
          <a:xfrm flipH="1">
            <a:off x="1981200" y="4267200"/>
            <a:ext cx="1524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13326" name="Text Box 14"/>
          <p:cNvSpPr txBox="1">
            <a:spLocks noChangeArrowheads="1"/>
          </p:cNvSpPr>
          <p:nvPr/>
        </p:nvSpPr>
        <p:spPr bwMode="auto">
          <a:xfrm>
            <a:off x="1295400" y="5181600"/>
            <a:ext cx="50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altLang="en-US"/>
              <a:t>y1</a:t>
            </a:r>
          </a:p>
        </p:txBody>
      </p:sp>
      <p:sp>
        <p:nvSpPr>
          <p:cNvPr id="13327" name="Text Box 15"/>
          <p:cNvSpPr txBox="1">
            <a:spLocks noChangeArrowheads="1"/>
          </p:cNvSpPr>
          <p:nvPr/>
        </p:nvSpPr>
        <p:spPr bwMode="auto">
          <a:xfrm>
            <a:off x="1371600" y="4114800"/>
            <a:ext cx="50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altLang="en-US"/>
              <a:t>y2</a:t>
            </a:r>
          </a:p>
        </p:txBody>
      </p:sp>
    </p:spTree>
    <p:extLst>
      <p:ext uri="{BB962C8B-B14F-4D97-AF65-F5344CB8AC3E}">
        <p14:creationId xmlns:p14="http://schemas.microsoft.com/office/powerpoint/2010/main" val="9613259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7664" y="188640"/>
            <a:ext cx="2872902" cy="369332"/>
          </a:xfrm>
          <a:prstGeom prst="rect">
            <a:avLst/>
          </a:prstGeom>
        </p:spPr>
        <p:txBody>
          <a:bodyPr wrap="none">
            <a:spAutoFit/>
          </a:bodyPr>
          <a:lstStyle/>
          <a:p>
            <a:r>
              <a:rPr lang="en-IN" b="1" u="sng" dirty="0"/>
              <a:t>Space-driven Structures</a:t>
            </a:r>
            <a:endParaRPr lang="en-IN" dirty="0"/>
          </a:p>
        </p:txBody>
      </p:sp>
      <p:sp>
        <p:nvSpPr>
          <p:cNvPr id="3" name="Rectangle 2"/>
          <p:cNvSpPr/>
          <p:nvPr/>
        </p:nvSpPr>
        <p:spPr>
          <a:xfrm>
            <a:off x="467544" y="764704"/>
            <a:ext cx="8676456" cy="1200329"/>
          </a:xfrm>
          <a:prstGeom prst="rect">
            <a:avLst/>
          </a:prstGeom>
        </p:spPr>
        <p:txBody>
          <a:bodyPr wrap="square">
            <a:spAutoFit/>
          </a:bodyPr>
          <a:lstStyle/>
          <a:p>
            <a:pPr fontAlgn="base"/>
            <a:r>
              <a:rPr lang="en-US" b="1" dirty="0"/>
              <a:t>Fixed grid index</a:t>
            </a:r>
            <a:endParaRPr lang="en-US" dirty="0"/>
          </a:p>
          <a:p>
            <a:pPr fontAlgn="base"/>
            <a:r>
              <a:rPr lang="en-US" dirty="0"/>
              <a:t>Fixed grid index is an </a:t>
            </a:r>
            <a:r>
              <a:rPr lang="en-US" i="1" dirty="0" err="1"/>
              <a:t>n</a:t>
            </a:r>
            <a:r>
              <a:rPr lang="en-US" dirty="0" err="1"/>
              <a:t>×</a:t>
            </a:r>
            <a:r>
              <a:rPr lang="en-US" i="1" dirty="0" err="1"/>
              <a:t>n</a:t>
            </a:r>
            <a:r>
              <a:rPr lang="en-US" dirty="0"/>
              <a:t> array of equal-size cells. Each one is associated with a list of spatial objects which intersect or overlap with the cell. Figure 3 depicts a fixed 4×4 gird indexing a collection of three spatial objects.</a:t>
            </a:r>
          </a:p>
        </p:txBody>
      </p:sp>
      <p:pic>
        <p:nvPicPr>
          <p:cNvPr id="2050" name="Picture 2" descr="https://gistbok.ucgis.org/sites/default/files/DM66-Fig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276873"/>
            <a:ext cx="5832648" cy="165618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gistbok.ucgis.org/sites/default/files/DM66-Fig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174" y="4221088"/>
            <a:ext cx="7056784" cy="2493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751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smtClean="0">
                <a:ln>
                  <a:noFill/>
                </a:ln>
                <a:solidFill>
                  <a:srgbClr val="6C6C6C"/>
                </a:solidFill>
                <a:effectLst/>
                <a:latin typeface="Raleway"/>
                <a:cs typeface="Arial" pitchFamily="34" charset="0"/>
              </a:rPr>
              <a:t>  </a:t>
            </a:r>
            <a:endParaRPr kumimoji="0" lang="en-US" sz="8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800" b="0" i="1" u="none" strike="noStrike" cap="none" normalizeH="0" baseline="0" smtClean="0">
                <a:ln>
                  <a:noFill/>
                </a:ln>
                <a:solidFill>
                  <a:srgbClr val="6C6C6C"/>
                </a:solidFill>
                <a:effectLst/>
                <a:latin typeface="Raleway"/>
                <a:cs typeface="Arial" pitchFamily="34" charset="0"/>
              </a:rPr>
              <a:t>Figure 5. Two common space filing curves: z-order (a) and Hilbert curve (b)</a:t>
            </a:r>
            <a:endParaRPr kumimoji="0" lang="en-US" sz="24400" b="0" i="0" u="none" strike="noStrike" cap="none" normalizeH="0" baseline="0" smtClean="0">
              <a:ln>
                <a:noFill/>
              </a:ln>
              <a:solidFill>
                <a:srgbClr val="6C6C6C"/>
              </a:solidFill>
              <a:effectLst/>
              <a:latin typeface="Raleway"/>
              <a:cs typeface="Arial" pitchFamily="34" charset="0"/>
            </a:endParaRPr>
          </a:p>
        </p:txBody>
      </p:sp>
      <p:pic>
        <p:nvPicPr>
          <p:cNvPr id="3074" name="Picture 2" descr="https://gistbok.ucgis.org/sites/default/files/DM66-Picture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71" y="4465"/>
            <a:ext cx="6772275" cy="38862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99592" y="4509120"/>
            <a:ext cx="7128791" cy="646331"/>
          </a:xfrm>
          <a:prstGeom prst="rect">
            <a:avLst/>
          </a:prstGeom>
        </p:spPr>
        <p:txBody>
          <a:bodyPr wrap="square">
            <a:spAutoFit/>
          </a:bodyPr>
          <a:lstStyle/>
          <a:p>
            <a:r>
              <a:rPr lang="en-US" i="1" dirty="0"/>
              <a:t>Figure 5. Two common space filing curves: z-order (a) and Hilbert curve (b)</a:t>
            </a:r>
            <a:endParaRPr lang="en-IN" dirty="0"/>
          </a:p>
        </p:txBody>
      </p:sp>
    </p:spTree>
    <p:extLst>
      <p:ext uri="{BB962C8B-B14F-4D97-AF65-F5344CB8AC3E}">
        <p14:creationId xmlns:p14="http://schemas.microsoft.com/office/powerpoint/2010/main" val="3983201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260648"/>
            <a:ext cx="1218603" cy="369332"/>
          </a:xfrm>
          <a:prstGeom prst="rect">
            <a:avLst/>
          </a:prstGeom>
        </p:spPr>
        <p:txBody>
          <a:bodyPr wrap="none">
            <a:spAutoFit/>
          </a:bodyPr>
          <a:lstStyle/>
          <a:p>
            <a:r>
              <a:rPr lang="en-IN" b="1" dirty="0" err="1"/>
              <a:t>Quadtree</a:t>
            </a:r>
            <a:endParaRPr lang="en-IN" dirty="0"/>
          </a:p>
        </p:txBody>
      </p:sp>
      <p:sp>
        <p:nvSpPr>
          <p:cNvPr id="3" name="Rectangle 1"/>
          <p:cNvSpPr>
            <a:spLocks noChangeArrowheads="1"/>
          </p:cNvSpPr>
          <p:nvPr/>
        </p:nvSpPr>
        <p:spPr bwMode="auto">
          <a:xfrm>
            <a:off x="611560" y="5674404"/>
            <a:ext cx="547791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smtClean="0">
                <a:ln>
                  <a:noFill/>
                </a:ln>
                <a:solidFill>
                  <a:srgbClr val="6C6C6C"/>
                </a:solidFill>
                <a:effectLst/>
                <a:latin typeface="Raleway"/>
                <a:cs typeface="Arial" pitchFamily="34" charset="0"/>
              </a:rPr>
              <a:t>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1" u="none" strike="noStrike" cap="none" normalizeH="0" baseline="0" dirty="0" smtClean="0">
                <a:ln>
                  <a:noFill/>
                </a:ln>
                <a:solidFill>
                  <a:srgbClr val="6C6C6C"/>
                </a:solidFill>
                <a:effectLst/>
                <a:latin typeface="Raleway"/>
                <a:cs typeface="Arial" pitchFamily="34" charset="0"/>
              </a:rPr>
              <a:t>Figure 6. A representation of a </a:t>
            </a:r>
            <a:r>
              <a:rPr kumimoji="0" lang="en-US" b="1" i="1" u="none" strike="noStrike" cap="none" normalizeH="0" baseline="0" dirty="0" err="1" smtClean="0">
                <a:ln>
                  <a:noFill/>
                </a:ln>
                <a:solidFill>
                  <a:srgbClr val="6C6C6C"/>
                </a:solidFill>
                <a:effectLst/>
                <a:latin typeface="Raleway"/>
                <a:cs typeface="Arial" pitchFamily="34" charset="0"/>
              </a:rPr>
              <a:t>quadtree</a:t>
            </a:r>
            <a:r>
              <a:rPr kumimoji="0" lang="en-US" b="1" i="1" u="none" strike="noStrike" cap="none" normalizeH="0" baseline="0" dirty="0" smtClean="0">
                <a:ln>
                  <a:noFill/>
                </a:ln>
                <a:solidFill>
                  <a:srgbClr val="6C6C6C"/>
                </a:solidFill>
                <a:effectLst/>
                <a:latin typeface="Raleway"/>
                <a:cs typeface="Arial" pitchFamily="34" charset="0"/>
              </a:rPr>
              <a:t> structure</a:t>
            </a:r>
            <a:r>
              <a:rPr kumimoji="0" lang="en-US" sz="800" b="0" i="1" u="none" strike="noStrike" cap="none" normalizeH="0" baseline="0" dirty="0" smtClean="0">
                <a:ln>
                  <a:noFill/>
                </a:ln>
                <a:solidFill>
                  <a:srgbClr val="6C6C6C"/>
                </a:solidFill>
                <a:effectLst/>
                <a:latin typeface="Raleway"/>
                <a:cs typeface="Arial" pitchFamily="34" charset="0"/>
              </a:rPr>
              <a:t>.</a:t>
            </a:r>
            <a:r>
              <a:rPr kumimoji="0" lang="en-US" sz="800" b="0" i="0" u="none" strike="noStrike" cap="none" normalizeH="0" baseline="0" dirty="0" smtClean="0">
                <a:ln>
                  <a:noFill/>
                </a:ln>
                <a:solidFill>
                  <a:srgbClr val="6C6C6C"/>
                </a:solidFill>
                <a:effectLst/>
                <a:latin typeface="Raleway"/>
                <a:cs typeface="Arial" pitchFamily="34" charset="0"/>
              </a:rPr>
              <a:t> </a:t>
            </a:r>
            <a:endParaRPr kumimoji="0" lang="en-US" sz="16900" b="0" i="0" u="none" strike="noStrike" cap="none" normalizeH="0" baseline="0" dirty="0" smtClean="0">
              <a:ln>
                <a:noFill/>
              </a:ln>
              <a:solidFill>
                <a:srgbClr val="6C6C6C"/>
              </a:solidFill>
              <a:effectLst/>
              <a:latin typeface="Raleway"/>
              <a:cs typeface="Arial" pitchFamily="34" charset="0"/>
            </a:endParaRPr>
          </a:p>
        </p:txBody>
      </p:sp>
      <p:pic>
        <p:nvPicPr>
          <p:cNvPr id="4098" name="Picture 2" descr="Quad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 y="2132856"/>
            <a:ext cx="8362950" cy="2695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549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Tree Hierarchical Inde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204864"/>
            <a:ext cx="9296400" cy="43053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07504" y="188640"/>
            <a:ext cx="8352928" cy="1754326"/>
          </a:xfrm>
          <a:prstGeom prst="rect">
            <a:avLst/>
          </a:prstGeom>
          <a:noFill/>
        </p:spPr>
        <p:txBody>
          <a:bodyPr wrap="square" rtlCol="0">
            <a:spAutoFit/>
          </a:bodyPr>
          <a:lstStyle/>
          <a:p>
            <a:pPr fontAlgn="base"/>
            <a:r>
              <a:rPr lang="en-US" b="1" dirty="0"/>
              <a:t>R-tree</a:t>
            </a:r>
            <a:endParaRPr lang="en-US" dirty="0"/>
          </a:p>
          <a:p>
            <a:pPr fontAlgn="base"/>
            <a:r>
              <a:rPr lang="en-US" dirty="0"/>
              <a:t>For a layer of geometries, an R-tree index consists of a hierarchical index on the MBRs of the geometries in the layer (</a:t>
            </a:r>
            <a:r>
              <a:rPr lang="en-US" dirty="0" err="1"/>
              <a:t>Guttman</a:t>
            </a:r>
            <a:r>
              <a:rPr lang="en-US" dirty="0"/>
              <a:t>, 1984). This hierarchical structure is based on the heuristic optimization of the area of MBRs in each node in order to improve the access efficiency.</a:t>
            </a:r>
          </a:p>
          <a:p>
            <a:endParaRPr lang="en-IN" dirty="0"/>
          </a:p>
        </p:txBody>
      </p:sp>
    </p:spTree>
    <p:extLst>
      <p:ext uri="{BB962C8B-B14F-4D97-AF65-F5344CB8AC3E}">
        <p14:creationId xmlns:p14="http://schemas.microsoft.com/office/powerpoint/2010/main" val="3852514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l-GR" dirty="0" smtClean="0"/>
              <a:t>Three Layer Architecture</a:t>
            </a:r>
          </a:p>
        </p:txBody>
      </p:sp>
      <p:pic>
        <p:nvPicPr>
          <p:cNvPr id="19459" name="Picture 3" descr="C:\Documents and Settings\Sanjay\spatial\book\BookPPT\Chap1\Fig16.e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355725"/>
            <a:ext cx="8748713" cy="539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80976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Applications</a:t>
            </a:r>
            <a:endParaRPr lang="en-IN" dirty="0"/>
          </a:p>
        </p:txBody>
      </p:sp>
      <p:sp>
        <p:nvSpPr>
          <p:cNvPr id="3" name="TextBox 2"/>
          <p:cNvSpPr txBox="1"/>
          <p:nvPr/>
        </p:nvSpPr>
        <p:spPr>
          <a:xfrm>
            <a:off x="467544" y="1412776"/>
            <a:ext cx="7260321" cy="3323987"/>
          </a:xfrm>
          <a:prstGeom prst="rect">
            <a:avLst/>
          </a:prstGeom>
          <a:noFill/>
        </p:spPr>
        <p:txBody>
          <a:bodyPr wrap="none" rtlCol="0">
            <a:spAutoFit/>
          </a:bodyPr>
          <a:lstStyle/>
          <a:p>
            <a:pPr marL="342900" indent="-342900">
              <a:buFont typeface="+mj-lt"/>
              <a:buAutoNum type="arabicPeriod"/>
            </a:pPr>
            <a:r>
              <a:rPr lang="en-IN" sz="2400" dirty="0" smtClean="0"/>
              <a:t>Solid waste management</a:t>
            </a:r>
          </a:p>
          <a:p>
            <a:pPr marL="342900" indent="-342900">
              <a:buFont typeface="+mj-lt"/>
              <a:buAutoNum type="arabicPeriod"/>
            </a:pPr>
            <a:r>
              <a:rPr lang="en-IN" sz="2400" dirty="0" smtClean="0"/>
              <a:t>Slum area detection</a:t>
            </a:r>
          </a:p>
          <a:p>
            <a:pPr marL="342900" indent="-342900">
              <a:buFont typeface="+mj-lt"/>
              <a:buAutoNum type="arabicPeriod"/>
            </a:pPr>
            <a:r>
              <a:rPr lang="en-IN" sz="2400" dirty="0" smtClean="0"/>
              <a:t>Detection of Buildings</a:t>
            </a:r>
          </a:p>
          <a:p>
            <a:pPr marL="342900" indent="-342900">
              <a:buFont typeface="+mj-lt"/>
              <a:buAutoNum type="arabicPeriod"/>
            </a:pPr>
            <a:r>
              <a:rPr lang="en-IN" sz="2400" dirty="0" smtClean="0"/>
              <a:t>Finding shortest path from trajectory dataset</a:t>
            </a:r>
          </a:p>
          <a:p>
            <a:pPr marL="342900" indent="-342900">
              <a:buFont typeface="+mj-lt"/>
              <a:buAutoNum type="arabicPeriod"/>
            </a:pPr>
            <a:r>
              <a:rPr lang="en-IN" sz="2400" dirty="0" smtClean="0"/>
              <a:t>Detection of airport </a:t>
            </a:r>
          </a:p>
          <a:p>
            <a:pPr marL="342900" indent="-342900">
              <a:buFont typeface="+mj-lt"/>
              <a:buAutoNum type="arabicPeriod"/>
            </a:pPr>
            <a:r>
              <a:rPr lang="en-IN" sz="2400" dirty="0" smtClean="0"/>
              <a:t>Prediction of a location for starting a school</a:t>
            </a:r>
          </a:p>
          <a:p>
            <a:pPr marL="342900" indent="-342900">
              <a:buFont typeface="+mj-lt"/>
              <a:buAutoNum type="arabicPeriod"/>
            </a:pPr>
            <a:r>
              <a:rPr lang="en-IN" sz="2400" dirty="0" smtClean="0"/>
              <a:t>Malaria prone area detection</a:t>
            </a:r>
          </a:p>
          <a:p>
            <a:pPr marL="342900" indent="-342900">
              <a:buFont typeface="+mj-lt"/>
              <a:buAutoNum type="arabicPeriod"/>
            </a:pPr>
            <a:r>
              <a:rPr lang="en-IN" sz="2400" dirty="0" smtClean="0"/>
              <a:t>Road extraction</a:t>
            </a:r>
          </a:p>
          <a:p>
            <a:pPr marL="342900" indent="-342900">
              <a:buFont typeface="+mj-lt"/>
              <a:buAutoNum type="arabicPeriod"/>
            </a:pPr>
            <a:endParaRPr lang="en-IN" dirty="0"/>
          </a:p>
        </p:txBody>
      </p:sp>
    </p:spTree>
    <p:extLst>
      <p:ext uri="{BB962C8B-B14F-4D97-AF65-F5344CB8AC3E}">
        <p14:creationId xmlns:p14="http://schemas.microsoft.com/office/powerpoint/2010/main" val="193967018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235</TotalTime>
  <Words>645</Words>
  <Application>Microsoft Office PowerPoint</Application>
  <PresentationFormat>On-screen Show (4:3)</PresentationFormat>
  <Paragraphs>117</Paragraphs>
  <Slides>20</Slides>
  <Notes>4</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Concourse</vt:lpstr>
      <vt:lpstr>Spatial Databases</vt:lpstr>
      <vt:lpstr>PowerPoint Presentation</vt:lpstr>
      <vt:lpstr>What is a Spatial Database?</vt:lpstr>
      <vt:lpstr>Spatial DataBases</vt:lpstr>
      <vt:lpstr>Spatial Representation</vt:lpstr>
      <vt:lpstr>Spatial data types</vt:lpstr>
      <vt:lpstr>Spatial Relationships</vt:lpstr>
      <vt:lpstr>PowerPoint Presentation</vt:lpstr>
      <vt:lpstr>Components of Spatial Data </vt:lpstr>
      <vt:lpstr>Scales (Levels) of Measurement </vt:lpstr>
      <vt:lpstr>SPATIAL RELATIONS </vt:lpstr>
      <vt:lpstr>Examples</vt:lpstr>
      <vt:lpstr>Spatial Queries</vt:lpstr>
      <vt:lpstr>Indexing using SAMs</vt:lpstr>
      <vt:lpstr>PowerPoint Presentation</vt:lpstr>
      <vt:lpstr>PowerPoint Presentation</vt:lpstr>
      <vt:lpstr>PowerPoint Presentation</vt:lpstr>
      <vt:lpstr>PowerPoint Presentation</vt:lpstr>
      <vt:lpstr>Three Layer Architecture</vt:lpstr>
      <vt:lpstr>Applications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 Databases</dc:title>
  <dc:creator>Admin</dc:creator>
  <cp:lastModifiedBy>Bhushan</cp:lastModifiedBy>
  <cp:revision>25</cp:revision>
  <dcterms:created xsi:type="dcterms:W3CDTF">2020-02-26T09:29:03Z</dcterms:created>
  <dcterms:modified xsi:type="dcterms:W3CDTF">2022-02-15T09:40:08Z</dcterms:modified>
</cp:coreProperties>
</file>