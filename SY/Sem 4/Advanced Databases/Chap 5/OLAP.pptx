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2" d="100"/>
          <a:sy n="72" d="100"/>
        </p:scale>
        <p:origin x="-1024"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534F6B24-BE3B-475E-883F-051E21010146}" type="datetimeFigureOut">
              <a:rPr lang="en-IN" smtClean="0"/>
              <a:t>01-10-2023</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8F8E239-473A-4EE0-9C4E-45FB8270F1E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8F8E239-473A-4EE0-9C4E-45FB8270F1E2}"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8F8E239-473A-4EE0-9C4E-45FB8270F1E2}"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8F8E239-473A-4EE0-9C4E-45FB8270F1E2}"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F8F8E239-473A-4EE0-9C4E-45FB8270F1E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F8F8E239-473A-4EE0-9C4E-45FB8270F1E2}"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F8F8E239-473A-4EE0-9C4E-45FB8270F1E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534F6B24-BE3B-475E-883F-051E21010146}" type="datetimeFigureOut">
              <a:rPr lang="en-IN" smtClean="0"/>
              <a:t>01-10-2023</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8F8E239-473A-4EE0-9C4E-45FB8270F1E2}"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534F6B24-BE3B-475E-883F-051E21010146}" type="datetimeFigureOut">
              <a:rPr lang="en-IN" smtClean="0"/>
              <a:t>01-10-2023</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8F8E239-473A-4EE0-9C4E-45FB8270F1E2}"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8F8E239-473A-4EE0-9C4E-45FB8270F1E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534F6B24-BE3B-475E-883F-051E21010146}" type="datetimeFigureOut">
              <a:rPr lang="en-IN" smtClean="0"/>
              <a:t>01-10-2023</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8F8E239-473A-4EE0-9C4E-45FB8270F1E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534F6B24-BE3B-475E-883F-051E21010146}" type="datetimeFigureOut">
              <a:rPr lang="en-IN" smtClean="0"/>
              <a:t>01-10-2023</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8F8E239-473A-4EE0-9C4E-45FB8270F1E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b="1" dirty="0" smtClean="0"/>
              <a:t/>
            </a:r>
            <a:br>
              <a:rPr lang="en-IN" b="1" dirty="0" smtClean="0"/>
            </a:br>
            <a:r>
              <a:rPr lang="en-IN" b="1" dirty="0" smtClean="0"/>
              <a:t>OLAP </a:t>
            </a:r>
            <a:r>
              <a:rPr lang="en-IN" b="1" dirty="0"/>
              <a:t>Operations</a:t>
            </a:r>
            <a:br>
              <a:rPr lang="en-IN" b="1" dirty="0"/>
            </a:br>
            <a:endParaRPr lang="en-IN" dirty="0"/>
          </a:p>
        </p:txBody>
      </p:sp>
    </p:spTree>
    <p:extLst>
      <p:ext uri="{BB962C8B-B14F-4D97-AF65-F5344CB8AC3E}">
        <p14:creationId xmlns:p14="http://schemas.microsoft.com/office/powerpoint/2010/main" val="8345915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edia.geeksforgeeks.org/wp-content/uploads/OLAPcub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573016"/>
            <a:ext cx="2924175" cy="276225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23528" y="620688"/>
            <a:ext cx="8460432" cy="1631216"/>
          </a:xfrm>
          <a:prstGeom prst="rect">
            <a:avLst/>
          </a:prstGeom>
        </p:spPr>
        <p:txBody>
          <a:bodyPr wrap="square">
            <a:spAutoFit/>
          </a:bodyPr>
          <a:lstStyle/>
          <a:p>
            <a:pPr algn="just"/>
            <a:r>
              <a:rPr lang="en-US" sz="2000" dirty="0" smtClean="0"/>
              <a:t>It </a:t>
            </a:r>
            <a:r>
              <a:rPr lang="en-US" sz="2000" dirty="0"/>
              <a:t>is a software technology that allows users to analyze information from multiple database systems at the same time. It is based on multidimensional data model and allows the user to query on multi-dimensional data (</a:t>
            </a:r>
            <a:r>
              <a:rPr lang="en-US" sz="2000" dirty="0" err="1"/>
              <a:t>eg</a:t>
            </a:r>
            <a:r>
              <a:rPr lang="en-US" sz="2000" dirty="0"/>
              <a:t>. Delhi -&gt; 2018 -&gt; Sales data). OLAP databases are divided into one or more cubes and these cubes are known as </a:t>
            </a:r>
            <a:r>
              <a:rPr lang="en-US" sz="2000" i="1" dirty="0"/>
              <a:t>Hyper-cubes</a:t>
            </a:r>
            <a:r>
              <a:rPr lang="en-US" sz="2000" dirty="0"/>
              <a:t>.</a:t>
            </a:r>
            <a:endParaRPr lang="en-IN" sz="2000" dirty="0"/>
          </a:p>
        </p:txBody>
      </p:sp>
    </p:spTree>
    <p:extLst>
      <p:ext uri="{BB962C8B-B14F-4D97-AF65-F5344CB8AC3E}">
        <p14:creationId xmlns:p14="http://schemas.microsoft.com/office/powerpoint/2010/main" val="2108061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404664"/>
            <a:ext cx="1843005" cy="369332"/>
          </a:xfrm>
          <a:prstGeom prst="rect">
            <a:avLst/>
          </a:prstGeom>
        </p:spPr>
        <p:txBody>
          <a:bodyPr wrap="none">
            <a:spAutoFit/>
          </a:bodyPr>
          <a:lstStyle/>
          <a:p>
            <a:pPr fontAlgn="base"/>
            <a:r>
              <a:rPr lang="en-IN" b="1" dirty="0"/>
              <a:t>OLAP operations:</a:t>
            </a:r>
          </a:p>
        </p:txBody>
      </p:sp>
      <p:sp>
        <p:nvSpPr>
          <p:cNvPr id="3" name="Rectangle 2"/>
          <p:cNvSpPr/>
          <p:nvPr/>
        </p:nvSpPr>
        <p:spPr>
          <a:xfrm>
            <a:off x="539552" y="980728"/>
            <a:ext cx="8496944" cy="2554545"/>
          </a:xfrm>
          <a:prstGeom prst="rect">
            <a:avLst/>
          </a:prstGeom>
        </p:spPr>
        <p:txBody>
          <a:bodyPr wrap="square">
            <a:spAutoFit/>
          </a:bodyPr>
          <a:lstStyle/>
          <a:p>
            <a:pPr algn="just" fontAlgn="base"/>
            <a:r>
              <a:rPr lang="en-US" sz="2000" dirty="0"/>
              <a:t>There are five basic analytical operations that can be performed on an OLAP cube:</a:t>
            </a:r>
          </a:p>
          <a:p>
            <a:pPr algn="just" fontAlgn="base"/>
            <a:r>
              <a:rPr lang="en-US" sz="2000" b="1" dirty="0"/>
              <a:t>Drill down: </a:t>
            </a:r>
            <a:r>
              <a:rPr lang="en-US" sz="2000" dirty="0"/>
              <a:t>In drill-down operation, the less detailed data is converted into highly detailed data. It can be done by:</a:t>
            </a:r>
          </a:p>
          <a:p>
            <a:pPr lvl="1" algn="just" fontAlgn="base"/>
            <a:r>
              <a:rPr lang="en-US" sz="2000" dirty="0"/>
              <a:t>Moving down in the concept hierarchy</a:t>
            </a:r>
          </a:p>
          <a:p>
            <a:pPr lvl="1" algn="just" fontAlgn="base"/>
            <a:r>
              <a:rPr lang="en-US" sz="2000" dirty="0"/>
              <a:t>Adding a new dimension</a:t>
            </a:r>
          </a:p>
          <a:p>
            <a:pPr algn="just" fontAlgn="base"/>
            <a:r>
              <a:rPr lang="en-US" sz="2000" dirty="0"/>
              <a:t>In the cube given in overview section, the drill down operation is performed by moving down in the concept hierarchy of </a:t>
            </a:r>
            <a:r>
              <a:rPr lang="en-US" sz="2000" i="1" dirty="0"/>
              <a:t>Time </a:t>
            </a:r>
            <a:r>
              <a:rPr lang="en-US" sz="2000" dirty="0"/>
              <a:t>dimension (Quarter -&gt; Month).</a:t>
            </a:r>
          </a:p>
        </p:txBody>
      </p:sp>
      <p:pic>
        <p:nvPicPr>
          <p:cNvPr id="2050" name="Picture 2" descr="https://media.geeksforgeeks.org/wp-content/uploads/OLAPdrilldow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689648"/>
            <a:ext cx="4752528"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9884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548680"/>
            <a:ext cx="8424936" cy="2814617"/>
          </a:xfrm>
          <a:prstGeom prst="rect">
            <a:avLst/>
          </a:prstGeom>
        </p:spPr>
        <p:txBody>
          <a:bodyPr wrap="square">
            <a:spAutoFit/>
          </a:bodyPr>
          <a:lstStyle/>
          <a:p>
            <a:pPr fontAlgn="base">
              <a:lnSpc>
                <a:spcPct val="150000"/>
              </a:lnSpc>
            </a:pPr>
            <a:r>
              <a:rPr lang="en-US" sz="2000" dirty="0" smtClean="0"/>
              <a:t>It </a:t>
            </a:r>
            <a:r>
              <a:rPr lang="en-US" sz="2000" dirty="0"/>
              <a:t>is just opposite of the drill-down operation. It performs aggregation on the OLAP cube. It can be done </a:t>
            </a:r>
            <a:r>
              <a:rPr lang="en-US" sz="2000" dirty="0" smtClean="0"/>
              <a:t>by</a:t>
            </a:r>
          </a:p>
          <a:p>
            <a:pPr marL="285750" indent="-285750" fontAlgn="base">
              <a:lnSpc>
                <a:spcPct val="150000"/>
              </a:lnSpc>
              <a:buFont typeface="Arial" panose="020B0604020202020204" pitchFamily="34" charset="0"/>
              <a:buChar char="•"/>
            </a:pPr>
            <a:r>
              <a:rPr lang="en-US" sz="2000" dirty="0" smtClean="0"/>
              <a:t>Climbing </a:t>
            </a:r>
            <a:r>
              <a:rPr lang="en-US" sz="2000" dirty="0"/>
              <a:t>up in the concept hierarchy</a:t>
            </a:r>
          </a:p>
          <a:p>
            <a:pPr marL="285750" indent="-285750" fontAlgn="base">
              <a:lnSpc>
                <a:spcPct val="150000"/>
              </a:lnSpc>
              <a:buFont typeface="Arial" panose="020B0604020202020204" pitchFamily="34" charset="0"/>
              <a:buChar char="•"/>
            </a:pPr>
            <a:r>
              <a:rPr lang="en-US" sz="2000" dirty="0"/>
              <a:t>Reducing the dimensions</a:t>
            </a:r>
          </a:p>
          <a:p>
            <a:pPr fontAlgn="base">
              <a:lnSpc>
                <a:spcPct val="150000"/>
              </a:lnSpc>
            </a:pPr>
            <a:r>
              <a:rPr lang="en-US" sz="2000" dirty="0"/>
              <a:t>In the cube given in the overview section, the roll-up operation is performed by climbing up in the concept hierarchy of </a:t>
            </a:r>
            <a:r>
              <a:rPr lang="en-US" sz="2000" i="1" dirty="0"/>
              <a:t>Location </a:t>
            </a:r>
            <a:r>
              <a:rPr lang="en-US" sz="2000" dirty="0"/>
              <a:t>dimension (City -&gt; Country).</a:t>
            </a:r>
          </a:p>
        </p:txBody>
      </p:sp>
      <p:sp>
        <p:nvSpPr>
          <p:cNvPr id="3" name="Rectangle 2"/>
          <p:cNvSpPr/>
          <p:nvPr/>
        </p:nvSpPr>
        <p:spPr>
          <a:xfrm>
            <a:off x="755576" y="87015"/>
            <a:ext cx="1136273" cy="461665"/>
          </a:xfrm>
          <a:prstGeom prst="rect">
            <a:avLst/>
          </a:prstGeom>
        </p:spPr>
        <p:txBody>
          <a:bodyPr wrap="none">
            <a:spAutoFit/>
          </a:bodyPr>
          <a:lstStyle/>
          <a:p>
            <a:r>
              <a:rPr lang="en-US" sz="2400" b="1" dirty="0" smtClean="0"/>
              <a:t>Roll up </a:t>
            </a:r>
            <a:endParaRPr lang="en-IN" sz="2400" dirty="0"/>
          </a:p>
        </p:txBody>
      </p:sp>
      <p:pic>
        <p:nvPicPr>
          <p:cNvPr id="3074" name="Picture 2" descr="https://media.geeksforgeeks.org/wp-content/uploads/OLAProllu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3363297"/>
            <a:ext cx="3114675" cy="2762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5636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332656"/>
            <a:ext cx="2531368" cy="461665"/>
          </a:xfrm>
          <a:prstGeom prst="rect">
            <a:avLst/>
          </a:prstGeom>
        </p:spPr>
        <p:txBody>
          <a:bodyPr wrap="square">
            <a:spAutoFit/>
          </a:bodyPr>
          <a:lstStyle/>
          <a:p>
            <a:r>
              <a:rPr lang="en-IN" sz="2400" b="1" dirty="0"/>
              <a:t>Dice</a:t>
            </a:r>
            <a:endParaRPr lang="en-IN" sz="2000" dirty="0"/>
          </a:p>
        </p:txBody>
      </p:sp>
      <p:sp>
        <p:nvSpPr>
          <p:cNvPr id="3" name="Rectangle 2"/>
          <p:cNvSpPr/>
          <p:nvPr/>
        </p:nvSpPr>
        <p:spPr>
          <a:xfrm>
            <a:off x="107504" y="845888"/>
            <a:ext cx="9036496" cy="3359061"/>
          </a:xfrm>
          <a:prstGeom prst="rect">
            <a:avLst/>
          </a:prstGeom>
        </p:spPr>
        <p:txBody>
          <a:bodyPr wrap="square">
            <a:spAutoFit/>
          </a:bodyPr>
          <a:lstStyle/>
          <a:p>
            <a:pPr algn="just" fontAlgn="base">
              <a:lnSpc>
                <a:spcPct val="150000"/>
              </a:lnSpc>
            </a:pPr>
            <a:r>
              <a:rPr lang="en-US" sz="2400" dirty="0"/>
              <a:t>It selects a sub-cube from the OLAP cube by selecting two or more dimensions. In the cube given in the overview section, a sub-cube is selected by selecting following dimensions with criteria</a:t>
            </a:r>
            <a:r>
              <a:rPr lang="en-US" sz="2400" dirty="0" smtClean="0"/>
              <a:t>:</a:t>
            </a:r>
          </a:p>
          <a:p>
            <a:pPr marL="285750" indent="-285750" algn="just" fontAlgn="base">
              <a:lnSpc>
                <a:spcPct val="150000"/>
              </a:lnSpc>
              <a:buFont typeface="Arial" panose="020B0604020202020204" pitchFamily="34" charset="0"/>
              <a:buChar char="•"/>
            </a:pPr>
            <a:r>
              <a:rPr lang="en-US" sz="2400" dirty="0" smtClean="0"/>
              <a:t>Location </a:t>
            </a:r>
            <a:r>
              <a:rPr lang="en-US" sz="2400" dirty="0"/>
              <a:t>= “Delhi” or “Kolkata”</a:t>
            </a:r>
          </a:p>
          <a:p>
            <a:pPr marL="285750" indent="-285750" algn="just" fontAlgn="base">
              <a:lnSpc>
                <a:spcPct val="150000"/>
              </a:lnSpc>
              <a:buFont typeface="Arial" panose="020B0604020202020204" pitchFamily="34" charset="0"/>
              <a:buChar char="•"/>
            </a:pPr>
            <a:r>
              <a:rPr lang="en-US" sz="2400" dirty="0"/>
              <a:t>Time = “Q1” or “Q2”</a:t>
            </a:r>
          </a:p>
          <a:p>
            <a:pPr marL="285750" indent="-285750" algn="just" fontAlgn="base">
              <a:lnSpc>
                <a:spcPct val="150000"/>
              </a:lnSpc>
              <a:buFont typeface="Arial" panose="020B0604020202020204" pitchFamily="34" charset="0"/>
              <a:buChar char="•"/>
            </a:pPr>
            <a:r>
              <a:rPr lang="en-US" sz="2400" dirty="0"/>
              <a:t>Item = “Car” or “Bus”</a:t>
            </a:r>
          </a:p>
        </p:txBody>
      </p:sp>
      <p:pic>
        <p:nvPicPr>
          <p:cNvPr id="4098" name="Picture 2" descr="https://media.geeksforgeeks.org/wp-content/uploads/OLAPdi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111" y="3140968"/>
            <a:ext cx="3041241" cy="2442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3171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1" i="0" u="none" strike="noStrike" cap="none" normalizeH="0" baseline="0" smtClean="0">
                <a:ln>
                  <a:noFill/>
                </a:ln>
                <a:solidFill>
                  <a:srgbClr val="273239"/>
                </a:solidFill>
                <a:effectLst/>
                <a:latin typeface="Nunito"/>
                <a:cs typeface="Arial" pitchFamily="34" charset="0"/>
              </a:rPr>
              <a:t>Slice: </a:t>
            </a:r>
            <a:r>
              <a:rPr kumimoji="0" lang="en-US" altLang="en-US" sz="1200" b="0" i="0" u="none" strike="noStrike" cap="none" normalizeH="0" baseline="0" smtClean="0">
                <a:ln>
                  <a:noFill/>
                </a:ln>
                <a:solidFill>
                  <a:srgbClr val="273239"/>
                </a:solidFill>
                <a:effectLst/>
                <a:latin typeface="Nunito"/>
                <a:cs typeface="Arial" pitchFamily="34" charset="0"/>
              </a:rPr>
              <a:t>It selects a single dimension from the OLAP cube which results in a new sub-cube creation. In the cube given in the overview section, Slice is performed on the dimension Time = “Q1”.</a:t>
            </a:r>
            <a:r>
              <a:rPr kumimoji="0" lang="en-US" altLang="en-US" sz="600" b="0" i="0" u="none" strike="noStrike" cap="none" normalizeH="0" baseline="0" smtClean="0">
                <a:ln>
                  <a:noFill/>
                </a:ln>
                <a:solidFill>
                  <a:schemeClr val="tx1"/>
                </a:solidFill>
                <a:effectLst/>
                <a:latin typeface="Arial" pitchFamily="34" charset="0"/>
                <a:cs typeface="Arial" pitchFamily="34" charset="0"/>
              </a:rPr>
              <a:t/>
            </a:r>
            <a:br>
              <a:rPr kumimoji="0" lang="en-US" altLang="en-US" sz="600" b="0" i="0" u="none" strike="noStrike" cap="none" normalizeH="0" baseline="0" smtClean="0">
                <a:ln>
                  <a:noFill/>
                </a:ln>
                <a:solidFill>
                  <a:schemeClr val="tx1"/>
                </a:solidFill>
                <a:effectLst/>
                <a:latin typeface="Arial" pitchFamily="34" charset="0"/>
                <a:cs typeface="Arial" pitchFamily="34" charset="0"/>
              </a:rPr>
            </a:br>
            <a:r>
              <a:rPr kumimoji="0" lang="en-US" altLang="en-US" sz="1800" b="0" i="0" u="none" strike="noStrike" cap="none" normalizeH="0" baseline="0" smtClean="0">
                <a:ln>
                  <a:noFill/>
                </a:ln>
                <a:solidFill>
                  <a:schemeClr val="tx1"/>
                </a:solidFill>
                <a:effectLst/>
                <a:latin typeface="Arial" pitchFamily="34" charset="0"/>
                <a:cs typeface="Arial" pitchFamily="34" charset="0"/>
              </a:rPr>
              <a:t>  </a:t>
            </a:r>
            <a:r>
              <a:rPr kumimoji="0" lang="en-US" altLang="en-US" sz="14600" b="0" i="0" u="none" strike="noStrike" cap="none" normalizeH="0" baseline="0" smtClean="0">
                <a:ln>
                  <a:noFill/>
                </a:ln>
                <a:solidFill>
                  <a:schemeClr val="tx1"/>
                </a:solidFill>
                <a:effectLst/>
                <a:latin typeface="Arial" pitchFamily="34" charset="0"/>
                <a:cs typeface="Arial" pitchFamily="34" charset="0"/>
              </a:rPr>
              <a:t> </a:t>
            </a:r>
            <a:r>
              <a:rPr kumimoji="0" lang="en-US" altLang="en-US" sz="1800" b="0" i="0" u="none" strike="noStrike" cap="none" normalizeH="0" baseline="0" smtClean="0">
                <a:ln>
                  <a:noFill/>
                </a:ln>
                <a:solidFill>
                  <a:schemeClr val="tx1"/>
                </a:solidFill>
                <a:effectLst/>
                <a:latin typeface="Arial" pitchFamily="34" charset="0"/>
                <a:cs typeface="Arial" pitchFamily="34" charset="0"/>
              </a:rPr>
              <a:t>                                          </a:t>
            </a:r>
          </a:p>
        </p:txBody>
      </p:sp>
      <p:sp>
        <p:nvSpPr>
          <p:cNvPr id="3" name="Rectangle 2"/>
          <p:cNvSpPr/>
          <p:nvPr/>
        </p:nvSpPr>
        <p:spPr>
          <a:xfrm>
            <a:off x="611560" y="548680"/>
            <a:ext cx="8424936" cy="2215991"/>
          </a:xfrm>
          <a:prstGeom prst="rect">
            <a:avLst/>
          </a:prstGeom>
        </p:spPr>
        <p:txBody>
          <a:bodyPr wrap="square">
            <a:spAutoFit/>
          </a:bodyPr>
          <a:lstStyle/>
          <a:p>
            <a:r>
              <a:rPr lang="en-US" sz="2400" b="1" dirty="0"/>
              <a:t>Slice: </a:t>
            </a:r>
            <a:r>
              <a:rPr lang="en-US" b="1" dirty="0" smtClean="0"/>
              <a:t/>
            </a:r>
            <a:br>
              <a:rPr lang="en-US" b="1" dirty="0" smtClean="0"/>
            </a:br>
            <a:endParaRPr lang="en-US" b="1" dirty="0" smtClean="0"/>
          </a:p>
          <a:p>
            <a:pPr algn="just"/>
            <a:r>
              <a:rPr lang="en-US" sz="2400" dirty="0" smtClean="0"/>
              <a:t>It </a:t>
            </a:r>
            <a:r>
              <a:rPr lang="en-US" sz="2400" dirty="0"/>
              <a:t>selects a single dimension from the OLAP cube which results in a new sub-cube creation. In the cube given in the overview section, Slice is performed on the dimension </a:t>
            </a:r>
            <a:endParaRPr lang="en-US" sz="2400" dirty="0" smtClean="0"/>
          </a:p>
          <a:p>
            <a:pPr algn="just"/>
            <a:r>
              <a:rPr lang="en-US" sz="2400" dirty="0" smtClean="0"/>
              <a:t>Time </a:t>
            </a:r>
            <a:r>
              <a:rPr lang="en-US" sz="2400" dirty="0"/>
              <a:t>= “Q1”.</a:t>
            </a:r>
            <a:endParaRPr lang="en-IN" sz="2400" dirty="0"/>
          </a:p>
        </p:txBody>
      </p:sp>
      <p:pic>
        <p:nvPicPr>
          <p:cNvPr id="5124" name="Picture 4" descr="https://media.geeksforgeeks.org/wp-content/uploads/OLAPsli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466" y="2787998"/>
            <a:ext cx="3456384" cy="2980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1980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1124744"/>
            <a:ext cx="7776864" cy="1569660"/>
          </a:xfrm>
          <a:prstGeom prst="rect">
            <a:avLst/>
          </a:prstGeom>
        </p:spPr>
        <p:txBody>
          <a:bodyPr wrap="square">
            <a:spAutoFit/>
          </a:bodyPr>
          <a:lstStyle/>
          <a:p>
            <a:pPr algn="just"/>
            <a:r>
              <a:rPr lang="en-US" sz="2400" dirty="0" smtClean="0"/>
              <a:t>It </a:t>
            </a:r>
            <a:r>
              <a:rPr lang="en-US" sz="2400" dirty="0"/>
              <a:t>is also known as </a:t>
            </a:r>
            <a:r>
              <a:rPr lang="en-US" sz="2400" i="1" dirty="0"/>
              <a:t>rotation</a:t>
            </a:r>
            <a:r>
              <a:rPr lang="en-US" sz="2400" dirty="0"/>
              <a:t> operation as it rotates the current view to get a new view of the representation. In the sub-cube obtained after the slice operation, performing pivot operation gives a new view of it.</a:t>
            </a:r>
            <a:endParaRPr lang="en-IN" sz="2400" dirty="0"/>
          </a:p>
        </p:txBody>
      </p:sp>
      <p:sp>
        <p:nvSpPr>
          <p:cNvPr id="3" name="Rectangle 2"/>
          <p:cNvSpPr/>
          <p:nvPr/>
        </p:nvSpPr>
        <p:spPr>
          <a:xfrm>
            <a:off x="539552" y="404664"/>
            <a:ext cx="1424949" cy="461665"/>
          </a:xfrm>
          <a:prstGeom prst="rect">
            <a:avLst/>
          </a:prstGeom>
        </p:spPr>
        <p:txBody>
          <a:bodyPr wrap="square">
            <a:spAutoFit/>
          </a:bodyPr>
          <a:lstStyle/>
          <a:p>
            <a:r>
              <a:rPr lang="en-US" sz="2400" b="1" dirty="0" smtClean="0"/>
              <a:t>Pivot: </a:t>
            </a:r>
            <a:endParaRPr lang="en-IN" sz="2400" dirty="0"/>
          </a:p>
        </p:txBody>
      </p:sp>
      <p:pic>
        <p:nvPicPr>
          <p:cNvPr id="6146" name="Picture 2" descr="https://media.geeksforgeeks.org/wp-content/uploads/OLAPpivo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3176" y="3140967"/>
            <a:ext cx="3565008" cy="3388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2661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56</TotalTime>
  <Words>211</Words>
  <Application>Microsoft Office PowerPoint</Application>
  <PresentationFormat>On-screen Show (4:3)</PresentationFormat>
  <Paragraphs>24</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Concourse</vt:lpstr>
      <vt:lpstr> OLAP Operations </vt:lpstr>
      <vt:lpstr>PowerPoint Presentation</vt:lpstr>
      <vt:lpstr>PowerPoint Presentation</vt:lpstr>
      <vt:lpstr>PowerPoint Presentation</vt:lpstr>
      <vt:lpstr>PowerPoint Presentation</vt:lpstr>
      <vt:lpstr>PowerPoint Presentation</vt:lpstr>
      <vt:lpstr>PowerPoint Presentation</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OLAP Operations</dc:title>
  <dc:creator>Admin</dc:creator>
  <cp:lastModifiedBy>Admin</cp:lastModifiedBy>
  <cp:revision>9</cp:revision>
  <dcterms:created xsi:type="dcterms:W3CDTF">2023-04-20T06:02:07Z</dcterms:created>
  <dcterms:modified xsi:type="dcterms:W3CDTF">2023-10-01T17:06:01Z</dcterms:modified>
</cp:coreProperties>
</file>