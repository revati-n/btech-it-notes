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59" r:id="rId7"/>
    <p:sldId id="262" r:id="rId8"/>
    <p:sldId id="263" r:id="rId9"/>
    <p:sldId id="264"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F54D180E-6196-477B-B366-3BFD9917E64D}" type="datetimeFigureOut">
              <a:rPr lang="en-IN" smtClean="0"/>
              <a:t>15-02-2024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AB628192-37C4-4F53-88D8-625380C5DCEA}"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AB628192-37C4-4F53-88D8-625380C5DCEA}"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AB628192-37C4-4F53-88D8-625380C5DCEA}"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AB628192-37C4-4F53-88D8-625380C5DCEA}"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AB628192-37C4-4F53-88D8-625380C5DCEA}"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AB628192-37C4-4F53-88D8-625380C5DCEA}"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AB628192-37C4-4F53-88D8-625380C5DCE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F54D180E-6196-477B-B366-3BFD9917E64D}" type="datetimeFigureOut">
              <a:rPr lang="en-IN" smtClean="0"/>
              <a:t>15-02-2024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AB628192-37C4-4F53-88D8-625380C5DCEA}"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F54D180E-6196-477B-B366-3BFD9917E64D}" type="datetimeFigureOut">
              <a:rPr lang="en-IN" smtClean="0"/>
              <a:t>15-02-2024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AB628192-37C4-4F53-88D8-625380C5DCEA}"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AB628192-37C4-4F53-88D8-625380C5DCE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54D180E-6196-477B-B366-3BFD9917E64D}" type="datetimeFigureOut">
              <a:rPr lang="en-IN" smtClean="0"/>
              <a:t>15-02-2024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AB628192-37C4-4F53-88D8-625380C5DCE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F54D180E-6196-477B-B366-3BFD9917E64D}" type="datetimeFigureOut">
              <a:rPr lang="en-IN" smtClean="0"/>
              <a:t>15-02-2024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AB628192-37C4-4F53-88D8-625380C5DCEA}"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852936"/>
            <a:ext cx="7772400" cy="1470025"/>
          </a:xfrm>
        </p:spPr>
        <p:txBody>
          <a:bodyPr>
            <a:noAutofit/>
          </a:bodyPr>
          <a:lstStyle/>
          <a:p>
            <a:pPr algn="ctr"/>
            <a:r>
              <a:rPr lang="en-US" b="1" dirty="0" smtClean="0"/>
              <a:t>Introduction to Data Warehousing and multi-dimensional Modeling</a:t>
            </a:r>
            <a:endParaRPr lang="en-IN" b="1" dirty="0"/>
          </a:p>
        </p:txBody>
      </p:sp>
      <p:sp>
        <p:nvSpPr>
          <p:cNvPr id="4" name="TextBox 3"/>
          <p:cNvSpPr txBox="1"/>
          <p:nvPr/>
        </p:nvSpPr>
        <p:spPr>
          <a:xfrm>
            <a:off x="3419872" y="766445"/>
            <a:ext cx="2664296" cy="646331"/>
          </a:xfrm>
          <a:prstGeom prst="rect">
            <a:avLst/>
          </a:prstGeom>
          <a:noFill/>
        </p:spPr>
        <p:txBody>
          <a:bodyPr wrap="square" rtlCol="0">
            <a:spAutoFit/>
          </a:bodyPr>
          <a:lstStyle/>
          <a:p>
            <a:pPr algn="ctr"/>
            <a:r>
              <a:rPr lang="en-IN" sz="3600" b="1" dirty="0" smtClean="0"/>
              <a:t>UNIT  III</a:t>
            </a:r>
            <a:endParaRPr lang="en-IN" sz="3600" b="1" dirty="0"/>
          </a:p>
        </p:txBody>
      </p:sp>
    </p:spTree>
    <p:extLst>
      <p:ext uri="{BB962C8B-B14F-4D97-AF65-F5344CB8AC3E}">
        <p14:creationId xmlns:p14="http://schemas.microsoft.com/office/powerpoint/2010/main" val="25361971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76673"/>
            <a:ext cx="10513168" cy="5632311"/>
          </a:xfrm>
          <a:prstGeom prst="rect">
            <a:avLst/>
          </a:prstGeom>
        </p:spPr>
        <p:txBody>
          <a:bodyPr wrap="square">
            <a:spAutoFit/>
          </a:bodyPr>
          <a:lstStyle/>
          <a:p>
            <a:pPr>
              <a:lnSpc>
                <a:spcPct val="200000"/>
              </a:lnSpc>
            </a:pPr>
            <a:r>
              <a:rPr lang="en-IN" dirty="0" smtClean="0"/>
              <a:t>3.1 Operational Vs Decisional Support System ,The Need for Data Warehousing</a:t>
            </a:r>
          </a:p>
          <a:p>
            <a:pPr>
              <a:lnSpc>
                <a:spcPct val="200000"/>
              </a:lnSpc>
            </a:pPr>
            <a:r>
              <a:rPr lang="en-IN" dirty="0" smtClean="0"/>
              <a:t>3.2 Data Warehouse Definition, Features , The Information Flow   </a:t>
            </a:r>
          </a:p>
          <a:p>
            <a:pPr>
              <a:lnSpc>
                <a:spcPct val="200000"/>
              </a:lnSpc>
            </a:pPr>
            <a:r>
              <a:rPr lang="en-IN" dirty="0"/>
              <a:t> </a:t>
            </a:r>
            <a:r>
              <a:rPr lang="en-IN" dirty="0" smtClean="0"/>
              <a:t>     Mechanism, Architecture , Role of Metadata, Classification of Metadata</a:t>
            </a:r>
          </a:p>
          <a:p>
            <a:pPr>
              <a:lnSpc>
                <a:spcPct val="200000"/>
              </a:lnSpc>
            </a:pPr>
            <a:r>
              <a:rPr lang="en-IN" dirty="0" smtClean="0"/>
              <a:t>3.3 Data Warehouse Vs Data Marts, Data Warehousing Design</a:t>
            </a:r>
          </a:p>
          <a:p>
            <a:pPr>
              <a:lnSpc>
                <a:spcPct val="200000"/>
              </a:lnSpc>
            </a:pPr>
            <a:r>
              <a:rPr lang="en-IN" dirty="0"/>
              <a:t> </a:t>
            </a:r>
            <a:r>
              <a:rPr lang="en-IN" dirty="0" smtClean="0"/>
              <a:t>     Strategies, Data Warehouse </a:t>
            </a:r>
            <a:r>
              <a:rPr lang="en-IN" dirty="0" err="1" smtClean="0"/>
              <a:t>Modeling</a:t>
            </a:r>
            <a:r>
              <a:rPr lang="en-IN" dirty="0" smtClean="0"/>
              <a:t> Vs Operational Database </a:t>
            </a:r>
            <a:r>
              <a:rPr lang="en-IN" dirty="0" err="1" smtClean="0"/>
              <a:t>Modeling</a:t>
            </a:r>
            <a:endParaRPr lang="en-IN" dirty="0" smtClean="0"/>
          </a:p>
          <a:p>
            <a:pPr>
              <a:lnSpc>
                <a:spcPct val="200000"/>
              </a:lnSpc>
            </a:pPr>
            <a:r>
              <a:rPr lang="en-IN" dirty="0" smtClean="0"/>
              <a:t>3.4 The Star Schema - Fact Tables and Dimension Tables, The Fact less Fact</a:t>
            </a:r>
          </a:p>
          <a:p>
            <a:pPr>
              <a:lnSpc>
                <a:spcPct val="200000"/>
              </a:lnSpc>
            </a:pPr>
            <a:r>
              <a:rPr lang="en-IN" dirty="0"/>
              <a:t> </a:t>
            </a:r>
            <a:r>
              <a:rPr lang="en-IN" dirty="0" smtClean="0"/>
              <a:t>     Table, Keys in the Data Warehouse Schema- Primary Keys, Surrogate Keys </a:t>
            </a:r>
          </a:p>
          <a:p>
            <a:pPr>
              <a:lnSpc>
                <a:spcPct val="200000"/>
              </a:lnSpc>
            </a:pPr>
            <a:r>
              <a:rPr lang="en-IN" dirty="0"/>
              <a:t> </a:t>
            </a:r>
            <a:r>
              <a:rPr lang="en-IN" dirty="0" smtClean="0"/>
              <a:t>     &amp; Foreign Keys, The Snowflake Schema, Fact Constellation Schema</a:t>
            </a:r>
          </a:p>
          <a:p>
            <a:pPr>
              <a:lnSpc>
                <a:spcPct val="200000"/>
              </a:lnSpc>
            </a:pPr>
            <a:r>
              <a:rPr lang="en-IN" dirty="0"/>
              <a:t> </a:t>
            </a:r>
            <a:r>
              <a:rPr lang="en-IN" dirty="0" smtClean="0"/>
              <a:t>      (Family of Stars)</a:t>
            </a:r>
          </a:p>
          <a:p>
            <a:pPr>
              <a:lnSpc>
                <a:spcPct val="200000"/>
              </a:lnSpc>
            </a:pPr>
            <a:endParaRPr lang="en-IN" dirty="0"/>
          </a:p>
        </p:txBody>
      </p:sp>
    </p:spTree>
    <p:extLst>
      <p:ext uri="{BB962C8B-B14F-4D97-AF65-F5344CB8AC3E}">
        <p14:creationId xmlns:p14="http://schemas.microsoft.com/office/powerpoint/2010/main" val="3329779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692696"/>
            <a:ext cx="9073008" cy="2308324"/>
          </a:xfrm>
          <a:prstGeom prst="rect">
            <a:avLst/>
          </a:prstGeom>
        </p:spPr>
        <p:txBody>
          <a:bodyPr wrap="square">
            <a:spAutoFit/>
          </a:bodyPr>
          <a:lstStyle/>
          <a:p>
            <a:pPr>
              <a:lnSpc>
                <a:spcPct val="200000"/>
              </a:lnSpc>
            </a:pPr>
            <a:r>
              <a:rPr lang="en-IN" dirty="0" smtClean="0"/>
              <a:t>3.5 Updates To Dimension Tables - Slowly Changing Dimensions, Type 1,</a:t>
            </a:r>
          </a:p>
          <a:p>
            <a:pPr>
              <a:lnSpc>
                <a:spcPct val="200000"/>
              </a:lnSpc>
            </a:pPr>
            <a:r>
              <a:rPr lang="en-IN" dirty="0" smtClean="0"/>
              <a:t>      Type 2 and Type 3 Changes, Large Dimensions , Rapidly</a:t>
            </a:r>
          </a:p>
          <a:p>
            <a:pPr>
              <a:lnSpc>
                <a:spcPct val="200000"/>
              </a:lnSpc>
            </a:pPr>
            <a:r>
              <a:rPr lang="en-IN" dirty="0" smtClean="0"/>
              <a:t>      Changing Dimensions, Junk Dimensions, Aggregate Fact Tables</a:t>
            </a:r>
          </a:p>
          <a:p>
            <a:pPr>
              <a:lnSpc>
                <a:spcPct val="200000"/>
              </a:lnSpc>
            </a:pPr>
            <a:r>
              <a:rPr lang="en-IN" dirty="0" smtClean="0"/>
              <a:t>3.6 Data lake, Architecture of Data lake, Data Warehouse Vs Data lake</a:t>
            </a:r>
            <a:endParaRPr lang="en-IN" dirty="0"/>
          </a:p>
        </p:txBody>
      </p:sp>
    </p:spTree>
    <p:extLst>
      <p:ext uri="{BB962C8B-B14F-4D97-AF65-F5344CB8AC3E}">
        <p14:creationId xmlns:p14="http://schemas.microsoft.com/office/powerpoint/2010/main" val="19380217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28143071"/>
              </p:ext>
            </p:extLst>
          </p:nvPr>
        </p:nvGraphicFramePr>
        <p:xfrm>
          <a:off x="251520" y="1268760"/>
          <a:ext cx="8568952" cy="4615408"/>
        </p:xfrm>
        <a:graphic>
          <a:graphicData uri="http://schemas.openxmlformats.org/drawingml/2006/table">
            <a:tbl>
              <a:tblPr firstRow="1" bandRow="1">
                <a:tableStyleId>{5C22544A-7EE6-4342-B048-85BDC9FD1C3A}</a:tableStyleId>
              </a:tblPr>
              <a:tblGrid>
                <a:gridCol w="4284476"/>
                <a:gridCol w="4284476"/>
              </a:tblGrid>
              <a:tr h="949797">
                <a:tc>
                  <a:txBody>
                    <a:bodyPr/>
                    <a:lstStyle/>
                    <a:p>
                      <a:pPr algn="just"/>
                      <a:r>
                        <a:rPr lang="en-IN" dirty="0" smtClean="0"/>
                        <a:t>Operational Support Systems</a:t>
                      </a:r>
                      <a:endParaRPr lang="en-IN" dirty="0"/>
                    </a:p>
                  </a:txBody>
                  <a:tcPr/>
                </a:tc>
                <a:tc>
                  <a:txBody>
                    <a:bodyPr/>
                    <a:lstStyle/>
                    <a:p>
                      <a:pPr algn="just"/>
                      <a:r>
                        <a:rPr lang="en-IN" dirty="0" smtClean="0"/>
                        <a:t>Decisional Support Systems</a:t>
                      </a:r>
                      <a:endParaRPr lang="en-IN" dirty="0"/>
                    </a:p>
                  </a:txBody>
                  <a:tcPr/>
                </a:tc>
              </a:tr>
              <a:tr h="922411">
                <a:tc>
                  <a:txBody>
                    <a:bodyPr/>
                    <a:lstStyle/>
                    <a:p>
                      <a:pPr algn="just"/>
                      <a:r>
                        <a:rPr lang="en-IN" dirty="0" smtClean="0"/>
                        <a:t>Data represented by operational support systems are transactions that happen</a:t>
                      </a:r>
                      <a:r>
                        <a:rPr lang="en-IN" baseline="0" dirty="0" smtClean="0"/>
                        <a:t> in real time</a:t>
                      </a:r>
                      <a:endParaRPr lang="en-IN" dirty="0"/>
                    </a:p>
                  </a:txBody>
                  <a:tcPr/>
                </a:tc>
                <a:tc>
                  <a:txBody>
                    <a:bodyPr/>
                    <a:lstStyle/>
                    <a:p>
                      <a:pPr algn="just"/>
                      <a:r>
                        <a:rPr lang="en-IN" dirty="0" smtClean="0"/>
                        <a:t>Decision support systems use</a:t>
                      </a:r>
                      <a:r>
                        <a:rPr lang="en-IN" baseline="0" dirty="0" smtClean="0"/>
                        <a:t> the operational data at a particular point in time.</a:t>
                      </a:r>
                      <a:endParaRPr lang="en-IN" dirty="0"/>
                    </a:p>
                  </a:txBody>
                  <a:tcPr/>
                </a:tc>
              </a:tr>
              <a:tr h="550279">
                <a:tc>
                  <a:txBody>
                    <a:bodyPr/>
                    <a:lstStyle/>
                    <a:p>
                      <a:pPr algn="just"/>
                      <a:r>
                        <a:rPr lang="en-IN" dirty="0" smtClean="0"/>
                        <a:t>Operational data is regarded as update</a:t>
                      </a:r>
                      <a:r>
                        <a:rPr lang="en-IN" baseline="0" dirty="0" smtClean="0"/>
                        <a:t> transactions.</a:t>
                      </a:r>
                      <a:endParaRPr lang="en-IN" dirty="0"/>
                    </a:p>
                  </a:txBody>
                  <a:tcPr/>
                </a:tc>
                <a:tc>
                  <a:txBody>
                    <a:bodyPr/>
                    <a:lstStyle/>
                    <a:p>
                      <a:pPr algn="just"/>
                      <a:r>
                        <a:rPr lang="en-IN" dirty="0" smtClean="0"/>
                        <a:t>Decisional</a:t>
                      </a:r>
                      <a:r>
                        <a:rPr lang="en-IN" baseline="0" dirty="0" smtClean="0"/>
                        <a:t> support data is regarded as query transaction. Which is read-only.</a:t>
                      </a:r>
                      <a:endParaRPr lang="en-IN" dirty="0"/>
                    </a:p>
                  </a:txBody>
                  <a:tcPr/>
                </a:tc>
              </a:tr>
              <a:tr h="550279">
                <a:tc>
                  <a:txBody>
                    <a:bodyPr/>
                    <a:lstStyle/>
                    <a:p>
                      <a:pPr algn="just"/>
                      <a:r>
                        <a:rPr lang="en-IN" dirty="0" smtClean="0"/>
                        <a:t>The concurrent transaction volume</a:t>
                      </a:r>
                      <a:r>
                        <a:rPr lang="en-IN" baseline="0" dirty="0" smtClean="0"/>
                        <a:t> </a:t>
                      </a:r>
                      <a:r>
                        <a:rPr lang="en-IN" dirty="0" smtClean="0"/>
                        <a:t>in operational data is very high. </a:t>
                      </a:r>
                      <a:endParaRPr lang="en-IN" dirty="0"/>
                    </a:p>
                  </a:txBody>
                  <a:tcPr/>
                </a:tc>
                <a:tc>
                  <a:txBody>
                    <a:bodyPr/>
                    <a:lstStyle/>
                    <a:p>
                      <a:pPr algn="just"/>
                      <a:r>
                        <a:rPr lang="en-IN" dirty="0" smtClean="0"/>
                        <a:t>The concurrent transaction</a:t>
                      </a:r>
                      <a:r>
                        <a:rPr lang="en-IN" baseline="0" dirty="0" smtClean="0"/>
                        <a:t> volume is found at low or medium levels.</a:t>
                      </a:r>
                      <a:endParaRPr lang="en-IN" dirty="0"/>
                    </a:p>
                  </a:txBody>
                  <a:tcPr/>
                </a:tc>
              </a:tr>
              <a:tr h="550279">
                <a:tc>
                  <a:txBody>
                    <a:bodyPr/>
                    <a:lstStyle/>
                    <a:p>
                      <a:pPr algn="just"/>
                      <a:r>
                        <a:rPr lang="en-IN" dirty="0" smtClean="0"/>
                        <a:t>Operational data usually consists of information about transactions and is stored in numerous tables.</a:t>
                      </a:r>
                      <a:endParaRPr lang="en-IN" dirty="0"/>
                    </a:p>
                  </a:txBody>
                  <a:tcPr/>
                </a:tc>
                <a:tc>
                  <a:txBody>
                    <a:bodyPr/>
                    <a:lstStyle/>
                    <a:p>
                      <a:pPr algn="just"/>
                      <a:r>
                        <a:rPr lang="en-IN" dirty="0" smtClean="0"/>
                        <a:t>Decisional</a:t>
                      </a:r>
                      <a:r>
                        <a:rPr lang="en-IN" baseline="0" dirty="0" smtClean="0"/>
                        <a:t> support data is usually stored in less number of tables that store data derived from the operational data.</a:t>
                      </a:r>
                      <a:endParaRPr lang="en-IN" dirty="0"/>
                    </a:p>
                  </a:txBody>
                  <a:tcPr/>
                </a:tc>
              </a:tr>
            </a:tbl>
          </a:graphicData>
        </a:graphic>
      </p:graphicFrame>
      <p:sp>
        <p:nvSpPr>
          <p:cNvPr id="3" name="Rectangle 2"/>
          <p:cNvSpPr/>
          <p:nvPr/>
        </p:nvSpPr>
        <p:spPr>
          <a:xfrm>
            <a:off x="323528" y="225353"/>
            <a:ext cx="8388424" cy="523220"/>
          </a:xfrm>
          <a:prstGeom prst="rect">
            <a:avLst/>
          </a:prstGeom>
        </p:spPr>
        <p:txBody>
          <a:bodyPr wrap="square">
            <a:spAutoFit/>
          </a:bodyPr>
          <a:lstStyle/>
          <a:p>
            <a:pPr algn="ctr"/>
            <a:r>
              <a:rPr lang="en-IN" sz="2800" b="1" dirty="0"/>
              <a:t>Operational Vs Decisional Support System </a:t>
            </a:r>
          </a:p>
        </p:txBody>
      </p:sp>
    </p:spTree>
    <p:extLst>
      <p:ext uri="{BB962C8B-B14F-4D97-AF65-F5344CB8AC3E}">
        <p14:creationId xmlns:p14="http://schemas.microsoft.com/office/powerpoint/2010/main" val="3331062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88640"/>
            <a:ext cx="8352928" cy="6370975"/>
          </a:xfrm>
          <a:prstGeom prst="rect">
            <a:avLst/>
          </a:prstGeom>
        </p:spPr>
        <p:txBody>
          <a:bodyPr wrap="square">
            <a:spAutoFit/>
          </a:bodyPr>
          <a:lstStyle/>
          <a:p>
            <a:r>
              <a:rPr lang="en-IN" sz="2400" b="1" dirty="0"/>
              <a:t>The Need for Data </a:t>
            </a:r>
            <a:r>
              <a:rPr lang="en-IN" sz="2400" b="1" dirty="0" smtClean="0"/>
              <a:t>Warehousing</a:t>
            </a:r>
          </a:p>
          <a:p>
            <a:endParaRPr lang="en-IN" sz="2400" b="1" dirty="0"/>
          </a:p>
          <a:p>
            <a:pPr marL="285750" indent="-285750" algn="just">
              <a:lnSpc>
                <a:spcPct val="200000"/>
              </a:lnSpc>
              <a:buFont typeface="Arial" panose="020B0604020202020204" pitchFamily="34" charset="0"/>
              <a:buChar char="•"/>
            </a:pPr>
            <a:r>
              <a:rPr lang="en-IN" dirty="0"/>
              <a:t>It is difficult to retrieve data from tables for analytical purposes.</a:t>
            </a:r>
          </a:p>
          <a:p>
            <a:pPr marL="285750" indent="-285750" algn="just">
              <a:lnSpc>
                <a:spcPct val="200000"/>
              </a:lnSpc>
              <a:buFont typeface="Arial" panose="020B0604020202020204" pitchFamily="34" charset="0"/>
              <a:buChar char="•"/>
            </a:pPr>
            <a:r>
              <a:rPr lang="en-IN" dirty="0"/>
              <a:t>Data warehousing is the best way to integrate valuable data from different source into the database of a particular application.</a:t>
            </a:r>
          </a:p>
          <a:p>
            <a:pPr marL="285750" indent="-285750" algn="just">
              <a:lnSpc>
                <a:spcPct val="200000"/>
              </a:lnSpc>
              <a:buFont typeface="Arial" panose="020B0604020202020204" pitchFamily="34" charset="0"/>
              <a:buChar char="•"/>
            </a:pPr>
            <a:r>
              <a:rPr lang="en-IN" dirty="0"/>
              <a:t>Data warehouses make it easy to develop and store metadata.</a:t>
            </a:r>
          </a:p>
          <a:p>
            <a:pPr marL="285750" indent="-285750" algn="just">
              <a:lnSpc>
                <a:spcPct val="200000"/>
              </a:lnSpc>
              <a:buFont typeface="Arial" panose="020B0604020202020204" pitchFamily="34" charset="0"/>
              <a:buChar char="•"/>
            </a:pPr>
            <a:r>
              <a:rPr lang="en-IN" dirty="0"/>
              <a:t>Business experts or users become habitual to see many customized data on display screens fields such as rolled-up general ledger balances. These fields do not exist in the database.</a:t>
            </a:r>
          </a:p>
          <a:p>
            <a:pPr marL="285750" indent="-285750" algn="just">
              <a:lnSpc>
                <a:spcPct val="200000"/>
              </a:lnSpc>
              <a:buFont typeface="Arial" panose="020B0604020202020204" pitchFamily="34" charset="0"/>
              <a:buChar char="•"/>
            </a:pPr>
            <a:r>
              <a:rPr lang="en-IN" dirty="0"/>
              <a:t>When we perform reporting and analysis functions on the hardware that handles transactions, the performance is often poor. Therefore, data warehouse should be used for reporting and analysis.  </a:t>
            </a:r>
          </a:p>
        </p:txBody>
      </p:sp>
    </p:spTree>
    <p:extLst>
      <p:ext uri="{BB962C8B-B14F-4D97-AF65-F5344CB8AC3E}">
        <p14:creationId xmlns:p14="http://schemas.microsoft.com/office/powerpoint/2010/main" val="3649110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76672"/>
            <a:ext cx="8496944" cy="5909310"/>
          </a:xfrm>
          <a:prstGeom prst="rect">
            <a:avLst/>
          </a:prstGeom>
        </p:spPr>
        <p:txBody>
          <a:bodyPr wrap="square">
            <a:spAutoFit/>
          </a:bodyPr>
          <a:lstStyle/>
          <a:p>
            <a:r>
              <a:rPr lang="en-IN" sz="2400" b="1" dirty="0"/>
              <a:t>Data Warehousing : An Information </a:t>
            </a:r>
            <a:r>
              <a:rPr lang="en-IN" sz="2400" b="1" dirty="0" smtClean="0"/>
              <a:t>Environment</a:t>
            </a:r>
          </a:p>
          <a:p>
            <a:endParaRPr lang="en-IN" sz="2400" b="1" dirty="0"/>
          </a:p>
          <a:p>
            <a:pPr algn="just">
              <a:lnSpc>
                <a:spcPct val="150000"/>
              </a:lnSpc>
            </a:pPr>
            <a:r>
              <a:rPr lang="en-IN" dirty="0"/>
              <a:t>Data warehouse helps organization to fulfil their information related requirements. Therefore, it is also called as an information environment</a:t>
            </a:r>
            <a:r>
              <a:rPr lang="en-IN" dirty="0" smtClean="0"/>
              <a:t>.</a:t>
            </a:r>
          </a:p>
          <a:p>
            <a:pPr algn="just">
              <a:lnSpc>
                <a:spcPct val="150000"/>
              </a:lnSpc>
            </a:pPr>
            <a:endParaRPr lang="en-IN" dirty="0"/>
          </a:p>
          <a:p>
            <a:pPr algn="just">
              <a:lnSpc>
                <a:spcPct val="150000"/>
              </a:lnSpc>
            </a:pPr>
            <a:r>
              <a:rPr lang="en-IN" sz="2000" b="1" dirty="0"/>
              <a:t>Information environment</a:t>
            </a:r>
            <a:r>
              <a:rPr lang="en-IN" sz="2000" b="1" dirty="0" smtClean="0"/>
              <a:t>:</a:t>
            </a:r>
          </a:p>
          <a:p>
            <a:pPr algn="just">
              <a:lnSpc>
                <a:spcPct val="150000"/>
              </a:lnSpc>
            </a:pPr>
            <a:endParaRPr lang="en-IN" sz="2000" b="1" dirty="0"/>
          </a:p>
          <a:p>
            <a:pPr marL="285750" indent="-285750" algn="just">
              <a:lnSpc>
                <a:spcPct val="150000"/>
              </a:lnSpc>
              <a:buFont typeface="Arial" panose="020B0604020202020204" pitchFamily="34" charset="0"/>
              <a:buChar char="•"/>
            </a:pPr>
            <a:r>
              <a:rPr lang="en-IN" dirty="0"/>
              <a:t>Offers an integrated and entire view of the enterprise</a:t>
            </a:r>
          </a:p>
          <a:p>
            <a:pPr marL="285750" indent="-285750" algn="just">
              <a:lnSpc>
                <a:spcPct val="150000"/>
              </a:lnSpc>
              <a:buFont typeface="Arial" panose="020B0604020202020204" pitchFamily="34" charset="0"/>
              <a:buChar char="•"/>
            </a:pPr>
            <a:r>
              <a:rPr lang="en-IN" dirty="0"/>
              <a:t>Avails the enterprise’s current and historical information easily for decision making.</a:t>
            </a:r>
          </a:p>
          <a:p>
            <a:pPr marL="285750" indent="-285750" algn="just">
              <a:lnSpc>
                <a:spcPct val="150000"/>
              </a:lnSpc>
              <a:buFont typeface="Arial" panose="020B0604020202020204" pitchFamily="34" charset="0"/>
              <a:buChar char="•"/>
            </a:pPr>
            <a:r>
              <a:rPr lang="en-IN" dirty="0"/>
              <a:t>Provides steady and reliable Information</a:t>
            </a:r>
          </a:p>
          <a:p>
            <a:pPr marL="285750" indent="-285750" algn="just">
              <a:lnSpc>
                <a:spcPct val="150000"/>
              </a:lnSpc>
              <a:buFont typeface="Arial" panose="020B0604020202020204" pitchFamily="34" charset="0"/>
              <a:buChar char="•"/>
            </a:pPr>
            <a:r>
              <a:rPr lang="en-IN" dirty="0"/>
              <a:t>Makes decision-support transactions possible without hampering operational systems.</a:t>
            </a:r>
          </a:p>
          <a:p>
            <a:pPr marL="285750" indent="-285750" algn="just">
              <a:lnSpc>
                <a:spcPct val="150000"/>
              </a:lnSpc>
              <a:buFont typeface="Arial" panose="020B0604020202020204" pitchFamily="34" charset="0"/>
              <a:buChar char="•"/>
            </a:pPr>
            <a:r>
              <a:rPr lang="en-IN" dirty="0"/>
              <a:t>Grants a flexible and interactive source of strategic information.</a:t>
            </a:r>
          </a:p>
        </p:txBody>
      </p:sp>
    </p:spTree>
    <p:extLst>
      <p:ext uri="{BB962C8B-B14F-4D97-AF65-F5344CB8AC3E}">
        <p14:creationId xmlns:p14="http://schemas.microsoft.com/office/powerpoint/2010/main" val="4168070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9270" y="620688"/>
            <a:ext cx="9144000" cy="5184576"/>
          </a:xfrm>
          <a:prstGeom prst="rect">
            <a:avLst/>
          </a:prstGeom>
        </p:spPr>
      </p:pic>
    </p:spTree>
    <p:extLst>
      <p:ext uri="{BB962C8B-B14F-4D97-AF65-F5344CB8AC3E}">
        <p14:creationId xmlns:p14="http://schemas.microsoft.com/office/powerpoint/2010/main" val="1803176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5846"/>
            <a:ext cx="8892480" cy="5493812"/>
          </a:xfrm>
          <a:prstGeom prst="rect">
            <a:avLst/>
          </a:prstGeom>
        </p:spPr>
        <p:txBody>
          <a:bodyPr wrap="square">
            <a:spAutoFit/>
          </a:bodyPr>
          <a:lstStyle/>
          <a:p>
            <a:pPr>
              <a:lnSpc>
                <a:spcPct val="150000"/>
              </a:lnSpc>
            </a:pPr>
            <a:r>
              <a:rPr lang="en-IN" dirty="0"/>
              <a:t>The following is the description of the layers of the data warehouse system:</a:t>
            </a:r>
          </a:p>
          <a:p>
            <a:pPr marL="285750" lvl="0" indent="-285750">
              <a:lnSpc>
                <a:spcPct val="150000"/>
              </a:lnSpc>
              <a:buFont typeface="Arial" panose="020B0604020202020204" pitchFamily="34" charset="0"/>
              <a:buChar char="•"/>
            </a:pPr>
            <a:r>
              <a:rPr lang="en-IN" b="1" dirty="0"/>
              <a:t>Data Source Layer: </a:t>
            </a:r>
            <a:r>
              <a:rPr lang="en-IN" dirty="0"/>
              <a:t>Refers to the layer representing various data sources that enter data into the data warehouse. The data can be in any of these formats: Plan text file, relational database, excel file and other types of databases. </a:t>
            </a:r>
            <a:endParaRPr lang="en-IN" dirty="0" smtClean="0"/>
          </a:p>
          <a:p>
            <a:pPr lvl="0">
              <a:lnSpc>
                <a:spcPct val="150000"/>
              </a:lnSpc>
            </a:pPr>
            <a:r>
              <a:rPr lang="en-IN" dirty="0" smtClean="0"/>
              <a:t>The </a:t>
            </a:r>
            <a:r>
              <a:rPr lang="en-IN" dirty="0"/>
              <a:t>following are the types of data that can act as data sources:</a:t>
            </a:r>
          </a:p>
          <a:p>
            <a:pPr marL="285750" lvl="0" indent="-285750">
              <a:lnSpc>
                <a:spcPct val="150000"/>
              </a:lnSpc>
              <a:buFont typeface="Arial" panose="020B0604020202020204" pitchFamily="34" charset="0"/>
              <a:buChar char="•"/>
            </a:pPr>
            <a:r>
              <a:rPr lang="en-IN" b="1" dirty="0"/>
              <a:t>Production Sources: </a:t>
            </a:r>
            <a:r>
              <a:rPr lang="en-IN" dirty="0"/>
              <a:t>Represents sales data, HR data  and product data.</a:t>
            </a:r>
          </a:p>
          <a:p>
            <a:pPr marL="285750" lvl="0" indent="-285750">
              <a:lnSpc>
                <a:spcPct val="150000"/>
              </a:lnSpc>
              <a:buFont typeface="Arial" panose="020B0604020202020204" pitchFamily="34" charset="0"/>
              <a:buChar char="•"/>
            </a:pPr>
            <a:r>
              <a:rPr lang="en-IN" b="1" dirty="0"/>
              <a:t>Internal Data</a:t>
            </a:r>
            <a:r>
              <a:rPr lang="en-IN" dirty="0"/>
              <a:t>: Represents data of a department or an organization such as employee data</a:t>
            </a:r>
          </a:p>
          <a:p>
            <a:pPr marL="285750" lvl="0" indent="-285750">
              <a:lnSpc>
                <a:spcPct val="150000"/>
              </a:lnSpc>
              <a:buFont typeface="Arial" panose="020B0604020202020204" pitchFamily="34" charset="0"/>
              <a:buChar char="•"/>
            </a:pPr>
            <a:r>
              <a:rPr lang="en-IN" b="1" dirty="0"/>
              <a:t>External Data : </a:t>
            </a:r>
            <a:r>
              <a:rPr lang="en-IN" dirty="0"/>
              <a:t>Represents data from outside the organization or third party data such as census data or demographic or survey data.</a:t>
            </a:r>
          </a:p>
          <a:p>
            <a:pPr marL="285750" lvl="0" indent="-285750">
              <a:lnSpc>
                <a:spcPct val="150000"/>
              </a:lnSpc>
              <a:buFont typeface="Arial" panose="020B0604020202020204" pitchFamily="34" charset="0"/>
              <a:buChar char="•"/>
            </a:pPr>
            <a:r>
              <a:rPr lang="en-IN" b="1" dirty="0"/>
              <a:t>Achieved data: </a:t>
            </a:r>
            <a:r>
              <a:rPr lang="en-IN" dirty="0"/>
              <a:t>Represents logs of the Web server along with the user’s browsing data</a:t>
            </a:r>
          </a:p>
        </p:txBody>
      </p:sp>
    </p:spTree>
    <p:extLst>
      <p:ext uri="{BB962C8B-B14F-4D97-AF65-F5344CB8AC3E}">
        <p14:creationId xmlns:p14="http://schemas.microsoft.com/office/powerpoint/2010/main" val="1444533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48680"/>
            <a:ext cx="9144000" cy="4212692"/>
          </a:xfrm>
          <a:prstGeom prst="rect">
            <a:avLst/>
          </a:prstGeom>
        </p:spPr>
        <p:txBody>
          <a:bodyPr wrap="square">
            <a:spAutoFit/>
          </a:bodyPr>
          <a:lstStyle/>
          <a:p>
            <a:pPr lvl="0" algn="just">
              <a:lnSpc>
                <a:spcPct val="150000"/>
              </a:lnSpc>
            </a:pPr>
            <a:r>
              <a:rPr lang="en-IN" b="1" dirty="0"/>
              <a:t>Data Staging Layer: </a:t>
            </a:r>
            <a:r>
              <a:rPr lang="en-IN" dirty="0"/>
              <a:t>Refers to the storage area for data processing where data comes before being transformed into the data that is entered in a data warehouse. The following are the steps involved in transporting data from various sources to data warehouse:</a:t>
            </a:r>
          </a:p>
          <a:p>
            <a:pPr marL="285750" lvl="0" indent="-285750" algn="just">
              <a:lnSpc>
                <a:spcPct val="150000"/>
              </a:lnSpc>
              <a:buFont typeface="Arial" panose="020B0604020202020204" pitchFamily="34" charset="0"/>
              <a:buChar char="•"/>
            </a:pPr>
            <a:r>
              <a:rPr lang="en-IN" b="1" dirty="0"/>
              <a:t>Extraction: </a:t>
            </a:r>
            <a:r>
              <a:rPr lang="en-IN" dirty="0"/>
              <a:t>Refers to the process of extracting data from different source systems and validating it against certain quality.</a:t>
            </a:r>
          </a:p>
          <a:p>
            <a:pPr marL="285750" lvl="0" indent="-285750" algn="just">
              <a:lnSpc>
                <a:spcPct val="150000"/>
              </a:lnSpc>
              <a:buFont typeface="Arial" panose="020B0604020202020204" pitchFamily="34" charset="0"/>
              <a:buChar char="•"/>
            </a:pPr>
            <a:r>
              <a:rPr lang="en-IN" b="1" dirty="0"/>
              <a:t>Transformation: </a:t>
            </a:r>
            <a:r>
              <a:rPr lang="en-IN" dirty="0"/>
              <a:t>Refers to the transformation of the data available in different source systems and validating it against certain quality.</a:t>
            </a:r>
          </a:p>
          <a:p>
            <a:pPr marL="285750" lvl="0" indent="-285750" algn="just">
              <a:lnSpc>
                <a:spcPct val="150000"/>
              </a:lnSpc>
              <a:buFont typeface="Arial" panose="020B0604020202020204" pitchFamily="34" charset="0"/>
              <a:buChar char="•"/>
            </a:pPr>
            <a:r>
              <a:rPr lang="en-IN" b="1" dirty="0"/>
              <a:t>Loading: </a:t>
            </a:r>
            <a:r>
              <a:rPr lang="en-IN" dirty="0"/>
              <a:t>Refers to the process of loading the data either from data warehouse or data mart.</a:t>
            </a:r>
          </a:p>
        </p:txBody>
      </p:sp>
    </p:spTree>
    <p:extLst>
      <p:ext uri="{BB962C8B-B14F-4D97-AF65-F5344CB8AC3E}">
        <p14:creationId xmlns:p14="http://schemas.microsoft.com/office/powerpoint/2010/main" val="4247908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5846"/>
            <a:ext cx="8568952" cy="5909310"/>
          </a:xfrm>
          <a:prstGeom prst="rect">
            <a:avLst/>
          </a:prstGeom>
        </p:spPr>
        <p:txBody>
          <a:bodyPr wrap="square">
            <a:spAutoFit/>
          </a:bodyPr>
          <a:lstStyle/>
          <a:p>
            <a:pPr lvl="0" algn="just">
              <a:lnSpc>
                <a:spcPct val="150000"/>
              </a:lnSpc>
            </a:pPr>
            <a:r>
              <a:rPr lang="en-IN" dirty="0"/>
              <a:t>Data Storage Layer: Refers to the layer in which the transformed data and clean data is stored. On the basis of the scope and functionality. The following are the types of entities in this stage.</a:t>
            </a:r>
          </a:p>
          <a:p>
            <a:pPr marL="742950" lvl="1" indent="-285750" algn="just">
              <a:lnSpc>
                <a:spcPct val="150000"/>
              </a:lnSpc>
              <a:buFont typeface="Arial" panose="020B0604020202020204" pitchFamily="34" charset="0"/>
              <a:buChar char="•"/>
            </a:pPr>
            <a:r>
              <a:rPr lang="en-IN" b="1" dirty="0"/>
              <a:t>Data warehouse :</a:t>
            </a:r>
            <a:r>
              <a:rPr lang="en-IN" dirty="0"/>
              <a:t>  It is maintained by organizations as central warehouse of data that can be equally accessed by all business experts and end users.</a:t>
            </a:r>
          </a:p>
          <a:p>
            <a:pPr marL="742950" lvl="1" indent="-285750" algn="just">
              <a:lnSpc>
                <a:spcPct val="150000"/>
              </a:lnSpc>
              <a:buFont typeface="Arial" panose="020B0604020202020204" pitchFamily="34" charset="0"/>
              <a:buChar char="•"/>
            </a:pPr>
            <a:r>
              <a:rPr lang="en-IN" b="1" dirty="0"/>
              <a:t>Data Mart :</a:t>
            </a:r>
            <a:r>
              <a:rPr lang="en-IN" dirty="0"/>
              <a:t> When data warehouse is created at the departmental level. It is known as data mart.</a:t>
            </a:r>
          </a:p>
          <a:p>
            <a:pPr marL="742950" lvl="1" indent="-285750" algn="just">
              <a:lnSpc>
                <a:spcPct val="150000"/>
              </a:lnSpc>
              <a:buFont typeface="Arial" panose="020B0604020202020204" pitchFamily="34" charset="0"/>
              <a:buChar char="•"/>
            </a:pPr>
            <a:r>
              <a:rPr lang="en-IN" b="1" dirty="0"/>
              <a:t>Meta Data:</a:t>
            </a:r>
            <a:r>
              <a:rPr lang="en-IN" dirty="0"/>
              <a:t> Details about the data is known as metadata. In other words, it is a </a:t>
            </a:r>
            <a:r>
              <a:rPr lang="en-IN" dirty="0" err="1"/>
              <a:t>catalog</a:t>
            </a:r>
            <a:r>
              <a:rPr lang="en-IN" dirty="0"/>
              <a:t> of  data warehouse.</a:t>
            </a:r>
          </a:p>
          <a:p>
            <a:pPr marL="742950" lvl="1" indent="-285750" algn="just">
              <a:lnSpc>
                <a:spcPct val="150000"/>
              </a:lnSpc>
              <a:buFont typeface="Arial" panose="020B0604020202020204" pitchFamily="34" charset="0"/>
              <a:buChar char="•"/>
            </a:pPr>
            <a:r>
              <a:rPr lang="en-IN" b="1" dirty="0"/>
              <a:t>MDDB:</a:t>
            </a:r>
            <a:r>
              <a:rPr lang="en-IN" dirty="0"/>
              <a:t> It is  multidimensional database that allows data to be </a:t>
            </a:r>
            <a:r>
              <a:rPr lang="en-IN" dirty="0" err="1"/>
              <a:t>molded</a:t>
            </a:r>
            <a:r>
              <a:rPr lang="en-IN" dirty="0"/>
              <a:t> and viewed in multiple dimensions. It is defined by dimensions and facts.</a:t>
            </a:r>
          </a:p>
          <a:p>
            <a:pPr lvl="0" algn="just">
              <a:lnSpc>
                <a:spcPct val="150000"/>
              </a:lnSpc>
            </a:pPr>
            <a:r>
              <a:rPr lang="en-IN" dirty="0"/>
              <a:t>Information Delivery:  Provide information that reach to end users. </a:t>
            </a:r>
          </a:p>
        </p:txBody>
      </p:sp>
    </p:spTree>
    <p:extLst>
      <p:ext uri="{BB962C8B-B14F-4D97-AF65-F5344CB8AC3E}">
        <p14:creationId xmlns:p14="http://schemas.microsoft.com/office/powerpoint/2010/main" val="24838351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1268</TotalTime>
  <Words>853</Words>
  <Application>Microsoft Office PowerPoint</Application>
  <PresentationFormat>On-screen Show (4:3)</PresentationFormat>
  <Paragraphs>61</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Concourse</vt:lpstr>
      <vt:lpstr>Introduction to Data Warehousing and multi-dimensional Modeling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Warehousing and multi-dimensional Modeling</dc:title>
  <dc:creator>Admin</dc:creator>
  <cp:lastModifiedBy>Admin</cp:lastModifiedBy>
  <cp:revision>14</cp:revision>
  <dcterms:created xsi:type="dcterms:W3CDTF">2024-02-12T11:46:00Z</dcterms:created>
  <dcterms:modified xsi:type="dcterms:W3CDTF">2024-02-15T06:28:29Z</dcterms:modified>
</cp:coreProperties>
</file>